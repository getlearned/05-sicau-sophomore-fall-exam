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2" r:id="rId1"/>
  </p:sldMasterIdLst>
  <p:notesMasterIdLst>
    <p:notesMasterId r:id="rId79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4" r:id="rId17"/>
    <p:sldId id="275" r:id="rId18"/>
    <p:sldId id="277" r:id="rId19"/>
    <p:sldId id="278" r:id="rId20"/>
    <p:sldId id="279" r:id="rId21"/>
    <p:sldId id="280" r:id="rId22"/>
    <p:sldId id="281" r:id="rId23"/>
    <p:sldId id="282" r:id="rId24"/>
    <p:sldId id="272" r:id="rId25"/>
    <p:sldId id="273" r:id="rId26"/>
    <p:sldId id="283" r:id="rId27"/>
    <p:sldId id="284" r:id="rId28"/>
    <p:sldId id="285" r:id="rId29"/>
    <p:sldId id="286" r:id="rId30"/>
    <p:sldId id="287" r:id="rId31"/>
    <p:sldId id="288" r:id="rId32"/>
    <p:sldId id="289" r:id="rId33"/>
    <p:sldId id="290" r:id="rId34"/>
    <p:sldId id="291" r:id="rId35"/>
    <p:sldId id="292" r:id="rId36"/>
    <p:sldId id="293" r:id="rId37"/>
    <p:sldId id="294" r:id="rId38"/>
    <p:sldId id="295" r:id="rId39"/>
    <p:sldId id="296" r:id="rId40"/>
    <p:sldId id="297" r:id="rId41"/>
    <p:sldId id="298" r:id="rId42"/>
    <p:sldId id="299" r:id="rId43"/>
    <p:sldId id="300" r:id="rId44"/>
    <p:sldId id="301" r:id="rId45"/>
    <p:sldId id="302" r:id="rId46"/>
    <p:sldId id="303" r:id="rId47"/>
    <p:sldId id="304" r:id="rId48"/>
    <p:sldId id="305" r:id="rId49"/>
    <p:sldId id="306" r:id="rId50"/>
    <p:sldId id="307" r:id="rId51"/>
    <p:sldId id="308" r:id="rId52"/>
    <p:sldId id="309" r:id="rId53"/>
    <p:sldId id="310" r:id="rId54"/>
    <p:sldId id="311" r:id="rId55"/>
    <p:sldId id="312" r:id="rId56"/>
    <p:sldId id="313" r:id="rId57"/>
    <p:sldId id="314" r:id="rId58"/>
    <p:sldId id="315" r:id="rId59"/>
    <p:sldId id="316" r:id="rId60"/>
    <p:sldId id="317" r:id="rId61"/>
    <p:sldId id="318" r:id="rId62"/>
    <p:sldId id="319" r:id="rId63"/>
    <p:sldId id="320" r:id="rId64"/>
    <p:sldId id="321" r:id="rId65"/>
    <p:sldId id="322" r:id="rId66"/>
    <p:sldId id="323" r:id="rId67"/>
    <p:sldId id="324" r:id="rId68"/>
    <p:sldId id="326" r:id="rId69"/>
    <p:sldId id="327" r:id="rId70"/>
    <p:sldId id="328" r:id="rId71"/>
    <p:sldId id="329" r:id="rId72"/>
    <p:sldId id="330" r:id="rId73"/>
    <p:sldId id="331" r:id="rId74"/>
    <p:sldId id="332" r:id="rId75"/>
    <p:sldId id="333" r:id="rId76"/>
    <p:sldId id="334" r:id="rId77"/>
    <p:sldId id="335" r:id="rId78"/>
  </p:sldIdLst>
  <p:sldSz cx="9721850" cy="6480175"/>
  <p:notesSz cx="6858000" cy="9144000"/>
  <p:defaultTextStyle>
    <a:defPPr>
      <a:defRPr lang="zh-CN"/>
    </a:defPPr>
    <a:lvl1pPr marL="0" algn="l" defTabSz="838871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1pPr>
    <a:lvl2pPr marL="419435" algn="l" defTabSz="838871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2pPr>
    <a:lvl3pPr marL="838871" algn="l" defTabSz="838871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3pPr>
    <a:lvl4pPr marL="1258306" algn="l" defTabSz="838871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4pPr>
    <a:lvl5pPr marL="1677741" algn="l" defTabSz="838871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5pPr>
    <a:lvl6pPr marL="2097176" algn="l" defTabSz="838871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6pPr>
    <a:lvl7pPr marL="2516612" algn="l" defTabSz="838871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7pPr>
    <a:lvl8pPr marL="2936047" algn="l" defTabSz="838871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8pPr>
    <a:lvl9pPr marL="3355482" algn="l" defTabSz="838871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041">
          <p15:clr>
            <a:srgbClr val="A4A3A4"/>
          </p15:clr>
        </p15:guide>
        <p15:guide id="2" pos="306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-1038" y="-96"/>
      </p:cViewPr>
      <p:guideLst>
        <p:guide orient="horz" pos="2041"/>
        <p:guide pos="306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FB6320-D1F9-4551-AA41-AAC96C41CE62}" type="datetimeFigureOut">
              <a:rPr lang="zh-CN" altLang="en-US" smtClean="0"/>
              <a:t>2019-05-07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857250" y="685800"/>
            <a:ext cx="51435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1CFC1E-8741-43AA-A694-09BBD1DFD67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88185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1CFC1E-8741-43AA-A694-09BBD1DFD67A}" type="slidenum">
              <a:rPr lang="zh-CN" altLang="en-US" smtClean="0"/>
              <a:t>38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63193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1CFC1E-8741-43AA-A694-09BBD1DFD67A}" type="slidenum">
              <a:rPr lang="zh-CN" altLang="en-US" smtClean="0"/>
              <a:t>51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09740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1CFC1E-8741-43AA-A694-09BBD1DFD67A}" type="slidenum">
              <a:rPr lang="zh-CN" altLang="en-US" smtClean="0"/>
              <a:t>75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36679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9320445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8117457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308279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357133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039427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163931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075692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68377" y="345010"/>
            <a:ext cx="8385096" cy="12525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68377" y="1725046"/>
            <a:ext cx="8385096" cy="41116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68377" y="6006163"/>
            <a:ext cx="2187416" cy="3450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3312BA-E8FA-434C-A38F-21B0D81AA4B1}" type="datetimeFigureOut">
              <a:rPr lang="zh-CN" altLang="en-US" smtClean="0"/>
              <a:t>2019-05-07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220363" y="6006163"/>
            <a:ext cx="3281124" cy="3450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5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866057" y="6006163"/>
            <a:ext cx="2187416" cy="3450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5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F469F8-D16E-4F1F-A526-C22BE88FC88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796379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74" r:id="rId6"/>
    <p:sldLayoutId id="2147483675" r:id="rId7"/>
  </p:sldLayoutIdLst>
  <p:timing>
    <p:tnLst>
      <p:par>
        <p:cTn id="1" dur="indefinite" restart="never" nodeType="tmRoot"/>
      </p:par>
    </p:tnLst>
  </p:timing>
  <p:txStyles>
    <p:titleStyle>
      <a:lvl1pPr algn="l" defTabSz="729143" rtl="0" eaLnBrk="1" latinLnBrk="0" hangingPunct="1">
        <a:lnSpc>
          <a:spcPct val="90000"/>
        </a:lnSpc>
        <a:spcBef>
          <a:spcPct val="0"/>
        </a:spcBef>
        <a:buNone/>
        <a:defRPr sz="350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286" indent="-182286" algn="l" defTabSz="729143" rtl="0" eaLnBrk="1" latinLnBrk="0" hangingPunct="1">
        <a:lnSpc>
          <a:spcPct val="90000"/>
        </a:lnSpc>
        <a:spcBef>
          <a:spcPts val="797"/>
        </a:spcBef>
        <a:buFont typeface="Arial" panose="020B0604020202020204" pitchFamily="34" charset="0"/>
        <a:buChar char="•"/>
        <a:defRPr sz="2233" kern="1200">
          <a:solidFill>
            <a:schemeClr val="tx1"/>
          </a:solidFill>
          <a:latin typeface="+mn-lt"/>
          <a:ea typeface="+mn-ea"/>
          <a:cs typeface="+mn-cs"/>
        </a:defRPr>
      </a:lvl1pPr>
      <a:lvl2pPr marL="546857" indent="-182286" algn="l" defTabSz="729143" rtl="0" eaLnBrk="1" latinLnBrk="0" hangingPunct="1">
        <a:lnSpc>
          <a:spcPct val="90000"/>
        </a:lnSpc>
        <a:spcBef>
          <a:spcPts val="399"/>
        </a:spcBef>
        <a:buFont typeface="Arial" panose="020B0604020202020204" pitchFamily="34" charset="0"/>
        <a:buChar char="•"/>
        <a:defRPr sz="1914" kern="1200">
          <a:solidFill>
            <a:schemeClr val="tx1"/>
          </a:solidFill>
          <a:latin typeface="+mn-lt"/>
          <a:ea typeface="+mn-ea"/>
          <a:cs typeface="+mn-cs"/>
        </a:defRPr>
      </a:lvl2pPr>
      <a:lvl3pPr marL="911428" indent="-182286" algn="l" defTabSz="729143" rtl="0" eaLnBrk="1" latinLnBrk="0" hangingPunct="1">
        <a:lnSpc>
          <a:spcPct val="90000"/>
        </a:lnSpc>
        <a:spcBef>
          <a:spcPts val="399"/>
        </a:spcBef>
        <a:buFont typeface="Arial" panose="020B0604020202020204" pitchFamily="34" charset="0"/>
        <a:buChar char="•"/>
        <a:defRPr sz="1595" kern="1200">
          <a:solidFill>
            <a:schemeClr val="tx1"/>
          </a:solidFill>
          <a:latin typeface="+mn-lt"/>
          <a:ea typeface="+mn-ea"/>
          <a:cs typeface="+mn-cs"/>
        </a:defRPr>
      </a:lvl3pPr>
      <a:lvl4pPr marL="1275999" indent="-182286" algn="l" defTabSz="729143" rtl="0" eaLnBrk="1" latinLnBrk="0" hangingPunct="1">
        <a:lnSpc>
          <a:spcPct val="90000"/>
        </a:lnSpc>
        <a:spcBef>
          <a:spcPts val="399"/>
        </a:spcBef>
        <a:buFont typeface="Arial" panose="020B0604020202020204" pitchFamily="34" charset="0"/>
        <a:buChar char="•"/>
        <a:defRPr sz="1435" kern="1200">
          <a:solidFill>
            <a:schemeClr val="tx1"/>
          </a:solidFill>
          <a:latin typeface="+mn-lt"/>
          <a:ea typeface="+mn-ea"/>
          <a:cs typeface="+mn-cs"/>
        </a:defRPr>
      </a:lvl4pPr>
      <a:lvl5pPr marL="1640571" indent="-182286" algn="l" defTabSz="729143" rtl="0" eaLnBrk="1" latinLnBrk="0" hangingPunct="1">
        <a:lnSpc>
          <a:spcPct val="90000"/>
        </a:lnSpc>
        <a:spcBef>
          <a:spcPts val="399"/>
        </a:spcBef>
        <a:buFont typeface="Arial" panose="020B0604020202020204" pitchFamily="34" charset="0"/>
        <a:buChar char="•"/>
        <a:defRPr sz="1435" kern="1200">
          <a:solidFill>
            <a:schemeClr val="tx1"/>
          </a:solidFill>
          <a:latin typeface="+mn-lt"/>
          <a:ea typeface="+mn-ea"/>
          <a:cs typeface="+mn-cs"/>
        </a:defRPr>
      </a:lvl5pPr>
      <a:lvl6pPr marL="2005142" indent="-182286" algn="l" defTabSz="729143" rtl="0" eaLnBrk="1" latinLnBrk="0" hangingPunct="1">
        <a:lnSpc>
          <a:spcPct val="90000"/>
        </a:lnSpc>
        <a:spcBef>
          <a:spcPts val="399"/>
        </a:spcBef>
        <a:buFont typeface="Arial" panose="020B0604020202020204" pitchFamily="34" charset="0"/>
        <a:buChar char="•"/>
        <a:defRPr sz="1435" kern="1200">
          <a:solidFill>
            <a:schemeClr val="tx1"/>
          </a:solidFill>
          <a:latin typeface="+mn-lt"/>
          <a:ea typeface="+mn-ea"/>
          <a:cs typeface="+mn-cs"/>
        </a:defRPr>
      </a:lvl6pPr>
      <a:lvl7pPr marL="2369713" indent="-182286" algn="l" defTabSz="729143" rtl="0" eaLnBrk="1" latinLnBrk="0" hangingPunct="1">
        <a:lnSpc>
          <a:spcPct val="90000"/>
        </a:lnSpc>
        <a:spcBef>
          <a:spcPts val="399"/>
        </a:spcBef>
        <a:buFont typeface="Arial" panose="020B0604020202020204" pitchFamily="34" charset="0"/>
        <a:buChar char="•"/>
        <a:defRPr sz="1435" kern="1200">
          <a:solidFill>
            <a:schemeClr val="tx1"/>
          </a:solidFill>
          <a:latin typeface="+mn-lt"/>
          <a:ea typeface="+mn-ea"/>
          <a:cs typeface="+mn-cs"/>
        </a:defRPr>
      </a:lvl7pPr>
      <a:lvl8pPr marL="2734285" indent="-182286" algn="l" defTabSz="729143" rtl="0" eaLnBrk="1" latinLnBrk="0" hangingPunct="1">
        <a:lnSpc>
          <a:spcPct val="90000"/>
        </a:lnSpc>
        <a:spcBef>
          <a:spcPts val="399"/>
        </a:spcBef>
        <a:buFont typeface="Arial" panose="020B0604020202020204" pitchFamily="34" charset="0"/>
        <a:buChar char="•"/>
        <a:defRPr sz="1435" kern="1200">
          <a:solidFill>
            <a:schemeClr val="tx1"/>
          </a:solidFill>
          <a:latin typeface="+mn-lt"/>
          <a:ea typeface="+mn-ea"/>
          <a:cs typeface="+mn-cs"/>
        </a:defRPr>
      </a:lvl8pPr>
      <a:lvl9pPr marL="3098856" indent="-182286" algn="l" defTabSz="729143" rtl="0" eaLnBrk="1" latinLnBrk="0" hangingPunct="1">
        <a:lnSpc>
          <a:spcPct val="90000"/>
        </a:lnSpc>
        <a:spcBef>
          <a:spcPts val="399"/>
        </a:spcBef>
        <a:buFont typeface="Arial" panose="020B0604020202020204" pitchFamily="34" charset="0"/>
        <a:buChar char="•"/>
        <a:defRPr sz="143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729143" rtl="0" eaLnBrk="1" latinLnBrk="0" hangingPunct="1">
        <a:defRPr sz="1435" kern="1200">
          <a:solidFill>
            <a:schemeClr val="tx1"/>
          </a:solidFill>
          <a:latin typeface="+mn-lt"/>
          <a:ea typeface="+mn-ea"/>
          <a:cs typeface="+mn-cs"/>
        </a:defRPr>
      </a:lvl1pPr>
      <a:lvl2pPr marL="364571" algn="l" defTabSz="729143" rtl="0" eaLnBrk="1" latinLnBrk="0" hangingPunct="1">
        <a:defRPr sz="1435" kern="1200">
          <a:solidFill>
            <a:schemeClr val="tx1"/>
          </a:solidFill>
          <a:latin typeface="+mn-lt"/>
          <a:ea typeface="+mn-ea"/>
          <a:cs typeface="+mn-cs"/>
        </a:defRPr>
      </a:lvl2pPr>
      <a:lvl3pPr marL="729143" algn="l" defTabSz="729143" rtl="0" eaLnBrk="1" latinLnBrk="0" hangingPunct="1">
        <a:defRPr sz="1435" kern="1200">
          <a:solidFill>
            <a:schemeClr val="tx1"/>
          </a:solidFill>
          <a:latin typeface="+mn-lt"/>
          <a:ea typeface="+mn-ea"/>
          <a:cs typeface="+mn-cs"/>
        </a:defRPr>
      </a:lvl3pPr>
      <a:lvl4pPr marL="1093714" algn="l" defTabSz="729143" rtl="0" eaLnBrk="1" latinLnBrk="0" hangingPunct="1">
        <a:defRPr sz="1435" kern="1200">
          <a:solidFill>
            <a:schemeClr val="tx1"/>
          </a:solidFill>
          <a:latin typeface="+mn-lt"/>
          <a:ea typeface="+mn-ea"/>
          <a:cs typeface="+mn-cs"/>
        </a:defRPr>
      </a:lvl4pPr>
      <a:lvl5pPr marL="1458285" algn="l" defTabSz="729143" rtl="0" eaLnBrk="1" latinLnBrk="0" hangingPunct="1">
        <a:defRPr sz="1435" kern="1200">
          <a:solidFill>
            <a:schemeClr val="tx1"/>
          </a:solidFill>
          <a:latin typeface="+mn-lt"/>
          <a:ea typeface="+mn-ea"/>
          <a:cs typeface="+mn-cs"/>
        </a:defRPr>
      </a:lvl5pPr>
      <a:lvl6pPr marL="1822856" algn="l" defTabSz="729143" rtl="0" eaLnBrk="1" latinLnBrk="0" hangingPunct="1">
        <a:defRPr sz="1435" kern="1200">
          <a:solidFill>
            <a:schemeClr val="tx1"/>
          </a:solidFill>
          <a:latin typeface="+mn-lt"/>
          <a:ea typeface="+mn-ea"/>
          <a:cs typeface="+mn-cs"/>
        </a:defRPr>
      </a:lvl6pPr>
      <a:lvl7pPr marL="2187428" algn="l" defTabSz="729143" rtl="0" eaLnBrk="1" latinLnBrk="0" hangingPunct="1">
        <a:defRPr sz="1435" kern="1200">
          <a:solidFill>
            <a:schemeClr val="tx1"/>
          </a:solidFill>
          <a:latin typeface="+mn-lt"/>
          <a:ea typeface="+mn-ea"/>
          <a:cs typeface="+mn-cs"/>
        </a:defRPr>
      </a:lvl7pPr>
      <a:lvl8pPr marL="2551999" algn="l" defTabSz="729143" rtl="0" eaLnBrk="1" latinLnBrk="0" hangingPunct="1">
        <a:defRPr sz="1435" kern="1200">
          <a:solidFill>
            <a:schemeClr val="tx1"/>
          </a:solidFill>
          <a:latin typeface="+mn-lt"/>
          <a:ea typeface="+mn-ea"/>
          <a:cs typeface="+mn-cs"/>
        </a:defRPr>
      </a:lvl8pPr>
      <a:lvl9pPr marL="2916570" algn="l" defTabSz="729143" rtl="0" eaLnBrk="1" latinLnBrk="0" hangingPunct="1">
        <a:defRPr sz="143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6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10" Type="http://schemas.openxmlformats.org/officeDocument/2006/relationships/image" Target="../media/image30.png"/><Relationship Id="rId4" Type="http://schemas.openxmlformats.org/officeDocument/2006/relationships/image" Target="../media/image24.png"/><Relationship Id="rId9" Type="http://schemas.openxmlformats.org/officeDocument/2006/relationships/image" Target="../media/image2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7" Type="http://schemas.openxmlformats.org/officeDocument/2006/relationships/image" Target="../media/image39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eg"/><Relationship Id="rId2" Type="http://schemas.openxmlformats.org/officeDocument/2006/relationships/image" Target="../media/image39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3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1.png"/><Relationship Id="rId4" Type="http://schemas.openxmlformats.org/officeDocument/2006/relationships/image" Target="../media/image60.png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7" Type="http://schemas.openxmlformats.org/officeDocument/2006/relationships/image" Target="../media/image66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9.png"/><Relationship Id="rId5" Type="http://schemas.openxmlformats.org/officeDocument/2006/relationships/image" Target="../media/image65.png"/><Relationship Id="rId4" Type="http://schemas.openxmlformats.org/officeDocument/2006/relationships/image" Target="../media/image64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0.png"/><Relationship Id="rId5" Type="http://schemas.openxmlformats.org/officeDocument/2006/relationships/image" Target="../media/image69.png"/><Relationship Id="rId4" Type="http://schemas.openxmlformats.org/officeDocument/2006/relationships/image" Target="../media/image680.png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8.png"/><Relationship Id="rId5" Type="http://schemas.openxmlformats.org/officeDocument/2006/relationships/image" Target="../media/image77.png"/><Relationship Id="rId4" Type="http://schemas.openxmlformats.org/officeDocument/2006/relationships/image" Target="../media/image76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2.png"/><Relationship Id="rId4" Type="http://schemas.openxmlformats.org/officeDocument/2006/relationships/image" Target="../media/image81.png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9.png"/><Relationship Id="rId13" Type="http://schemas.openxmlformats.org/officeDocument/2006/relationships/image" Target="../media/image94.png"/><Relationship Id="rId18" Type="http://schemas.openxmlformats.org/officeDocument/2006/relationships/image" Target="../media/image99.png"/><Relationship Id="rId3" Type="http://schemas.openxmlformats.org/officeDocument/2006/relationships/image" Target="../media/image84.png"/><Relationship Id="rId21" Type="http://schemas.openxmlformats.org/officeDocument/2006/relationships/image" Target="../media/image102.png"/><Relationship Id="rId7" Type="http://schemas.openxmlformats.org/officeDocument/2006/relationships/image" Target="../media/image88.png"/><Relationship Id="rId12" Type="http://schemas.openxmlformats.org/officeDocument/2006/relationships/image" Target="../media/image93.png"/><Relationship Id="rId17" Type="http://schemas.openxmlformats.org/officeDocument/2006/relationships/image" Target="../media/image98.png"/><Relationship Id="rId2" Type="http://schemas.openxmlformats.org/officeDocument/2006/relationships/image" Target="../media/image83.png"/><Relationship Id="rId16" Type="http://schemas.openxmlformats.org/officeDocument/2006/relationships/image" Target="../media/image97.png"/><Relationship Id="rId20" Type="http://schemas.openxmlformats.org/officeDocument/2006/relationships/image" Target="../media/image10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7.png"/><Relationship Id="rId11" Type="http://schemas.openxmlformats.org/officeDocument/2006/relationships/image" Target="../media/image92.png"/><Relationship Id="rId5" Type="http://schemas.openxmlformats.org/officeDocument/2006/relationships/image" Target="../media/image86.png"/><Relationship Id="rId15" Type="http://schemas.openxmlformats.org/officeDocument/2006/relationships/image" Target="../media/image96.png"/><Relationship Id="rId23" Type="http://schemas.openxmlformats.org/officeDocument/2006/relationships/image" Target="../media/image104.png"/><Relationship Id="rId10" Type="http://schemas.openxmlformats.org/officeDocument/2006/relationships/image" Target="../media/image91.png"/><Relationship Id="rId19" Type="http://schemas.openxmlformats.org/officeDocument/2006/relationships/image" Target="../media/image100.png"/><Relationship Id="rId4" Type="http://schemas.openxmlformats.org/officeDocument/2006/relationships/image" Target="../media/image85.png"/><Relationship Id="rId9" Type="http://schemas.openxmlformats.org/officeDocument/2006/relationships/image" Target="../media/image90.png"/><Relationship Id="rId14" Type="http://schemas.openxmlformats.org/officeDocument/2006/relationships/image" Target="../media/image95.png"/><Relationship Id="rId22" Type="http://schemas.openxmlformats.org/officeDocument/2006/relationships/image" Target="../media/image103.png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6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50.png"/><Relationship Id="rId3" Type="http://schemas.openxmlformats.org/officeDocument/2006/relationships/image" Target="../media/image108.png"/><Relationship Id="rId7" Type="http://schemas.openxmlformats.org/officeDocument/2006/relationships/image" Target="../media/image109.png"/><Relationship Id="rId2" Type="http://schemas.openxmlformats.org/officeDocument/2006/relationships/image" Target="../media/image10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30.png"/><Relationship Id="rId11" Type="http://schemas.openxmlformats.org/officeDocument/2006/relationships/image" Target="../media/image880.png"/><Relationship Id="rId5" Type="http://schemas.openxmlformats.org/officeDocument/2006/relationships/image" Target="../media/image820.png"/><Relationship Id="rId10" Type="http://schemas.openxmlformats.org/officeDocument/2006/relationships/image" Target="../media/image870.png"/><Relationship Id="rId4" Type="http://schemas.openxmlformats.org/officeDocument/2006/relationships/image" Target="../media/image810.png"/><Relationship Id="rId9" Type="http://schemas.openxmlformats.org/officeDocument/2006/relationships/image" Target="../media/image860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7" Type="http://schemas.openxmlformats.org/officeDocument/2006/relationships/image" Target="../media/image114.png"/><Relationship Id="rId2" Type="http://schemas.openxmlformats.org/officeDocument/2006/relationships/image" Target="../media/image89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3.png"/><Relationship Id="rId5" Type="http://schemas.openxmlformats.org/officeDocument/2006/relationships/image" Target="../media/image112.png"/><Relationship Id="rId4" Type="http://schemas.openxmlformats.org/officeDocument/2006/relationships/image" Target="../media/image111.png"/></Relationships>
</file>

<file path=ppt/slides/_rels/slide6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7.png"/><Relationship Id="rId3" Type="http://schemas.openxmlformats.org/officeDocument/2006/relationships/image" Target="../media/image920.png"/><Relationship Id="rId7" Type="http://schemas.openxmlformats.org/officeDocument/2006/relationships/image" Target="../media/image1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50.png"/><Relationship Id="rId5" Type="http://schemas.openxmlformats.org/officeDocument/2006/relationships/image" Target="../media/image940.png"/><Relationship Id="rId4" Type="http://schemas.openxmlformats.org/officeDocument/2006/relationships/image" Target="../media/image115.png"/><Relationship Id="rId9" Type="http://schemas.openxmlformats.org/officeDocument/2006/relationships/image" Target="../media/image118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7" Type="http://schemas.openxmlformats.org/officeDocument/2006/relationships/image" Target="../media/image124.png"/><Relationship Id="rId2" Type="http://schemas.openxmlformats.org/officeDocument/2006/relationships/image" Target="../media/image1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3.png"/><Relationship Id="rId5" Type="http://schemas.openxmlformats.org/officeDocument/2006/relationships/image" Target="../media/image122.png"/><Relationship Id="rId4" Type="http://schemas.openxmlformats.org/officeDocument/2006/relationships/image" Target="../media/image121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5.png"/><Relationship Id="rId2" Type="http://schemas.openxmlformats.org/officeDocument/2006/relationships/image" Target="../media/image100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7.png"/><Relationship Id="rId5" Type="http://schemas.openxmlformats.org/officeDocument/2006/relationships/image" Target="../media/image126.png"/><Relationship Id="rId4" Type="http://schemas.openxmlformats.org/officeDocument/2006/relationships/image" Target="../media/image1020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9.png"/><Relationship Id="rId2" Type="http://schemas.openxmlformats.org/officeDocument/2006/relationships/image" Target="../media/image1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2.png"/><Relationship Id="rId5" Type="http://schemas.openxmlformats.org/officeDocument/2006/relationships/image" Target="../media/image131.png"/><Relationship Id="rId4" Type="http://schemas.openxmlformats.org/officeDocument/2006/relationships/image" Target="../media/image130.png"/></Relationships>
</file>

<file path=ppt/slides/_rels/slide6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9.png"/><Relationship Id="rId3" Type="http://schemas.openxmlformats.org/officeDocument/2006/relationships/image" Target="../media/image134.png"/><Relationship Id="rId7" Type="http://schemas.openxmlformats.org/officeDocument/2006/relationships/image" Target="../media/image138.png"/><Relationship Id="rId2" Type="http://schemas.openxmlformats.org/officeDocument/2006/relationships/image" Target="../media/image13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7.png"/><Relationship Id="rId5" Type="http://schemas.openxmlformats.org/officeDocument/2006/relationships/image" Target="../media/image136.png"/><Relationship Id="rId4" Type="http://schemas.openxmlformats.org/officeDocument/2006/relationships/image" Target="../media/image135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1.png"/><Relationship Id="rId7" Type="http://schemas.openxmlformats.org/officeDocument/2006/relationships/image" Target="../media/image143.png"/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2.png"/><Relationship Id="rId5" Type="http://schemas.openxmlformats.org/officeDocument/2006/relationships/image" Target="../media/image1180.png"/><Relationship Id="rId4" Type="http://schemas.openxmlformats.org/officeDocument/2006/relationships/image" Target="../media/image1170.png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4.pn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5.pn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6.pn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5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9.png"/><Relationship Id="rId5" Type="http://schemas.openxmlformats.org/officeDocument/2006/relationships/image" Target="../media/image148.png"/><Relationship Id="rId4" Type="http://schemas.openxmlformats.org/officeDocument/2006/relationships/image" Target="../media/image147.png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2.png"/><Relationship Id="rId2" Type="http://schemas.openxmlformats.org/officeDocument/2006/relationships/image" Target="../media/image151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5.png"/><Relationship Id="rId5" Type="http://schemas.openxmlformats.org/officeDocument/2006/relationships/image" Target="../media/image154.png"/><Relationship Id="rId4" Type="http://schemas.openxmlformats.org/officeDocument/2006/relationships/image" Target="../media/image153.png"/></Relationships>
</file>

<file path=ppt/slides/_rels/slide7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9.png"/><Relationship Id="rId13" Type="http://schemas.openxmlformats.org/officeDocument/2006/relationships/image" Target="../media/image165.png"/><Relationship Id="rId3" Type="http://schemas.openxmlformats.org/officeDocument/2006/relationships/image" Target="../media/image23.png"/><Relationship Id="rId7" Type="http://schemas.openxmlformats.org/officeDocument/2006/relationships/image" Target="../media/image158.png"/><Relationship Id="rId12" Type="http://schemas.openxmlformats.org/officeDocument/2006/relationships/image" Target="../media/image16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7.png"/><Relationship Id="rId11" Type="http://schemas.openxmlformats.org/officeDocument/2006/relationships/image" Target="../media/image163.png"/><Relationship Id="rId5" Type="http://schemas.openxmlformats.org/officeDocument/2006/relationships/image" Target="../media/image156.png"/><Relationship Id="rId15" Type="http://schemas.openxmlformats.org/officeDocument/2006/relationships/image" Target="../media/image167.png"/><Relationship Id="rId10" Type="http://schemas.openxmlformats.org/officeDocument/2006/relationships/image" Target="../media/image162.png"/><Relationship Id="rId4" Type="http://schemas.openxmlformats.org/officeDocument/2006/relationships/image" Target="../media/image24.png"/><Relationship Id="rId9" Type="http://schemas.openxmlformats.org/officeDocument/2006/relationships/image" Target="../media/image161.png"/><Relationship Id="rId14" Type="http://schemas.openxmlformats.org/officeDocument/2006/relationships/image" Target="../media/image166.png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0.png"/><Relationship Id="rId5" Type="http://schemas.openxmlformats.org/officeDocument/2006/relationships/image" Target="../media/image169.png"/><Relationship Id="rId4" Type="http://schemas.openxmlformats.org/officeDocument/2006/relationships/image" Target="../media/image168.png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550506" y="2335273"/>
            <a:ext cx="8658808" cy="1031348"/>
          </a:xfrm>
          <a:prstGeom prst="rect">
            <a:avLst/>
          </a:prstGeom>
        </p:spPr>
        <p:txBody>
          <a:bodyPr vert="horz" wrap="square" lIns="0" tIns="15534" rIns="0" bIns="0" rtlCol="0" anchor="ctr">
            <a:spAutoFit/>
          </a:bodyPr>
          <a:lstStyle/>
          <a:p>
            <a:pPr marL="15534" algn="ctr">
              <a:lnSpc>
                <a:spcPct val="100000"/>
              </a:lnSpc>
              <a:spcBef>
                <a:spcPts val="122"/>
              </a:spcBef>
            </a:pPr>
            <a:r>
              <a:rPr sz="6600" spc="-25" dirty="0">
                <a:solidFill>
                  <a:srgbClr val="CC3300"/>
                </a:solidFill>
                <a:latin typeface="黑体" pitchFamily="49" charset="-122"/>
                <a:ea typeface="黑体" pitchFamily="49" charset="-122"/>
              </a:rPr>
              <a:t>本</a:t>
            </a:r>
            <a:r>
              <a:rPr sz="6600" spc="-6" dirty="0">
                <a:solidFill>
                  <a:srgbClr val="CC3300"/>
                </a:solidFill>
                <a:latin typeface="黑体" pitchFamily="49" charset="-122"/>
                <a:ea typeface="黑体" pitchFamily="49" charset="-122"/>
              </a:rPr>
              <a:t>周</a:t>
            </a:r>
            <a:r>
              <a:rPr sz="6600" spc="-25" dirty="0">
                <a:solidFill>
                  <a:srgbClr val="CC3300"/>
                </a:solidFill>
                <a:latin typeface="黑体" pitchFamily="49" charset="-122"/>
                <a:ea typeface="黑体" pitchFamily="49" charset="-122"/>
              </a:rPr>
              <a:t>教</a:t>
            </a:r>
            <a:r>
              <a:rPr sz="6600" spc="-6" dirty="0">
                <a:solidFill>
                  <a:srgbClr val="CC3300"/>
                </a:solidFill>
                <a:latin typeface="黑体" pitchFamily="49" charset="-122"/>
                <a:ea typeface="黑体" pitchFamily="49" charset="-122"/>
              </a:rPr>
              <a:t>学内</a:t>
            </a:r>
            <a:r>
              <a:rPr sz="6600" spc="-25" dirty="0">
                <a:solidFill>
                  <a:srgbClr val="CC3300"/>
                </a:solidFill>
                <a:latin typeface="黑体" pitchFamily="49" charset="-122"/>
                <a:ea typeface="黑体" pitchFamily="49" charset="-122"/>
              </a:rPr>
              <a:t>容</a:t>
            </a:r>
            <a:endParaRPr sz="6600" dirty="0">
              <a:latin typeface="黑体" pitchFamily="49" charset="-122"/>
              <a:ea typeface="黑体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326569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object 17"/>
          <p:cNvSpPr txBox="1">
            <a:spLocks noGrp="1"/>
          </p:cNvSpPr>
          <p:nvPr>
            <p:ph type="title" idx="4294967295"/>
          </p:nvPr>
        </p:nvSpPr>
        <p:spPr>
          <a:xfrm>
            <a:off x="429809" y="234888"/>
            <a:ext cx="8925534" cy="693579"/>
          </a:xfrm>
          <a:prstGeom prst="rect">
            <a:avLst/>
          </a:prstGeom>
        </p:spPr>
        <p:txBody>
          <a:bodyPr vert="horz" wrap="square" lIns="0" tIns="16311" rIns="0" bIns="0" rtlCol="0" anchor="ctr">
            <a:spAutoFit/>
          </a:bodyPr>
          <a:lstStyle/>
          <a:p>
            <a:pPr marL="46603" algn="ctr">
              <a:lnSpc>
                <a:spcPct val="100000"/>
              </a:lnSpc>
              <a:spcBef>
                <a:spcPts val="128"/>
              </a:spcBef>
            </a:pPr>
            <a:r>
              <a:rPr sz="4400" baseline="88888" dirty="0">
                <a:solidFill>
                  <a:srgbClr val="000000"/>
                </a:solidFill>
                <a:latin typeface="Times New Roman"/>
                <a:cs typeface="Times New Roman"/>
              </a:rPr>
              <a:t>.</a:t>
            </a:r>
            <a:r>
              <a:rPr sz="4400" spc="-147" baseline="8888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4400" b="1" spc="-6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算法的数学基础</a:t>
            </a:r>
            <a:endParaRPr sz="4400" b="1" dirty="0">
              <a:solidFill>
                <a:srgbClr val="C00000"/>
              </a:solidFill>
              <a:latin typeface="黑体" pitchFamily="49" charset="-122"/>
              <a:ea typeface="黑体" pitchFamily="49" charset="-122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200648" y="562574"/>
            <a:ext cx="465029" cy="26496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200"/>
          </a:p>
        </p:txBody>
      </p:sp>
      <p:sp>
        <p:nvSpPr>
          <p:cNvPr id="4" name="object 4"/>
          <p:cNvSpPr/>
          <p:nvPr/>
        </p:nvSpPr>
        <p:spPr>
          <a:xfrm>
            <a:off x="1226573" y="593296"/>
            <a:ext cx="466649" cy="26688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200"/>
          </a:p>
        </p:txBody>
      </p:sp>
      <p:sp>
        <p:nvSpPr>
          <p:cNvPr id="5" name="object 5"/>
          <p:cNvSpPr/>
          <p:nvPr/>
        </p:nvSpPr>
        <p:spPr>
          <a:xfrm>
            <a:off x="1200648" y="0"/>
            <a:ext cx="197677" cy="22080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200"/>
          </a:p>
        </p:txBody>
      </p:sp>
      <p:sp>
        <p:nvSpPr>
          <p:cNvPr id="6" name="object 6"/>
          <p:cNvSpPr/>
          <p:nvPr/>
        </p:nvSpPr>
        <p:spPr>
          <a:xfrm>
            <a:off x="1226572" y="0"/>
            <a:ext cx="199298" cy="25152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200"/>
          </a:p>
        </p:txBody>
      </p:sp>
      <p:sp>
        <p:nvSpPr>
          <p:cNvPr id="7" name="object 7"/>
          <p:cNvSpPr/>
          <p:nvPr/>
        </p:nvSpPr>
        <p:spPr>
          <a:xfrm>
            <a:off x="1882869" y="4488121"/>
            <a:ext cx="1662842" cy="1128030"/>
          </a:xfrm>
          <a:custGeom>
            <a:avLst/>
            <a:gdLst/>
            <a:ahLst/>
            <a:cxnLst/>
            <a:rect l="l" t="t" r="r" b="b"/>
            <a:pathLst>
              <a:path w="1564005" h="895350">
                <a:moveTo>
                  <a:pt x="0" y="149225"/>
                </a:moveTo>
                <a:lnTo>
                  <a:pt x="7608" y="102055"/>
                </a:lnTo>
                <a:lnTo>
                  <a:pt x="28793" y="61091"/>
                </a:lnTo>
                <a:lnTo>
                  <a:pt x="61096" y="28789"/>
                </a:lnTo>
                <a:lnTo>
                  <a:pt x="102060" y="7606"/>
                </a:lnTo>
                <a:lnTo>
                  <a:pt x="149225" y="0"/>
                </a:lnTo>
                <a:lnTo>
                  <a:pt x="1414399" y="0"/>
                </a:lnTo>
                <a:lnTo>
                  <a:pt x="1461582" y="7606"/>
                </a:lnTo>
                <a:lnTo>
                  <a:pt x="1502577" y="28789"/>
                </a:lnTo>
                <a:lnTo>
                  <a:pt x="1534916" y="61091"/>
                </a:lnTo>
                <a:lnTo>
                  <a:pt x="1556131" y="102055"/>
                </a:lnTo>
                <a:lnTo>
                  <a:pt x="1563751" y="149225"/>
                </a:lnTo>
                <a:lnTo>
                  <a:pt x="1563751" y="746125"/>
                </a:lnTo>
                <a:lnTo>
                  <a:pt x="1556131" y="793289"/>
                </a:lnTo>
                <a:lnTo>
                  <a:pt x="1534916" y="834253"/>
                </a:lnTo>
                <a:lnTo>
                  <a:pt x="1502577" y="866556"/>
                </a:lnTo>
                <a:lnTo>
                  <a:pt x="1461582" y="887741"/>
                </a:lnTo>
                <a:lnTo>
                  <a:pt x="1414399" y="895350"/>
                </a:lnTo>
                <a:lnTo>
                  <a:pt x="149225" y="895350"/>
                </a:lnTo>
                <a:lnTo>
                  <a:pt x="102060" y="887741"/>
                </a:lnTo>
                <a:lnTo>
                  <a:pt x="61096" y="866556"/>
                </a:lnTo>
                <a:lnTo>
                  <a:pt x="28793" y="834253"/>
                </a:lnTo>
                <a:lnTo>
                  <a:pt x="7608" y="793289"/>
                </a:lnTo>
                <a:lnTo>
                  <a:pt x="0" y="746125"/>
                </a:lnTo>
                <a:lnTo>
                  <a:pt x="0" y="149225"/>
                </a:lnTo>
                <a:close/>
              </a:path>
            </a:pathLst>
          </a:custGeom>
          <a:ln w="25400">
            <a:solidFill>
              <a:srgbClr val="385D89"/>
            </a:solidFill>
          </a:ln>
        </p:spPr>
        <p:txBody>
          <a:bodyPr wrap="square" lIns="0" tIns="0" rIns="0" bIns="0" rtlCol="0"/>
          <a:lstStyle/>
          <a:p>
            <a:endParaRPr sz="2400" b="1"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864207" y="4505615"/>
            <a:ext cx="1662842" cy="1083451"/>
          </a:xfrm>
          <a:prstGeom prst="rect">
            <a:avLst/>
          </a:prstGeom>
        </p:spPr>
        <p:txBody>
          <a:bodyPr vert="horz" wrap="square" lIns="0" tIns="44273" rIns="0" bIns="0" rtlCol="0">
            <a:spAutoFit/>
          </a:bodyPr>
          <a:lstStyle/>
          <a:p>
            <a:pPr marL="156896" marR="6214" indent="-142138" algn="ctr">
              <a:lnSpc>
                <a:spcPts val="2471"/>
              </a:lnSpc>
              <a:spcBef>
                <a:spcPts val="348"/>
              </a:spcBef>
            </a:pPr>
            <a:r>
              <a:rPr sz="2400" b="1" dirty="0" err="1" smtClean="0">
                <a:latin typeface="黑体" pitchFamily="49" charset="-122"/>
                <a:ea typeface="黑体" pitchFamily="49" charset="-122"/>
                <a:cs typeface="宋体"/>
              </a:rPr>
              <a:t>算法迭代</a:t>
            </a:r>
            <a:endParaRPr lang="en-US" sz="2400" b="1" dirty="0" smtClean="0">
              <a:latin typeface="黑体" pitchFamily="49" charset="-122"/>
              <a:ea typeface="黑体" pitchFamily="49" charset="-122"/>
              <a:cs typeface="宋体"/>
            </a:endParaRPr>
          </a:p>
          <a:p>
            <a:pPr marL="156896" marR="6214" indent="-142138" algn="ctr">
              <a:lnSpc>
                <a:spcPts val="2471"/>
              </a:lnSpc>
              <a:spcBef>
                <a:spcPts val="348"/>
              </a:spcBef>
            </a:pPr>
            <a:r>
              <a:rPr sz="2400" b="1" dirty="0" smtClean="0">
                <a:latin typeface="黑体" pitchFamily="49" charset="-122"/>
                <a:ea typeface="黑体" pitchFamily="49" charset="-122"/>
                <a:cs typeface="宋体"/>
              </a:rPr>
              <a:t>与</a:t>
            </a:r>
            <a:endParaRPr lang="en-US" sz="2400" b="1" dirty="0" smtClean="0">
              <a:latin typeface="黑体" pitchFamily="49" charset="-122"/>
              <a:ea typeface="黑体" pitchFamily="49" charset="-122"/>
              <a:cs typeface="宋体"/>
            </a:endParaRPr>
          </a:p>
          <a:p>
            <a:pPr marL="156896" marR="6214" indent="-142138" algn="ctr">
              <a:lnSpc>
                <a:spcPts val="2471"/>
              </a:lnSpc>
              <a:spcBef>
                <a:spcPts val="348"/>
              </a:spcBef>
            </a:pPr>
            <a:r>
              <a:rPr sz="2400" b="1" dirty="0" err="1" smtClean="0">
                <a:latin typeface="黑体" pitchFamily="49" charset="-122"/>
                <a:ea typeface="黑体" pitchFamily="49" charset="-122"/>
                <a:cs typeface="宋体"/>
              </a:rPr>
              <a:t>序列求和</a:t>
            </a:r>
            <a:endParaRPr sz="2400" b="1" dirty="0">
              <a:latin typeface="黑体" pitchFamily="49" charset="-122"/>
              <a:ea typeface="黑体" pitchFamily="49" charset="-122"/>
              <a:cs typeface="宋体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4020224" y="4848131"/>
            <a:ext cx="3756941" cy="768021"/>
          </a:xfrm>
          <a:custGeom>
            <a:avLst/>
            <a:gdLst/>
            <a:ahLst/>
            <a:cxnLst/>
            <a:rect l="l" t="t" r="r" b="b"/>
            <a:pathLst>
              <a:path w="3352800" h="609600">
                <a:moveTo>
                  <a:pt x="0" y="101600"/>
                </a:moveTo>
                <a:lnTo>
                  <a:pt x="7981" y="62054"/>
                </a:lnTo>
                <a:lnTo>
                  <a:pt x="29749" y="29759"/>
                </a:lnTo>
                <a:lnTo>
                  <a:pt x="62043" y="7984"/>
                </a:lnTo>
                <a:lnTo>
                  <a:pt x="101600" y="0"/>
                </a:lnTo>
                <a:lnTo>
                  <a:pt x="3251200" y="0"/>
                </a:lnTo>
                <a:lnTo>
                  <a:pt x="3290756" y="7984"/>
                </a:lnTo>
                <a:lnTo>
                  <a:pt x="3323050" y="29759"/>
                </a:lnTo>
                <a:lnTo>
                  <a:pt x="3344818" y="62054"/>
                </a:lnTo>
                <a:lnTo>
                  <a:pt x="3352800" y="101600"/>
                </a:lnTo>
                <a:lnTo>
                  <a:pt x="3352800" y="508000"/>
                </a:lnTo>
                <a:lnTo>
                  <a:pt x="3344818" y="547545"/>
                </a:lnTo>
                <a:lnTo>
                  <a:pt x="3323050" y="579840"/>
                </a:lnTo>
                <a:lnTo>
                  <a:pt x="3290756" y="601615"/>
                </a:lnTo>
                <a:lnTo>
                  <a:pt x="3251200" y="609600"/>
                </a:lnTo>
                <a:lnTo>
                  <a:pt x="101600" y="609600"/>
                </a:lnTo>
                <a:lnTo>
                  <a:pt x="62043" y="601615"/>
                </a:lnTo>
                <a:lnTo>
                  <a:pt x="29749" y="579840"/>
                </a:lnTo>
                <a:lnTo>
                  <a:pt x="7981" y="547545"/>
                </a:lnTo>
                <a:lnTo>
                  <a:pt x="0" y="508000"/>
                </a:lnTo>
                <a:lnTo>
                  <a:pt x="0" y="101600"/>
                </a:lnTo>
                <a:close/>
              </a:path>
            </a:pathLst>
          </a:custGeom>
          <a:ln w="25400">
            <a:solidFill>
              <a:srgbClr val="385D89"/>
            </a:solidFill>
          </a:ln>
        </p:spPr>
        <p:txBody>
          <a:bodyPr wrap="square" lIns="0" tIns="0" rIns="0" bIns="0" rtlCol="0"/>
          <a:lstStyle/>
          <a:p>
            <a:endParaRPr sz="2400" b="1"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030819" y="5022101"/>
            <a:ext cx="3694926" cy="385018"/>
          </a:xfrm>
          <a:prstGeom prst="rect">
            <a:avLst/>
          </a:prstGeom>
        </p:spPr>
        <p:txBody>
          <a:bodyPr vert="horz" wrap="square" lIns="0" tIns="15534" rIns="0" bIns="0" rtlCol="0">
            <a:spAutoFit/>
          </a:bodyPr>
          <a:lstStyle/>
          <a:p>
            <a:pPr marL="15534">
              <a:spcBef>
                <a:spcPts val="122"/>
              </a:spcBef>
            </a:pPr>
            <a:r>
              <a:rPr sz="2400" b="1" dirty="0">
                <a:latin typeface="黑体" pitchFamily="49" charset="-122"/>
                <a:ea typeface="黑体" pitchFamily="49" charset="-122"/>
                <a:cs typeface="宋体"/>
              </a:rPr>
              <a:t>递推方程与算法分析的关系</a:t>
            </a:r>
          </a:p>
        </p:txBody>
      </p:sp>
      <p:sp>
        <p:nvSpPr>
          <p:cNvPr id="11" name="object 11"/>
          <p:cNvSpPr/>
          <p:nvPr/>
        </p:nvSpPr>
        <p:spPr>
          <a:xfrm>
            <a:off x="6202838" y="3240090"/>
            <a:ext cx="1496373" cy="1482440"/>
          </a:xfrm>
          <a:custGeom>
            <a:avLst/>
            <a:gdLst/>
            <a:ahLst/>
            <a:cxnLst/>
            <a:rect l="l" t="t" r="r" b="b"/>
            <a:pathLst>
              <a:path w="1335404" h="1176654">
                <a:moveTo>
                  <a:pt x="0" y="196087"/>
                </a:moveTo>
                <a:lnTo>
                  <a:pt x="5176" y="151115"/>
                </a:lnTo>
                <a:lnTo>
                  <a:pt x="19921" y="109838"/>
                </a:lnTo>
                <a:lnTo>
                  <a:pt x="43057" y="73430"/>
                </a:lnTo>
                <a:lnTo>
                  <a:pt x="73406" y="43067"/>
                </a:lnTo>
                <a:lnTo>
                  <a:pt x="109792" y="19924"/>
                </a:lnTo>
                <a:lnTo>
                  <a:pt x="151035" y="5177"/>
                </a:lnTo>
                <a:lnTo>
                  <a:pt x="195961" y="0"/>
                </a:lnTo>
                <a:lnTo>
                  <a:pt x="1138936" y="0"/>
                </a:lnTo>
                <a:lnTo>
                  <a:pt x="1183908" y="5177"/>
                </a:lnTo>
                <a:lnTo>
                  <a:pt x="1225185" y="19924"/>
                </a:lnTo>
                <a:lnTo>
                  <a:pt x="1261593" y="43067"/>
                </a:lnTo>
                <a:lnTo>
                  <a:pt x="1291956" y="73430"/>
                </a:lnTo>
                <a:lnTo>
                  <a:pt x="1315099" y="109838"/>
                </a:lnTo>
                <a:lnTo>
                  <a:pt x="1329846" y="151115"/>
                </a:lnTo>
                <a:lnTo>
                  <a:pt x="1335024" y="196087"/>
                </a:lnTo>
                <a:lnTo>
                  <a:pt x="1335024" y="980313"/>
                </a:lnTo>
                <a:lnTo>
                  <a:pt x="1329846" y="1025245"/>
                </a:lnTo>
                <a:lnTo>
                  <a:pt x="1315099" y="1066507"/>
                </a:lnTo>
                <a:lnTo>
                  <a:pt x="1291956" y="1102917"/>
                </a:lnTo>
                <a:lnTo>
                  <a:pt x="1261593" y="1133293"/>
                </a:lnTo>
                <a:lnTo>
                  <a:pt x="1225185" y="1156454"/>
                </a:lnTo>
                <a:lnTo>
                  <a:pt x="1183908" y="1171217"/>
                </a:lnTo>
                <a:lnTo>
                  <a:pt x="1138936" y="1176401"/>
                </a:lnTo>
                <a:lnTo>
                  <a:pt x="195961" y="1176401"/>
                </a:lnTo>
                <a:lnTo>
                  <a:pt x="151035" y="1171217"/>
                </a:lnTo>
                <a:lnTo>
                  <a:pt x="109792" y="1156454"/>
                </a:lnTo>
                <a:lnTo>
                  <a:pt x="73406" y="1133293"/>
                </a:lnTo>
                <a:lnTo>
                  <a:pt x="43057" y="1102917"/>
                </a:lnTo>
                <a:lnTo>
                  <a:pt x="19921" y="1066507"/>
                </a:lnTo>
                <a:lnTo>
                  <a:pt x="5176" y="1025245"/>
                </a:lnTo>
                <a:lnTo>
                  <a:pt x="0" y="980313"/>
                </a:lnTo>
                <a:lnTo>
                  <a:pt x="0" y="196087"/>
                </a:lnTo>
                <a:close/>
              </a:path>
            </a:pathLst>
          </a:custGeom>
          <a:ln w="25399">
            <a:solidFill>
              <a:srgbClr val="385D89"/>
            </a:solidFill>
          </a:ln>
        </p:spPr>
        <p:txBody>
          <a:bodyPr wrap="square" lIns="0" tIns="0" rIns="0" bIns="0" rtlCol="0"/>
          <a:lstStyle/>
          <a:p>
            <a:endParaRPr sz="2400" b="1"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307131" y="3604135"/>
            <a:ext cx="1287786" cy="754349"/>
          </a:xfrm>
          <a:prstGeom prst="rect">
            <a:avLst/>
          </a:prstGeom>
        </p:spPr>
        <p:txBody>
          <a:bodyPr vert="horz" wrap="square" lIns="0" tIns="15534" rIns="0" bIns="0" rtlCol="0">
            <a:spAutoFit/>
          </a:bodyPr>
          <a:lstStyle/>
          <a:p>
            <a:pPr algn="ctr">
              <a:spcBef>
                <a:spcPts val="122"/>
              </a:spcBef>
            </a:pPr>
            <a:r>
              <a:rPr sz="2400" b="1" dirty="0" err="1" smtClean="0">
                <a:latin typeface="黑体" pitchFamily="49" charset="-122"/>
                <a:ea typeface="黑体" pitchFamily="49" charset="-122"/>
                <a:cs typeface="宋体"/>
              </a:rPr>
              <a:t>主定理及其证明</a:t>
            </a:r>
            <a:endParaRPr sz="2400" b="1" dirty="0">
              <a:latin typeface="黑体" pitchFamily="49" charset="-122"/>
              <a:ea typeface="黑体" pitchFamily="49" charset="-122"/>
              <a:cs typeface="宋体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6229843" y="1339740"/>
            <a:ext cx="1467911" cy="1764348"/>
          </a:xfrm>
          <a:custGeom>
            <a:avLst/>
            <a:gdLst/>
            <a:ahLst/>
            <a:cxnLst/>
            <a:rect l="l" t="t" r="r" b="b"/>
            <a:pathLst>
              <a:path w="1310004" h="1311275">
                <a:moveTo>
                  <a:pt x="0" y="218312"/>
                </a:moveTo>
                <a:lnTo>
                  <a:pt x="5761" y="168270"/>
                </a:lnTo>
                <a:lnTo>
                  <a:pt x="22172" y="122325"/>
                </a:lnTo>
                <a:lnTo>
                  <a:pt x="47926" y="81789"/>
                </a:lnTo>
                <a:lnTo>
                  <a:pt x="81712" y="47976"/>
                </a:lnTo>
                <a:lnTo>
                  <a:pt x="122223" y="22197"/>
                </a:lnTo>
                <a:lnTo>
                  <a:pt x="168150" y="5768"/>
                </a:lnTo>
                <a:lnTo>
                  <a:pt x="218186" y="0"/>
                </a:lnTo>
                <a:lnTo>
                  <a:pt x="1091311" y="0"/>
                </a:lnTo>
                <a:lnTo>
                  <a:pt x="1141353" y="5768"/>
                </a:lnTo>
                <a:lnTo>
                  <a:pt x="1187298" y="22197"/>
                </a:lnTo>
                <a:lnTo>
                  <a:pt x="1227834" y="47976"/>
                </a:lnTo>
                <a:lnTo>
                  <a:pt x="1261647" y="81789"/>
                </a:lnTo>
                <a:lnTo>
                  <a:pt x="1287426" y="122325"/>
                </a:lnTo>
                <a:lnTo>
                  <a:pt x="1303855" y="168270"/>
                </a:lnTo>
                <a:lnTo>
                  <a:pt x="1309624" y="218312"/>
                </a:lnTo>
                <a:lnTo>
                  <a:pt x="1309624" y="1092962"/>
                </a:lnTo>
                <a:lnTo>
                  <a:pt x="1303855" y="1143004"/>
                </a:lnTo>
                <a:lnTo>
                  <a:pt x="1287426" y="1188949"/>
                </a:lnTo>
                <a:lnTo>
                  <a:pt x="1261647" y="1229485"/>
                </a:lnTo>
                <a:lnTo>
                  <a:pt x="1227834" y="1263298"/>
                </a:lnTo>
                <a:lnTo>
                  <a:pt x="1187298" y="1289077"/>
                </a:lnTo>
                <a:lnTo>
                  <a:pt x="1141353" y="1305506"/>
                </a:lnTo>
                <a:lnTo>
                  <a:pt x="1091311" y="1311275"/>
                </a:lnTo>
                <a:lnTo>
                  <a:pt x="218186" y="1311275"/>
                </a:lnTo>
                <a:lnTo>
                  <a:pt x="168150" y="1305506"/>
                </a:lnTo>
                <a:lnTo>
                  <a:pt x="122223" y="1289077"/>
                </a:lnTo>
                <a:lnTo>
                  <a:pt x="81712" y="1263298"/>
                </a:lnTo>
                <a:lnTo>
                  <a:pt x="47926" y="1229485"/>
                </a:lnTo>
                <a:lnTo>
                  <a:pt x="22172" y="1188949"/>
                </a:lnTo>
                <a:lnTo>
                  <a:pt x="5761" y="1143004"/>
                </a:lnTo>
                <a:lnTo>
                  <a:pt x="0" y="1092962"/>
                </a:lnTo>
                <a:lnTo>
                  <a:pt x="0" y="218312"/>
                </a:lnTo>
                <a:close/>
              </a:path>
            </a:pathLst>
          </a:custGeom>
          <a:ln w="25400">
            <a:solidFill>
              <a:srgbClr val="385D89"/>
            </a:solidFill>
          </a:ln>
        </p:spPr>
        <p:txBody>
          <a:bodyPr wrap="square" lIns="0" tIns="0" rIns="0" bIns="0" rtlCol="0"/>
          <a:lstStyle/>
          <a:p>
            <a:endParaRPr sz="2400" b="1"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307131" y="1825059"/>
            <a:ext cx="1287785" cy="685123"/>
          </a:xfrm>
          <a:prstGeom prst="rect">
            <a:avLst/>
          </a:prstGeom>
        </p:spPr>
        <p:txBody>
          <a:bodyPr vert="horz" wrap="square" lIns="0" tIns="43497" rIns="0" bIns="0" rtlCol="0">
            <a:spAutoFit/>
          </a:bodyPr>
          <a:lstStyle/>
          <a:p>
            <a:pPr marR="6214" algn="ctr">
              <a:lnSpc>
                <a:spcPts val="2471"/>
              </a:lnSpc>
            </a:pPr>
            <a:r>
              <a:rPr sz="2400" b="1" dirty="0" err="1" smtClean="0">
                <a:latin typeface="黑体" pitchFamily="49" charset="-122"/>
                <a:ea typeface="黑体" pitchFamily="49" charset="-122"/>
                <a:cs typeface="宋体"/>
              </a:rPr>
              <a:t>主定理的应用</a:t>
            </a:r>
            <a:endParaRPr sz="2400" b="1" dirty="0">
              <a:latin typeface="黑体" pitchFamily="49" charset="-122"/>
              <a:ea typeface="黑体" pitchFamily="49" charset="-122"/>
              <a:cs typeface="宋体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5029735" y="1339032"/>
            <a:ext cx="967459" cy="1775454"/>
          </a:xfrm>
          <a:custGeom>
            <a:avLst/>
            <a:gdLst/>
            <a:ahLst/>
            <a:cxnLst/>
            <a:rect l="l" t="t" r="r" b="b"/>
            <a:pathLst>
              <a:path w="909954" h="1319530">
                <a:moveTo>
                  <a:pt x="0" y="151637"/>
                </a:moveTo>
                <a:lnTo>
                  <a:pt x="7723" y="103680"/>
                </a:lnTo>
                <a:lnTo>
                  <a:pt x="29236" y="62051"/>
                </a:lnTo>
                <a:lnTo>
                  <a:pt x="62051" y="29236"/>
                </a:lnTo>
                <a:lnTo>
                  <a:pt x="103680" y="7723"/>
                </a:lnTo>
                <a:lnTo>
                  <a:pt x="151637" y="0"/>
                </a:lnTo>
                <a:lnTo>
                  <a:pt x="758063" y="0"/>
                </a:lnTo>
                <a:lnTo>
                  <a:pt x="805971" y="7723"/>
                </a:lnTo>
                <a:lnTo>
                  <a:pt x="847594" y="29236"/>
                </a:lnTo>
                <a:lnTo>
                  <a:pt x="880428" y="62051"/>
                </a:lnTo>
                <a:lnTo>
                  <a:pt x="901965" y="103680"/>
                </a:lnTo>
                <a:lnTo>
                  <a:pt x="909701" y="151637"/>
                </a:lnTo>
                <a:lnTo>
                  <a:pt x="909701" y="1167638"/>
                </a:lnTo>
                <a:lnTo>
                  <a:pt x="901965" y="1215546"/>
                </a:lnTo>
                <a:lnTo>
                  <a:pt x="880428" y="1257169"/>
                </a:lnTo>
                <a:lnTo>
                  <a:pt x="847594" y="1290003"/>
                </a:lnTo>
                <a:lnTo>
                  <a:pt x="805971" y="1311540"/>
                </a:lnTo>
                <a:lnTo>
                  <a:pt x="758063" y="1319276"/>
                </a:lnTo>
                <a:lnTo>
                  <a:pt x="151637" y="1319276"/>
                </a:lnTo>
                <a:lnTo>
                  <a:pt x="103680" y="1311540"/>
                </a:lnTo>
                <a:lnTo>
                  <a:pt x="62051" y="1290003"/>
                </a:lnTo>
                <a:lnTo>
                  <a:pt x="29236" y="1257169"/>
                </a:lnTo>
                <a:lnTo>
                  <a:pt x="7723" y="1215546"/>
                </a:lnTo>
                <a:lnTo>
                  <a:pt x="0" y="1167638"/>
                </a:lnTo>
                <a:lnTo>
                  <a:pt x="0" y="151637"/>
                </a:lnTo>
                <a:close/>
              </a:path>
            </a:pathLst>
          </a:custGeom>
          <a:ln w="25400">
            <a:solidFill>
              <a:srgbClr val="385D89"/>
            </a:solidFill>
          </a:ln>
        </p:spPr>
        <p:txBody>
          <a:bodyPr wrap="square" lIns="0" tIns="0" rIns="0" bIns="0" rtlCol="0"/>
          <a:lstStyle/>
          <a:p>
            <a:endParaRPr sz="2400" b="1"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339744" y="1301708"/>
            <a:ext cx="516474" cy="1817863"/>
          </a:xfrm>
          <a:prstGeom prst="rect">
            <a:avLst/>
          </a:prstGeom>
        </p:spPr>
        <p:txBody>
          <a:bodyPr vert="horz" wrap="square" lIns="0" tIns="26409" rIns="0" bIns="0" rtlCol="0">
            <a:spAutoFit/>
          </a:bodyPr>
          <a:lstStyle/>
          <a:p>
            <a:pPr marL="15534" marR="6214" algn="just">
              <a:lnSpc>
                <a:spcPct val="96700"/>
              </a:lnSpc>
              <a:spcBef>
                <a:spcPts val="208"/>
              </a:spcBef>
            </a:pPr>
            <a:r>
              <a:rPr sz="2400" b="1" dirty="0">
                <a:latin typeface="黑体" pitchFamily="49" charset="-122"/>
                <a:ea typeface="黑体" pitchFamily="49" charset="-122"/>
                <a:cs typeface="宋体"/>
              </a:rPr>
              <a:t>递归 树模 </a:t>
            </a:r>
            <a:r>
              <a:rPr sz="2400" b="1" spc="-12" dirty="0">
                <a:latin typeface="黑体" pitchFamily="49" charset="-122"/>
                <a:ea typeface="黑体" pitchFamily="49" charset="-122"/>
                <a:cs typeface="宋体"/>
              </a:rPr>
              <a:t>型</a:t>
            </a:r>
            <a:endParaRPr sz="2400" b="1" dirty="0">
              <a:latin typeface="黑体" pitchFamily="49" charset="-122"/>
              <a:ea typeface="黑体" pitchFamily="49" charset="-122"/>
              <a:cs typeface="宋体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1865990" y="1339032"/>
            <a:ext cx="1637187" cy="3053086"/>
          </a:xfrm>
          <a:custGeom>
            <a:avLst/>
            <a:gdLst/>
            <a:ahLst/>
            <a:cxnLst/>
            <a:rect l="l" t="t" r="r" b="b"/>
            <a:pathLst>
              <a:path w="1539875" h="2362200">
                <a:moveTo>
                  <a:pt x="0" y="256666"/>
                </a:moveTo>
                <a:lnTo>
                  <a:pt x="4135" y="210536"/>
                </a:lnTo>
                <a:lnTo>
                  <a:pt x="16057" y="167116"/>
                </a:lnTo>
                <a:lnTo>
                  <a:pt x="35041" y="127131"/>
                </a:lnTo>
                <a:lnTo>
                  <a:pt x="60362" y="91308"/>
                </a:lnTo>
                <a:lnTo>
                  <a:pt x="91295" y="60371"/>
                </a:lnTo>
                <a:lnTo>
                  <a:pt x="127116" y="35047"/>
                </a:lnTo>
                <a:lnTo>
                  <a:pt x="167099" y="16060"/>
                </a:lnTo>
                <a:lnTo>
                  <a:pt x="210520" y="4135"/>
                </a:lnTo>
                <a:lnTo>
                  <a:pt x="256654" y="0"/>
                </a:lnTo>
                <a:lnTo>
                  <a:pt x="1283208" y="0"/>
                </a:lnTo>
                <a:lnTo>
                  <a:pt x="1329338" y="4135"/>
                </a:lnTo>
                <a:lnTo>
                  <a:pt x="1372758" y="16060"/>
                </a:lnTo>
                <a:lnTo>
                  <a:pt x="1412743" y="35047"/>
                </a:lnTo>
                <a:lnTo>
                  <a:pt x="1448566" y="60371"/>
                </a:lnTo>
                <a:lnTo>
                  <a:pt x="1479503" y="91308"/>
                </a:lnTo>
                <a:lnTo>
                  <a:pt x="1504827" y="127131"/>
                </a:lnTo>
                <a:lnTo>
                  <a:pt x="1523814" y="167116"/>
                </a:lnTo>
                <a:lnTo>
                  <a:pt x="1535739" y="210536"/>
                </a:lnTo>
                <a:lnTo>
                  <a:pt x="1539875" y="256666"/>
                </a:lnTo>
                <a:lnTo>
                  <a:pt x="1539875" y="2105533"/>
                </a:lnTo>
                <a:lnTo>
                  <a:pt x="1535739" y="2151663"/>
                </a:lnTo>
                <a:lnTo>
                  <a:pt x="1523814" y="2195083"/>
                </a:lnTo>
                <a:lnTo>
                  <a:pt x="1504827" y="2235068"/>
                </a:lnTo>
                <a:lnTo>
                  <a:pt x="1479503" y="2270891"/>
                </a:lnTo>
                <a:lnTo>
                  <a:pt x="1448566" y="2301828"/>
                </a:lnTo>
                <a:lnTo>
                  <a:pt x="1412743" y="2327152"/>
                </a:lnTo>
                <a:lnTo>
                  <a:pt x="1372758" y="2346139"/>
                </a:lnTo>
                <a:lnTo>
                  <a:pt x="1329338" y="2358064"/>
                </a:lnTo>
                <a:lnTo>
                  <a:pt x="1283208" y="2362200"/>
                </a:lnTo>
                <a:lnTo>
                  <a:pt x="256654" y="2362200"/>
                </a:lnTo>
                <a:lnTo>
                  <a:pt x="210520" y="2358064"/>
                </a:lnTo>
                <a:lnTo>
                  <a:pt x="167099" y="2346139"/>
                </a:lnTo>
                <a:lnTo>
                  <a:pt x="127116" y="2327152"/>
                </a:lnTo>
                <a:lnTo>
                  <a:pt x="91295" y="2301828"/>
                </a:lnTo>
                <a:lnTo>
                  <a:pt x="60362" y="2270891"/>
                </a:lnTo>
                <a:lnTo>
                  <a:pt x="35041" y="2235068"/>
                </a:lnTo>
                <a:lnTo>
                  <a:pt x="16057" y="2195083"/>
                </a:lnTo>
                <a:lnTo>
                  <a:pt x="4135" y="2151663"/>
                </a:lnTo>
                <a:lnTo>
                  <a:pt x="0" y="2105533"/>
                </a:lnTo>
                <a:lnTo>
                  <a:pt x="0" y="256666"/>
                </a:lnTo>
                <a:close/>
              </a:path>
            </a:pathLst>
          </a:custGeom>
          <a:ln w="25400">
            <a:solidFill>
              <a:srgbClr val="385D89"/>
            </a:solidFill>
          </a:ln>
        </p:spPr>
        <p:txBody>
          <a:bodyPr wrap="square" lIns="0" tIns="0" rIns="0" bIns="0" rtlCol="0"/>
          <a:lstStyle/>
          <a:p>
            <a:endParaRPr sz="2400" b="1"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015408" y="1678475"/>
            <a:ext cx="1379346" cy="754349"/>
          </a:xfrm>
          <a:prstGeom prst="rect">
            <a:avLst/>
          </a:prstGeom>
        </p:spPr>
        <p:txBody>
          <a:bodyPr vert="horz" wrap="square" lIns="0" tIns="15534" rIns="0" bIns="0" rtlCol="0">
            <a:spAutoFit/>
          </a:bodyPr>
          <a:lstStyle/>
          <a:p>
            <a:pPr marL="155342" marR="6214" indent="-139808">
              <a:spcBef>
                <a:spcPts val="122"/>
              </a:spcBef>
            </a:pPr>
            <a:r>
              <a:rPr sz="2400" b="1" dirty="0">
                <a:latin typeface="黑体" pitchFamily="49" charset="-122"/>
                <a:ea typeface="黑体" pitchFamily="49" charset="-122"/>
                <a:cs typeface="宋体"/>
              </a:rPr>
              <a:t>序列求和 方法：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2088430" y="2687632"/>
            <a:ext cx="1345229" cy="385018"/>
          </a:xfrm>
          <a:prstGeom prst="rect">
            <a:avLst/>
          </a:prstGeom>
        </p:spPr>
        <p:txBody>
          <a:bodyPr vert="horz" wrap="square" lIns="0" tIns="15534" rIns="0" bIns="0" rtlCol="0">
            <a:spAutoFit/>
          </a:bodyPr>
          <a:lstStyle/>
          <a:p>
            <a:pPr marL="15534">
              <a:spcBef>
                <a:spcPts val="122"/>
              </a:spcBef>
            </a:pPr>
            <a:r>
              <a:rPr sz="2400" b="1" dirty="0">
                <a:latin typeface="黑体" pitchFamily="49" charset="-122"/>
                <a:ea typeface="黑体" pitchFamily="49" charset="-122"/>
                <a:cs typeface="宋体"/>
              </a:rPr>
              <a:t>求和公式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1882869" y="3478868"/>
            <a:ext cx="1620308" cy="682535"/>
          </a:xfrm>
          <a:prstGeom prst="rect">
            <a:avLst/>
          </a:prstGeom>
        </p:spPr>
        <p:txBody>
          <a:bodyPr vert="horz" wrap="square" lIns="0" tIns="15534" rIns="0" bIns="0" rtlCol="0">
            <a:spAutoFit/>
          </a:bodyPr>
          <a:lstStyle/>
          <a:p>
            <a:pPr algn="ctr">
              <a:lnSpc>
                <a:spcPts val="2557"/>
              </a:lnSpc>
              <a:spcBef>
                <a:spcPts val="122"/>
              </a:spcBef>
            </a:pPr>
            <a:r>
              <a:rPr sz="2400" b="1" dirty="0">
                <a:latin typeface="黑体" pitchFamily="49" charset="-122"/>
                <a:ea typeface="黑体" pitchFamily="49" charset="-122"/>
                <a:cs typeface="宋体"/>
              </a:rPr>
              <a:t>估计和式的</a:t>
            </a:r>
          </a:p>
          <a:p>
            <a:pPr marL="1553" algn="ctr">
              <a:lnSpc>
                <a:spcPts val="2557"/>
              </a:lnSpc>
            </a:pPr>
            <a:r>
              <a:rPr sz="2400" b="1" dirty="0">
                <a:latin typeface="黑体" pitchFamily="49" charset="-122"/>
                <a:ea typeface="黑体" pitchFamily="49" charset="-122"/>
                <a:cs typeface="宋体"/>
              </a:rPr>
              <a:t>上界</a:t>
            </a:r>
          </a:p>
        </p:txBody>
      </p:sp>
      <p:sp>
        <p:nvSpPr>
          <p:cNvPr id="22" name="object 22"/>
          <p:cNvSpPr/>
          <p:nvPr/>
        </p:nvSpPr>
        <p:spPr>
          <a:xfrm>
            <a:off x="4057549" y="3240090"/>
            <a:ext cx="1944370" cy="1482440"/>
          </a:xfrm>
          <a:custGeom>
            <a:avLst/>
            <a:gdLst/>
            <a:ahLst/>
            <a:cxnLst/>
            <a:rect l="l" t="t" r="r" b="b"/>
            <a:pathLst>
              <a:path w="1828800" h="1176654">
                <a:moveTo>
                  <a:pt x="0" y="196087"/>
                </a:moveTo>
                <a:lnTo>
                  <a:pt x="5177" y="151115"/>
                </a:lnTo>
                <a:lnTo>
                  <a:pt x="19924" y="109838"/>
                </a:lnTo>
                <a:lnTo>
                  <a:pt x="43067" y="73430"/>
                </a:lnTo>
                <a:lnTo>
                  <a:pt x="73430" y="43067"/>
                </a:lnTo>
                <a:lnTo>
                  <a:pt x="109838" y="19924"/>
                </a:lnTo>
                <a:lnTo>
                  <a:pt x="151115" y="5177"/>
                </a:lnTo>
                <a:lnTo>
                  <a:pt x="196087" y="0"/>
                </a:lnTo>
                <a:lnTo>
                  <a:pt x="1632712" y="0"/>
                </a:lnTo>
                <a:lnTo>
                  <a:pt x="1677684" y="5177"/>
                </a:lnTo>
                <a:lnTo>
                  <a:pt x="1718961" y="19924"/>
                </a:lnTo>
                <a:lnTo>
                  <a:pt x="1755369" y="43067"/>
                </a:lnTo>
                <a:lnTo>
                  <a:pt x="1785732" y="73430"/>
                </a:lnTo>
                <a:lnTo>
                  <a:pt x="1808875" y="109838"/>
                </a:lnTo>
                <a:lnTo>
                  <a:pt x="1823622" y="151115"/>
                </a:lnTo>
                <a:lnTo>
                  <a:pt x="1828800" y="196087"/>
                </a:lnTo>
                <a:lnTo>
                  <a:pt x="1828800" y="980313"/>
                </a:lnTo>
                <a:lnTo>
                  <a:pt x="1823622" y="1025245"/>
                </a:lnTo>
                <a:lnTo>
                  <a:pt x="1808875" y="1066507"/>
                </a:lnTo>
                <a:lnTo>
                  <a:pt x="1785732" y="1102917"/>
                </a:lnTo>
                <a:lnTo>
                  <a:pt x="1755369" y="1133293"/>
                </a:lnTo>
                <a:lnTo>
                  <a:pt x="1718961" y="1156454"/>
                </a:lnTo>
                <a:lnTo>
                  <a:pt x="1677684" y="1171217"/>
                </a:lnTo>
                <a:lnTo>
                  <a:pt x="1632712" y="1176401"/>
                </a:lnTo>
                <a:lnTo>
                  <a:pt x="196087" y="1176401"/>
                </a:lnTo>
                <a:lnTo>
                  <a:pt x="151115" y="1171217"/>
                </a:lnTo>
                <a:lnTo>
                  <a:pt x="109838" y="1156454"/>
                </a:lnTo>
                <a:lnTo>
                  <a:pt x="73430" y="1133293"/>
                </a:lnTo>
                <a:lnTo>
                  <a:pt x="43067" y="1102917"/>
                </a:lnTo>
                <a:lnTo>
                  <a:pt x="19924" y="1066507"/>
                </a:lnTo>
                <a:lnTo>
                  <a:pt x="5177" y="1025245"/>
                </a:lnTo>
                <a:lnTo>
                  <a:pt x="0" y="980313"/>
                </a:lnTo>
                <a:lnTo>
                  <a:pt x="0" y="196087"/>
                </a:lnTo>
                <a:close/>
              </a:path>
            </a:pathLst>
          </a:custGeom>
          <a:ln w="25400">
            <a:solidFill>
              <a:srgbClr val="385D89"/>
            </a:solidFill>
          </a:ln>
        </p:spPr>
        <p:txBody>
          <a:bodyPr wrap="square" lIns="0" tIns="0" rIns="0" bIns="0" rtlCol="0"/>
          <a:lstStyle/>
          <a:p>
            <a:endParaRPr sz="2400" b="1"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434313" y="3290330"/>
            <a:ext cx="1548944" cy="1330533"/>
          </a:xfrm>
          <a:prstGeom prst="rect">
            <a:avLst/>
          </a:prstGeom>
        </p:spPr>
        <p:txBody>
          <a:bodyPr vert="horz" wrap="square" lIns="0" tIns="15534" rIns="0" bIns="0" rtlCol="0">
            <a:spAutoFit/>
          </a:bodyPr>
          <a:lstStyle/>
          <a:p>
            <a:pPr marL="15534" marR="6214">
              <a:lnSpc>
                <a:spcPct val="127800"/>
              </a:lnSpc>
              <a:spcBef>
                <a:spcPts val="122"/>
              </a:spcBef>
            </a:pPr>
            <a:r>
              <a:rPr sz="2400" b="1" dirty="0">
                <a:latin typeface="黑体" pitchFamily="49" charset="-122"/>
                <a:ea typeface="黑体" pitchFamily="49" charset="-122"/>
                <a:cs typeface="宋体"/>
              </a:rPr>
              <a:t>迭代法： 基本迭代</a:t>
            </a:r>
          </a:p>
          <a:p>
            <a:pPr marL="15534"/>
            <a:r>
              <a:rPr sz="2400" b="1" dirty="0">
                <a:latin typeface="黑体" pitchFamily="49" charset="-122"/>
                <a:ea typeface="黑体" pitchFamily="49" charset="-122"/>
                <a:cs typeface="宋体"/>
              </a:rPr>
              <a:t>换元迭代</a:t>
            </a:r>
          </a:p>
        </p:txBody>
      </p:sp>
      <p:sp>
        <p:nvSpPr>
          <p:cNvPr id="24" name="object 24"/>
          <p:cNvSpPr/>
          <p:nvPr/>
        </p:nvSpPr>
        <p:spPr>
          <a:xfrm>
            <a:off x="4057550" y="1339032"/>
            <a:ext cx="857413" cy="1775454"/>
          </a:xfrm>
          <a:custGeom>
            <a:avLst/>
            <a:gdLst/>
            <a:ahLst/>
            <a:cxnLst/>
            <a:rect l="l" t="t" r="r" b="b"/>
            <a:pathLst>
              <a:path w="806450" h="1319530">
                <a:moveTo>
                  <a:pt x="0" y="134365"/>
                </a:moveTo>
                <a:lnTo>
                  <a:pt x="6853" y="91911"/>
                </a:lnTo>
                <a:lnTo>
                  <a:pt x="25936" y="55028"/>
                </a:lnTo>
                <a:lnTo>
                  <a:pt x="55028" y="25936"/>
                </a:lnTo>
                <a:lnTo>
                  <a:pt x="91911" y="6853"/>
                </a:lnTo>
                <a:lnTo>
                  <a:pt x="134366" y="0"/>
                </a:lnTo>
                <a:lnTo>
                  <a:pt x="672083" y="0"/>
                </a:lnTo>
                <a:lnTo>
                  <a:pt x="714538" y="6853"/>
                </a:lnTo>
                <a:lnTo>
                  <a:pt x="751421" y="25936"/>
                </a:lnTo>
                <a:lnTo>
                  <a:pt x="780513" y="55028"/>
                </a:lnTo>
                <a:lnTo>
                  <a:pt x="799596" y="91911"/>
                </a:lnTo>
                <a:lnTo>
                  <a:pt x="806450" y="134365"/>
                </a:lnTo>
                <a:lnTo>
                  <a:pt x="806450" y="1184783"/>
                </a:lnTo>
                <a:lnTo>
                  <a:pt x="799596" y="1227299"/>
                </a:lnTo>
                <a:lnTo>
                  <a:pt x="780513" y="1264219"/>
                </a:lnTo>
                <a:lnTo>
                  <a:pt x="751421" y="1293331"/>
                </a:lnTo>
                <a:lnTo>
                  <a:pt x="714538" y="1312421"/>
                </a:lnTo>
                <a:lnTo>
                  <a:pt x="672083" y="1319276"/>
                </a:lnTo>
                <a:lnTo>
                  <a:pt x="134366" y="1319276"/>
                </a:lnTo>
                <a:lnTo>
                  <a:pt x="91911" y="1312421"/>
                </a:lnTo>
                <a:lnTo>
                  <a:pt x="55028" y="1293331"/>
                </a:lnTo>
                <a:lnTo>
                  <a:pt x="25936" y="1264219"/>
                </a:lnTo>
                <a:lnTo>
                  <a:pt x="6853" y="1227299"/>
                </a:lnTo>
                <a:lnTo>
                  <a:pt x="0" y="1184783"/>
                </a:lnTo>
                <a:lnTo>
                  <a:pt x="0" y="134365"/>
                </a:lnTo>
                <a:close/>
              </a:path>
            </a:pathLst>
          </a:custGeom>
          <a:ln w="25400">
            <a:solidFill>
              <a:srgbClr val="385D89"/>
            </a:solidFill>
          </a:ln>
        </p:spPr>
        <p:txBody>
          <a:bodyPr wrap="square" lIns="0" tIns="0" rIns="0" bIns="0" rtlCol="0"/>
          <a:lstStyle/>
          <a:p>
            <a:endParaRPr sz="2400" b="1"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313009" y="1301708"/>
            <a:ext cx="516474" cy="1817863"/>
          </a:xfrm>
          <a:prstGeom prst="rect">
            <a:avLst/>
          </a:prstGeom>
        </p:spPr>
        <p:txBody>
          <a:bodyPr vert="horz" wrap="square" lIns="0" tIns="26409" rIns="0" bIns="0" rtlCol="0">
            <a:spAutoFit/>
          </a:bodyPr>
          <a:lstStyle/>
          <a:p>
            <a:pPr marL="15534" marR="6214" algn="just">
              <a:lnSpc>
                <a:spcPct val="96700"/>
              </a:lnSpc>
              <a:spcBef>
                <a:spcPts val="208"/>
              </a:spcBef>
            </a:pPr>
            <a:r>
              <a:rPr sz="2400" b="1" dirty="0">
                <a:latin typeface="黑体" pitchFamily="49" charset="-122"/>
                <a:ea typeface="黑体" pitchFamily="49" charset="-122"/>
                <a:cs typeface="宋体"/>
              </a:rPr>
              <a:t>差消 法化 </a:t>
            </a:r>
            <a:r>
              <a:rPr sz="2400" b="1" spc="-12" dirty="0">
                <a:latin typeface="黑体" pitchFamily="49" charset="-122"/>
                <a:ea typeface="黑体" pitchFamily="49" charset="-122"/>
                <a:cs typeface="宋体"/>
              </a:rPr>
              <a:t>简</a:t>
            </a:r>
            <a:endParaRPr sz="2400" b="1" dirty="0">
              <a:latin typeface="黑体" pitchFamily="49" charset="-122"/>
              <a:ea typeface="黑体" pitchFamily="49" charset="-122"/>
              <a:cs typeface="宋体"/>
            </a:endParaRPr>
          </a:p>
        </p:txBody>
      </p:sp>
    </p:spTree>
    <p:extLst>
      <p:ext uri="{BB962C8B-B14F-4D97-AF65-F5344CB8AC3E}">
        <p14:creationId xmlns:p14="http://schemas.microsoft.com/office/powerpoint/2010/main" val="28882327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  <p:bldP spid="9" grpId="0" animBg="1"/>
      <p:bldP spid="10" grpId="0"/>
      <p:bldP spid="11" grpId="0" animBg="1"/>
      <p:bldP spid="12" grpId="0"/>
      <p:bldP spid="13" grpId="0" animBg="1"/>
      <p:bldP spid="14" grpId="0"/>
      <p:bldP spid="15" grpId="0" animBg="1"/>
      <p:bldP spid="16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 animBg="1"/>
      <p:bldP spid="2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457200" y="2348041"/>
            <a:ext cx="8798767" cy="925861"/>
          </a:xfrm>
          <a:prstGeom prst="rect">
            <a:avLst/>
          </a:prstGeom>
        </p:spPr>
        <p:txBody>
          <a:bodyPr vert="horz" wrap="square" lIns="0" tIns="11651" rIns="0" bIns="0" rtlCol="0" anchor="ctr">
            <a:spAutoFit/>
          </a:bodyPr>
          <a:lstStyle/>
          <a:p>
            <a:pPr marL="11651" algn="ctr">
              <a:spcBef>
                <a:spcPts val="92"/>
              </a:spcBef>
            </a:pPr>
            <a:r>
              <a:rPr sz="6600" spc="-18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序</a:t>
            </a:r>
            <a:r>
              <a:rPr sz="6600" spc="-5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列</a:t>
            </a:r>
            <a:r>
              <a:rPr sz="6600" spc="-18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求</a:t>
            </a:r>
            <a:r>
              <a:rPr sz="6600" spc="-5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和的</a:t>
            </a:r>
            <a:r>
              <a:rPr sz="6600" spc="5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方</a:t>
            </a:r>
            <a:r>
              <a:rPr sz="6600" spc="-18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法</a:t>
            </a:r>
            <a:endParaRPr sz="6600" dirty="0">
              <a:solidFill>
                <a:srgbClr val="C00000"/>
              </a:solidFill>
              <a:latin typeface="黑体" pitchFamily="49" charset="-122"/>
              <a:ea typeface="黑体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1874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429809" y="301318"/>
            <a:ext cx="8849441" cy="620574"/>
          </a:xfrm>
          <a:prstGeom prst="rect">
            <a:avLst/>
          </a:prstGeom>
        </p:spPr>
        <p:txBody>
          <a:bodyPr vert="horz" wrap="square" lIns="0" tIns="11068" rIns="0" bIns="0" rtlCol="0" anchor="ctr">
            <a:spAutoFit/>
          </a:bodyPr>
          <a:lstStyle/>
          <a:p>
            <a:pPr marL="11651" algn="ctr">
              <a:spcBef>
                <a:spcPts val="87"/>
              </a:spcBef>
            </a:pPr>
            <a:r>
              <a:rPr sz="4400" spc="-10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数列求和公式</a:t>
            </a:r>
          </a:p>
        </p:txBody>
      </p:sp>
      <p:sp>
        <p:nvSpPr>
          <p:cNvPr id="3" name="object 3"/>
          <p:cNvSpPr/>
          <p:nvPr/>
        </p:nvSpPr>
        <p:spPr>
          <a:xfrm>
            <a:off x="2115717" y="0"/>
            <a:ext cx="148259" cy="21696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135160" y="0"/>
            <a:ext cx="149474" cy="24960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115717" y="0"/>
            <a:ext cx="148259" cy="21696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135160" y="0"/>
            <a:ext cx="149474" cy="24960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115717" y="0"/>
            <a:ext cx="148259" cy="21696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135160" y="0"/>
            <a:ext cx="149474" cy="24960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410547" y="1188558"/>
            <a:ext cx="7903029" cy="442652"/>
          </a:xfrm>
          <a:prstGeom prst="rect">
            <a:avLst/>
          </a:prstGeom>
        </p:spPr>
        <p:txBody>
          <a:bodyPr vert="horz" wrap="square" lIns="0" tIns="11651" rIns="0" bIns="0" rtlCol="0">
            <a:spAutoFit/>
          </a:bodyPr>
          <a:lstStyle/>
          <a:p>
            <a:pPr marL="11651">
              <a:spcBef>
                <a:spcPts val="92"/>
              </a:spcBef>
            </a:pPr>
            <a:r>
              <a:rPr sz="2800" b="1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  <a:cs typeface="宋体"/>
              </a:rPr>
              <a:t>等差、等比数列与调和级数</a:t>
            </a:r>
            <a:endParaRPr sz="2800" dirty="0">
              <a:latin typeface="黑体" pitchFamily="49" charset="-122"/>
              <a:ea typeface="黑体" pitchFamily="49" charset="-122"/>
              <a:cs typeface="宋体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矩形 33"/>
              <p:cNvSpPr/>
              <p:nvPr/>
            </p:nvSpPr>
            <p:spPr>
              <a:xfrm>
                <a:off x="1469813" y="1907270"/>
                <a:ext cx="3003329" cy="1091265"/>
              </a:xfrm>
              <a:prstGeom prst="rect">
                <a:avLst/>
              </a:prstGeom>
            </p:spPr>
            <p:txBody>
              <a:bodyPr wrap="none" lIns="83887" tIns="41944" rIns="83887" bIns="41944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zh-CN" altLang="en-US" sz="2400" b="1" i="1" smtClean="0">
                              <a:latin typeface="Cambria Math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𝒌</m:t>
                          </m:r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𝒏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sz="2400" b="1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altLang="zh-CN" sz="2400" b="1" i="1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  <m:sub>
                              <m:r>
                                <a:rPr lang="en-US" altLang="zh-CN" sz="2400" b="1" i="1"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</m:sub>
                          </m:sSub>
                        </m:e>
                      </m:nary>
                      <m:r>
                        <a:rPr lang="en-US" altLang="zh-CN" sz="2400" b="1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400" b="1" i="1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zh-CN" sz="2400" b="1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altLang="zh-CN" sz="2400" b="1" i="1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  <m:sub>
                              <m:r>
                                <a:rPr lang="en-US" altLang="zh-CN" sz="2400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sz="2400" b="1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altLang="zh-CN" sz="2400" b="1" i="1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  <m:sub>
                              <m:r>
                                <a:rPr lang="en-US" altLang="zh-CN" sz="2400" b="1" i="1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sub>
                          </m:sSub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</m:oMath>
                  </m:oMathPara>
                </a14:m>
                <a:endParaRPr lang="zh-CN" altLang="en-US" sz="2200" b="1" dirty="0"/>
              </a:p>
            </p:txBody>
          </p:sp>
        </mc:Choice>
        <mc:Fallback xmlns="">
          <p:sp>
            <p:nvSpPr>
              <p:cNvPr id="34" name="矩形 3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9813" y="1907270"/>
                <a:ext cx="3003329" cy="10912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矩形 34"/>
              <p:cNvSpPr/>
              <p:nvPr/>
            </p:nvSpPr>
            <p:spPr>
              <a:xfrm>
                <a:off x="1469811" y="3298861"/>
                <a:ext cx="3309566" cy="1091265"/>
              </a:xfrm>
              <a:prstGeom prst="rect">
                <a:avLst/>
              </a:prstGeom>
            </p:spPr>
            <p:txBody>
              <a:bodyPr wrap="none" lIns="83887" tIns="41944" rIns="83887" bIns="41944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zh-CN" altLang="en-US" sz="2400" b="1" i="1">
                              <a:latin typeface="Cambria Math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𝒌</m:t>
                          </m:r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  <m:sup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𝒏</m:t>
                          </m:r>
                        </m:sup>
                        <m:e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𝒂</m:t>
                          </m:r>
                          <m:sSup>
                            <m:sSupPr>
                              <m:ctrlPr>
                                <a:rPr lang="en-US" altLang="zh-CN" sz="2400" b="1" i="1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US" altLang="zh-CN" sz="2400" b="1" i="1">
                                  <a:latin typeface="Cambria Math" panose="02040503050406030204" pitchFamily="18" charset="0"/>
                                </a:rPr>
                                <m:t>𝒒</m:t>
                              </m:r>
                            </m:e>
                            <m:sup>
                              <m:r>
                                <a:rPr lang="en-US" altLang="zh-CN" sz="2400" b="1" i="1"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</m:sup>
                          </m:sSup>
                        </m:e>
                      </m:nary>
                      <m:r>
                        <a:rPr lang="en-US" altLang="zh-CN" sz="2400" b="1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400" b="1" i="1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𝒂</m:t>
                          </m:r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altLang="zh-CN" sz="2400" b="1" i="1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US" altLang="zh-CN" sz="2400" b="1" i="1">
                                  <a:latin typeface="Cambria Math" panose="02040503050406030204" pitchFamily="18" charset="0"/>
                                </a:rPr>
                                <m:t>𝒒</m:t>
                              </m:r>
                            </m:e>
                            <m:sup>
                              <m:r>
                                <a:rPr lang="en-US" altLang="zh-CN" sz="2400" b="1" i="1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  <m:r>
                                <a:rPr lang="en-US" altLang="zh-CN" sz="2400" b="1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CN" sz="2400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p>
                          </m:sSup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𝒒</m:t>
                          </m:r>
                        </m:den>
                      </m:f>
                    </m:oMath>
                  </m:oMathPara>
                </a14:m>
                <a:endParaRPr lang="zh-CN" altLang="en-US" sz="2400" b="1" dirty="0"/>
              </a:p>
            </p:txBody>
          </p:sp>
        </mc:Choice>
        <mc:Fallback xmlns="">
          <p:sp>
            <p:nvSpPr>
              <p:cNvPr id="35" name="矩形 3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9811" y="3298861"/>
                <a:ext cx="3309566" cy="1091265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矩形 35"/>
              <p:cNvSpPr/>
              <p:nvPr/>
            </p:nvSpPr>
            <p:spPr>
              <a:xfrm>
                <a:off x="5191266" y="3295676"/>
                <a:ext cx="2405537" cy="1091458"/>
              </a:xfrm>
              <a:prstGeom prst="rect">
                <a:avLst/>
              </a:prstGeom>
            </p:spPr>
            <p:txBody>
              <a:bodyPr wrap="none" lIns="83887" tIns="41944" rIns="83887" bIns="41944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zh-CN" altLang="en-US" sz="2400" b="1" i="1">
                              <a:latin typeface="Cambria Math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𝒌</m:t>
                          </m:r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  <m:sup>
                          <m:r>
                            <a:rPr lang="en-US" altLang="zh-CN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𝒂</m:t>
                          </m:r>
                          <m:sSup>
                            <m:sSupPr>
                              <m:ctrlPr>
                                <a:rPr lang="en-US" altLang="zh-CN" sz="2400" b="1" i="1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US" altLang="zh-CN" sz="2400" b="1" i="1">
                                  <a:latin typeface="Cambria Math" panose="02040503050406030204" pitchFamily="18" charset="0"/>
                                </a:rPr>
                                <m:t>𝒒</m:t>
                              </m:r>
                            </m:e>
                            <m:sup>
                              <m:r>
                                <a:rPr lang="en-US" altLang="zh-CN" sz="2400" b="1" i="1"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</m:sup>
                          </m:sSup>
                        </m:e>
                      </m:nary>
                      <m:r>
                        <a:rPr lang="en-US" altLang="zh-CN" sz="2400" b="1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400" b="1" i="1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𝒂</m:t>
                          </m:r>
                        </m:num>
                        <m:den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𝒒</m:t>
                          </m:r>
                        </m:den>
                      </m:f>
                    </m:oMath>
                  </m:oMathPara>
                </a14:m>
                <a:endParaRPr lang="zh-CN" altLang="en-US" sz="2400" b="1" dirty="0"/>
              </a:p>
            </p:txBody>
          </p:sp>
        </mc:Choice>
        <mc:Fallback xmlns="">
          <p:sp>
            <p:nvSpPr>
              <p:cNvPr id="36" name="矩形 3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91266" y="3295676"/>
                <a:ext cx="2405537" cy="1091458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矩形 36"/>
              <p:cNvSpPr/>
              <p:nvPr/>
            </p:nvSpPr>
            <p:spPr>
              <a:xfrm>
                <a:off x="7340126" y="3597121"/>
                <a:ext cx="1282922" cy="454039"/>
              </a:xfrm>
              <a:prstGeom prst="rect">
                <a:avLst/>
              </a:prstGeom>
            </p:spPr>
            <p:txBody>
              <a:bodyPr wrap="none" lIns="83887" tIns="41944" rIns="83887" bIns="41944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1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400" b="1" i="1">
                          <a:latin typeface="Cambria Math" panose="02040503050406030204" pitchFamily="18" charset="0"/>
                        </a:rPr>
                        <m:t>𝒒</m:t>
                      </m:r>
                      <m:r>
                        <a:rPr lang="en-US" altLang="zh-CN" sz="24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</m:t>
                      </m:r>
                      <m:r>
                        <a:rPr lang="en-US" altLang="zh-CN" sz="24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𝟏</m:t>
                      </m:r>
                      <m:r>
                        <a:rPr lang="en-US" altLang="zh-CN" sz="2400" b="1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400" b="1" dirty="0"/>
              </a:p>
            </p:txBody>
          </p:sp>
        </mc:Choice>
        <mc:Fallback xmlns="">
          <p:sp>
            <p:nvSpPr>
              <p:cNvPr id="37" name="矩形 3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40126" y="3597121"/>
                <a:ext cx="1282922" cy="454039"/>
              </a:xfrm>
              <a:prstGeom prst="rect">
                <a:avLst/>
              </a:prstGeom>
              <a:blipFill rotWithShape="1">
                <a:blip r:embed="rId7"/>
                <a:stretch>
                  <a:fillRect l="-948" r="-474" b="-17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矩形 37"/>
              <p:cNvSpPr/>
              <p:nvPr/>
            </p:nvSpPr>
            <p:spPr>
              <a:xfrm>
                <a:off x="1477486" y="4744167"/>
                <a:ext cx="2902533" cy="1091265"/>
              </a:xfrm>
              <a:prstGeom prst="rect">
                <a:avLst/>
              </a:prstGeom>
            </p:spPr>
            <p:txBody>
              <a:bodyPr wrap="none" lIns="83887" tIns="41944" rIns="83887" bIns="41944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zh-CN" altLang="en-US" sz="2400" b="1" i="1">
                              <a:latin typeface="Cambria Math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𝒌</m:t>
                          </m:r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𝒏</m:t>
                          </m:r>
                        </m:sup>
                        <m:e>
                          <m:f>
                            <m:fPr>
                              <m:ctrlPr>
                                <a:rPr lang="en-US" altLang="zh-CN" sz="2400" b="1" i="1">
                                  <a:latin typeface="Cambria Math"/>
                                </a:rPr>
                              </m:ctrlPr>
                            </m:fPr>
                            <m:num>
                              <m:r>
                                <a:rPr lang="en-US" altLang="zh-CN" sz="2400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num>
                            <m:den>
                              <m:r>
                                <a:rPr lang="en-US" altLang="zh-CN" sz="2400" b="1" i="1"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</m:den>
                          </m:f>
                        </m:e>
                      </m:nary>
                      <m:r>
                        <a:rPr lang="en-US" altLang="zh-CN" sz="2400" b="1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zh-CN" sz="2400" b="1" i="1">
                              <a:latin typeface="Cambria Math"/>
                            </a:rPr>
                          </m:ctrlPr>
                        </m:funcPr>
                        <m:fName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𝐥𝐧</m:t>
                          </m:r>
                        </m:fName>
                        <m:e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</m:func>
                      <m:r>
                        <a:rPr lang="en-US" altLang="zh-CN" sz="2400" b="1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400" b="1" i="1">
                          <a:latin typeface="Cambria Math" panose="02040503050406030204" pitchFamily="18" charset="0"/>
                        </a:rPr>
                        <m:t>𝑶</m:t>
                      </m:r>
                      <m:r>
                        <a:rPr lang="en-US" altLang="zh-CN" sz="2400" b="1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400" b="1" i="1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altLang="zh-CN" sz="2400" b="1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400" b="1" dirty="0"/>
              </a:p>
            </p:txBody>
          </p:sp>
        </mc:Choice>
        <mc:Fallback xmlns="">
          <p:sp>
            <p:nvSpPr>
              <p:cNvPr id="38" name="矩形 3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7486" y="4744167"/>
                <a:ext cx="2902533" cy="1091265"/>
              </a:xfrm>
              <a:prstGeom prst="rect">
                <a:avLst/>
              </a:prstGeom>
              <a:blipFill rotWithShape="1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941055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457200" y="365199"/>
            <a:ext cx="8808098" cy="620574"/>
          </a:xfrm>
          <a:prstGeom prst="rect">
            <a:avLst/>
          </a:prstGeom>
        </p:spPr>
        <p:txBody>
          <a:bodyPr vert="horz" wrap="square" lIns="0" tIns="11068" rIns="0" bIns="0" rtlCol="0" anchor="ctr">
            <a:spAutoFit/>
          </a:bodyPr>
          <a:lstStyle/>
          <a:p>
            <a:pPr marL="11651" algn="ctr">
              <a:spcBef>
                <a:spcPts val="87"/>
              </a:spcBef>
            </a:pPr>
            <a:r>
              <a:rPr lang="zh-CN" altLang="en-US" sz="4400" spc="-10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数列</a:t>
            </a:r>
            <a:r>
              <a:rPr sz="4400" spc="-10" dirty="0" err="1" smtClean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求和的例子</a:t>
            </a:r>
            <a:endParaRPr sz="4400" spc="-10" dirty="0">
              <a:solidFill>
                <a:srgbClr val="C00000"/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5786582" y="1456000"/>
            <a:ext cx="1232954" cy="864824"/>
          </a:xfrm>
          <a:custGeom>
            <a:avLst/>
            <a:gdLst/>
            <a:ahLst/>
            <a:cxnLst/>
            <a:rect l="l" t="t" r="r" b="b"/>
            <a:pathLst>
              <a:path w="1546225" h="686435">
                <a:moveTo>
                  <a:pt x="1017990" y="0"/>
                </a:moveTo>
                <a:lnTo>
                  <a:pt x="965248" y="1309"/>
                </a:lnTo>
                <a:lnTo>
                  <a:pt x="913554" y="5916"/>
                </a:lnTo>
                <a:lnTo>
                  <a:pt x="863228" y="13687"/>
                </a:lnTo>
                <a:lnTo>
                  <a:pt x="814589" y="24491"/>
                </a:lnTo>
                <a:lnTo>
                  <a:pt x="767955" y="38197"/>
                </a:lnTo>
                <a:lnTo>
                  <a:pt x="723645" y="54674"/>
                </a:lnTo>
                <a:lnTo>
                  <a:pt x="681979" y="73789"/>
                </a:lnTo>
                <a:lnTo>
                  <a:pt x="643275" y="95411"/>
                </a:lnTo>
                <a:lnTo>
                  <a:pt x="607851" y="119409"/>
                </a:lnTo>
                <a:lnTo>
                  <a:pt x="576028" y="145651"/>
                </a:lnTo>
                <a:lnTo>
                  <a:pt x="548123" y="174006"/>
                </a:lnTo>
                <a:lnTo>
                  <a:pt x="524455" y="204342"/>
                </a:lnTo>
                <a:lnTo>
                  <a:pt x="491109" y="270431"/>
                </a:lnTo>
                <a:lnTo>
                  <a:pt x="0" y="329105"/>
                </a:lnTo>
                <a:lnTo>
                  <a:pt x="486791" y="401241"/>
                </a:lnTo>
                <a:lnTo>
                  <a:pt x="499945" y="438052"/>
                </a:lnTo>
                <a:lnTo>
                  <a:pt x="519017" y="473237"/>
                </a:lnTo>
                <a:lnTo>
                  <a:pt x="543659" y="506562"/>
                </a:lnTo>
                <a:lnTo>
                  <a:pt x="573523" y="537792"/>
                </a:lnTo>
                <a:lnTo>
                  <a:pt x="608260" y="566695"/>
                </a:lnTo>
                <a:lnTo>
                  <a:pt x="647523" y="593035"/>
                </a:lnTo>
                <a:lnTo>
                  <a:pt x="690964" y="616578"/>
                </a:lnTo>
                <a:lnTo>
                  <a:pt x="738234" y="637090"/>
                </a:lnTo>
                <a:lnTo>
                  <a:pt x="788986" y="654338"/>
                </a:lnTo>
                <a:lnTo>
                  <a:pt x="842870" y="668086"/>
                </a:lnTo>
                <a:lnTo>
                  <a:pt x="899541" y="678101"/>
                </a:lnTo>
                <a:lnTo>
                  <a:pt x="953424" y="683778"/>
                </a:lnTo>
                <a:lnTo>
                  <a:pt x="1006897" y="685896"/>
                </a:lnTo>
                <a:lnTo>
                  <a:pt x="1059639" y="684586"/>
                </a:lnTo>
                <a:lnTo>
                  <a:pt x="1111333" y="679980"/>
                </a:lnTo>
                <a:lnTo>
                  <a:pt x="1161659" y="672209"/>
                </a:lnTo>
                <a:lnTo>
                  <a:pt x="1210298" y="661405"/>
                </a:lnTo>
                <a:lnTo>
                  <a:pt x="1256932" y="647698"/>
                </a:lnTo>
                <a:lnTo>
                  <a:pt x="1301242" y="631222"/>
                </a:lnTo>
                <a:lnTo>
                  <a:pt x="1342908" y="612107"/>
                </a:lnTo>
                <a:lnTo>
                  <a:pt x="1381612" y="590485"/>
                </a:lnTo>
                <a:lnTo>
                  <a:pt x="1417036" y="566487"/>
                </a:lnTo>
                <a:lnTo>
                  <a:pt x="1448859" y="540244"/>
                </a:lnTo>
                <a:lnTo>
                  <a:pt x="1476764" y="511890"/>
                </a:lnTo>
                <a:lnTo>
                  <a:pt x="1500432" y="481554"/>
                </a:lnTo>
                <a:lnTo>
                  <a:pt x="1533779" y="415465"/>
                </a:lnTo>
                <a:lnTo>
                  <a:pt x="1545974" y="341916"/>
                </a:lnTo>
                <a:lnTo>
                  <a:pt x="1542886" y="305865"/>
                </a:lnTo>
                <a:lnTo>
                  <a:pt x="1519583" y="236451"/>
                </a:lnTo>
                <a:lnTo>
                  <a:pt x="1499866" y="203586"/>
                </a:lnTo>
                <a:lnTo>
                  <a:pt x="1475106" y="172280"/>
                </a:lnTo>
                <a:lnTo>
                  <a:pt x="1445551" y="142782"/>
                </a:lnTo>
                <a:lnTo>
                  <a:pt x="1411450" y="115341"/>
                </a:lnTo>
                <a:lnTo>
                  <a:pt x="1373053" y="90204"/>
                </a:lnTo>
                <a:lnTo>
                  <a:pt x="1330609" y="67621"/>
                </a:lnTo>
                <a:lnTo>
                  <a:pt x="1284367" y="47839"/>
                </a:lnTo>
                <a:lnTo>
                  <a:pt x="1234576" y="31109"/>
                </a:lnTo>
                <a:lnTo>
                  <a:pt x="1181486" y="17678"/>
                </a:lnTo>
                <a:lnTo>
                  <a:pt x="1125347" y="7795"/>
                </a:lnTo>
                <a:lnTo>
                  <a:pt x="1071463" y="2117"/>
                </a:lnTo>
                <a:lnTo>
                  <a:pt x="1017990" y="0"/>
                </a:lnTo>
                <a:close/>
              </a:path>
            </a:pathLst>
          </a:custGeom>
          <a:solidFill>
            <a:srgbClr val="4F81BC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5" name="object 15"/>
          <p:cNvSpPr/>
          <p:nvPr/>
        </p:nvSpPr>
        <p:spPr>
          <a:xfrm>
            <a:off x="5786582" y="1456000"/>
            <a:ext cx="1232954" cy="864824"/>
          </a:xfrm>
          <a:custGeom>
            <a:avLst/>
            <a:gdLst/>
            <a:ahLst/>
            <a:cxnLst/>
            <a:rect l="l" t="t" r="r" b="b"/>
            <a:pathLst>
              <a:path w="1546225" h="686435">
                <a:moveTo>
                  <a:pt x="0" y="329105"/>
                </a:moveTo>
                <a:lnTo>
                  <a:pt x="491109" y="270431"/>
                </a:lnTo>
                <a:lnTo>
                  <a:pt x="505344" y="236527"/>
                </a:lnTo>
                <a:lnTo>
                  <a:pt x="524455" y="204342"/>
                </a:lnTo>
                <a:lnTo>
                  <a:pt x="548123" y="174006"/>
                </a:lnTo>
                <a:lnTo>
                  <a:pt x="576028" y="145651"/>
                </a:lnTo>
                <a:lnTo>
                  <a:pt x="607851" y="119409"/>
                </a:lnTo>
                <a:lnTo>
                  <a:pt x="643275" y="95411"/>
                </a:lnTo>
                <a:lnTo>
                  <a:pt x="681979" y="73789"/>
                </a:lnTo>
                <a:lnTo>
                  <a:pt x="723645" y="54674"/>
                </a:lnTo>
                <a:lnTo>
                  <a:pt x="767955" y="38197"/>
                </a:lnTo>
                <a:lnTo>
                  <a:pt x="814589" y="24491"/>
                </a:lnTo>
                <a:lnTo>
                  <a:pt x="863228" y="13687"/>
                </a:lnTo>
                <a:lnTo>
                  <a:pt x="913554" y="5916"/>
                </a:lnTo>
                <a:lnTo>
                  <a:pt x="965248" y="1309"/>
                </a:lnTo>
                <a:lnTo>
                  <a:pt x="1017990" y="0"/>
                </a:lnTo>
                <a:lnTo>
                  <a:pt x="1071463" y="2117"/>
                </a:lnTo>
                <a:lnTo>
                  <a:pt x="1125347" y="7795"/>
                </a:lnTo>
                <a:lnTo>
                  <a:pt x="1181486" y="17678"/>
                </a:lnTo>
                <a:lnTo>
                  <a:pt x="1234576" y="31109"/>
                </a:lnTo>
                <a:lnTo>
                  <a:pt x="1284367" y="47839"/>
                </a:lnTo>
                <a:lnTo>
                  <a:pt x="1330609" y="67621"/>
                </a:lnTo>
                <a:lnTo>
                  <a:pt x="1373053" y="90204"/>
                </a:lnTo>
                <a:lnTo>
                  <a:pt x="1411450" y="115341"/>
                </a:lnTo>
                <a:lnTo>
                  <a:pt x="1445551" y="142782"/>
                </a:lnTo>
                <a:lnTo>
                  <a:pt x="1475106" y="172280"/>
                </a:lnTo>
                <a:lnTo>
                  <a:pt x="1499866" y="203586"/>
                </a:lnTo>
                <a:lnTo>
                  <a:pt x="1519583" y="236451"/>
                </a:lnTo>
                <a:lnTo>
                  <a:pt x="1542886" y="305865"/>
                </a:lnTo>
                <a:lnTo>
                  <a:pt x="1545974" y="341916"/>
                </a:lnTo>
                <a:lnTo>
                  <a:pt x="1543022" y="378532"/>
                </a:lnTo>
                <a:lnTo>
                  <a:pt x="1519543" y="449368"/>
                </a:lnTo>
                <a:lnTo>
                  <a:pt x="1476764" y="511890"/>
                </a:lnTo>
                <a:lnTo>
                  <a:pt x="1448859" y="540244"/>
                </a:lnTo>
                <a:lnTo>
                  <a:pt x="1417036" y="566487"/>
                </a:lnTo>
                <a:lnTo>
                  <a:pt x="1381612" y="590485"/>
                </a:lnTo>
                <a:lnTo>
                  <a:pt x="1342908" y="612107"/>
                </a:lnTo>
                <a:lnTo>
                  <a:pt x="1301242" y="631222"/>
                </a:lnTo>
                <a:lnTo>
                  <a:pt x="1256932" y="647698"/>
                </a:lnTo>
                <a:lnTo>
                  <a:pt x="1210298" y="661405"/>
                </a:lnTo>
                <a:lnTo>
                  <a:pt x="1161659" y="672209"/>
                </a:lnTo>
                <a:lnTo>
                  <a:pt x="1111333" y="679980"/>
                </a:lnTo>
                <a:lnTo>
                  <a:pt x="1059639" y="684586"/>
                </a:lnTo>
                <a:lnTo>
                  <a:pt x="1006897" y="685896"/>
                </a:lnTo>
                <a:lnTo>
                  <a:pt x="953424" y="683778"/>
                </a:lnTo>
                <a:lnTo>
                  <a:pt x="899541" y="678101"/>
                </a:lnTo>
                <a:lnTo>
                  <a:pt x="842870" y="668086"/>
                </a:lnTo>
                <a:lnTo>
                  <a:pt x="788986" y="654338"/>
                </a:lnTo>
                <a:lnTo>
                  <a:pt x="738234" y="637090"/>
                </a:lnTo>
                <a:lnTo>
                  <a:pt x="690964" y="616578"/>
                </a:lnTo>
                <a:lnTo>
                  <a:pt x="647523" y="593035"/>
                </a:lnTo>
                <a:lnTo>
                  <a:pt x="608260" y="566695"/>
                </a:lnTo>
                <a:lnTo>
                  <a:pt x="573523" y="537792"/>
                </a:lnTo>
                <a:lnTo>
                  <a:pt x="543659" y="506562"/>
                </a:lnTo>
                <a:lnTo>
                  <a:pt x="519017" y="473237"/>
                </a:lnTo>
                <a:lnTo>
                  <a:pt x="499945" y="438052"/>
                </a:lnTo>
                <a:lnTo>
                  <a:pt x="486791" y="401241"/>
                </a:lnTo>
                <a:lnTo>
                  <a:pt x="0" y="329105"/>
                </a:lnTo>
                <a:close/>
              </a:path>
            </a:pathLst>
          </a:custGeom>
          <a:ln w="25400">
            <a:solidFill>
              <a:srgbClr val="385D89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6" name="object 16"/>
          <p:cNvSpPr txBox="1"/>
          <p:nvPr/>
        </p:nvSpPr>
        <p:spPr>
          <a:xfrm>
            <a:off x="6380122" y="1553373"/>
            <a:ext cx="428875" cy="751017"/>
          </a:xfrm>
          <a:prstGeom prst="rect">
            <a:avLst/>
          </a:prstGeom>
        </p:spPr>
        <p:txBody>
          <a:bodyPr vert="horz" wrap="square" lIns="0" tIns="12234" rIns="0" bIns="0" rtlCol="0">
            <a:spAutoFit/>
          </a:bodyPr>
          <a:lstStyle/>
          <a:p>
            <a:pPr marL="11651">
              <a:spcBef>
                <a:spcPts val="96"/>
              </a:spcBef>
            </a:pPr>
            <a:r>
              <a:rPr sz="2400" b="1" spc="5" dirty="0">
                <a:solidFill>
                  <a:srgbClr val="FFFFFF"/>
                </a:solidFill>
                <a:latin typeface="宋体"/>
                <a:cs typeface="宋体"/>
              </a:rPr>
              <a:t>拆项</a:t>
            </a:r>
            <a:endParaRPr sz="2400" dirty="0">
              <a:latin typeface="宋体"/>
              <a:cs typeface="宋体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8008793" y="3176859"/>
            <a:ext cx="881549" cy="731219"/>
          </a:xfrm>
          <a:custGeom>
            <a:avLst/>
            <a:gdLst/>
            <a:ahLst/>
            <a:cxnLst/>
            <a:rect l="l" t="t" r="r" b="b"/>
            <a:pathLst>
              <a:path w="1105535" h="580389">
                <a:moveTo>
                  <a:pt x="0" y="0"/>
                </a:moveTo>
                <a:lnTo>
                  <a:pt x="144525" y="154558"/>
                </a:lnTo>
                <a:lnTo>
                  <a:pt x="101482" y="188608"/>
                </a:lnTo>
                <a:lnTo>
                  <a:pt x="69643" y="224885"/>
                </a:lnTo>
                <a:lnTo>
                  <a:pt x="49067" y="262733"/>
                </a:lnTo>
                <a:lnTo>
                  <a:pt x="39814" y="301497"/>
                </a:lnTo>
                <a:lnTo>
                  <a:pt x="41943" y="340524"/>
                </a:lnTo>
                <a:lnTo>
                  <a:pt x="55514" y="379158"/>
                </a:lnTo>
                <a:lnTo>
                  <a:pt x="80587" y="416744"/>
                </a:lnTo>
                <a:lnTo>
                  <a:pt x="117220" y="452627"/>
                </a:lnTo>
                <a:lnTo>
                  <a:pt x="147974" y="475187"/>
                </a:lnTo>
                <a:lnTo>
                  <a:pt x="182457" y="495686"/>
                </a:lnTo>
                <a:lnTo>
                  <a:pt x="220302" y="514082"/>
                </a:lnTo>
                <a:lnTo>
                  <a:pt x="261139" y="530328"/>
                </a:lnTo>
                <a:lnTo>
                  <a:pt x="304600" y="544380"/>
                </a:lnTo>
                <a:lnTo>
                  <a:pt x="350317" y="556194"/>
                </a:lnTo>
                <a:lnTo>
                  <a:pt x="397919" y="565725"/>
                </a:lnTo>
                <a:lnTo>
                  <a:pt x="447039" y="572928"/>
                </a:lnTo>
                <a:lnTo>
                  <a:pt x="497309" y="577759"/>
                </a:lnTo>
                <a:lnTo>
                  <a:pt x="548358" y="580173"/>
                </a:lnTo>
                <a:lnTo>
                  <a:pt x="599819" y="580126"/>
                </a:lnTo>
                <a:lnTo>
                  <a:pt x="651323" y="577572"/>
                </a:lnTo>
                <a:lnTo>
                  <a:pt x="702501" y="572467"/>
                </a:lnTo>
                <a:lnTo>
                  <a:pt x="752984" y="564767"/>
                </a:lnTo>
                <a:lnTo>
                  <a:pt x="802404" y="554426"/>
                </a:lnTo>
                <a:lnTo>
                  <a:pt x="850391" y="541401"/>
                </a:lnTo>
                <a:lnTo>
                  <a:pt x="905343" y="522205"/>
                </a:lnTo>
                <a:lnTo>
                  <a:pt x="954026" y="500250"/>
                </a:lnTo>
                <a:lnTo>
                  <a:pt x="996275" y="475879"/>
                </a:lnTo>
                <a:lnTo>
                  <a:pt x="1031921" y="449435"/>
                </a:lnTo>
                <a:lnTo>
                  <a:pt x="1060798" y="421261"/>
                </a:lnTo>
                <a:lnTo>
                  <a:pt x="1097577" y="361095"/>
                </a:lnTo>
                <a:lnTo>
                  <a:pt x="1105272" y="298126"/>
                </a:lnTo>
                <a:lnTo>
                  <a:pt x="1097796" y="266447"/>
                </a:lnTo>
                <a:lnTo>
                  <a:pt x="1059359" y="204417"/>
                </a:lnTo>
                <a:lnTo>
                  <a:pt x="1028064" y="174751"/>
                </a:lnTo>
                <a:lnTo>
                  <a:pt x="997311" y="152192"/>
                </a:lnTo>
                <a:lnTo>
                  <a:pt x="962828" y="131693"/>
                </a:lnTo>
                <a:lnTo>
                  <a:pt x="924983" y="113297"/>
                </a:lnTo>
                <a:lnTo>
                  <a:pt x="884146" y="97051"/>
                </a:lnTo>
                <a:lnTo>
                  <a:pt x="849900" y="85978"/>
                </a:lnTo>
                <a:lnTo>
                  <a:pt x="294893" y="85978"/>
                </a:lnTo>
                <a:lnTo>
                  <a:pt x="0" y="0"/>
                </a:lnTo>
                <a:close/>
              </a:path>
              <a:path w="1105535" h="580389">
                <a:moveTo>
                  <a:pt x="596927" y="47206"/>
                </a:moveTo>
                <a:lnTo>
                  <a:pt x="545466" y="47253"/>
                </a:lnTo>
                <a:lnTo>
                  <a:pt x="493962" y="49807"/>
                </a:lnTo>
                <a:lnTo>
                  <a:pt x="442784" y="54912"/>
                </a:lnTo>
                <a:lnTo>
                  <a:pt x="392301" y="62612"/>
                </a:lnTo>
                <a:lnTo>
                  <a:pt x="342881" y="72953"/>
                </a:lnTo>
                <a:lnTo>
                  <a:pt x="294893" y="85978"/>
                </a:lnTo>
                <a:lnTo>
                  <a:pt x="849900" y="85978"/>
                </a:lnTo>
                <a:lnTo>
                  <a:pt x="794968" y="71185"/>
                </a:lnTo>
                <a:lnTo>
                  <a:pt x="747366" y="61654"/>
                </a:lnTo>
                <a:lnTo>
                  <a:pt x="698246" y="54451"/>
                </a:lnTo>
                <a:lnTo>
                  <a:pt x="647976" y="49620"/>
                </a:lnTo>
                <a:lnTo>
                  <a:pt x="596927" y="47206"/>
                </a:lnTo>
                <a:close/>
              </a:path>
            </a:pathLst>
          </a:custGeom>
          <a:solidFill>
            <a:srgbClr val="4F81BC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8" name="object 18"/>
          <p:cNvSpPr/>
          <p:nvPr/>
        </p:nvSpPr>
        <p:spPr>
          <a:xfrm>
            <a:off x="8008793" y="3176859"/>
            <a:ext cx="881549" cy="731219"/>
          </a:xfrm>
          <a:custGeom>
            <a:avLst/>
            <a:gdLst/>
            <a:ahLst/>
            <a:cxnLst/>
            <a:rect l="l" t="t" r="r" b="b"/>
            <a:pathLst>
              <a:path w="1105535" h="580389">
                <a:moveTo>
                  <a:pt x="0" y="0"/>
                </a:moveTo>
                <a:lnTo>
                  <a:pt x="294893" y="85978"/>
                </a:lnTo>
                <a:lnTo>
                  <a:pt x="342881" y="72953"/>
                </a:lnTo>
                <a:lnTo>
                  <a:pt x="392301" y="62612"/>
                </a:lnTo>
                <a:lnTo>
                  <a:pt x="442784" y="54912"/>
                </a:lnTo>
                <a:lnTo>
                  <a:pt x="493962" y="49807"/>
                </a:lnTo>
                <a:lnTo>
                  <a:pt x="545466" y="47253"/>
                </a:lnTo>
                <a:lnTo>
                  <a:pt x="596927" y="47206"/>
                </a:lnTo>
                <a:lnTo>
                  <a:pt x="647976" y="49620"/>
                </a:lnTo>
                <a:lnTo>
                  <a:pt x="698246" y="54451"/>
                </a:lnTo>
                <a:lnTo>
                  <a:pt x="747366" y="61654"/>
                </a:lnTo>
                <a:lnTo>
                  <a:pt x="794968" y="71185"/>
                </a:lnTo>
                <a:lnTo>
                  <a:pt x="840685" y="82999"/>
                </a:lnTo>
                <a:lnTo>
                  <a:pt x="884146" y="97051"/>
                </a:lnTo>
                <a:lnTo>
                  <a:pt x="924983" y="113297"/>
                </a:lnTo>
                <a:lnTo>
                  <a:pt x="962828" y="131693"/>
                </a:lnTo>
                <a:lnTo>
                  <a:pt x="997311" y="152192"/>
                </a:lnTo>
                <a:lnTo>
                  <a:pt x="1028064" y="174751"/>
                </a:lnTo>
                <a:lnTo>
                  <a:pt x="1059359" y="204417"/>
                </a:lnTo>
                <a:lnTo>
                  <a:pt x="1082547" y="235096"/>
                </a:lnTo>
                <a:lnTo>
                  <a:pt x="1105272" y="298126"/>
                </a:lnTo>
                <a:lnTo>
                  <a:pt x="1105143" y="329789"/>
                </a:lnTo>
                <a:lnTo>
                  <a:pt x="1082739" y="391700"/>
                </a:lnTo>
                <a:lnTo>
                  <a:pt x="1031921" y="449435"/>
                </a:lnTo>
                <a:lnTo>
                  <a:pt x="996275" y="475879"/>
                </a:lnTo>
                <a:lnTo>
                  <a:pt x="954026" y="500250"/>
                </a:lnTo>
                <a:lnTo>
                  <a:pt x="905343" y="522205"/>
                </a:lnTo>
                <a:lnTo>
                  <a:pt x="850391" y="541401"/>
                </a:lnTo>
                <a:lnTo>
                  <a:pt x="802404" y="554426"/>
                </a:lnTo>
                <a:lnTo>
                  <a:pt x="752984" y="564767"/>
                </a:lnTo>
                <a:lnTo>
                  <a:pt x="702501" y="572467"/>
                </a:lnTo>
                <a:lnTo>
                  <a:pt x="651323" y="577572"/>
                </a:lnTo>
                <a:lnTo>
                  <a:pt x="599819" y="580126"/>
                </a:lnTo>
                <a:lnTo>
                  <a:pt x="548358" y="580173"/>
                </a:lnTo>
                <a:lnTo>
                  <a:pt x="497309" y="577759"/>
                </a:lnTo>
                <a:lnTo>
                  <a:pt x="447039" y="572928"/>
                </a:lnTo>
                <a:lnTo>
                  <a:pt x="397919" y="565725"/>
                </a:lnTo>
                <a:lnTo>
                  <a:pt x="350317" y="556194"/>
                </a:lnTo>
                <a:lnTo>
                  <a:pt x="304600" y="544380"/>
                </a:lnTo>
                <a:lnTo>
                  <a:pt x="261139" y="530328"/>
                </a:lnTo>
                <a:lnTo>
                  <a:pt x="220302" y="514082"/>
                </a:lnTo>
                <a:lnTo>
                  <a:pt x="182457" y="495686"/>
                </a:lnTo>
                <a:lnTo>
                  <a:pt x="147974" y="475187"/>
                </a:lnTo>
                <a:lnTo>
                  <a:pt x="117220" y="452627"/>
                </a:lnTo>
                <a:lnTo>
                  <a:pt x="80587" y="416744"/>
                </a:lnTo>
                <a:lnTo>
                  <a:pt x="55514" y="379158"/>
                </a:lnTo>
                <a:lnTo>
                  <a:pt x="41943" y="340524"/>
                </a:lnTo>
                <a:lnTo>
                  <a:pt x="39814" y="301497"/>
                </a:lnTo>
                <a:lnTo>
                  <a:pt x="49067" y="262733"/>
                </a:lnTo>
                <a:lnTo>
                  <a:pt x="69643" y="224885"/>
                </a:lnTo>
                <a:lnTo>
                  <a:pt x="101482" y="188608"/>
                </a:lnTo>
                <a:lnTo>
                  <a:pt x="144525" y="154558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385D89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0" name="object 20"/>
          <p:cNvSpPr/>
          <p:nvPr/>
        </p:nvSpPr>
        <p:spPr>
          <a:xfrm>
            <a:off x="5505684" y="4418115"/>
            <a:ext cx="981806" cy="864023"/>
          </a:xfrm>
          <a:custGeom>
            <a:avLst/>
            <a:gdLst/>
            <a:ahLst/>
            <a:cxnLst/>
            <a:rect l="l" t="t" r="r" b="b"/>
            <a:pathLst>
              <a:path w="1231264" h="685800">
                <a:moveTo>
                  <a:pt x="0" y="89238"/>
                </a:moveTo>
                <a:lnTo>
                  <a:pt x="191897" y="234145"/>
                </a:lnTo>
                <a:lnTo>
                  <a:pt x="175141" y="274228"/>
                </a:lnTo>
                <a:lnTo>
                  <a:pt x="166131" y="314723"/>
                </a:lnTo>
                <a:lnTo>
                  <a:pt x="164687" y="355214"/>
                </a:lnTo>
                <a:lnTo>
                  <a:pt x="170632" y="395285"/>
                </a:lnTo>
                <a:lnTo>
                  <a:pt x="183784" y="434521"/>
                </a:lnTo>
                <a:lnTo>
                  <a:pt x="203967" y="472507"/>
                </a:lnTo>
                <a:lnTo>
                  <a:pt x="230999" y="508825"/>
                </a:lnTo>
                <a:lnTo>
                  <a:pt x="264703" y="543062"/>
                </a:lnTo>
                <a:lnTo>
                  <a:pt x="304899" y="574801"/>
                </a:lnTo>
                <a:lnTo>
                  <a:pt x="351409" y="603626"/>
                </a:lnTo>
                <a:lnTo>
                  <a:pt x="394671" y="625046"/>
                </a:lnTo>
                <a:lnTo>
                  <a:pt x="440195" y="643203"/>
                </a:lnTo>
                <a:lnTo>
                  <a:pt x="487604" y="658117"/>
                </a:lnTo>
                <a:lnTo>
                  <a:pt x="536519" y="669805"/>
                </a:lnTo>
                <a:lnTo>
                  <a:pt x="586562" y="678289"/>
                </a:lnTo>
                <a:lnTo>
                  <a:pt x="637355" y="683586"/>
                </a:lnTo>
                <a:lnTo>
                  <a:pt x="688520" y="685715"/>
                </a:lnTo>
                <a:lnTo>
                  <a:pt x="739679" y="684697"/>
                </a:lnTo>
                <a:lnTo>
                  <a:pt x="790454" y="680550"/>
                </a:lnTo>
                <a:lnTo>
                  <a:pt x="840468" y="673292"/>
                </a:lnTo>
                <a:lnTo>
                  <a:pt x="889341" y="662944"/>
                </a:lnTo>
                <a:lnTo>
                  <a:pt x="936696" y="649525"/>
                </a:lnTo>
                <a:lnTo>
                  <a:pt x="982155" y="633053"/>
                </a:lnTo>
                <a:lnTo>
                  <a:pt x="1025340" y="613548"/>
                </a:lnTo>
                <a:lnTo>
                  <a:pt x="1065873" y="591028"/>
                </a:lnTo>
                <a:lnTo>
                  <a:pt x="1103376" y="565514"/>
                </a:lnTo>
                <a:lnTo>
                  <a:pt x="1141034" y="533605"/>
                </a:lnTo>
                <a:lnTo>
                  <a:pt x="1172069" y="499842"/>
                </a:lnTo>
                <a:lnTo>
                  <a:pt x="1196526" y="464588"/>
                </a:lnTo>
                <a:lnTo>
                  <a:pt x="1214448" y="428205"/>
                </a:lnTo>
                <a:lnTo>
                  <a:pt x="1225881" y="391057"/>
                </a:lnTo>
                <a:lnTo>
                  <a:pt x="1230868" y="353506"/>
                </a:lnTo>
                <a:lnTo>
                  <a:pt x="1229455" y="315914"/>
                </a:lnTo>
                <a:lnTo>
                  <a:pt x="1207603" y="242063"/>
                </a:lnTo>
                <a:lnTo>
                  <a:pt x="1187253" y="206528"/>
                </a:lnTo>
                <a:lnTo>
                  <a:pt x="1160680" y="172404"/>
                </a:lnTo>
                <a:lnTo>
                  <a:pt x="1127928" y="140054"/>
                </a:lnTo>
                <a:lnTo>
                  <a:pt x="1102410" y="120226"/>
                </a:lnTo>
                <a:lnTo>
                  <a:pt x="292100" y="120226"/>
                </a:lnTo>
                <a:lnTo>
                  <a:pt x="0" y="89238"/>
                </a:lnTo>
                <a:close/>
              </a:path>
              <a:path w="1231264" h="685800">
                <a:moveTo>
                  <a:pt x="706955" y="0"/>
                </a:moveTo>
                <a:lnTo>
                  <a:pt x="655796" y="1021"/>
                </a:lnTo>
                <a:lnTo>
                  <a:pt x="605021" y="5172"/>
                </a:lnTo>
                <a:lnTo>
                  <a:pt x="555007" y="12434"/>
                </a:lnTo>
                <a:lnTo>
                  <a:pt x="506134" y="22786"/>
                </a:lnTo>
                <a:lnTo>
                  <a:pt x="458779" y="36210"/>
                </a:lnTo>
                <a:lnTo>
                  <a:pt x="413320" y="52685"/>
                </a:lnTo>
                <a:lnTo>
                  <a:pt x="370135" y="72193"/>
                </a:lnTo>
                <a:lnTo>
                  <a:pt x="329602" y="94713"/>
                </a:lnTo>
                <a:lnTo>
                  <a:pt x="292100" y="120226"/>
                </a:lnTo>
                <a:lnTo>
                  <a:pt x="1102410" y="120226"/>
                </a:lnTo>
                <a:lnTo>
                  <a:pt x="1044066" y="82126"/>
                </a:lnTo>
                <a:lnTo>
                  <a:pt x="1000804" y="60692"/>
                </a:lnTo>
                <a:lnTo>
                  <a:pt x="955280" y="42524"/>
                </a:lnTo>
                <a:lnTo>
                  <a:pt x="907871" y="27603"/>
                </a:lnTo>
                <a:lnTo>
                  <a:pt x="858956" y="15910"/>
                </a:lnTo>
                <a:lnTo>
                  <a:pt x="808913" y="7424"/>
                </a:lnTo>
                <a:lnTo>
                  <a:pt x="758120" y="2127"/>
                </a:lnTo>
                <a:lnTo>
                  <a:pt x="706955" y="0"/>
                </a:lnTo>
                <a:close/>
              </a:path>
            </a:pathLst>
          </a:custGeom>
          <a:solidFill>
            <a:srgbClr val="4F81BC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1" name="object 21"/>
          <p:cNvSpPr/>
          <p:nvPr/>
        </p:nvSpPr>
        <p:spPr>
          <a:xfrm>
            <a:off x="5505684" y="4418115"/>
            <a:ext cx="981806" cy="864023"/>
          </a:xfrm>
          <a:custGeom>
            <a:avLst/>
            <a:gdLst/>
            <a:ahLst/>
            <a:cxnLst/>
            <a:rect l="l" t="t" r="r" b="b"/>
            <a:pathLst>
              <a:path w="1231264" h="685800">
                <a:moveTo>
                  <a:pt x="0" y="89238"/>
                </a:moveTo>
                <a:lnTo>
                  <a:pt x="292100" y="120226"/>
                </a:lnTo>
                <a:lnTo>
                  <a:pt x="329602" y="94713"/>
                </a:lnTo>
                <a:lnTo>
                  <a:pt x="370135" y="72193"/>
                </a:lnTo>
                <a:lnTo>
                  <a:pt x="413320" y="52685"/>
                </a:lnTo>
                <a:lnTo>
                  <a:pt x="458779" y="36210"/>
                </a:lnTo>
                <a:lnTo>
                  <a:pt x="506134" y="22786"/>
                </a:lnTo>
                <a:lnTo>
                  <a:pt x="555007" y="12434"/>
                </a:lnTo>
                <a:lnTo>
                  <a:pt x="605021" y="5172"/>
                </a:lnTo>
                <a:lnTo>
                  <a:pt x="655796" y="1021"/>
                </a:lnTo>
                <a:lnTo>
                  <a:pt x="706955" y="0"/>
                </a:lnTo>
                <a:lnTo>
                  <a:pt x="758120" y="2127"/>
                </a:lnTo>
                <a:lnTo>
                  <a:pt x="808913" y="7424"/>
                </a:lnTo>
                <a:lnTo>
                  <a:pt x="858956" y="15910"/>
                </a:lnTo>
                <a:lnTo>
                  <a:pt x="907871" y="27603"/>
                </a:lnTo>
                <a:lnTo>
                  <a:pt x="955280" y="42524"/>
                </a:lnTo>
                <a:lnTo>
                  <a:pt x="1000804" y="60692"/>
                </a:lnTo>
                <a:lnTo>
                  <a:pt x="1044066" y="82126"/>
                </a:lnTo>
                <a:lnTo>
                  <a:pt x="1089042" y="109840"/>
                </a:lnTo>
                <a:lnTo>
                  <a:pt x="1127928" y="140054"/>
                </a:lnTo>
                <a:lnTo>
                  <a:pt x="1160680" y="172404"/>
                </a:lnTo>
                <a:lnTo>
                  <a:pt x="1187253" y="206528"/>
                </a:lnTo>
                <a:lnTo>
                  <a:pt x="1207603" y="242063"/>
                </a:lnTo>
                <a:lnTo>
                  <a:pt x="1221685" y="278646"/>
                </a:lnTo>
                <a:lnTo>
                  <a:pt x="1230868" y="353506"/>
                </a:lnTo>
                <a:lnTo>
                  <a:pt x="1225881" y="391057"/>
                </a:lnTo>
                <a:lnTo>
                  <a:pt x="1214448" y="428205"/>
                </a:lnTo>
                <a:lnTo>
                  <a:pt x="1196526" y="464588"/>
                </a:lnTo>
                <a:lnTo>
                  <a:pt x="1172069" y="499842"/>
                </a:lnTo>
                <a:lnTo>
                  <a:pt x="1141034" y="533605"/>
                </a:lnTo>
                <a:lnTo>
                  <a:pt x="1103376" y="565514"/>
                </a:lnTo>
                <a:lnTo>
                  <a:pt x="1065873" y="591028"/>
                </a:lnTo>
                <a:lnTo>
                  <a:pt x="1025340" y="613548"/>
                </a:lnTo>
                <a:lnTo>
                  <a:pt x="982155" y="633053"/>
                </a:lnTo>
                <a:lnTo>
                  <a:pt x="936696" y="649525"/>
                </a:lnTo>
                <a:lnTo>
                  <a:pt x="889341" y="662944"/>
                </a:lnTo>
                <a:lnTo>
                  <a:pt x="840468" y="673292"/>
                </a:lnTo>
                <a:lnTo>
                  <a:pt x="790454" y="680550"/>
                </a:lnTo>
                <a:lnTo>
                  <a:pt x="739679" y="684697"/>
                </a:lnTo>
                <a:lnTo>
                  <a:pt x="688520" y="685715"/>
                </a:lnTo>
                <a:lnTo>
                  <a:pt x="637355" y="683586"/>
                </a:lnTo>
                <a:lnTo>
                  <a:pt x="586562" y="678289"/>
                </a:lnTo>
                <a:lnTo>
                  <a:pt x="536519" y="669805"/>
                </a:lnTo>
                <a:lnTo>
                  <a:pt x="487604" y="658117"/>
                </a:lnTo>
                <a:lnTo>
                  <a:pt x="440195" y="643203"/>
                </a:lnTo>
                <a:lnTo>
                  <a:pt x="394671" y="625046"/>
                </a:lnTo>
                <a:lnTo>
                  <a:pt x="351409" y="603626"/>
                </a:lnTo>
                <a:lnTo>
                  <a:pt x="304899" y="574801"/>
                </a:lnTo>
                <a:lnTo>
                  <a:pt x="264703" y="543062"/>
                </a:lnTo>
                <a:lnTo>
                  <a:pt x="230999" y="508825"/>
                </a:lnTo>
                <a:lnTo>
                  <a:pt x="203967" y="472507"/>
                </a:lnTo>
                <a:lnTo>
                  <a:pt x="183784" y="434521"/>
                </a:lnTo>
                <a:lnTo>
                  <a:pt x="170632" y="395285"/>
                </a:lnTo>
                <a:lnTo>
                  <a:pt x="164687" y="355214"/>
                </a:lnTo>
                <a:lnTo>
                  <a:pt x="166131" y="314723"/>
                </a:lnTo>
                <a:lnTo>
                  <a:pt x="175141" y="274228"/>
                </a:lnTo>
                <a:lnTo>
                  <a:pt x="191897" y="234145"/>
                </a:lnTo>
                <a:lnTo>
                  <a:pt x="0" y="89238"/>
                </a:lnTo>
                <a:close/>
              </a:path>
            </a:pathLst>
          </a:custGeom>
          <a:ln w="25400">
            <a:solidFill>
              <a:srgbClr val="385D89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2" name="object 22"/>
          <p:cNvSpPr txBox="1"/>
          <p:nvPr/>
        </p:nvSpPr>
        <p:spPr>
          <a:xfrm>
            <a:off x="5904264" y="4441434"/>
            <a:ext cx="428875" cy="750429"/>
          </a:xfrm>
          <a:prstGeom prst="rect">
            <a:avLst/>
          </a:prstGeom>
        </p:spPr>
        <p:txBody>
          <a:bodyPr vert="horz" wrap="square" lIns="0" tIns="11651" rIns="0" bIns="0" rtlCol="0">
            <a:spAutoFit/>
          </a:bodyPr>
          <a:lstStyle/>
          <a:p>
            <a:pPr marL="11651">
              <a:spcBef>
                <a:spcPts val="92"/>
              </a:spcBef>
            </a:pPr>
            <a:r>
              <a:rPr sz="2400" b="1" spc="5" dirty="0" err="1">
                <a:solidFill>
                  <a:srgbClr val="FFFFFF"/>
                </a:solidFill>
                <a:latin typeface="宋体"/>
                <a:cs typeface="宋体"/>
              </a:rPr>
              <a:t>拆项</a:t>
            </a:r>
            <a:endParaRPr sz="2400" dirty="0">
              <a:latin typeface="宋体"/>
              <a:cs typeface="宋体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矩形 23"/>
              <p:cNvSpPr/>
              <p:nvPr/>
            </p:nvSpPr>
            <p:spPr>
              <a:xfrm>
                <a:off x="2076312" y="1225112"/>
                <a:ext cx="1433348" cy="1137752"/>
              </a:xfrm>
              <a:prstGeom prst="rect">
                <a:avLst/>
              </a:prstGeom>
            </p:spPr>
            <p:txBody>
              <a:bodyPr wrap="none" lIns="83887" tIns="41944" rIns="83887" bIns="41944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zh-CN" altLang="en-US" sz="2400" b="1" i="1">
                              <a:latin typeface="Cambria Math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𝒕</m:t>
                          </m:r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brk m:alnAt="23"/>
                            </m:rP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𝒌</m:t>
                          </m:r>
                        </m:sup>
                        <m:e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𝒕</m:t>
                          </m:r>
                          <m:sSup>
                            <m:sSupPr>
                              <m:ctrlPr>
                                <a:rPr lang="en-US" altLang="zh-CN" sz="2400" b="1" i="1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US" altLang="zh-CN" sz="2400" b="1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e>
                            <m:sup>
                              <m:r>
                                <a:rPr lang="en-US" altLang="zh-CN" sz="2400" b="1" i="1">
                                  <a:latin typeface="Cambria Math" panose="02040503050406030204" pitchFamily="18" charset="0"/>
                                </a:rPr>
                                <m:t>𝒕</m:t>
                              </m:r>
                              <m:r>
                                <a:rPr lang="en-US" altLang="zh-CN" sz="2400" b="1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2400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zh-CN" altLang="en-US" sz="2400" b="1" dirty="0"/>
              </a:p>
            </p:txBody>
          </p:sp>
        </mc:Choice>
        <mc:Fallback xmlns="">
          <p:sp>
            <p:nvSpPr>
              <p:cNvPr id="24" name="矩形 2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76312" y="1225112"/>
                <a:ext cx="1433348" cy="113775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矩形 24"/>
              <p:cNvSpPr/>
              <p:nvPr/>
            </p:nvSpPr>
            <p:spPr>
              <a:xfrm>
                <a:off x="1662636" y="2536403"/>
                <a:ext cx="2994930" cy="1137752"/>
              </a:xfrm>
              <a:prstGeom prst="rect">
                <a:avLst/>
              </a:prstGeom>
            </p:spPr>
            <p:txBody>
              <a:bodyPr wrap="none" lIns="83887" tIns="41944" rIns="83887" bIns="41944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zh-CN" altLang="en-US" sz="2400" b="1" i="1">
                              <a:latin typeface="Cambria Math"/>
                            </a:rPr>
                          </m:ctrlPr>
                        </m:naryPr>
                        <m:sub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𝒕</m:t>
                          </m:r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𝒌</m:t>
                          </m:r>
                        </m:sup>
                        <m:e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𝒕</m:t>
                          </m:r>
                          <m:sSup>
                            <m:sSupPr>
                              <m:ctrlPr>
                                <a:rPr lang="en-US" altLang="zh-CN" sz="2400" b="1" i="1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US" altLang="zh-CN" sz="2400" b="1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e>
                            <m:sup>
                              <m:r>
                                <a:rPr lang="en-US" altLang="zh-CN" sz="2400" b="1" i="1">
                                  <a:latin typeface="Cambria Math" panose="02040503050406030204" pitchFamily="18" charset="0"/>
                                </a:rPr>
                                <m:t>𝒕</m:t>
                              </m:r>
                            </m:sup>
                          </m:sSup>
                        </m:e>
                      </m:nary>
                      <m:r>
                        <a:rPr lang="en-US" altLang="zh-CN" sz="2400" b="1" i="1">
                          <a:latin typeface="Cambria Math" panose="02040503050406030204" pitchFamily="18" charset="0"/>
                        </a:rPr>
                        <m:t>−</m:t>
                      </m:r>
                      <m:nary>
                        <m:naryPr>
                          <m:chr m:val="∑"/>
                          <m:ctrlPr>
                            <a:rPr lang="zh-CN" altLang="en-US" sz="2400" b="1" i="1">
                              <a:latin typeface="Cambria Math"/>
                            </a:rPr>
                          </m:ctrlPr>
                        </m:naryPr>
                        <m:sub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𝒕</m:t>
                          </m:r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𝒌</m:t>
                          </m:r>
                        </m:sup>
                        <m:e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𝒕</m:t>
                          </m:r>
                          <m:sSup>
                            <m:sSupPr>
                              <m:ctrlPr>
                                <a:rPr lang="en-US" altLang="zh-CN" sz="2400" b="1" i="1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US" altLang="zh-CN" sz="2400" b="1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e>
                            <m:sup>
                              <m:r>
                                <a:rPr lang="en-US" altLang="zh-CN" sz="2400" b="1" i="1">
                                  <a:latin typeface="Cambria Math" panose="02040503050406030204" pitchFamily="18" charset="0"/>
                                </a:rPr>
                                <m:t>𝒕</m:t>
                              </m:r>
                              <m:r>
                                <a:rPr lang="en-US" altLang="zh-CN" sz="2400" b="1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2400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zh-CN" altLang="en-US" sz="2400" b="1" dirty="0"/>
              </a:p>
            </p:txBody>
          </p:sp>
        </mc:Choice>
        <mc:Fallback xmlns="">
          <p:sp>
            <p:nvSpPr>
              <p:cNvPr id="25" name="矩形 2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2636" y="2536403"/>
                <a:ext cx="2994930" cy="113775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object 22"/>
          <p:cNvSpPr txBox="1"/>
          <p:nvPr/>
        </p:nvSpPr>
        <p:spPr>
          <a:xfrm>
            <a:off x="8300446" y="3204381"/>
            <a:ext cx="428875" cy="750429"/>
          </a:xfrm>
          <a:prstGeom prst="rect">
            <a:avLst/>
          </a:prstGeom>
        </p:spPr>
        <p:txBody>
          <a:bodyPr vert="horz" wrap="square" lIns="0" tIns="11651" rIns="0" bIns="0" rtlCol="0">
            <a:spAutoFit/>
          </a:bodyPr>
          <a:lstStyle/>
          <a:p>
            <a:pPr marL="11651">
              <a:spcBef>
                <a:spcPts val="92"/>
              </a:spcBef>
            </a:pPr>
            <a:r>
              <a:rPr lang="zh-CN" altLang="en-US" sz="2400" b="1" spc="5" dirty="0">
                <a:solidFill>
                  <a:srgbClr val="FFFFFF"/>
                </a:solidFill>
                <a:latin typeface="宋体"/>
                <a:cs typeface="宋体"/>
              </a:rPr>
              <a:t>変限</a:t>
            </a:r>
            <a:endParaRPr sz="2400" dirty="0">
              <a:latin typeface="宋体"/>
              <a:cs typeface="宋体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矩形 26"/>
              <p:cNvSpPr/>
              <p:nvPr/>
            </p:nvSpPr>
            <p:spPr>
              <a:xfrm>
                <a:off x="1726038" y="5437309"/>
                <a:ext cx="4733803" cy="501553"/>
              </a:xfrm>
              <a:prstGeom prst="rect">
                <a:avLst/>
              </a:prstGeom>
            </p:spPr>
            <p:txBody>
              <a:bodyPr wrap="none" lIns="83887" tIns="41944" rIns="83887" bIns="41944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b="1" i="1">
                        <a:latin typeface="Cambria Math" panose="02040503050406030204" pitchFamily="18" charset="0"/>
                      </a:rPr>
                      <m:t>𝒌</m:t>
                    </m:r>
                    <m:sSup>
                      <m:sSupPr>
                        <m:ctrlPr>
                          <a:rPr lang="en-US" altLang="zh-CN" sz="2400" b="1" i="1">
                            <a:latin typeface="Cambria Math"/>
                          </a:rPr>
                        </m:ctrlPr>
                      </m:sSupPr>
                      <m:e>
                        <m:r>
                          <a:rPr lang="en-US" altLang="zh-CN" sz="2400" b="1" i="1"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  <m:sup>
                        <m:r>
                          <a:rPr lang="en-US" altLang="zh-CN" sz="2400" b="1" i="1">
                            <a:latin typeface="Cambria Math" panose="02040503050406030204" pitchFamily="18" charset="0"/>
                          </a:rPr>
                          <m:t>𝒌</m:t>
                        </m:r>
                      </m:sup>
                    </m:sSup>
                    <m:r>
                      <a:rPr lang="en-US" altLang="zh-CN" sz="2400" b="1" i="1"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ctrlPr>
                          <a:rPr lang="en-US" altLang="zh-CN" sz="2400" b="1" i="1">
                            <a:latin typeface="Cambria Math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sz="2400" b="1" i="1"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a:rPr lang="en-US" altLang="zh-CN" sz="2400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e>
                          <m:sup>
                            <m:r>
                              <a:rPr lang="en-US" altLang="zh-CN" sz="2400" b="1" i="1">
                                <a:latin typeface="Cambria Math" panose="02040503050406030204" pitchFamily="18" charset="0"/>
                              </a:rPr>
                              <m:t>𝒌</m:t>
                            </m:r>
                          </m:sup>
                        </m:sSup>
                        <m:r>
                          <a:rPr lang="en-US" altLang="zh-CN" sz="2400" b="1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2400" b="1" i="1">
                            <a:latin typeface="Cambria Math" panose="02040503050406030204" pitchFamily="18" charset="0"/>
                          </a:rPr>
                          <m:t>𝟏</m:t>
                        </m:r>
                      </m:e>
                    </m:d>
                    <m:r>
                      <a:rPr lang="en-US" altLang="zh-CN" sz="2400" b="1" i="1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altLang="zh-CN" sz="2400" b="1" i="1"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US" altLang="zh-CN" sz="2400" b="1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sz="2400" b="1" i="1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zh-CN" sz="2400" b="1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2400" b="1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b="1" i="1">
                            <a:latin typeface="Cambria Math"/>
                          </a:rPr>
                        </m:ctrlPr>
                      </m:sSupPr>
                      <m:e>
                        <m:r>
                          <a:rPr lang="en-US" altLang="zh-CN" sz="2400" b="1" i="1"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  <m:sup>
                        <m:r>
                          <a:rPr lang="en-US" altLang="zh-CN" sz="2400" b="1" i="1">
                            <a:latin typeface="Cambria Math" panose="02040503050406030204" pitchFamily="18" charset="0"/>
                          </a:rPr>
                          <m:t>𝒌</m:t>
                        </m:r>
                      </m:sup>
                    </m:sSup>
                  </m:oMath>
                </a14:m>
                <a:r>
                  <a:rPr lang="en-US" altLang="zh-CN" sz="2400" b="1" dirty="0"/>
                  <a:t>+1</a:t>
                </a:r>
                <a:endParaRPr lang="zh-CN" altLang="en-US" sz="2400" b="1" dirty="0"/>
              </a:p>
            </p:txBody>
          </p:sp>
        </mc:Choice>
        <mc:Fallback xmlns="">
          <p:sp>
            <p:nvSpPr>
              <p:cNvPr id="27" name="矩形 2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6038" y="5437309"/>
                <a:ext cx="4733803" cy="501553"/>
              </a:xfrm>
              <a:prstGeom prst="rect">
                <a:avLst/>
              </a:prstGeom>
              <a:blipFill rotWithShape="1">
                <a:blip r:embed="rId4"/>
                <a:stretch>
                  <a:fillRect t="-3659" r="-1158" b="-2561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矩形 27"/>
              <p:cNvSpPr/>
              <p:nvPr/>
            </p:nvSpPr>
            <p:spPr>
              <a:xfrm>
                <a:off x="1662635" y="3956195"/>
                <a:ext cx="3869849" cy="1137752"/>
              </a:xfrm>
              <a:prstGeom prst="rect">
                <a:avLst/>
              </a:prstGeom>
            </p:spPr>
            <p:txBody>
              <a:bodyPr wrap="none" lIns="83887" tIns="41944" rIns="83887" bIns="41944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1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zh-CN" altLang="en-US" sz="2400" b="1" i="1">
                              <a:latin typeface="Cambria Math"/>
                            </a:rPr>
                          </m:ctrlPr>
                        </m:naryPr>
                        <m:sub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𝒕</m:t>
                          </m:r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𝒌</m:t>
                          </m:r>
                        </m:sup>
                        <m:e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𝒕</m:t>
                          </m:r>
                          <m:sSup>
                            <m:sSupPr>
                              <m:ctrlPr>
                                <a:rPr lang="en-US" altLang="zh-CN" sz="2400" b="1" i="1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US" altLang="zh-CN" sz="2400" b="1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e>
                            <m:sup>
                              <m:r>
                                <a:rPr lang="en-US" altLang="zh-CN" sz="2400" b="1" i="1">
                                  <a:latin typeface="Cambria Math" panose="02040503050406030204" pitchFamily="18" charset="0"/>
                                </a:rPr>
                                <m:t>𝒕</m:t>
                              </m:r>
                            </m:sup>
                          </m:sSup>
                        </m:e>
                      </m:nary>
                      <m:r>
                        <a:rPr lang="en-US" altLang="zh-CN" sz="2400" b="1" i="1">
                          <a:latin typeface="Cambria Math" panose="02040503050406030204" pitchFamily="18" charset="0"/>
                        </a:rPr>
                        <m:t>−</m:t>
                      </m:r>
                      <m:nary>
                        <m:naryPr>
                          <m:chr m:val="∑"/>
                          <m:ctrlPr>
                            <a:rPr lang="zh-CN" altLang="en-US" sz="2400" b="1" i="1">
                              <a:latin typeface="Cambria Math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𝒌</m:t>
                          </m:r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  <m:sup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𝒌</m:t>
                          </m:r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  <m:e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𝒕</m:t>
                          </m:r>
                          <m:sSup>
                            <m:sSupPr>
                              <m:ctrlPr>
                                <a:rPr lang="en-US" altLang="zh-CN" sz="2400" b="1" i="1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US" altLang="zh-CN" sz="2400" b="1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e>
                            <m:sup>
                              <m:r>
                                <a:rPr lang="en-US" altLang="zh-CN" sz="2400" b="1" i="1">
                                  <a:latin typeface="Cambria Math" panose="02040503050406030204" pitchFamily="18" charset="0"/>
                                </a:rPr>
                                <m:t>𝒕</m:t>
                              </m:r>
                            </m:sup>
                          </m:sSup>
                        </m:e>
                      </m:nary>
                      <m:r>
                        <a:rPr lang="en-US" altLang="zh-CN" sz="2400" b="1" i="1">
                          <a:latin typeface="Cambria Math" panose="02040503050406030204" pitchFamily="18" charset="0"/>
                        </a:rPr>
                        <m:t>−</m:t>
                      </m:r>
                      <m:nary>
                        <m:naryPr>
                          <m:chr m:val="∑"/>
                          <m:ctrlPr>
                            <a:rPr lang="zh-CN" altLang="en-US" sz="2400" b="1" i="1">
                              <a:latin typeface="Cambria Math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𝒌</m:t>
                          </m:r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  <m:sup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𝒌</m:t>
                          </m:r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  <m:e>
                          <m:sSup>
                            <m:sSupPr>
                              <m:ctrlPr>
                                <a:rPr lang="en-US" altLang="zh-CN" sz="2400" b="1" i="1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US" altLang="zh-CN" sz="2400" b="1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e>
                            <m:sup>
                              <m:r>
                                <a:rPr lang="en-US" altLang="zh-CN" sz="2400" b="1" i="1">
                                  <a:latin typeface="Cambria Math" panose="02040503050406030204" pitchFamily="18" charset="0"/>
                                </a:rPr>
                                <m:t>𝒕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zh-CN" altLang="en-US" sz="2400" b="1" dirty="0"/>
              </a:p>
            </p:txBody>
          </p:sp>
        </mc:Choice>
        <mc:Fallback xmlns="">
          <p:sp>
            <p:nvSpPr>
              <p:cNvPr id="28" name="矩形 2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2635" y="3956195"/>
                <a:ext cx="3869849" cy="1137752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矩形 18"/>
              <p:cNvSpPr/>
              <p:nvPr/>
            </p:nvSpPr>
            <p:spPr>
              <a:xfrm>
                <a:off x="3328179" y="1226970"/>
                <a:ext cx="2729600" cy="1137752"/>
              </a:xfrm>
              <a:prstGeom prst="rect">
                <a:avLst/>
              </a:prstGeom>
            </p:spPr>
            <p:txBody>
              <a:bodyPr wrap="none" lIns="83887" tIns="41944" rIns="83887" bIns="41944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1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zh-CN" altLang="en-US" sz="2400" b="1" i="1">
                              <a:latin typeface="Cambria Math"/>
                            </a:rPr>
                          </m:ctrlPr>
                        </m:naryPr>
                        <m:sub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𝒕</m:t>
                          </m:r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𝒌</m:t>
                          </m:r>
                        </m:sup>
                        <m:e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𝒕</m:t>
                          </m:r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lang="en-US" altLang="zh-CN" sz="2400" b="1" i="1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US" altLang="zh-CN" sz="2400" b="1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e>
                            <m:sup>
                              <m:r>
                                <a:rPr lang="en-US" altLang="zh-CN" sz="2400" b="1" i="1">
                                  <a:latin typeface="Cambria Math" panose="02040503050406030204" pitchFamily="18" charset="0"/>
                                </a:rPr>
                                <m:t>𝒕</m:t>
                              </m:r>
                            </m:sup>
                          </m:sSup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altLang="zh-CN" sz="2400" b="1" i="1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US" altLang="zh-CN" sz="2400" b="1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e>
                            <m:sup>
                              <m:r>
                                <a:rPr lang="en-US" altLang="zh-CN" sz="2400" b="1" i="1">
                                  <a:latin typeface="Cambria Math" panose="02040503050406030204" pitchFamily="18" charset="0"/>
                                </a:rPr>
                                <m:t>𝒕</m:t>
                              </m:r>
                              <m:r>
                                <a:rPr lang="en-US" altLang="zh-CN" sz="2400" b="1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2400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p>
                          </m:sSup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) </m:t>
                          </m:r>
                        </m:e>
                      </m:nary>
                    </m:oMath>
                  </m:oMathPara>
                </a14:m>
                <a:endParaRPr lang="zh-CN" altLang="en-US" sz="2400" b="1" dirty="0"/>
              </a:p>
            </p:txBody>
          </p:sp>
        </mc:Choice>
        <mc:Fallback xmlns="">
          <p:sp>
            <p:nvSpPr>
              <p:cNvPr id="19" name="矩形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28179" y="1226970"/>
                <a:ext cx="2729600" cy="113775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矩形 22"/>
              <p:cNvSpPr/>
              <p:nvPr/>
            </p:nvSpPr>
            <p:spPr>
              <a:xfrm>
                <a:off x="4555614" y="2551659"/>
                <a:ext cx="3599006" cy="1137752"/>
              </a:xfrm>
              <a:prstGeom prst="rect">
                <a:avLst/>
              </a:prstGeom>
            </p:spPr>
            <p:txBody>
              <a:bodyPr wrap="none" lIns="83887" tIns="41944" rIns="83887" bIns="41944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1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zh-CN" altLang="en-US" sz="2400" b="1" i="1">
                              <a:latin typeface="Cambria Math"/>
                            </a:rPr>
                          </m:ctrlPr>
                        </m:naryPr>
                        <m:sub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𝒕</m:t>
                          </m:r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𝒌</m:t>
                          </m:r>
                        </m:sup>
                        <m:e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𝒕</m:t>
                          </m:r>
                          <m:sSup>
                            <m:sSupPr>
                              <m:ctrlPr>
                                <a:rPr lang="en-US" altLang="zh-CN" sz="2400" b="1" i="1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US" altLang="zh-CN" sz="2400" b="1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e>
                            <m:sup>
                              <m:r>
                                <a:rPr lang="en-US" altLang="zh-CN" sz="2400" b="1" i="1">
                                  <a:latin typeface="Cambria Math" panose="02040503050406030204" pitchFamily="18" charset="0"/>
                                </a:rPr>
                                <m:t>𝒕</m:t>
                              </m:r>
                            </m:sup>
                          </m:sSup>
                        </m:e>
                      </m:nary>
                      <m:r>
                        <a:rPr lang="en-US" altLang="zh-CN" sz="2400" b="1" i="1">
                          <a:latin typeface="Cambria Math" panose="02040503050406030204" pitchFamily="18" charset="0"/>
                        </a:rPr>
                        <m:t>−</m:t>
                      </m:r>
                      <m:nary>
                        <m:naryPr>
                          <m:chr m:val="∑"/>
                          <m:ctrlPr>
                            <a:rPr lang="zh-CN" altLang="en-US" sz="2400" b="1" i="1">
                              <a:latin typeface="Cambria Math"/>
                            </a:rPr>
                          </m:ctrlPr>
                        </m:naryPr>
                        <m:sub>
                          <m:r>
                            <a:rPr lang="en-US" altLang="zh-CN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  <m:r>
                            <a:rPr lang="en-US" altLang="zh-CN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  <m:sup>
                          <m:r>
                            <a:rPr lang="en-US" altLang="zh-CN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𝒌</m:t>
                          </m:r>
                          <m:r>
                            <a:rPr lang="en-US" altLang="zh-CN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  <m:e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 (</m:t>
                          </m:r>
                          <m:r>
                            <a:rPr lang="en-US" altLang="zh-CN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  <m:r>
                            <a:rPr lang="en-US" altLang="zh-CN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)</m:t>
                          </m:r>
                          <m:sSup>
                            <m:sSupPr>
                              <m:ctrlPr>
                                <a:rPr lang="en-US" altLang="zh-CN" sz="2400" b="1" i="1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US" altLang="zh-CN" sz="2400" b="1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e>
                            <m:sup>
                              <m:r>
                                <a:rPr lang="en-US" altLang="zh-CN" sz="24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𝒕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zh-CN" altLang="en-US" sz="2400" b="1" dirty="0"/>
              </a:p>
            </p:txBody>
          </p:sp>
        </mc:Choice>
        <mc:Fallback xmlns="">
          <p:sp>
            <p:nvSpPr>
              <p:cNvPr id="23" name="矩形 2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55614" y="2551659"/>
                <a:ext cx="3599006" cy="113775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矩形 2"/>
          <p:cNvSpPr/>
          <p:nvPr/>
        </p:nvSpPr>
        <p:spPr>
          <a:xfrm>
            <a:off x="6181762" y="2551659"/>
            <a:ext cx="1890092" cy="1137752"/>
          </a:xfrm>
          <a:prstGeom prst="rect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矩形 29"/>
          <p:cNvSpPr/>
          <p:nvPr/>
        </p:nvSpPr>
        <p:spPr>
          <a:xfrm>
            <a:off x="3263858" y="2544031"/>
            <a:ext cx="1291756" cy="1137752"/>
          </a:xfrm>
          <a:prstGeom prst="rect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658443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/>
      <p:bldP spid="17" grpId="0" animBg="1"/>
      <p:bldP spid="18" grpId="0" animBg="1"/>
      <p:bldP spid="20" grpId="0" animBg="1"/>
      <p:bldP spid="21" grpId="0" animBg="1"/>
      <p:bldP spid="22" grpId="0"/>
      <p:bldP spid="25" grpId="0"/>
      <p:bldP spid="26" grpId="0"/>
      <p:bldP spid="27" grpId="0"/>
      <p:bldP spid="28" grpId="0"/>
      <p:bldP spid="19" grpId="0"/>
      <p:bldP spid="23" grpId="0"/>
      <p:bldP spid="3" grpId="0" animBg="1"/>
      <p:bldP spid="3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413172" y="1309664"/>
            <a:ext cx="8464350" cy="1206964"/>
          </a:xfrm>
          <a:prstGeom prst="rect">
            <a:avLst/>
          </a:prstGeom>
        </p:spPr>
        <p:txBody>
          <a:bodyPr vert="horz" wrap="square" lIns="0" tIns="11651" rIns="0" bIns="0" rtlCol="0">
            <a:spAutoFit/>
          </a:bodyPr>
          <a:lstStyle/>
          <a:p>
            <a:pPr marL="11651">
              <a:spcBef>
                <a:spcPts val="92"/>
              </a:spcBef>
            </a:pPr>
            <a:r>
              <a:rPr sz="2800" b="1" spc="-5" dirty="0">
                <a:latin typeface="Times New Roman" pitchFamily="18" charset="0"/>
                <a:cs typeface="Times New Roman" pitchFamily="18" charset="0"/>
              </a:rPr>
              <a:t>算</a:t>
            </a:r>
            <a:r>
              <a:rPr sz="2800" b="1" spc="-10" dirty="0">
                <a:latin typeface="Times New Roman" pitchFamily="18" charset="0"/>
                <a:cs typeface="Times New Roman" pitchFamily="18" charset="0"/>
              </a:rPr>
              <a:t>法</a:t>
            </a:r>
            <a:r>
              <a:rPr sz="2800" b="1" spc="-564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800" b="1" spc="-5" dirty="0">
                <a:latin typeface="Times New Roman" pitchFamily="18" charset="0"/>
                <a:cs typeface="Times New Roman" pitchFamily="18" charset="0"/>
              </a:rPr>
              <a:t>BinarySearch </a:t>
            </a:r>
            <a:r>
              <a:rPr sz="2800" b="1" spc="-69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sz="2800" b="1" i="1" spc="-69" dirty="0">
                <a:latin typeface="Times New Roman" pitchFamily="18" charset="0"/>
                <a:cs typeface="Times New Roman" pitchFamily="18" charset="0"/>
              </a:rPr>
              <a:t>T,</a:t>
            </a:r>
            <a:r>
              <a:rPr sz="2800" b="1" i="1" spc="-18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800" b="1" i="1" dirty="0">
                <a:latin typeface="Times New Roman" pitchFamily="18" charset="0"/>
                <a:cs typeface="Times New Roman" pitchFamily="18" charset="0"/>
              </a:rPr>
              <a:t>l</a:t>
            </a:r>
            <a:r>
              <a:rPr sz="2800" b="1" dirty="0">
                <a:latin typeface="Times New Roman" pitchFamily="18" charset="0"/>
                <a:cs typeface="Times New Roman" pitchFamily="18" charset="0"/>
              </a:rPr>
              <a:t>,</a:t>
            </a:r>
            <a:r>
              <a:rPr sz="2800" b="1" spc="-14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800" b="1" i="1" dirty="0">
                <a:latin typeface="Times New Roman" pitchFamily="18" charset="0"/>
                <a:cs typeface="Times New Roman" pitchFamily="18" charset="0"/>
              </a:rPr>
              <a:t>r</a:t>
            </a:r>
            <a:r>
              <a:rPr sz="2800" b="1" dirty="0">
                <a:latin typeface="Times New Roman" pitchFamily="18" charset="0"/>
                <a:cs typeface="Times New Roman" pitchFamily="18" charset="0"/>
              </a:rPr>
              <a:t>,</a:t>
            </a:r>
            <a:r>
              <a:rPr sz="2800" b="1" spc="-1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800" b="1" i="1" spc="-5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sz="2800" b="1" spc="-5" dirty="0">
                <a:latin typeface="Times New Roman" pitchFamily="18" charset="0"/>
                <a:cs typeface="Times New Roman" pitchFamily="18" charset="0"/>
              </a:rPr>
              <a:t>)</a:t>
            </a:r>
            <a:endParaRPr sz="2800" dirty="0">
              <a:latin typeface="Times New Roman" pitchFamily="18" charset="0"/>
              <a:cs typeface="Times New Roman" pitchFamily="18" charset="0"/>
            </a:endParaRPr>
          </a:p>
          <a:p>
            <a:pPr marL="11651"/>
            <a:r>
              <a:rPr sz="2800" b="1" dirty="0">
                <a:latin typeface="Times New Roman" pitchFamily="18" charset="0"/>
                <a:cs typeface="Times New Roman" pitchFamily="18" charset="0"/>
              </a:rPr>
              <a:t>输入：数</a:t>
            </a:r>
            <a:r>
              <a:rPr sz="2800" b="1" spc="-10" dirty="0">
                <a:latin typeface="Times New Roman" pitchFamily="18" charset="0"/>
                <a:cs typeface="Times New Roman" pitchFamily="18" charset="0"/>
              </a:rPr>
              <a:t>组</a:t>
            </a:r>
            <a:r>
              <a:rPr sz="2800" b="1" spc="-564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800" b="1" i="1" spc="-5" dirty="0">
                <a:latin typeface="Times New Roman" pitchFamily="18" charset="0"/>
                <a:cs typeface="Times New Roman" pitchFamily="18" charset="0"/>
              </a:rPr>
              <a:t>T</a:t>
            </a:r>
            <a:r>
              <a:rPr sz="2800" b="1" spc="-5" dirty="0">
                <a:latin typeface="Times New Roman" pitchFamily="18" charset="0"/>
                <a:cs typeface="Times New Roman" pitchFamily="18" charset="0"/>
              </a:rPr>
              <a:t>，</a:t>
            </a:r>
            <a:r>
              <a:rPr sz="2800" b="1" dirty="0">
                <a:latin typeface="Times New Roman" pitchFamily="18" charset="0"/>
                <a:cs typeface="Times New Roman" pitchFamily="18" charset="0"/>
              </a:rPr>
              <a:t>下标</a:t>
            </a:r>
            <a:r>
              <a:rPr sz="2800" b="1" spc="-10" dirty="0">
                <a:latin typeface="Times New Roman" pitchFamily="18" charset="0"/>
                <a:cs typeface="Times New Roman" pitchFamily="18" charset="0"/>
              </a:rPr>
              <a:t>从</a:t>
            </a:r>
            <a:r>
              <a:rPr sz="2800" b="1" spc="-55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800" b="1" i="1" dirty="0">
                <a:latin typeface="Times New Roman" pitchFamily="18" charset="0"/>
                <a:cs typeface="Times New Roman" pitchFamily="18" charset="0"/>
              </a:rPr>
              <a:t>l</a:t>
            </a:r>
            <a:r>
              <a:rPr sz="2800" b="1" i="1" spc="-14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800" b="1" spc="-10" dirty="0">
                <a:latin typeface="Times New Roman" pitchFamily="18" charset="0"/>
                <a:cs typeface="Times New Roman" pitchFamily="18" charset="0"/>
              </a:rPr>
              <a:t>到</a:t>
            </a:r>
            <a:r>
              <a:rPr sz="2800" b="1" spc="-546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800" b="1" i="1" dirty="0">
                <a:latin typeface="Times New Roman" pitchFamily="18" charset="0"/>
                <a:cs typeface="Times New Roman" pitchFamily="18" charset="0"/>
              </a:rPr>
              <a:t>r</a:t>
            </a:r>
            <a:r>
              <a:rPr sz="2800" b="1" dirty="0">
                <a:latin typeface="Times New Roman" pitchFamily="18" charset="0"/>
                <a:cs typeface="Times New Roman" pitchFamily="18" charset="0"/>
              </a:rPr>
              <a:t>；数</a:t>
            </a:r>
            <a:r>
              <a:rPr sz="2800" b="1" i="1" dirty="0">
                <a:latin typeface="Times New Roman" pitchFamily="18" charset="0"/>
                <a:cs typeface="Times New Roman" pitchFamily="18" charset="0"/>
              </a:rPr>
              <a:t>x</a:t>
            </a:r>
            <a:endParaRPr sz="2800" dirty="0">
              <a:latin typeface="Times New Roman" pitchFamily="18" charset="0"/>
              <a:cs typeface="Times New Roman" pitchFamily="18" charset="0"/>
            </a:endParaRPr>
          </a:p>
          <a:p>
            <a:pPr marL="11651">
              <a:lnSpc>
                <a:spcPts val="2634"/>
              </a:lnSpc>
            </a:pPr>
            <a:r>
              <a:rPr sz="2800" b="1" dirty="0" err="1">
                <a:latin typeface="Times New Roman" pitchFamily="18" charset="0"/>
                <a:cs typeface="Times New Roman" pitchFamily="18" charset="0"/>
              </a:rPr>
              <a:t>输出：</a:t>
            </a:r>
            <a:r>
              <a:rPr sz="2800" b="1" i="1" dirty="0" err="1" smtClean="0">
                <a:latin typeface="Times New Roman" pitchFamily="18" charset="0"/>
                <a:cs typeface="Times New Roman" pitchFamily="18" charset="0"/>
              </a:rPr>
              <a:t>j</a:t>
            </a:r>
            <a:endParaRPr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576976" y="4881824"/>
            <a:ext cx="1874687" cy="427816"/>
          </a:xfrm>
          <a:custGeom>
            <a:avLst/>
            <a:gdLst/>
            <a:ahLst/>
            <a:cxnLst/>
            <a:rect l="l" t="t" r="r" b="b"/>
            <a:pathLst>
              <a:path w="2057400" h="457200">
                <a:moveTo>
                  <a:pt x="0" y="76200"/>
                </a:moveTo>
                <a:lnTo>
                  <a:pt x="5987" y="46559"/>
                </a:lnTo>
                <a:lnTo>
                  <a:pt x="22317" y="22336"/>
                </a:lnTo>
                <a:lnTo>
                  <a:pt x="46537" y="5994"/>
                </a:lnTo>
                <a:lnTo>
                  <a:pt x="76200" y="0"/>
                </a:lnTo>
                <a:lnTo>
                  <a:pt x="1981200" y="0"/>
                </a:lnTo>
                <a:lnTo>
                  <a:pt x="2010840" y="5994"/>
                </a:lnTo>
                <a:lnTo>
                  <a:pt x="2035063" y="22336"/>
                </a:lnTo>
                <a:lnTo>
                  <a:pt x="2051405" y="46559"/>
                </a:lnTo>
                <a:lnTo>
                  <a:pt x="2057400" y="76200"/>
                </a:lnTo>
                <a:lnTo>
                  <a:pt x="2057400" y="381000"/>
                </a:lnTo>
                <a:lnTo>
                  <a:pt x="2051405" y="410640"/>
                </a:lnTo>
                <a:lnTo>
                  <a:pt x="2035063" y="434863"/>
                </a:lnTo>
                <a:lnTo>
                  <a:pt x="2010840" y="451205"/>
                </a:lnTo>
                <a:lnTo>
                  <a:pt x="1981200" y="457200"/>
                </a:lnTo>
                <a:lnTo>
                  <a:pt x="76200" y="457200"/>
                </a:lnTo>
                <a:lnTo>
                  <a:pt x="46537" y="451205"/>
                </a:lnTo>
                <a:lnTo>
                  <a:pt x="22317" y="434863"/>
                </a:lnTo>
                <a:lnTo>
                  <a:pt x="5987" y="410640"/>
                </a:lnTo>
                <a:lnTo>
                  <a:pt x="0" y="381000"/>
                </a:lnTo>
                <a:lnTo>
                  <a:pt x="0" y="76200"/>
                </a:lnTo>
                <a:close/>
              </a:path>
            </a:pathLst>
          </a:custGeom>
          <a:ln w="2540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4"/>
          <p:cNvSpPr txBox="1"/>
          <p:nvPr/>
        </p:nvSpPr>
        <p:spPr>
          <a:xfrm>
            <a:off x="413172" y="2403618"/>
            <a:ext cx="8902907" cy="3422955"/>
          </a:xfrm>
          <a:prstGeom prst="rect">
            <a:avLst/>
          </a:prstGeom>
        </p:spPr>
        <p:txBody>
          <a:bodyPr vert="horz" wrap="square" lIns="0" tIns="11651" rIns="0" bIns="0" rtlCol="0">
            <a:spAutoFit/>
          </a:bodyPr>
          <a:lstStyle/>
          <a:p>
            <a:pPr marL="13981">
              <a:lnSpc>
                <a:spcPts val="3761"/>
              </a:lnSpc>
              <a:tabLst>
                <a:tab pos="362337" algn="l"/>
                <a:tab pos="1229148" algn="l"/>
              </a:tabLst>
            </a:pPr>
            <a:r>
              <a:rPr sz="2600" b="1" dirty="0" smtClean="0">
                <a:latin typeface="Times New Roman"/>
                <a:cs typeface="Times New Roman"/>
              </a:rPr>
              <a:t>1</a:t>
            </a:r>
            <a:r>
              <a:rPr sz="2600" b="1" dirty="0">
                <a:latin typeface="Times New Roman"/>
                <a:cs typeface="Times New Roman"/>
              </a:rPr>
              <a:t>.	</a:t>
            </a:r>
            <a:r>
              <a:rPr sz="2600" b="1" i="1" dirty="0">
                <a:latin typeface="Times New Roman"/>
                <a:cs typeface="Times New Roman"/>
              </a:rPr>
              <a:t>l</a:t>
            </a:r>
            <a:r>
              <a:rPr sz="2600" b="1" i="1" spc="-5" dirty="0">
                <a:latin typeface="Times New Roman"/>
                <a:cs typeface="Times New Roman"/>
              </a:rPr>
              <a:t> </a:t>
            </a:r>
            <a:r>
              <a:rPr sz="2600" b="1" spc="-5" dirty="0">
                <a:latin typeface="Symbol"/>
                <a:cs typeface="Symbol"/>
              </a:rPr>
              <a:t></a:t>
            </a:r>
            <a:r>
              <a:rPr sz="2600" b="1" spc="5" dirty="0">
                <a:latin typeface="Times New Roman"/>
                <a:cs typeface="Times New Roman"/>
              </a:rPr>
              <a:t> </a:t>
            </a:r>
            <a:r>
              <a:rPr sz="2600" b="1" dirty="0">
                <a:latin typeface="Times New Roman"/>
                <a:cs typeface="Times New Roman"/>
              </a:rPr>
              <a:t>1;	</a:t>
            </a:r>
            <a:r>
              <a:rPr sz="2600" b="1" i="1" spc="-5" dirty="0">
                <a:latin typeface="Times New Roman"/>
                <a:cs typeface="Times New Roman"/>
              </a:rPr>
              <a:t>r </a:t>
            </a:r>
            <a:r>
              <a:rPr sz="2600" b="1" spc="-5" dirty="0">
                <a:latin typeface="Symbol"/>
                <a:cs typeface="Symbol"/>
              </a:rPr>
              <a:t></a:t>
            </a:r>
            <a:r>
              <a:rPr sz="2600" b="1" spc="5" dirty="0">
                <a:latin typeface="Times New Roman"/>
                <a:cs typeface="Times New Roman"/>
              </a:rPr>
              <a:t> </a:t>
            </a:r>
            <a:r>
              <a:rPr sz="2600" b="1" i="1" spc="-5" dirty="0">
                <a:latin typeface="Times New Roman"/>
                <a:cs typeface="Times New Roman"/>
              </a:rPr>
              <a:t>n</a:t>
            </a:r>
            <a:endParaRPr sz="2600" dirty="0">
              <a:latin typeface="Times New Roman"/>
              <a:cs typeface="Times New Roman"/>
            </a:endParaRPr>
          </a:p>
          <a:p>
            <a:pPr marL="13981" marR="2872478">
              <a:lnSpc>
                <a:spcPts val="3761"/>
              </a:lnSpc>
              <a:tabLst>
                <a:tab pos="362337" algn="l"/>
                <a:tab pos="641953" algn="l"/>
                <a:tab pos="1138273" algn="l"/>
              </a:tabLst>
            </a:pPr>
            <a:r>
              <a:rPr sz="2600" b="1" dirty="0">
                <a:latin typeface="Times New Roman"/>
                <a:cs typeface="Times New Roman"/>
              </a:rPr>
              <a:t>2.	</a:t>
            </a:r>
            <a:r>
              <a:rPr lang="en-US" sz="2600" b="1" spc="-5" dirty="0" smtClean="0">
                <a:latin typeface="Times New Roman"/>
                <a:cs typeface="Times New Roman"/>
              </a:rPr>
              <a:t>w</a:t>
            </a:r>
            <a:r>
              <a:rPr sz="2600" b="1" spc="-5" dirty="0" smtClean="0">
                <a:latin typeface="Times New Roman"/>
                <a:cs typeface="Times New Roman"/>
              </a:rPr>
              <a:t>hile</a:t>
            </a:r>
            <a:r>
              <a:rPr lang="en-US" sz="2600" b="1" spc="-5" dirty="0" smtClean="0">
                <a:latin typeface="Times New Roman"/>
                <a:cs typeface="Times New Roman"/>
              </a:rPr>
              <a:t> </a:t>
            </a:r>
            <a:r>
              <a:rPr sz="2600" b="1" i="1" dirty="0" smtClean="0">
                <a:latin typeface="Times New Roman"/>
                <a:cs typeface="Times New Roman"/>
              </a:rPr>
              <a:t>l </a:t>
            </a:r>
            <a:r>
              <a:rPr sz="2600" b="1" spc="-5" dirty="0">
                <a:latin typeface="Symbol"/>
                <a:cs typeface="Symbol"/>
              </a:rPr>
              <a:t></a:t>
            </a:r>
            <a:r>
              <a:rPr sz="2600" b="1" spc="-5" dirty="0">
                <a:latin typeface="Times New Roman"/>
                <a:cs typeface="Times New Roman"/>
              </a:rPr>
              <a:t> </a:t>
            </a:r>
            <a:r>
              <a:rPr sz="2600" b="1" i="1" spc="-5" dirty="0">
                <a:latin typeface="Times New Roman"/>
                <a:cs typeface="Times New Roman"/>
              </a:rPr>
              <a:t>r </a:t>
            </a:r>
            <a:r>
              <a:rPr sz="2600" b="1" spc="-10" dirty="0">
                <a:latin typeface="Times New Roman"/>
                <a:cs typeface="Times New Roman"/>
              </a:rPr>
              <a:t>do  </a:t>
            </a:r>
            <a:endParaRPr lang="en-US" sz="2600" b="1" spc="-10" dirty="0">
              <a:latin typeface="Times New Roman"/>
              <a:cs typeface="Times New Roman"/>
            </a:endParaRPr>
          </a:p>
          <a:p>
            <a:pPr marL="13981" marR="2872478">
              <a:lnSpc>
                <a:spcPts val="3761"/>
              </a:lnSpc>
              <a:tabLst>
                <a:tab pos="362337" algn="l"/>
                <a:tab pos="641953" algn="l"/>
                <a:tab pos="1138273" algn="l"/>
              </a:tabLst>
            </a:pPr>
            <a:r>
              <a:rPr sz="2600" b="1" dirty="0">
                <a:latin typeface="Times New Roman"/>
                <a:cs typeface="Times New Roman"/>
              </a:rPr>
              <a:t>3.		</a:t>
            </a:r>
            <a:r>
              <a:rPr sz="2600" b="1" i="1" dirty="0">
                <a:latin typeface="Times New Roman"/>
                <a:cs typeface="Times New Roman"/>
              </a:rPr>
              <a:t>m </a:t>
            </a:r>
            <a:r>
              <a:rPr sz="2600" b="1" spc="-5" dirty="0">
                <a:latin typeface="Symbol"/>
                <a:cs typeface="Symbol"/>
              </a:rPr>
              <a:t></a:t>
            </a:r>
            <a:r>
              <a:rPr sz="2600" b="1" spc="-78" dirty="0">
                <a:latin typeface="Times New Roman"/>
                <a:cs typeface="Times New Roman"/>
              </a:rPr>
              <a:t> </a:t>
            </a:r>
            <a:r>
              <a:rPr sz="2600" b="1" dirty="0">
                <a:latin typeface="Symbol"/>
                <a:cs typeface="Symbol"/>
              </a:rPr>
              <a:t></a:t>
            </a:r>
            <a:r>
              <a:rPr sz="2600" b="1" dirty="0">
                <a:latin typeface="Times New Roman"/>
                <a:cs typeface="Times New Roman"/>
              </a:rPr>
              <a:t>(</a:t>
            </a:r>
            <a:r>
              <a:rPr sz="2600" b="1" i="1" dirty="0">
                <a:latin typeface="Times New Roman"/>
                <a:cs typeface="Times New Roman"/>
              </a:rPr>
              <a:t>l</a:t>
            </a:r>
            <a:r>
              <a:rPr sz="2600" b="1" dirty="0">
                <a:latin typeface="Times New Roman"/>
                <a:cs typeface="Times New Roman"/>
              </a:rPr>
              <a:t>+</a:t>
            </a:r>
            <a:r>
              <a:rPr sz="2600" b="1" i="1" dirty="0">
                <a:latin typeface="Times New Roman"/>
                <a:cs typeface="Times New Roman"/>
              </a:rPr>
              <a:t>r</a:t>
            </a:r>
            <a:r>
              <a:rPr sz="2600" b="1" dirty="0">
                <a:latin typeface="Times New Roman"/>
                <a:cs typeface="Times New Roman"/>
              </a:rPr>
              <a:t>)/2</a:t>
            </a:r>
            <a:r>
              <a:rPr sz="2600" b="1" dirty="0">
                <a:latin typeface="Symbol"/>
                <a:cs typeface="Symbol"/>
              </a:rPr>
              <a:t></a:t>
            </a:r>
            <a:endParaRPr sz="2600" dirty="0">
              <a:latin typeface="Symbol"/>
              <a:cs typeface="Symbol"/>
            </a:endParaRPr>
          </a:p>
          <a:p>
            <a:pPr marL="641953" indent="-628555">
              <a:lnSpc>
                <a:spcPts val="3761"/>
              </a:lnSpc>
              <a:buAutoNum type="arabicPeriod" startAt="4"/>
              <a:tabLst>
                <a:tab pos="641953" algn="l"/>
                <a:tab pos="642536" algn="l"/>
                <a:tab pos="952444" algn="l"/>
                <a:tab pos="1964888" algn="l"/>
              </a:tabLst>
            </a:pPr>
            <a:r>
              <a:rPr sz="2600" b="1" dirty="0">
                <a:latin typeface="Times New Roman"/>
                <a:cs typeface="Times New Roman"/>
              </a:rPr>
              <a:t>if	</a:t>
            </a:r>
            <a:r>
              <a:rPr sz="2600" b="1" i="1" dirty="0">
                <a:latin typeface="Times New Roman"/>
                <a:cs typeface="Times New Roman"/>
              </a:rPr>
              <a:t>T</a:t>
            </a:r>
            <a:r>
              <a:rPr sz="2600" b="1" dirty="0">
                <a:latin typeface="Times New Roman"/>
                <a:cs typeface="Times New Roman"/>
              </a:rPr>
              <a:t>[</a:t>
            </a:r>
            <a:r>
              <a:rPr sz="2600" b="1" i="1" dirty="0">
                <a:latin typeface="Times New Roman"/>
                <a:cs typeface="Times New Roman"/>
              </a:rPr>
              <a:t>m</a:t>
            </a:r>
            <a:r>
              <a:rPr sz="2600" b="1" dirty="0">
                <a:latin typeface="Times New Roman"/>
                <a:cs typeface="Times New Roman"/>
              </a:rPr>
              <a:t>]=</a:t>
            </a:r>
            <a:r>
              <a:rPr sz="2600" b="1" i="1" dirty="0" smtClean="0">
                <a:latin typeface="Times New Roman"/>
                <a:cs typeface="Times New Roman"/>
              </a:rPr>
              <a:t>x</a:t>
            </a:r>
            <a:r>
              <a:rPr lang="en-US" sz="2600" b="1" i="1" dirty="0" smtClean="0">
                <a:latin typeface="Times New Roman"/>
                <a:cs typeface="Times New Roman"/>
              </a:rPr>
              <a:t>       </a:t>
            </a:r>
            <a:r>
              <a:rPr sz="2600" b="1" spc="-5" dirty="0" smtClean="0">
                <a:latin typeface="Times New Roman"/>
                <a:cs typeface="Times New Roman"/>
              </a:rPr>
              <a:t>then</a:t>
            </a:r>
            <a:r>
              <a:rPr sz="2600" b="1" spc="-14" dirty="0" smtClean="0">
                <a:latin typeface="Times New Roman"/>
                <a:cs typeface="Times New Roman"/>
              </a:rPr>
              <a:t> </a:t>
            </a:r>
            <a:r>
              <a:rPr sz="2600" b="1" spc="-10" dirty="0">
                <a:latin typeface="Times New Roman"/>
                <a:cs typeface="Times New Roman"/>
              </a:rPr>
              <a:t>return</a:t>
            </a:r>
            <a:r>
              <a:rPr sz="2600" b="1" spc="-14" dirty="0">
                <a:latin typeface="Times New Roman"/>
                <a:cs typeface="Times New Roman"/>
              </a:rPr>
              <a:t> </a:t>
            </a:r>
            <a:r>
              <a:rPr sz="2600" b="1" i="1" dirty="0">
                <a:latin typeface="Times New Roman"/>
                <a:cs typeface="Times New Roman"/>
              </a:rPr>
              <a:t>m</a:t>
            </a:r>
            <a:r>
              <a:rPr sz="2600" b="1" i="1" spc="-28" dirty="0">
                <a:latin typeface="Times New Roman"/>
                <a:cs typeface="Times New Roman"/>
              </a:rPr>
              <a:t> </a:t>
            </a:r>
            <a:r>
              <a:rPr lang="en-US" sz="2600" b="1" i="1" spc="-28" dirty="0">
                <a:latin typeface="Times New Roman"/>
                <a:cs typeface="Times New Roman"/>
              </a:rPr>
              <a:t>     </a:t>
            </a:r>
            <a:r>
              <a:rPr sz="2600" b="1" dirty="0">
                <a:latin typeface="Times New Roman"/>
                <a:cs typeface="Times New Roman"/>
              </a:rPr>
              <a:t>//</a:t>
            </a:r>
            <a:r>
              <a:rPr sz="2600" b="1" i="1" dirty="0">
                <a:latin typeface="Times New Roman"/>
                <a:cs typeface="Times New Roman"/>
              </a:rPr>
              <a:t>x</a:t>
            </a:r>
            <a:r>
              <a:rPr sz="2600" b="1" dirty="0">
                <a:latin typeface="宋体"/>
                <a:cs typeface="宋体"/>
              </a:rPr>
              <a:t>中位元素</a:t>
            </a:r>
            <a:endParaRPr sz="2600" dirty="0">
              <a:latin typeface="宋体"/>
              <a:cs typeface="宋体"/>
            </a:endParaRPr>
          </a:p>
          <a:p>
            <a:pPr marL="641953" indent="-628555">
              <a:lnSpc>
                <a:spcPts val="3761"/>
              </a:lnSpc>
              <a:buAutoNum type="arabicPeriod" startAt="4"/>
              <a:tabLst>
                <a:tab pos="641953" algn="l"/>
                <a:tab pos="642536" algn="l"/>
                <a:tab pos="1215168" algn="l"/>
                <a:tab pos="1525656" algn="l"/>
                <a:tab pos="2677911" algn="l"/>
                <a:tab pos="3346078" algn="l"/>
              </a:tabLst>
            </a:pPr>
            <a:r>
              <a:rPr sz="2600" b="1" dirty="0">
                <a:latin typeface="Times New Roman"/>
                <a:cs typeface="Times New Roman"/>
              </a:rPr>
              <a:t>else	if	</a:t>
            </a:r>
            <a:r>
              <a:rPr sz="2600" b="1" i="1" dirty="0">
                <a:latin typeface="Times New Roman"/>
                <a:cs typeface="Times New Roman"/>
              </a:rPr>
              <a:t>T</a:t>
            </a:r>
            <a:r>
              <a:rPr sz="2600" b="1" dirty="0">
                <a:latin typeface="Times New Roman"/>
                <a:cs typeface="Times New Roman"/>
              </a:rPr>
              <a:t>[</a:t>
            </a:r>
            <a:r>
              <a:rPr sz="2600" b="1" i="1" dirty="0">
                <a:latin typeface="Times New Roman"/>
                <a:cs typeface="Times New Roman"/>
              </a:rPr>
              <a:t>m</a:t>
            </a:r>
            <a:r>
              <a:rPr sz="2600" b="1" dirty="0">
                <a:latin typeface="Times New Roman"/>
                <a:cs typeface="Times New Roman"/>
              </a:rPr>
              <a:t>]</a:t>
            </a:r>
            <a:r>
              <a:rPr sz="2600" b="1" spc="-5" dirty="0">
                <a:latin typeface="Times New Roman"/>
                <a:cs typeface="Times New Roman"/>
              </a:rPr>
              <a:t> </a:t>
            </a:r>
            <a:r>
              <a:rPr sz="2600" b="1" dirty="0">
                <a:latin typeface="Times New Roman"/>
                <a:cs typeface="Times New Roman"/>
              </a:rPr>
              <a:t>&gt;</a:t>
            </a:r>
            <a:r>
              <a:rPr sz="2600" b="1" spc="-14" dirty="0">
                <a:latin typeface="Times New Roman"/>
                <a:cs typeface="Times New Roman"/>
              </a:rPr>
              <a:t> </a:t>
            </a:r>
            <a:r>
              <a:rPr sz="2600" b="1" i="1" dirty="0">
                <a:latin typeface="Times New Roman"/>
                <a:cs typeface="Times New Roman"/>
              </a:rPr>
              <a:t>x	</a:t>
            </a:r>
            <a:r>
              <a:rPr sz="2600" b="1" spc="-5" dirty="0" smtClean="0">
                <a:latin typeface="Times New Roman"/>
                <a:cs typeface="Times New Roman"/>
              </a:rPr>
              <a:t>then</a:t>
            </a:r>
            <a:r>
              <a:rPr lang="en-US" sz="2600" b="1" spc="-5" dirty="0" smtClean="0">
                <a:latin typeface="Times New Roman"/>
                <a:cs typeface="Times New Roman"/>
              </a:rPr>
              <a:t>         </a:t>
            </a:r>
            <a:r>
              <a:rPr sz="2600" b="1" i="1" spc="-5" dirty="0" smtClean="0">
                <a:latin typeface="Times New Roman"/>
                <a:cs typeface="Times New Roman"/>
              </a:rPr>
              <a:t>r </a:t>
            </a:r>
            <a:r>
              <a:rPr sz="2600" b="1" spc="-5" dirty="0">
                <a:latin typeface="Symbol"/>
                <a:cs typeface="Symbol"/>
              </a:rPr>
              <a:t></a:t>
            </a:r>
            <a:r>
              <a:rPr sz="2600" b="1" spc="-5" dirty="0">
                <a:latin typeface="Times New Roman"/>
                <a:cs typeface="Times New Roman"/>
              </a:rPr>
              <a:t> </a:t>
            </a:r>
            <a:r>
              <a:rPr sz="2600" b="1" i="1" dirty="0">
                <a:latin typeface="Times New Roman"/>
                <a:cs typeface="Times New Roman"/>
              </a:rPr>
              <a:t>m</a:t>
            </a:r>
            <a:r>
              <a:rPr sz="2600" b="1" dirty="0">
                <a:latin typeface="Symbol"/>
                <a:cs typeface="Symbol"/>
              </a:rPr>
              <a:t></a:t>
            </a:r>
            <a:r>
              <a:rPr sz="2600" b="1" dirty="0">
                <a:latin typeface="Times New Roman"/>
                <a:cs typeface="Times New Roman"/>
              </a:rPr>
              <a:t>1</a:t>
            </a:r>
            <a:endParaRPr sz="2600" dirty="0">
              <a:latin typeface="Times New Roman"/>
              <a:cs typeface="Times New Roman"/>
            </a:endParaRPr>
          </a:p>
          <a:p>
            <a:pPr marL="1201187" indent="-1187788">
              <a:lnSpc>
                <a:spcPts val="3761"/>
              </a:lnSpc>
              <a:buAutoNum type="arabicPeriod" startAt="4"/>
              <a:tabLst>
                <a:tab pos="1201187" algn="l"/>
                <a:tab pos="1201769" algn="l"/>
                <a:tab pos="1774400" algn="l"/>
              </a:tabLst>
            </a:pPr>
            <a:r>
              <a:rPr sz="2600" b="1" dirty="0">
                <a:latin typeface="Times New Roman"/>
                <a:cs typeface="Times New Roman"/>
              </a:rPr>
              <a:t>else	</a:t>
            </a:r>
            <a:r>
              <a:rPr sz="2600" b="1" i="1" dirty="0">
                <a:latin typeface="Times New Roman"/>
                <a:cs typeface="Times New Roman"/>
              </a:rPr>
              <a:t>l </a:t>
            </a:r>
            <a:r>
              <a:rPr sz="2600" b="1" dirty="0">
                <a:latin typeface="Symbol"/>
                <a:cs typeface="Symbol"/>
              </a:rPr>
              <a:t></a:t>
            </a:r>
            <a:r>
              <a:rPr sz="2600" b="1" dirty="0">
                <a:latin typeface="Times New Roman"/>
                <a:cs typeface="Times New Roman"/>
              </a:rPr>
              <a:t> </a:t>
            </a:r>
            <a:r>
              <a:rPr sz="2600" b="1" i="1" spc="-5" dirty="0">
                <a:latin typeface="Times New Roman"/>
                <a:cs typeface="Times New Roman"/>
              </a:rPr>
              <a:t>m</a:t>
            </a:r>
            <a:r>
              <a:rPr sz="2600" b="1" spc="-5" dirty="0">
                <a:latin typeface="Times New Roman"/>
                <a:cs typeface="Times New Roman"/>
              </a:rPr>
              <a:t>+1</a:t>
            </a:r>
            <a:endParaRPr sz="2600" dirty="0">
              <a:latin typeface="Times New Roman"/>
              <a:cs typeface="Times New Roman"/>
            </a:endParaRPr>
          </a:p>
          <a:p>
            <a:pPr marL="362337" indent="-348939">
              <a:lnSpc>
                <a:spcPts val="3761"/>
              </a:lnSpc>
              <a:buAutoNum type="arabicPeriod" startAt="4"/>
              <a:tabLst>
                <a:tab pos="362337" algn="l"/>
                <a:tab pos="362919" algn="l"/>
              </a:tabLst>
            </a:pPr>
            <a:r>
              <a:rPr sz="2600" b="1" spc="-10" dirty="0">
                <a:latin typeface="Times New Roman"/>
                <a:cs typeface="Times New Roman"/>
              </a:rPr>
              <a:t>return</a:t>
            </a:r>
            <a:r>
              <a:rPr sz="2600" b="1" spc="-5" dirty="0">
                <a:latin typeface="Times New Roman"/>
                <a:cs typeface="Times New Roman"/>
              </a:rPr>
              <a:t> </a:t>
            </a:r>
            <a:r>
              <a:rPr sz="2600" b="1" dirty="0">
                <a:latin typeface="Times New Roman"/>
                <a:cs typeface="Times New Roman"/>
              </a:rPr>
              <a:t>0</a:t>
            </a:r>
            <a:endParaRPr sz="2600" dirty="0">
              <a:latin typeface="Times New Roman"/>
              <a:cs typeface="Times New Roman"/>
            </a:endParaRPr>
          </a:p>
        </p:txBody>
      </p:sp>
      <p:sp>
        <p:nvSpPr>
          <p:cNvPr id="7" name="object 5"/>
          <p:cNvSpPr/>
          <p:nvPr/>
        </p:nvSpPr>
        <p:spPr>
          <a:xfrm>
            <a:off x="795981" y="4403908"/>
            <a:ext cx="5859193" cy="427816"/>
          </a:xfrm>
          <a:custGeom>
            <a:avLst/>
            <a:gdLst/>
            <a:ahLst/>
            <a:cxnLst/>
            <a:rect l="l" t="t" r="r" b="b"/>
            <a:pathLst>
              <a:path w="2057400" h="457200">
                <a:moveTo>
                  <a:pt x="0" y="76200"/>
                </a:moveTo>
                <a:lnTo>
                  <a:pt x="5987" y="46559"/>
                </a:lnTo>
                <a:lnTo>
                  <a:pt x="22317" y="22336"/>
                </a:lnTo>
                <a:lnTo>
                  <a:pt x="46537" y="5994"/>
                </a:lnTo>
                <a:lnTo>
                  <a:pt x="76200" y="0"/>
                </a:lnTo>
                <a:lnTo>
                  <a:pt x="1981200" y="0"/>
                </a:lnTo>
                <a:lnTo>
                  <a:pt x="2010840" y="5994"/>
                </a:lnTo>
                <a:lnTo>
                  <a:pt x="2035063" y="22336"/>
                </a:lnTo>
                <a:lnTo>
                  <a:pt x="2051405" y="46559"/>
                </a:lnTo>
                <a:lnTo>
                  <a:pt x="2057400" y="76200"/>
                </a:lnTo>
                <a:lnTo>
                  <a:pt x="2057400" y="381000"/>
                </a:lnTo>
                <a:lnTo>
                  <a:pt x="2051405" y="410640"/>
                </a:lnTo>
                <a:lnTo>
                  <a:pt x="2035063" y="434863"/>
                </a:lnTo>
                <a:lnTo>
                  <a:pt x="2010840" y="451205"/>
                </a:lnTo>
                <a:lnTo>
                  <a:pt x="1981200" y="457200"/>
                </a:lnTo>
                <a:lnTo>
                  <a:pt x="76200" y="457200"/>
                </a:lnTo>
                <a:lnTo>
                  <a:pt x="46537" y="451205"/>
                </a:lnTo>
                <a:lnTo>
                  <a:pt x="22317" y="434863"/>
                </a:lnTo>
                <a:lnTo>
                  <a:pt x="5987" y="410640"/>
                </a:lnTo>
                <a:lnTo>
                  <a:pt x="0" y="381000"/>
                </a:lnTo>
                <a:lnTo>
                  <a:pt x="0" y="76200"/>
                </a:lnTo>
                <a:close/>
              </a:path>
            </a:pathLst>
          </a:custGeom>
          <a:ln w="2540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5"/>
          <p:cNvSpPr/>
          <p:nvPr/>
        </p:nvSpPr>
        <p:spPr>
          <a:xfrm>
            <a:off x="972565" y="3397828"/>
            <a:ext cx="2274472" cy="427816"/>
          </a:xfrm>
          <a:custGeom>
            <a:avLst/>
            <a:gdLst/>
            <a:ahLst/>
            <a:cxnLst/>
            <a:rect l="l" t="t" r="r" b="b"/>
            <a:pathLst>
              <a:path w="2057400" h="457200">
                <a:moveTo>
                  <a:pt x="0" y="76200"/>
                </a:moveTo>
                <a:lnTo>
                  <a:pt x="5987" y="46559"/>
                </a:lnTo>
                <a:lnTo>
                  <a:pt x="22317" y="22336"/>
                </a:lnTo>
                <a:lnTo>
                  <a:pt x="46537" y="5994"/>
                </a:lnTo>
                <a:lnTo>
                  <a:pt x="76200" y="0"/>
                </a:lnTo>
                <a:lnTo>
                  <a:pt x="1981200" y="0"/>
                </a:lnTo>
                <a:lnTo>
                  <a:pt x="2010840" y="5994"/>
                </a:lnTo>
                <a:lnTo>
                  <a:pt x="2035063" y="22336"/>
                </a:lnTo>
                <a:lnTo>
                  <a:pt x="2051405" y="46559"/>
                </a:lnTo>
                <a:lnTo>
                  <a:pt x="2057400" y="76200"/>
                </a:lnTo>
                <a:lnTo>
                  <a:pt x="2057400" y="381000"/>
                </a:lnTo>
                <a:lnTo>
                  <a:pt x="2051405" y="410640"/>
                </a:lnTo>
                <a:lnTo>
                  <a:pt x="2035063" y="434863"/>
                </a:lnTo>
                <a:lnTo>
                  <a:pt x="2010840" y="451205"/>
                </a:lnTo>
                <a:lnTo>
                  <a:pt x="1981200" y="457200"/>
                </a:lnTo>
                <a:lnTo>
                  <a:pt x="76200" y="457200"/>
                </a:lnTo>
                <a:lnTo>
                  <a:pt x="46537" y="451205"/>
                </a:lnTo>
                <a:lnTo>
                  <a:pt x="22317" y="434863"/>
                </a:lnTo>
                <a:lnTo>
                  <a:pt x="5987" y="410640"/>
                </a:lnTo>
                <a:lnTo>
                  <a:pt x="0" y="381000"/>
                </a:lnTo>
                <a:lnTo>
                  <a:pt x="0" y="76200"/>
                </a:lnTo>
                <a:close/>
              </a:path>
            </a:pathLst>
          </a:custGeom>
          <a:ln w="2540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2"/>
          <p:cNvSpPr txBox="1">
            <a:spLocks/>
          </p:cNvSpPr>
          <p:nvPr/>
        </p:nvSpPr>
        <p:spPr>
          <a:xfrm>
            <a:off x="429809" y="301318"/>
            <a:ext cx="8849441" cy="620574"/>
          </a:xfrm>
          <a:prstGeom prst="rect">
            <a:avLst/>
          </a:prstGeom>
        </p:spPr>
        <p:txBody>
          <a:bodyPr vert="horz" wrap="square" lIns="0" tIns="11068" rIns="0" bIns="0" rtlCol="0" anchor="ctr">
            <a:spAutoFit/>
          </a:bodyPr>
          <a:lstStyle>
            <a:lvl1pPr algn="l" defTabSz="83887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1651" algn="ctr">
              <a:spcBef>
                <a:spcPts val="87"/>
              </a:spcBef>
            </a:pPr>
            <a:r>
              <a:rPr lang="zh-CN" altLang="en-US" sz="4400" spc="-10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二分检索算法</a:t>
            </a:r>
          </a:p>
        </p:txBody>
      </p:sp>
      <p:sp>
        <p:nvSpPr>
          <p:cNvPr id="10" name="object 5"/>
          <p:cNvSpPr/>
          <p:nvPr/>
        </p:nvSpPr>
        <p:spPr>
          <a:xfrm>
            <a:off x="873637" y="3910153"/>
            <a:ext cx="4282744" cy="427816"/>
          </a:xfrm>
          <a:custGeom>
            <a:avLst/>
            <a:gdLst/>
            <a:ahLst/>
            <a:cxnLst/>
            <a:rect l="l" t="t" r="r" b="b"/>
            <a:pathLst>
              <a:path w="2057400" h="457200">
                <a:moveTo>
                  <a:pt x="0" y="76200"/>
                </a:moveTo>
                <a:lnTo>
                  <a:pt x="5987" y="46559"/>
                </a:lnTo>
                <a:lnTo>
                  <a:pt x="22317" y="22336"/>
                </a:lnTo>
                <a:lnTo>
                  <a:pt x="46537" y="5994"/>
                </a:lnTo>
                <a:lnTo>
                  <a:pt x="76200" y="0"/>
                </a:lnTo>
                <a:lnTo>
                  <a:pt x="1981200" y="0"/>
                </a:lnTo>
                <a:lnTo>
                  <a:pt x="2010840" y="5994"/>
                </a:lnTo>
                <a:lnTo>
                  <a:pt x="2035063" y="22336"/>
                </a:lnTo>
                <a:lnTo>
                  <a:pt x="2051405" y="46559"/>
                </a:lnTo>
                <a:lnTo>
                  <a:pt x="2057400" y="76200"/>
                </a:lnTo>
                <a:lnTo>
                  <a:pt x="2057400" y="381000"/>
                </a:lnTo>
                <a:lnTo>
                  <a:pt x="2051405" y="410640"/>
                </a:lnTo>
                <a:lnTo>
                  <a:pt x="2035063" y="434863"/>
                </a:lnTo>
                <a:lnTo>
                  <a:pt x="2010840" y="451205"/>
                </a:lnTo>
                <a:lnTo>
                  <a:pt x="1981200" y="457200"/>
                </a:lnTo>
                <a:lnTo>
                  <a:pt x="76200" y="457200"/>
                </a:lnTo>
                <a:lnTo>
                  <a:pt x="46537" y="451205"/>
                </a:lnTo>
                <a:lnTo>
                  <a:pt x="22317" y="434863"/>
                </a:lnTo>
                <a:lnTo>
                  <a:pt x="5987" y="410640"/>
                </a:lnTo>
                <a:lnTo>
                  <a:pt x="0" y="381000"/>
                </a:lnTo>
                <a:lnTo>
                  <a:pt x="0" y="76200"/>
                </a:lnTo>
                <a:close/>
              </a:path>
            </a:pathLst>
          </a:custGeom>
          <a:ln w="2540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545255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  <p:bldP spid="7" grpId="0" animBg="1"/>
      <p:bldP spid="8" grpId="0" animBg="1"/>
      <p:bldP spid="10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391886" y="291342"/>
            <a:ext cx="8920065" cy="620574"/>
          </a:xfrm>
          <a:prstGeom prst="rect">
            <a:avLst/>
          </a:prstGeom>
        </p:spPr>
        <p:txBody>
          <a:bodyPr vert="horz" wrap="square" lIns="0" tIns="11068" rIns="0" bIns="0" rtlCol="0" anchor="ctr">
            <a:spAutoFit/>
          </a:bodyPr>
          <a:lstStyle/>
          <a:p>
            <a:pPr marL="11651" algn="ctr">
              <a:spcBef>
                <a:spcPts val="87"/>
              </a:spcBef>
            </a:pPr>
            <a:r>
              <a:rPr sz="4400" spc="-14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二分检索运行实例</a:t>
            </a:r>
          </a:p>
        </p:txBody>
      </p:sp>
      <p:sp>
        <p:nvSpPr>
          <p:cNvPr id="4" name="object 4"/>
          <p:cNvSpPr/>
          <p:nvPr/>
        </p:nvSpPr>
        <p:spPr>
          <a:xfrm>
            <a:off x="2005134" y="1608124"/>
            <a:ext cx="488624" cy="454413"/>
          </a:xfrm>
          <a:custGeom>
            <a:avLst/>
            <a:gdLst/>
            <a:ahLst/>
            <a:cxnLst/>
            <a:rect l="l" t="t" r="r" b="b"/>
            <a:pathLst>
              <a:path w="612775" h="360680">
                <a:moveTo>
                  <a:pt x="0" y="360362"/>
                </a:moveTo>
                <a:lnTo>
                  <a:pt x="612775" y="360362"/>
                </a:lnTo>
                <a:lnTo>
                  <a:pt x="612775" y="0"/>
                </a:lnTo>
                <a:lnTo>
                  <a:pt x="0" y="0"/>
                </a:lnTo>
                <a:lnTo>
                  <a:pt x="0" y="36036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491225" y="1608124"/>
            <a:ext cx="480017" cy="454413"/>
          </a:xfrm>
          <a:custGeom>
            <a:avLst/>
            <a:gdLst/>
            <a:ahLst/>
            <a:cxnLst/>
            <a:rect l="l" t="t" r="r" b="b"/>
            <a:pathLst>
              <a:path w="601980" h="360680">
                <a:moveTo>
                  <a:pt x="0" y="360362"/>
                </a:moveTo>
                <a:lnTo>
                  <a:pt x="601726" y="360362"/>
                </a:lnTo>
                <a:lnTo>
                  <a:pt x="601726" y="0"/>
                </a:lnTo>
                <a:lnTo>
                  <a:pt x="0" y="0"/>
                </a:lnTo>
                <a:lnTo>
                  <a:pt x="0" y="36036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971041" y="1608046"/>
            <a:ext cx="488624" cy="452013"/>
          </a:xfrm>
          <a:custGeom>
            <a:avLst/>
            <a:gdLst/>
            <a:ahLst/>
            <a:cxnLst/>
            <a:rect l="l" t="t" r="r" b="b"/>
            <a:pathLst>
              <a:path w="612775" h="358775">
                <a:moveTo>
                  <a:pt x="0" y="358775"/>
                </a:moveTo>
                <a:lnTo>
                  <a:pt x="612775" y="358775"/>
                </a:lnTo>
                <a:lnTo>
                  <a:pt x="612775" y="0"/>
                </a:lnTo>
                <a:lnTo>
                  <a:pt x="0" y="0"/>
                </a:lnTo>
                <a:lnTo>
                  <a:pt x="0" y="35877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949504" y="1608046"/>
            <a:ext cx="488624" cy="452013"/>
          </a:xfrm>
          <a:custGeom>
            <a:avLst/>
            <a:gdLst/>
            <a:ahLst/>
            <a:cxnLst/>
            <a:rect l="l" t="t" r="r" b="b"/>
            <a:pathLst>
              <a:path w="612775" h="358775">
                <a:moveTo>
                  <a:pt x="0" y="358775"/>
                </a:moveTo>
                <a:lnTo>
                  <a:pt x="612775" y="358775"/>
                </a:lnTo>
                <a:lnTo>
                  <a:pt x="612775" y="0"/>
                </a:lnTo>
                <a:lnTo>
                  <a:pt x="0" y="0"/>
                </a:lnTo>
                <a:lnTo>
                  <a:pt x="0" y="35877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1508913" y="1416038"/>
          <a:ext cx="3408722" cy="114803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87611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486599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483561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486599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489636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486599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  <a:gridCol w="488117">
                  <a:extLst>
                    <a:ext uri="{9D8B030D-6E8A-4147-A177-3AD203B41FA5}">
                      <a16:colId xmlns="" xmlns:a16="http://schemas.microsoft.com/office/drawing/2014/main" val="20006"/>
                    </a:ext>
                  </a:extLst>
                </a:gridCol>
              </a:tblGrid>
              <a:tr h="192085">
                <a:tc gridSpan="7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28575">
                      <a:solidFill>
                        <a:srgbClr val="938953"/>
                      </a:solidFill>
                      <a:prstDash val="solid"/>
                    </a:lnB>
                    <a:solidFill>
                      <a:srgbClr val="B7DEE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45401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2300" dirty="0">
                          <a:latin typeface="Calibri"/>
                          <a:cs typeface="Calibri"/>
                        </a:rPr>
                        <a:t>1</a:t>
                      </a:r>
                      <a:endParaRPr sz="2300">
                        <a:latin typeface="Calibri"/>
                        <a:cs typeface="Calibri"/>
                      </a:endParaRPr>
                    </a:p>
                  </a:txBody>
                  <a:tcPr marL="0" marR="0" marT="35201" marB="0">
                    <a:lnL w="28575">
                      <a:solidFill>
                        <a:srgbClr val="938953"/>
                      </a:solidFill>
                      <a:prstDash val="solid"/>
                    </a:lnL>
                    <a:lnR w="28575">
                      <a:solidFill>
                        <a:srgbClr val="938953"/>
                      </a:solidFill>
                      <a:prstDash val="solid"/>
                    </a:lnR>
                    <a:lnT w="28575">
                      <a:solidFill>
                        <a:srgbClr val="938953"/>
                      </a:solidFill>
                      <a:prstDash val="solid"/>
                    </a:lnT>
                    <a:lnB w="28575">
                      <a:solidFill>
                        <a:srgbClr val="93895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2300" dirty="0">
                          <a:latin typeface="Calibri"/>
                          <a:cs typeface="Calibri"/>
                        </a:rPr>
                        <a:t>2</a:t>
                      </a:r>
                      <a:endParaRPr sz="2300">
                        <a:latin typeface="Calibri"/>
                        <a:cs typeface="Calibri"/>
                      </a:endParaRPr>
                    </a:p>
                  </a:txBody>
                  <a:tcPr marL="0" marR="0" marT="35201" marB="0">
                    <a:lnL w="28575">
                      <a:solidFill>
                        <a:srgbClr val="938953"/>
                      </a:solidFill>
                      <a:prstDash val="solid"/>
                    </a:lnL>
                    <a:lnR w="28575">
                      <a:solidFill>
                        <a:srgbClr val="938953"/>
                      </a:solidFill>
                      <a:prstDash val="solid"/>
                    </a:lnR>
                    <a:lnT w="28575">
                      <a:solidFill>
                        <a:srgbClr val="938953"/>
                      </a:solidFill>
                      <a:prstDash val="solid"/>
                    </a:lnT>
                    <a:lnB w="28575">
                      <a:solidFill>
                        <a:srgbClr val="93895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2300" dirty="0">
                          <a:latin typeface="Calibri"/>
                          <a:cs typeface="Calibri"/>
                        </a:rPr>
                        <a:t>3</a:t>
                      </a:r>
                      <a:endParaRPr sz="2300">
                        <a:latin typeface="Calibri"/>
                        <a:cs typeface="Calibri"/>
                      </a:endParaRPr>
                    </a:p>
                  </a:txBody>
                  <a:tcPr marL="0" marR="0" marT="35201" marB="0">
                    <a:lnL w="28575">
                      <a:solidFill>
                        <a:srgbClr val="938953"/>
                      </a:solidFill>
                      <a:prstDash val="solid"/>
                    </a:lnL>
                    <a:lnR w="38100">
                      <a:solidFill>
                        <a:srgbClr val="938953"/>
                      </a:solidFill>
                      <a:prstDash val="solid"/>
                    </a:lnR>
                    <a:lnT w="28575">
                      <a:solidFill>
                        <a:srgbClr val="938953"/>
                      </a:solidFill>
                      <a:prstDash val="solid"/>
                    </a:lnT>
                    <a:lnB w="28575">
                      <a:solidFill>
                        <a:srgbClr val="93895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70"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2300" dirty="0">
                          <a:latin typeface="Calibri"/>
                          <a:cs typeface="Calibri"/>
                        </a:rPr>
                        <a:t>4</a:t>
                      </a:r>
                    </a:p>
                  </a:txBody>
                  <a:tcPr marL="0" marR="0" marT="34401" marB="0">
                    <a:lnL w="38100">
                      <a:solidFill>
                        <a:srgbClr val="938953"/>
                      </a:solidFill>
                      <a:prstDash val="solid"/>
                    </a:lnL>
                    <a:lnR w="38100">
                      <a:solidFill>
                        <a:srgbClr val="938953"/>
                      </a:solidFill>
                      <a:prstDash val="solid"/>
                    </a:lnR>
                    <a:lnT w="28575">
                      <a:solidFill>
                        <a:srgbClr val="938953"/>
                      </a:solidFill>
                      <a:prstDash val="solid"/>
                    </a:lnT>
                    <a:lnB w="53975">
                      <a:solidFill>
                        <a:srgbClr val="93895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2300" dirty="0">
                          <a:latin typeface="Calibri"/>
                          <a:cs typeface="Calibri"/>
                        </a:rPr>
                        <a:t>5</a:t>
                      </a:r>
                      <a:endParaRPr sz="2300">
                        <a:latin typeface="Calibri"/>
                        <a:cs typeface="Calibri"/>
                      </a:endParaRPr>
                    </a:p>
                  </a:txBody>
                  <a:tcPr marL="0" marR="0" marT="35201" marB="0">
                    <a:lnL w="38100">
                      <a:solidFill>
                        <a:srgbClr val="938953"/>
                      </a:solidFill>
                      <a:prstDash val="solid"/>
                    </a:lnL>
                    <a:lnR w="28575">
                      <a:solidFill>
                        <a:srgbClr val="938953"/>
                      </a:solidFill>
                      <a:prstDash val="solid"/>
                    </a:lnR>
                    <a:lnT w="28575">
                      <a:solidFill>
                        <a:srgbClr val="938953"/>
                      </a:solidFill>
                      <a:prstDash val="solid"/>
                    </a:lnT>
                    <a:lnB w="28575">
                      <a:solidFill>
                        <a:srgbClr val="93895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2300" dirty="0">
                          <a:latin typeface="Calibri"/>
                          <a:cs typeface="Calibri"/>
                        </a:rPr>
                        <a:t>6</a:t>
                      </a:r>
                      <a:endParaRPr sz="2300">
                        <a:latin typeface="Calibri"/>
                        <a:cs typeface="Calibri"/>
                      </a:endParaRPr>
                    </a:p>
                  </a:txBody>
                  <a:tcPr marL="0" marR="0" marT="34401" marB="0">
                    <a:lnL w="28575">
                      <a:solidFill>
                        <a:srgbClr val="938953"/>
                      </a:solidFill>
                      <a:prstDash val="solid"/>
                    </a:lnL>
                    <a:lnR w="28575">
                      <a:solidFill>
                        <a:srgbClr val="938953"/>
                      </a:solidFill>
                      <a:prstDash val="solid"/>
                    </a:lnR>
                    <a:lnT w="28575">
                      <a:solidFill>
                        <a:srgbClr val="938953"/>
                      </a:solidFill>
                      <a:prstDash val="solid"/>
                    </a:lnT>
                    <a:lnB w="28575">
                      <a:solidFill>
                        <a:srgbClr val="93895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2300" dirty="0">
                          <a:latin typeface="Calibri"/>
                          <a:cs typeface="Calibri"/>
                        </a:rPr>
                        <a:t>7</a:t>
                      </a:r>
                      <a:endParaRPr sz="2300">
                        <a:latin typeface="Calibri"/>
                        <a:cs typeface="Calibri"/>
                      </a:endParaRPr>
                    </a:p>
                  </a:txBody>
                  <a:tcPr marL="0" marR="0" marT="35201" marB="0">
                    <a:lnL w="28575">
                      <a:solidFill>
                        <a:srgbClr val="938953"/>
                      </a:solidFill>
                      <a:prstDash val="solid"/>
                    </a:lnL>
                    <a:lnR w="28575">
                      <a:solidFill>
                        <a:srgbClr val="938953"/>
                      </a:solidFill>
                      <a:prstDash val="solid"/>
                    </a:lnR>
                    <a:lnT w="28575">
                      <a:solidFill>
                        <a:srgbClr val="938953"/>
                      </a:solidFill>
                      <a:prstDash val="solid"/>
                    </a:lnT>
                    <a:lnB w="28575">
                      <a:solidFill>
                        <a:srgbClr val="93895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501934"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28575">
                      <a:solidFill>
                        <a:srgbClr val="938953"/>
                      </a:solidFill>
                      <a:prstDash val="solid"/>
                    </a:lnR>
                    <a:lnT w="28575">
                      <a:solidFill>
                        <a:srgbClr val="938953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sz="2300" dirty="0">
                          <a:latin typeface="Calibri"/>
                          <a:cs typeface="Calibri"/>
                        </a:rPr>
                        <a:t>3.5</a:t>
                      </a:r>
                    </a:p>
                  </a:txBody>
                  <a:tcPr marL="0" marR="0" marT="72002" marB="0">
                    <a:lnL w="28575">
                      <a:solidFill>
                        <a:srgbClr val="938953"/>
                      </a:solidFill>
                      <a:prstDash val="solid"/>
                    </a:lnL>
                    <a:lnR w="28575">
                      <a:solidFill>
                        <a:srgbClr val="938953"/>
                      </a:solidFill>
                      <a:prstDash val="solid"/>
                    </a:lnR>
                    <a:lnT w="53975">
                      <a:solidFill>
                        <a:srgbClr val="938953"/>
                      </a:solidFill>
                      <a:prstDash val="solid"/>
                    </a:lnT>
                    <a:lnB w="28575">
                      <a:solidFill>
                        <a:srgbClr val="938953"/>
                      </a:solidFill>
                      <a:prstDash val="solid"/>
                    </a:lnB>
                    <a:solidFill>
                      <a:srgbClr val="FFD44F"/>
                    </a:solidFill>
                  </a:tcPr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938953"/>
                      </a:solidFill>
                      <a:prstDash val="solid"/>
                    </a:lnL>
                    <a:lnT w="28575">
                      <a:solidFill>
                        <a:srgbClr val="938953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object 9"/>
          <p:cNvSpPr/>
          <p:nvPr/>
        </p:nvSpPr>
        <p:spPr>
          <a:xfrm>
            <a:off x="2005134" y="3080165"/>
            <a:ext cx="488624" cy="454413"/>
          </a:xfrm>
          <a:custGeom>
            <a:avLst/>
            <a:gdLst/>
            <a:ahLst/>
            <a:cxnLst/>
            <a:rect l="l" t="t" r="r" b="b"/>
            <a:pathLst>
              <a:path w="612775" h="360680">
                <a:moveTo>
                  <a:pt x="0" y="360362"/>
                </a:moveTo>
                <a:lnTo>
                  <a:pt x="612775" y="360362"/>
                </a:lnTo>
                <a:lnTo>
                  <a:pt x="612775" y="0"/>
                </a:lnTo>
                <a:lnTo>
                  <a:pt x="0" y="0"/>
                </a:lnTo>
                <a:lnTo>
                  <a:pt x="0" y="36036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491226" y="3080165"/>
            <a:ext cx="488624" cy="454413"/>
          </a:xfrm>
          <a:custGeom>
            <a:avLst/>
            <a:gdLst/>
            <a:ahLst/>
            <a:cxnLst/>
            <a:rect l="l" t="t" r="r" b="b"/>
            <a:pathLst>
              <a:path w="612775" h="360680">
                <a:moveTo>
                  <a:pt x="0" y="360362"/>
                </a:moveTo>
                <a:lnTo>
                  <a:pt x="612775" y="360362"/>
                </a:lnTo>
                <a:lnTo>
                  <a:pt x="612775" y="0"/>
                </a:lnTo>
                <a:lnTo>
                  <a:pt x="0" y="0"/>
                </a:lnTo>
                <a:lnTo>
                  <a:pt x="0" y="36036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2977319" y="3080165"/>
            <a:ext cx="488624" cy="454413"/>
          </a:xfrm>
          <a:custGeom>
            <a:avLst/>
            <a:gdLst/>
            <a:ahLst/>
            <a:cxnLst/>
            <a:rect l="l" t="t" r="r" b="b"/>
            <a:pathLst>
              <a:path w="612775" h="360680">
                <a:moveTo>
                  <a:pt x="0" y="360362"/>
                </a:moveTo>
                <a:lnTo>
                  <a:pt x="612775" y="360362"/>
                </a:lnTo>
                <a:lnTo>
                  <a:pt x="612775" y="0"/>
                </a:lnTo>
                <a:lnTo>
                  <a:pt x="0" y="0"/>
                </a:lnTo>
                <a:lnTo>
                  <a:pt x="0" y="36036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463411" y="3080165"/>
            <a:ext cx="488624" cy="454413"/>
          </a:xfrm>
          <a:custGeom>
            <a:avLst/>
            <a:gdLst/>
            <a:ahLst/>
            <a:cxnLst/>
            <a:rect l="l" t="t" r="r" b="b"/>
            <a:pathLst>
              <a:path w="612775" h="360680">
                <a:moveTo>
                  <a:pt x="0" y="360362"/>
                </a:moveTo>
                <a:lnTo>
                  <a:pt x="612775" y="360362"/>
                </a:lnTo>
                <a:lnTo>
                  <a:pt x="612775" y="0"/>
                </a:lnTo>
                <a:lnTo>
                  <a:pt x="0" y="0"/>
                </a:lnTo>
                <a:lnTo>
                  <a:pt x="0" y="36036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3949504" y="3080165"/>
            <a:ext cx="488624" cy="454413"/>
          </a:xfrm>
          <a:custGeom>
            <a:avLst/>
            <a:gdLst/>
            <a:ahLst/>
            <a:cxnLst/>
            <a:rect l="l" t="t" r="r" b="b"/>
            <a:pathLst>
              <a:path w="612775" h="360680">
                <a:moveTo>
                  <a:pt x="0" y="360362"/>
                </a:moveTo>
                <a:lnTo>
                  <a:pt x="612775" y="360362"/>
                </a:lnTo>
                <a:lnTo>
                  <a:pt x="612775" y="0"/>
                </a:lnTo>
                <a:lnTo>
                  <a:pt x="0" y="0"/>
                </a:lnTo>
                <a:lnTo>
                  <a:pt x="0" y="36036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4" name="object 14"/>
          <p:cNvGraphicFramePr>
            <a:graphicFrameLocks noGrp="1"/>
          </p:cNvGraphicFramePr>
          <p:nvPr/>
        </p:nvGraphicFramePr>
        <p:xfrm>
          <a:off x="1508915" y="3064165"/>
          <a:ext cx="3408216" cy="9239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87611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47546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497231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486599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486599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486599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  <a:gridCol w="488117">
                  <a:extLst>
                    <a:ext uri="{9D8B030D-6E8A-4147-A177-3AD203B41FA5}">
                      <a16:colId xmlns="" xmlns:a16="http://schemas.microsoft.com/office/drawing/2014/main" val="20006"/>
                    </a:ext>
                  </a:extLst>
                </a:gridCol>
              </a:tblGrid>
              <a:tr h="45401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2300" dirty="0">
                          <a:latin typeface="Calibri"/>
                          <a:cs typeface="Calibri"/>
                        </a:rPr>
                        <a:t>1</a:t>
                      </a:r>
                      <a:endParaRPr sz="2300">
                        <a:latin typeface="Calibri"/>
                        <a:cs typeface="Calibri"/>
                      </a:endParaRPr>
                    </a:p>
                  </a:txBody>
                  <a:tcPr marL="0" marR="0" marT="36001" marB="0">
                    <a:lnL w="28575">
                      <a:solidFill>
                        <a:srgbClr val="938953"/>
                      </a:solidFill>
                      <a:prstDash val="solid"/>
                    </a:lnL>
                    <a:lnR w="28575">
                      <a:solidFill>
                        <a:srgbClr val="938953"/>
                      </a:solidFill>
                      <a:prstDash val="solid"/>
                    </a:lnR>
                    <a:lnT w="28575">
                      <a:solidFill>
                        <a:srgbClr val="938953"/>
                      </a:solidFill>
                      <a:prstDash val="solid"/>
                    </a:lnT>
                    <a:lnB w="28575">
                      <a:solidFill>
                        <a:srgbClr val="93895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2300" dirty="0">
                          <a:latin typeface="Calibri"/>
                          <a:cs typeface="Calibri"/>
                        </a:rPr>
                        <a:t>2</a:t>
                      </a:r>
                      <a:endParaRPr sz="2300">
                        <a:latin typeface="Calibri"/>
                        <a:cs typeface="Calibri"/>
                      </a:endParaRPr>
                    </a:p>
                  </a:txBody>
                  <a:tcPr marL="0" marR="0" marT="36001" marB="0">
                    <a:lnL w="28575">
                      <a:solidFill>
                        <a:srgbClr val="938953"/>
                      </a:solidFill>
                      <a:prstDash val="solid"/>
                    </a:lnL>
                    <a:lnR w="28575">
                      <a:solidFill>
                        <a:srgbClr val="938953"/>
                      </a:solidFill>
                      <a:prstDash val="solid"/>
                    </a:lnR>
                    <a:lnT w="28575">
                      <a:solidFill>
                        <a:srgbClr val="938953"/>
                      </a:solidFill>
                      <a:prstDash val="solid"/>
                    </a:lnT>
                    <a:lnB w="38100">
                      <a:solidFill>
                        <a:srgbClr val="93895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2300" dirty="0">
                          <a:latin typeface="Calibri"/>
                          <a:cs typeface="Calibri"/>
                        </a:rPr>
                        <a:t>3</a:t>
                      </a:r>
                      <a:endParaRPr sz="2300">
                        <a:latin typeface="Calibri"/>
                        <a:cs typeface="Calibri"/>
                      </a:endParaRPr>
                    </a:p>
                  </a:txBody>
                  <a:tcPr marL="0" marR="0" marT="36001" marB="0">
                    <a:lnL w="28575">
                      <a:solidFill>
                        <a:srgbClr val="938953"/>
                      </a:solidFill>
                      <a:prstDash val="solid"/>
                    </a:lnL>
                    <a:lnR w="28575">
                      <a:solidFill>
                        <a:srgbClr val="938953"/>
                      </a:solidFill>
                      <a:prstDash val="solid"/>
                    </a:lnR>
                    <a:lnT w="28575">
                      <a:solidFill>
                        <a:srgbClr val="938953"/>
                      </a:solidFill>
                      <a:prstDash val="solid"/>
                    </a:lnT>
                    <a:lnB w="28575">
                      <a:solidFill>
                        <a:srgbClr val="93895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2300" dirty="0">
                          <a:latin typeface="Calibri"/>
                          <a:cs typeface="Calibri"/>
                        </a:rPr>
                        <a:t>4</a:t>
                      </a:r>
                      <a:endParaRPr sz="2300">
                        <a:latin typeface="Calibri"/>
                        <a:cs typeface="Calibri"/>
                      </a:endParaRPr>
                    </a:p>
                  </a:txBody>
                  <a:tcPr marL="0" marR="0" marT="36001" marB="0">
                    <a:lnL w="28575">
                      <a:solidFill>
                        <a:srgbClr val="938953"/>
                      </a:solidFill>
                      <a:prstDash val="solid"/>
                    </a:lnL>
                    <a:lnR w="28575">
                      <a:solidFill>
                        <a:srgbClr val="938953"/>
                      </a:solidFill>
                      <a:prstDash val="solid"/>
                    </a:lnR>
                    <a:lnT w="28575">
                      <a:solidFill>
                        <a:srgbClr val="938953"/>
                      </a:solidFill>
                      <a:prstDash val="solid"/>
                    </a:lnT>
                    <a:lnB w="28575">
                      <a:solidFill>
                        <a:srgbClr val="93895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2300" dirty="0">
                          <a:latin typeface="Calibri"/>
                          <a:cs typeface="Calibri"/>
                        </a:rPr>
                        <a:t>5</a:t>
                      </a:r>
                      <a:endParaRPr sz="2300">
                        <a:latin typeface="Calibri"/>
                        <a:cs typeface="Calibri"/>
                      </a:endParaRPr>
                    </a:p>
                  </a:txBody>
                  <a:tcPr marL="0" marR="0" marT="36001" marB="0">
                    <a:lnL w="28575">
                      <a:solidFill>
                        <a:srgbClr val="938953"/>
                      </a:solidFill>
                      <a:prstDash val="solid"/>
                    </a:lnL>
                    <a:lnR w="28575">
                      <a:solidFill>
                        <a:srgbClr val="938953"/>
                      </a:solidFill>
                      <a:prstDash val="solid"/>
                    </a:lnR>
                    <a:lnT w="28575">
                      <a:solidFill>
                        <a:srgbClr val="938953"/>
                      </a:solidFill>
                      <a:prstDash val="solid"/>
                    </a:lnT>
                    <a:lnB w="28575">
                      <a:solidFill>
                        <a:srgbClr val="93895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2300" dirty="0">
                          <a:latin typeface="Calibri"/>
                          <a:cs typeface="Calibri"/>
                        </a:rPr>
                        <a:t>6</a:t>
                      </a:r>
                      <a:endParaRPr sz="2300">
                        <a:latin typeface="Calibri"/>
                        <a:cs typeface="Calibri"/>
                      </a:endParaRPr>
                    </a:p>
                  </a:txBody>
                  <a:tcPr marL="0" marR="0" marT="36001" marB="0">
                    <a:lnL w="28575">
                      <a:solidFill>
                        <a:srgbClr val="938953"/>
                      </a:solidFill>
                      <a:prstDash val="solid"/>
                    </a:lnL>
                    <a:lnR w="28575">
                      <a:solidFill>
                        <a:srgbClr val="938953"/>
                      </a:solidFill>
                      <a:prstDash val="solid"/>
                    </a:lnR>
                    <a:lnT w="28575">
                      <a:solidFill>
                        <a:srgbClr val="938953"/>
                      </a:solidFill>
                      <a:prstDash val="solid"/>
                    </a:lnT>
                    <a:lnB w="28575">
                      <a:solidFill>
                        <a:srgbClr val="93895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2300" dirty="0">
                          <a:latin typeface="Calibri"/>
                          <a:cs typeface="Calibri"/>
                        </a:rPr>
                        <a:t>7</a:t>
                      </a:r>
                      <a:endParaRPr sz="2300">
                        <a:latin typeface="Calibri"/>
                        <a:cs typeface="Calibri"/>
                      </a:endParaRPr>
                    </a:p>
                  </a:txBody>
                  <a:tcPr marL="0" marR="0" marT="36001" marB="0">
                    <a:lnL w="28575">
                      <a:solidFill>
                        <a:srgbClr val="938953"/>
                      </a:solidFill>
                      <a:prstDash val="solid"/>
                    </a:lnL>
                    <a:lnR w="28575">
                      <a:solidFill>
                        <a:srgbClr val="938953"/>
                      </a:solidFill>
                      <a:prstDash val="solid"/>
                    </a:lnR>
                    <a:lnT w="28575">
                      <a:solidFill>
                        <a:srgbClr val="938953"/>
                      </a:solidFill>
                      <a:prstDash val="solid"/>
                    </a:lnT>
                    <a:lnB w="28575">
                      <a:solidFill>
                        <a:srgbClr val="93895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46993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28575">
                      <a:solidFill>
                        <a:srgbClr val="938953"/>
                      </a:solidFill>
                      <a:prstDash val="solid"/>
                    </a:lnR>
                    <a:lnT w="28575">
                      <a:solidFill>
                        <a:srgbClr val="938953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8255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2300" dirty="0">
                          <a:latin typeface="Calibri"/>
                          <a:cs typeface="Calibri"/>
                        </a:rPr>
                        <a:t>3.5</a:t>
                      </a:r>
                      <a:endParaRPr sz="2300">
                        <a:latin typeface="Calibri"/>
                        <a:cs typeface="Calibri"/>
                      </a:endParaRPr>
                    </a:p>
                  </a:txBody>
                  <a:tcPr marL="0" marR="0" marT="40800" marB="0">
                    <a:lnL w="28575">
                      <a:solidFill>
                        <a:srgbClr val="938953"/>
                      </a:solidFill>
                      <a:prstDash val="solid"/>
                    </a:lnL>
                    <a:lnR w="28575">
                      <a:solidFill>
                        <a:srgbClr val="938953"/>
                      </a:solidFill>
                      <a:prstDash val="solid"/>
                    </a:lnR>
                    <a:lnT w="38100">
                      <a:solidFill>
                        <a:srgbClr val="938953"/>
                      </a:solidFill>
                      <a:prstDash val="solid"/>
                    </a:lnT>
                    <a:lnB w="28575">
                      <a:solidFill>
                        <a:srgbClr val="938953"/>
                      </a:solidFill>
                      <a:prstDash val="solid"/>
                    </a:lnB>
                    <a:solidFill>
                      <a:srgbClr val="FFD44F"/>
                    </a:solidFill>
                  </a:tcPr>
                </a:tc>
                <a:tc gridSpan="5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938953"/>
                      </a:solidFill>
                      <a:prstDash val="solid"/>
                    </a:lnL>
                    <a:lnT w="28575">
                      <a:solidFill>
                        <a:srgbClr val="938953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5" name="object 15"/>
          <p:cNvSpPr/>
          <p:nvPr/>
        </p:nvSpPr>
        <p:spPr>
          <a:xfrm>
            <a:off x="1519040" y="2856158"/>
            <a:ext cx="1458278" cy="146404"/>
          </a:xfrm>
          <a:custGeom>
            <a:avLst/>
            <a:gdLst/>
            <a:ahLst/>
            <a:cxnLst/>
            <a:rect l="l" t="t" r="r" b="b"/>
            <a:pathLst>
              <a:path w="1828800" h="116205">
                <a:moveTo>
                  <a:pt x="0" y="115887"/>
                </a:moveTo>
                <a:lnTo>
                  <a:pt x="1828800" y="115887"/>
                </a:lnTo>
                <a:lnTo>
                  <a:pt x="1828800" y="0"/>
                </a:lnTo>
                <a:lnTo>
                  <a:pt x="0" y="0"/>
                </a:lnTo>
                <a:lnTo>
                  <a:pt x="0" y="115887"/>
                </a:lnTo>
                <a:close/>
              </a:path>
            </a:pathLst>
          </a:custGeom>
          <a:solidFill>
            <a:srgbClr val="B7DE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2005134" y="4418121"/>
            <a:ext cx="488624" cy="454413"/>
          </a:xfrm>
          <a:custGeom>
            <a:avLst/>
            <a:gdLst/>
            <a:ahLst/>
            <a:cxnLst/>
            <a:rect l="l" t="t" r="r" b="b"/>
            <a:pathLst>
              <a:path w="612775" h="360679">
                <a:moveTo>
                  <a:pt x="0" y="360362"/>
                </a:moveTo>
                <a:lnTo>
                  <a:pt x="612775" y="360362"/>
                </a:lnTo>
                <a:lnTo>
                  <a:pt x="612775" y="0"/>
                </a:lnTo>
                <a:lnTo>
                  <a:pt x="0" y="0"/>
                </a:lnTo>
                <a:lnTo>
                  <a:pt x="0" y="36036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2491226" y="4418121"/>
            <a:ext cx="488624" cy="454413"/>
          </a:xfrm>
          <a:custGeom>
            <a:avLst/>
            <a:gdLst/>
            <a:ahLst/>
            <a:cxnLst/>
            <a:rect l="l" t="t" r="r" b="b"/>
            <a:pathLst>
              <a:path w="612775" h="360679">
                <a:moveTo>
                  <a:pt x="0" y="360362"/>
                </a:moveTo>
                <a:lnTo>
                  <a:pt x="612775" y="360362"/>
                </a:lnTo>
                <a:lnTo>
                  <a:pt x="612775" y="0"/>
                </a:lnTo>
                <a:lnTo>
                  <a:pt x="0" y="0"/>
                </a:lnTo>
                <a:lnTo>
                  <a:pt x="0" y="36036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2977319" y="4418121"/>
            <a:ext cx="488624" cy="454413"/>
          </a:xfrm>
          <a:custGeom>
            <a:avLst/>
            <a:gdLst/>
            <a:ahLst/>
            <a:cxnLst/>
            <a:rect l="l" t="t" r="r" b="b"/>
            <a:pathLst>
              <a:path w="612775" h="360679">
                <a:moveTo>
                  <a:pt x="0" y="360362"/>
                </a:moveTo>
                <a:lnTo>
                  <a:pt x="612775" y="360362"/>
                </a:lnTo>
                <a:lnTo>
                  <a:pt x="612775" y="0"/>
                </a:lnTo>
                <a:lnTo>
                  <a:pt x="0" y="0"/>
                </a:lnTo>
                <a:lnTo>
                  <a:pt x="0" y="36036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3463411" y="4418121"/>
            <a:ext cx="488624" cy="454413"/>
          </a:xfrm>
          <a:custGeom>
            <a:avLst/>
            <a:gdLst/>
            <a:ahLst/>
            <a:cxnLst/>
            <a:rect l="l" t="t" r="r" b="b"/>
            <a:pathLst>
              <a:path w="612775" h="360679">
                <a:moveTo>
                  <a:pt x="0" y="360362"/>
                </a:moveTo>
                <a:lnTo>
                  <a:pt x="612775" y="360362"/>
                </a:lnTo>
                <a:lnTo>
                  <a:pt x="612775" y="0"/>
                </a:lnTo>
                <a:lnTo>
                  <a:pt x="0" y="0"/>
                </a:lnTo>
                <a:lnTo>
                  <a:pt x="0" y="36036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3949504" y="4418121"/>
            <a:ext cx="488624" cy="454413"/>
          </a:xfrm>
          <a:custGeom>
            <a:avLst/>
            <a:gdLst/>
            <a:ahLst/>
            <a:cxnLst/>
            <a:rect l="l" t="t" r="r" b="b"/>
            <a:pathLst>
              <a:path w="612775" h="360679">
                <a:moveTo>
                  <a:pt x="0" y="360362"/>
                </a:moveTo>
                <a:lnTo>
                  <a:pt x="612775" y="360362"/>
                </a:lnTo>
                <a:lnTo>
                  <a:pt x="612775" y="0"/>
                </a:lnTo>
                <a:lnTo>
                  <a:pt x="0" y="0"/>
                </a:lnTo>
                <a:lnTo>
                  <a:pt x="0" y="36036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21" name="object 21"/>
          <p:cNvGraphicFramePr>
            <a:graphicFrameLocks noGrp="1"/>
          </p:cNvGraphicFramePr>
          <p:nvPr/>
        </p:nvGraphicFramePr>
        <p:xfrm>
          <a:off x="1508913" y="4402121"/>
          <a:ext cx="3410746" cy="9300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87611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486599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485585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488117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487105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487105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  <a:gridCol w="488624">
                  <a:extLst>
                    <a:ext uri="{9D8B030D-6E8A-4147-A177-3AD203B41FA5}">
                      <a16:colId xmlns="" xmlns:a16="http://schemas.microsoft.com/office/drawing/2014/main" val="20006"/>
                    </a:ext>
                  </a:extLst>
                </a:gridCol>
              </a:tblGrid>
              <a:tr h="45401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2300" dirty="0">
                          <a:latin typeface="Calibri"/>
                          <a:cs typeface="Calibri"/>
                        </a:rPr>
                        <a:t>1</a:t>
                      </a:r>
                      <a:endParaRPr sz="2300">
                        <a:latin typeface="Calibri"/>
                        <a:cs typeface="Calibri"/>
                      </a:endParaRPr>
                    </a:p>
                  </a:txBody>
                  <a:tcPr marL="0" marR="0" marT="36001" marB="0">
                    <a:lnL w="28575">
                      <a:solidFill>
                        <a:srgbClr val="938953"/>
                      </a:solidFill>
                      <a:prstDash val="solid"/>
                    </a:lnL>
                    <a:lnR w="28575">
                      <a:solidFill>
                        <a:srgbClr val="938953"/>
                      </a:solidFill>
                      <a:prstDash val="solid"/>
                    </a:lnR>
                    <a:lnT w="28575">
                      <a:solidFill>
                        <a:srgbClr val="938953"/>
                      </a:solidFill>
                      <a:prstDash val="solid"/>
                    </a:lnT>
                    <a:lnB w="28575">
                      <a:solidFill>
                        <a:srgbClr val="93895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2300" dirty="0">
                          <a:latin typeface="Calibri"/>
                          <a:cs typeface="Calibri"/>
                        </a:rPr>
                        <a:t>2</a:t>
                      </a:r>
                      <a:endParaRPr sz="2300">
                        <a:latin typeface="Calibri"/>
                        <a:cs typeface="Calibri"/>
                      </a:endParaRPr>
                    </a:p>
                  </a:txBody>
                  <a:tcPr marL="0" marR="0" marT="36001" marB="0">
                    <a:lnL w="28575">
                      <a:solidFill>
                        <a:srgbClr val="938953"/>
                      </a:solidFill>
                      <a:prstDash val="solid"/>
                    </a:lnL>
                    <a:lnR w="28575">
                      <a:solidFill>
                        <a:srgbClr val="938953"/>
                      </a:solidFill>
                      <a:prstDash val="solid"/>
                    </a:lnR>
                    <a:lnT w="28575">
                      <a:solidFill>
                        <a:srgbClr val="938953"/>
                      </a:solidFill>
                      <a:prstDash val="solid"/>
                    </a:lnT>
                    <a:lnB w="28575">
                      <a:solidFill>
                        <a:srgbClr val="93895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2300" dirty="0">
                          <a:latin typeface="Calibri"/>
                          <a:cs typeface="Calibri"/>
                        </a:rPr>
                        <a:t>3</a:t>
                      </a:r>
                      <a:endParaRPr sz="2300">
                        <a:latin typeface="Calibri"/>
                        <a:cs typeface="Calibri"/>
                      </a:endParaRPr>
                    </a:p>
                  </a:txBody>
                  <a:tcPr marL="0" marR="0" marT="36001" marB="0">
                    <a:lnL w="28575">
                      <a:solidFill>
                        <a:srgbClr val="938953"/>
                      </a:solidFill>
                      <a:prstDash val="solid"/>
                    </a:lnL>
                    <a:lnR w="28575">
                      <a:solidFill>
                        <a:srgbClr val="938953"/>
                      </a:solidFill>
                      <a:prstDash val="solid"/>
                    </a:lnR>
                    <a:lnT w="28575">
                      <a:solidFill>
                        <a:srgbClr val="938953"/>
                      </a:solidFill>
                      <a:prstDash val="solid"/>
                    </a:lnT>
                    <a:lnB w="28575">
                      <a:solidFill>
                        <a:srgbClr val="93895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2300" dirty="0">
                          <a:latin typeface="Calibri"/>
                          <a:cs typeface="Calibri"/>
                        </a:rPr>
                        <a:t>4</a:t>
                      </a:r>
                      <a:endParaRPr sz="2300">
                        <a:latin typeface="Calibri"/>
                        <a:cs typeface="Calibri"/>
                      </a:endParaRPr>
                    </a:p>
                  </a:txBody>
                  <a:tcPr marL="0" marR="0" marT="36001" marB="0">
                    <a:lnL w="28575">
                      <a:solidFill>
                        <a:srgbClr val="938953"/>
                      </a:solidFill>
                      <a:prstDash val="solid"/>
                    </a:lnL>
                    <a:lnR w="28575">
                      <a:solidFill>
                        <a:srgbClr val="938953"/>
                      </a:solidFill>
                      <a:prstDash val="solid"/>
                    </a:lnR>
                    <a:lnT w="28575">
                      <a:solidFill>
                        <a:srgbClr val="938953"/>
                      </a:solidFill>
                      <a:prstDash val="solid"/>
                    </a:lnT>
                    <a:lnB w="28575">
                      <a:solidFill>
                        <a:srgbClr val="93895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2300" dirty="0">
                          <a:latin typeface="Calibri"/>
                          <a:cs typeface="Calibri"/>
                        </a:rPr>
                        <a:t>5</a:t>
                      </a:r>
                      <a:endParaRPr sz="2300">
                        <a:latin typeface="Calibri"/>
                        <a:cs typeface="Calibri"/>
                      </a:endParaRPr>
                    </a:p>
                  </a:txBody>
                  <a:tcPr marL="0" marR="0" marT="36001" marB="0">
                    <a:lnL w="28575">
                      <a:solidFill>
                        <a:srgbClr val="938953"/>
                      </a:solidFill>
                      <a:prstDash val="solid"/>
                    </a:lnL>
                    <a:lnR w="28575">
                      <a:solidFill>
                        <a:srgbClr val="938953"/>
                      </a:solidFill>
                      <a:prstDash val="solid"/>
                    </a:lnR>
                    <a:lnT w="28575">
                      <a:solidFill>
                        <a:srgbClr val="938953"/>
                      </a:solidFill>
                      <a:prstDash val="solid"/>
                    </a:lnT>
                    <a:lnB w="28575">
                      <a:solidFill>
                        <a:srgbClr val="93895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2300" dirty="0">
                          <a:latin typeface="Calibri"/>
                          <a:cs typeface="Calibri"/>
                        </a:rPr>
                        <a:t>6</a:t>
                      </a:r>
                      <a:endParaRPr sz="2300">
                        <a:latin typeface="Calibri"/>
                        <a:cs typeface="Calibri"/>
                      </a:endParaRPr>
                    </a:p>
                  </a:txBody>
                  <a:tcPr marL="0" marR="0" marT="36001" marB="0">
                    <a:lnL w="28575">
                      <a:solidFill>
                        <a:srgbClr val="938953"/>
                      </a:solidFill>
                      <a:prstDash val="solid"/>
                    </a:lnL>
                    <a:lnR w="28575">
                      <a:solidFill>
                        <a:srgbClr val="938953"/>
                      </a:solidFill>
                      <a:prstDash val="solid"/>
                    </a:lnR>
                    <a:lnT w="28575">
                      <a:solidFill>
                        <a:srgbClr val="938953"/>
                      </a:solidFill>
                      <a:prstDash val="solid"/>
                    </a:lnT>
                    <a:lnB w="28575">
                      <a:solidFill>
                        <a:srgbClr val="93895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2300" dirty="0">
                          <a:latin typeface="Calibri"/>
                          <a:cs typeface="Calibri"/>
                        </a:rPr>
                        <a:t>7</a:t>
                      </a:r>
                      <a:endParaRPr sz="2300">
                        <a:latin typeface="Calibri"/>
                        <a:cs typeface="Calibri"/>
                      </a:endParaRPr>
                    </a:p>
                  </a:txBody>
                  <a:tcPr marL="0" marR="0" marT="36001" marB="0">
                    <a:lnL w="28575">
                      <a:solidFill>
                        <a:srgbClr val="938953"/>
                      </a:solidFill>
                      <a:prstDash val="solid"/>
                    </a:lnL>
                    <a:lnR w="28575">
                      <a:solidFill>
                        <a:srgbClr val="938953"/>
                      </a:solidFill>
                      <a:prstDash val="solid"/>
                    </a:lnR>
                    <a:lnT w="28575">
                      <a:solidFill>
                        <a:srgbClr val="938953"/>
                      </a:solidFill>
                      <a:prstDash val="solid"/>
                    </a:lnT>
                    <a:lnB w="28575">
                      <a:solidFill>
                        <a:srgbClr val="93895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476013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28575">
                      <a:solidFill>
                        <a:srgbClr val="938953"/>
                      </a:solidFill>
                      <a:prstDash val="solid"/>
                    </a:lnR>
                    <a:lnT w="28575">
                      <a:solidFill>
                        <a:srgbClr val="938953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300" dirty="0">
                          <a:latin typeface="Calibri"/>
                          <a:cs typeface="Calibri"/>
                        </a:rPr>
                        <a:t>3.5</a:t>
                      </a:r>
                      <a:endParaRPr sz="2300">
                        <a:latin typeface="Calibri"/>
                        <a:cs typeface="Calibri"/>
                      </a:endParaRPr>
                    </a:p>
                  </a:txBody>
                  <a:tcPr marL="0" marR="0" marT="47201" marB="0">
                    <a:lnL w="28575">
                      <a:solidFill>
                        <a:srgbClr val="938953"/>
                      </a:solidFill>
                      <a:prstDash val="solid"/>
                    </a:lnL>
                    <a:lnR w="28575">
                      <a:solidFill>
                        <a:srgbClr val="938953"/>
                      </a:solidFill>
                      <a:prstDash val="solid"/>
                    </a:lnR>
                    <a:lnT w="28575">
                      <a:solidFill>
                        <a:srgbClr val="938953"/>
                      </a:solidFill>
                      <a:prstDash val="solid"/>
                    </a:lnT>
                    <a:lnB w="28575">
                      <a:solidFill>
                        <a:srgbClr val="938953"/>
                      </a:solidFill>
                      <a:prstDash val="solid"/>
                    </a:lnB>
                    <a:solidFill>
                      <a:srgbClr val="FFD44F"/>
                    </a:solidFill>
                  </a:tcPr>
                </a:tc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938953"/>
                      </a:solidFill>
                      <a:prstDash val="solid"/>
                    </a:lnL>
                    <a:lnT w="28575">
                      <a:solidFill>
                        <a:srgbClr val="938953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2" name="object 22"/>
          <p:cNvSpPr/>
          <p:nvPr/>
        </p:nvSpPr>
        <p:spPr>
          <a:xfrm>
            <a:off x="2491224" y="4200192"/>
            <a:ext cx="486093" cy="146404"/>
          </a:xfrm>
          <a:custGeom>
            <a:avLst/>
            <a:gdLst/>
            <a:ahLst/>
            <a:cxnLst/>
            <a:rect l="l" t="t" r="r" b="b"/>
            <a:pathLst>
              <a:path w="609600" h="116204">
                <a:moveTo>
                  <a:pt x="0" y="115888"/>
                </a:moveTo>
                <a:lnTo>
                  <a:pt x="609600" y="115888"/>
                </a:lnTo>
                <a:lnTo>
                  <a:pt x="609600" y="0"/>
                </a:lnTo>
                <a:lnTo>
                  <a:pt x="0" y="0"/>
                </a:lnTo>
                <a:lnTo>
                  <a:pt x="0" y="115888"/>
                </a:lnTo>
                <a:close/>
              </a:path>
            </a:pathLst>
          </a:custGeom>
          <a:solidFill>
            <a:srgbClr val="B7DE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5723436" y="4486599"/>
            <a:ext cx="2366205" cy="345189"/>
          </a:xfrm>
          <a:prstGeom prst="rect">
            <a:avLst/>
          </a:prstGeom>
        </p:spPr>
        <p:txBody>
          <a:bodyPr vert="horz" wrap="square" lIns="0" tIns="11651" rIns="0" bIns="0" rtlCol="0">
            <a:spAutoFit/>
          </a:bodyPr>
          <a:lstStyle/>
          <a:p>
            <a:pPr marL="81555">
              <a:lnSpc>
                <a:spcPts val="2619"/>
              </a:lnSpc>
            </a:pPr>
            <a:r>
              <a:rPr lang="zh-CN" altLang="en-US" sz="2400" b="1" dirty="0">
                <a:latin typeface="宋体"/>
                <a:cs typeface="宋体"/>
              </a:rPr>
              <a:t>第</a:t>
            </a:r>
            <a:r>
              <a:rPr lang="en-US" altLang="zh-CN" sz="2400" b="1" spc="-10" dirty="0">
                <a:latin typeface="Arial"/>
                <a:cs typeface="Arial"/>
              </a:rPr>
              <a:t>3</a:t>
            </a:r>
            <a:r>
              <a:rPr lang="zh-CN" altLang="en-US" sz="2400" b="1" spc="-10" dirty="0" smtClean="0">
                <a:latin typeface="宋体"/>
                <a:cs typeface="宋体"/>
              </a:rPr>
              <a:t>次 </a:t>
            </a:r>
            <a:r>
              <a:rPr lang="en-US" altLang="zh-CN" sz="2400" b="1" dirty="0" smtClean="0">
                <a:latin typeface="Times New Roman"/>
                <a:cs typeface="Times New Roman"/>
              </a:rPr>
              <a:t>3.5 </a:t>
            </a:r>
            <a:r>
              <a:rPr lang="en-US" altLang="zh-CN" sz="2400" b="1" dirty="0">
                <a:latin typeface="Times New Roman"/>
                <a:cs typeface="Times New Roman"/>
              </a:rPr>
              <a:t>&gt;</a:t>
            </a:r>
            <a:r>
              <a:rPr lang="zh-CN" altLang="en-US" sz="2400" b="1" spc="-102" dirty="0">
                <a:latin typeface="Times New Roman"/>
                <a:cs typeface="Times New Roman"/>
              </a:rPr>
              <a:t> </a:t>
            </a:r>
            <a:r>
              <a:rPr lang="en-US" altLang="zh-CN" sz="2400" b="1" dirty="0">
                <a:latin typeface="Times New Roman"/>
                <a:cs typeface="Times New Roman"/>
              </a:rPr>
              <a:t>3</a:t>
            </a:r>
            <a:endParaRPr lang="zh-CN" altLang="en-US" sz="2400" dirty="0">
              <a:latin typeface="Times New Roman"/>
              <a:cs typeface="Times New Roman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5620141" y="1612253"/>
            <a:ext cx="2142953" cy="418132"/>
          </a:xfrm>
          <a:prstGeom prst="rect">
            <a:avLst/>
          </a:prstGeom>
        </p:spPr>
        <p:txBody>
          <a:bodyPr wrap="square" lIns="83887" tIns="41944" rIns="83887" bIns="41944">
            <a:spAutoFit/>
          </a:bodyPr>
          <a:lstStyle/>
          <a:p>
            <a:pPr marL="11651">
              <a:lnSpc>
                <a:spcPts val="2619"/>
              </a:lnSpc>
              <a:spcBef>
                <a:spcPts val="92"/>
              </a:spcBef>
            </a:pPr>
            <a:r>
              <a:rPr lang="zh-CN" altLang="en-US" sz="2400" b="1" dirty="0">
                <a:latin typeface="宋体"/>
                <a:cs typeface="宋体"/>
              </a:rPr>
              <a:t>第</a:t>
            </a:r>
            <a:r>
              <a:rPr lang="en-US" altLang="zh-CN" sz="2400" b="1" spc="-10" dirty="0">
                <a:latin typeface="Arial"/>
                <a:cs typeface="Arial"/>
              </a:rPr>
              <a:t>1</a:t>
            </a:r>
            <a:r>
              <a:rPr lang="zh-CN" altLang="en-US" sz="2400" b="1" spc="-10" dirty="0" smtClean="0">
                <a:latin typeface="宋体"/>
                <a:cs typeface="宋体"/>
              </a:rPr>
              <a:t>次</a:t>
            </a:r>
            <a:r>
              <a:rPr lang="zh-CN" altLang="en-US" sz="2400" dirty="0">
                <a:latin typeface="宋体"/>
                <a:cs typeface="宋体"/>
              </a:rPr>
              <a:t> </a:t>
            </a:r>
            <a:r>
              <a:rPr lang="en-US" altLang="zh-CN" sz="2400" b="1" dirty="0" smtClean="0">
                <a:latin typeface="Times New Roman"/>
                <a:cs typeface="Times New Roman"/>
              </a:rPr>
              <a:t>3.5 </a:t>
            </a:r>
            <a:r>
              <a:rPr lang="en-US" altLang="zh-CN" sz="2400" b="1" dirty="0">
                <a:latin typeface="Times New Roman"/>
                <a:cs typeface="Times New Roman"/>
              </a:rPr>
              <a:t>&lt;</a:t>
            </a:r>
            <a:r>
              <a:rPr lang="zh-CN" altLang="en-US" sz="2400" b="1" spc="-106" dirty="0">
                <a:latin typeface="Times New Roman"/>
                <a:cs typeface="Times New Roman"/>
              </a:rPr>
              <a:t> </a:t>
            </a:r>
            <a:r>
              <a:rPr lang="en-US" altLang="zh-CN" sz="2400" b="1" dirty="0">
                <a:latin typeface="Times New Roman"/>
                <a:cs typeface="Times New Roman"/>
              </a:rPr>
              <a:t>4</a:t>
            </a:r>
            <a:endParaRPr lang="zh-CN" altLang="en-US" sz="2400" dirty="0">
              <a:latin typeface="Times New Roman"/>
              <a:cs typeface="Times New Roman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5579632" y="3074932"/>
            <a:ext cx="2118148" cy="418132"/>
          </a:xfrm>
          <a:prstGeom prst="rect">
            <a:avLst/>
          </a:prstGeom>
        </p:spPr>
        <p:txBody>
          <a:bodyPr wrap="square" lIns="83887" tIns="41944" rIns="83887" bIns="41944">
            <a:spAutoFit/>
          </a:bodyPr>
          <a:lstStyle/>
          <a:p>
            <a:pPr marL="81555">
              <a:lnSpc>
                <a:spcPts val="2619"/>
              </a:lnSpc>
            </a:pPr>
            <a:r>
              <a:rPr lang="zh-CN" altLang="en-US" sz="2400" b="1" dirty="0">
                <a:latin typeface="宋体"/>
                <a:cs typeface="宋体"/>
              </a:rPr>
              <a:t>第</a:t>
            </a:r>
            <a:r>
              <a:rPr lang="en-US" altLang="zh-CN" sz="2400" b="1" spc="-10" dirty="0">
                <a:latin typeface="Arial"/>
                <a:cs typeface="Arial"/>
              </a:rPr>
              <a:t>2</a:t>
            </a:r>
            <a:r>
              <a:rPr lang="zh-CN" altLang="en-US" sz="2400" b="1" spc="-10" dirty="0" smtClean="0">
                <a:latin typeface="宋体"/>
                <a:cs typeface="宋体"/>
              </a:rPr>
              <a:t>次</a:t>
            </a:r>
            <a:r>
              <a:rPr lang="zh-CN" altLang="en-US" sz="2400" dirty="0">
                <a:latin typeface="宋体"/>
                <a:cs typeface="宋体"/>
              </a:rPr>
              <a:t> </a:t>
            </a:r>
            <a:r>
              <a:rPr lang="en-US" altLang="zh-CN" sz="2400" b="1" dirty="0" smtClean="0">
                <a:latin typeface="Times New Roman"/>
                <a:cs typeface="Times New Roman"/>
              </a:rPr>
              <a:t>3.5 </a:t>
            </a:r>
            <a:r>
              <a:rPr lang="en-US" altLang="zh-CN" sz="2400" b="1" dirty="0">
                <a:latin typeface="Times New Roman"/>
                <a:cs typeface="Times New Roman"/>
              </a:rPr>
              <a:t>&gt;</a:t>
            </a:r>
            <a:r>
              <a:rPr lang="zh-CN" altLang="en-US" sz="2400" b="1" spc="-102" dirty="0">
                <a:latin typeface="Times New Roman"/>
                <a:cs typeface="Times New Roman"/>
              </a:rPr>
              <a:t> </a:t>
            </a:r>
            <a:r>
              <a:rPr lang="en-US" altLang="zh-CN" sz="2400" b="1" dirty="0">
                <a:latin typeface="Times New Roman"/>
                <a:cs typeface="Times New Roman"/>
              </a:rPr>
              <a:t>2</a:t>
            </a:r>
            <a:endParaRPr lang="zh-CN" altLang="en-US" sz="24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5211074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  <p:bldP spid="13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2" grpId="0" animBg="1"/>
      <p:bldP spid="23" grpId="0"/>
      <p:bldP spid="2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410539" y="296780"/>
            <a:ext cx="8901411" cy="620574"/>
          </a:xfrm>
          <a:prstGeom prst="rect">
            <a:avLst/>
          </a:prstGeom>
        </p:spPr>
        <p:txBody>
          <a:bodyPr vert="horz" wrap="square" lIns="0" tIns="11068" rIns="0" bIns="0" rtlCol="0" anchor="ctr">
            <a:spAutoFit/>
          </a:bodyPr>
          <a:lstStyle/>
          <a:p>
            <a:pPr marL="11651" algn="ctr">
              <a:spcBef>
                <a:spcPts val="87"/>
              </a:spcBef>
            </a:pPr>
            <a:r>
              <a:rPr sz="440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2</a:t>
            </a:r>
            <a:r>
              <a:rPr sz="4400" b="1" i="1" spc="-5" dirty="0">
                <a:solidFill>
                  <a:srgbClr val="C00000"/>
                </a:solidFill>
                <a:latin typeface="Times New Roman"/>
                <a:cs typeface="Times New Roman"/>
              </a:rPr>
              <a:t>n</a:t>
            </a:r>
            <a:r>
              <a:rPr sz="440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+1</a:t>
            </a:r>
            <a:r>
              <a:rPr sz="4400" b="1" spc="-10" dirty="0">
                <a:solidFill>
                  <a:srgbClr val="C00000"/>
                </a:solidFill>
              </a:rPr>
              <a:t>个输入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10540" y="1294600"/>
            <a:ext cx="6596728" cy="443241"/>
          </a:xfrm>
          <a:prstGeom prst="rect">
            <a:avLst/>
          </a:prstGeom>
        </p:spPr>
        <p:txBody>
          <a:bodyPr vert="horz" wrap="square" lIns="0" tIns="12234" rIns="0" bIns="0" rtlCol="0">
            <a:spAutoFit/>
          </a:bodyPr>
          <a:lstStyle/>
          <a:p>
            <a:pPr marL="23301">
              <a:spcBef>
                <a:spcPts val="96"/>
              </a:spcBef>
            </a:pPr>
            <a:r>
              <a:rPr sz="2800" b="1" dirty="0">
                <a:latin typeface="宋体"/>
                <a:cs typeface="宋体"/>
              </a:rPr>
              <a:t>假</a:t>
            </a:r>
            <a:r>
              <a:rPr sz="2800" b="1" spc="-5" dirty="0">
                <a:latin typeface="宋体"/>
                <a:cs typeface="宋体"/>
              </a:rPr>
              <a:t>设</a:t>
            </a:r>
            <a:r>
              <a:rPr sz="2800" b="1" spc="-689" dirty="0">
                <a:latin typeface="宋体"/>
                <a:cs typeface="宋体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n</a:t>
            </a:r>
            <a:r>
              <a:rPr sz="2800" b="1" i="1" spc="-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=</a:t>
            </a:r>
            <a:r>
              <a:rPr sz="2800" b="1" spc="-10" dirty="0">
                <a:latin typeface="Times New Roman"/>
                <a:cs typeface="Times New Roman"/>
              </a:rPr>
              <a:t> </a:t>
            </a:r>
            <a:r>
              <a:rPr sz="2800" b="1" spc="5" dirty="0">
                <a:latin typeface="Times New Roman"/>
                <a:cs typeface="Times New Roman"/>
              </a:rPr>
              <a:t>2</a:t>
            </a:r>
            <a:r>
              <a:rPr sz="2800" b="1" i="1" spc="6" baseline="26143" dirty="0">
                <a:latin typeface="Times New Roman"/>
                <a:cs typeface="Times New Roman"/>
              </a:rPr>
              <a:t>k</a:t>
            </a:r>
            <a:r>
              <a:rPr sz="2800" b="1" spc="5" dirty="0">
                <a:latin typeface="Symbol"/>
                <a:cs typeface="Symbol"/>
              </a:rPr>
              <a:t></a:t>
            </a:r>
            <a:r>
              <a:rPr sz="2800" b="1" spc="-1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1</a:t>
            </a:r>
            <a:r>
              <a:rPr sz="2800" b="1" dirty="0">
                <a:latin typeface="宋体"/>
                <a:cs typeface="宋体"/>
              </a:rPr>
              <a:t>，输入</a:t>
            </a:r>
            <a:r>
              <a:rPr sz="2800" b="1" spc="-5" dirty="0">
                <a:latin typeface="宋体"/>
                <a:cs typeface="宋体"/>
              </a:rPr>
              <a:t>有</a:t>
            </a:r>
            <a:r>
              <a:rPr sz="2800" b="1" spc="-683" dirty="0">
                <a:latin typeface="宋体"/>
                <a:cs typeface="宋体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2</a:t>
            </a:r>
            <a:r>
              <a:rPr sz="2800" b="1" i="1" dirty="0">
                <a:latin typeface="Times New Roman"/>
                <a:cs typeface="Times New Roman"/>
              </a:rPr>
              <a:t>n</a:t>
            </a:r>
            <a:r>
              <a:rPr sz="2800" b="1" i="1" spc="-18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+</a:t>
            </a:r>
            <a:r>
              <a:rPr sz="2800" b="1" spc="-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1</a:t>
            </a:r>
            <a:r>
              <a:rPr sz="2800" b="1" spc="-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宋体"/>
                <a:cs typeface="宋体"/>
              </a:rPr>
              <a:t>种：</a:t>
            </a:r>
            <a:endParaRPr sz="2800" dirty="0">
              <a:latin typeface="宋体"/>
              <a:cs typeface="宋体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190085" y="1813325"/>
            <a:ext cx="2308940" cy="4032109"/>
          </a:xfrm>
          <a:custGeom>
            <a:avLst/>
            <a:gdLst/>
            <a:ahLst/>
            <a:cxnLst/>
            <a:rect l="l" t="t" r="r" b="b"/>
            <a:pathLst>
              <a:path w="2895600" h="3200400">
                <a:moveTo>
                  <a:pt x="0" y="482600"/>
                </a:moveTo>
                <a:lnTo>
                  <a:pt x="2208" y="436116"/>
                </a:lnTo>
                <a:lnTo>
                  <a:pt x="8700" y="390883"/>
                </a:lnTo>
                <a:lnTo>
                  <a:pt x="19273" y="347104"/>
                </a:lnTo>
                <a:lnTo>
                  <a:pt x="33724" y="304981"/>
                </a:lnTo>
                <a:lnTo>
                  <a:pt x="51852" y="264716"/>
                </a:lnTo>
                <a:lnTo>
                  <a:pt x="73454" y="226510"/>
                </a:lnTo>
                <a:lnTo>
                  <a:pt x="98329" y="190567"/>
                </a:lnTo>
                <a:lnTo>
                  <a:pt x="126274" y="157087"/>
                </a:lnTo>
                <a:lnTo>
                  <a:pt x="157087" y="126274"/>
                </a:lnTo>
                <a:lnTo>
                  <a:pt x="190567" y="98329"/>
                </a:lnTo>
                <a:lnTo>
                  <a:pt x="226510" y="73454"/>
                </a:lnTo>
                <a:lnTo>
                  <a:pt x="264716" y="51852"/>
                </a:lnTo>
                <a:lnTo>
                  <a:pt x="304981" y="33724"/>
                </a:lnTo>
                <a:lnTo>
                  <a:pt x="347104" y="19273"/>
                </a:lnTo>
                <a:lnTo>
                  <a:pt x="390883" y="8700"/>
                </a:lnTo>
                <a:lnTo>
                  <a:pt x="436116" y="2208"/>
                </a:lnTo>
                <a:lnTo>
                  <a:pt x="482600" y="0"/>
                </a:lnTo>
                <a:lnTo>
                  <a:pt x="2413000" y="0"/>
                </a:lnTo>
                <a:lnTo>
                  <a:pt x="2459483" y="2208"/>
                </a:lnTo>
                <a:lnTo>
                  <a:pt x="2504716" y="8700"/>
                </a:lnTo>
                <a:lnTo>
                  <a:pt x="2548495" y="19273"/>
                </a:lnTo>
                <a:lnTo>
                  <a:pt x="2590618" y="33724"/>
                </a:lnTo>
                <a:lnTo>
                  <a:pt x="2630883" y="51852"/>
                </a:lnTo>
                <a:lnTo>
                  <a:pt x="2669089" y="73454"/>
                </a:lnTo>
                <a:lnTo>
                  <a:pt x="2705032" y="98329"/>
                </a:lnTo>
                <a:lnTo>
                  <a:pt x="2738512" y="126274"/>
                </a:lnTo>
                <a:lnTo>
                  <a:pt x="2769325" y="157087"/>
                </a:lnTo>
                <a:lnTo>
                  <a:pt x="2797270" y="190567"/>
                </a:lnTo>
                <a:lnTo>
                  <a:pt x="2822145" y="226510"/>
                </a:lnTo>
                <a:lnTo>
                  <a:pt x="2843747" y="264716"/>
                </a:lnTo>
                <a:lnTo>
                  <a:pt x="2861875" y="304981"/>
                </a:lnTo>
                <a:lnTo>
                  <a:pt x="2876326" y="347104"/>
                </a:lnTo>
                <a:lnTo>
                  <a:pt x="2886899" y="390883"/>
                </a:lnTo>
                <a:lnTo>
                  <a:pt x="2893391" y="436116"/>
                </a:lnTo>
                <a:lnTo>
                  <a:pt x="2895600" y="482600"/>
                </a:lnTo>
                <a:lnTo>
                  <a:pt x="2895600" y="2717787"/>
                </a:lnTo>
                <a:lnTo>
                  <a:pt x="2893391" y="2764265"/>
                </a:lnTo>
                <a:lnTo>
                  <a:pt x="2886899" y="2809493"/>
                </a:lnTo>
                <a:lnTo>
                  <a:pt x="2876326" y="2853269"/>
                </a:lnTo>
                <a:lnTo>
                  <a:pt x="2861875" y="2895391"/>
                </a:lnTo>
                <a:lnTo>
                  <a:pt x="2843747" y="2935656"/>
                </a:lnTo>
                <a:lnTo>
                  <a:pt x="2822145" y="2973863"/>
                </a:lnTo>
                <a:lnTo>
                  <a:pt x="2797270" y="3009808"/>
                </a:lnTo>
                <a:lnTo>
                  <a:pt x="2769325" y="3043290"/>
                </a:lnTo>
                <a:lnTo>
                  <a:pt x="2738512" y="3074106"/>
                </a:lnTo>
                <a:lnTo>
                  <a:pt x="2705032" y="3102054"/>
                </a:lnTo>
                <a:lnTo>
                  <a:pt x="2669089" y="3126932"/>
                </a:lnTo>
                <a:lnTo>
                  <a:pt x="2630883" y="3148538"/>
                </a:lnTo>
                <a:lnTo>
                  <a:pt x="2590618" y="3166669"/>
                </a:lnTo>
                <a:lnTo>
                  <a:pt x="2548495" y="3181122"/>
                </a:lnTo>
                <a:lnTo>
                  <a:pt x="2504716" y="3191697"/>
                </a:lnTo>
                <a:lnTo>
                  <a:pt x="2459483" y="3198190"/>
                </a:lnTo>
                <a:lnTo>
                  <a:pt x="2413000" y="3200400"/>
                </a:lnTo>
                <a:lnTo>
                  <a:pt x="482600" y="3200400"/>
                </a:lnTo>
                <a:lnTo>
                  <a:pt x="436116" y="3198190"/>
                </a:lnTo>
                <a:lnTo>
                  <a:pt x="390883" y="3191697"/>
                </a:lnTo>
                <a:lnTo>
                  <a:pt x="347104" y="3181122"/>
                </a:lnTo>
                <a:lnTo>
                  <a:pt x="304981" y="3166669"/>
                </a:lnTo>
                <a:lnTo>
                  <a:pt x="264716" y="3148538"/>
                </a:lnTo>
                <a:lnTo>
                  <a:pt x="226510" y="3126932"/>
                </a:lnTo>
                <a:lnTo>
                  <a:pt x="190567" y="3102054"/>
                </a:lnTo>
                <a:lnTo>
                  <a:pt x="157087" y="3074106"/>
                </a:lnTo>
                <a:lnTo>
                  <a:pt x="126274" y="3043290"/>
                </a:lnTo>
                <a:lnTo>
                  <a:pt x="98329" y="3009808"/>
                </a:lnTo>
                <a:lnTo>
                  <a:pt x="73454" y="2973863"/>
                </a:lnTo>
                <a:lnTo>
                  <a:pt x="51852" y="2935656"/>
                </a:lnTo>
                <a:lnTo>
                  <a:pt x="33724" y="2895391"/>
                </a:lnTo>
                <a:lnTo>
                  <a:pt x="19273" y="2853269"/>
                </a:lnTo>
                <a:lnTo>
                  <a:pt x="8700" y="2809493"/>
                </a:lnTo>
                <a:lnTo>
                  <a:pt x="2208" y="2764265"/>
                </a:lnTo>
                <a:lnTo>
                  <a:pt x="0" y="2717787"/>
                </a:lnTo>
                <a:lnTo>
                  <a:pt x="0" y="482600"/>
                </a:lnTo>
                <a:close/>
              </a:path>
            </a:pathLst>
          </a:custGeom>
          <a:ln w="2540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4806233" y="1868224"/>
            <a:ext cx="3068860" cy="3025410"/>
          </a:xfrm>
          <a:prstGeom prst="rect">
            <a:avLst/>
          </a:prstGeom>
        </p:spPr>
        <p:txBody>
          <a:bodyPr vert="horz" wrap="square" lIns="0" tIns="11651" rIns="0" bIns="0" rtlCol="0">
            <a:spAutoFit/>
          </a:bodyPr>
          <a:lstStyle/>
          <a:p>
            <a:pPr marL="79806" marR="199809" indent="419425" algn="ctr">
              <a:lnSpc>
                <a:spcPct val="150000"/>
              </a:lnSpc>
              <a:spcBef>
                <a:spcPts val="92"/>
              </a:spcBef>
            </a:pPr>
            <a:r>
              <a:rPr sz="2400" b="1" i="1" dirty="0">
                <a:latin typeface="Times New Roman"/>
                <a:cs typeface="Times New Roman"/>
              </a:rPr>
              <a:t>x </a:t>
            </a:r>
            <a:r>
              <a:rPr sz="2400" b="1" dirty="0">
                <a:latin typeface="Times New Roman"/>
                <a:cs typeface="Times New Roman"/>
              </a:rPr>
              <a:t>&lt; </a:t>
            </a:r>
            <a:r>
              <a:rPr sz="2400" b="1" i="1" spc="-5" dirty="0">
                <a:latin typeface="Times New Roman"/>
                <a:cs typeface="Times New Roman"/>
              </a:rPr>
              <a:t>T</a:t>
            </a:r>
            <a:r>
              <a:rPr sz="2400" b="1" spc="-5" dirty="0">
                <a:latin typeface="Times New Roman"/>
                <a:cs typeface="Times New Roman"/>
              </a:rPr>
              <a:t>[1]  </a:t>
            </a:r>
            <a:endParaRPr lang="en-US" sz="2400" b="1" spc="-5" dirty="0" smtClean="0">
              <a:latin typeface="Times New Roman"/>
              <a:cs typeface="Times New Roman"/>
            </a:endParaRPr>
          </a:p>
          <a:p>
            <a:pPr marL="79806" marR="199809" indent="419425" algn="ctr">
              <a:lnSpc>
                <a:spcPct val="150000"/>
              </a:lnSpc>
              <a:spcBef>
                <a:spcPts val="92"/>
              </a:spcBef>
            </a:pPr>
            <a:r>
              <a:rPr sz="2400" b="1" i="1" spc="-5" dirty="0" smtClean="0">
                <a:latin typeface="Times New Roman"/>
                <a:cs typeface="Times New Roman"/>
              </a:rPr>
              <a:t>T</a:t>
            </a:r>
            <a:r>
              <a:rPr sz="2400" b="1" spc="-5" dirty="0" smtClean="0">
                <a:latin typeface="Times New Roman"/>
                <a:cs typeface="Times New Roman"/>
              </a:rPr>
              <a:t>[1</a:t>
            </a:r>
            <a:r>
              <a:rPr sz="2400" b="1" spc="-5" dirty="0">
                <a:latin typeface="Times New Roman"/>
                <a:cs typeface="Times New Roman"/>
              </a:rPr>
              <a:t>] </a:t>
            </a:r>
            <a:r>
              <a:rPr sz="2400" b="1" dirty="0">
                <a:latin typeface="Times New Roman"/>
                <a:cs typeface="Times New Roman"/>
              </a:rPr>
              <a:t>&lt; </a:t>
            </a:r>
            <a:r>
              <a:rPr sz="2400" b="1" i="1" dirty="0">
                <a:latin typeface="Times New Roman"/>
                <a:cs typeface="Times New Roman"/>
              </a:rPr>
              <a:t>x </a:t>
            </a:r>
            <a:r>
              <a:rPr sz="2400" b="1" dirty="0">
                <a:latin typeface="Times New Roman"/>
                <a:cs typeface="Times New Roman"/>
              </a:rPr>
              <a:t>&lt;</a:t>
            </a:r>
            <a:r>
              <a:rPr sz="2400" b="1" spc="-78" dirty="0">
                <a:latin typeface="Times New Roman"/>
                <a:cs typeface="Times New Roman"/>
              </a:rPr>
              <a:t> </a:t>
            </a:r>
            <a:r>
              <a:rPr sz="2400" b="1" i="1" spc="-5" dirty="0">
                <a:latin typeface="Times New Roman"/>
                <a:cs typeface="Times New Roman"/>
              </a:rPr>
              <a:t>T</a:t>
            </a:r>
            <a:r>
              <a:rPr sz="2400" b="1" spc="-5" dirty="0">
                <a:latin typeface="Times New Roman"/>
                <a:cs typeface="Times New Roman"/>
              </a:rPr>
              <a:t>[2]</a:t>
            </a:r>
            <a:endParaRPr sz="2400" dirty="0">
              <a:latin typeface="Times New Roman"/>
              <a:cs typeface="Times New Roman"/>
            </a:endParaRPr>
          </a:p>
          <a:p>
            <a:pPr marL="639040" algn="ctr">
              <a:lnSpc>
                <a:spcPct val="150000"/>
              </a:lnSpc>
              <a:spcBef>
                <a:spcPts val="550"/>
              </a:spcBef>
            </a:pPr>
            <a:r>
              <a:rPr sz="2400" b="1" dirty="0">
                <a:latin typeface="Times New Roman"/>
                <a:cs typeface="Times New Roman"/>
              </a:rPr>
              <a:t>…</a:t>
            </a:r>
            <a:endParaRPr sz="2400" dirty="0">
              <a:latin typeface="Times New Roman"/>
              <a:cs typeface="Times New Roman"/>
            </a:endParaRPr>
          </a:p>
          <a:p>
            <a:pPr marL="11651" algn="ctr">
              <a:lnSpc>
                <a:spcPct val="150000"/>
              </a:lnSpc>
              <a:spcBef>
                <a:spcPts val="550"/>
              </a:spcBef>
            </a:pPr>
            <a:r>
              <a:rPr sz="2400" b="1" i="1" spc="-5" dirty="0">
                <a:latin typeface="Times New Roman"/>
                <a:cs typeface="Times New Roman"/>
              </a:rPr>
              <a:t>T</a:t>
            </a:r>
            <a:r>
              <a:rPr sz="2400" b="1" spc="-5" dirty="0">
                <a:latin typeface="Times New Roman"/>
                <a:cs typeface="Times New Roman"/>
              </a:rPr>
              <a:t>[</a:t>
            </a:r>
            <a:r>
              <a:rPr sz="2400" b="1" i="1" spc="-5" dirty="0">
                <a:latin typeface="Times New Roman"/>
                <a:cs typeface="Times New Roman"/>
              </a:rPr>
              <a:t>n</a:t>
            </a:r>
            <a:r>
              <a:rPr sz="2400" b="1" spc="-5" dirty="0">
                <a:latin typeface="Times New Roman"/>
                <a:cs typeface="Times New Roman"/>
              </a:rPr>
              <a:t>-1] </a:t>
            </a:r>
            <a:r>
              <a:rPr sz="2400" b="1" dirty="0">
                <a:latin typeface="Times New Roman"/>
                <a:cs typeface="Times New Roman"/>
              </a:rPr>
              <a:t>&lt; </a:t>
            </a:r>
            <a:r>
              <a:rPr sz="2400" b="1" i="1" dirty="0">
                <a:latin typeface="Times New Roman"/>
                <a:cs typeface="Times New Roman"/>
              </a:rPr>
              <a:t>x </a:t>
            </a:r>
            <a:r>
              <a:rPr sz="2400" b="1" dirty="0">
                <a:latin typeface="Times New Roman"/>
                <a:cs typeface="Times New Roman"/>
              </a:rPr>
              <a:t>&lt;</a:t>
            </a:r>
            <a:r>
              <a:rPr sz="2400" b="1" spc="-87" dirty="0">
                <a:latin typeface="Times New Roman"/>
                <a:cs typeface="Times New Roman"/>
              </a:rPr>
              <a:t> </a:t>
            </a:r>
            <a:r>
              <a:rPr sz="2400" b="1" i="1" spc="-5" dirty="0">
                <a:latin typeface="Times New Roman"/>
                <a:cs typeface="Times New Roman"/>
              </a:rPr>
              <a:t>T</a:t>
            </a:r>
            <a:r>
              <a:rPr sz="2400" b="1" spc="-5" dirty="0">
                <a:latin typeface="Times New Roman"/>
                <a:cs typeface="Times New Roman"/>
              </a:rPr>
              <a:t>[</a:t>
            </a:r>
            <a:r>
              <a:rPr sz="2400" b="1" i="1" spc="-5" dirty="0">
                <a:latin typeface="Times New Roman"/>
                <a:cs typeface="Times New Roman"/>
              </a:rPr>
              <a:t>n</a:t>
            </a:r>
            <a:r>
              <a:rPr sz="2400" b="1" spc="-5" dirty="0">
                <a:latin typeface="Times New Roman"/>
                <a:cs typeface="Times New Roman"/>
              </a:rPr>
              <a:t>]</a:t>
            </a:r>
            <a:endParaRPr sz="2400" dirty="0">
              <a:latin typeface="Times New Roman"/>
              <a:cs typeface="Times New Roman"/>
            </a:endParaRPr>
          </a:p>
          <a:p>
            <a:pPr marL="429328" algn="ctr">
              <a:lnSpc>
                <a:spcPct val="150000"/>
              </a:lnSpc>
              <a:spcBef>
                <a:spcPts val="555"/>
              </a:spcBef>
            </a:pPr>
            <a:r>
              <a:rPr sz="2400" b="1" i="1" spc="-5" dirty="0">
                <a:latin typeface="Times New Roman"/>
                <a:cs typeface="Times New Roman"/>
              </a:rPr>
              <a:t>T</a:t>
            </a:r>
            <a:r>
              <a:rPr sz="2400" b="1" spc="-5" dirty="0">
                <a:latin typeface="Times New Roman"/>
                <a:cs typeface="Times New Roman"/>
              </a:rPr>
              <a:t>[</a:t>
            </a:r>
            <a:r>
              <a:rPr sz="2400" b="1" i="1" spc="-5" dirty="0">
                <a:latin typeface="Times New Roman"/>
                <a:cs typeface="Times New Roman"/>
              </a:rPr>
              <a:t>n</a:t>
            </a:r>
            <a:r>
              <a:rPr sz="2400" b="1" spc="-5" dirty="0">
                <a:latin typeface="Times New Roman"/>
                <a:cs typeface="Times New Roman"/>
              </a:rPr>
              <a:t>] </a:t>
            </a:r>
            <a:r>
              <a:rPr sz="2400" b="1" dirty="0">
                <a:latin typeface="Times New Roman"/>
                <a:cs typeface="Times New Roman"/>
              </a:rPr>
              <a:t>&lt;</a:t>
            </a:r>
            <a:r>
              <a:rPr sz="2400" b="1" spc="-18" dirty="0">
                <a:latin typeface="Times New Roman"/>
                <a:cs typeface="Times New Roman"/>
              </a:rPr>
              <a:t> </a:t>
            </a:r>
            <a:r>
              <a:rPr sz="2400" b="1" i="1" dirty="0">
                <a:latin typeface="Times New Roman"/>
                <a:cs typeface="Times New Roman"/>
              </a:rPr>
              <a:t>x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729444" y="5262060"/>
            <a:ext cx="1595147" cy="381097"/>
          </a:xfrm>
          <a:prstGeom prst="rect">
            <a:avLst/>
          </a:prstGeom>
        </p:spPr>
        <p:txBody>
          <a:bodyPr vert="horz" wrap="square" lIns="0" tIns="11651" rIns="0" bIns="0" rtlCol="0">
            <a:spAutoFit/>
          </a:bodyPr>
          <a:lstStyle/>
          <a:p>
            <a:pPr marL="11651">
              <a:spcBef>
                <a:spcPts val="92"/>
              </a:spcBef>
            </a:pPr>
            <a:r>
              <a:rPr sz="2400" b="1" i="1" dirty="0">
                <a:solidFill>
                  <a:srgbClr val="C00000"/>
                </a:solidFill>
                <a:latin typeface="Times New Roman"/>
                <a:cs typeface="Times New Roman"/>
              </a:rPr>
              <a:t>x</a:t>
            </a:r>
            <a:r>
              <a:rPr sz="2400" b="1" dirty="0">
                <a:solidFill>
                  <a:srgbClr val="C00000"/>
                </a:solidFill>
                <a:latin typeface="宋体"/>
                <a:cs typeface="宋体"/>
              </a:rPr>
              <a:t>不在</a:t>
            </a:r>
            <a:r>
              <a:rPr sz="2400" b="1" i="1" spc="-5" dirty="0">
                <a:solidFill>
                  <a:srgbClr val="C00000"/>
                </a:solidFill>
                <a:latin typeface="Times New Roman"/>
                <a:cs typeface="Times New Roman"/>
              </a:rPr>
              <a:t>T</a:t>
            </a:r>
            <a:r>
              <a:rPr sz="2400" b="1" spc="-10" dirty="0">
                <a:solidFill>
                  <a:srgbClr val="C00000"/>
                </a:solidFill>
                <a:latin typeface="宋体"/>
                <a:cs typeface="宋体"/>
              </a:rPr>
              <a:t>中</a:t>
            </a:r>
            <a:endParaRPr sz="2400" dirty="0">
              <a:latin typeface="宋体"/>
              <a:cs typeface="宋体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056342" y="1813325"/>
            <a:ext cx="1275993" cy="4032109"/>
          </a:xfrm>
          <a:custGeom>
            <a:avLst/>
            <a:gdLst/>
            <a:ahLst/>
            <a:cxnLst/>
            <a:rect l="l" t="t" r="r" b="b"/>
            <a:pathLst>
              <a:path w="1600200" h="3200400">
                <a:moveTo>
                  <a:pt x="0" y="266700"/>
                </a:moveTo>
                <a:lnTo>
                  <a:pt x="4296" y="218753"/>
                </a:lnTo>
                <a:lnTo>
                  <a:pt x="16685" y="173629"/>
                </a:lnTo>
                <a:lnTo>
                  <a:pt x="36412" y="132080"/>
                </a:lnTo>
                <a:lnTo>
                  <a:pt x="62724" y="94858"/>
                </a:lnTo>
                <a:lnTo>
                  <a:pt x="94868" y="62716"/>
                </a:lnTo>
                <a:lnTo>
                  <a:pt x="132091" y="36406"/>
                </a:lnTo>
                <a:lnTo>
                  <a:pt x="173639" y="16682"/>
                </a:lnTo>
                <a:lnTo>
                  <a:pt x="218760" y="4296"/>
                </a:lnTo>
                <a:lnTo>
                  <a:pt x="266700" y="0"/>
                </a:lnTo>
                <a:lnTo>
                  <a:pt x="1333500" y="0"/>
                </a:lnTo>
                <a:lnTo>
                  <a:pt x="1381446" y="4296"/>
                </a:lnTo>
                <a:lnTo>
                  <a:pt x="1426570" y="16682"/>
                </a:lnTo>
                <a:lnTo>
                  <a:pt x="1468119" y="36406"/>
                </a:lnTo>
                <a:lnTo>
                  <a:pt x="1505341" y="62716"/>
                </a:lnTo>
                <a:lnTo>
                  <a:pt x="1537483" y="94858"/>
                </a:lnTo>
                <a:lnTo>
                  <a:pt x="1563793" y="132079"/>
                </a:lnTo>
                <a:lnTo>
                  <a:pt x="1583517" y="173629"/>
                </a:lnTo>
                <a:lnTo>
                  <a:pt x="1595903" y="218753"/>
                </a:lnTo>
                <a:lnTo>
                  <a:pt x="1600200" y="266700"/>
                </a:lnTo>
                <a:lnTo>
                  <a:pt x="1600200" y="2933700"/>
                </a:lnTo>
                <a:lnTo>
                  <a:pt x="1595903" y="2981639"/>
                </a:lnTo>
                <a:lnTo>
                  <a:pt x="1583517" y="3026760"/>
                </a:lnTo>
                <a:lnTo>
                  <a:pt x="1563793" y="3068308"/>
                </a:lnTo>
                <a:lnTo>
                  <a:pt x="1537483" y="3105531"/>
                </a:lnTo>
                <a:lnTo>
                  <a:pt x="1505341" y="3137675"/>
                </a:lnTo>
                <a:lnTo>
                  <a:pt x="1468119" y="3163987"/>
                </a:lnTo>
                <a:lnTo>
                  <a:pt x="1426570" y="3183714"/>
                </a:lnTo>
                <a:lnTo>
                  <a:pt x="1381446" y="3196103"/>
                </a:lnTo>
                <a:lnTo>
                  <a:pt x="1333500" y="3200400"/>
                </a:lnTo>
                <a:lnTo>
                  <a:pt x="266700" y="3200400"/>
                </a:lnTo>
                <a:lnTo>
                  <a:pt x="218760" y="3196103"/>
                </a:lnTo>
                <a:lnTo>
                  <a:pt x="173639" y="3183714"/>
                </a:lnTo>
                <a:lnTo>
                  <a:pt x="132091" y="3163987"/>
                </a:lnTo>
                <a:lnTo>
                  <a:pt x="94868" y="3137675"/>
                </a:lnTo>
                <a:lnTo>
                  <a:pt x="62724" y="3105531"/>
                </a:lnTo>
                <a:lnTo>
                  <a:pt x="36412" y="3068308"/>
                </a:lnTo>
                <a:lnTo>
                  <a:pt x="16685" y="3026760"/>
                </a:lnTo>
                <a:lnTo>
                  <a:pt x="4296" y="2981639"/>
                </a:lnTo>
                <a:lnTo>
                  <a:pt x="0" y="2933700"/>
                </a:lnTo>
                <a:lnTo>
                  <a:pt x="0" y="266700"/>
                </a:lnTo>
                <a:close/>
              </a:path>
            </a:pathLst>
          </a:custGeom>
          <a:ln w="2540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2108736" y="1769400"/>
            <a:ext cx="1540853" cy="3160119"/>
          </a:xfrm>
          <a:prstGeom prst="rect">
            <a:avLst/>
          </a:prstGeom>
        </p:spPr>
        <p:txBody>
          <a:bodyPr vert="horz" wrap="square" lIns="0" tIns="81557" rIns="0" bIns="0" rtlCol="0">
            <a:spAutoFit/>
          </a:bodyPr>
          <a:lstStyle/>
          <a:p>
            <a:pPr marL="81555">
              <a:lnSpc>
                <a:spcPct val="150000"/>
              </a:lnSpc>
              <a:spcBef>
                <a:spcPts val="642"/>
              </a:spcBef>
            </a:pPr>
            <a:r>
              <a:rPr sz="2400" b="1" i="1" dirty="0">
                <a:latin typeface="Times New Roman"/>
                <a:cs typeface="Times New Roman"/>
              </a:rPr>
              <a:t>x</a:t>
            </a:r>
            <a:r>
              <a:rPr sz="2400" b="1" i="1" spc="-73" dirty="0">
                <a:latin typeface="Times New Roman"/>
                <a:cs typeface="Times New Roman"/>
              </a:rPr>
              <a:t> </a:t>
            </a:r>
            <a:r>
              <a:rPr sz="2400" b="1" spc="-5" dirty="0">
                <a:latin typeface="Times New Roman"/>
                <a:cs typeface="Times New Roman"/>
              </a:rPr>
              <a:t>=</a:t>
            </a:r>
            <a:r>
              <a:rPr sz="2400" b="1" i="1" spc="-5" dirty="0">
                <a:latin typeface="Times New Roman"/>
                <a:cs typeface="Times New Roman"/>
              </a:rPr>
              <a:t>T</a:t>
            </a:r>
            <a:r>
              <a:rPr sz="2400" b="1" spc="-5" dirty="0">
                <a:latin typeface="Times New Roman"/>
                <a:cs typeface="Times New Roman"/>
              </a:rPr>
              <a:t>[1]</a:t>
            </a:r>
            <a:endParaRPr sz="2400" dirty="0">
              <a:latin typeface="Times New Roman"/>
              <a:cs typeface="Times New Roman"/>
            </a:endParaRPr>
          </a:p>
          <a:p>
            <a:pPr marL="81555">
              <a:lnSpc>
                <a:spcPct val="150000"/>
              </a:lnSpc>
              <a:spcBef>
                <a:spcPts val="550"/>
              </a:spcBef>
            </a:pPr>
            <a:r>
              <a:rPr sz="2400" b="1" i="1" dirty="0">
                <a:latin typeface="Times New Roman"/>
                <a:cs typeface="Times New Roman"/>
              </a:rPr>
              <a:t>x</a:t>
            </a:r>
            <a:r>
              <a:rPr sz="2400" b="1" i="1" spc="-73" dirty="0">
                <a:latin typeface="Times New Roman"/>
                <a:cs typeface="Times New Roman"/>
              </a:rPr>
              <a:t> </a:t>
            </a:r>
            <a:r>
              <a:rPr sz="2400" b="1" i="1" spc="-5" dirty="0">
                <a:latin typeface="Times New Roman"/>
                <a:cs typeface="Times New Roman"/>
              </a:rPr>
              <a:t>=T</a:t>
            </a:r>
            <a:r>
              <a:rPr sz="2400" b="1" spc="-5" dirty="0">
                <a:latin typeface="Times New Roman"/>
                <a:cs typeface="Times New Roman"/>
              </a:rPr>
              <a:t>[2]</a:t>
            </a:r>
            <a:endParaRPr sz="2400" dirty="0">
              <a:latin typeface="Times New Roman"/>
              <a:cs typeface="Times New Roman"/>
            </a:endParaRPr>
          </a:p>
          <a:p>
            <a:pPr marL="221363">
              <a:lnSpc>
                <a:spcPct val="150000"/>
              </a:lnSpc>
              <a:spcBef>
                <a:spcPts val="550"/>
              </a:spcBef>
            </a:pPr>
            <a:r>
              <a:rPr sz="2400" b="1" dirty="0">
                <a:latin typeface="Times New Roman"/>
                <a:cs typeface="Times New Roman"/>
              </a:rPr>
              <a:t>…</a:t>
            </a:r>
            <a:endParaRPr sz="2400" dirty="0">
              <a:latin typeface="Times New Roman"/>
              <a:cs typeface="Times New Roman"/>
            </a:endParaRPr>
          </a:p>
          <a:p>
            <a:pPr marL="11651">
              <a:lnSpc>
                <a:spcPct val="150000"/>
              </a:lnSpc>
              <a:spcBef>
                <a:spcPts val="555"/>
              </a:spcBef>
            </a:pPr>
            <a:r>
              <a:rPr sz="2400" b="1" i="1" spc="-5" dirty="0">
                <a:latin typeface="Times New Roman"/>
                <a:cs typeface="Times New Roman"/>
              </a:rPr>
              <a:t>x=T</a:t>
            </a:r>
            <a:r>
              <a:rPr sz="2400" b="1" spc="-5" dirty="0">
                <a:latin typeface="Times New Roman"/>
                <a:cs typeface="Times New Roman"/>
              </a:rPr>
              <a:t>[</a:t>
            </a:r>
            <a:r>
              <a:rPr sz="2400" b="1" i="1" spc="-5" dirty="0">
                <a:latin typeface="Times New Roman"/>
                <a:cs typeface="Times New Roman"/>
              </a:rPr>
              <a:t>n-</a:t>
            </a:r>
            <a:r>
              <a:rPr sz="2400" b="1" spc="-5" dirty="0">
                <a:latin typeface="Times New Roman"/>
                <a:cs typeface="Times New Roman"/>
              </a:rPr>
              <a:t>1]</a:t>
            </a:r>
            <a:endParaRPr sz="2400" dirty="0">
              <a:latin typeface="Times New Roman"/>
              <a:cs typeface="Times New Roman"/>
            </a:endParaRPr>
          </a:p>
          <a:p>
            <a:pPr marL="11651">
              <a:lnSpc>
                <a:spcPct val="150000"/>
              </a:lnSpc>
              <a:spcBef>
                <a:spcPts val="550"/>
              </a:spcBef>
            </a:pPr>
            <a:r>
              <a:rPr sz="2400" b="1" i="1" dirty="0">
                <a:latin typeface="Times New Roman"/>
                <a:cs typeface="Times New Roman"/>
              </a:rPr>
              <a:t>x</a:t>
            </a:r>
            <a:r>
              <a:rPr sz="2400" b="1" i="1" spc="-23" dirty="0">
                <a:latin typeface="Times New Roman"/>
                <a:cs typeface="Times New Roman"/>
              </a:rPr>
              <a:t> </a:t>
            </a:r>
            <a:r>
              <a:rPr sz="2400" b="1" spc="-5" dirty="0">
                <a:latin typeface="Times New Roman"/>
                <a:cs typeface="Times New Roman"/>
              </a:rPr>
              <a:t>=</a:t>
            </a:r>
            <a:r>
              <a:rPr sz="2400" b="1" i="1" spc="-5" dirty="0">
                <a:latin typeface="Times New Roman"/>
                <a:cs typeface="Times New Roman"/>
              </a:rPr>
              <a:t>T</a:t>
            </a:r>
            <a:r>
              <a:rPr sz="2400" b="1" spc="-5" dirty="0">
                <a:latin typeface="Times New Roman"/>
                <a:cs typeface="Times New Roman"/>
              </a:rPr>
              <a:t>[</a:t>
            </a:r>
            <a:r>
              <a:rPr sz="2400" b="1" i="1" spc="-5" dirty="0">
                <a:latin typeface="Times New Roman"/>
                <a:cs typeface="Times New Roman"/>
              </a:rPr>
              <a:t>n</a:t>
            </a:r>
            <a:r>
              <a:rPr sz="2400" b="1" spc="-5" dirty="0">
                <a:latin typeface="Times New Roman"/>
                <a:cs typeface="Times New Roman"/>
              </a:rPr>
              <a:t>]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177645" y="5279147"/>
            <a:ext cx="1275993" cy="381097"/>
          </a:xfrm>
          <a:prstGeom prst="rect">
            <a:avLst/>
          </a:prstGeom>
        </p:spPr>
        <p:txBody>
          <a:bodyPr vert="horz" wrap="square" lIns="0" tIns="11651" rIns="0" bIns="0" rtlCol="0">
            <a:spAutoFit/>
          </a:bodyPr>
          <a:lstStyle/>
          <a:p>
            <a:pPr marL="11651">
              <a:spcBef>
                <a:spcPts val="92"/>
              </a:spcBef>
            </a:pPr>
            <a:r>
              <a:rPr sz="2400" b="1" i="1" dirty="0">
                <a:solidFill>
                  <a:srgbClr val="C00000"/>
                </a:solidFill>
                <a:latin typeface="Times New Roman"/>
                <a:cs typeface="Times New Roman"/>
              </a:rPr>
              <a:t>x</a:t>
            </a:r>
            <a:r>
              <a:rPr sz="2400" b="1" dirty="0">
                <a:solidFill>
                  <a:srgbClr val="C00000"/>
                </a:solidFill>
                <a:latin typeface="宋体"/>
                <a:cs typeface="宋体"/>
              </a:rPr>
              <a:t>在</a:t>
            </a:r>
            <a:r>
              <a:rPr sz="2400" b="1" i="1" spc="-5" dirty="0">
                <a:solidFill>
                  <a:srgbClr val="C00000"/>
                </a:solidFill>
                <a:latin typeface="Times New Roman"/>
                <a:cs typeface="Times New Roman"/>
              </a:rPr>
              <a:t>T</a:t>
            </a:r>
            <a:r>
              <a:rPr sz="2400" b="1" spc="-10" dirty="0">
                <a:solidFill>
                  <a:srgbClr val="C00000"/>
                </a:solidFill>
                <a:latin typeface="宋体"/>
                <a:cs typeface="宋体"/>
              </a:rPr>
              <a:t>中</a:t>
            </a:r>
            <a:endParaRPr sz="2400" dirty="0">
              <a:latin typeface="宋体"/>
              <a:cs typeface="宋体"/>
            </a:endParaRPr>
          </a:p>
        </p:txBody>
      </p:sp>
    </p:spTree>
    <p:extLst>
      <p:ext uri="{BB962C8B-B14F-4D97-AF65-F5344CB8AC3E}">
        <p14:creationId xmlns:p14="http://schemas.microsoft.com/office/powerpoint/2010/main" val="26520601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  <p:bldP spid="7" grpId="0"/>
      <p:bldP spid="8" grpId="0" animBg="1"/>
      <p:bldP spid="9" grpId="0"/>
      <p:bldP spid="1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8517406"/>
              </p:ext>
            </p:extLst>
          </p:nvPr>
        </p:nvGraphicFramePr>
        <p:xfrm>
          <a:off x="1369166" y="1161457"/>
          <a:ext cx="4385330" cy="36200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25266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303052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2157012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</a:tblGrid>
              <a:tr h="36200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585858"/>
                      </a:solidFill>
                      <a:prstDash val="solid"/>
                    </a:lnL>
                    <a:lnR w="28575">
                      <a:solidFill>
                        <a:srgbClr val="938953"/>
                      </a:solidFill>
                      <a:prstDash val="solid"/>
                    </a:lnR>
                    <a:lnT w="28575">
                      <a:solidFill>
                        <a:srgbClr val="585858"/>
                      </a:solidFill>
                      <a:prstDash val="solid"/>
                    </a:lnT>
                    <a:lnB w="28575">
                      <a:solidFill>
                        <a:srgbClr val="58585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0325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900" b="1" i="1" dirty="0">
                          <a:latin typeface="Times New Roman"/>
                          <a:cs typeface="Times New Roman"/>
                        </a:rPr>
                        <a:t>x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29601" marB="0">
                    <a:lnL w="28575">
                      <a:solidFill>
                        <a:srgbClr val="938953"/>
                      </a:solidFill>
                      <a:prstDash val="solid"/>
                    </a:lnL>
                    <a:lnR w="28575">
                      <a:solidFill>
                        <a:srgbClr val="938953"/>
                      </a:solidFill>
                      <a:prstDash val="solid"/>
                    </a:lnR>
                    <a:lnT w="28575">
                      <a:solidFill>
                        <a:srgbClr val="938953"/>
                      </a:solidFill>
                      <a:prstDash val="solid"/>
                    </a:lnT>
                    <a:lnB w="28575">
                      <a:solidFill>
                        <a:srgbClr val="938953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938953"/>
                      </a:solidFill>
                      <a:prstDash val="solid"/>
                    </a:lnL>
                    <a:lnR w="28575">
                      <a:solidFill>
                        <a:srgbClr val="585858"/>
                      </a:solidFill>
                      <a:prstDash val="solid"/>
                    </a:lnR>
                    <a:lnT w="28575">
                      <a:solidFill>
                        <a:srgbClr val="585858"/>
                      </a:solidFill>
                      <a:prstDash val="solid"/>
                    </a:lnT>
                    <a:lnB w="28575">
                      <a:solidFill>
                        <a:srgbClr val="585858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8703620"/>
              </p:ext>
            </p:extLst>
          </p:nvPr>
        </p:nvGraphicFramePr>
        <p:xfrm>
          <a:off x="1369169" y="2175719"/>
          <a:ext cx="4385331" cy="3840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48715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303052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873501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303052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898458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303052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  <a:gridCol w="955501">
                  <a:extLst>
                    <a:ext uri="{9D8B030D-6E8A-4147-A177-3AD203B41FA5}">
                      <a16:colId xmlns="" xmlns:a16="http://schemas.microsoft.com/office/drawing/2014/main" val="20006"/>
                    </a:ext>
                  </a:extLst>
                </a:gridCol>
              </a:tblGrid>
              <a:tr h="3840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585858"/>
                      </a:solidFill>
                      <a:prstDash val="solid"/>
                    </a:lnL>
                    <a:lnR w="28575">
                      <a:solidFill>
                        <a:srgbClr val="938953"/>
                      </a:solidFill>
                      <a:prstDash val="solid"/>
                    </a:lnR>
                    <a:lnT w="28575">
                      <a:solidFill>
                        <a:srgbClr val="585858"/>
                      </a:solidFill>
                      <a:prstDash val="solid"/>
                    </a:lnT>
                    <a:lnB w="28575">
                      <a:solidFill>
                        <a:srgbClr val="58585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032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900" b="1" i="1" dirty="0">
                          <a:latin typeface="Times New Roman"/>
                          <a:cs typeface="Times New Roman"/>
                        </a:rPr>
                        <a:t>x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52001" marB="0">
                    <a:lnL w="28575">
                      <a:solidFill>
                        <a:srgbClr val="938953"/>
                      </a:solidFill>
                      <a:prstDash val="solid"/>
                    </a:lnL>
                    <a:lnR w="28575">
                      <a:solidFill>
                        <a:srgbClr val="938953"/>
                      </a:solidFill>
                      <a:prstDash val="solid"/>
                    </a:lnR>
                    <a:lnT w="53975">
                      <a:solidFill>
                        <a:srgbClr val="938953"/>
                      </a:solidFill>
                      <a:prstDash val="solid"/>
                    </a:lnT>
                    <a:lnB w="28575">
                      <a:solidFill>
                        <a:srgbClr val="938953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938953"/>
                      </a:solidFill>
                      <a:prstDash val="solid"/>
                    </a:lnL>
                    <a:lnR w="28575">
                      <a:solidFill>
                        <a:srgbClr val="938953"/>
                      </a:solidFill>
                      <a:prstDash val="solid"/>
                    </a:lnR>
                    <a:lnT w="28575">
                      <a:solidFill>
                        <a:srgbClr val="585858"/>
                      </a:solidFill>
                      <a:prstDash val="solid"/>
                    </a:lnT>
                    <a:lnB w="28575">
                      <a:solidFill>
                        <a:srgbClr val="58585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938953"/>
                      </a:solidFill>
                      <a:prstDash val="solid"/>
                    </a:lnL>
                    <a:lnR w="28575">
                      <a:solidFill>
                        <a:srgbClr val="938953"/>
                      </a:solidFill>
                      <a:prstDash val="solid"/>
                    </a:lnR>
                    <a:lnT w="53975">
                      <a:solidFill>
                        <a:srgbClr val="938953"/>
                      </a:solidFill>
                      <a:prstDash val="solid"/>
                    </a:lnT>
                    <a:lnB w="28575">
                      <a:solidFill>
                        <a:srgbClr val="93895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938953"/>
                      </a:solidFill>
                      <a:prstDash val="solid"/>
                    </a:lnL>
                    <a:lnR w="28575">
                      <a:solidFill>
                        <a:srgbClr val="938953"/>
                      </a:solidFill>
                      <a:prstDash val="solid"/>
                    </a:lnR>
                    <a:lnT w="28575">
                      <a:solidFill>
                        <a:srgbClr val="585858"/>
                      </a:solidFill>
                      <a:prstDash val="solid"/>
                    </a:lnT>
                    <a:lnB w="28575">
                      <a:solidFill>
                        <a:srgbClr val="58585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032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900" b="1" i="1" dirty="0">
                          <a:latin typeface="Times New Roman"/>
                          <a:cs typeface="Times New Roman"/>
                        </a:rPr>
                        <a:t>x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52001" marB="0">
                    <a:lnL w="28575">
                      <a:solidFill>
                        <a:srgbClr val="938953"/>
                      </a:solidFill>
                      <a:prstDash val="solid"/>
                    </a:lnL>
                    <a:lnR w="28575">
                      <a:solidFill>
                        <a:srgbClr val="938953"/>
                      </a:solidFill>
                      <a:prstDash val="solid"/>
                    </a:lnR>
                    <a:lnT w="53975">
                      <a:solidFill>
                        <a:srgbClr val="938953"/>
                      </a:solidFill>
                      <a:prstDash val="solid"/>
                    </a:lnT>
                    <a:lnB w="28575">
                      <a:solidFill>
                        <a:srgbClr val="938953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938953"/>
                      </a:solidFill>
                      <a:prstDash val="solid"/>
                    </a:lnL>
                    <a:lnR w="28575">
                      <a:solidFill>
                        <a:srgbClr val="585858"/>
                      </a:solidFill>
                      <a:prstDash val="solid"/>
                    </a:lnR>
                    <a:lnT w="28575">
                      <a:solidFill>
                        <a:srgbClr val="585858"/>
                      </a:solidFill>
                      <a:prstDash val="solid"/>
                    </a:lnT>
                    <a:lnB w="28575">
                      <a:solidFill>
                        <a:srgbClr val="585858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" name="object 4"/>
          <p:cNvSpPr/>
          <p:nvPr/>
        </p:nvSpPr>
        <p:spPr>
          <a:xfrm>
            <a:off x="2728395" y="3297373"/>
            <a:ext cx="233584" cy="408011"/>
          </a:xfrm>
          <a:custGeom>
            <a:avLst/>
            <a:gdLst/>
            <a:ahLst/>
            <a:cxnLst/>
            <a:rect l="l" t="t" r="r" b="b"/>
            <a:pathLst>
              <a:path w="215900" h="323850">
                <a:moveTo>
                  <a:pt x="0" y="323850"/>
                </a:moveTo>
                <a:lnTo>
                  <a:pt x="215900" y="323850"/>
                </a:lnTo>
                <a:lnTo>
                  <a:pt x="215900" y="0"/>
                </a:lnTo>
                <a:lnTo>
                  <a:pt x="0" y="0"/>
                </a:lnTo>
                <a:lnTo>
                  <a:pt x="0" y="32385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065149" y="3297373"/>
            <a:ext cx="233584" cy="408011"/>
          </a:xfrm>
          <a:custGeom>
            <a:avLst/>
            <a:gdLst/>
            <a:ahLst/>
            <a:cxnLst/>
            <a:rect l="l" t="t" r="r" b="b"/>
            <a:pathLst>
              <a:path w="215900" h="323850">
                <a:moveTo>
                  <a:pt x="0" y="323850"/>
                </a:moveTo>
                <a:lnTo>
                  <a:pt x="215900" y="323850"/>
                </a:lnTo>
                <a:lnTo>
                  <a:pt x="215900" y="0"/>
                </a:lnTo>
                <a:lnTo>
                  <a:pt x="0" y="0"/>
                </a:lnTo>
                <a:lnTo>
                  <a:pt x="0" y="32385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396772" y="3297373"/>
            <a:ext cx="233584" cy="408011"/>
          </a:xfrm>
          <a:custGeom>
            <a:avLst/>
            <a:gdLst/>
            <a:ahLst/>
            <a:cxnLst/>
            <a:rect l="l" t="t" r="r" b="b"/>
            <a:pathLst>
              <a:path w="215900" h="323850">
                <a:moveTo>
                  <a:pt x="0" y="323850"/>
                </a:moveTo>
                <a:lnTo>
                  <a:pt x="215900" y="323850"/>
                </a:lnTo>
                <a:lnTo>
                  <a:pt x="215900" y="0"/>
                </a:lnTo>
                <a:lnTo>
                  <a:pt x="0" y="0"/>
                </a:lnTo>
                <a:lnTo>
                  <a:pt x="0" y="32385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7" name="object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1123704"/>
              </p:ext>
            </p:extLst>
          </p:nvPr>
        </p:nvGraphicFramePr>
        <p:xfrm>
          <a:off x="1369170" y="3260492"/>
          <a:ext cx="4385338" cy="40801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3918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303052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231745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303052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338706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303052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  <a:gridCol w="231745">
                  <a:extLst>
                    <a:ext uri="{9D8B030D-6E8A-4147-A177-3AD203B41FA5}">
                      <a16:colId xmlns="" xmlns:a16="http://schemas.microsoft.com/office/drawing/2014/main" val="20006"/>
                    </a:ext>
                  </a:extLst>
                </a:gridCol>
                <a:gridCol w="303052">
                  <a:extLst>
                    <a:ext uri="{9D8B030D-6E8A-4147-A177-3AD203B41FA5}">
                      <a16:colId xmlns="" xmlns:a16="http://schemas.microsoft.com/office/drawing/2014/main" val="20007"/>
                    </a:ext>
                  </a:extLst>
                </a:gridCol>
                <a:gridCol w="256702">
                  <a:extLst>
                    <a:ext uri="{9D8B030D-6E8A-4147-A177-3AD203B41FA5}">
                      <a16:colId xmlns="" xmlns:a16="http://schemas.microsoft.com/office/drawing/2014/main" val="20008"/>
                    </a:ext>
                  </a:extLst>
                </a:gridCol>
                <a:gridCol w="303052">
                  <a:extLst>
                    <a:ext uri="{9D8B030D-6E8A-4147-A177-3AD203B41FA5}">
                      <a16:colId xmlns="" xmlns:a16="http://schemas.microsoft.com/office/drawing/2014/main" val="20009"/>
                    </a:ext>
                  </a:extLst>
                </a:gridCol>
                <a:gridCol w="313746">
                  <a:extLst>
                    <a:ext uri="{9D8B030D-6E8A-4147-A177-3AD203B41FA5}">
                      <a16:colId xmlns="" xmlns:a16="http://schemas.microsoft.com/office/drawing/2014/main" val="20010"/>
                    </a:ext>
                  </a:extLst>
                </a:gridCol>
                <a:gridCol w="303052">
                  <a:extLst>
                    <a:ext uri="{9D8B030D-6E8A-4147-A177-3AD203B41FA5}">
                      <a16:colId xmlns="" xmlns:a16="http://schemas.microsoft.com/office/drawing/2014/main" val="20011"/>
                    </a:ext>
                  </a:extLst>
                </a:gridCol>
                <a:gridCol w="338706">
                  <a:extLst>
                    <a:ext uri="{9D8B030D-6E8A-4147-A177-3AD203B41FA5}">
                      <a16:colId xmlns="" xmlns:a16="http://schemas.microsoft.com/office/drawing/2014/main" val="20012"/>
                    </a:ext>
                  </a:extLst>
                </a:gridCol>
                <a:gridCol w="303052">
                  <a:extLst>
                    <a:ext uri="{9D8B030D-6E8A-4147-A177-3AD203B41FA5}">
                      <a16:colId xmlns="" xmlns:a16="http://schemas.microsoft.com/office/drawing/2014/main" val="20013"/>
                    </a:ext>
                  </a:extLst>
                </a:gridCol>
                <a:gridCol w="338706">
                  <a:extLst>
                    <a:ext uri="{9D8B030D-6E8A-4147-A177-3AD203B41FA5}">
                      <a16:colId xmlns="" xmlns:a16="http://schemas.microsoft.com/office/drawing/2014/main" val="20014"/>
                    </a:ext>
                  </a:extLst>
                </a:gridCol>
              </a:tblGrid>
              <a:tr h="40801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585858"/>
                      </a:solidFill>
                      <a:prstDash val="solid"/>
                    </a:lnL>
                    <a:lnR w="28575">
                      <a:solidFill>
                        <a:srgbClr val="938953"/>
                      </a:solidFill>
                      <a:prstDash val="solid"/>
                    </a:lnR>
                    <a:lnT w="28575">
                      <a:solidFill>
                        <a:srgbClr val="585858"/>
                      </a:solidFill>
                      <a:prstDash val="solid"/>
                    </a:lnT>
                    <a:lnB w="28575">
                      <a:solidFill>
                        <a:srgbClr val="58585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0325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sz="1900" b="1" i="1" dirty="0">
                          <a:latin typeface="Times New Roman"/>
                          <a:cs typeface="Times New Roman"/>
                        </a:rPr>
                        <a:t>x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67202" marB="0">
                    <a:lnL w="28575">
                      <a:solidFill>
                        <a:srgbClr val="938953"/>
                      </a:solidFill>
                      <a:prstDash val="solid"/>
                    </a:lnL>
                    <a:lnR w="28575">
                      <a:solidFill>
                        <a:srgbClr val="938953"/>
                      </a:solidFill>
                      <a:prstDash val="solid"/>
                    </a:lnR>
                    <a:lnT w="38100">
                      <a:solidFill>
                        <a:srgbClr val="938953"/>
                      </a:solidFill>
                      <a:prstDash val="solid"/>
                    </a:lnT>
                    <a:lnB w="38100">
                      <a:solidFill>
                        <a:srgbClr val="938953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938953"/>
                      </a:solidFill>
                      <a:prstDash val="solid"/>
                    </a:lnL>
                    <a:lnR w="28575">
                      <a:solidFill>
                        <a:srgbClr val="938953"/>
                      </a:solidFill>
                      <a:prstDash val="solid"/>
                    </a:lnR>
                    <a:lnT w="28575">
                      <a:solidFill>
                        <a:srgbClr val="585858"/>
                      </a:solidFill>
                      <a:prstDash val="solid"/>
                    </a:lnT>
                    <a:lnB w="28575">
                      <a:solidFill>
                        <a:srgbClr val="58585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938953"/>
                      </a:solidFill>
                      <a:prstDash val="solid"/>
                    </a:lnL>
                    <a:lnR w="28575">
                      <a:solidFill>
                        <a:srgbClr val="938953"/>
                      </a:solidFill>
                      <a:prstDash val="solid"/>
                    </a:lnR>
                    <a:lnT w="38100">
                      <a:solidFill>
                        <a:srgbClr val="938953"/>
                      </a:solidFill>
                      <a:prstDash val="solid"/>
                    </a:lnT>
                    <a:lnB w="38100">
                      <a:solidFill>
                        <a:srgbClr val="93895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938953"/>
                      </a:solidFill>
                      <a:prstDash val="solid"/>
                    </a:lnL>
                    <a:lnR w="28575">
                      <a:solidFill>
                        <a:srgbClr val="938953"/>
                      </a:solidFill>
                      <a:prstDash val="solid"/>
                    </a:lnR>
                    <a:lnT w="28575">
                      <a:solidFill>
                        <a:srgbClr val="585858"/>
                      </a:solidFill>
                      <a:prstDash val="solid"/>
                    </a:lnT>
                    <a:lnB w="28575">
                      <a:solidFill>
                        <a:srgbClr val="58585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0325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sz="1900" b="1" i="1" dirty="0">
                          <a:latin typeface="Times New Roman"/>
                          <a:cs typeface="Times New Roman"/>
                        </a:rPr>
                        <a:t>x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67202" marB="0">
                    <a:lnL w="28575">
                      <a:solidFill>
                        <a:srgbClr val="938953"/>
                      </a:solidFill>
                      <a:prstDash val="solid"/>
                    </a:lnL>
                    <a:lnR w="28575">
                      <a:solidFill>
                        <a:srgbClr val="938953"/>
                      </a:solidFill>
                      <a:prstDash val="solid"/>
                    </a:lnR>
                    <a:lnT w="38100">
                      <a:solidFill>
                        <a:srgbClr val="938953"/>
                      </a:solidFill>
                      <a:prstDash val="solid"/>
                    </a:lnT>
                    <a:lnB w="38100">
                      <a:solidFill>
                        <a:srgbClr val="938953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938953"/>
                      </a:solidFill>
                      <a:prstDash val="solid"/>
                    </a:lnL>
                    <a:lnR w="28575">
                      <a:solidFill>
                        <a:srgbClr val="938953"/>
                      </a:solidFill>
                      <a:prstDash val="solid"/>
                    </a:lnR>
                    <a:lnT w="28575">
                      <a:solidFill>
                        <a:srgbClr val="585858"/>
                      </a:solidFill>
                      <a:prstDash val="solid"/>
                    </a:lnT>
                    <a:lnB w="28575">
                      <a:solidFill>
                        <a:srgbClr val="58585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938953"/>
                      </a:solidFill>
                      <a:prstDash val="solid"/>
                    </a:lnL>
                    <a:lnR w="28575">
                      <a:solidFill>
                        <a:srgbClr val="938953"/>
                      </a:solidFill>
                      <a:prstDash val="solid"/>
                    </a:lnR>
                    <a:lnT w="38100">
                      <a:solidFill>
                        <a:srgbClr val="938953"/>
                      </a:solidFill>
                      <a:prstDash val="solid"/>
                    </a:lnT>
                    <a:lnB w="38100">
                      <a:solidFill>
                        <a:srgbClr val="93895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938953"/>
                      </a:solidFill>
                      <a:prstDash val="solid"/>
                    </a:lnL>
                    <a:lnR w="28575">
                      <a:solidFill>
                        <a:srgbClr val="938953"/>
                      </a:solidFill>
                      <a:prstDash val="solid"/>
                    </a:lnR>
                    <a:lnT w="28575">
                      <a:solidFill>
                        <a:srgbClr val="585858"/>
                      </a:solidFill>
                      <a:prstDash val="solid"/>
                    </a:lnT>
                    <a:lnB w="28575">
                      <a:solidFill>
                        <a:srgbClr val="58585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0325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sz="1900" b="1" i="1" dirty="0">
                          <a:latin typeface="Times New Roman"/>
                          <a:cs typeface="Times New Roman"/>
                        </a:rPr>
                        <a:t>x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67202" marB="0">
                    <a:lnL w="28575">
                      <a:solidFill>
                        <a:srgbClr val="938953"/>
                      </a:solidFill>
                      <a:prstDash val="solid"/>
                    </a:lnL>
                    <a:lnR w="28575">
                      <a:solidFill>
                        <a:srgbClr val="938953"/>
                      </a:solidFill>
                      <a:prstDash val="solid"/>
                    </a:lnR>
                    <a:lnT w="38100">
                      <a:solidFill>
                        <a:srgbClr val="938953"/>
                      </a:solidFill>
                      <a:prstDash val="solid"/>
                    </a:lnT>
                    <a:lnB w="38100">
                      <a:solidFill>
                        <a:srgbClr val="938953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938953"/>
                      </a:solidFill>
                      <a:prstDash val="solid"/>
                    </a:lnL>
                    <a:lnR w="28575">
                      <a:solidFill>
                        <a:srgbClr val="938953"/>
                      </a:solidFill>
                      <a:prstDash val="solid"/>
                    </a:lnR>
                    <a:lnT w="28575">
                      <a:solidFill>
                        <a:srgbClr val="585858"/>
                      </a:solidFill>
                      <a:prstDash val="solid"/>
                    </a:lnT>
                    <a:lnB w="28575">
                      <a:solidFill>
                        <a:srgbClr val="58585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938953"/>
                      </a:solidFill>
                      <a:prstDash val="solid"/>
                    </a:lnL>
                    <a:lnR w="28575">
                      <a:solidFill>
                        <a:srgbClr val="938953"/>
                      </a:solidFill>
                      <a:prstDash val="solid"/>
                    </a:lnR>
                    <a:lnT w="38100">
                      <a:solidFill>
                        <a:srgbClr val="938953"/>
                      </a:solidFill>
                      <a:prstDash val="solid"/>
                    </a:lnT>
                    <a:lnB w="38100">
                      <a:solidFill>
                        <a:srgbClr val="93895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938953"/>
                      </a:solidFill>
                      <a:prstDash val="solid"/>
                    </a:lnL>
                    <a:lnR w="28575">
                      <a:solidFill>
                        <a:srgbClr val="938953"/>
                      </a:solidFill>
                      <a:prstDash val="solid"/>
                    </a:lnR>
                    <a:lnT w="28575">
                      <a:solidFill>
                        <a:srgbClr val="585858"/>
                      </a:solidFill>
                      <a:prstDash val="solid"/>
                    </a:lnT>
                    <a:lnB w="28575">
                      <a:solidFill>
                        <a:srgbClr val="58585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096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sz="1900" b="1" i="1" dirty="0">
                          <a:latin typeface="Times New Roman"/>
                          <a:cs typeface="Times New Roman"/>
                        </a:rPr>
                        <a:t>x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67202" marB="0">
                    <a:lnL w="28575">
                      <a:solidFill>
                        <a:srgbClr val="938953"/>
                      </a:solidFill>
                      <a:prstDash val="solid"/>
                    </a:lnL>
                    <a:lnR w="28575">
                      <a:solidFill>
                        <a:srgbClr val="938953"/>
                      </a:solidFill>
                      <a:prstDash val="solid"/>
                    </a:lnR>
                    <a:lnT w="38100">
                      <a:solidFill>
                        <a:srgbClr val="938953"/>
                      </a:solidFill>
                      <a:prstDash val="solid"/>
                    </a:lnT>
                    <a:lnB w="38100">
                      <a:solidFill>
                        <a:srgbClr val="938953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938953"/>
                      </a:solidFill>
                      <a:prstDash val="solid"/>
                    </a:lnL>
                    <a:lnR w="28575">
                      <a:solidFill>
                        <a:srgbClr val="585858"/>
                      </a:solidFill>
                      <a:prstDash val="solid"/>
                    </a:lnR>
                    <a:lnT w="28575">
                      <a:solidFill>
                        <a:srgbClr val="585858"/>
                      </a:solidFill>
                      <a:prstDash val="solid"/>
                    </a:lnT>
                    <a:lnB w="28575">
                      <a:solidFill>
                        <a:srgbClr val="585858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" name="object 8"/>
          <p:cNvSpPr txBox="1">
            <a:spLocks noGrp="1"/>
          </p:cNvSpPr>
          <p:nvPr>
            <p:ph type="title" idx="4294967295"/>
          </p:nvPr>
        </p:nvSpPr>
        <p:spPr>
          <a:xfrm>
            <a:off x="382554" y="256654"/>
            <a:ext cx="8920065" cy="620574"/>
          </a:xfrm>
          <a:prstGeom prst="rect">
            <a:avLst/>
          </a:prstGeom>
        </p:spPr>
        <p:txBody>
          <a:bodyPr vert="horz" wrap="square" lIns="0" tIns="11068" rIns="0" bIns="0" rtlCol="0" anchor="ctr">
            <a:spAutoFit/>
          </a:bodyPr>
          <a:lstStyle/>
          <a:p>
            <a:pPr marL="11651" algn="ctr">
              <a:spcBef>
                <a:spcPts val="87"/>
              </a:spcBef>
            </a:pPr>
            <a:r>
              <a:rPr sz="4400" b="1" spc="-10" dirty="0" err="1">
                <a:solidFill>
                  <a:srgbClr val="CC3300"/>
                </a:solidFill>
                <a:latin typeface="黑体" pitchFamily="49" charset="-122"/>
                <a:ea typeface="黑体" pitchFamily="49" charset="-122"/>
              </a:rPr>
              <a:t>比较</a:t>
            </a:r>
            <a:r>
              <a:rPr sz="4400" b="1" i="1" spc="-5" dirty="0" err="1" smtClean="0">
                <a:solidFill>
                  <a:srgbClr val="CC3300"/>
                </a:solidFill>
                <a:latin typeface="黑体" pitchFamily="49" charset="-122"/>
                <a:ea typeface="黑体" pitchFamily="49" charset="-122"/>
                <a:cs typeface="Times New Roman"/>
              </a:rPr>
              <a:t>t</a:t>
            </a:r>
            <a:r>
              <a:rPr sz="4400" b="1" spc="-10" dirty="0" err="1" smtClean="0">
                <a:solidFill>
                  <a:srgbClr val="CC3300"/>
                </a:solidFill>
                <a:latin typeface="黑体" pitchFamily="49" charset="-122"/>
                <a:ea typeface="黑体" pitchFamily="49" charset="-122"/>
              </a:rPr>
              <a:t>次的输入个数</a:t>
            </a:r>
            <a:endParaRPr sz="4400" b="1" spc="-10" dirty="0">
              <a:solidFill>
                <a:srgbClr val="CC3300"/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372612" y="1128031"/>
            <a:ext cx="2146238" cy="381097"/>
          </a:xfrm>
          <a:prstGeom prst="rect">
            <a:avLst/>
          </a:prstGeom>
        </p:spPr>
        <p:txBody>
          <a:bodyPr vert="horz" wrap="square" lIns="0" tIns="11651" rIns="0" bIns="0" rtlCol="0">
            <a:spAutoFit/>
          </a:bodyPr>
          <a:lstStyle/>
          <a:p>
            <a:pPr>
              <a:spcBef>
                <a:spcPts val="92"/>
              </a:spcBef>
            </a:pPr>
            <a:r>
              <a:rPr sz="2400" b="1" spc="-5" dirty="0">
                <a:latin typeface="宋体"/>
                <a:cs typeface="宋体"/>
              </a:rPr>
              <a:t>比较</a:t>
            </a:r>
            <a:r>
              <a:rPr sz="2400" b="1" dirty="0">
                <a:latin typeface="Times New Roman"/>
                <a:cs typeface="Times New Roman"/>
              </a:rPr>
              <a:t>1</a:t>
            </a:r>
            <a:r>
              <a:rPr sz="2400" b="1" spc="-5" dirty="0">
                <a:latin typeface="宋体"/>
                <a:cs typeface="宋体"/>
              </a:rPr>
              <a:t>次</a:t>
            </a:r>
            <a:r>
              <a:rPr sz="2400" b="1" dirty="0">
                <a:latin typeface="Times New Roman"/>
                <a:cs typeface="Times New Roman"/>
              </a:rPr>
              <a:t>:</a:t>
            </a:r>
            <a:r>
              <a:rPr sz="2400" b="1" spc="-5" dirty="0">
                <a:latin typeface="Times New Roman"/>
                <a:cs typeface="Times New Roman"/>
              </a:rPr>
              <a:t>1</a:t>
            </a:r>
            <a:r>
              <a:rPr sz="2400" b="1" spc="-10" dirty="0" smtClean="0">
                <a:latin typeface="宋体"/>
                <a:cs typeface="宋体"/>
              </a:rPr>
              <a:t>个</a:t>
            </a:r>
            <a:endParaRPr lang="en-US" sz="2400" b="1" spc="-10" dirty="0">
              <a:latin typeface="宋体"/>
              <a:cs typeface="宋体"/>
            </a:endParaRPr>
          </a:p>
        </p:txBody>
      </p:sp>
      <p:sp>
        <p:nvSpPr>
          <p:cNvPr id="10" name="object 9"/>
          <p:cNvSpPr txBox="1"/>
          <p:nvPr/>
        </p:nvSpPr>
        <p:spPr>
          <a:xfrm>
            <a:off x="6369907" y="2146238"/>
            <a:ext cx="2307578" cy="381097"/>
          </a:xfrm>
          <a:prstGeom prst="rect">
            <a:avLst/>
          </a:prstGeom>
        </p:spPr>
        <p:txBody>
          <a:bodyPr vert="horz" wrap="square" lIns="0" tIns="11651" rIns="0" bIns="0" rtlCol="0">
            <a:spAutoFit/>
          </a:bodyPr>
          <a:lstStyle>
            <a:defPPr>
              <a:defRPr lang="zh-CN"/>
            </a:defPPr>
            <a:lvl1pPr>
              <a:spcBef>
                <a:spcPts val="92"/>
              </a:spcBef>
              <a:defRPr sz="2400" b="1" spc="-5">
                <a:latin typeface="宋体"/>
                <a:cs typeface="宋体"/>
              </a:defRPr>
            </a:lvl1pPr>
          </a:lstStyle>
          <a:p>
            <a:r>
              <a:rPr dirty="0"/>
              <a:t>比较2次:2个</a:t>
            </a:r>
            <a:endParaRPr lang="en-US" dirty="0"/>
          </a:p>
        </p:txBody>
      </p:sp>
      <p:sp>
        <p:nvSpPr>
          <p:cNvPr id="11" name="object 9"/>
          <p:cNvSpPr txBox="1"/>
          <p:nvPr/>
        </p:nvSpPr>
        <p:spPr>
          <a:xfrm>
            <a:off x="6369510" y="3055768"/>
            <a:ext cx="2307975" cy="706122"/>
          </a:xfrm>
          <a:prstGeom prst="rect">
            <a:avLst/>
          </a:prstGeom>
        </p:spPr>
        <p:txBody>
          <a:bodyPr vert="horz" wrap="square" lIns="0" tIns="11651" rIns="0" bIns="0" rtlCol="0">
            <a:spAutoFit/>
          </a:bodyPr>
          <a:lstStyle/>
          <a:p>
            <a:pPr marR="30874">
              <a:lnSpc>
                <a:spcPct val="187600"/>
              </a:lnSpc>
              <a:spcBef>
                <a:spcPts val="92"/>
              </a:spcBef>
            </a:pPr>
            <a:r>
              <a:rPr sz="2400" b="1" spc="-5" dirty="0">
                <a:latin typeface="宋体"/>
                <a:cs typeface="宋体"/>
              </a:rPr>
              <a:t>比较3次:4个</a:t>
            </a:r>
          </a:p>
        </p:txBody>
      </p:sp>
      <p:sp>
        <p:nvSpPr>
          <p:cNvPr id="12" name="object 9"/>
          <p:cNvSpPr txBox="1"/>
          <p:nvPr/>
        </p:nvSpPr>
        <p:spPr>
          <a:xfrm>
            <a:off x="391886" y="3990545"/>
            <a:ext cx="8644526" cy="1396118"/>
          </a:xfrm>
          <a:prstGeom prst="rect">
            <a:avLst/>
          </a:prstGeom>
        </p:spPr>
        <p:txBody>
          <a:bodyPr vert="horz" wrap="square" lIns="0" tIns="11651" rIns="0" bIns="0" rtlCol="0">
            <a:spAutoFit/>
          </a:bodyPr>
          <a:lstStyle/>
          <a:p>
            <a:pPr>
              <a:spcBef>
                <a:spcPts val="41"/>
              </a:spcBef>
            </a:pPr>
            <a:endParaRPr sz="2500" dirty="0">
              <a:latin typeface="Times New Roman"/>
              <a:cs typeface="Times New Roman"/>
            </a:endParaRPr>
          </a:p>
          <a:p>
            <a:pPr marR="74564">
              <a:lnSpc>
                <a:spcPct val="116199"/>
              </a:lnSpc>
              <a:tabLst>
                <a:tab pos="2499655" algn="l"/>
              </a:tabLst>
            </a:pPr>
            <a:r>
              <a:rPr sz="2800" b="1" dirty="0">
                <a:latin typeface="宋体"/>
                <a:cs typeface="宋体"/>
              </a:rPr>
              <a:t>对</a:t>
            </a:r>
            <a:r>
              <a:rPr sz="2800" b="1" i="1" dirty="0">
                <a:latin typeface="Times New Roman"/>
                <a:cs typeface="Times New Roman"/>
              </a:rPr>
              <a:t>t</a:t>
            </a:r>
            <a:r>
              <a:rPr sz="2800" b="1" i="1" spc="-18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=1,</a:t>
            </a:r>
            <a:r>
              <a:rPr sz="2800" b="1" spc="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2,</a:t>
            </a:r>
            <a:r>
              <a:rPr sz="2800" b="1" spc="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…,</a:t>
            </a:r>
            <a:r>
              <a:rPr sz="2800" b="1" spc="-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k</a:t>
            </a:r>
            <a:r>
              <a:rPr sz="2800" b="1" dirty="0">
                <a:latin typeface="Times New Roman"/>
                <a:cs typeface="Times New Roman"/>
              </a:rPr>
              <a:t>-1</a:t>
            </a:r>
            <a:r>
              <a:rPr sz="2800" b="1" dirty="0" smtClean="0">
                <a:latin typeface="Times New Roman"/>
                <a:cs typeface="Times New Roman"/>
              </a:rPr>
              <a:t>, </a:t>
            </a:r>
            <a:r>
              <a:rPr sz="2800" b="1" dirty="0" err="1" smtClean="0">
                <a:latin typeface="宋体"/>
                <a:cs typeface="宋体"/>
              </a:rPr>
              <a:t>比</a:t>
            </a:r>
            <a:r>
              <a:rPr sz="2800" b="1" spc="-10" dirty="0" err="1" smtClean="0">
                <a:latin typeface="宋体"/>
                <a:cs typeface="宋体"/>
              </a:rPr>
              <a:t>较</a:t>
            </a:r>
            <a:r>
              <a:rPr sz="2800" b="1" spc="-628" dirty="0" smtClean="0">
                <a:latin typeface="宋体"/>
                <a:cs typeface="宋体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t</a:t>
            </a:r>
            <a:r>
              <a:rPr sz="2800" b="1" i="1" spc="-1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宋体"/>
                <a:cs typeface="宋体"/>
              </a:rPr>
              <a:t>次</a:t>
            </a:r>
            <a:r>
              <a:rPr sz="2800" b="1" dirty="0">
                <a:latin typeface="Times New Roman"/>
                <a:cs typeface="Times New Roman"/>
              </a:rPr>
              <a:t>:</a:t>
            </a:r>
            <a:r>
              <a:rPr sz="2800" b="1" spc="-28" dirty="0">
                <a:latin typeface="Times New Roman"/>
                <a:cs typeface="Times New Roman"/>
              </a:rPr>
              <a:t> </a:t>
            </a:r>
            <a:r>
              <a:rPr sz="2800" b="1" spc="5" dirty="0">
                <a:latin typeface="Times New Roman"/>
                <a:cs typeface="Times New Roman"/>
              </a:rPr>
              <a:t>2</a:t>
            </a:r>
            <a:r>
              <a:rPr sz="2800" b="1" i="1" spc="6" baseline="26143" dirty="0">
                <a:latin typeface="Times New Roman"/>
                <a:cs typeface="Times New Roman"/>
              </a:rPr>
              <a:t>t</a:t>
            </a:r>
            <a:r>
              <a:rPr sz="2800" b="1" spc="6" baseline="26143" dirty="0">
                <a:latin typeface="Times New Roman"/>
                <a:cs typeface="Times New Roman"/>
              </a:rPr>
              <a:t>-1</a:t>
            </a:r>
            <a:r>
              <a:rPr sz="2800" b="1" spc="-14" baseline="26143" dirty="0">
                <a:latin typeface="Times New Roman"/>
                <a:cs typeface="Times New Roman"/>
              </a:rPr>
              <a:t> </a:t>
            </a:r>
            <a:r>
              <a:rPr sz="2800" b="1" spc="-10" dirty="0">
                <a:latin typeface="宋体"/>
                <a:cs typeface="宋体"/>
              </a:rPr>
              <a:t>个 </a:t>
            </a:r>
            <a:endParaRPr lang="en-US" sz="2800" b="1" spc="-10" dirty="0" smtClean="0">
              <a:latin typeface="宋体"/>
              <a:cs typeface="宋体"/>
            </a:endParaRPr>
          </a:p>
          <a:p>
            <a:pPr marR="74564">
              <a:lnSpc>
                <a:spcPct val="116199"/>
              </a:lnSpc>
              <a:tabLst>
                <a:tab pos="2499655" algn="l"/>
              </a:tabLst>
            </a:pPr>
            <a:r>
              <a:rPr sz="2800" b="1" dirty="0" err="1" smtClean="0">
                <a:latin typeface="宋体"/>
                <a:cs typeface="宋体"/>
              </a:rPr>
              <a:t>比</a:t>
            </a:r>
            <a:r>
              <a:rPr sz="2800" b="1" spc="-10" dirty="0" err="1" smtClean="0">
                <a:latin typeface="宋体"/>
                <a:cs typeface="宋体"/>
              </a:rPr>
              <a:t>较</a:t>
            </a:r>
            <a:r>
              <a:rPr sz="2800" b="1" spc="-619" dirty="0" smtClean="0">
                <a:latin typeface="宋体"/>
                <a:cs typeface="宋体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k</a:t>
            </a:r>
            <a:r>
              <a:rPr sz="2800" b="1" i="1" spc="-14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宋体"/>
                <a:cs typeface="宋体"/>
              </a:rPr>
              <a:t>次的输入</a:t>
            </a:r>
            <a:r>
              <a:rPr sz="2800" b="1" spc="-10" dirty="0">
                <a:latin typeface="宋体"/>
                <a:cs typeface="宋体"/>
              </a:rPr>
              <a:t>有</a:t>
            </a:r>
            <a:r>
              <a:rPr sz="2800" b="1" spc="-610" dirty="0">
                <a:latin typeface="宋体"/>
                <a:cs typeface="宋体"/>
              </a:rPr>
              <a:t> </a:t>
            </a:r>
            <a:r>
              <a:rPr sz="2800" b="1" spc="10" dirty="0">
                <a:latin typeface="Times New Roman"/>
                <a:cs typeface="Times New Roman"/>
              </a:rPr>
              <a:t>2</a:t>
            </a:r>
            <a:r>
              <a:rPr sz="2800" b="1" i="1" spc="14" baseline="26143" dirty="0">
                <a:latin typeface="Times New Roman"/>
                <a:cs typeface="Times New Roman"/>
              </a:rPr>
              <a:t>k</a:t>
            </a:r>
            <a:r>
              <a:rPr sz="2800" b="1" spc="14" baseline="26143" dirty="0">
                <a:latin typeface="Times New Roman"/>
                <a:cs typeface="Times New Roman"/>
              </a:rPr>
              <a:t>-1</a:t>
            </a:r>
            <a:r>
              <a:rPr sz="2800" b="1" spc="-6" baseline="26143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+</a:t>
            </a:r>
            <a:r>
              <a:rPr sz="2800" b="1" spc="-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n</a:t>
            </a:r>
            <a:r>
              <a:rPr sz="2800" b="1" i="1" spc="-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+</a:t>
            </a:r>
            <a:r>
              <a:rPr sz="2800" b="1" spc="5" dirty="0">
                <a:latin typeface="Times New Roman"/>
                <a:cs typeface="Times New Roman"/>
              </a:rPr>
              <a:t> </a:t>
            </a:r>
            <a:r>
              <a:rPr sz="2800" b="1" spc="10" dirty="0">
                <a:latin typeface="Times New Roman"/>
                <a:cs typeface="Times New Roman"/>
              </a:rPr>
              <a:t>1</a:t>
            </a:r>
            <a:r>
              <a:rPr sz="2800" b="1" spc="-10" dirty="0" smtClean="0">
                <a:latin typeface="宋体"/>
                <a:cs typeface="宋体"/>
              </a:rPr>
              <a:t>个</a:t>
            </a:r>
            <a:endParaRPr sz="2800" dirty="0">
              <a:latin typeface="宋体"/>
              <a:cs typeface="宋体"/>
            </a:endParaRPr>
          </a:p>
        </p:txBody>
      </p:sp>
      <p:sp>
        <p:nvSpPr>
          <p:cNvPr id="13" name="object 9"/>
          <p:cNvSpPr txBox="1"/>
          <p:nvPr/>
        </p:nvSpPr>
        <p:spPr>
          <a:xfrm>
            <a:off x="391886" y="5448856"/>
            <a:ext cx="8634798" cy="345189"/>
          </a:xfrm>
          <a:prstGeom prst="rect">
            <a:avLst/>
          </a:prstGeom>
        </p:spPr>
        <p:txBody>
          <a:bodyPr vert="horz" wrap="square" lIns="0" tIns="11651" rIns="0" bIns="0" rtlCol="0">
            <a:spAutoFit/>
          </a:bodyPr>
          <a:lstStyle/>
          <a:p>
            <a:pPr>
              <a:lnSpc>
                <a:spcPts val="2550"/>
              </a:lnSpc>
            </a:pPr>
            <a:r>
              <a:rPr sz="2800" b="1" dirty="0" err="1" smtClean="0">
                <a:solidFill>
                  <a:srgbClr val="C00000"/>
                </a:solidFill>
                <a:latin typeface="宋体"/>
                <a:cs typeface="宋体"/>
              </a:rPr>
              <a:t>总次数</a:t>
            </a:r>
            <a:r>
              <a:rPr sz="2800" b="1" dirty="0" err="1">
                <a:solidFill>
                  <a:srgbClr val="C00000"/>
                </a:solidFill>
                <a:latin typeface="宋体"/>
                <a:cs typeface="宋体"/>
              </a:rPr>
              <a:t>：对每个输入乘以次数并求和</a:t>
            </a:r>
            <a:endParaRPr sz="2800" dirty="0">
              <a:latin typeface="宋体"/>
              <a:cs typeface="宋体"/>
            </a:endParaRPr>
          </a:p>
        </p:txBody>
      </p:sp>
    </p:spTree>
    <p:extLst>
      <p:ext uri="{BB962C8B-B14F-4D97-AF65-F5344CB8AC3E}">
        <p14:creationId xmlns:p14="http://schemas.microsoft.com/office/powerpoint/2010/main" val="33701604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10" grpId="0"/>
      <p:bldP spid="11" grpId="0"/>
      <p:bldP spid="12" grpId="0"/>
      <p:bldP spid="1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object 24"/>
          <p:cNvSpPr txBox="1">
            <a:spLocks noGrp="1"/>
          </p:cNvSpPr>
          <p:nvPr>
            <p:ph type="title" idx="4294967295"/>
          </p:nvPr>
        </p:nvSpPr>
        <p:spPr>
          <a:xfrm>
            <a:off x="405078" y="165687"/>
            <a:ext cx="8878881" cy="620574"/>
          </a:xfrm>
          <a:prstGeom prst="rect">
            <a:avLst/>
          </a:prstGeom>
        </p:spPr>
        <p:txBody>
          <a:bodyPr vert="horz" wrap="square" lIns="0" tIns="11068" rIns="0" bIns="0" rtlCol="0" anchor="ctr">
            <a:spAutoFit/>
          </a:bodyPr>
          <a:lstStyle/>
          <a:p>
            <a:pPr marL="11651" algn="ctr">
              <a:spcBef>
                <a:spcPts val="87"/>
              </a:spcBef>
            </a:pPr>
            <a:r>
              <a:rPr sz="4400" b="1" spc="-10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二分检索平均时间复杂度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object 25"/>
              <p:cNvSpPr txBox="1"/>
              <p:nvPr/>
            </p:nvSpPr>
            <p:spPr>
              <a:xfrm>
                <a:off x="413679" y="1262448"/>
                <a:ext cx="6027972" cy="450346"/>
              </a:xfrm>
              <a:prstGeom prst="rect">
                <a:avLst/>
              </a:prstGeom>
            </p:spPr>
            <p:txBody>
              <a:bodyPr vert="horz" wrap="square" lIns="0" tIns="11651" rIns="0" bIns="0" rtlCol="0">
                <a:spAutoFit/>
              </a:bodyPr>
              <a:lstStyle/>
              <a:p>
                <a:pPr marL="23301">
                  <a:spcBef>
                    <a:spcPts val="92"/>
                  </a:spcBef>
                </a:pPr>
                <a:r>
                  <a:rPr lang="zh-CN" altLang="en-US" sz="2800" b="1" dirty="0">
                    <a:latin typeface="Times New Roman" pitchFamily="18" charset="0"/>
                    <a:ea typeface="黑体" pitchFamily="49" charset="-122"/>
                    <a:cs typeface="Times New Roman" pitchFamily="18" charset="0"/>
                  </a:rPr>
                  <a:t>假</a:t>
                </a:r>
                <a:r>
                  <a:rPr lang="zh-CN" altLang="en-US" sz="2800" b="1" spc="-10" dirty="0">
                    <a:latin typeface="Times New Roman" pitchFamily="18" charset="0"/>
                    <a:ea typeface="黑体" pitchFamily="49" charset="-122"/>
                    <a:cs typeface="Times New Roman" pitchFamily="18" charset="0"/>
                  </a:rPr>
                  <a:t>设</a:t>
                </a:r>
                <a:r>
                  <a:rPr lang="zh-CN" altLang="en-US" sz="2800" b="1" spc="-587" dirty="0">
                    <a:latin typeface="Times New Roman" pitchFamily="18" charset="0"/>
                    <a:ea typeface="黑体" pitchFamily="49" charset="-122"/>
                    <a:cs typeface="Times New Roman" pitchFamily="18" charset="0"/>
                  </a:rPr>
                  <a:t> </a:t>
                </a:r>
                <a:r>
                  <a:rPr lang="en-US" sz="2800" b="1" spc="-37" dirty="0">
                    <a:latin typeface="Times New Roman" pitchFamily="18" charset="0"/>
                    <a:ea typeface="黑体" pitchFamily="49" charset="-122"/>
                    <a:cs typeface="Times New Roman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8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sz="2800" b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ar-AE" altLang="zh-CN" sz="2800" i="1">
                            <a:latin typeface="Cambria Math"/>
                          </a:rPr>
                        </m:ctrlPr>
                      </m:sSupPr>
                      <m:e>
                        <m:r>
                          <a:rPr lang="ar-AE" altLang="zh-CN" sz="2800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zh-CN" altLang="ar-AE" sz="2800" i="1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en-US" altLang="zh-CN" sz="2800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sz="2800" i="1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ar-AE" sz="2800" b="1" dirty="0">
                    <a:latin typeface="Times New Roman" pitchFamily="18" charset="0"/>
                    <a:ea typeface="黑体" pitchFamily="49" charset="-122"/>
                    <a:cs typeface="Times New Roman" pitchFamily="18" charset="0"/>
                  </a:rPr>
                  <a:t>，</a:t>
                </a:r>
                <a:r>
                  <a:rPr lang="zh-CN" altLang="en-US" sz="2800" b="1" dirty="0">
                    <a:latin typeface="Times New Roman" pitchFamily="18" charset="0"/>
                    <a:ea typeface="黑体" pitchFamily="49" charset="-122"/>
                    <a:cs typeface="Times New Roman" pitchFamily="18" charset="0"/>
                  </a:rPr>
                  <a:t>各种输入概率相等</a:t>
                </a:r>
                <a:endParaRPr sz="2800" dirty="0">
                  <a:latin typeface="Times New Roman" pitchFamily="18" charset="0"/>
                  <a:ea typeface="黑体" pitchFamily="49" charset="-122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25" name="object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679" y="1262448"/>
                <a:ext cx="6027972" cy="450346"/>
              </a:xfrm>
              <a:prstGeom prst="rect">
                <a:avLst/>
              </a:prstGeom>
              <a:blipFill rotWithShape="1">
                <a:blip r:embed="rId2"/>
                <a:stretch>
                  <a:fillRect l="-3236" t="-22973" b="-432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矩形 28"/>
              <p:cNvSpPr/>
              <p:nvPr/>
            </p:nvSpPr>
            <p:spPr>
              <a:xfrm>
                <a:off x="415306" y="1628815"/>
                <a:ext cx="6314876" cy="1258555"/>
              </a:xfrm>
              <a:prstGeom prst="rect">
                <a:avLst/>
              </a:prstGeom>
            </p:spPr>
            <p:txBody>
              <a:bodyPr wrap="none" lIns="83887" tIns="41944" rIns="83887" bIns="41944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1" i="1">
                          <a:latin typeface="Cambria Math" panose="02040503050406030204" pitchFamily="18" charset="0"/>
                        </a:rPr>
                        <m:t>𝑨</m:t>
                      </m:r>
                      <m:r>
                        <a:rPr lang="en-US" altLang="zh-CN" sz="2400" b="1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400" b="1" i="1"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US" altLang="zh-CN" sz="2400" b="1" i="1"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en-US" altLang="zh-CN" sz="2400" b="1" i="1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n-US" altLang="zh-CN" sz="2400" b="1" i="1">
                              <a:latin typeface="Cambria Math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ctrlPr>
                                <a:rPr lang="zh-CN" altLang="en-US" sz="2400" b="1" i="1">
                                  <a:latin typeface="Cambria Math"/>
                                </a:rPr>
                              </m:ctrlPr>
                            </m:naryPr>
                            <m:sub>
                              <m:r>
                                <a:rPr lang="en-US" altLang="zh-CN" sz="2400" b="1" i="1">
                                  <a:latin typeface="Cambria Math" panose="02040503050406030204" pitchFamily="18" charset="0"/>
                                </a:rPr>
                                <m:t>𝒕</m:t>
                              </m:r>
                              <m:r>
                                <a:rPr lang="en-US" altLang="zh-CN" sz="2400" b="1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zh-CN" sz="2400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  <m:sup>
                              <m:r>
                                <a:rPr lang="en-US" altLang="zh-CN" sz="2400" b="1" i="1"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  <m:r>
                                <a:rPr lang="en-US" altLang="zh-CN" sz="2400" b="1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2400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p>
                            <m:e>
                              <m:r>
                                <a:rPr lang="en-US" altLang="zh-CN" sz="2400" b="1" i="1">
                                  <a:latin typeface="Cambria Math" panose="02040503050406030204" pitchFamily="18" charset="0"/>
                                </a:rPr>
                                <m:t>𝒕</m:t>
                              </m:r>
                              <m:sSup>
                                <m:sSupPr>
                                  <m:ctrlPr>
                                    <a:rPr lang="en-US" altLang="zh-CN" sz="2400" b="1" i="1">
                                      <a:latin typeface="Cambria Math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400" b="1" i="1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e>
                                <m:sup>
                                  <m:r>
                                    <a:rPr lang="en-US" altLang="zh-CN" sz="2400" b="1" i="1">
                                      <a:latin typeface="Cambria Math" panose="02040503050406030204" pitchFamily="18" charset="0"/>
                                    </a:rPr>
                                    <m:t>𝒕</m:t>
                                  </m:r>
                                  <m:r>
                                    <a:rPr lang="en-US" altLang="zh-CN" sz="2400" b="1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CN" sz="2400" b="1" i="1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p>
                              </m:sSup>
                            </m:e>
                          </m:nary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𝒌</m:t>
                          </m:r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lang="en-US" altLang="zh-CN" sz="2400" b="1" i="1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US" altLang="zh-CN" sz="2400" b="1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e>
                            <m:sup>
                              <m:r>
                                <a:rPr lang="en-US" altLang="zh-CN" sz="2400" b="1" i="1"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  <m:r>
                                <a:rPr lang="en-US" altLang="zh-CN" sz="2400" b="1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2400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p>
                          </m:sSup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</m:oMath>
                  </m:oMathPara>
                </a14:m>
                <a:endParaRPr lang="zh-CN" altLang="en-US" sz="2400" b="1" i="1" dirty="0"/>
              </a:p>
            </p:txBody>
          </p:sp>
        </mc:Choice>
        <mc:Fallback xmlns="">
          <p:sp>
            <p:nvSpPr>
              <p:cNvPr id="29" name="矩形 2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306" y="1628815"/>
                <a:ext cx="6314876" cy="1258555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矩形 29"/>
              <p:cNvSpPr/>
              <p:nvPr/>
            </p:nvSpPr>
            <p:spPr>
              <a:xfrm>
                <a:off x="405078" y="2762767"/>
                <a:ext cx="5902416" cy="1258555"/>
              </a:xfrm>
              <a:prstGeom prst="rect">
                <a:avLst/>
              </a:prstGeom>
            </p:spPr>
            <p:txBody>
              <a:bodyPr wrap="square" lIns="83887" tIns="41944" rIns="83887" bIns="41944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400" b="1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400" b="1" i="1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n-US" altLang="zh-CN" sz="2400" b="1" i="1">
                              <a:latin typeface="Cambria Math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ctrlPr>
                                <a:rPr lang="zh-CN" altLang="en-US" sz="2400" b="1" i="1">
                                  <a:latin typeface="Cambria Math"/>
                                </a:rPr>
                              </m:ctrlPr>
                            </m:naryPr>
                            <m:sub>
                              <m:r>
                                <a:rPr lang="en-US" altLang="zh-CN" sz="2400" b="1" i="1">
                                  <a:latin typeface="Cambria Math" panose="02040503050406030204" pitchFamily="18" charset="0"/>
                                </a:rPr>
                                <m:t>𝒕</m:t>
                              </m:r>
                              <m:r>
                                <a:rPr lang="en-US" altLang="zh-CN" sz="2400" b="1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zh-CN" sz="2400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  <m:sup>
                              <m:r>
                                <a:rPr lang="en-US" altLang="zh-CN" sz="2400" b="1" i="1"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</m:sup>
                            <m:e>
                              <m:r>
                                <a:rPr lang="en-US" altLang="zh-CN" sz="2400" b="1" i="1">
                                  <a:latin typeface="Cambria Math" panose="02040503050406030204" pitchFamily="18" charset="0"/>
                                </a:rPr>
                                <m:t>𝒕</m:t>
                              </m:r>
                              <m:sSup>
                                <m:sSupPr>
                                  <m:ctrlPr>
                                    <a:rPr lang="en-US" altLang="zh-CN" sz="2400" b="1" i="1">
                                      <a:latin typeface="Cambria Math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400" b="1" i="1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e>
                                <m:sup>
                                  <m:r>
                                    <a:rPr lang="en-US" altLang="zh-CN" sz="2400" b="1" i="1">
                                      <a:latin typeface="Cambria Math" panose="02040503050406030204" pitchFamily="18" charset="0"/>
                                    </a:rPr>
                                    <m:t>𝒕</m:t>
                                  </m:r>
                                  <m:r>
                                    <a:rPr lang="en-US" altLang="zh-CN" sz="2400" b="1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CN" sz="2400" b="1" i="1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p>
                              </m:sSup>
                            </m:e>
                          </m:nary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𝒌</m:t>
                          </m:r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</m:oMath>
                  </m:oMathPara>
                </a14:m>
                <a:endParaRPr lang="zh-CN" altLang="en-US" sz="2400" b="1" dirty="0"/>
              </a:p>
            </p:txBody>
          </p:sp>
        </mc:Choice>
        <mc:Fallback xmlns="">
          <p:sp>
            <p:nvSpPr>
              <p:cNvPr id="30" name="矩形 2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5078" y="2762767"/>
                <a:ext cx="5902416" cy="1258555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矩形 30"/>
              <p:cNvSpPr/>
              <p:nvPr/>
            </p:nvSpPr>
            <p:spPr>
              <a:xfrm>
                <a:off x="405079" y="4972014"/>
                <a:ext cx="7880505" cy="843185"/>
              </a:xfrm>
              <a:prstGeom prst="rect">
                <a:avLst/>
              </a:prstGeom>
            </p:spPr>
            <p:txBody>
              <a:bodyPr wrap="square" lIns="83887" tIns="41944" rIns="83887" bIns="41944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400" b="1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400" b="1" i="1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𝒌</m:t>
                          </m:r>
                          <m:sSup>
                            <m:sSupPr>
                              <m:ctrlPr>
                                <a:rPr lang="en-US" altLang="zh-CN" sz="2400" b="1" i="1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US" altLang="zh-CN" sz="2400" b="1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e>
                            <m:sup>
                              <m:r>
                                <a:rPr lang="en-US" altLang="zh-CN" sz="2400" b="1" i="1"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</m:sup>
                          </m:sSup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altLang="zh-CN" sz="2400" b="1" i="1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US" altLang="zh-CN" sz="2400" b="1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e>
                            <m:sup>
                              <m:r>
                                <a:rPr lang="en-US" altLang="zh-CN" sz="2400" b="1" i="1"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</m:sup>
                          </m:sSup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𝒌</m:t>
                          </m:r>
                          <m:sSup>
                            <m:sSupPr>
                              <m:ctrlPr>
                                <a:rPr lang="en-US" altLang="zh-CN" sz="2400" b="1" i="1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US" altLang="zh-CN" sz="2400" b="1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e>
                            <m:sup>
                              <m:r>
                                <a:rPr lang="en-US" altLang="zh-CN" sz="2400" b="1" i="1"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US" altLang="zh-CN" sz="2400" b="1" i="1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US" altLang="zh-CN" sz="2400" b="1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e>
                            <m:sup>
                              <m:r>
                                <a:rPr lang="en-US" altLang="zh-CN" sz="2400" b="1" i="1"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  <m:r>
                                <a:rPr lang="en-US" altLang="zh-CN" sz="2400" b="1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CN" sz="2400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p>
                          </m:sSup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den>
                      </m:f>
                      <m:r>
                        <a:rPr lang="en-US" altLang="zh-CN" sz="24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r>
                        <a:rPr lang="en-US" altLang="zh-CN" sz="24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𝒌</m:t>
                      </m:r>
                      <m:r>
                        <a:rPr lang="en-US" altLang="zh-CN" sz="24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altLang="zh-CN" sz="2400" b="1" i="1">
                              <a:latin typeface="Cambria Math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altLang="zh-CN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  <m:r>
                        <a:rPr lang="en-US" altLang="zh-CN" sz="24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⌊"/>
                          <m:endChr m:val="⌋"/>
                          <m:ctrlPr>
                            <a:rPr lang="en-US" altLang="zh-CN" sz="2400" b="1" i="1">
                              <a:latin typeface="Cambria Math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altLang="zh-CN" sz="2400" b="1" i="1">
                                  <a:latin typeface="Cambria Math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a:rPr lang="en-US" altLang="zh-CN" sz="24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𝐥𝐨𝐠</m:t>
                              </m:r>
                            </m:fName>
                            <m:e>
                              <m:r>
                                <a:rPr lang="en-US" altLang="zh-CN" sz="24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𝒏</m:t>
                              </m:r>
                            </m:e>
                          </m:func>
                        </m:e>
                      </m:d>
                      <m:r>
                        <a:rPr lang="en-US" altLang="zh-CN" sz="24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zh-CN" sz="2400" b="1" i="1">
                              <a:latin typeface="Cambria Math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altLang="zh-CN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</m:oMath>
                  </m:oMathPara>
                </a14:m>
                <a:endParaRPr lang="zh-CN" altLang="en-US" sz="2400" b="1" dirty="0"/>
              </a:p>
            </p:txBody>
          </p:sp>
        </mc:Choice>
        <mc:Fallback xmlns="">
          <p:sp>
            <p:nvSpPr>
              <p:cNvPr id="31" name="矩形 3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5079" y="4972014"/>
                <a:ext cx="7880505" cy="843185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矩形 31"/>
              <p:cNvSpPr/>
              <p:nvPr/>
            </p:nvSpPr>
            <p:spPr>
              <a:xfrm>
                <a:off x="405079" y="4069049"/>
                <a:ext cx="6418413" cy="784771"/>
              </a:xfrm>
              <a:prstGeom prst="rect">
                <a:avLst/>
              </a:prstGeom>
            </p:spPr>
            <p:txBody>
              <a:bodyPr wrap="square" lIns="83887" tIns="41944" rIns="83887" bIns="41944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400" b="1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400" b="1" i="1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n-US" altLang="zh-CN" sz="2400" b="1" i="1">
                              <a:latin typeface="Cambria Math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altLang="zh-CN" sz="2400" b="1" i="1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altLang="zh-CN" sz="2400" b="1" i="1"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  <m:r>
                                <a:rPr lang="en-US" altLang="zh-CN" sz="2400" b="1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2400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</m:d>
                          <m:sSup>
                            <m:sSupPr>
                              <m:ctrlPr>
                                <a:rPr lang="en-US" altLang="zh-CN" sz="2400" b="1" i="1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US" altLang="zh-CN" sz="2400" b="1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e>
                            <m:sup>
                              <m:r>
                                <a:rPr lang="en-US" altLang="zh-CN" sz="2400" b="1" i="1"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</m:sup>
                          </m:sSup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𝒌</m:t>
                          </m:r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</m:oMath>
                  </m:oMathPara>
                </a14:m>
                <a:endParaRPr lang="zh-CN" altLang="en-US" sz="2400" b="1" dirty="0"/>
              </a:p>
            </p:txBody>
          </p:sp>
        </mc:Choice>
        <mc:Fallback xmlns="">
          <p:sp>
            <p:nvSpPr>
              <p:cNvPr id="32" name="矩形 3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5079" y="4069049"/>
                <a:ext cx="6418413" cy="784771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5" name="直接连接符 34"/>
          <p:cNvCxnSpPr/>
          <p:nvPr/>
        </p:nvCxnSpPr>
        <p:spPr>
          <a:xfrm>
            <a:off x="1916015" y="3993100"/>
            <a:ext cx="1032458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35"/>
          <p:cNvCxnSpPr/>
          <p:nvPr/>
        </p:nvCxnSpPr>
        <p:spPr>
          <a:xfrm>
            <a:off x="2697641" y="2794060"/>
            <a:ext cx="2443522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/>
          <p:cNvCxnSpPr/>
          <p:nvPr/>
        </p:nvCxnSpPr>
        <p:spPr>
          <a:xfrm>
            <a:off x="1934677" y="4701475"/>
            <a:ext cx="1750039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111560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31" grpId="0"/>
      <p:bldP spid="3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19873" y="1284663"/>
            <a:ext cx="3762061" cy="442652"/>
          </a:xfrm>
          <a:prstGeom prst="rect">
            <a:avLst/>
          </a:prstGeom>
        </p:spPr>
        <p:txBody>
          <a:bodyPr vert="horz" wrap="square" lIns="0" tIns="11651" rIns="0" bIns="0" rtlCol="0">
            <a:spAutoFit/>
          </a:bodyPr>
          <a:lstStyle/>
          <a:p>
            <a:pPr marL="11651">
              <a:spcBef>
                <a:spcPts val="92"/>
              </a:spcBef>
            </a:pPr>
            <a:r>
              <a:rPr sz="2800" b="1" dirty="0">
                <a:latin typeface="宋体"/>
                <a:cs typeface="宋体"/>
              </a:rPr>
              <a:t>放大法：</a:t>
            </a:r>
            <a:endParaRPr sz="2800" dirty="0">
              <a:latin typeface="宋体"/>
              <a:cs typeface="宋体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01211" y="2170733"/>
            <a:ext cx="2201019" cy="442652"/>
          </a:xfrm>
          <a:prstGeom prst="rect">
            <a:avLst/>
          </a:prstGeom>
        </p:spPr>
        <p:txBody>
          <a:bodyPr vert="horz" wrap="square" lIns="0" tIns="11651" rIns="0" bIns="0" rtlCol="0">
            <a:spAutoFit/>
          </a:bodyPr>
          <a:lstStyle/>
          <a:p>
            <a:pPr marL="11651">
              <a:spcBef>
                <a:spcPts val="92"/>
              </a:spcBef>
            </a:pPr>
            <a:r>
              <a:rPr sz="2800" b="1" dirty="0">
                <a:latin typeface="Times New Roman"/>
                <a:cs typeface="Times New Roman"/>
              </a:rPr>
              <a:t>1.</a:t>
            </a:r>
            <a:endParaRPr sz="280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01211" y="3022244"/>
            <a:ext cx="8910740" cy="510299"/>
          </a:xfrm>
          <a:prstGeom prst="rect">
            <a:avLst/>
          </a:prstGeom>
        </p:spPr>
        <p:txBody>
          <a:bodyPr vert="horz" wrap="square" lIns="0" tIns="78644" rIns="0" bIns="0" rtlCol="0">
            <a:spAutoFit/>
          </a:bodyPr>
          <a:lstStyle/>
          <a:p>
            <a:pPr marL="34952">
              <a:spcBef>
                <a:spcPts val="619"/>
              </a:spcBef>
              <a:tabLst>
                <a:tab pos="383891" algn="l"/>
              </a:tabLst>
            </a:pPr>
            <a:r>
              <a:rPr sz="2800" b="1" spc="-5" dirty="0">
                <a:latin typeface="Times New Roman"/>
                <a:cs typeface="Times New Roman"/>
              </a:rPr>
              <a:t>2.	</a:t>
            </a:r>
            <a:r>
              <a:rPr sz="2800" b="1" spc="-5" dirty="0">
                <a:latin typeface="宋体"/>
                <a:cs typeface="宋体"/>
              </a:rPr>
              <a:t>假设存在常</a:t>
            </a:r>
            <a:r>
              <a:rPr sz="2800" b="1" spc="-10" dirty="0">
                <a:latin typeface="宋体"/>
                <a:cs typeface="宋体"/>
              </a:rPr>
              <a:t>数</a:t>
            </a:r>
            <a:r>
              <a:rPr sz="2800" b="1" spc="-564" dirty="0">
                <a:latin typeface="宋体"/>
                <a:cs typeface="宋体"/>
              </a:rPr>
              <a:t> </a:t>
            </a:r>
            <a:r>
              <a:rPr sz="2800" b="1" i="1" u="sng" dirty="0">
                <a:uFill>
                  <a:solidFill>
                    <a:srgbClr val="C00000"/>
                  </a:solidFill>
                </a:uFill>
                <a:latin typeface="Times New Roman"/>
                <a:cs typeface="Times New Roman"/>
              </a:rPr>
              <a:t>r</a:t>
            </a:r>
            <a:r>
              <a:rPr sz="2800" b="1" i="1" u="sng" spc="-14" dirty="0">
                <a:uFill>
                  <a:solidFill>
                    <a:srgbClr val="C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800" b="1" u="sng" spc="-5" dirty="0">
                <a:uFill>
                  <a:solidFill>
                    <a:srgbClr val="C00000"/>
                  </a:solidFill>
                </a:uFill>
                <a:latin typeface="Times New Roman"/>
                <a:cs typeface="Times New Roman"/>
              </a:rPr>
              <a:t>&lt;1</a:t>
            </a:r>
            <a:r>
              <a:rPr sz="2800" b="1" spc="-5" dirty="0">
                <a:latin typeface="宋体"/>
                <a:cs typeface="宋体"/>
              </a:rPr>
              <a:t>，</a:t>
            </a:r>
            <a:r>
              <a:rPr sz="2800" b="1" spc="-5" dirty="0" smtClean="0">
                <a:latin typeface="宋体"/>
                <a:cs typeface="宋体"/>
              </a:rPr>
              <a:t>使</a:t>
            </a:r>
            <a:r>
              <a:rPr sz="2800" b="1" spc="-10" dirty="0" smtClean="0">
                <a:latin typeface="宋体"/>
                <a:cs typeface="宋体"/>
              </a:rPr>
              <a:t>得</a:t>
            </a:r>
            <a:r>
              <a:rPr sz="2800" b="1" spc="-5" dirty="0" smtClean="0">
                <a:latin typeface="宋体"/>
                <a:cs typeface="宋体"/>
              </a:rPr>
              <a:t>对一切</a:t>
            </a:r>
            <a:r>
              <a:rPr sz="2800" b="1" i="1" dirty="0" smtClean="0">
                <a:latin typeface="Times New Roman"/>
                <a:cs typeface="Times New Roman"/>
              </a:rPr>
              <a:t>k</a:t>
            </a:r>
            <a:r>
              <a:rPr sz="2800" b="1" i="1" spc="-10" dirty="0" smtClean="0">
                <a:latin typeface="Times New Roman"/>
                <a:cs typeface="Times New Roman"/>
              </a:rPr>
              <a:t> </a:t>
            </a:r>
            <a:r>
              <a:rPr sz="2800" b="1" spc="-5" dirty="0">
                <a:latin typeface="Symbol"/>
                <a:cs typeface="Symbol"/>
              </a:rPr>
              <a:t></a:t>
            </a:r>
            <a:r>
              <a:rPr sz="2800" b="1" spc="-14" dirty="0">
                <a:latin typeface="Times New Roman"/>
                <a:cs typeface="Times New Roman"/>
              </a:rPr>
              <a:t> </a:t>
            </a:r>
            <a:r>
              <a:rPr sz="2800" b="1" dirty="0" smtClean="0">
                <a:latin typeface="Times New Roman"/>
                <a:cs typeface="Times New Roman"/>
              </a:rPr>
              <a:t>0</a:t>
            </a:r>
            <a:r>
              <a:rPr sz="2800" b="1" spc="-10" dirty="0" smtClean="0">
                <a:latin typeface="宋体"/>
                <a:cs typeface="宋体"/>
              </a:rPr>
              <a:t>有</a:t>
            </a:r>
            <a:r>
              <a:rPr sz="2800" b="1" spc="-550" dirty="0" smtClean="0">
                <a:latin typeface="宋体"/>
                <a:cs typeface="宋体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a</a:t>
            </a:r>
            <a:r>
              <a:rPr sz="2800" b="1" i="1" baseline="-20833" dirty="0">
                <a:latin typeface="Times New Roman"/>
                <a:cs typeface="Times New Roman"/>
              </a:rPr>
              <a:t>k</a:t>
            </a:r>
            <a:r>
              <a:rPr sz="2800" b="1" baseline="-20833" dirty="0">
                <a:latin typeface="Times New Roman"/>
                <a:cs typeface="Times New Roman"/>
              </a:rPr>
              <a:t>+1</a:t>
            </a:r>
            <a:r>
              <a:rPr sz="2800" b="1" dirty="0">
                <a:latin typeface="Times New Roman"/>
                <a:cs typeface="Times New Roman"/>
              </a:rPr>
              <a:t>/</a:t>
            </a:r>
            <a:r>
              <a:rPr sz="2800" b="1" i="1" dirty="0">
                <a:latin typeface="Times New Roman"/>
                <a:cs typeface="Times New Roman"/>
              </a:rPr>
              <a:t>a</a:t>
            </a:r>
            <a:r>
              <a:rPr sz="2800" b="1" i="1" baseline="-20833" dirty="0">
                <a:latin typeface="Times New Roman"/>
                <a:cs typeface="Times New Roman"/>
              </a:rPr>
              <a:t>k</a:t>
            </a:r>
            <a:r>
              <a:rPr sz="2800" b="1" i="1" spc="-21" baseline="-20833" dirty="0">
                <a:latin typeface="Times New Roman"/>
                <a:cs typeface="Times New Roman"/>
              </a:rPr>
              <a:t> </a:t>
            </a:r>
            <a:r>
              <a:rPr sz="2800" b="1" spc="-5" dirty="0">
                <a:latin typeface="Symbol"/>
                <a:cs typeface="Symbol"/>
              </a:rPr>
              <a:t></a:t>
            </a:r>
            <a:r>
              <a:rPr sz="2800" b="1" spc="-14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r</a:t>
            </a:r>
            <a:r>
              <a:rPr sz="2800" b="1" i="1" spc="1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宋体"/>
                <a:cs typeface="宋体"/>
              </a:rPr>
              <a:t>成立</a:t>
            </a:r>
            <a:endParaRPr sz="2800" dirty="0">
              <a:latin typeface="宋体"/>
              <a:cs typeface="宋体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 idx="4294967295"/>
          </p:nvPr>
        </p:nvSpPr>
        <p:spPr>
          <a:xfrm>
            <a:off x="401211" y="303274"/>
            <a:ext cx="8910740" cy="620574"/>
          </a:xfrm>
          <a:prstGeom prst="rect">
            <a:avLst/>
          </a:prstGeom>
        </p:spPr>
        <p:txBody>
          <a:bodyPr vert="horz" wrap="square" lIns="0" tIns="11068" rIns="0" bIns="0" rtlCol="0" anchor="ctr">
            <a:spAutoFit/>
          </a:bodyPr>
          <a:lstStyle/>
          <a:p>
            <a:pPr marL="11651" algn="ctr">
              <a:spcBef>
                <a:spcPts val="87"/>
              </a:spcBef>
            </a:pPr>
            <a:r>
              <a:rPr sz="4400" b="1" spc="-10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估计和式上界的放大法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2140739" y="5208236"/>
            <a:ext cx="4446703" cy="404038"/>
          </a:xfrm>
          <a:prstGeom prst="rect">
            <a:avLst/>
          </a:prstGeom>
          <a:ln w="31750">
            <a:solidFill>
              <a:srgbClr val="548ED4"/>
            </a:solidFill>
          </a:ln>
        </p:spPr>
        <p:txBody>
          <a:bodyPr vert="horz" wrap="square" lIns="0" tIns="34370" rIns="0" bIns="0" rtlCol="0">
            <a:spAutoFit/>
          </a:bodyPr>
          <a:lstStyle/>
          <a:p>
            <a:pPr marL="83885">
              <a:spcBef>
                <a:spcPts val="271"/>
              </a:spcBef>
              <a:tabLst>
                <a:tab pos="1182545" algn="l"/>
              </a:tabLst>
            </a:pP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3589307" y="4840593"/>
            <a:ext cx="335588" cy="368010"/>
          </a:xfrm>
          <a:custGeom>
            <a:avLst/>
            <a:gdLst/>
            <a:ahLst/>
            <a:cxnLst/>
            <a:rect l="l" t="t" r="r" b="b"/>
            <a:pathLst>
              <a:path w="332105" h="292100">
                <a:moveTo>
                  <a:pt x="0" y="146050"/>
                </a:moveTo>
                <a:lnTo>
                  <a:pt x="165862" y="0"/>
                </a:lnTo>
                <a:lnTo>
                  <a:pt x="331850" y="146050"/>
                </a:lnTo>
                <a:lnTo>
                  <a:pt x="248793" y="146050"/>
                </a:lnTo>
                <a:lnTo>
                  <a:pt x="248793" y="292100"/>
                </a:lnTo>
                <a:lnTo>
                  <a:pt x="82931" y="292100"/>
                </a:lnTo>
                <a:lnTo>
                  <a:pt x="82931" y="146050"/>
                </a:lnTo>
                <a:lnTo>
                  <a:pt x="0" y="146050"/>
                </a:lnTo>
                <a:close/>
              </a:path>
            </a:pathLst>
          </a:custGeom>
          <a:ln w="25400">
            <a:solidFill>
              <a:srgbClr val="385D89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1" name="object 21"/>
          <p:cNvSpPr/>
          <p:nvPr/>
        </p:nvSpPr>
        <p:spPr>
          <a:xfrm flipV="1">
            <a:off x="6988630" y="3532541"/>
            <a:ext cx="1362266" cy="45719"/>
          </a:xfrm>
          <a:custGeom>
            <a:avLst/>
            <a:gdLst/>
            <a:ahLst/>
            <a:cxnLst/>
            <a:rect l="l" t="t" r="r" b="b"/>
            <a:pathLst>
              <a:path w="1219200" h="1904">
                <a:moveTo>
                  <a:pt x="0" y="0"/>
                </a:moveTo>
                <a:lnTo>
                  <a:pt x="1219200" y="1650"/>
                </a:lnTo>
              </a:path>
            </a:pathLst>
          </a:custGeom>
          <a:ln w="2540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2" name="object 22"/>
          <p:cNvSpPr/>
          <p:nvPr/>
        </p:nvSpPr>
        <p:spPr>
          <a:xfrm>
            <a:off x="3668468" y="1750789"/>
            <a:ext cx="829396" cy="772821"/>
          </a:xfrm>
          <a:custGeom>
            <a:avLst/>
            <a:gdLst/>
            <a:ahLst/>
            <a:cxnLst/>
            <a:rect l="l" t="t" r="r" b="b"/>
            <a:pathLst>
              <a:path w="1040129" h="613410">
                <a:moveTo>
                  <a:pt x="580612" y="0"/>
                </a:moveTo>
                <a:lnTo>
                  <a:pt x="528426" y="2167"/>
                </a:lnTo>
                <a:lnTo>
                  <a:pt x="475869" y="8476"/>
                </a:lnTo>
                <a:lnTo>
                  <a:pt x="420940" y="19767"/>
                </a:lnTo>
                <a:lnTo>
                  <a:pt x="369670" y="35181"/>
                </a:lnTo>
                <a:lnTo>
                  <a:pt x="322375" y="54372"/>
                </a:lnTo>
                <a:lnTo>
                  <a:pt x="279371" y="76993"/>
                </a:lnTo>
                <a:lnTo>
                  <a:pt x="240977" y="102699"/>
                </a:lnTo>
                <a:lnTo>
                  <a:pt x="207510" y="131145"/>
                </a:lnTo>
                <a:lnTo>
                  <a:pt x="179285" y="161984"/>
                </a:lnTo>
                <a:lnTo>
                  <a:pt x="156620" y="194871"/>
                </a:lnTo>
                <a:lnTo>
                  <a:pt x="139833" y="229460"/>
                </a:lnTo>
                <a:lnTo>
                  <a:pt x="125157" y="302361"/>
                </a:lnTo>
                <a:lnTo>
                  <a:pt x="127903" y="339981"/>
                </a:lnTo>
                <a:lnTo>
                  <a:pt x="137795" y="377919"/>
                </a:lnTo>
                <a:lnTo>
                  <a:pt x="0" y="484091"/>
                </a:lnTo>
                <a:lnTo>
                  <a:pt x="210058" y="484345"/>
                </a:lnTo>
                <a:lnTo>
                  <a:pt x="244868" y="513214"/>
                </a:lnTo>
                <a:lnTo>
                  <a:pt x="284017" y="538695"/>
                </a:lnTo>
                <a:lnTo>
                  <a:pt x="326969" y="560654"/>
                </a:lnTo>
                <a:lnTo>
                  <a:pt x="373186" y="578957"/>
                </a:lnTo>
                <a:lnTo>
                  <a:pt x="422132" y="593470"/>
                </a:lnTo>
                <a:lnTo>
                  <a:pt x="473268" y="604059"/>
                </a:lnTo>
                <a:lnTo>
                  <a:pt x="526057" y="610589"/>
                </a:lnTo>
                <a:lnTo>
                  <a:pt x="579963" y="612926"/>
                </a:lnTo>
                <a:lnTo>
                  <a:pt x="634448" y="610937"/>
                </a:lnTo>
                <a:lnTo>
                  <a:pt x="688975" y="604487"/>
                </a:lnTo>
                <a:lnTo>
                  <a:pt x="743903" y="593196"/>
                </a:lnTo>
                <a:lnTo>
                  <a:pt x="795173" y="577782"/>
                </a:lnTo>
                <a:lnTo>
                  <a:pt x="842468" y="558592"/>
                </a:lnTo>
                <a:lnTo>
                  <a:pt x="885472" y="535971"/>
                </a:lnTo>
                <a:lnTo>
                  <a:pt x="923866" y="510264"/>
                </a:lnTo>
                <a:lnTo>
                  <a:pt x="957333" y="481818"/>
                </a:lnTo>
                <a:lnTo>
                  <a:pt x="985558" y="450979"/>
                </a:lnTo>
                <a:lnTo>
                  <a:pt x="1008223" y="418092"/>
                </a:lnTo>
                <a:lnTo>
                  <a:pt x="1025010" y="383503"/>
                </a:lnTo>
                <a:lnTo>
                  <a:pt x="1039686" y="310603"/>
                </a:lnTo>
                <a:lnTo>
                  <a:pt x="1036940" y="272983"/>
                </a:lnTo>
                <a:lnTo>
                  <a:pt x="1027049" y="235044"/>
                </a:lnTo>
                <a:lnTo>
                  <a:pt x="990885" y="168643"/>
                </a:lnTo>
                <a:lnTo>
                  <a:pt x="965202" y="138760"/>
                </a:lnTo>
                <a:lnTo>
                  <a:pt x="935005" y="111317"/>
                </a:lnTo>
                <a:lnTo>
                  <a:pt x="900707" y="86482"/>
                </a:lnTo>
                <a:lnTo>
                  <a:pt x="862723" y="64427"/>
                </a:lnTo>
                <a:lnTo>
                  <a:pt x="821467" y="45322"/>
                </a:lnTo>
                <a:lnTo>
                  <a:pt x="777354" y="29337"/>
                </a:lnTo>
                <a:lnTo>
                  <a:pt x="730797" y="16642"/>
                </a:lnTo>
                <a:lnTo>
                  <a:pt x="682212" y="7407"/>
                </a:lnTo>
                <a:lnTo>
                  <a:pt x="632012" y="1803"/>
                </a:lnTo>
                <a:lnTo>
                  <a:pt x="580612" y="0"/>
                </a:lnTo>
                <a:close/>
              </a:path>
            </a:pathLst>
          </a:custGeom>
          <a:solidFill>
            <a:srgbClr val="4F81BC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3" name="object 23"/>
          <p:cNvSpPr/>
          <p:nvPr/>
        </p:nvSpPr>
        <p:spPr>
          <a:xfrm>
            <a:off x="3668468" y="1750789"/>
            <a:ext cx="829396" cy="772821"/>
          </a:xfrm>
          <a:custGeom>
            <a:avLst/>
            <a:gdLst/>
            <a:ahLst/>
            <a:cxnLst/>
            <a:rect l="l" t="t" r="r" b="b"/>
            <a:pathLst>
              <a:path w="1040129" h="613410">
                <a:moveTo>
                  <a:pt x="0" y="484091"/>
                </a:moveTo>
                <a:lnTo>
                  <a:pt x="137795" y="377919"/>
                </a:lnTo>
                <a:lnTo>
                  <a:pt x="127903" y="339981"/>
                </a:lnTo>
                <a:lnTo>
                  <a:pt x="125157" y="302361"/>
                </a:lnTo>
                <a:lnTo>
                  <a:pt x="139833" y="229460"/>
                </a:lnTo>
                <a:lnTo>
                  <a:pt x="156620" y="194871"/>
                </a:lnTo>
                <a:lnTo>
                  <a:pt x="179285" y="161984"/>
                </a:lnTo>
                <a:lnTo>
                  <a:pt x="207510" y="131145"/>
                </a:lnTo>
                <a:lnTo>
                  <a:pt x="240977" y="102699"/>
                </a:lnTo>
                <a:lnTo>
                  <a:pt x="279371" y="76993"/>
                </a:lnTo>
                <a:lnTo>
                  <a:pt x="322375" y="54372"/>
                </a:lnTo>
                <a:lnTo>
                  <a:pt x="369670" y="35181"/>
                </a:lnTo>
                <a:lnTo>
                  <a:pt x="420940" y="19767"/>
                </a:lnTo>
                <a:lnTo>
                  <a:pt x="475869" y="8476"/>
                </a:lnTo>
                <a:lnTo>
                  <a:pt x="528426" y="2167"/>
                </a:lnTo>
                <a:lnTo>
                  <a:pt x="580612" y="0"/>
                </a:lnTo>
                <a:lnTo>
                  <a:pt x="632012" y="1803"/>
                </a:lnTo>
                <a:lnTo>
                  <a:pt x="682212" y="7407"/>
                </a:lnTo>
                <a:lnTo>
                  <a:pt x="730797" y="16642"/>
                </a:lnTo>
                <a:lnTo>
                  <a:pt x="777354" y="29337"/>
                </a:lnTo>
                <a:lnTo>
                  <a:pt x="821467" y="45322"/>
                </a:lnTo>
                <a:lnTo>
                  <a:pt x="862723" y="64427"/>
                </a:lnTo>
                <a:lnTo>
                  <a:pt x="900707" y="86482"/>
                </a:lnTo>
                <a:lnTo>
                  <a:pt x="935005" y="111317"/>
                </a:lnTo>
                <a:lnTo>
                  <a:pt x="965202" y="138760"/>
                </a:lnTo>
                <a:lnTo>
                  <a:pt x="990885" y="168643"/>
                </a:lnTo>
                <a:lnTo>
                  <a:pt x="1011638" y="200794"/>
                </a:lnTo>
                <a:lnTo>
                  <a:pt x="1036940" y="272983"/>
                </a:lnTo>
                <a:lnTo>
                  <a:pt x="1039686" y="310603"/>
                </a:lnTo>
                <a:lnTo>
                  <a:pt x="1035604" y="347558"/>
                </a:lnTo>
                <a:lnTo>
                  <a:pt x="1008223" y="418092"/>
                </a:lnTo>
                <a:lnTo>
                  <a:pt x="985558" y="450979"/>
                </a:lnTo>
                <a:lnTo>
                  <a:pt x="957333" y="481818"/>
                </a:lnTo>
                <a:lnTo>
                  <a:pt x="923866" y="510264"/>
                </a:lnTo>
                <a:lnTo>
                  <a:pt x="885472" y="535971"/>
                </a:lnTo>
                <a:lnTo>
                  <a:pt x="842468" y="558592"/>
                </a:lnTo>
                <a:lnTo>
                  <a:pt x="795173" y="577782"/>
                </a:lnTo>
                <a:lnTo>
                  <a:pt x="743903" y="593196"/>
                </a:lnTo>
                <a:lnTo>
                  <a:pt x="688975" y="604487"/>
                </a:lnTo>
                <a:lnTo>
                  <a:pt x="634448" y="610937"/>
                </a:lnTo>
                <a:lnTo>
                  <a:pt x="579963" y="612926"/>
                </a:lnTo>
                <a:lnTo>
                  <a:pt x="526057" y="610589"/>
                </a:lnTo>
                <a:lnTo>
                  <a:pt x="473268" y="604059"/>
                </a:lnTo>
                <a:lnTo>
                  <a:pt x="422132" y="593470"/>
                </a:lnTo>
                <a:lnTo>
                  <a:pt x="373186" y="578957"/>
                </a:lnTo>
                <a:lnTo>
                  <a:pt x="326969" y="560654"/>
                </a:lnTo>
                <a:lnTo>
                  <a:pt x="284017" y="538695"/>
                </a:lnTo>
                <a:lnTo>
                  <a:pt x="244868" y="513214"/>
                </a:lnTo>
                <a:lnTo>
                  <a:pt x="210058" y="484345"/>
                </a:lnTo>
                <a:lnTo>
                  <a:pt x="0" y="484091"/>
                </a:lnTo>
                <a:close/>
              </a:path>
            </a:pathLst>
          </a:custGeom>
          <a:ln w="25400">
            <a:solidFill>
              <a:srgbClr val="385D89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4" name="object 24"/>
          <p:cNvSpPr txBox="1"/>
          <p:nvPr/>
        </p:nvSpPr>
        <p:spPr>
          <a:xfrm>
            <a:off x="3939771" y="1767277"/>
            <a:ext cx="387355" cy="750429"/>
          </a:xfrm>
          <a:prstGeom prst="rect">
            <a:avLst/>
          </a:prstGeom>
        </p:spPr>
        <p:txBody>
          <a:bodyPr vert="horz" wrap="square" lIns="0" tIns="11651" rIns="0" bIns="0" rtlCol="0">
            <a:spAutoFit/>
          </a:bodyPr>
          <a:lstStyle/>
          <a:p>
            <a:pPr marL="11651">
              <a:spcBef>
                <a:spcPts val="92"/>
              </a:spcBef>
            </a:pPr>
            <a:r>
              <a:rPr sz="2400" b="1" dirty="0">
                <a:solidFill>
                  <a:srgbClr val="FFFFFF"/>
                </a:solidFill>
                <a:latin typeface="宋体"/>
                <a:cs typeface="宋体"/>
              </a:rPr>
              <a:t>放大</a:t>
            </a:r>
            <a:endParaRPr sz="2400" dirty="0">
              <a:latin typeface="宋体"/>
              <a:cs typeface="宋体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矩形 24"/>
              <p:cNvSpPr/>
              <p:nvPr/>
            </p:nvSpPr>
            <p:spPr>
              <a:xfrm>
                <a:off x="1054359" y="1750789"/>
                <a:ext cx="3264061" cy="1260927"/>
              </a:xfrm>
              <a:prstGeom prst="rect">
                <a:avLst/>
              </a:prstGeom>
            </p:spPr>
            <p:txBody>
              <a:bodyPr wrap="square" lIns="83887" tIns="41944" rIns="83887" bIns="41944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zh-CN" altLang="en-US" sz="2800" b="1" i="1">
                              <a:latin typeface="Cambria Math"/>
                            </a:rPr>
                          </m:ctrlPr>
                        </m:naryPr>
                        <m:sub>
                          <m:r>
                            <a:rPr lang="en-US" altLang="zh-CN" sz="2800" b="1" i="1">
                              <a:latin typeface="Cambria Math" panose="02040503050406030204" pitchFamily="18" charset="0"/>
                            </a:rPr>
                            <m:t>𝒌</m:t>
                          </m:r>
                          <m:r>
                            <a:rPr lang="en-US" altLang="zh-CN" sz="2800" b="1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sz="28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altLang="zh-CN" sz="2800" b="1" i="1">
                              <a:latin typeface="Cambria Math" panose="02040503050406030204" pitchFamily="18" charset="0"/>
                            </a:rPr>
                            <m:t>𝒏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sz="2800" b="1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altLang="zh-CN" sz="2800" b="1" i="1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  <m:sub>
                              <m:r>
                                <a:rPr lang="en-US" altLang="zh-CN" sz="2800" b="1" i="1"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</m:sub>
                          </m:sSub>
                        </m:e>
                      </m:nary>
                      <m:r>
                        <a:rPr lang="en-US" altLang="zh-CN" sz="28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altLang="zh-CN" sz="28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𝒏</m:t>
                      </m:r>
                      <m:sSub>
                        <m:sSubPr>
                          <m:ctrlPr>
                            <a:rPr lang="en-US" altLang="zh-CN" sz="2800" b="1" i="1">
                              <a:latin typeface="Cambria Math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𝒂</m:t>
                          </m:r>
                        </m:e>
                        <m:sub>
                          <m:r>
                            <a:rPr lang="en-US" altLang="zh-CN" sz="28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𝒎𝒂𝒙</m:t>
                          </m:r>
                        </m:sub>
                      </m:sSub>
                    </m:oMath>
                  </m:oMathPara>
                </a14:m>
                <a:endParaRPr lang="zh-CN" altLang="en-US" sz="2800" b="1" dirty="0"/>
              </a:p>
            </p:txBody>
          </p:sp>
        </mc:Choice>
        <mc:Fallback xmlns="">
          <p:sp>
            <p:nvSpPr>
              <p:cNvPr id="25" name="矩形 2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4359" y="1750789"/>
                <a:ext cx="3264061" cy="1260927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矩形 25"/>
              <p:cNvSpPr/>
              <p:nvPr/>
            </p:nvSpPr>
            <p:spPr>
              <a:xfrm>
                <a:off x="2016726" y="3800876"/>
                <a:ext cx="5334416" cy="1091458"/>
              </a:xfrm>
              <a:prstGeom prst="rect">
                <a:avLst/>
              </a:prstGeom>
            </p:spPr>
            <p:txBody>
              <a:bodyPr wrap="none" lIns="83887" tIns="41944" rIns="83887" bIns="41944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zh-CN" altLang="en-US" sz="2400" b="1" i="1">
                              <a:latin typeface="Cambria Math"/>
                            </a:rPr>
                          </m:ctrlPr>
                        </m:naryPr>
                        <m:sub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𝒌</m:t>
                          </m:r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  <m:sup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𝒏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sz="2400" b="1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altLang="zh-CN" sz="2400" b="1" i="1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  <m:sub>
                              <m:r>
                                <a:rPr lang="en-US" altLang="zh-CN" sz="2400" b="1" i="1"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</m:sub>
                          </m:sSub>
                        </m:e>
                      </m:nary>
                      <m:r>
                        <a:rPr lang="en-US" altLang="zh-CN" sz="24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nary>
                        <m:naryPr>
                          <m:chr m:val="∑"/>
                          <m:ctrlPr>
                            <a:rPr lang="zh-CN" altLang="en-US" sz="2400" b="1" i="1">
                              <a:latin typeface="Cambria Math"/>
                            </a:rPr>
                          </m:ctrlPr>
                        </m:naryPr>
                        <m:sub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𝒌</m:t>
                          </m:r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  <m:sup>
                          <m:r>
                            <a:rPr lang="en-US" altLang="zh-CN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sz="2400" b="1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altLang="zh-CN" sz="2400" b="1" i="1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  <m:sub>
                              <m:r>
                                <a:rPr lang="en-US" altLang="zh-CN" sz="2400" b="1" i="1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US" altLang="zh-CN" sz="2400" b="1" i="1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US" altLang="zh-CN" sz="2400" b="1" i="1">
                                  <a:latin typeface="Cambria Math" panose="02040503050406030204" pitchFamily="18" charset="0"/>
                                </a:rPr>
                                <m:t>𝒓</m:t>
                              </m:r>
                            </m:e>
                            <m:sup>
                              <m:r>
                                <a:rPr lang="en-US" altLang="zh-CN" sz="2400" b="1" i="1"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</m:sup>
                          </m:sSup>
                        </m:e>
                      </m:nary>
                      <m:r>
                        <a:rPr lang="en-US" altLang="zh-CN" sz="2400" b="1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400" b="1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b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nary>
                        <m:naryPr>
                          <m:chr m:val="∑"/>
                          <m:ctrlPr>
                            <a:rPr lang="zh-CN" altLang="en-US" sz="2400" b="1" i="1">
                              <a:latin typeface="Cambria Math"/>
                            </a:rPr>
                          </m:ctrlPr>
                        </m:naryPr>
                        <m:sub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𝒌</m:t>
                          </m:r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  <m:sup>
                          <m:r>
                            <a:rPr lang="en-US" altLang="zh-CN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p>
                            <m:sSupPr>
                              <m:ctrlPr>
                                <a:rPr lang="en-US" altLang="zh-CN" sz="2400" b="1" i="1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US" altLang="zh-CN" sz="2400" b="1" i="1">
                                  <a:latin typeface="Cambria Math" panose="02040503050406030204" pitchFamily="18" charset="0"/>
                                </a:rPr>
                                <m:t>𝒓</m:t>
                              </m:r>
                            </m:e>
                            <m:sup>
                              <m:r>
                                <a:rPr lang="en-US" altLang="zh-CN" sz="2400" b="1" i="1"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</m:sup>
                          </m:sSup>
                        </m:e>
                      </m:nary>
                      <m:r>
                        <a:rPr lang="en-US" altLang="zh-CN" sz="2400" b="1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400" b="1" i="1">
                              <a:latin typeface="Cambria Math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sz="2400" b="1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altLang="zh-CN" sz="2400" b="1" i="1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  <m:sub>
                              <m:r>
                                <a:rPr lang="en-US" altLang="zh-CN" sz="2400" b="1" i="1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num>
                        <m:den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𝒓</m:t>
                          </m:r>
                        </m:den>
                      </m:f>
                    </m:oMath>
                  </m:oMathPara>
                </a14:m>
                <a:endParaRPr lang="zh-CN" altLang="en-US" sz="2400" b="1" dirty="0"/>
              </a:p>
            </p:txBody>
          </p:sp>
        </mc:Choice>
        <mc:Fallback xmlns="">
          <p:sp>
            <p:nvSpPr>
              <p:cNvPr id="26" name="矩形 2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6726" y="3800876"/>
                <a:ext cx="5334416" cy="1091458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/>
              <p:cNvSpPr/>
              <p:nvPr/>
            </p:nvSpPr>
            <p:spPr>
              <a:xfrm>
                <a:off x="2081762" y="5159025"/>
                <a:ext cx="5933263" cy="462375"/>
              </a:xfrm>
              <a:prstGeom prst="rect">
                <a:avLst/>
              </a:prstGeom>
            </p:spPr>
            <p:txBody>
              <a:bodyPr wrap="square" lIns="83887" tIns="41944" rIns="83887" bIns="41944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US" altLang="zh-CN" sz="2400" b="1" i="1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sz="24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altLang="zh-CN" sz="2400" b="1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US" altLang="zh-CN" sz="2400" b="1" i="1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US" altLang="zh-CN" sz="2400" b="1" i="1">
                        <a:latin typeface="Cambria Math" panose="02040503050406030204" pitchFamily="18" charset="0"/>
                      </a:rPr>
                      <m:t>𝒓</m:t>
                    </m:r>
                  </m:oMath>
                </a14:m>
                <a:r>
                  <a:rPr lang="zh-CN" altLang="en-US" sz="2400" b="1" dirty="0"/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US" altLang="zh-CN" sz="2400" b="1" i="1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altLang="zh-CN" sz="24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altLang="zh-CN" sz="2400" b="1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US" altLang="zh-CN" sz="2400" b="1" i="1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sz="2400" b="1" i="1">
                        <a:latin typeface="Cambria Math" panose="02040503050406030204" pitchFamily="18" charset="0"/>
                      </a:rPr>
                      <m:t>𝒓</m:t>
                    </m:r>
                    <m:r>
                      <a:rPr lang="en-US" altLang="zh-CN" sz="24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altLang="zh-CN" sz="2400" b="1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US" altLang="zh-CN" sz="2400" b="1" i="1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sSup>
                      <m:sSupPr>
                        <m:ctrlPr>
                          <a:rPr lang="en-US" altLang="zh-CN" sz="2400" b="1" i="1">
                            <a:latin typeface="Cambria Math"/>
                          </a:rPr>
                        </m:ctrlPr>
                      </m:sSupPr>
                      <m:e>
                        <m:r>
                          <a:rPr lang="en-US" altLang="zh-CN" sz="2400" b="1" i="1">
                            <a:latin typeface="Cambria Math" panose="02040503050406030204" pitchFamily="18" charset="0"/>
                          </a:rPr>
                          <m:t>𝒓</m:t>
                        </m:r>
                      </m:e>
                      <m:sup>
                        <m:r>
                          <a:rPr lang="en-US" altLang="zh-CN" sz="2400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zh-CN" altLang="en-US" sz="2400" b="1" dirty="0"/>
                  <a:t>，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</m:oMath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6" name="矩形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81762" y="5159025"/>
                <a:ext cx="5933263" cy="462375"/>
              </a:xfrm>
              <a:prstGeom prst="rect">
                <a:avLst/>
              </a:prstGeom>
              <a:blipFill rotWithShape="1">
                <a:blip r:embed="rId4"/>
                <a:stretch>
                  <a:fillRect t="-7895" b="-3157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952961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9" grpId="0" animBg="1"/>
      <p:bldP spid="20" grpId="0" animBg="1"/>
      <p:bldP spid="21" grpId="0" animBg="1"/>
      <p:bldP spid="26" grpId="0"/>
      <p:bldP spid="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401219" y="276324"/>
            <a:ext cx="8910734" cy="620574"/>
          </a:xfrm>
          <a:prstGeom prst="rect">
            <a:avLst/>
          </a:prstGeom>
        </p:spPr>
        <p:txBody>
          <a:bodyPr vert="horz" wrap="square" lIns="0" tIns="11068" rIns="0" bIns="0" rtlCol="0" anchor="ctr">
            <a:spAutoFit/>
          </a:bodyPr>
          <a:lstStyle/>
          <a:p>
            <a:pPr marL="11651" algn="ctr">
              <a:spcBef>
                <a:spcPts val="87"/>
              </a:spcBef>
            </a:pPr>
            <a:r>
              <a:rPr sz="4400" b="1" spc="-10" dirty="0">
                <a:solidFill>
                  <a:srgbClr val="C00000"/>
                </a:solidFill>
              </a:rPr>
              <a:t>放大法的例子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object 3"/>
              <p:cNvSpPr txBox="1"/>
              <p:nvPr/>
            </p:nvSpPr>
            <p:spPr>
              <a:xfrm>
                <a:off x="1116200" y="2229772"/>
                <a:ext cx="6525573" cy="730616"/>
              </a:xfrm>
              <a:prstGeom prst="rect">
                <a:avLst/>
              </a:prstGeom>
            </p:spPr>
            <p:txBody>
              <a:bodyPr vert="horz" wrap="square" lIns="0" tIns="11651" rIns="0" bIns="0" rtlCol="0">
                <a:spAutoFit/>
              </a:bodyPr>
              <a:lstStyle/>
              <a:p>
                <a:pPr marL="11651">
                  <a:spcBef>
                    <a:spcPts val="92"/>
                  </a:spcBef>
                </a:pPr>
                <a:r>
                  <a:rPr lang="zh-CN" altLang="en-US" sz="2800" b="1" spc="-10" dirty="0">
                    <a:latin typeface="宋体" pitchFamily="2" charset="-122"/>
                    <a:ea typeface="宋体" pitchFamily="2" charset="-122"/>
                    <a:cs typeface="Times New Roman" pitchFamily="18" charset="0"/>
                  </a:rPr>
                  <a:t>解</a:t>
                </a:r>
                <a:r>
                  <a:rPr lang="zh-CN" altLang="en-US" sz="2800" b="1" spc="-206" dirty="0">
                    <a:latin typeface="宋体" pitchFamily="2" charset="-122"/>
                    <a:ea typeface="宋体" pitchFamily="2" charset="-122"/>
                    <a:cs typeface="Times New Roman" pitchFamily="18" charset="0"/>
                  </a:rPr>
                  <a:t> </a:t>
                </a:r>
                <a:r>
                  <a:rPr lang="zh-CN" altLang="en-US" sz="2800" b="1" spc="-10" dirty="0">
                    <a:latin typeface="宋体" pitchFamily="2" charset="-122"/>
                    <a:ea typeface="宋体" pitchFamily="2" charset="-122"/>
                    <a:cs typeface="Times New Roman" pitchFamily="18" charset="0"/>
                  </a:rPr>
                  <a:t>由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zh-CN" sz="3200" b="1" i="1">
                            <a:latin typeface="Cambria Math"/>
                          </a:rPr>
                        </m:ctrlPr>
                      </m:sSubPr>
                      <m:e>
                        <m:r>
                          <a:rPr lang="zh-CN" altLang="ar-AE" sz="3200" b="1" i="1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US" altLang="zh-CN" sz="3200" b="1" i="1">
                            <a:latin typeface="Cambria Math" panose="02040503050406030204" pitchFamily="18" charset="0"/>
                          </a:rPr>
                          <m:t>𝒌</m:t>
                        </m:r>
                      </m:sub>
                    </m:sSub>
                    <m:r>
                      <a:rPr lang="en-US" altLang="zh-CN" sz="3200" b="1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altLang="zh-CN" sz="3200" b="1" i="1">
                            <a:latin typeface="Cambria Math"/>
                          </a:rPr>
                        </m:ctrlPr>
                      </m:fPr>
                      <m:num>
                        <m:r>
                          <a:rPr lang="zh-CN" altLang="ar-AE" sz="3200" b="1" i="1">
                            <a:latin typeface="Cambria Math" panose="02040503050406030204" pitchFamily="18" charset="0"/>
                          </a:rPr>
                          <m:t>𝒌</m:t>
                        </m:r>
                      </m:num>
                      <m:den>
                        <m:sSup>
                          <m:sSupPr>
                            <m:ctrlPr>
                              <a:rPr lang="ar-AE" altLang="zh-CN" sz="3200" b="1" i="1"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a:rPr lang="ar-AE" altLang="zh-CN" sz="3200" b="1" i="1">
                                <a:latin typeface="Cambria Math" panose="02040503050406030204" pitchFamily="18" charset="0"/>
                              </a:rPr>
                              <m:t>𝟑</m:t>
                            </m:r>
                          </m:e>
                          <m:sup>
                            <m:r>
                              <a:rPr lang="zh-CN" altLang="ar-AE" sz="3200" b="1" i="1">
                                <a:latin typeface="Cambria Math" panose="02040503050406030204" pitchFamily="18" charset="0"/>
                              </a:rPr>
                              <m:t>𝒌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sz="3200" b="1" dirty="0">
                    <a:latin typeface="Times New Roman" pitchFamily="18" charset="0"/>
                    <a:cs typeface="Times New Roman" pitchFamily="18" charset="0"/>
                  </a:rPr>
                  <a:t>,</a:t>
                </a:r>
                <a:r>
                  <a:rPr lang="ar-AE" altLang="zh-CN" sz="3200" b="1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zh-CN" sz="3200" b="1" i="1">
                            <a:latin typeface="Cambria Math"/>
                          </a:rPr>
                        </m:ctrlPr>
                      </m:sSubPr>
                      <m:e>
                        <m:r>
                          <a:rPr lang="zh-CN" altLang="ar-AE" sz="3200" b="1" i="1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US" altLang="zh-CN" sz="3200" b="1" i="1">
                            <a:latin typeface="Cambria Math" panose="02040503050406030204" pitchFamily="18" charset="0"/>
                          </a:rPr>
                          <m:t>𝒌</m:t>
                        </m:r>
                        <m:r>
                          <a:rPr lang="en-US" altLang="zh-CN" sz="3200" b="1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3200" b="1" i="1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sz="3200" b="1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altLang="zh-CN" sz="3200" b="1" i="1">
                            <a:latin typeface="Cambria Math"/>
                          </a:rPr>
                        </m:ctrlPr>
                      </m:fPr>
                      <m:num>
                        <m:r>
                          <a:rPr lang="zh-CN" altLang="ar-AE" sz="3200" b="1" i="1">
                            <a:latin typeface="Cambria Math" panose="02040503050406030204" pitchFamily="18" charset="0"/>
                          </a:rPr>
                          <m:t>𝒌</m:t>
                        </m:r>
                        <m:r>
                          <a:rPr lang="en-US" altLang="zh-CN" sz="3200" b="1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3200" b="1" i="1"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sSup>
                          <m:sSupPr>
                            <m:ctrlPr>
                              <a:rPr lang="ar-AE" altLang="zh-CN" sz="3200" b="1" i="1"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a:rPr lang="ar-AE" altLang="zh-CN" sz="3200" b="1" i="1">
                                <a:latin typeface="Cambria Math" panose="02040503050406030204" pitchFamily="18" charset="0"/>
                              </a:rPr>
                              <m:t>𝟑</m:t>
                            </m:r>
                          </m:e>
                          <m:sup>
                            <m:r>
                              <a:rPr lang="zh-CN" altLang="ar-AE" sz="3200" b="1" i="1">
                                <a:latin typeface="Cambria Math" panose="02040503050406030204" pitchFamily="18" charset="0"/>
                              </a:rPr>
                              <m:t>𝒌</m:t>
                            </m:r>
                            <m:r>
                              <a:rPr lang="en-US" altLang="zh-CN" sz="3200" b="1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CN" sz="3200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p>
                        </m:sSup>
                      </m:den>
                    </m:f>
                  </m:oMath>
                </a14:m>
                <a:endParaRPr sz="3200" b="1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3" name="object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6200" y="2229772"/>
                <a:ext cx="6525573" cy="730616"/>
              </a:xfrm>
              <a:prstGeom prst="rect">
                <a:avLst/>
              </a:prstGeom>
              <a:blipFill rotWithShape="1">
                <a:blip r:embed="rId2"/>
                <a:stretch>
                  <a:fillRect l="-3081" t="-833" b="-1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object 4"/>
          <p:cNvSpPr txBox="1"/>
          <p:nvPr/>
        </p:nvSpPr>
        <p:spPr>
          <a:xfrm>
            <a:off x="1080905" y="3945530"/>
            <a:ext cx="263300" cy="442652"/>
          </a:xfrm>
          <a:prstGeom prst="rect">
            <a:avLst/>
          </a:prstGeom>
        </p:spPr>
        <p:txBody>
          <a:bodyPr vert="horz" wrap="square" lIns="0" tIns="11651" rIns="0" bIns="0" rtlCol="0">
            <a:spAutoFit/>
          </a:bodyPr>
          <a:lstStyle/>
          <a:p>
            <a:pPr marL="11651">
              <a:spcBef>
                <a:spcPts val="92"/>
              </a:spcBef>
            </a:pPr>
            <a:r>
              <a:rPr sz="2800" b="1" spc="-10" dirty="0">
                <a:latin typeface="Times New Roman" pitchFamily="18" charset="0"/>
                <a:cs typeface="Times New Roman" pitchFamily="18" charset="0"/>
              </a:rPr>
              <a:t>得</a:t>
            </a:r>
            <a:endParaRPr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215233" y="3"/>
            <a:ext cx="137321" cy="45121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223737" y="13443"/>
            <a:ext cx="149474" cy="47041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object 7"/>
              <p:cNvSpPr txBox="1"/>
              <p:nvPr/>
            </p:nvSpPr>
            <p:spPr>
              <a:xfrm>
                <a:off x="410157" y="1338737"/>
                <a:ext cx="3494881" cy="370249"/>
              </a:xfrm>
              <a:prstGeom prst="rect">
                <a:avLst/>
              </a:prstGeom>
            </p:spPr>
            <p:txBody>
              <a:bodyPr vert="horz" wrap="square" lIns="0" tIns="11068" rIns="0" bIns="0" rtlCol="0">
                <a:spAutoFit/>
              </a:bodyPr>
              <a:lstStyle/>
              <a:p>
                <a:pPr marL="34952">
                  <a:lnSpc>
                    <a:spcPts val="2830"/>
                  </a:lnSpc>
                </a:pPr>
                <a:r>
                  <a:rPr lang="zh-CN" altLang="en-US" sz="2800" b="1" spc="-5" dirty="0">
                    <a:latin typeface="Times New Roman" pitchFamily="18" charset="0"/>
                    <a:cs typeface="Times New Roman" pitchFamily="18" charset="0"/>
                  </a:rPr>
                  <a:t>估</a:t>
                </a:r>
                <a:r>
                  <a:rPr lang="zh-CN" altLang="en-US" sz="2800" b="1" spc="-10" dirty="0" err="1">
                    <a:latin typeface="Times New Roman" pitchFamily="18" charset="0"/>
                    <a:cs typeface="Times New Roman" pitchFamily="18" charset="0"/>
                  </a:rPr>
                  <a:t>计</a:t>
                </a:r>
                <a:r>
                  <a:rPr lang="zh-CN" altLang="en-US" sz="2800" b="1" spc="-463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zh-CN" altLang="en-US" sz="28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2800" i="1">
                        <a:latin typeface="Cambria Math" panose="02040503050406030204" pitchFamily="18" charset="0"/>
                      </a:rPr>
                      <m:t>           </m:t>
                    </m:r>
                  </m:oMath>
                </a14:m>
                <a:r>
                  <a:rPr lang="zh-CN" altLang="en-US" sz="2400" b="1" spc="-5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zh-CN" altLang="en-US" sz="2800" b="1" spc="-5" dirty="0">
                    <a:latin typeface="Times New Roman" pitchFamily="18" charset="0"/>
                    <a:cs typeface="Times New Roman" pitchFamily="18" charset="0"/>
                  </a:rPr>
                  <a:t>的上界</a:t>
                </a:r>
                <a:r>
                  <a:rPr lang="en-US" altLang="zh-CN" sz="2400" b="1" dirty="0">
                    <a:latin typeface="Times New Roman" pitchFamily="18" charset="0"/>
                    <a:cs typeface="Times New Roman" pitchFamily="18" charset="0"/>
                  </a:rPr>
                  <a:t>.</a:t>
                </a:r>
                <a:endParaRPr sz="2400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7" name="object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0157" y="1338737"/>
                <a:ext cx="3494881" cy="370249"/>
              </a:xfrm>
              <a:prstGeom prst="rect">
                <a:avLst/>
              </a:prstGeom>
              <a:blipFill rotWithShape="1">
                <a:blip r:embed="rId5"/>
                <a:stretch>
                  <a:fillRect l="-5052" t="-45000" b="-6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object 23"/>
          <p:cNvSpPr/>
          <p:nvPr/>
        </p:nvSpPr>
        <p:spPr>
          <a:xfrm>
            <a:off x="338151" y="876421"/>
            <a:ext cx="719417" cy="314889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346657" y="909062"/>
            <a:ext cx="730354" cy="312968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1215233" y="3"/>
            <a:ext cx="137321" cy="45121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1223737" y="13443"/>
            <a:ext cx="149474" cy="47041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2323326" y="3024035"/>
            <a:ext cx="812208" cy="1152031"/>
          </a:xfrm>
          <a:custGeom>
            <a:avLst/>
            <a:gdLst/>
            <a:ahLst/>
            <a:cxnLst/>
            <a:rect l="l" t="t" r="r" b="b"/>
            <a:pathLst>
              <a:path w="914400" h="914400">
                <a:moveTo>
                  <a:pt x="0" y="152400"/>
                </a:moveTo>
                <a:lnTo>
                  <a:pt x="7766" y="104217"/>
                </a:lnTo>
                <a:lnTo>
                  <a:pt x="29394" y="62380"/>
                </a:lnTo>
                <a:lnTo>
                  <a:pt x="62380" y="29394"/>
                </a:lnTo>
                <a:lnTo>
                  <a:pt x="104217" y="7766"/>
                </a:lnTo>
                <a:lnTo>
                  <a:pt x="152400" y="0"/>
                </a:lnTo>
                <a:lnTo>
                  <a:pt x="762000" y="0"/>
                </a:lnTo>
                <a:lnTo>
                  <a:pt x="810182" y="7766"/>
                </a:lnTo>
                <a:lnTo>
                  <a:pt x="852019" y="29394"/>
                </a:lnTo>
                <a:lnTo>
                  <a:pt x="885005" y="62380"/>
                </a:lnTo>
                <a:lnTo>
                  <a:pt x="906633" y="104217"/>
                </a:lnTo>
                <a:lnTo>
                  <a:pt x="914400" y="152400"/>
                </a:lnTo>
                <a:lnTo>
                  <a:pt x="914400" y="762000"/>
                </a:lnTo>
                <a:lnTo>
                  <a:pt x="906633" y="810182"/>
                </a:lnTo>
                <a:lnTo>
                  <a:pt x="885005" y="852019"/>
                </a:lnTo>
                <a:lnTo>
                  <a:pt x="852019" y="885005"/>
                </a:lnTo>
                <a:lnTo>
                  <a:pt x="810182" y="906633"/>
                </a:lnTo>
                <a:lnTo>
                  <a:pt x="762000" y="914400"/>
                </a:lnTo>
                <a:lnTo>
                  <a:pt x="152400" y="914400"/>
                </a:lnTo>
                <a:lnTo>
                  <a:pt x="104217" y="906633"/>
                </a:lnTo>
                <a:lnTo>
                  <a:pt x="62380" y="885005"/>
                </a:lnTo>
                <a:lnTo>
                  <a:pt x="29394" y="852019"/>
                </a:lnTo>
                <a:lnTo>
                  <a:pt x="7766" y="810182"/>
                </a:lnTo>
                <a:lnTo>
                  <a:pt x="0" y="762000"/>
                </a:lnTo>
                <a:lnTo>
                  <a:pt x="0" y="152400"/>
                </a:lnTo>
                <a:close/>
              </a:path>
            </a:pathLst>
          </a:custGeom>
          <a:ln w="2540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 sz="24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1701324" y="4333440"/>
            <a:ext cx="3486496" cy="1311580"/>
          </a:xfrm>
          <a:custGeom>
            <a:avLst/>
            <a:gdLst/>
            <a:ahLst/>
            <a:cxnLst/>
            <a:rect l="l" t="t" r="r" b="b"/>
            <a:pathLst>
              <a:path w="2895600" h="914400">
                <a:moveTo>
                  <a:pt x="0" y="152400"/>
                </a:moveTo>
                <a:lnTo>
                  <a:pt x="7769" y="104217"/>
                </a:lnTo>
                <a:lnTo>
                  <a:pt x="29405" y="62380"/>
                </a:lnTo>
                <a:lnTo>
                  <a:pt x="62396" y="29394"/>
                </a:lnTo>
                <a:lnTo>
                  <a:pt x="104231" y="7766"/>
                </a:lnTo>
                <a:lnTo>
                  <a:pt x="152400" y="0"/>
                </a:lnTo>
                <a:lnTo>
                  <a:pt x="2743200" y="0"/>
                </a:lnTo>
                <a:lnTo>
                  <a:pt x="2791382" y="7766"/>
                </a:lnTo>
                <a:lnTo>
                  <a:pt x="2833219" y="29394"/>
                </a:lnTo>
                <a:lnTo>
                  <a:pt x="2866205" y="62380"/>
                </a:lnTo>
                <a:lnTo>
                  <a:pt x="2887833" y="104217"/>
                </a:lnTo>
                <a:lnTo>
                  <a:pt x="2895600" y="152400"/>
                </a:lnTo>
                <a:lnTo>
                  <a:pt x="2895600" y="762000"/>
                </a:lnTo>
                <a:lnTo>
                  <a:pt x="2887833" y="810168"/>
                </a:lnTo>
                <a:lnTo>
                  <a:pt x="2866205" y="852003"/>
                </a:lnTo>
                <a:lnTo>
                  <a:pt x="2833219" y="884994"/>
                </a:lnTo>
                <a:lnTo>
                  <a:pt x="2791382" y="906630"/>
                </a:lnTo>
                <a:lnTo>
                  <a:pt x="2743200" y="914400"/>
                </a:lnTo>
                <a:lnTo>
                  <a:pt x="152400" y="914400"/>
                </a:lnTo>
                <a:lnTo>
                  <a:pt x="104231" y="906630"/>
                </a:lnTo>
                <a:lnTo>
                  <a:pt x="62396" y="884994"/>
                </a:lnTo>
                <a:lnTo>
                  <a:pt x="29405" y="852003"/>
                </a:lnTo>
                <a:lnTo>
                  <a:pt x="7769" y="810168"/>
                </a:lnTo>
                <a:lnTo>
                  <a:pt x="0" y="762000"/>
                </a:lnTo>
                <a:lnTo>
                  <a:pt x="0" y="152400"/>
                </a:lnTo>
                <a:close/>
              </a:path>
            </a:pathLst>
          </a:custGeom>
          <a:ln w="2540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 sz="2800">
              <a:latin typeface="Times New Roman" pitchFamily="18" charset="0"/>
              <a:cs typeface="Times New Roman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矩形 39"/>
              <p:cNvSpPr/>
              <p:nvPr/>
            </p:nvSpPr>
            <p:spPr>
              <a:xfrm>
                <a:off x="1729317" y="3131858"/>
                <a:ext cx="4227705" cy="975657"/>
              </a:xfrm>
              <a:prstGeom prst="rect">
                <a:avLst/>
              </a:prstGeom>
            </p:spPr>
            <p:txBody>
              <a:bodyPr wrap="square" lIns="83887" tIns="41944" rIns="83887" bIns="41944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2800" b="1" i="1">
                              <a:latin typeface="Cambria Math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ar-AE" altLang="zh-CN" sz="2800" b="1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zh-CN" altLang="ar-AE" sz="2800" b="1" i="1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  <m:sub>
                              <m:r>
                                <a:rPr lang="en-US" altLang="zh-CN" sz="2800" b="1" i="1"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  <m:r>
                                <a:rPr lang="en-US" altLang="zh-CN" sz="2800" b="1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CN" sz="2800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ar-AE" altLang="zh-CN" sz="2800" b="1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zh-CN" altLang="ar-AE" sz="2800" b="1" i="1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  <m:sub>
                              <m:r>
                                <a:rPr lang="en-US" altLang="zh-CN" sz="2800" b="1" i="1"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</m:sub>
                          </m:sSub>
                        </m:den>
                      </m:f>
                      <m:r>
                        <a:rPr lang="en-US" altLang="zh-CN" sz="2800" b="1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800" b="1" i="1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altLang="zh-CN" sz="28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altLang="zh-CN" sz="2800" b="1" i="1">
                              <a:latin typeface="Cambria Math" panose="02040503050406030204" pitchFamily="18" charset="0"/>
                            </a:rPr>
                            <m:t>𝟑</m:t>
                          </m:r>
                        </m:den>
                      </m:f>
                      <m:f>
                        <m:fPr>
                          <m:ctrlPr>
                            <a:rPr lang="en-US" altLang="zh-CN" sz="2800" b="1" i="1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altLang="zh-CN" sz="2800" b="1" i="1">
                              <a:latin typeface="Cambria Math" panose="02040503050406030204" pitchFamily="18" charset="0"/>
                            </a:rPr>
                            <m:t>𝒌</m:t>
                          </m:r>
                          <m:r>
                            <a:rPr lang="en-US" altLang="zh-CN" sz="2800" b="1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28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altLang="zh-CN" sz="2800" b="1" i="1">
                              <a:latin typeface="Cambria Math" panose="02040503050406030204" pitchFamily="18" charset="0"/>
                            </a:rPr>
                            <m:t>𝒌</m:t>
                          </m:r>
                        </m:den>
                      </m:f>
                      <m:r>
                        <a:rPr lang="en-US" altLang="zh-CN" sz="28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f>
                        <m:fPr>
                          <m:ctrlPr>
                            <a:rPr lang="en-US" altLang="zh-CN" sz="2800" b="1" i="1">
                              <a:latin typeface="Cambria Math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8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num>
                        <m:den>
                          <m:r>
                            <a:rPr lang="en-US" altLang="zh-CN" sz="28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𝟑</m:t>
                          </m:r>
                        </m:den>
                      </m:f>
                    </m:oMath>
                  </m:oMathPara>
                </a14:m>
                <a:endParaRPr lang="zh-CN" altLang="en-US" sz="2400" b="1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40" name="矩形 3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9317" y="3131858"/>
                <a:ext cx="4227705" cy="975657"/>
              </a:xfrm>
              <a:prstGeom prst="rect">
                <a:avLst/>
              </a:prstGeom>
              <a:blipFill rotWithShape="1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矩形 40"/>
              <p:cNvSpPr/>
              <p:nvPr/>
            </p:nvSpPr>
            <p:spPr>
              <a:xfrm>
                <a:off x="1624689" y="4322127"/>
                <a:ext cx="5959203" cy="1390770"/>
              </a:xfrm>
              <a:prstGeom prst="rect">
                <a:avLst/>
              </a:prstGeom>
            </p:spPr>
            <p:txBody>
              <a:bodyPr wrap="none" lIns="83887" tIns="41944" rIns="83887" bIns="41944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zh-CN" altLang="en-US" sz="2800" b="1" i="1">
                              <a:latin typeface="Cambria Math"/>
                            </a:rPr>
                          </m:ctrlPr>
                        </m:naryPr>
                        <m:sub>
                          <m:r>
                            <a:rPr lang="en-US" altLang="zh-CN" sz="2800" b="1" i="1">
                              <a:latin typeface="Cambria Math" panose="02040503050406030204" pitchFamily="18" charset="0"/>
                            </a:rPr>
                            <m:t>𝒌</m:t>
                          </m:r>
                          <m:r>
                            <a:rPr lang="en-US" altLang="zh-CN" sz="2800" b="1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sz="28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altLang="zh-CN" sz="2800" b="1" i="1">
                              <a:latin typeface="Cambria Math" panose="02040503050406030204" pitchFamily="18" charset="0"/>
                            </a:rPr>
                            <m:t>𝒏</m:t>
                          </m:r>
                        </m:sup>
                        <m:e>
                          <m:f>
                            <m:fPr>
                              <m:ctrlPr>
                                <a:rPr lang="en-US" altLang="zh-CN" sz="2800" b="1" i="1">
                                  <a:latin typeface="Cambria Math"/>
                                </a:rPr>
                              </m:ctrlPr>
                            </m:fPr>
                            <m:num>
                              <m:r>
                                <a:rPr lang="en-US" altLang="zh-CN" sz="2800" b="1" i="1"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US" altLang="zh-CN" sz="2800" b="1" i="1">
                                      <a:latin typeface="Cambria Math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  <m:t>𝟑</m:t>
                                  </m:r>
                                </m:e>
                                <m:sup>
                                  <m: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  <m:t>𝒌</m:t>
                                  </m:r>
                                </m:sup>
                              </m:sSup>
                            </m:den>
                          </m:f>
                        </m:e>
                      </m:nary>
                      <m:r>
                        <a:rPr lang="en-US" altLang="zh-CN" sz="28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nary>
                        <m:naryPr>
                          <m:chr m:val="∑"/>
                          <m:ctrlPr>
                            <a:rPr lang="zh-CN" altLang="en-US" sz="2800" b="1" i="1">
                              <a:latin typeface="Cambria Math"/>
                            </a:rPr>
                          </m:ctrlPr>
                        </m:naryPr>
                        <m:sub>
                          <m:r>
                            <a:rPr lang="en-US" altLang="zh-CN" sz="2800" b="1" i="1">
                              <a:latin typeface="Cambria Math" panose="02040503050406030204" pitchFamily="18" charset="0"/>
                            </a:rPr>
                            <m:t>𝒌</m:t>
                          </m:r>
                          <m:r>
                            <a:rPr lang="en-US" altLang="zh-CN" sz="2800" b="1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sz="28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altLang="zh-CN" sz="28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f>
                            <m:fPr>
                              <m:ctrlPr>
                                <a:rPr lang="en-US" altLang="zh-CN" sz="2800" b="1" i="1">
                                  <a:latin typeface="Cambria Math"/>
                                </a:rPr>
                              </m:ctrlPr>
                            </m:fPr>
                            <m:num>
                              <m:r>
                                <a:rPr lang="en-US" altLang="zh-CN" sz="2800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num>
                            <m:den>
                              <m:r>
                                <a:rPr lang="en-US" altLang="zh-CN" sz="2800" b="1" i="1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den>
                          </m:f>
                          <m:sSup>
                            <m:sSupPr>
                              <m:ctrlPr>
                                <a:rPr lang="en-US" altLang="zh-CN" sz="2800" b="1" i="1">
                                  <a:latin typeface="Cambria Math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CN" sz="2800" b="1" i="1"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altLang="zh-CN" sz="2800" b="1" i="1">
                                          <a:latin typeface="Cambria Math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zh-CN" sz="2800" b="1" i="1"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num>
                                    <m:den>
                                      <m:r>
                                        <a:rPr lang="en-US" altLang="zh-CN" sz="2800" b="1" i="1">
                                          <a:latin typeface="Cambria Math" panose="02040503050406030204" pitchFamily="18" charset="0"/>
                                        </a:rPr>
                                        <m:t>𝟑</m:t>
                                      </m:r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lang="en-US" altLang="zh-CN" sz="2800" b="1" i="1"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  <m:r>
                                <a:rPr lang="en-US" altLang="zh-CN" sz="2800" b="1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2800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p>
                          </m:sSup>
                        </m:e>
                      </m:nary>
                      <m:r>
                        <a:rPr lang="en-US" altLang="zh-CN" sz="2800" b="1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800" b="1" i="1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altLang="zh-CN" sz="28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altLang="zh-CN" sz="2800" b="1" i="1">
                              <a:latin typeface="Cambria Math" panose="02040503050406030204" pitchFamily="18" charset="0"/>
                            </a:rPr>
                            <m:t>𝟑</m:t>
                          </m:r>
                        </m:den>
                      </m:f>
                      <m:f>
                        <m:fPr>
                          <m:ctrlPr>
                            <a:rPr lang="en-US" altLang="zh-CN" sz="2800" b="1" i="1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altLang="zh-CN" sz="28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altLang="zh-CN" sz="2800" b="1" i="1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altLang="zh-CN" sz="2800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altLang="zh-CN" sz="2800" b="1" i="1">
                                  <a:latin typeface="Cambria Math"/>
                                </a:rPr>
                              </m:ctrlPr>
                            </m:fPr>
                            <m:num>
                              <m:r>
                                <a:rPr lang="en-US" altLang="zh-CN" sz="2800" b="1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num>
                            <m:den>
                              <m:r>
                                <a:rPr lang="en-US" altLang="zh-CN" sz="2800" b="1" i="1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den>
                          </m:f>
                        </m:den>
                      </m:f>
                      <m:r>
                        <a:rPr lang="en-US" altLang="zh-CN" sz="2800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800" b="1" i="1"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zh-CN" altLang="en-US" sz="2800" b="1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41" name="矩形 4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4689" y="4322127"/>
                <a:ext cx="5959203" cy="1390770"/>
              </a:xfrm>
              <a:prstGeom prst="rect">
                <a:avLst/>
              </a:prstGeom>
              <a:blipFill rotWithShape="1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矩形 41"/>
              <p:cNvSpPr/>
              <p:nvPr/>
            </p:nvSpPr>
            <p:spPr>
              <a:xfrm>
                <a:off x="986276" y="944813"/>
                <a:ext cx="1208479" cy="1260927"/>
              </a:xfrm>
              <a:prstGeom prst="rect">
                <a:avLst/>
              </a:prstGeom>
            </p:spPr>
            <p:txBody>
              <a:bodyPr wrap="none" lIns="83887" tIns="41944" rIns="83887" bIns="41944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zh-CN" altLang="en-US" sz="2800" b="1" i="1">
                              <a:latin typeface="Cambria Math"/>
                            </a:rPr>
                          </m:ctrlPr>
                        </m:naryPr>
                        <m:sub>
                          <m:r>
                            <a:rPr lang="en-US" altLang="zh-CN" sz="2800" b="1" i="1">
                              <a:latin typeface="Cambria Math" panose="02040503050406030204" pitchFamily="18" charset="0"/>
                            </a:rPr>
                            <m:t>𝒌</m:t>
                          </m:r>
                          <m:r>
                            <a:rPr lang="en-US" altLang="zh-CN" sz="2800" b="1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sz="28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altLang="zh-CN" sz="2800" b="1" i="1">
                              <a:latin typeface="Cambria Math" panose="02040503050406030204" pitchFamily="18" charset="0"/>
                            </a:rPr>
                            <m:t>𝒏</m:t>
                          </m:r>
                        </m:sup>
                        <m:e>
                          <m:f>
                            <m:fPr>
                              <m:ctrlPr>
                                <a:rPr lang="en-US" altLang="zh-CN" sz="2800" b="1" i="1">
                                  <a:latin typeface="Cambria Math"/>
                                </a:rPr>
                              </m:ctrlPr>
                            </m:fPr>
                            <m:num>
                              <m:r>
                                <a:rPr lang="en-US" altLang="zh-CN" sz="2800" b="1" i="1"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US" altLang="zh-CN" sz="2800" b="1" i="1">
                                      <a:latin typeface="Cambria Math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  <m:t>𝟑</m:t>
                                  </m:r>
                                </m:e>
                                <m:sup>
                                  <m: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  <m:t>𝒌</m:t>
                                  </m:r>
                                </m:sup>
                              </m:sSup>
                            </m:den>
                          </m:f>
                        </m:e>
                      </m:nary>
                    </m:oMath>
                  </m:oMathPara>
                </a14:m>
                <a:endParaRPr lang="zh-CN" altLang="en-US" sz="2800" b="1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42" name="矩形 4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6276" y="944813"/>
                <a:ext cx="1208479" cy="1260927"/>
              </a:xfrm>
              <a:prstGeom prst="rect">
                <a:avLst/>
              </a:prstGeom>
              <a:blipFill rotWithShape="1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404619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39" grpId="0" animBg="1"/>
      <p:bldP spid="41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569167" y="273783"/>
            <a:ext cx="8462866" cy="620574"/>
          </a:xfrm>
          <a:prstGeom prst="rect">
            <a:avLst/>
          </a:prstGeom>
        </p:spPr>
        <p:txBody>
          <a:bodyPr vert="horz" wrap="square" lIns="0" tIns="11068" rIns="0" bIns="0" rtlCol="0" anchor="ctr">
            <a:spAutoFit/>
          </a:bodyPr>
          <a:lstStyle/>
          <a:p>
            <a:pPr marL="11651" algn="ctr">
              <a:spcBef>
                <a:spcPts val="87"/>
              </a:spcBef>
            </a:pPr>
            <a:r>
              <a:rPr sz="4400" b="1" spc="-14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估计和式渐近的界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20776" y="1267282"/>
            <a:ext cx="1156043" cy="442652"/>
          </a:xfrm>
          <a:prstGeom prst="rect">
            <a:avLst/>
          </a:prstGeom>
        </p:spPr>
        <p:txBody>
          <a:bodyPr vert="horz" wrap="square" lIns="0" tIns="11651" rIns="0" bIns="0" rtlCol="0">
            <a:spAutoFit/>
          </a:bodyPr>
          <a:lstStyle/>
          <a:p>
            <a:pPr marL="11651">
              <a:spcBef>
                <a:spcPts val="92"/>
              </a:spcBef>
            </a:pPr>
            <a:r>
              <a:rPr sz="2800" b="1" spc="-5" dirty="0">
                <a:latin typeface="宋体"/>
                <a:cs typeface="宋体"/>
              </a:rPr>
              <a:t>估计</a:t>
            </a:r>
            <a:endParaRPr sz="2800" dirty="0">
              <a:latin typeface="宋体"/>
              <a:cs typeface="宋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06048" y="1276613"/>
            <a:ext cx="3456375" cy="442652"/>
          </a:xfrm>
          <a:prstGeom prst="rect">
            <a:avLst/>
          </a:prstGeom>
        </p:spPr>
        <p:txBody>
          <a:bodyPr vert="horz" wrap="square" lIns="0" tIns="11651" rIns="0" bIns="0" rtlCol="0">
            <a:spAutoFit/>
          </a:bodyPr>
          <a:lstStyle/>
          <a:p>
            <a:pPr marL="11651">
              <a:spcBef>
                <a:spcPts val="92"/>
              </a:spcBef>
            </a:pPr>
            <a:r>
              <a:rPr sz="2800" b="1" spc="-5" dirty="0">
                <a:latin typeface="宋体"/>
                <a:cs typeface="宋体"/>
              </a:rPr>
              <a:t>的渐近的</a:t>
            </a:r>
            <a:r>
              <a:rPr sz="2800" b="1" dirty="0">
                <a:latin typeface="宋体"/>
                <a:cs typeface="宋体"/>
              </a:rPr>
              <a:t>界</a:t>
            </a:r>
            <a:r>
              <a:rPr sz="2800" b="1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1988688" y="2185500"/>
            <a:ext cx="5268416" cy="246459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矩形 20"/>
              <p:cNvSpPr/>
              <p:nvPr/>
            </p:nvSpPr>
            <p:spPr>
              <a:xfrm>
                <a:off x="872559" y="887509"/>
                <a:ext cx="1056385" cy="1259003"/>
              </a:xfrm>
              <a:prstGeom prst="rect">
                <a:avLst/>
              </a:prstGeom>
            </p:spPr>
            <p:txBody>
              <a:bodyPr wrap="none" lIns="83887" tIns="41944" rIns="83887" bIns="41944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zh-CN" altLang="en-US" sz="2800" b="1" i="1">
                              <a:latin typeface="Cambria Math"/>
                            </a:rPr>
                          </m:ctrlPr>
                        </m:naryPr>
                        <m:sub>
                          <m:r>
                            <a:rPr lang="en-US" altLang="zh-CN" sz="2800" b="1" i="1">
                              <a:latin typeface="Cambria Math" panose="02040503050406030204" pitchFamily="18" charset="0"/>
                            </a:rPr>
                            <m:t>𝒌</m:t>
                          </m:r>
                          <m:r>
                            <a:rPr lang="en-US" altLang="zh-CN" sz="2800" b="1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sz="28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altLang="zh-CN" sz="2800" b="1" i="1">
                              <a:latin typeface="Cambria Math" panose="02040503050406030204" pitchFamily="18" charset="0"/>
                            </a:rPr>
                            <m:t>𝒏</m:t>
                          </m:r>
                        </m:sup>
                        <m:e>
                          <m:f>
                            <m:fPr>
                              <m:ctrlPr>
                                <a:rPr lang="en-US" altLang="zh-CN" sz="2800" b="1" i="1">
                                  <a:latin typeface="Cambria Math"/>
                                </a:rPr>
                              </m:ctrlPr>
                            </m:fPr>
                            <m:num>
                              <m:r>
                                <a:rPr lang="en-US" altLang="zh-CN" sz="2800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num>
                            <m:den>
                              <m:r>
                                <a:rPr lang="en-US" altLang="zh-CN" sz="2800" b="1" i="1"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</m:den>
                          </m:f>
                        </m:e>
                      </m:nary>
                    </m:oMath>
                  </m:oMathPara>
                </a14:m>
                <a:endParaRPr lang="zh-CN" altLang="en-US" sz="2800" b="1" dirty="0"/>
              </a:p>
            </p:txBody>
          </p:sp>
        </mc:Choice>
        <mc:Fallback xmlns="">
          <p:sp>
            <p:nvSpPr>
              <p:cNvPr id="21" name="矩形 2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2559" y="887509"/>
                <a:ext cx="1056385" cy="1259003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矩形 21"/>
              <p:cNvSpPr/>
              <p:nvPr/>
            </p:nvSpPr>
            <p:spPr>
              <a:xfrm>
                <a:off x="2213429" y="4635579"/>
                <a:ext cx="5632987" cy="1259003"/>
              </a:xfrm>
              <a:prstGeom prst="rect">
                <a:avLst/>
              </a:prstGeom>
            </p:spPr>
            <p:txBody>
              <a:bodyPr wrap="square" lIns="83887" tIns="41944" rIns="83887" bIns="41944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zh-CN" altLang="en-US" sz="2800" b="1" i="1">
                              <a:latin typeface="Cambria Math"/>
                            </a:rPr>
                          </m:ctrlPr>
                        </m:naryPr>
                        <m:sub>
                          <m:r>
                            <a:rPr lang="en-US" altLang="zh-CN" sz="2800" b="1" i="1">
                              <a:latin typeface="Cambria Math" panose="02040503050406030204" pitchFamily="18" charset="0"/>
                            </a:rPr>
                            <m:t>𝒌</m:t>
                          </m:r>
                          <m:r>
                            <a:rPr lang="en-US" altLang="zh-CN" sz="2800" b="1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sz="28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altLang="zh-CN" sz="2800" b="1" i="1">
                              <a:latin typeface="Cambria Math" panose="02040503050406030204" pitchFamily="18" charset="0"/>
                            </a:rPr>
                            <m:t>𝒏</m:t>
                          </m:r>
                        </m:sup>
                        <m:e>
                          <m:f>
                            <m:fPr>
                              <m:ctrlPr>
                                <a:rPr lang="en-US" altLang="zh-CN" sz="2800" b="1" i="1">
                                  <a:latin typeface="Cambria Math"/>
                                </a:rPr>
                              </m:ctrlPr>
                            </m:fPr>
                            <m:num>
                              <m:r>
                                <a:rPr lang="en-US" altLang="zh-CN" sz="2800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num>
                            <m:den>
                              <m:r>
                                <a:rPr lang="en-US" altLang="zh-CN" sz="2800" b="1" i="1"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</m:den>
                          </m:f>
                        </m:e>
                      </m:nary>
                      <m:r>
                        <a:rPr lang="en-US" altLang="zh-CN" sz="28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nary>
                        <m:naryPr>
                          <m:ctrlPr>
                            <a:rPr lang="en-US" altLang="zh-CN" sz="2800" b="1" i="1">
                              <a:latin typeface="Cambria Math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8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altLang="zh-CN" sz="28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𝒏</m:t>
                          </m:r>
                          <m:r>
                            <a:rPr lang="en-US" altLang="zh-CN" sz="28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28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p>
                        <m:e>
                          <m:f>
                            <m:fPr>
                              <m:ctrlPr>
                                <a:rPr lang="en-US" altLang="zh-CN" sz="2800" b="1" i="1">
                                  <a:latin typeface="Cambria Math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8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𝒅𝒙</m:t>
                              </m:r>
                            </m:num>
                            <m:den>
                              <m:r>
                                <a:rPr lang="en-US" altLang="zh-CN" sz="28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𝒙</m:t>
                              </m:r>
                            </m:den>
                          </m:f>
                        </m:e>
                      </m:nary>
                    </m:oMath>
                  </m:oMathPara>
                </a14:m>
                <a:endParaRPr lang="zh-CN" altLang="en-US" sz="2400" b="1" dirty="0"/>
              </a:p>
            </p:txBody>
          </p:sp>
        </mc:Choice>
        <mc:Fallback xmlns="">
          <p:sp>
            <p:nvSpPr>
              <p:cNvPr id="22" name="矩形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13429" y="4635579"/>
                <a:ext cx="5632987" cy="1259003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/>
              <p:cNvSpPr/>
              <p:nvPr/>
            </p:nvSpPr>
            <p:spPr>
              <a:xfrm>
                <a:off x="4894464" y="4997513"/>
                <a:ext cx="2159181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zh-CN" sz="2800" b="1" i="1">
                              <a:latin typeface="Cambria Math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altLang="zh-CN" sz="28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𝐥𝐧</m:t>
                          </m:r>
                        </m:fName>
                        <m:e>
                          <m:r>
                            <a:rPr lang="en-US" altLang="zh-CN" sz="28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8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𝒏</m:t>
                          </m:r>
                          <m:r>
                            <a:rPr lang="en-US" altLang="zh-CN" sz="28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28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altLang="zh-CN" sz="28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5" name="矩形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94464" y="4997513"/>
                <a:ext cx="2159181" cy="523220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44390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2" grpId="0"/>
      <p:bldP spid="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438539" y="267066"/>
            <a:ext cx="8770775" cy="620574"/>
          </a:xfrm>
          <a:prstGeom prst="rect">
            <a:avLst/>
          </a:prstGeom>
        </p:spPr>
        <p:txBody>
          <a:bodyPr vert="horz" wrap="square" lIns="0" tIns="11068" rIns="0" bIns="0" rtlCol="0" anchor="ctr">
            <a:spAutoFit/>
          </a:bodyPr>
          <a:lstStyle/>
          <a:p>
            <a:pPr marL="11651" algn="ctr">
              <a:spcBef>
                <a:spcPts val="87"/>
              </a:spcBef>
            </a:pPr>
            <a:r>
              <a:rPr sz="4400" b="1" spc="-14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估计和式渐近的界</a:t>
            </a:r>
          </a:p>
        </p:txBody>
      </p:sp>
      <p:sp>
        <p:nvSpPr>
          <p:cNvPr id="3" name="object 3"/>
          <p:cNvSpPr/>
          <p:nvPr/>
        </p:nvSpPr>
        <p:spPr>
          <a:xfrm>
            <a:off x="1313149" y="3354158"/>
            <a:ext cx="4750230" cy="248354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矩形 18"/>
              <p:cNvSpPr/>
              <p:nvPr/>
            </p:nvSpPr>
            <p:spPr>
              <a:xfrm>
                <a:off x="1417806" y="2208287"/>
                <a:ext cx="3122921" cy="1259003"/>
              </a:xfrm>
              <a:prstGeom prst="rect">
                <a:avLst/>
              </a:prstGeom>
            </p:spPr>
            <p:txBody>
              <a:bodyPr wrap="square" lIns="83887" tIns="41944" rIns="83887" bIns="41944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zh-CN" altLang="en-US" sz="2800" b="1" i="1">
                              <a:latin typeface="Cambria Math"/>
                            </a:rPr>
                          </m:ctrlPr>
                        </m:naryPr>
                        <m:sub>
                          <m:r>
                            <a:rPr lang="en-US" altLang="zh-CN" sz="2800" b="1" i="1">
                              <a:latin typeface="Cambria Math" panose="02040503050406030204" pitchFamily="18" charset="0"/>
                            </a:rPr>
                            <m:t>𝒌</m:t>
                          </m:r>
                          <m:r>
                            <a:rPr lang="en-US" altLang="zh-CN" sz="2800" b="1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sz="28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altLang="zh-CN" sz="2800" b="1" i="1">
                              <a:latin typeface="Cambria Math" panose="02040503050406030204" pitchFamily="18" charset="0"/>
                            </a:rPr>
                            <m:t>𝒏</m:t>
                          </m:r>
                        </m:sup>
                        <m:e>
                          <m:f>
                            <m:fPr>
                              <m:ctrlPr>
                                <a:rPr lang="en-US" altLang="zh-CN" sz="2800" b="1" i="1">
                                  <a:latin typeface="Cambria Math"/>
                                </a:rPr>
                              </m:ctrlPr>
                            </m:fPr>
                            <m:num>
                              <m:r>
                                <a:rPr lang="en-US" altLang="zh-CN" sz="2800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num>
                            <m:den>
                              <m:r>
                                <a:rPr lang="en-US" altLang="zh-CN" sz="2800" b="1" i="1"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</m:den>
                          </m:f>
                        </m:e>
                      </m:nary>
                      <m:r>
                        <a:rPr lang="en-US" altLang="zh-CN" sz="2800" b="1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800" b="1" i="1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altLang="zh-CN" sz="28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altLang="zh-CN" sz="28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den>
                      </m:f>
                      <m:r>
                        <a:rPr lang="en-US" altLang="zh-CN" sz="2800" b="1" i="1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ctrlPr>
                            <a:rPr lang="en-US" altLang="zh-CN" sz="2800" b="1" i="1">
                              <a:latin typeface="Cambria Math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800" b="1" i="1">
                              <a:latin typeface="Cambria Math" panose="02040503050406030204" pitchFamily="18" charset="0"/>
                            </a:rPr>
                            <m:t>𝒌</m:t>
                          </m:r>
                          <m:r>
                            <a:rPr lang="en-US" altLang="zh-CN" sz="2800" b="1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brk m:alnAt="23"/>
                            </m:rPr>
                            <a:rPr lang="en-US" altLang="zh-CN" sz="2800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  <m:sup>
                          <m:r>
                            <a:rPr lang="en-US" altLang="zh-CN" sz="2800" b="1" i="1">
                              <a:latin typeface="Cambria Math" panose="02040503050406030204" pitchFamily="18" charset="0"/>
                            </a:rPr>
                            <m:t>𝒏</m:t>
                          </m:r>
                        </m:sup>
                        <m:e>
                          <m:f>
                            <m:fPr>
                              <m:ctrlPr>
                                <a:rPr lang="en-US" altLang="zh-CN" sz="2800" b="1" i="1">
                                  <a:latin typeface="Cambria Math"/>
                                </a:rPr>
                              </m:ctrlPr>
                            </m:fPr>
                            <m:num>
                              <m:r>
                                <a:rPr lang="en-US" altLang="zh-CN" sz="2800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num>
                            <m:den>
                              <m:r>
                                <a:rPr lang="en-US" altLang="zh-CN" sz="2800" b="1" i="1"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</m:den>
                          </m:f>
                        </m:e>
                      </m:nary>
                    </m:oMath>
                  </m:oMathPara>
                </a14:m>
                <a:endParaRPr lang="zh-CN" altLang="en-US" sz="2400" b="1" dirty="0"/>
              </a:p>
            </p:txBody>
          </p:sp>
        </mc:Choice>
        <mc:Fallback xmlns="">
          <p:sp>
            <p:nvSpPr>
              <p:cNvPr id="19" name="矩形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7806" y="2208287"/>
                <a:ext cx="3122921" cy="1259003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矩形 19"/>
              <p:cNvSpPr/>
              <p:nvPr/>
            </p:nvSpPr>
            <p:spPr>
              <a:xfrm>
                <a:off x="6188774" y="2569481"/>
                <a:ext cx="1862499" cy="515594"/>
              </a:xfrm>
              <a:prstGeom prst="rect">
                <a:avLst/>
              </a:prstGeom>
            </p:spPr>
            <p:txBody>
              <a:bodyPr wrap="square" lIns="83887" tIns="41944" rIns="83887" bIns="41944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800" b="1" i="1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altLang="zh-CN" sz="2800" b="1" i="1">
                          <a:latin typeface="Cambria Math" panose="02040503050406030204" pitchFamily="18" charset="0"/>
                        </a:rPr>
                        <m:t>+</m:t>
                      </m:r>
                      <m:func>
                        <m:funcPr>
                          <m:ctrlPr>
                            <a:rPr lang="en-US" altLang="zh-CN" sz="2800" b="1" i="1">
                              <a:latin typeface="Cambria Math"/>
                            </a:rPr>
                          </m:ctrlPr>
                        </m:funcPr>
                        <m:fName>
                          <m:r>
                            <a:rPr lang="en-US" altLang="zh-CN" sz="2800" b="1" i="1">
                              <a:latin typeface="Cambria Math" panose="02040503050406030204" pitchFamily="18" charset="0"/>
                            </a:rPr>
                            <m:t>𝐥𝐧</m:t>
                          </m:r>
                        </m:fName>
                        <m:e>
                          <m:r>
                            <a:rPr lang="en-US" altLang="zh-CN" sz="2800" b="1" i="1"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</m:func>
                    </m:oMath>
                  </m:oMathPara>
                </a14:m>
                <a:endParaRPr lang="zh-CN" altLang="en-US" sz="2800" b="1" dirty="0"/>
              </a:p>
            </p:txBody>
          </p:sp>
        </mc:Choice>
        <mc:Fallback xmlns="">
          <p:sp>
            <p:nvSpPr>
              <p:cNvPr id="20" name="矩形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88774" y="2569481"/>
                <a:ext cx="1862499" cy="515594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矩形 20"/>
              <p:cNvSpPr/>
              <p:nvPr/>
            </p:nvSpPr>
            <p:spPr>
              <a:xfrm>
                <a:off x="6563774" y="4250305"/>
                <a:ext cx="2897788" cy="1259003"/>
              </a:xfrm>
              <a:prstGeom prst="rect">
                <a:avLst/>
              </a:prstGeom>
            </p:spPr>
            <p:txBody>
              <a:bodyPr wrap="none" lIns="83887" tIns="41944" rIns="83887" bIns="41944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zh-CN" altLang="en-US" sz="2800" b="1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naryPr>
                        <m:sub>
                          <m:r>
                            <a:rPr lang="en-US" altLang="zh-CN" sz="28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𝒌</m:t>
                          </m:r>
                          <m:r>
                            <a:rPr lang="en-US" altLang="zh-CN" sz="28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sz="28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altLang="zh-CN" sz="28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sup>
                        <m:e>
                          <m:f>
                            <m:fPr>
                              <m:ctrlPr>
                                <a:rPr lang="en-US" altLang="zh-CN" sz="2800" b="1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</m:ctrlPr>
                            </m:fPr>
                            <m:num>
                              <m:r>
                                <a:rPr lang="en-US" altLang="zh-CN" sz="28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num>
                            <m:den>
                              <m:r>
                                <a:rPr lang="en-US" altLang="zh-CN" sz="28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</m:den>
                          </m:f>
                        </m:e>
                      </m:nary>
                      <m:r>
                        <a:rPr lang="en-US" altLang="zh-CN" sz="2800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l-GR" altLang="zh-CN" sz="2800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𝜣</m:t>
                      </m:r>
                      <m:d>
                        <m:dPr>
                          <m:ctrlPr>
                            <a:rPr lang="el-GR" altLang="zh-CN" sz="2800" b="1" i="1">
                              <a:solidFill>
                                <a:srgbClr val="FF0000"/>
                              </a:solidFill>
                              <a:latin typeface="Cambria Math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altLang="zh-CN" sz="2800" b="1" i="1">
                                  <a:solidFill>
                                    <a:srgbClr val="FF0000"/>
                                  </a:solidFill>
                                  <a:latin typeface="Cambria Math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a:rPr lang="en-US" altLang="zh-CN" sz="28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𝐥𝐨𝐠</m:t>
                              </m:r>
                            </m:fName>
                            <m:e>
                              <m:r>
                                <a:rPr lang="en-US" altLang="zh-CN" sz="28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𝒏</m:t>
                              </m:r>
                            </m:e>
                          </m:func>
                        </m:e>
                      </m:d>
                    </m:oMath>
                  </m:oMathPara>
                </a14:m>
                <a:endParaRPr lang="zh-CN" altLang="en-US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1" name="矩形 2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63774" y="4250305"/>
                <a:ext cx="2897788" cy="125900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object 3"/>
          <p:cNvSpPr txBox="1"/>
          <p:nvPr/>
        </p:nvSpPr>
        <p:spPr>
          <a:xfrm>
            <a:off x="420776" y="1267282"/>
            <a:ext cx="1156043" cy="442652"/>
          </a:xfrm>
          <a:prstGeom prst="rect">
            <a:avLst/>
          </a:prstGeom>
        </p:spPr>
        <p:txBody>
          <a:bodyPr vert="horz" wrap="square" lIns="0" tIns="11651" rIns="0" bIns="0" rtlCol="0">
            <a:spAutoFit/>
          </a:bodyPr>
          <a:lstStyle/>
          <a:p>
            <a:pPr marL="11651">
              <a:spcBef>
                <a:spcPts val="92"/>
              </a:spcBef>
            </a:pPr>
            <a:r>
              <a:rPr sz="2800" b="1" spc="-5" dirty="0">
                <a:latin typeface="宋体"/>
                <a:cs typeface="宋体"/>
              </a:rPr>
              <a:t>估计</a:t>
            </a:r>
            <a:endParaRPr sz="2800" dirty="0">
              <a:latin typeface="宋体"/>
              <a:cs typeface="宋体"/>
            </a:endParaRPr>
          </a:p>
        </p:txBody>
      </p:sp>
      <p:sp>
        <p:nvSpPr>
          <p:cNvPr id="8" name="object 4"/>
          <p:cNvSpPr txBox="1"/>
          <p:nvPr/>
        </p:nvSpPr>
        <p:spPr>
          <a:xfrm>
            <a:off x="1806048" y="1276613"/>
            <a:ext cx="3456375" cy="442652"/>
          </a:xfrm>
          <a:prstGeom prst="rect">
            <a:avLst/>
          </a:prstGeom>
        </p:spPr>
        <p:txBody>
          <a:bodyPr vert="horz" wrap="square" lIns="0" tIns="11651" rIns="0" bIns="0" rtlCol="0">
            <a:spAutoFit/>
          </a:bodyPr>
          <a:lstStyle/>
          <a:p>
            <a:pPr marL="11651">
              <a:spcBef>
                <a:spcPts val="92"/>
              </a:spcBef>
            </a:pPr>
            <a:r>
              <a:rPr sz="2800" b="1" spc="-5" dirty="0">
                <a:latin typeface="宋体"/>
                <a:cs typeface="宋体"/>
              </a:rPr>
              <a:t>的渐近的</a:t>
            </a:r>
            <a:r>
              <a:rPr sz="2800" b="1" dirty="0">
                <a:latin typeface="宋体"/>
                <a:cs typeface="宋体"/>
              </a:rPr>
              <a:t>界</a:t>
            </a:r>
            <a:r>
              <a:rPr sz="2800" b="1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矩形 8"/>
              <p:cNvSpPr/>
              <p:nvPr/>
            </p:nvSpPr>
            <p:spPr>
              <a:xfrm>
                <a:off x="872559" y="887509"/>
                <a:ext cx="1056065" cy="1260927"/>
              </a:xfrm>
              <a:prstGeom prst="rect">
                <a:avLst/>
              </a:prstGeom>
            </p:spPr>
            <p:txBody>
              <a:bodyPr wrap="none" lIns="83887" tIns="41944" rIns="83887" bIns="41944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zh-CN" altLang="en-US" sz="2800" b="1" i="1">
                              <a:latin typeface="Cambria Math"/>
                            </a:rPr>
                          </m:ctrlPr>
                        </m:naryPr>
                        <m:sub>
                          <m:r>
                            <a:rPr lang="en-US" altLang="zh-CN" sz="2800" b="1" i="1">
                              <a:latin typeface="Cambria Math" panose="02040503050406030204" pitchFamily="18" charset="0"/>
                            </a:rPr>
                            <m:t>𝒌</m:t>
                          </m:r>
                          <m:r>
                            <a:rPr lang="en-US" altLang="zh-CN" sz="2800" b="1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sz="28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altLang="zh-CN" sz="2800" b="1" i="1">
                              <a:latin typeface="Cambria Math" panose="02040503050406030204" pitchFamily="18" charset="0"/>
                            </a:rPr>
                            <m:t>𝒏</m:t>
                          </m:r>
                        </m:sup>
                        <m:e>
                          <m:f>
                            <m:fPr>
                              <m:ctrlPr>
                                <a:rPr lang="en-US" altLang="zh-CN" sz="2800" b="1" i="1">
                                  <a:latin typeface="Cambria Math"/>
                                </a:rPr>
                              </m:ctrlPr>
                            </m:fPr>
                            <m:num>
                              <m:r>
                                <a:rPr lang="en-US" altLang="zh-CN" sz="2800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num>
                            <m:den>
                              <m:r>
                                <a:rPr lang="en-US" altLang="zh-CN" sz="2800" b="1" i="1"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</m:den>
                          </m:f>
                        </m:e>
                      </m:nary>
                    </m:oMath>
                  </m:oMathPara>
                </a14:m>
                <a:endParaRPr lang="zh-CN" altLang="en-US" sz="2800" b="1" dirty="0"/>
              </a:p>
            </p:txBody>
          </p:sp>
        </mc:Choice>
        <mc:Fallback xmlns="">
          <p:sp>
            <p:nvSpPr>
              <p:cNvPr id="9" name="矩形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2559" y="887509"/>
                <a:ext cx="1056065" cy="1260927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矩形 3"/>
              <p:cNvSpPr/>
              <p:nvPr/>
            </p:nvSpPr>
            <p:spPr>
              <a:xfrm>
                <a:off x="4151071" y="2309352"/>
                <a:ext cx="2252155" cy="102169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8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altLang="zh-CN" sz="28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𝟏</m:t>
                      </m:r>
                      <m:r>
                        <a:rPr lang="en-US" altLang="zh-CN" sz="28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trlPr>
                            <a:rPr lang="en-US" altLang="zh-CN" sz="2800" b="1" i="1">
                              <a:latin typeface="Cambria Math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8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altLang="zh-CN" sz="28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𝒏</m:t>
                          </m:r>
                        </m:sup>
                        <m:e>
                          <m:f>
                            <m:fPr>
                              <m:ctrlPr>
                                <a:rPr lang="en-US" altLang="zh-CN" sz="2800" b="1" i="1">
                                  <a:latin typeface="Cambria Math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8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𝒅𝒙</m:t>
                              </m:r>
                            </m:num>
                            <m:den>
                              <m:r>
                                <a:rPr lang="en-US" altLang="zh-CN" sz="28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𝒙</m:t>
                              </m:r>
                            </m:den>
                          </m:f>
                        </m:e>
                      </m:nary>
                    </m:oMath>
                  </m:oMathPara>
                </a14:m>
                <a:endParaRPr lang="zh-CN" altLang="en-US" sz="2400" b="1" dirty="0"/>
              </a:p>
            </p:txBody>
          </p:sp>
        </mc:Choice>
        <mc:Fallback xmlns="">
          <p:sp>
            <p:nvSpPr>
              <p:cNvPr id="4" name="矩形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1071" y="2309352"/>
                <a:ext cx="2252155" cy="1021690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497864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9" grpId="0"/>
      <p:bldP spid="20" grpId="0"/>
      <p:bldP spid="21" grpId="0"/>
      <p:bldP spid="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382555" y="216880"/>
            <a:ext cx="8957388" cy="620574"/>
          </a:xfrm>
          <a:prstGeom prst="rect">
            <a:avLst/>
          </a:prstGeom>
        </p:spPr>
        <p:txBody>
          <a:bodyPr vert="horz" wrap="square" lIns="0" tIns="11068" rIns="0" bIns="0" rtlCol="0" anchor="ctr">
            <a:spAutoFit/>
          </a:bodyPr>
          <a:lstStyle/>
          <a:p>
            <a:pPr marL="11651" algn="ctr">
              <a:spcBef>
                <a:spcPts val="87"/>
              </a:spcBef>
            </a:pPr>
            <a:r>
              <a:rPr sz="4400" spc="-10" dirty="0" err="1" smtClean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小结</a:t>
            </a:r>
            <a:endParaRPr sz="4400" spc="-10" dirty="0">
              <a:solidFill>
                <a:srgbClr val="C00000"/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19878" y="1174350"/>
            <a:ext cx="8920065" cy="3356270"/>
          </a:xfrm>
          <a:prstGeom prst="rect">
            <a:avLst/>
          </a:prstGeom>
        </p:spPr>
        <p:txBody>
          <a:bodyPr vert="horz" wrap="square" lIns="0" tIns="11651" rIns="0" bIns="0" rtlCol="0">
            <a:spAutoFit/>
          </a:bodyPr>
          <a:lstStyle/>
          <a:p>
            <a:pPr marL="323307" marR="1971296" indent="-312238">
              <a:lnSpc>
                <a:spcPct val="150000"/>
              </a:lnSpc>
              <a:spcBef>
                <a:spcPts val="92"/>
              </a:spcBef>
              <a:buFont typeface="Arial"/>
              <a:buChar char="•"/>
              <a:tabLst>
                <a:tab pos="325637" algn="l"/>
                <a:tab pos="326219" algn="l"/>
              </a:tabLst>
            </a:pPr>
            <a:r>
              <a:rPr sz="2800" b="1" dirty="0">
                <a:latin typeface="黑体" pitchFamily="49" charset="-122"/>
                <a:ea typeface="黑体" pitchFamily="49" charset="-122"/>
                <a:cs typeface="宋体"/>
              </a:rPr>
              <a:t>序列求和基本公式： </a:t>
            </a:r>
            <a:endParaRPr lang="en-US" sz="2800" b="1" dirty="0" smtClean="0">
              <a:latin typeface="黑体" pitchFamily="49" charset="-122"/>
              <a:ea typeface="黑体" pitchFamily="49" charset="-122"/>
              <a:cs typeface="宋体"/>
            </a:endParaRPr>
          </a:p>
          <a:p>
            <a:pPr marL="11069" marR="1971296">
              <a:spcBef>
                <a:spcPts val="92"/>
              </a:spcBef>
              <a:tabLst>
                <a:tab pos="325637" algn="l"/>
                <a:tab pos="326219" algn="l"/>
              </a:tabLst>
            </a:pPr>
            <a:r>
              <a:rPr lang="en-US" sz="2400" b="1" dirty="0" smtClean="0">
                <a:latin typeface="宋体"/>
                <a:cs typeface="宋体"/>
              </a:rPr>
              <a:t>  </a:t>
            </a:r>
            <a:r>
              <a:rPr sz="2400" b="1" dirty="0" err="1" smtClean="0">
                <a:latin typeface="宋体"/>
                <a:cs typeface="宋体"/>
              </a:rPr>
              <a:t>等差数列</a:t>
            </a:r>
            <a:endParaRPr sz="2400" dirty="0">
              <a:latin typeface="宋体"/>
              <a:cs typeface="宋体"/>
            </a:endParaRPr>
          </a:p>
          <a:p>
            <a:pPr marL="323307" marR="3379282"/>
            <a:r>
              <a:rPr sz="2400" b="1" dirty="0" err="1">
                <a:latin typeface="宋体"/>
                <a:cs typeface="宋体"/>
              </a:rPr>
              <a:t>等比数列</a:t>
            </a:r>
            <a:r>
              <a:rPr sz="2400" b="1" dirty="0">
                <a:latin typeface="宋体"/>
                <a:cs typeface="宋体"/>
              </a:rPr>
              <a:t> </a:t>
            </a:r>
            <a:endParaRPr lang="en-US" sz="2400" b="1" dirty="0" smtClean="0">
              <a:latin typeface="宋体"/>
              <a:cs typeface="宋体"/>
            </a:endParaRPr>
          </a:p>
          <a:p>
            <a:pPr marL="323307" marR="3379282"/>
            <a:r>
              <a:rPr sz="2400" b="1" dirty="0" err="1" smtClean="0">
                <a:latin typeface="宋体"/>
                <a:cs typeface="宋体"/>
              </a:rPr>
              <a:t>调和级数</a:t>
            </a:r>
            <a:endParaRPr sz="2400" dirty="0">
              <a:latin typeface="宋体"/>
              <a:cs typeface="宋体"/>
            </a:endParaRPr>
          </a:p>
          <a:p>
            <a:pPr marL="323307" marR="2814806" indent="-312238">
              <a:lnSpc>
                <a:spcPct val="150000"/>
              </a:lnSpc>
              <a:spcBef>
                <a:spcPts val="1541"/>
              </a:spcBef>
              <a:buFont typeface="Arial"/>
              <a:buChar char="•"/>
              <a:tabLst>
                <a:tab pos="325637" algn="l"/>
                <a:tab pos="326219" algn="l"/>
              </a:tabLst>
            </a:pPr>
            <a:r>
              <a:rPr sz="2800" b="1" dirty="0">
                <a:latin typeface="黑体" pitchFamily="49" charset="-122"/>
                <a:ea typeface="黑体" pitchFamily="49" charset="-122"/>
                <a:cs typeface="宋体"/>
              </a:rPr>
              <a:t>估计序列和： </a:t>
            </a:r>
            <a:endParaRPr lang="en-US" sz="2800" b="1" dirty="0" smtClean="0">
              <a:latin typeface="黑体" pitchFamily="49" charset="-122"/>
              <a:ea typeface="黑体" pitchFamily="49" charset="-122"/>
              <a:cs typeface="宋体"/>
            </a:endParaRPr>
          </a:p>
          <a:p>
            <a:pPr marL="11069" marR="2814806">
              <a:tabLst>
                <a:tab pos="325637" algn="l"/>
                <a:tab pos="326219" algn="l"/>
              </a:tabLst>
            </a:pPr>
            <a:r>
              <a:rPr lang="en-US" sz="2400" b="1" dirty="0">
                <a:latin typeface="宋体"/>
                <a:cs typeface="宋体"/>
              </a:rPr>
              <a:t> </a:t>
            </a:r>
            <a:r>
              <a:rPr lang="en-US" sz="2400" b="1" dirty="0" smtClean="0">
                <a:latin typeface="宋体"/>
                <a:cs typeface="宋体"/>
              </a:rPr>
              <a:t> </a:t>
            </a:r>
            <a:r>
              <a:rPr sz="2400" b="1" dirty="0" err="1" smtClean="0">
                <a:latin typeface="宋体"/>
                <a:cs typeface="宋体"/>
              </a:rPr>
              <a:t>放大法求上界</a:t>
            </a:r>
            <a:endParaRPr sz="2400" dirty="0">
              <a:latin typeface="宋体"/>
              <a:cs typeface="宋体"/>
            </a:endParaRPr>
          </a:p>
          <a:p>
            <a:pPr marL="323307"/>
            <a:r>
              <a:rPr sz="2400" b="1" dirty="0" err="1" smtClean="0">
                <a:latin typeface="宋体"/>
                <a:cs typeface="宋体"/>
              </a:rPr>
              <a:t>用积分做和式的渐近的界</a:t>
            </a:r>
            <a:endParaRPr sz="2400" dirty="0">
              <a:latin typeface="宋体"/>
              <a:cs typeface="宋体"/>
            </a:endParaRPr>
          </a:p>
        </p:txBody>
      </p:sp>
    </p:spTree>
    <p:extLst>
      <p:ext uri="{BB962C8B-B14F-4D97-AF65-F5344CB8AC3E}">
        <p14:creationId xmlns:p14="http://schemas.microsoft.com/office/powerpoint/2010/main" val="39433696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410547" y="2053067"/>
            <a:ext cx="8873411" cy="1252534"/>
          </a:xfrm>
        </p:spPr>
        <p:txBody>
          <a:bodyPr>
            <a:normAutofit/>
          </a:bodyPr>
          <a:lstStyle/>
          <a:p>
            <a:pPr algn="ctr"/>
            <a:r>
              <a:rPr lang="zh-CN" altLang="en-US" sz="6600" b="1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递归方程与算法分析</a:t>
            </a:r>
          </a:p>
        </p:txBody>
      </p:sp>
    </p:spTree>
    <p:extLst>
      <p:ext uri="{BB962C8B-B14F-4D97-AF65-F5344CB8AC3E}">
        <p14:creationId xmlns:p14="http://schemas.microsoft.com/office/powerpoint/2010/main" val="23204704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382556" y="186383"/>
            <a:ext cx="8920064" cy="718680"/>
          </a:xfrm>
        </p:spPr>
        <p:txBody>
          <a:bodyPr>
            <a:normAutofit/>
          </a:bodyPr>
          <a:lstStyle/>
          <a:p>
            <a:pPr algn="ctr"/>
            <a:r>
              <a:rPr lang="zh-CN" altLang="en-US" sz="4400" b="1" dirty="0" smtClean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递推方程</a:t>
            </a:r>
            <a:endParaRPr lang="zh-CN" altLang="en-US" sz="4400" b="1" dirty="0">
              <a:solidFill>
                <a:srgbClr val="C00000"/>
              </a:solidFill>
              <a:latin typeface="黑体" pitchFamily="49" charset="-122"/>
              <a:ea typeface="黑体" pitchFamily="49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4294967295"/>
              </p:nvPr>
            </p:nvSpPr>
            <p:spPr>
              <a:xfrm>
                <a:off x="382555" y="1725046"/>
                <a:ext cx="8957389" cy="4111612"/>
              </a:xfrm>
            </p:spPr>
            <p:txBody>
              <a:bodyPr>
                <a:normAutofit/>
              </a:bodyPr>
              <a:lstStyle/>
              <a:p>
                <a:pPr marL="0" indent="0" algn="just">
                  <a:lnSpc>
                    <a:spcPct val="120000"/>
                  </a:lnSpc>
                  <a:buNone/>
                </a:pPr>
                <a:r>
                  <a:rPr lang="zh-CN" altLang="en-US" sz="2800" b="1" dirty="0" smtClean="0">
                    <a:latin typeface="黑体" pitchFamily="49" charset="-122"/>
                    <a:ea typeface="黑体" pitchFamily="49" charset="-122"/>
                  </a:rPr>
                  <a:t>设序列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1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CN" sz="2800" b="1" i="1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US" altLang="zh-CN" sz="2800" b="1" i="1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US" altLang="zh-CN" sz="2800" b="1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2800" b="1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CN" sz="2800" b="1" i="1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sz="2800" b="1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  <m:sSub>
                      <m:sSubPr>
                        <m:ctrlPr>
                          <a:rPr lang="en-US" altLang="zh-CN" sz="2800" b="1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CN" sz="2800" b="1" i="1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  <m:r>
                      <a:rPr lang="en-US" altLang="zh-CN" sz="2800" b="1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</m:oMath>
                </a14:m>
                <a:r>
                  <a:rPr lang="zh-CN" altLang="en-US" sz="2800" b="1" dirty="0" smtClean="0">
                    <a:latin typeface="黑体" pitchFamily="49" charset="-122"/>
                    <a:ea typeface="黑体" pitchFamily="49" charset="-122"/>
                  </a:rPr>
                  <a:t>，简记为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altLang="zh-CN" sz="2800" b="1" i="1" smtClean="0">
                            <a:latin typeface="Cambria Math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800" b="1" i="1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zh-CN" sz="2800" b="1" i="1">
                                <a:latin typeface="Cambria Math" panose="02040503050406030204" pitchFamily="18" charset="0"/>
                              </a:rPr>
                              <m:t>𝒂</m:t>
                            </m:r>
                          </m:e>
                          <m:sub>
                            <m:r>
                              <a:rPr lang="en-US" altLang="zh-CN" sz="2800" b="1" i="1">
                                <a:latin typeface="Cambria Math" panose="02040503050406030204" pitchFamily="18" charset="0"/>
                              </a:rPr>
                              <m:t>𝒏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en-US" sz="2800" b="1" dirty="0" smtClean="0">
                    <a:latin typeface="黑体" pitchFamily="49" charset="-122"/>
                    <a:ea typeface="黑体" pitchFamily="49" charset="-122"/>
                  </a:rPr>
                  <a:t>，一把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1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CN" sz="2800" b="1" i="1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US" altLang="zh-CN" sz="2800" b="1" i="1"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</m:oMath>
                </a14:m>
                <a:r>
                  <a:rPr lang="zh-CN" altLang="en-US" sz="2800" b="1" dirty="0" smtClean="0">
                    <a:latin typeface="黑体" pitchFamily="49" charset="-122"/>
                    <a:ea typeface="黑体" pitchFamily="49" charset="-122"/>
                  </a:rPr>
                  <a:t>与某些个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1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CN" sz="2800" b="1" i="1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en-US" altLang="zh-CN" sz="2800" b="1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</a:rPr>
                      <m:t>𝒊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800" b="1" dirty="0" smtClean="0">
                    <a:latin typeface="黑体" pitchFamily="49" charset="-122"/>
                    <a:ea typeface="黑体" pitchFamily="49" charset="-122"/>
                  </a:rPr>
                  <a:t>联系起来的等式叫做关于序列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altLang="zh-CN" sz="2800" b="1" i="1">
                            <a:latin typeface="Cambria Math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800" b="1" i="1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zh-CN" sz="2800" b="1" i="1">
                                <a:latin typeface="Cambria Math" panose="02040503050406030204" pitchFamily="18" charset="0"/>
                              </a:rPr>
                              <m:t>𝒂</m:t>
                            </m:r>
                          </m:e>
                          <m:sub>
                            <m:r>
                              <a:rPr lang="en-US" altLang="zh-CN" sz="2800" b="1" i="1">
                                <a:latin typeface="Cambria Math" panose="02040503050406030204" pitchFamily="18" charset="0"/>
                              </a:rPr>
                              <m:t>𝒏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en-US" sz="2800" b="1" dirty="0" smtClean="0">
                    <a:latin typeface="黑体" pitchFamily="49" charset="-122"/>
                    <a:ea typeface="黑体" pitchFamily="49" charset="-122"/>
                  </a:rPr>
                  <a:t>的</a:t>
                </a:r>
                <a:r>
                  <a:rPr lang="zh-CN" altLang="en-US" sz="2800" b="1" dirty="0" smtClean="0">
                    <a:solidFill>
                      <a:srgbClr val="C00000"/>
                    </a:solidFill>
                    <a:latin typeface="黑体" pitchFamily="49" charset="-122"/>
                    <a:ea typeface="黑体" pitchFamily="49" charset="-122"/>
                  </a:rPr>
                  <a:t>递推方程</a:t>
                </a:r>
                <a:endParaRPr lang="en-US" altLang="zh-CN" sz="2800" b="1" dirty="0" smtClean="0">
                  <a:solidFill>
                    <a:srgbClr val="C00000"/>
                  </a:solidFill>
                  <a:latin typeface="黑体" pitchFamily="49" charset="-122"/>
                  <a:ea typeface="黑体" pitchFamily="49" charset="-122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:endParaRPr lang="en-US" altLang="zh-CN" sz="2800" dirty="0">
                  <a:latin typeface="黑体" pitchFamily="49" charset="-122"/>
                  <a:ea typeface="黑体" pitchFamily="49" charset="-122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zh-CN" altLang="en-US" sz="2800" b="1" dirty="0" smtClean="0">
                    <a:solidFill>
                      <a:srgbClr val="C00000"/>
                    </a:solidFill>
                    <a:latin typeface="黑体" pitchFamily="49" charset="-122"/>
                    <a:ea typeface="黑体" pitchFamily="49" charset="-122"/>
                  </a:rPr>
                  <a:t>递推方程的求解</a:t>
                </a:r>
                <a:r>
                  <a:rPr lang="zh-CN" altLang="en-US" sz="2800" b="1" dirty="0" smtClean="0">
                    <a:latin typeface="黑体" pitchFamily="49" charset="-122"/>
                    <a:ea typeface="黑体" pitchFamily="49" charset="-122"/>
                  </a:rPr>
                  <a:t>：</a:t>
                </a:r>
                <a:endParaRPr lang="en-US" altLang="zh-CN" sz="2800" b="1" dirty="0" smtClean="0">
                  <a:latin typeface="黑体" pitchFamily="49" charset="-122"/>
                  <a:ea typeface="黑体" pitchFamily="49" charset="-122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zh-CN" altLang="en-US" sz="2800" b="1" dirty="0" smtClean="0">
                    <a:latin typeface="黑体" pitchFamily="49" charset="-122"/>
                    <a:ea typeface="黑体" pitchFamily="49" charset="-122"/>
                  </a:rPr>
                  <a:t>给定关于序列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altLang="zh-CN" sz="2800" b="1" i="1">
                            <a:latin typeface="Cambria Math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800" b="1" i="1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zh-CN" sz="2800" b="1" i="1">
                                <a:latin typeface="Cambria Math" panose="02040503050406030204" pitchFamily="18" charset="0"/>
                              </a:rPr>
                              <m:t>𝒂</m:t>
                            </m:r>
                          </m:e>
                          <m:sub>
                            <m:r>
                              <a:rPr lang="en-US" altLang="zh-CN" sz="2800" b="1" i="1">
                                <a:latin typeface="Cambria Math" panose="02040503050406030204" pitchFamily="18" charset="0"/>
                              </a:rPr>
                              <m:t>𝒏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en-US" sz="2800" b="1" dirty="0">
                    <a:latin typeface="黑体" pitchFamily="49" charset="-122"/>
                    <a:ea typeface="黑体" pitchFamily="49" charset="-122"/>
                  </a:rPr>
                  <a:t>的递推</a:t>
                </a:r>
                <a:r>
                  <a:rPr lang="zh-CN" altLang="en-US" sz="2800" b="1" dirty="0" smtClean="0">
                    <a:latin typeface="黑体" pitchFamily="49" charset="-122"/>
                    <a:ea typeface="黑体" pitchFamily="49" charset="-122"/>
                  </a:rPr>
                  <a:t>方程和若干初值，计算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1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CN" sz="2800" b="1" i="1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US" altLang="zh-CN" sz="2800" b="1" i="1"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</m:oMath>
                </a14:m>
                <a:endParaRPr lang="en-US" altLang="zh-CN" sz="2800" b="1" dirty="0">
                  <a:latin typeface="黑体" pitchFamily="49" charset="-122"/>
                  <a:ea typeface="黑体" pitchFamily="49" charset="-122"/>
                </a:endParaRPr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4294967295"/>
              </p:nvPr>
            </p:nvSpPr>
            <p:spPr>
              <a:xfrm>
                <a:off x="382555" y="1725046"/>
                <a:ext cx="8957389" cy="4111612"/>
              </a:xfrm>
              <a:blipFill rotWithShape="1">
                <a:blip r:embed="rId2"/>
                <a:stretch>
                  <a:fillRect l="-1430" t="-1039" r="-136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374269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373224" y="264733"/>
            <a:ext cx="8920066" cy="620418"/>
          </a:xfrm>
        </p:spPr>
        <p:txBody>
          <a:bodyPr>
            <a:noAutofit/>
          </a:bodyPr>
          <a:lstStyle/>
          <a:p>
            <a:pPr algn="ctr"/>
            <a:r>
              <a:rPr lang="zh-CN" altLang="en-US" sz="4400" dirty="0">
                <a:solidFill>
                  <a:srgbClr val="C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递推方程的例子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占位符 2"/>
              <p:cNvSpPr>
                <a:spLocks noGrp="1"/>
              </p:cNvSpPr>
              <p:nvPr>
                <p:ph idx="4294967295"/>
              </p:nvPr>
            </p:nvSpPr>
            <p:spPr>
              <a:xfrm>
                <a:off x="1388520" y="3979611"/>
                <a:ext cx="6717140" cy="2209373"/>
              </a:xfrm>
            </p:spPr>
            <p:txBody>
              <a:bodyPr>
                <a:normAutofit fontScale="70000" lnSpcReduction="20000"/>
              </a:bodyPr>
              <a:lstStyle/>
              <a:p>
                <a:pPr marL="0" indent="0" algn="r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4000" b="1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altLang="zh-CN" sz="4000" b="1" i="1">
                              <a:latin typeface="Cambria Math" panose="02040503050406030204" pitchFamily="18" charset="0"/>
                            </a:rPr>
                            <m:t>𝒇</m:t>
                          </m:r>
                        </m:e>
                        <m:sub>
                          <m:r>
                            <a:rPr lang="en-US" altLang="zh-CN" sz="4000" b="1" i="1">
                              <a:latin typeface="Cambria Math" panose="02040503050406030204" pitchFamily="18" charset="0"/>
                            </a:rPr>
                            <m:t>𝒏</m:t>
                          </m:r>
                        </m:sub>
                      </m:sSub>
                      <m:r>
                        <a:rPr lang="en-US" altLang="zh-CN" sz="4000" b="1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4000" b="1" i="1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altLang="zh-CN" sz="40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zh-CN" sz="4000" b="1" i="1">
                                  <a:latin typeface="Cambria Math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CN" sz="4000" b="1" i="1">
                                  <a:latin typeface="Cambria Math" panose="02040503050406030204" pitchFamily="18" charset="0"/>
                                </a:rPr>
                                <m:t>𝟓</m:t>
                              </m:r>
                            </m:e>
                          </m:rad>
                        </m:den>
                      </m:f>
                      <m:sSup>
                        <m:sSupPr>
                          <m:ctrlPr>
                            <a:rPr lang="en-US" altLang="zh-CN" sz="4000" b="1" i="1">
                              <a:latin typeface="Cambria Math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sz="4000" b="1" i="1">
                                  <a:latin typeface="Cambria Math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zh-CN" sz="4000" b="1" i="1">
                                      <a:latin typeface="Cambria Math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4000" b="1" i="1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  <m:r>
                                    <a:rPr lang="en-US" altLang="zh-CN" sz="4000" b="1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ad>
                                    <m:radPr>
                                      <m:degHide m:val="on"/>
                                      <m:ctrlPr>
                                        <a:rPr lang="en-US" altLang="zh-CN" sz="4000" b="1" i="1">
                                          <a:latin typeface="Cambria Math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US" altLang="zh-CN" sz="4000" b="1" i="1">
                                          <a:latin typeface="Cambria Math" panose="02040503050406030204" pitchFamily="18" charset="0"/>
                                        </a:rPr>
                                        <m:t>𝟓</m:t>
                                      </m:r>
                                    </m:e>
                                  </m:rad>
                                </m:num>
                                <m:den>
                                  <m:r>
                                    <a:rPr lang="en-US" altLang="zh-CN" sz="4000" b="1" i="1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US" altLang="zh-CN" sz="4000" b="1" i="1"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en-US" altLang="zh-CN" sz="4000" b="1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40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  <m:r>
                        <a:rPr lang="en-US" altLang="zh-CN" sz="4000" b="1" i="1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altLang="zh-CN" sz="4000" b="1" i="1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altLang="zh-CN" sz="40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zh-CN" sz="4000" b="1" i="1">
                                  <a:latin typeface="Cambria Math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CN" sz="4000" b="1" i="1">
                                  <a:latin typeface="Cambria Math" panose="02040503050406030204" pitchFamily="18" charset="0"/>
                                </a:rPr>
                                <m:t>𝟓</m:t>
                              </m:r>
                            </m:e>
                          </m:rad>
                        </m:den>
                      </m:f>
                      <m:sSup>
                        <m:sSupPr>
                          <m:ctrlPr>
                            <a:rPr lang="en-US" altLang="zh-CN" sz="4000" b="1" i="1">
                              <a:latin typeface="Cambria Math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sz="4000" b="1" i="1">
                                  <a:latin typeface="Cambria Math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zh-CN" sz="4000" b="1" i="1">
                                      <a:latin typeface="Cambria Math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4000" b="1" i="1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  <m:r>
                                    <a:rPr lang="en-US" altLang="zh-CN" sz="4000" b="1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ad>
                                    <m:radPr>
                                      <m:degHide m:val="on"/>
                                      <m:ctrlPr>
                                        <a:rPr lang="en-US" altLang="zh-CN" sz="4000" b="1" i="1">
                                          <a:latin typeface="Cambria Math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US" altLang="zh-CN" sz="4000" b="1" i="1">
                                          <a:latin typeface="Cambria Math" panose="02040503050406030204" pitchFamily="18" charset="0"/>
                                        </a:rPr>
                                        <m:t>𝟓</m:t>
                                      </m:r>
                                    </m:e>
                                  </m:rad>
                                </m:num>
                                <m:den>
                                  <m:r>
                                    <a:rPr lang="en-US" altLang="zh-CN" sz="4000" b="1" i="1" smtClean="0">
                                      <a:latin typeface="Cambria Math"/>
                                    </a:rPr>
                                    <m:t>𝟐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US" altLang="zh-CN" sz="4000" b="1" i="1"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en-US" altLang="zh-CN" sz="4000" b="1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40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</m:oMath>
                  </m:oMathPara>
                </a14:m>
                <a:endParaRPr lang="zh-CN" altLang="en-US" sz="3800" b="1" dirty="0"/>
              </a:p>
            </p:txBody>
          </p:sp>
        </mc:Choice>
        <mc:Fallback xmlns="">
          <p:sp>
            <p:nvSpPr>
              <p:cNvPr id="3" name="文本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1388520" y="3979611"/>
                <a:ext cx="6717140" cy="2209373"/>
              </a:xfr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object 39"/>
          <p:cNvSpPr/>
          <p:nvPr/>
        </p:nvSpPr>
        <p:spPr>
          <a:xfrm>
            <a:off x="1540888" y="4388375"/>
            <a:ext cx="6564772" cy="1301524"/>
          </a:xfrm>
          <a:custGeom>
            <a:avLst/>
            <a:gdLst/>
            <a:ahLst/>
            <a:cxnLst/>
            <a:rect l="l" t="t" r="r" b="b"/>
            <a:pathLst>
              <a:path w="2895600" h="914400">
                <a:moveTo>
                  <a:pt x="0" y="152400"/>
                </a:moveTo>
                <a:lnTo>
                  <a:pt x="7769" y="104217"/>
                </a:lnTo>
                <a:lnTo>
                  <a:pt x="29405" y="62380"/>
                </a:lnTo>
                <a:lnTo>
                  <a:pt x="62396" y="29394"/>
                </a:lnTo>
                <a:lnTo>
                  <a:pt x="104231" y="7766"/>
                </a:lnTo>
                <a:lnTo>
                  <a:pt x="152400" y="0"/>
                </a:lnTo>
                <a:lnTo>
                  <a:pt x="2743200" y="0"/>
                </a:lnTo>
                <a:lnTo>
                  <a:pt x="2791382" y="7766"/>
                </a:lnTo>
                <a:lnTo>
                  <a:pt x="2833219" y="29394"/>
                </a:lnTo>
                <a:lnTo>
                  <a:pt x="2866205" y="62380"/>
                </a:lnTo>
                <a:lnTo>
                  <a:pt x="2887833" y="104217"/>
                </a:lnTo>
                <a:lnTo>
                  <a:pt x="2895600" y="152400"/>
                </a:lnTo>
                <a:lnTo>
                  <a:pt x="2895600" y="762000"/>
                </a:lnTo>
                <a:lnTo>
                  <a:pt x="2887833" y="810168"/>
                </a:lnTo>
                <a:lnTo>
                  <a:pt x="2866205" y="852003"/>
                </a:lnTo>
                <a:lnTo>
                  <a:pt x="2833219" y="884994"/>
                </a:lnTo>
                <a:lnTo>
                  <a:pt x="2791382" y="906630"/>
                </a:lnTo>
                <a:lnTo>
                  <a:pt x="2743200" y="914400"/>
                </a:lnTo>
                <a:lnTo>
                  <a:pt x="152400" y="914400"/>
                </a:lnTo>
                <a:lnTo>
                  <a:pt x="104231" y="906630"/>
                </a:lnTo>
                <a:lnTo>
                  <a:pt x="62396" y="884994"/>
                </a:lnTo>
                <a:lnTo>
                  <a:pt x="29405" y="852003"/>
                </a:lnTo>
                <a:lnTo>
                  <a:pt x="7769" y="810168"/>
                </a:lnTo>
                <a:lnTo>
                  <a:pt x="0" y="762000"/>
                </a:lnTo>
                <a:lnTo>
                  <a:pt x="0" y="152400"/>
                </a:lnTo>
                <a:close/>
              </a:path>
            </a:pathLst>
          </a:custGeom>
          <a:ln w="2540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 sz="2000"/>
          </a:p>
        </p:txBody>
      </p:sp>
      <p:sp>
        <p:nvSpPr>
          <p:cNvPr id="8" name="object 39"/>
          <p:cNvSpPr/>
          <p:nvPr/>
        </p:nvSpPr>
        <p:spPr>
          <a:xfrm>
            <a:off x="2394868" y="2581850"/>
            <a:ext cx="2939120" cy="1176979"/>
          </a:xfrm>
          <a:custGeom>
            <a:avLst/>
            <a:gdLst/>
            <a:ahLst/>
            <a:cxnLst/>
            <a:rect l="l" t="t" r="r" b="b"/>
            <a:pathLst>
              <a:path w="2895600" h="914400">
                <a:moveTo>
                  <a:pt x="0" y="152400"/>
                </a:moveTo>
                <a:lnTo>
                  <a:pt x="7769" y="104217"/>
                </a:lnTo>
                <a:lnTo>
                  <a:pt x="29405" y="62380"/>
                </a:lnTo>
                <a:lnTo>
                  <a:pt x="62396" y="29394"/>
                </a:lnTo>
                <a:lnTo>
                  <a:pt x="104231" y="7766"/>
                </a:lnTo>
                <a:lnTo>
                  <a:pt x="152400" y="0"/>
                </a:lnTo>
                <a:lnTo>
                  <a:pt x="2743200" y="0"/>
                </a:lnTo>
                <a:lnTo>
                  <a:pt x="2791382" y="7766"/>
                </a:lnTo>
                <a:lnTo>
                  <a:pt x="2833219" y="29394"/>
                </a:lnTo>
                <a:lnTo>
                  <a:pt x="2866205" y="62380"/>
                </a:lnTo>
                <a:lnTo>
                  <a:pt x="2887833" y="104217"/>
                </a:lnTo>
                <a:lnTo>
                  <a:pt x="2895600" y="152400"/>
                </a:lnTo>
                <a:lnTo>
                  <a:pt x="2895600" y="762000"/>
                </a:lnTo>
                <a:lnTo>
                  <a:pt x="2887833" y="810168"/>
                </a:lnTo>
                <a:lnTo>
                  <a:pt x="2866205" y="852003"/>
                </a:lnTo>
                <a:lnTo>
                  <a:pt x="2833219" y="884994"/>
                </a:lnTo>
                <a:lnTo>
                  <a:pt x="2791382" y="906630"/>
                </a:lnTo>
                <a:lnTo>
                  <a:pt x="2743200" y="914400"/>
                </a:lnTo>
                <a:lnTo>
                  <a:pt x="152400" y="914400"/>
                </a:lnTo>
                <a:lnTo>
                  <a:pt x="104231" y="906630"/>
                </a:lnTo>
                <a:lnTo>
                  <a:pt x="62396" y="884994"/>
                </a:lnTo>
                <a:lnTo>
                  <a:pt x="29405" y="852003"/>
                </a:lnTo>
                <a:lnTo>
                  <a:pt x="7769" y="810168"/>
                </a:lnTo>
                <a:lnTo>
                  <a:pt x="0" y="762000"/>
                </a:lnTo>
                <a:lnTo>
                  <a:pt x="0" y="152400"/>
                </a:lnTo>
                <a:close/>
              </a:path>
            </a:pathLst>
          </a:custGeom>
          <a:ln w="2540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026" name="Picture 2" descr="âFibonacciâçå¾çæç´¢ç»æ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66367" y="1069841"/>
            <a:ext cx="1539293" cy="20998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文本框 10"/>
          <p:cNvSpPr txBox="1"/>
          <p:nvPr/>
        </p:nvSpPr>
        <p:spPr>
          <a:xfrm>
            <a:off x="6287959" y="3205486"/>
            <a:ext cx="3145290" cy="648964"/>
          </a:xfrm>
          <a:prstGeom prst="rect">
            <a:avLst/>
          </a:prstGeom>
          <a:noFill/>
        </p:spPr>
        <p:txBody>
          <a:bodyPr wrap="square" lIns="83887" tIns="41944" rIns="83887" bIns="41944" rtlCol="0">
            <a:spAutoFit/>
          </a:bodyPr>
          <a:lstStyle/>
          <a:p>
            <a:pPr algn="just">
              <a:lnSpc>
                <a:spcPts val="2202"/>
              </a:lnSpc>
            </a:pPr>
            <a:r>
              <a:rPr lang="zh-CN" altLang="en-US" sz="2200" b="1" spc="15" dirty="0">
                <a:solidFill>
                  <a:srgbClr val="CC3300"/>
                </a:solidFill>
                <a:latin typeface="QPLIHV+ËÎÌå"/>
                <a:cs typeface="QPLIHV+ËÎÌå"/>
              </a:rPr>
              <a:t>数学家</a:t>
            </a:r>
            <a:r>
              <a:rPr lang="en-US" altLang="zh-CN" sz="2200" b="1" spc="15" dirty="0">
                <a:solidFill>
                  <a:srgbClr val="CC3300"/>
                </a:solidFill>
                <a:latin typeface="QPLIHV+ËÎÌå"/>
                <a:cs typeface="QPLIHV+ËÎÌå"/>
              </a:rPr>
              <a:t>Fibonacci</a:t>
            </a:r>
          </a:p>
          <a:p>
            <a:pPr algn="just">
              <a:lnSpc>
                <a:spcPts val="2202"/>
              </a:lnSpc>
            </a:pPr>
            <a:r>
              <a:rPr lang="zh-CN" altLang="en-US" sz="2200" b="1" spc="15" dirty="0">
                <a:solidFill>
                  <a:srgbClr val="CC3300"/>
                </a:solidFill>
                <a:latin typeface="QPLIHV+ËÎÌå"/>
                <a:cs typeface="QPLIHV+ËÎÌå"/>
              </a:rPr>
              <a:t>意大利</a:t>
            </a:r>
            <a:r>
              <a:rPr lang="en-US" altLang="zh-CN" sz="2200" b="1" spc="15" dirty="0">
                <a:solidFill>
                  <a:srgbClr val="CC3300"/>
                </a:solidFill>
                <a:latin typeface="QPLIHV+ËÎÌå"/>
                <a:cs typeface="QPLIHV+ËÎÌå"/>
              </a:rPr>
              <a:t>1170-1240</a:t>
            </a:r>
            <a:endParaRPr lang="zh-CN" altLang="en-US" sz="2200" b="1" spc="15" dirty="0">
              <a:solidFill>
                <a:srgbClr val="CC3300"/>
              </a:solidFill>
              <a:latin typeface="QPLIHV+ËÎÌå"/>
              <a:cs typeface="QPLIHV+ËÎÌå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占位符 2"/>
              <p:cNvSpPr txBox="1">
                <a:spLocks/>
              </p:cNvSpPr>
              <p:nvPr/>
            </p:nvSpPr>
            <p:spPr>
              <a:xfrm>
                <a:off x="410547" y="1184919"/>
                <a:ext cx="6907763" cy="2757368"/>
              </a:xfrm>
              <a:prstGeom prst="rect">
                <a:avLst/>
              </a:prstGeom>
            </p:spPr>
            <p:txBody>
              <a:bodyPr vert="horz" lIns="83887" tIns="41944" rIns="83887" bIns="41944" rtlCol="0">
                <a:normAutofit fontScale="77500" lnSpcReduction="20000"/>
              </a:bodyPr>
              <a:lstStyle>
                <a:lvl1pPr marL="209718" indent="-209718" algn="l" defTabSz="838871" rtl="0" eaLnBrk="1" latinLnBrk="0" hangingPunct="1">
                  <a:lnSpc>
                    <a:spcPct val="90000"/>
                  </a:lnSpc>
                  <a:spcBef>
                    <a:spcPts val="917"/>
                  </a:spcBef>
                  <a:buFont typeface="Arial" panose="020B0604020202020204" pitchFamily="34" charset="0"/>
                  <a:buChar char="•"/>
                  <a:defRPr sz="2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29153" indent="-209718" algn="l" defTabSz="838871" rtl="0" eaLnBrk="1" latinLnBrk="0" hangingPunct="1">
                  <a:lnSpc>
                    <a:spcPct val="90000"/>
                  </a:lnSpc>
                  <a:spcBef>
                    <a:spcPts val="459"/>
                  </a:spcBef>
                  <a:buFont typeface="Arial" panose="020B0604020202020204" pitchFamily="34" charset="0"/>
                  <a:buChar char="•"/>
                  <a:defRPr sz="2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048588" indent="-209718" algn="l" defTabSz="838871" rtl="0" eaLnBrk="1" latinLnBrk="0" hangingPunct="1">
                  <a:lnSpc>
                    <a:spcPct val="90000"/>
                  </a:lnSpc>
                  <a:spcBef>
                    <a:spcPts val="459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468023" indent="-209718" algn="l" defTabSz="838871" rtl="0" eaLnBrk="1" latinLnBrk="0" hangingPunct="1">
                  <a:lnSpc>
                    <a:spcPct val="90000"/>
                  </a:lnSpc>
                  <a:spcBef>
                    <a:spcPts val="459"/>
                  </a:spcBef>
                  <a:buFont typeface="Arial" panose="020B0604020202020204" pitchFamily="34" charset="0"/>
                  <a:buChar char="•"/>
                  <a:defRPr sz="17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87459" indent="-209718" algn="l" defTabSz="838871" rtl="0" eaLnBrk="1" latinLnBrk="0" hangingPunct="1">
                  <a:lnSpc>
                    <a:spcPct val="90000"/>
                  </a:lnSpc>
                  <a:spcBef>
                    <a:spcPts val="459"/>
                  </a:spcBef>
                  <a:buFont typeface="Arial" panose="020B0604020202020204" pitchFamily="34" charset="0"/>
                  <a:buChar char="•"/>
                  <a:defRPr sz="17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306894" indent="-209718" algn="l" defTabSz="838871" rtl="0" eaLnBrk="1" latinLnBrk="0" hangingPunct="1">
                  <a:lnSpc>
                    <a:spcPct val="90000"/>
                  </a:lnSpc>
                  <a:spcBef>
                    <a:spcPts val="459"/>
                  </a:spcBef>
                  <a:buFont typeface="Arial" panose="020B0604020202020204" pitchFamily="34" charset="0"/>
                  <a:buChar char="•"/>
                  <a:defRPr sz="17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26329" indent="-209718" algn="l" defTabSz="838871" rtl="0" eaLnBrk="1" latinLnBrk="0" hangingPunct="1">
                  <a:lnSpc>
                    <a:spcPct val="90000"/>
                  </a:lnSpc>
                  <a:spcBef>
                    <a:spcPts val="459"/>
                  </a:spcBef>
                  <a:buFont typeface="Arial" panose="020B0604020202020204" pitchFamily="34" charset="0"/>
                  <a:buChar char="•"/>
                  <a:defRPr sz="17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145765" indent="-209718" algn="l" defTabSz="838871" rtl="0" eaLnBrk="1" latinLnBrk="0" hangingPunct="1">
                  <a:lnSpc>
                    <a:spcPct val="90000"/>
                  </a:lnSpc>
                  <a:spcBef>
                    <a:spcPts val="459"/>
                  </a:spcBef>
                  <a:buFont typeface="Arial" panose="020B0604020202020204" pitchFamily="34" charset="0"/>
                  <a:buChar char="•"/>
                  <a:defRPr sz="17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565200" indent="-209718" algn="l" defTabSz="838871" rtl="0" eaLnBrk="1" latinLnBrk="0" hangingPunct="1">
                  <a:lnSpc>
                    <a:spcPct val="90000"/>
                  </a:lnSpc>
                  <a:spcBef>
                    <a:spcPts val="459"/>
                  </a:spcBef>
                  <a:buFont typeface="Arial" panose="020B0604020202020204" pitchFamily="34" charset="0"/>
                  <a:buChar char="•"/>
                  <a:defRPr sz="17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50000"/>
                  </a:lnSpc>
                </a:pPr>
                <a:r>
                  <a:rPr lang="en-US" altLang="zh-CN" sz="3600" b="1" dirty="0" smtClean="0">
                    <a:solidFill>
                      <a:srgbClr val="000000"/>
                    </a:solidFill>
                    <a:latin typeface="Times New Roman"/>
                    <a:cs typeface="Times New Roman"/>
                  </a:rPr>
                  <a:t>Fibonacci</a:t>
                </a:r>
                <a:r>
                  <a:rPr lang="en-US" altLang="zh-CN" sz="3600" b="1" dirty="0" smtClean="0"/>
                  <a:t> </a:t>
                </a:r>
                <a:r>
                  <a:rPr lang="zh-CN" altLang="en-US" sz="3600" b="1" dirty="0" smtClean="0"/>
                  <a:t>数</a:t>
                </a:r>
                <a:endParaRPr lang="en-US" altLang="zh-CN" sz="3600" b="1" dirty="0" smtClean="0"/>
              </a:p>
              <a:p>
                <a:pPr>
                  <a:lnSpc>
                    <a:spcPct val="150000"/>
                  </a:lnSpc>
                </a:pPr>
                <a:r>
                  <a:rPr lang="en-US" altLang="zh-CN" sz="3600" b="1" dirty="0" smtClean="0">
                    <a:solidFill>
                      <a:srgbClr val="002060"/>
                    </a:solidFill>
                  </a:rPr>
                  <a:t>1, 1, 2, 3, 5, 8, 13, 21, 34, 55, …</a:t>
                </a:r>
              </a:p>
              <a:p>
                <a:pPr>
                  <a:lnSpc>
                    <a:spcPct val="150000"/>
                  </a:lnSpc>
                </a:pPr>
                <a:r>
                  <a:rPr lang="zh-CN" altLang="en-US" sz="3600" b="1" dirty="0"/>
                  <a:t>递推</a:t>
                </a:r>
                <a:r>
                  <a:rPr lang="zh-CN" altLang="en-US" sz="3600" b="1" dirty="0" smtClean="0"/>
                  <a:t>方程：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600" b="1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CN" sz="3600" b="1" i="1" smtClean="0">
                            <a:latin typeface="Cambria Math" panose="02040503050406030204" pitchFamily="18" charset="0"/>
                          </a:rPr>
                          <m:t>𝒇</m:t>
                        </m:r>
                      </m:e>
                      <m:sub>
                        <m:r>
                          <a:rPr lang="en-US" altLang="zh-CN" sz="3600" b="1" i="1" smtClean="0"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  <m:r>
                      <a:rPr lang="en-US" altLang="zh-CN" sz="3600" b="1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3600" b="1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CN" sz="3600" b="1" i="1">
                            <a:latin typeface="Cambria Math" panose="02040503050406030204" pitchFamily="18" charset="0"/>
                          </a:rPr>
                          <m:t>𝒇</m:t>
                        </m:r>
                      </m:e>
                      <m:sub>
                        <m:r>
                          <a:rPr lang="en-US" altLang="zh-CN" sz="3600" b="1" i="1">
                            <a:latin typeface="Cambria Math" panose="02040503050406030204" pitchFamily="18" charset="0"/>
                          </a:rPr>
                          <m:t>𝒏</m:t>
                        </m:r>
                        <m:r>
                          <a:rPr lang="en-US" altLang="zh-CN" sz="3600" b="1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36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sz="3600" b="1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sz="3600" b="1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CN" sz="3600" b="1" i="1">
                            <a:latin typeface="Cambria Math" panose="02040503050406030204" pitchFamily="18" charset="0"/>
                          </a:rPr>
                          <m:t>𝒇</m:t>
                        </m:r>
                      </m:e>
                      <m:sub>
                        <m:r>
                          <a:rPr lang="en-US" altLang="zh-CN" sz="3600" b="1" i="1">
                            <a:latin typeface="Cambria Math" panose="02040503050406030204" pitchFamily="18" charset="0"/>
                          </a:rPr>
                          <m:t>𝒏</m:t>
                        </m:r>
                        <m:r>
                          <a:rPr lang="en-US" altLang="zh-CN" sz="3600" b="1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36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endParaRPr lang="en-US" altLang="zh-CN" sz="3600" b="1" dirty="0" smtClean="0"/>
              </a:p>
              <a:p>
                <a:pPr>
                  <a:lnSpc>
                    <a:spcPct val="150000"/>
                  </a:lnSpc>
                </a:pPr>
                <a:r>
                  <a:rPr lang="zh-CN" altLang="en-US" sz="3600" b="1" dirty="0" smtClean="0"/>
                  <a:t>初值：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600" b="1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CN" sz="3600" b="1" i="1">
                            <a:latin typeface="Cambria Math" panose="02040503050406030204" pitchFamily="18" charset="0"/>
                          </a:rPr>
                          <m:t>𝒇</m:t>
                        </m:r>
                      </m:e>
                      <m:sub>
                        <m:r>
                          <a:rPr lang="en-US" altLang="zh-CN" sz="3600" b="1" i="1" smtClean="0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US" altLang="zh-CN" sz="36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3600" b="1" i="1" smtClean="0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zh-CN" sz="3600" b="1" i="1" smtClean="0">
                        <a:latin typeface="Cambria Math" panose="02040503050406030204" pitchFamily="18" charset="0"/>
                      </a:rPr>
                      <m:t>,      </m:t>
                    </m:r>
                    <m:sSub>
                      <m:sSubPr>
                        <m:ctrlPr>
                          <a:rPr lang="en-US" altLang="zh-CN" sz="3600" b="1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CN" sz="3600" b="1" i="1">
                            <a:latin typeface="Cambria Math" panose="02040503050406030204" pitchFamily="18" charset="0"/>
                          </a:rPr>
                          <m:t>𝒇</m:t>
                        </m:r>
                      </m:e>
                      <m:sub>
                        <m:r>
                          <a:rPr lang="en-US" altLang="zh-CN" sz="36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sz="36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3600" b="1" i="1" smtClean="0"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endParaRPr lang="en-US" altLang="zh-CN" sz="3600" b="1" dirty="0" smtClean="0"/>
              </a:p>
              <a:p>
                <a:pPr marL="0" indent="0" algn="r">
                  <a:lnSpc>
                    <a:spcPct val="150000"/>
                  </a:lnSpc>
                  <a:buFont typeface="Arial" panose="020B0604020202020204" pitchFamily="34" charset="0"/>
                  <a:buNone/>
                </a:pPr>
                <a:endParaRPr lang="zh-CN" altLang="en-US" sz="3800" b="1" dirty="0"/>
              </a:p>
            </p:txBody>
          </p:sp>
        </mc:Choice>
        <mc:Fallback xmlns="">
          <p:sp>
            <p:nvSpPr>
              <p:cNvPr id="9" name="文本占位符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0547" y="1184919"/>
                <a:ext cx="6907763" cy="2757368"/>
              </a:xfrm>
              <a:prstGeom prst="rect">
                <a:avLst/>
              </a:prstGeom>
              <a:blipFill rotWithShape="1">
                <a:blip r:embed="rId4"/>
                <a:stretch>
                  <a:fillRect l="-1587" b="-6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矩形 3"/>
          <p:cNvSpPr/>
          <p:nvPr/>
        </p:nvSpPr>
        <p:spPr>
          <a:xfrm>
            <a:off x="865701" y="3979611"/>
            <a:ext cx="902811" cy="67300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/>
              <a:t>解：</a:t>
            </a:r>
            <a:endParaRPr lang="en-US" altLang="zh-CN" sz="2800" b="1" dirty="0"/>
          </a:p>
        </p:txBody>
      </p:sp>
    </p:spTree>
    <p:extLst>
      <p:ext uri="{BB962C8B-B14F-4D97-AF65-F5344CB8AC3E}">
        <p14:creationId xmlns:p14="http://schemas.microsoft.com/office/powerpoint/2010/main" val="35704394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7" grpId="0" animBg="1"/>
      <p:bldP spid="8" grpId="0" animBg="1"/>
      <p:bldP spid="4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391886" y="160507"/>
            <a:ext cx="8901404" cy="775520"/>
          </a:xfrm>
        </p:spPr>
        <p:txBody>
          <a:bodyPr>
            <a:noAutofit/>
          </a:bodyPr>
          <a:lstStyle/>
          <a:p>
            <a:pPr algn="ctr"/>
            <a:r>
              <a:rPr lang="en-US" altLang="zh-CN" sz="4400" spc="18" dirty="0">
                <a:solidFill>
                  <a:srgbClr val="C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Fibonacci</a:t>
            </a:r>
            <a:r>
              <a:rPr lang="zh-CN" altLang="en-US" sz="4400" dirty="0">
                <a:solidFill>
                  <a:srgbClr val="C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数的</a:t>
            </a:r>
            <a:r>
              <a:rPr lang="zh-CN" altLang="en-US" sz="4400" dirty="0" smtClean="0">
                <a:solidFill>
                  <a:srgbClr val="C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存在</a:t>
            </a:r>
            <a:endParaRPr lang="zh-CN" altLang="en-US" sz="4400" dirty="0">
              <a:solidFill>
                <a:srgbClr val="C00000"/>
              </a:solidFill>
              <a:latin typeface="Times New Roman" pitchFamily="18" charset="0"/>
              <a:ea typeface="黑体" pitchFamily="49" charset="-122"/>
              <a:cs typeface="Times New Roman" pitchFamily="18" charset="0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5748" y="1128032"/>
            <a:ext cx="5741250" cy="4892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225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2"/>
          <a:srcRect l="78280" r="17653" b="38347"/>
          <a:stretch/>
        </p:blipFill>
        <p:spPr>
          <a:xfrm>
            <a:off x="3369921" y="1536712"/>
            <a:ext cx="233463" cy="1286627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 rotWithShape="1">
          <a:blip r:embed="rId2"/>
          <a:srcRect l="78280" r="17653" b="38347"/>
          <a:stretch/>
        </p:blipFill>
        <p:spPr>
          <a:xfrm>
            <a:off x="6946657" y="1536710"/>
            <a:ext cx="233463" cy="1286627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 rotWithShape="1">
          <a:blip r:embed="rId2"/>
          <a:srcRect l="78280" r="17653" b="38347"/>
          <a:stretch/>
        </p:blipFill>
        <p:spPr>
          <a:xfrm>
            <a:off x="5015220" y="1536711"/>
            <a:ext cx="233463" cy="1286627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389379" y="264733"/>
            <a:ext cx="8885252" cy="620418"/>
          </a:xfrm>
        </p:spPr>
        <p:txBody>
          <a:bodyPr>
            <a:noAutofit/>
          </a:bodyPr>
          <a:lstStyle/>
          <a:p>
            <a:pPr algn="ctr"/>
            <a:r>
              <a:rPr lang="en-US" altLang="zh-CN" sz="4400" b="1" dirty="0" smtClean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Hanoi</a:t>
            </a:r>
            <a:r>
              <a:rPr lang="zh-CN" altLang="en-US" sz="4400" b="1" dirty="0" smtClean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塔问题</a:t>
            </a:r>
            <a:endParaRPr lang="zh-CN" altLang="en-US" sz="4400" b="1" dirty="0">
              <a:solidFill>
                <a:srgbClr val="C00000"/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389379" y="3888265"/>
            <a:ext cx="8885252" cy="1692840"/>
          </a:xfrm>
          <a:prstGeom prst="rect">
            <a:avLst/>
          </a:prstGeom>
          <a:noFill/>
        </p:spPr>
        <p:txBody>
          <a:bodyPr wrap="square" lIns="83887" tIns="41944" rIns="83887" bIns="41944" rtlCol="0">
            <a:spAutoFit/>
          </a:bodyPr>
          <a:lstStyle/>
          <a:p>
            <a:pPr algn="just">
              <a:lnSpc>
                <a:spcPts val="3250"/>
              </a:lnSpc>
            </a:pPr>
            <a:r>
              <a:rPr lang="en-US" altLang="zh-CN" sz="2800" b="1" i="1" dirty="0" smtClean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Times New Roman"/>
              </a:rPr>
              <a:t>N </a:t>
            </a:r>
            <a:r>
              <a:rPr lang="zh-CN" altLang="en-US" sz="2800" spc="14" dirty="0" smtClean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QPLIHV+ËÎÌå"/>
              </a:rPr>
              <a:t>个</a:t>
            </a:r>
            <a:r>
              <a:rPr lang="zh-CN" altLang="en-US" sz="2800" spc="14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QPLIHV+ËÎÌå"/>
              </a:rPr>
              <a:t>盘子从大到小顺序放</a:t>
            </a:r>
            <a:r>
              <a:rPr lang="zh-CN" altLang="en-US" sz="2800" spc="14" dirty="0" smtClean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QPLIHV+ËÎÌå"/>
              </a:rPr>
              <a:t>在 </a:t>
            </a:r>
            <a:r>
              <a:rPr lang="en-US" altLang="zh-CN" sz="2800" b="1" i="1" dirty="0" smtClean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Times New Roman"/>
              </a:rPr>
              <a:t>A</a:t>
            </a:r>
            <a:r>
              <a:rPr lang="zh-CN" altLang="en-US" sz="2800" b="1" i="1" spc="-168" dirty="0" smtClean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Times New Roman"/>
              </a:rPr>
              <a:t> </a:t>
            </a:r>
            <a:r>
              <a:rPr lang="zh-CN" altLang="en-US" sz="2800" spc="14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QPLIHV+ËÎÌå"/>
              </a:rPr>
              <a:t>柱上</a:t>
            </a:r>
            <a:r>
              <a:rPr lang="zh-CN" altLang="en-US" sz="2800" spc="14" dirty="0" smtClean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QPLIHV+ËÎÌå"/>
              </a:rPr>
              <a:t>，要</a:t>
            </a:r>
            <a:r>
              <a:rPr lang="zh-CN" altLang="en-US" sz="2800" spc="14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QPLIHV+ËÎÌå"/>
              </a:rPr>
              <a:t>把它们从</a:t>
            </a:r>
            <a:r>
              <a:rPr lang="zh-CN" altLang="en-US" sz="2800" spc="61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Times New Roman"/>
              </a:rPr>
              <a:t> </a:t>
            </a:r>
            <a:r>
              <a:rPr lang="en-US" altLang="zh-CN" sz="2800" b="1" i="1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Times New Roman"/>
              </a:rPr>
              <a:t>A</a:t>
            </a:r>
            <a:r>
              <a:rPr lang="zh-CN" altLang="en-US" sz="2800" b="1" i="1" spc="-153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Times New Roman"/>
              </a:rPr>
              <a:t> </a:t>
            </a:r>
            <a:r>
              <a:rPr lang="zh-CN" altLang="en-US" sz="2800" spc="14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QPLIHV+ËÎÌå"/>
              </a:rPr>
              <a:t>移到</a:t>
            </a:r>
            <a:r>
              <a:rPr lang="zh-CN" altLang="en-US" sz="2800" spc="76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Times New Roman"/>
              </a:rPr>
              <a:t> </a:t>
            </a:r>
            <a:r>
              <a:rPr lang="en-US" altLang="zh-CN" sz="2800" b="1" i="1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Times New Roman"/>
              </a:rPr>
              <a:t>C</a:t>
            </a:r>
            <a:r>
              <a:rPr lang="zh-CN" altLang="en-US" sz="2800" spc="14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QPLIHV+ËÎÌå"/>
              </a:rPr>
              <a:t>，每次移动</a:t>
            </a:r>
            <a:r>
              <a:rPr lang="zh-CN" altLang="en-US" sz="2800" spc="91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Times New Roman"/>
              </a:rPr>
              <a:t> </a:t>
            </a:r>
            <a:r>
              <a:rPr lang="en-US" altLang="zh-CN" sz="2800" b="1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Times New Roman"/>
              </a:rPr>
              <a:t>1</a:t>
            </a:r>
            <a:r>
              <a:rPr lang="zh-CN" altLang="en-US" sz="2800" dirty="0" smtClean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QPLIHV+ËÎÌå"/>
              </a:rPr>
              <a:t>个</a:t>
            </a:r>
            <a:r>
              <a:rPr lang="zh-CN" altLang="en-US" sz="2800" spc="14" dirty="0" smtClean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QPLIHV+ËÎÌå"/>
              </a:rPr>
              <a:t>盘子</a:t>
            </a:r>
            <a:r>
              <a:rPr lang="zh-CN" altLang="en-US" sz="2800" spc="14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QPLIHV+ËÎÌå"/>
              </a:rPr>
              <a:t>，移动时不允许大盘压在小盘上</a:t>
            </a:r>
            <a:r>
              <a:rPr lang="en-US" altLang="zh-CN" sz="2800" b="1" dirty="0" smtClean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Arial"/>
              </a:rPr>
              <a:t>.</a:t>
            </a:r>
            <a:r>
              <a:rPr lang="zh-CN" altLang="en-US" sz="2800" spc="15" dirty="0" smtClean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QPLIHV+ËÎÌå"/>
              </a:rPr>
              <a:t>设计</a:t>
            </a:r>
            <a:r>
              <a:rPr lang="zh-CN" altLang="en-US" sz="2800" spc="15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QPLIHV+ËÎÌå"/>
              </a:rPr>
              <a:t>一种移动方法</a:t>
            </a:r>
            <a:r>
              <a:rPr lang="en-US" altLang="zh-CN" sz="2800" b="1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Arial"/>
              </a:rPr>
              <a:t>.</a:t>
            </a:r>
          </a:p>
          <a:p>
            <a:pPr algn="just"/>
            <a:endParaRPr lang="zh-CN" altLang="en-US" sz="2200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2"/>
          <a:srcRect l="4994" t="51523" r="70437" b="37981"/>
          <a:stretch/>
        </p:blipFill>
        <p:spPr>
          <a:xfrm>
            <a:off x="2770396" y="2594988"/>
            <a:ext cx="1410512" cy="219020"/>
          </a:xfrm>
          <a:prstGeom prst="rect">
            <a:avLst/>
          </a:prstGeom>
          <a:ln w="25400">
            <a:solidFill>
              <a:schemeClr val="tx1"/>
            </a:solidFill>
          </a:ln>
        </p:spPr>
      </p:pic>
      <p:pic>
        <p:nvPicPr>
          <p:cNvPr id="10" name="图片 9"/>
          <p:cNvPicPr>
            <a:picLocks noChangeAspect="1"/>
          </p:cNvPicPr>
          <p:nvPr/>
        </p:nvPicPr>
        <p:blipFill rotWithShape="1">
          <a:blip r:embed="rId2"/>
          <a:srcRect t="62006"/>
          <a:stretch/>
        </p:blipFill>
        <p:spPr>
          <a:xfrm>
            <a:off x="2438949" y="2814008"/>
            <a:ext cx="5741250" cy="792892"/>
          </a:xfrm>
          <a:prstGeom prst="rect">
            <a:avLst/>
          </a:prstGeom>
        </p:spPr>
      </p:pic>
      <p:grpSp>
        <p:nvGrpSpPr>
          <p:cNvPr id="3" name="组合 2"/>
          <p:cNvGrpSpPr/>
          <p:nvPr/>
        </p:nvGrpSpPr>
        <p:grpSpPr>
          <a:xfrm>
            <a:off x="2931365" y="2089648"/>
            <a:ext cx="1088573" cy="469494"/>
            <a:chOff x="2931365" y="1837401"/>
            <a:chExt cx="1088573" cy="469494"/>
          </a:xfrm>
        </p:grpSpPr>
        <p:pic>
          <p:nvPicPr>
            <p:cNvPr id="5" name="图片 4"/>
            <p:cNvPicPr>
              <a:picLocks noChangeAspect="1"/>
            </p:cNvPicPr>
            <p:nvPr/>
          </p:nvPicPr>
          <p:blipFill rotWithShape="1">
            <a:blip r:embed="rId2"/>
            <a:srcRect l="10819" t="24381" r="76135" b="65320"/>
            <a:stretch/>
          </p:blipFill>
          <p:spPr>
            <a:xfrm>
              <a:off x="3101135" y="1837401"/>
              <a:ext cx="749031" cy="214919"/>
            </a:xfrm>
            <a:prstGeom prst="rect">
              <a:avLst/>
            </a:prstGeom>
            <a:ln w="25400">
              <a:solidFill>
                <a:schemeClr val="tx1"/>
              </a:solidFill>
            </a:ln>
          </p:spPr>
        </p:pic>
        <p:pic>
          <p:nvPicPr>
            <p:cNvPr id="11" name="图片 10"/>
            <p:cNvPicPr>
              <a:picLocks noChangeAspect="1"/>
            </p:cNvPicPr>
            <p:nvPr/>
          </p:nvPicPr>
          <p:blipFill rotWithShape="1">
            <a:blip r:embed="rId2"/>
            <a:srcRect l="7900" t="38356" r="73139" b="51348"/>
            <a:stretch/>
          </p:blipFill>
          <p:spPr>
            <a:xfrm>
              <a:off x="2931365" y="2092025"/>
              <a:ext cx="1088573" cy="214870"/>
            </a:xfrm>
            <a:prstGeom prst="rect">
              <a:avLst/>
            </a:prstGeom>
            <a:ln w="25400">
              <a:solidFill>
                <a:schemeClr val="tx1"/>
              </a:solidFill>
            </a:ln>
          </p:spPr>
        </p:pic>
      </p:grpSp>
    </p:spTree>
    <p:extLst>
      <p:ext uri="{BB962C8B-B14F-4D97-AF65-F5344CB8AC3E}">
        <p14:creationId xmlns:p14="http://schemas.microsoft.com/office/powerpoint/2010/main" val="11186002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4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213 -0.00686 L 0.04866 -0.03773 C 0.05927 -0.04483 0.07429 -0.04606 0.08964 -0.04238 C 0.10728 -0.03969 0.11953 -0.03062 0.12769 -0.01691 L 0.169 0.03601 " pathEditMode="relative" rAng="600000" ptsTypes="AAAAA">
                                      <p:cBhvr>
                                        <p:cTn id="6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883" y="-66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4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88635E-6 -2.43018E-6 L 0.09813 -0.03576 C 0.11871 -0.04385 0.14973 -0.04826 0.18174 -0.04826 C 0.21848 -0.04826 0.24804 -0.04385 0.26861 -0.03576 L 0.36708 -2.43018E-6 " pathEditMode="relative" rAng="0" ptsTypes="AAAAA">
                                      <p:cBhvr>
                                        <p:cTn id="10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8354" y="-242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4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6786 0.00196 L 0.22126 -0.03797 C 0.23252 -0.04704 0.24934 -0.05218 0.26698 -0.05218 C 0.2869 -0.05218 0.30307 -0.04704 0.31433 -0.03797 L 0.36806 0.00196 " pathEditMode="relative" rAng="0" ptsTypes="AAAAA">
                                      <p:cBhvr>
                                        <p:cTn id="14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010" y="-271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373224" y="276033"/>
            <a:ext cx="8920066" cy="620418"/>
          </a:xfrm>
        </p:spPr>
        <p:txBody>
          <a:bodyPr>
            <a:noAutofit/>
          </a:bodyPr>
          <a:lstStyle/>
          <a:p>
            <a:pPr algn="ctr"/>
            <a:r>
              <a:rPr lang="zh-CN" altLang="en-US" sz="4400" b="1" dirty="0" smtClean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递归算法</a:t>
            </a:r>
            <a:endParaRPr lang="zh-CN" altLang="en-US" sz="4400" b="1" dirty="0">
              <a:solidFill>
                <a:srgbClr val="C00000"/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idx="4294967295"/>
          </p:nvPr>
        </p:nvSpPr>
        <p:spPr>
          <a:xfrm>
            <a:off x="363895" y="1266498"/>
            <a:ext cx="8871864" cy="2838574"/>
          </a:xfrm>
        </p:spPr>
        <p:txBody>
          <a:bodyPr/>
          <a:lstStyle/>
          <a:p>
            <a:pPr>
              <a:lnSpc>
                <a:spcPts val="3250"/>
              </a:lnSpc>
            </a:pPr>
            <a:r>
              <a:rPr lang="zh-CN" altLang="en-US" sz="2800" spc="14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算法</a:t>
            </a:r>
            <a:r>
              <a:rPr lang="zh-CN" altLang="en-US" sz="2800" spc="722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</a:t>
            </a:r>
            <a:r>
              <a:rPr lang="en-US" altLang="zh-CN" sz="2800" b="1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Hanoi (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A</a:t>
            </a:r>
            <a:r>
              <a:rPr lang="en-US" altLang="zh-CN" sz="2800" b="1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, 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C</a:t>
            </a:r>
            <a:r>
              <a:rPr lang="en-US" altLang="zh-CN" sz="2800" b="1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, 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n</a:t>
            </a:r>
            <a:r>
              <a:rPr lang="en-US" altLang="zh-CN" sz="2800" b="1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)</a:t>
            </a:r>
            <a:r>
              <a:rPr lang="en-US" altLang="zh-CN" sz="2800" b="1" spc="2936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</a:t>
            </a:r>
            <a:r>
              <a:rPr lang="en-US" altLang="zh-CN" sz="2800" b="1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//</a:t>
            </a:r>
            <a:r>
              <a:rPr lang="en-US" altLang="zh-CN" sz="2800" b="1" spc="-14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n</a:t>
            </a:r>
            <a:r>
              <a:rPr lang="zh-CN" altLang="en-US" sz="2800" spc="15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个盘子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A</a:t>
            </a:r>
            <a:r>
              <a:rPr lang="zh-CN" altLang="en-US" sz="2800" spc="14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到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C</a:t>
            </a:r>
          </a:p>
          <a:p>
            <a:pPr>
              <a:lnSpc>
                <a:spcPts val="3250"/>
              </a:lnSpc>
              <a:spcBef>
                <a:spcPts val="812"/>
              </a:spcBef>
            </a:pPr>
            <a:r>
              <a:rPr lang="en-US" altLang="zh-CN" sz="2800" b="1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1.</a:t>
            </a:r>
            <a:r>
              <a:rPr lang="en-US" altLang="zh-CN" sz="2800" b="1" spc="719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</a:t>
            </a:r>
            <a:r>
              <a:rPr lang="en-US" altLang="zh-CN" sz="2800" b="1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if</a:t>
            </a:r>
            <a:r>
              <a:rPr lang="en-US" altLang="zh-CN" sz="2800" b="1" spc="734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n</a:t>
            </a:r>
            <a:r>
              <a:rPr lang="en-US" altLang="zh-CN" sz="2800" b="1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=1</a:t>
            </a:r>
            <a:r>
              <a:rPr lang="en-US" altLang="zh-CN" sz="2800" b="1" spc="734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</a:t>
            </a:r>
            <a:r>
              <a:rPr lang="en-US" altLang="zh-CN" sz="2800" b="1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then move</a:t>
            </a:r>
            <a:r>
              <a:rPr lang="en-US" altLang="zh-CN" sz="2800" b="1" spc="-12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</a:t>
            </a:r>
            <a:r>
              <a:rPr lang="en-US" altLang="zh-CN" sz="2800" b="1" spc="12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(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A</a:t>
            </a:r>
            <a:r>
              <a:rPr lang="en-US" altLang="zh-CN" sz="2800" b="1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, 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C</a:t>
            </a:r>
            <a:r>
              <a:rPr lang="en-US" altLang="zh-CN" sz="2800" b="1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)</a:t>
            </a:r>
            <a:r>
              <a:rPr lang="en-US" altLang="zh-CN" sz="2800" b="1" spc="734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</a:t>
            </a:r>
            <a:r>
              <a:rPr lang="en-US" altLang="zh-CN" sz="2800" b="1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//</a:t>
            </a:r>
            <a:r>
              <a:rPr lang="en-US" altLang="zh-CN" sz="2800" b="1" spc="-14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</a:t>
            </a:r>
            <a:r>
              <a:rPr lang="en-US" altLang="zh-CN" sz="2800" b="1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1</a:t>
            </a:r>
            <a:r>
              <a:rPr lang="zh-CN" altLang="en-US" sz="2800" spc="15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个盘子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A</a:t>
            </a:r>
            <a:r>
              <a:rPr lang="zh-CN" altLang="en-US" sz="2800" spc="14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到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C</a:t>
            </a:r>
          </a:p>
          <a:p>
            <a:pPr>
              <a:lnSpc>
                <a:spcPts val="3600"/>
              </a:lnSpc>
              <a:spcBef>
                <a:spcPts val="572"/>
              </a:spcBef>
            </a:pPr>
            <a:r>
              <a:rPr lang="en-US" altLang="zh-CN" sz="2800" b="1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2.</a:t>
            </a:r>
            <a:r>
              <a:rPr lang="en-US" altLang="zh-CN" sz="2800" b="1" spc="716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</a:t>
            </a:r>
            <a:r>
              <a:rPr lang="en-US" altLang="zh-CN" sz="2800" b="1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else</a:t>
            </a:r>
            <a:r>
              <a:rPr lang="en-US" altLang="zh-CN" sz="2800" b="1" spc="712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</a:t>
            </a:r>
            <a:r>
              <a:rPr lang="en-US" altLang="zh-CN" sz="2800" b="1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Hanoi</a:t>
            </a:r>
            <a:r>
              <a:rPr lang="en-US" altLang="zh-CN" sz="2800" b="1" spc="-14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</a:t>
            </a:r>
            <a:r>
              <a:rPr lang="en-US" altLang="zh-CN" sz="2800" b="1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(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A</a:t>
            </a:r>
            <a:r>
              <a:rPr lang="en-US" altLang="zh-CN" sz="2800" b="1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, 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B</a:t>
            </a:r>
            <a:r>
              <a:rPr lang="en-US" altLang="zh-CN" sz="2800" b="1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,</a:t>
            </a:r>
            <a:r>
              <a:rPr lang="en-US" altLang="zh-CN" sz="2800" b="1" spc="14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</a:t>
            </a:r>
            <a:r>
              <a:rPr lang="en-US" altLang="zh-CN" sz="2800" b="1" i="1" dirty="0" smtClean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n</a:t>
            </a:r>
            <a:r>
              <a:rPr lang="en-US" altLang="zh-CN" sz="2800" spc="18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-</a:t>
            </a:r>
            <a:r>
              <a:rPr lang="en-US" altLang="zh-CN" sz="2800" b="1" dirty="0" smtClean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1</a:t>
            </a:r>
            <a:r>
              <a:rPr lang="en-US" altLang="zh-CN" sz="2800" b="1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)</a:t>
            </a:r>
          </a:p>
          <a:p>
            <a:pPr>
              <a:lnSpc>
                <a:spcPts val="3250"/>
              </a:lnSpc>
            </a:pPr>
            <a:r>
              <a:rPr lang="en-US" altLang="zh-CN" sz="2800" b="1" dirty="0" smtClean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3.           move </a:t>
            </a:r>
            <a:r>
              <a:rPr lang="en-US" altLang="zh-CN" sz="2800" b="1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(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A</a:t>
            </a:r>
            <a:r>
              <a:rPr lang="en-US" altLang="zh-CN" sz="2800" b="1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, 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C</a:t>
            </a:r>
            <a:r>
              <a:rPr lang="en-US" altLang="zh-CN" sz="2800" b="1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)</a:t>
            </a:r>
          </a:p>
          <a:p>
            <a:pPr>
              <a:lnSpc>
                <a:spcPts val="3596"/>
              </a:lnSpc>
              <a:spcBef>
                <a:spcPts val="559"/>
              </a:spcBef>
            </a:pPr>
            <a:r>
              <a:rPr lang="en-US" altLang="zh-CN" sz="2800" b="1" dirty="0" smtClean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4.           Hanoi </a:t>
            </a:r>
            <a:r>
              <a:rPr lang="en-US" altLang="zh-CN" sz="2800" b="1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(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B</a:t>
            </a:r>
            <a:r>
              <a:rPr lang="en-US" altLang="zh-CN" sz="2800" b="1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, 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C</a:t>
            </a:r>
            <a:r>
              <a:rPr lang="en-US" altLang="zh-CN" sz="2800" b="1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, </a:t>
            </a:r>
            <a:r>
              <a:rPr lang="en-US" altLang="zh-CN" sz="2800" b="1" i="1" dirty="0" smtClean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n</a:t>
            </a:r>
            <a:r>
              <a:rPr lang="en-US" altLang="zh-CN" sz="2800" spc="18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-</a:t>
            </a:r>
            <a:r>
              <a:rPr lang="en-US" altLang="zh-CN" sz="2800" b="1" dirty="0" smtClean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1</a:t>
            </a:r>
            <a:r>
              <a:rPr lang="en-US" altLang="zh-CN" sz="2800" b="1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)</a:t>
            </a:r>
          </a:p>
          <a:p>
            <a:pPr>
              <a:lnSpc>
                <a:spcPts val="3596"/>
              </a:lnSpc>
            </a:pPr>
            <a:endParaRPr lang="zh-CN" altLang="en-US" dirty="0">
              <a:solidFill>
                <a:srgbClr val="000000"/>
              </a:solidFill>
              <a:latin typeface="QPLIHV+ËÎÌå"/>
              <a:cs typeface="QPLIHV+ËÎÌå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785623" y="4799881"/>
            <a:ext cx="3424406" cy="1008037"/>
          </a:xfrm>
          <a:prstGeom prst="rect">
            <a:avLst/>
          </a:prstGeom>
          <a:noFill/>
        </p:spPr>
        <p:txBody>
          <a:bodyPr wrap="none" lIns="83887" tIns="41944" rIns="83887" bIns="41944" rtlCol="0">
            <a:spAutoFit/>
          </a:bodyPr>
          <a:lstStyle/>
          <a:p>
            <a:pPr>
              <a:lnSpc>
                <a:spcPts val="3596"/>
              </a:lnSpc>
            </a:pPr>
            <a:r>
              <a:rPr lang="en-US" altLang="zh-CN" sz="2800" b="1" i="1" dirty="0">
                <a:solidFill>
                  <a:srgbClr val="000000"/>
                </a:solidFill>
                <a:latin typeface="Times New Roman"/>
                <a:cs typeface="Times New Roman"/>
              </a:rPr>
              <a:t>T</a:t>
            </a:r>
            <a:r>
              <a:rPr lang="en-US" altLang="zh-CN" sz="2800" b="1" dirty="0">
                <a:solidFill>
                  <a:srgbClr val="000000"/>
                </a:solidFill>
                <a:latin typeface="Times New Roman"/>
                <a:cs typeface="Times New Roman"/>
              </a:rPr>
              <a:t>(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/>
                <a:cs typeface="Times New Roman"/>
              </a:rPr>
              <a:t>n</a:t>
            </a:r>
            <a:r>
              <a:rPr lang="en-US" altLang="zh-CN" sz="2800" b="1" dirty="0">
                <a:solidFill>
                  <a:srgbClr val="000000"/>
                </a:solidFill>
                <a:latin typeface="Times New Roman"/>
                <a:cs typeface="Times New Roman"/>
              </a:rPr>
              <a:t>) = 2 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/>
                <a:cs typeface="Times New Roman"/>
              </a:rPr>
              <a:t>T</a:t>
            </a:r>
            <a:r>
              <a:rPr lang="en-US" altLang="zh-CN" sz="2800" b="1" dirty="0">
                <a:solidFill>
                  <a:srgbClr val="000000"/>
                </a:solidFill>
                <a:latin typeface="Times New Roman"/>
                <a:cs typeface="Times New Roman"/>
              </a:rPr>
              <a:t>(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/>
                <a:cs typeface="Times New Roman"/>
              </a:rPr>
              <a:t>n</a:t>
            </a:r>
            <a:r>
              <a:rPr lang="en-US" altLang="zh-CN" sz="2800" spc="18" dirty="0">
                <a:solidFill>
                  <a:srgbClr val="000000"/>
                </a:solidFill>
                <a:latin typeface="BMKVFN+Symbol"/>
                <a:cs typeface="BMKVFN+Symbol"/>
              </a:rPr>
              <a:t>-</a:t>
            </a:r>
            <a:r>
              <a:rPr lang="en-US" altLang="zh-CN" sz="2800" b="1" dirty="0">
                <a:solidFill>
                  <a:srgbClr val="000000"/>
                </a:solidFill>
                <a:latin typeface="Times New Roman"/>
                <a:cs typeface="Times New Roman"/>
              </a:rPr>
              <a:t>1)</a:t>
            </a:r>
            <a:r>
              <a:rPr lang="en-US" altLang="zh-CN" sz="2800" b="1" spc="-22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2800" b="1" dirty="0">
                <a:solidFill>
                  <a:srgbClr val="000000"/>
                </a:solidFill>
                <a:latin typeface="Times New Roman"/>
                <a:cs typeface="Times New Roman"/>
              </a:rPr>
              <a:t>+</a:t>
            </a:r>
            <a:r>
              <a:rPr lang="en-US" altLang="zh-CN" sz="2800" b="1" spc="-1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2800" b="1" dirty="0">
                <a:solidFill>
                  <a:srgbClr val="000000"/>
                </a:solidFill>
                <a:latin typeface="Times New Roman"/>
                <a:cs typeface="Times New Roman"/>
              </a:rPr>
              <a:t>1</a:t>
            </a:r>
            <a:r>
              <a:rPr lang="zh-CN" altLang="en-US" sz="2800" dirty="0">
                <a:solidFill>
                  <a:srgbClr val="000000"/>
                </a:solidFill>
                <a:latin typeface="QPLIHV+ËÎÌå"/>
                <a:cs typeface="QPLIHV+ËÎÌå"/>
              </a:rPr>
              <a:t>，</a:t>
            </a:r>
          </a:p>
          <a:p>
            <a:pPr marL="14911">
              <a:lnSpc>
                <a:spcPts val="3254"/>
              </a:lnSpc>
              <a:spcBef>
                <a:spcPts val="271"/>
              </a:spcBef>
            </a:pPr>
            <a:r>
              <a:rPr lang="en-US" altLang="zh-CN" sz="2800" b="1" i="1" dirty="0">
                <a:solidFill>
                  <a:srgbClr val="000000"/>
                </a:solidFill>
                <a:latin typeface="Times New Roman"/>
                <a:cs typeface="Times New Roman"/>
              </a:rPr>
              <a:t>T</a:t>
            </a:r>
            <a:r>
              <a:rPr lang="en-US" altLang="zh-CN" sz="2800" b="1" dirty="0">
                <a:solidFill>
                  <a:srgbClr val="000000"/>
                </a:solidFill>
                <a:latin typeface="Times New Roman"/>
                <a:cs typeface="Times New Roman"/>
              </a:rPr>
              <a:t>(1) = 1</a:t>
            </a:r>
            <a:r>
              <a:rPr lang="zh-CN" altLang="en-US" sz="2800" dirty="0">
                <a:solidFill>
                  <a:srgbClr val="000000"/>
                </a:solidFill>
                <a:latin typeface="QPLIHV+ËÎÌå"/>
                <a:cs typeface="QPLIHV+ËÎÌå"/>
              </a:rPr>
              <a:t>，</a:t>
            </a:r>
          </a:p>
        </p:txBody>
      </p:sp>
      <p:cxnSp>
        <p:nvCxnSpPr>
          <p:cNvPr id="5" name="直接连接符 4"/>
          <p:cNvCxnSpPr/>
          <p:nvPr/>
        </p:nvCxnSpPr>
        <p:spPr>
          <a:xfrm>
            <a:off x="1726490" y="1700100"/>
            <a:ext cx="879017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/>
          <p:cNvCxnSpPr/>
          <p:nvPr/>
        </p:nvCxnSpPr>
        <p:spPr>
          <a:xfrm>
            <a:off x="1992005" y="2719907"/>
            <a:ext cx="879017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>
          <a:xfrm>
            <a:off x="2037240" y="3773167"/>
            <a:ext cx="879017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占位符 2"/>
          <p:cNvSpPr txBox="1">
            <a:spLocks/>
          </p:cNvSpPr>
          <p:nvPr/>
        </p:nvSpPr>
        <p:spPr>
          <a:xfrm>
            <a:off x="391887" y="3956173"/>
            <a:ext cx="8821718" cy="843708"/>
          </a:xfrm>
          <a:prstGeom prst="rect">
            <a:avLst/>
          </a:prstGeom>
        </p:spPr>
        <p:txBody>
          <a:bodyPr vert="horz" lIns="83887" tIns="41944" rIns="83887" bIns="41944" rtlCol="0">
            <a:normAutofit lnSpcReduction="10000"/>
          </a:bodyPr>
          <a:lstStyle>
            <a:lvl1pPr marL="209718" indent="-209718" algn="l" defTabSz="838871" rtl="0" eaLnBrk="1" latinLnBrk="0" hangingPunct="1">
              <a:lnSpc>
                <a:spcPct val="90000"/>
              </a:lnSpc>
              <a:spcBef>
                <a:spcPts val="917"/>
              </a:spcBef>
              <a:buFont typeface="Arial" panose="020B0604020202020204" pitchFamily="34" charset="0"/>
              <a:buChar char="•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9153" indent="-209718" algn="l" defTabSz="838871" rtl="0" eaLnBrk="1" latinLnBrk="0" hangingPunct="1">
              <a:lnSpc>
                <a:spcPct val="90000"/>
              </a:lnSpc>
              <a:spcBef>
                <a:spcPts val="459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48588" indent="-209718" algn="l" defTabSz="838871" rtl="0" eaLnBrk="1" latinLnBrk="0" hangingPunct="1">
              <a:lnSpc>
                <a:spcPct val="90000"/>
              </a:lnSpc>
              <a:spcBef>
                <a:spcPts val="459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68023" indent="-209718" algn="l" defTabSz="838871" rtl="0" eaLnBrk="1" latinLnBrk="0" hangingPunct="1">
              <a:lnSpc>
                <a:spcPct val="90000"/>
              </a:lnSpc>
              <a:spcBef>
                <a:spcPts val="459"/>
              </a:spcBef>
              <a:buFont typeface="Arial" panose="020B060402020202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87459" indent="-209718" algn="l" defTabSz="838871" rtl="0" eaLnBrk="1" latinLnBrk="0" hangingPunct="1">
              <a:lnSpc>
                <a:spcPct val="90000"/>
              </a:lnSpc>
              <a:spcBef>
                <a:spcPts val="459"/>
              </a:spcBef>
              <a:buFont typeface="Arial" panose="020B060402020202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06894" indent="-209718" algn="l" defTabSz="838871" rtl="0" eaLnBrk="1" latinLnBrk="0" hangingPunct="1">
              <a:lnSpc>
                <a:spcPct val="90000"/>
              </a:lnSpc>
              <a:spcBef>
                <a:spcPts val="459"/>
              </a:spcBef>
              <a:buFont typeface="Arial" panose="020B060402020202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26329" indent="-209718" algn="l" defTabSz="838871" rtl="0" eaLnBrk="1" latinLnBrk="0" hangingPunct="1">
              <a:lnSpc>
                <a:spcPct val="90000"/>
              </a:lnSpc>
              <a:spcBef>
                <a:spcPts val="459"/>
              </a:spcBef>
              <a:buFont typeface="Arial" panose="020B060402020202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45765" indent="-209718" algn="l" defTabSz="838871" rtl="0" eaLnBrk="1" latinLnBrk="0" hangingPunct="1">
              <a:lnSpc>
                <a:spcPct val="90000"/>
              </a:lnSpc>
              <a:spcBef>
                <a:spcPts val="459"/>
              </a:spcBef>
              <a:buFont typeface="Arial" panose="020B060402020202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565200" indent="-209718" algn="l" defTabSz="838871" rtl="0" eaLnBrk="1" latinLnBrk="0" hangingPunct="1">
              <a:lnSpc>
                <a:spcPct val="90000"/>
              </a:lnSpc>
              <a:spcBef>
                <a:spcPts val="459"/>
              </a:spcBef>
              <a:buFont typeface="Arial" panose="020B060402020202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dirty="0" smtClean="0">
              <a:latin typeface="Times New Roman" pitchFamily="18" charset="0"/>
              <a:ea typeface="黑体" pitchFamily="49" charset="-122"/>
              <a:cs typeface="Times New Roman" pitchFamily="18" charset="0"/>
            </a:endParaRPr>
          </a:p>
          <a:p>
            <a:r>
              <a:rPr lang="zh-CN" altLang="en-US" dirty="0" smtClean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设 </a:t>
            </a:r>
            <a:r>
              <a:rPr lang="en-US" altLang="zh-CN" b="1" i="1" dirty="0" smtClean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n</a:t>
            </a:r>
            <a:r>
              <a:rPr lang="zh-CN" altLang="en-US" spc="14" dirty="0" smtClean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个盘子的移动次数为</a:t>
            </a:r>
            <a:r>
              <a:rPr lang="zh-CN" altLang="en-US" spc="21" dirty="0" smtClean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</a:t>
            </a:r>
            <a:r>
              <a:rPr lang="en-US" altLang="zh-CN" b="1" i="1" dirty="0" smtClean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T</a:t>
            </a:r>
            <a:r>
              <a:rPr lang="en-US" altLang="zh-CN" b="1" dirty="0" smtClean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(</a:t>
            </a:r>
            <a:r>
              <a:rPr lang="en-US" altLang="zh-CN" b="1" i="1" dirty="0" smtClean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n</a:t>
            </a:r>
            <a:r>
              <a:rPr lang="en-US" altLang="zh-CN" b="1" dirty="0" smtClean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)</a:t>
            </a:r>
          </a:p>
          <a:p>
            <a:pPr>
              <a:lnSpc>
                <a:spcPts val="3596"/>
              </a:lnSpc>
            </a:pPr>
            <a:endParaRPr lang="zh-CN" altLang="en-US" dirty="0">
              <a:solidFill>
                <a:srgbClr val="000000"/>
              </a:solidFill>
              <a:latin typeface="QPLIHV+ËÎÌå"/>
              <a:cs typeface="QPLIHV+ËÎÌå"/>
            </a:endParaRPr>
          </a:p>
        </p:txBody>
      </p:sp>
    </p:spTree>
    <p:extLst>
      <p:ext uri="{BB962C8B-B14F-4D97-AF65-F5344CB8AC3E}">
        <p14:creationId xmlns:p14="http://schemas.microsoft.com/office/powerpoint/2010/main" val="40014301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8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363894" y="283395"/>
            <a:ext cx="8976049" cy="620418"/>
          </a:xfrm>
        </p:spPr>
        <p:txBody>
          <a:bodyPr>
            <a:noAutofit/>
          </a:bodyPr>
          <a:lstStyle/>
          <a:p>
            <a:pPr algn="ctr"/>
            <a:r>
              <a:rPr lang="zh-CN" altLang="en-US" sz="4400" b="1" dirty="0" smtClean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分析算法</a:t>
            </a:r>
            <a:endParaRPr lang="zh-CN" altLang="en-US" sz="4400" b="1" dirty="0">
              <a:solidFill>
                <a:srgbClr val="C00000"/>
              </a:solidFill>
              <a:latin typeface="黑体" pitchFamily="49" charset="-122"/>
              <a:ea typeface="黑体" pitchFamily="49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占位符 2"/>
              <p:cNvSpPr>
                <a:spLocks noGrp="1"/>
              </p:cNvSpPr>
              <p:nvPr>
                <p:ph idx="4294967295"/>
              </p:nvPr>
            </p:nvSpPr>
            <p:spPr>
              <a:xfrm>
                <a:off x="391887" y="1313152"/>
                <a:ext cx="8843872" cy="1046954"/>
              </a:xfrm>
            </p:spPr>
            <p:txBody>
              <a:bodyPr>
                <a:noAutofit/>
              </a:bodyPr>
              <a:lstStyle/>
              <a:p>
                <a:r>
                  <a:rPr lang="en-US" altLang="zh-CN" sz="2800" b="1" i="1" dirty="0" smtClean="0">
                    <a:solidFill>
                      <a:srgbClr val="000000"/>
                    </a:solidFill>
                    <a:latin typeface="Times New Roman"/>
                    <a:cs typeface="Times New Roman"/>
                  </a:rPr>
                  <a:t>T</a:t>
                </a:r>
                <a:r>
                  <a:rPr lang="en-US" altLang="zh-CN" sz="2800" b="1" dirty="0">
                    <a:solidFill>
                      <a:srgbClr val="000000"/>
                    </a:solidFill>
                    <a:latin typeface="Times New Roman"/>
                    <a:cs typeface="Times New Roman"/>
                  </a:rPr>
                  <a:t>(</a:t>
                </a:r>
                <a:r>
                  <a:rPr lang="en-US" altLang="zh-CN" sz="2800" b="1" i="1" dirty="0">
                    <a:solidFill>
                      <a:srgbClr val="000000"/>
                    </a:solidFill>
                    <a:latin typeface="Times New Roman"/>
                    <a:cs typeface="Times New Roman"/>
                  </a:rPr>
                  <a:t>n</a:t>
                </a:r>
                <a:r>
                  <a:rPr lang="en-US" altLang="zh-CN" sz="2800" b="1" dirty="0">
                    <a:solidFill>
                      <a:srgbClr val="000000"/>
                    </a:solidFill>
                    <a:latin typeface="Times New Roman"/>
                    <a:cs typeface="Times New Roman"/>
                  </a:rPr>
                  <a:t>) = 2 </a:t>
                </a:r>
                <a:r>
                  <a:rPr lang="en-US" altLang="zh-CN" sz="2800" b="1" i="1" dirty="0" smtClean="0">
                    <a:solidFill>
                      <a:srgbClr val="000000"/>
                    </a:solidFill>
                    <a:latin typeface="Times New Roman"/>
                    <a:cs typeface="Times New Roman"/>
                  </a:rPr>
                  <a:t>T</a:t>
                </a:r>
                <a:r>
                  <a:rPr lang="en-US" altLang="zh-CN" sz="2800" b="1" dirty="0" smtClean="0">
                    <a:solidFill>
                      <a:srgbClr val="000000"/>
                    </a:solidFill>
                    <a:latin typeface="Times New Roman"/>
                    <a:cs typeface="Times New Roman"/>
                  </a:rPr>
                  <a:t>(</a:t>
                </a:r>
                <a:r>
                  <a:rPr lang="en-US" altLang="zh-CN" sz="2800" b="1" i="1" dirty="0" smtClean="0">
                    <a:solidFill>
                      <a:srgbClr val="000000"/>
                    </a:solidFill>
                    <a:latin typeface="Times New Roman"/>
                    <a:cs typeface="Times New Roman"/>
                  </a:rPr>
                  <a:t>n</a:t>
                </a:r>
                <a:r>
                  <a:rPr lang="en-US" altLang="zh-CN" sz="2800" b="1" spc="18" dirty="0">
                    <a:solidFill>
                      <a:srgbClr val="000000"/>
                    </a:solidFill>
                    <a:latin typeface="BMKVFN+Symbol"/>
                    <a:cs typeface="BMKVFN+Symbol"/>
                  </a:rPr>
                  <a:t>-</a:t>
                </a:r>
                <a:r>
                  <a:rPr lang="en-US" altLang="zh-CN" sz="2800" b="1" dirty="0" smtClean="0">
                    <a:solidFill>
                      <a:srgbClr val="000000"/>
                    </a:solidFill>
                    <a:latin typeface="Times New Roman"/>
                    <a:cs typeface="Times New Roman"/>
                  </a:rPr>
                  <a:t>1</a:t>
                </a:r>
                <a:r>
                  <a:rPr lang="en-US" altLang="zh-CN" sz="2800" b="1" dirty="0">
                    <a:solidFill>
                      <a:srgbClr val="000000"/>
                    </a:solidFill>
                    <a:latin typeface="Times New Roman"/>
                    <a:cs typeface="Times New Roman"/>
                  </a:rPr>
                  <a:t>)</a:t>
                </a:r>
                <a:r>
                  <a:rPr lang="en-US" altLang="zh-CN" sz="2800" b="1" spc="-25" dirty="0">
                    <a:solidFill>
                      <a:srgbClr val="000000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lang="en-US" altLang="zh-CN" sz="2800" b="1" dirty="0">
                    <a:solidFill>
                      <a:srgbClr val="000000"/>
                    </a:solidFill>
                    <a:latin typeface="Times New Roman"/>
                    <a:cs typeface="Times New Roman"/>
                  </a:rPr>
                  <a:t>+ 1</a:t>
                </a:r>
                <a:r>
                  <a:rPr lang="zh-CN" altLang="en-US" sz="2800" b="1" spc="14" dirty="0">
                    <a:solidFill>
                      <a:srgbClr val="000000"/>
                    </a:solidFill>
                    <a:latin typeface="QPLIHV+ËÎÌå"/>
                    <a:cs typeface="QPLIHV+ËÎÌå"/>
                  </a:rPr>
                  <a:t>，</a:t>
                </a:r>
                <a:r>
                  <a:rPr lang="en-US" altLang="zh-CN" sz="2800" b="1" i="1" dirty="0">
                    <a:solidFill>
                      <a:srgbClr val="000000"/>
                    </a:solidFill>
                    <a:latin typeface="Times New Roman"/>
                    <a:cs typeface="Times New Roman"/>
                  </a:rPr>
                  <a:t>T</a:t>
                </a:r>
                <a:r>
                  <a:rPr lang="en-US" altLang="zh-CN" sz="2800" b="1" dirty="0">
                    <a:solidFill>
                      <a:srgbClr val="000000"/>
                    </a:solidFill>
                    <a:latin typeface="Times New Roman"/>
                    <a:cs typeface="Times New Roman"/>
                  </a:rPr>
                  <a:t>(1) = 1</a:t>
                </a:r>
                <a:r>
                  <a:rPr lang="zh-CN" altLang="en-US" sz="2800" b="1" dirty="0" smtClean="0">
                    <a:solidFill>
                      <a:srgbClr val="000000"/>
                    </a:solidFill>
                    <a:latin typeface="QPLIHV+ËÎÌå"/>
                    <a:cs typeface="QPLIHV+ËÎÌå"/>
                  </a:rPr>
                  <a:t>，</a:t>
                </a:r>
                <a:endParaRPr lang="zh-CN" altLang="en-US" sz="2800" b="1" dirty="0">
                  <a:solidFill>
                    <a:srgbClr val="000000"/>
                  </a:solidFill>
                  <a:latin typeface="QPLIHV+ËÎÌå"/>
                  <a:cs typeface="QPLIHV+ËÎÌå"/>
                </a:endParaRPr>
              </a:p>
              <a:p>
                <a:r>
                  <a:rPr lang="zh-CN" altLang="en-US" sz="2800" b="1" dirty="0" smtClean="0">
                    <a:solidFill>
                      <a:srgbClr val="000000"/>
                    </a:solidFill>
                    <a:latin typeface="QPLIHV+ËÎÌå"/>
                    <a:cs typeface="QPLIHV+ËÎÌå"/>
                  </a:rPr>
                  <a:t>解</a:t>
                </a:r>
                <a:r>
                  <a:rPr lang="en-US" altLang="zh-CN" sz="2800" b="1" dirty="0" smtClean="0">
                    <a:solidFill>
                      <a:srgbClr val="000000"/>
                    </a:solidFill>
                    <a:latin typeface="QPLIHV+ËÎÌå"/>
                    <a:cs typeface="QPLIHV+ËÎÌå"/>
                  </a:rPr>
                  <a:t>	</a:t>
                </a:r>
                <a14:m>
                  <m:oMath xmlns:m="http://schemas.openxmlformats.org/officeDocument/2006/math">
                    <m:r>
                      <a:rPr lang="en-US" altLang="zh-CN" sz="2800" b="1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QPLIHV+ËÎÌå"/>
                      </a:rPr>
                      <m:t>𝑻</m:t>
                    </m:r>
                    <m:d>
                      <m:dPr>
                        <m:ctrlPr>
                          <a:rPr lang="en-US" altLang="zh-CN" sz="2800" b="1" i="1" dirty="0" smtClean="0">
                            <a:solidFill>
                              <a:srgbClr val="000000"/>
                            </a:solidFill>
                            <a:latin typeface="Cambria Math"/>
                            <a:cs typeface="QPLIHV+ËÎÌå"/>
                          </a:rPr>
                        </m:ctrlPr>
                      </m:dPr>
                      <m:e>
                        <m:r>
                          <a:rPr lang="en-US" altLang="zh-CN" sz="2800" b="1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QPLIHV+ËÎÌå"/>
                          </a:rPr>
                          <m:t>𝒏</m:t>
                        </m:r>
                      </m:e>
                    </m:d>
                    <m:r>
                      <a:rPr lang="en-US" altLang="zh-CN" sz="2800" b="1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QPLIHV+ËÎÌå"/>
                      </a:rPr>
                      <m:t>=</m:t>
                    </m:r>
                    <m:sSup>
                      <m:sSupPr>
                        <m:ctrlPr>
                          <a:rPr lang="en-US" altLang="zh-CN" sz="2800" b="1" i="1" dirty="0" smtClean="0">
                            <a:solidFill>
                              <a:srgbClr val="000000"/>
                            </a:solidFill>
                            <a:latin typeface="Cambria Math"/>
                          </a:rPr>
                        </m:ctrlPr>
                      </m:sSupPr>
                      <m:e>
                        <m:r>
                          <a:rPr lang="en-US" altLang="zh-CN" sz="2800" b="1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  <m:sup>
                        <m:r>
                          <a:rPr lang="en-US" altLang="zh-CN" sz="2800" b="1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sup>
                    </m:sSup>
                    <m:r>
                      <a:rPr lang="en-US" altLang="zh-CN" sz="2800" b="1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sz="2800" b="1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endParaRPr lang="zh-CN" altLang="en-US" sz="2800" b="1" i="1" dirty="0"/>
              </a:p>
            </p:txBody>
          </p:sp>
        </mc:Choice>
        <mc:Fallback xmlns="">
          <p:sp>
            <p:nvSpPr>
              <p:cNvPr id="3" name="文本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4294967295"/>
              </p:nvPr>
            </p:nvSpPr>
            <p:spPr>
              <a:xfrm>
                <a:off x="391887" y="1313152"/>
                <a:ext cx="8843872" cy="1046954"/>
              </a:xfrm>
              <a:blipFill rotWithShape="1">
                <a:blip r:embed="rId2"/>
                <a:stretch>
                  <a:fillRect l="-1172" t="-12209" b="-814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文本框 3"/>
          <p:cNvSpPr txBox="1"/>
          <p:nvPr/>
        </p:nvSpPr>
        <p:spPr>
          <a:xfrm>
            <a:off x="401217" y="2638774"/>
            <a:ext cx="8640146" cy="1033685"/>
          </a:xfrm>
          <a:prstGeom prst="rect">
            <a:avLst/>
          </a:prstGeom>
          <a:noFill/>
        </p:spPr>
        <p:txBody>
          <a:bodyPr wrap="square" lIns="83887" tIns="41944" rIns="83887" bIns="41944" rtlCol="0">
            <a:spAutoFit/>
          </a:bodyPr>
          <a:lstStyle/>
          <a:p>
            <a:pPr>
              <a:lnSpc>
                <a:spcPts val="3250"/>
              </a:lnSpc>
            </a:pPr>
            <a:r>
              <a:rPr lang="en-US" altLang="zh-CN" sz="2800" b="1" dirty="0">
                <a:solidFill>
                  <a:srgbClr val="000000"/>
                </a:solidFill>
                <a:latin typeface="Times New Roman"/>
                <a:cs typeface="Times New Roman"/>
              </a:rPr>
              <a:t>1</a:t>
            </a:r>
            <a:r>
              <a:rPr lang="zh-CN" altLang="en-US" sz="2800" b="1" spc="-1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zh-CN" altLang="en-US" sz="2800" b="1" spc="15" dirty="0">
                <a:solidFill>
                  <a:srgbClr val="000000"/>
                </a:solidFill>
                <a:latin typeface="QPLIHV+ËÎÌå"/>
                <a:cs typeface="QPLIHV+ËÎÌå"/>
              </a:rPr>
              <a:t>秒移</a:t>
            </a:r>
            <a:r>
              <a:rPr lang="en-US" altLang="zh-CN" sz="2800" b="1" dirty="0">
                <a:solidFill>
                  <a:srgbClr val="000000"/>
                </a:solidFill>
                <a:latin typeface="Times New Roman"/>
                <a:cs typeface="Times New Roman"/>
              </a:rPr>
              <a:t>1</a:t>
            </a:r>
            <a:r>
              <a:rPr lang="zh-CN" altLang="en-US" sz="2800" b="1" spc="14" dirty="0">
                <a:solidFill>
                  <a:srgbClr val="000000"/>
                </a:solidFill>
                <a:latin typeface="QPLIHV+ËÎÌå"/>
                <a:cs typeface="QPLIHV+ËÎÌå"/>
              </a:rPr>
              <a:t>个，</a:t>
            </a:r>
            <a:r>
              <a:rPr lang="en-US" altLang="zh-CN" sz="2800" b="1" dirty="0">
                <a:solidFill>
                  <a:srgbClr val="000000"/>
                </a:solidFill>
                <a:latin typeface="Times New Roman"/>
                <a:cs typeface="Times New Roman"/>
              </a:rPr>
              <a:t>64</a:t>
            </a:r>
            <a:r>
              <a:rPr lang="zh-CN" altLang="en-US" sz="2800" b="1" spc="14" dirty="0">
                <a:solidFill>
                  <a:srgbClr val="000000"/>
                </a:solidFill>
                <a:latin typeface="QPLIHV+ËÎÌå"/>
                <a:cs typeface="QPLIHV+ËÎÌå"/>
              </a:rPr>
              <a:t>个盘子要多少时间？</a:t>
            </a:r>
          </a:p>
          <a:p>
            <a:pPr>
              <a:lnSpc>
                <a:spcPts val="3254"/>
              </a:lnSpc>
              <a:spcBef>
                <a:spcPts val="811"/>
              </a:spcBef>
            </a:pPr>
            <a:r>
              <a:rPr lang="en-US" altLang="zh-CN" sz="2800" b="1" dirty="0">
                <a:solidFill>
                  <a:srgbClr val="000000"/>
                </a:solidFill>
                <a:latin typeface="Times New Roman"/>
                <a:cs typeface="Times New Roman"/>
              </a:rPr>
              <a:t>5000</a:t>
            </a:r>
            <a:r>
              <a:rPr lang="zh-CN" altLang="en-US" sz="2800" b="1" spc="14" dirty="0">
                <a:solidFill>
                  <a:srgbClr val="000000"/>
                </a:solidFill>
                <a:latin typeface="QPLIHV+ËÎÌå"/>
                <a:cs typeface="QPLIHV+ËÎÌå"/>
              </a:rPr>
              <a:t>亿年！千万亿次</a:t>
            </a:r>
            <a:r>
              <a:rPr lang="en-US" altLang="zh-CN" sz="2800" b="1" dirty="0">
                <a:solidFill>
                  <a:srgbClr val="000000"/>
                </a:solidFill>
                <a:latin typeface="Times New Roman"/>
                <a:cs typeface="Times New Roman"/>
              </a:rPr>
              <a:t>/</a:t>
            </a:r>
            <a:r>
              <a:rPr lang="zh-CN" altLang="en-US" sz="2800" b="1" spc="14" dirty="0">
                <a:solidFill>
                  <a:srgbClr val="000000"/>
                </a:solidFill>
                <a:latin typeface="QPLIHV+ËÎÌå"/>
                <a:cs typeface="QPLIHV+ËÎÌå"/>
              </a:rPr>
              <a:t>秒，</a:t>
            </a:r>
            <a:r>
              <a:rPr lang="en-US" altLang="zh-CN" sz="2800" b="1" dirty="0">
                <a:solidFill>
                  <a:srgbClr val="000000"/>
                </a:solidFill>
                <a:latin typeface="Times New Roman"/>
                <a:cs typeface="Times New Roman"/>
              </a:rPr>
              <a:t>4</a:t>
            </a:r>
            <a:r>
              <a:rPr lang="zh-CN" altLang="en-US" sz="2800" b="1" spc="14" dirty="0">
                <a:solidFill>
                  <a:srgbClr val="000000"/>
                </a:solidFill>
                <a:latin typeface="QPLIHV+ËÎÌå"/>
                <a:cs typeface="QPLIHV+ËÎÌå"/>
              </a:rPr>
              <a:t>个多小时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1260530" y="4084643"/>
            <a:ext cx="3236919" cy="515594"/>
          </a:xfrm>
          <a:prstGeom prst="rect">
            <a:avLst/>
          </a:prstGeom>
          <a:noFill/>
        </p:spPr>
        <p:txBody>
          <a:bodyPr wrap="none" lIns="83887" tIns="41944" rIns="83887" bIns="41944" rtlCol="0">
            <a:spAutoFit/>
          </a:bodyPr>
          <a:lstStyle/>
          <a:p>
            <a:r>
              <a:rPr lang="zh-CN" altLang="en-US" sz="2800" b="1" spc="15" dirty="0">
                <a:solidFill>
                  <a:srgbClr val="0070C0"/>
                </a:solidFill>
                <a:latin typeface="QPLIHV+ËÎÌå"/>
                <a:cs typeface="QPLIHV+ËÎÌå"/>
              </a:rPr>
              <a:t>有没有更好的算法</a:t>
            </a:r>
            <a:r>
              <a:rPr lang="en-US" altLang="zh-CN" sz="2800" b="1" dirty="0">
                <a:solidFill>
                  <a:srgbClr val="0070C0"/>
                </a:solidFill>
                <a:latin typeface="Times New Roman"/>
                <a:cs typeface="Times New Roman"/>
              </a:rPr>
              <a:t>?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401218" y="4918789"/>
            <a:ext cx="8752114" cy="828501"/>
          </a:xfrm>
          <a:prstGeom prst="rect">
            <a:avLst/>
          </a:prstGeom>
          <a:noFill/>
        </p:spPr>
        <p:txBody>
          <a:bodyPr wrap="square" lIns="83887" tIns="41944" rIns="83887" bIns="41944" rtlCol="0">
            <a:spAutoFit/>
          </a:bodyPr>
          <a:lstStyle/>
          <a:p>
            <a:pPr algn="just">
              <a:lnSpc>
                <a:spcPts val="2938"/>
              </a:lnSpc>
            </a:pPr>
            <a:r>
              <a:rPr lang="zh-CN" altLang="en-US" sz="2800" b="1" spc="14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  <a:cs typeface="QPLIHV+ËÎÌå"/>
              </a:rPr>
              <a:t>没有</a:t>
            </a:r>
            <a:r>
              <a:rPr lang="zh-CN" altLang="en-US" sz="2800" b="1" spc="14" dirty="0" smtClean="0">
                <a:solidFill>
                  <a:srgbClr val="C00000"/>
                </a:solidFill>
                <a:latin typeface="黑体" pitchFamily="49" charset="-122"/>
                <a:ea typeface="黑体" pitchFamily="49" charset="-122"/>
                <a:cs typeface="QPLIHV+ËÎÌå"/>
              </a:rPr>
              <a:t>！</a:t>
            </a:r>
            <a:endParaRPr lang="en-US" altLang="zh-CN" sz="2800" b="1" spc="14" dirty="0" smtClean="0">
              <a:solidFill>
                <a:srgbClr val="C00000"/>
              </a:solidFill>
              <a:latin typeface="黑体" pitchFamily="49" charset="-122"/>
              <a:ea typeface="黑体" pitchFamily="49" charset="-122"/>
              <a:cs typeface="QPLIHV+ËÎÌå"/>
            </a:endParaRPr>
          </a:p>
          <a:p>
            <a:pPr algn="just">
              <a:lnSpc>
                <a:spcPts val="2938"/>
              </a:lnSpc>
            </a:pPr>
            <a:r>
              <a:rPr lang="zh-CN" altLang="en-US" sz="2800" b="1" spc="14" dirty="0" smtClean="0">
                <a:solidFill>
                  <a:srgbClr val="C00000"/>
                </a:solidFill>
                <a:latin typeface="黑体" pitchFamily="49" charset="-122"/>
                <a:ea typeface="黑体" pitchFamily="49" charset="-122"/>
                <a:cs typeface="QPLIHV+ËÎÌå"/>
              </a:rPr>
              <a:t>这</a:t>
            </a:r>
            <a:r>
              <a:rPr lang="zh-CN" altLang="en-US" sz="2800" b="1" spc="14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  <a:cs typeface="QPLIHV+ËÎÌå"/>
              </a:rPr>
              <a:t>是一个难解的问题，不</a:t>
            </a:r>
            <a:r>
              <a:rPr lang="zh-CN" altLang="en-US" sz="2800" b="1" spc="14" dirty="0" smtClean="0">
                <a:solidFill>
                  <a:srgbClr val="C00000"/>
                </a:solidFill>
                <a:latin typeface="黑体" pitchFamily="49" charset="-122"/>
                <a:ea typeface="黑体" pitchFamily="49" charset="-122"/>
                <a:cs typeface="QPLIHV+ËÎÌå"/>
              </a:rPr>
              <a:t>存在多项式时间</a:t>
            </a:r>
            <a:r>
              <a:rPr lang="zh-CN" altLang="en-US" sz="2800" b="1" spc="14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  <a:cs typeface="QPLIHV+ËÎÌå"/>
              </a:rPr>
              <a:t>的算法！</a:t>
            </a: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109" y="3738243"/>
            <a:ext cx="686061" cy="11338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430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idx="4294967295"/>
          </p:nvPr>
        </p:nvSpPr>
        <p:spPr>
          <a:xfrm>
            <a:off x="373224" y="373122"/>
            <a:ext cx="8948058" cy="545333"/>
          </a:xfrm>
        </p:spPr>
        <p:txBody>
          <a:bodyPr>
            <a:noAutofit/>
          </a:bodyPr>
          <a:lstStyle/>
          <a:p>
            <a:r>
              <a:rPr lang="zh-CN" altLang="en-US" sz="4400" b="1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  <a:cs typeface="宋体"/>
              </a:rPr>
              <a:t>插入排序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副标题 2"/>
              <p:cNvSpPr>
                <a:spLocks noGrp="1"/>
              </p:cNvSpPr>
              <p:nvPr>
                <p:ph type="subTitle" idx="4294967295"/>
              </p:nvPr>
            </p:nvSpPr>
            <p:spPr>
              <a:xfrm>
                <a:off x="380932" y="1270115"/>
                <a:ext cx="8912358" cy="4449420"/>
              </a:xfrm>
            </p:spPr>
            <p:txBody>
              <a:bodyPr>
                <a:normAutofit/>
              </a:bodyPr>
              <a:lstStyle/>
              <a:p>
                <a:pPr algn="l"/>
                <a:r>
                  <a:rPr lang="zh-CN" altLang="en-US" sz="2800" b="1" dirty="0" smtClean="0">
                    <a:latin typeface="Times New Roman" pitchFamily="18" charset="0"/>
                    <a:cs typeface="Times New Roman" pitchFamily="18" charset="0"/>
                  </a:rPr>
                  <a:t>算法</a:t>
                </a:r>
                <a14:m>
                  <m:oMath xmlns:m="http://schemas.openxmlformats.org/officeDocument/2006/math">
                    <m:r>
                      <a:rPr lang="en-US" altLang="zh-CN" sz="2800" b="1" i="1" smtClean="0">
                        <a:latin typeface="Cambria Math" panose="02040503050406030204" pitchFamily="18" charset="0"/>
                      </a:rPr>
                      <m:t>𝑰𝒏𝒔𝒆𝒓𝒕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</a:rPr>
                      <m:t>𝑺𝒐𝒓𝒕</m:t>
                    </m:r>
                    <m:d>
                      <m:dPr>
                        <m:ctrlPr>
                          <a:rPr lang="en-US" altLang="zh-CN" sz="2800" b="1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  <m:t>𝑨</m:t>
                        </m:r>
                        <m: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  <m:t>,  </m:t>
                        </m:r>
                        <m: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</m:d>
                  </m:oMath>
                </a14:m>
                <a:r>
                  <a:rPr lang="en-US" altLang="zh-CN" sz="2800" b="1" dirty="0" smtClean="0">
                    <a:latin typeface="Times New Roman" pitchFamily="18" charset="0"/>
                    <a:cs typeface="Times New Roman" pitchFamily="18" charset="0"/>
                  </a:rPr>
                  <a:t>		</a:t>
                </a:r>
              </a:p>
              <a:p>
                <a:pPr marL="419435" indent="-419435" algn="l">
                  <a:buAutoNum type="arabicPeriod"/>
                </a:pPr>
                <a14:m>
                  <m:oMath xmlns:m="http://schemas.openxmlformats.org/officeDocument/2006/math">
                    <m:r>
                      <a:rPr lang="en-US" altLang="zh-CN" sz="2800" b="1" i="1" smtClean="0">
                        <a:latin typeface="Cambria Math" panose="02040503050406030204" pitchFamily="18" charset="0"/>
                      </a:rPr>
                      <m:t>𝒇𝒐𝒓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</a:rPr>
                      <m:t>  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</a:rPr>
                      <m:t>𝒋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←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</a:rPr>
                      <m:t>  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</a:rPr>
                      <m:t>𝒕𝒐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en-US" altLang="zh-CN" sz="2800" b="1" dirty="0" smtClean="0">
                    <a:latin typeface="Times New Roman" pitchFamily="18" charset="0"/>
                    <a:cs typeface="Times New Roman" pitchFamily="18" charset="0"/>
                  </a:rPr>
                  <a:t>	</a:t>
                </a:r>
              </a:p>
              <a:p>
                <a:pPr marL="419435" indent="-419435" algn="l">
                  <a:buAutoNum type="arabicPeriod"/>
                </a:pPr>
                <a14:m>
                  <m:oMath xmlns:m="http://schemas.openxmlformats.org/officeDocument/2006/math">
                    <m:r>
                      <a:rPr lang="en-US" altLang="zh-CN" sz="2800" b="1" i="1" smtClean="0">
                        <a:latin typeface="Cambria Math" panose="02040503050406030204" pitchFamily="18" charset="0"/>
                      </a:rPr>
                      <m:t>          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←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𝑨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2800" b="1" i="1" smtClean="0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𝒋</m:t>
                        </m:r>
                      </m:e>
                    </m:d>
                  </m:oMath>
                </a14:m>
                <a:endParaRPr lang="en-US" altLang="zh-CN" sz="2800" b="1" dirty="0" smtClean="0">
                  <a:latin typeface="Times New Roman" pitchFamily="18" charset="0"/>
                  <a:cs typeface="Times New Roman" pitchFamily="18" charset="0"/>
                </a:endParaRPr>
              </a:p>
              <a:p>
                <a:pPr marL="419435" indent="-419435" algn="l">
                  <a:buAutoNum type="arabicPeriod"/>
                </a:pPr>
                <a14:m>
                  <m:oMath xmlns:m="http://schemas.openxmlformats.org/officeDocument/2006/math">
                    <m:r>
                      <a:rPr lang="en-US" altLang="zh-CN" sz="2800" b="1" i="1" smtClean="0">
                        <a:latin typeface="Cambria Math" panose="02040503050406030204" pitchFamily="18" charset="0"/>
                      </a:rPr>
                      <m:t>          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</a:rPr>
                      <m:t>𝒊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←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𝒋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en-US" altLang="zh-CN" sz="2800" b="1" dirty="0" smtClean="0">
                    <a:latin typeface="Times New Roman" pitchFamily="18" charset="0"/>
                    <a:cs typeface="Times New Roman" pitchFamily="18" charset="0"/>
                  </a:rPr>
                  <a:t>	// </a:t>
                </a:r>
                <a:r>
                  <a:rPr lang="zh-CN" altLang="en-US" sz="2800" b="1" dirty="0">
                    <a:latin typeface="Times New Roman" pitchFamily="18" charset="0"/>
                    <a:cs typeface="Times New Roman" pitchFamily="18" charset="0"/>
                  </a:rPr>
                  <a:t>把</a:t>
                </a:r>
                <a14:m>
                  <m:oMath xmlns:m="http://schemas.openxmlformats.org/officeDocument/2006/math">
                    <m:r>
                      <a:rPr lang="en-US" altLang="zh-CN" sz="28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𝑨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2800" b="1" i="1" smtClean="0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𝒋</m:t>
                        </m:r>
                      </m:e>
                    </m:d>
                  </m:oMath>
                </a14:m>
                <a:r>
                  <a:rPr lang="zh-CN" altLang="en-US" sz="2800" b="1" dirty="0" smtClean="0">
                    <a:latin typeface="Times New Roman" pitchFamily="18" charset="0"/>
                    <a:cs typeface="Times New Roman" pitchFamily="18" charset="0"/>
                  </a:rPr>
                  <a:t>插入</a:t>
                </a:r>
                <a:endParaRPr lang="en-US" altLang="zh-CN" sz="2800" b="1" dirty="0" smtClean="0">
                  <a:latin typeface="Times New Roman" pitchFamily="18" charset="0"/>
                  <a:cs typeface="Times New Roman" pitchFamily="18" charset="0"/>
                </a:endParaRPr>
              </a:p>
              <a:p>
                <a:pPr marL="419435" indent="-419435" algn="l">
                  <a:buAutoNum type="arabicPeriod"/>
                </a:pPr>
                <a14:m>
                  <m:oMath xmlns:m="http://schemas.openxmlformats.org/officeDocument/2006/math">
                    <m:r>
                      <a:rPr lang="en-US" altLang="zh-CN" sz="2800" b="1" i="1" smtClean="0">
                        <a:latin typeface="Cambria Math" panose="02040503050406030204" pitchFamily="18" charset="0"/>
                      </a:rPr>
                      <m:t>         </m:t>
                    </m:r>
                    <m:r>
                      <a:rPr lang="en-US" altLang="zh-CN" sz="2800" b="1" i="1">
                        <a:latin typeface="Cambria Math" panose="02040503050406030204" pitchFamily="18" charset="0"/>
                      </a:rPr>
                      <m:t>𝒘𝒉𝒊𝒍𝒆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</a:rPr>
                      <m:t>𝒊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𝟎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𝒂𝒏𝒅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𝒙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𝑨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2800" b="1" i="1" smtClean="0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𝒊</m:t>
                        </m:r>
                      </m:e>
                    </m:d>
                  </m:oMath>
                </a14:m>
                <a:r>
                  <a:rPr lang="zh-CN" altLang="en-US" sz="2800" b="1" dirty="0" smtClean="0">
                    <a:latin typeface="Times New Roman" pitchFamily="18" charset="0"/>
                    <a:cs typeface="Times New Roman" pitchFamily="18" charset="0"/>
                  </a:rPr>
                  <a:t>  </a:t>
                </a:r>
                <a:r>
                  <a:rPr lang="en-US" altLang="zh-CN" sz="2800" b="1" dirty="0" smtClean="0">
                    <a:latin typeface="Times New Roman" pitchFamily="18" charset="0"/>
                    <a:cs typeface="Times New Roman" pitchFamily="18" charset="0"/>
                  </a:rPr>
                  <a:t>do</a:t>
                </a:r>
              </a:p>
              <a:p>
                <a:pPr marL="419435" indent="-419435" algn="l">
                  <a:buAutoNum type="arabicPeriod"/>
                </a:pPr>
                <a:r>
                  <a:rPr lang="en-US" altLang="zh-CN" sz="2800" b="1" dirty="0" smtClean="0">
                    <a:latin typeface="Times New Roman" pitchFamily="18" charset="0"/>
                    <a:ea typeface="Cambria Math" panose="02040503050406030204" pitchFamily="18" charset="0"/>
                    <a:cs typeface="Times New Roman" pitchFamily="18" charset="0"/>
                  </a:rPr>
                  <a:t>     </a:t>
                </a:r>
                <a14:m>
                  <m:oMath xmlns:m="http://schemas.openxmlformats.org/officeDocument/2006/math">
                    <m:r>
                      <a:rPr lang="en-US" altLang="zh-CN" sz="2800" b="1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         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𝑨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2800" b="1" i="1" smtClean="0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𝒊</m:t>
                        </m:r>
                        <m:r>
                          <a:rPr lang="en-US" altLang="zh-CN" sz="28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28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</m:e>
                    </m:d>
                    <m:r>
                      <a:rPr lang="en-US" altLang="zh-CN" sz="28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←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𝑨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2800" b="1" i="1" smtClean="0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𝒊</m:t>
                        </m:r>
                      </m:e>
                    </m:d>
                  </m:oMath>
                </a14:m>
                <a:endParaRPr lang="en-US" altLang="zh-CN" sz="2800" b="1" dirty="0" smtClean="0">
                  <a:latin typeface="Times New Roman" pitchFamily="18" charset="0"/>
                  <a:cs typeface="Times New Roman" pitchFamily="18" charset="0"/>
                </a:endParaRPr>
              </a:p>
              <a:p>
                <a:pPr marL="419435" indent="-419435" algn="l">
                  <a:buAutoNum type="arabicPeriod"/>
                </a:pPr>
                <a:r>
                  <a:rPr lang="en-US" altLang="zh-CN" sz="2800" b="1" dirty="0" smtClean="0">
                    <a:latin typeface="Times New Roman" pitchFamily="18" charset="0"/>
                    <a:ea typeface="Cambria Math" panose="02040503050406030204" pitchFamily="18" charset="0"/>
                    <a:cs typeface="Times New Roman" pitchFamily="18" charset="0"/>
                  </a:rPr>
                  <a:t>                 </a:t>
                </a:r>
                <a14:m>
                  <m:oMath xmlns:m="http://schemas.openxmlformats.org/officeDocument/2006/math">
                    <m:r>
                      <a:rPr lang="en-US" altLang="zh-CN" sz="28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𝒊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←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𝒊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𝟏</m:t>
                    </m:r>
                  </m:oMath>
                </a14:m>
                <a:endParaRPr lang="en-US" altLang="zh-CN" sz="2800" b="1" dirty="0" smtClean="0">
                  <a:latin typeface="Times New Roman" pitchFamily="18" charset="0"/>
                  <a:cs typeface="Times New Roman" pitchFamily="18" charset="0"/>
                </a:endParaRPr>
              </a:p>
              <a:p>
                <a:pPr marL="419435" indent="-419435" algn="l">
                  <a:buAutoNum type="arabicPeriod"/>
                </a:pPr>
                <a:r>
                  <a:rPr lang="en-US" altLang="zh-CN" sz="2800" b="1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altLang="zh-CN" sz="2800" b="1" dirty="0" smtClean="0">
                    <a:latin typeface="Times New Roman" pitchFamily="18" charset="0"/>
                    <a:cs typeface="Times New Roman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800" b="1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    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𝑨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2800" b="1" i="1" smtClean="0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𝒊</m:t>
                        </m:r>
                        <m:r>
                          <a:rPr lang="en-US" altLang="zh-CN" sz="28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28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</m:e>
                    </m:d>
                    <m:r>
                      <a:rPr lang="en-US" altLang="zh-CN" sz="28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←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𝒙</m:t>
                    </m:r>
                  </m:oMath>
                </a14:m>
                <a:endParaRPr lang="zh-CN" altLang="en-US" sz="2800" b="1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3" name="副标题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4294967295"/>
              </p:nvPr>
            </p:nvSpPr>
            <p:spPr>
              <a:xfrm>
                <a:off x="380932" y="1270115"/>
                <a:ext cx="8912358" cy="4449420"/>
              </a:xfrm>
              <a:blipFill rotWithShape="1">
                <a:blip r:embed="rId2"/>
                <a:stretch>
                  <a:fillRect l="-1163" t="-23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直接连接符 3"/>
          <p:cNvCxnSpPr/>
          <p:nvPr/>
        </p:nvCxnSpPr>
        <p:spPr>
          <a:xfrm>
            <a:off x="896825" y="2197002"/>
            <a:ext cx="1846254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/>
          <p:cNvCxnSpPr/>
          <p:nvPr/>
        </p:nvCxnSpPr>
        <p:spPr>
          <a:xfrm>
            <a:off x="1571997" y="3670864"/>
            <a:ext cx="4750396" cy="2160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14846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/>
              <p:cNvSpPr txBox="1"/>
              <p:nvPr/>
            </p:nvSpPr>
            <p:spPr>
              <a:xfrm>
                <a:off x="409903" y="1121663"/>
                <a:ext cx="8874056" cy="3962692"/>
              </a:xfrm>
              <a:prstGeom prst="rect">
                <a:avLst/>
              </a:prstGeom>
              <a:noFill/>
            </p:spPr>
            <p:txBody>
              <a:bodyPr wrap="square" lIns="83887" tIns="41944" rIns="83887" bIns="41944" rtlCol="0">
                <a:spAutoFit/>
              </a:bodyPr>
              <a:lstStyle/>
              <a:p>
                <a:pPr algn="just">
                  <a:lnSpc>
                    <a:spcPct val="150000"/>
                  </a:lnSpc>
                </a:pPr>
                <a:r>
                  <a:rPr lang="zh-CN" altLang="en-US" sz="2800" b="1" dirty="0" smtClean="0">
                    <a:latin typeface="Times New Roman" pitchFamily="18" charset="0"/>
                    <a:ea typeface="黑体" pitchFamily="49" charset="-122"/>
                    <a:cs typeface="Times New Roman" pitchFamily="18" charset="0"/>
                  </a:rPr>
                  <a:t>插入排序</a:t>
                </a:r>
                <a:r>
                  <a:rPr lang="zh-CN" altLang="en-US" sz="2800" b="1" dirty="0">
                    <a:latin typeface="Times New Roman" pitchFamily="18" charset="0"/>
                    <a:ea typeface="黑体" pitchFamily="49" charset="-122"/>
                    <a:cs typeface="Times New Roman" pitchFamily="18" charset="0"/>
                  </a:rPr>
                  <a:t>的</a:t>
                </a:r>
                <a:r>
                  <a:rPr lang="zh-CN" altLang="en-US" sz="2800" b="1" dirty="0" smtClean="0">
                    <a:latin typeface="Times New Roman" pitchFamily="18" charset="0"/>
                    <a:ea typeface="黑体" pitchFamily="49" charset="-122"/>
                    <a:cs typeface="Times New Roman" pitchFamily="18" charset="0"/>
                  </a:rPr>
                  <a:t>基本运算是元素</a:t>
                </a:r>
                <a:r>
                  <a:rPr lang="zh-CN" altLang="en-US" sz="2800" b="1" dirty="0">
                    <a:latin typeface="Times New Roman" pitchFamily="18" charset="0"/>
                    <a:ea typeface="黑体" pitchFamily="49" charset="-122"/>
                    <a:cs typeface="Times New Roman" pitchFamily="18" charset="0"/>
                  </a:rPr>
                  <a:t>比较，对规模为</a:t>
                </a:r>
                <a14:m>
                  <m:oMath xmlns:m="http://schemas.openxmlformats.org/officeDocument/2006/math">
                    <m:r>
                      <a:rPr lang="en-US" altLang="zh-CN" sz="2800" b="1" i="1" dirty="0"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zh-CN" altLang="en-US" sz="2800" b="1" dirty="0">
                    <a:latin typeface="Times New Roman" pitchFamily="18" charset="0"/>
                    <a:ea typeface="黑体" pitchFamily="49" charset="-122"/>
                    <a:cs typeface="Times New Roman" pitchFamily="18" charset="0"/>
                  </a:rPr>
                  <a:t>的输入最坏情况下的时间复杂度</a:t>
                </a:r>
                <a14:m>
                  <m:oMath xmlns:m="http://schemas.openxmlformats.org/officeDocument/2006/math">
                    <m:r>
                      <a:rPr lang="en-US" altLang="zh-CN" sz="2800" b="1" i="1" dirty="0">
                        <a:latin typeface="Cambria Math" panose="02040503050406030204" pitchFamily="18" charset="0"/>
                      </a:rPr>
                      <m:t>𝑾</m:t>
                    </m:r>
                    <m:r>
                      <a:rPr lang="en-US" altLang="zh-CN" sz="2800" b="1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800" b="1" i="1" dirty="0"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altLang="zh-CN" sz="2800" b="1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sz="2800" b="1" i="1" dirty="0">
                  <a:latin typeface="Times New Roman" pitchFamily="18" charset="0"/>
                  <a:ea typeface="黑体" pitchFamily="49" charset="-122"/>
                  <a:cs typeface="Times New Roman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1" i="1">
                          <a:latin typeface="Cambria Math" panose="02040503050406030204" pitchFamily="18" charset="0"/>
                        </a:rPr>
                        <m:t>𝑾</m:t>
                      </m:r>
                      <m:d>
                        <m:dPr>
                          <m:ctrlPr>
                            <a:rPr lang="en-US" altLang="zh-CN" sz="2800" b="1" i="1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altLang="zh-CN" sz="2800" b="1" i="1"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</m:d>
                      <m:r>
                        <a:rPr lang="en-US" altLang="zh-CN" sz="2800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800" b="1" i="1">
                          <a:latin typeface="Cambria Math" panose="02040503050406030204" pitchFamily="18" charset="0"/>
                        </a:rPr>
                        <m:t>𝑾</m:t>
                      </m:r>
                      <m:d>
                        <m:dPr>
                          <m:ctrlPr>
                            <a:rPr lang="en-US" altLang="zh-CN" sz="2800" b="1" i="1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altLang="zh-CN" sz="2800" b="1" i="1"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en-US" altLang="zh-CN" sz="2800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28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</m:d>
                      <m:r>
                        <a:rPr lang="en-US" altLang="zh-CN" sz="2800" b="1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800" b="1" i="1"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US" altLang="zh-CN" sz="2800" b="1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 sz="2800" b="1" i="1"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 altLang="zh-CN" sz="2800" b="1" i="1" dirty="0">
                  <a:latin typeface="Times New Roman" pitchFamily="18" charset="0"/>
                  <a:ea typeface="黑体" pitchFamily="49" charset="-122"/>
                  <a:cs typeface="Times New Roman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1" i="1">
                          <a:latin typeface="Cambria Math" panose="02040503050406030204" pitchFamily="18" charset="0"/>
                        </a:rPr>
                        <m:t>𝑾</m:t>
                      </m:r>
                      <m:d>
                        <m:dPr>
                          <m:ctrlPr>
                            <a:rPr lang="en-US" altLang="zh-CN" sz="2800" b="1" i="1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altLang="zh-CN" sz="28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</m:d>
                      <m:r>
                        <a:rPr lang="en-US" altLang="zh-CN" sz="2800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800" b="1" i="1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altLang="zh-CN" sz="2800" b="1" i="1">
                          <a:latin typeface="Cambria Math" panose="02040503050406030204" pitchFamily="18" charset="0"/>
                        </a:rPr>
                        <m:t>                                </m:t>
                      </m:r>
                    </m:oMath>
                  </m:oMathPara>
                </a14:m>
                <a:endParaRPr lang="en-US" altLang="zh-CN" sz="2800" b="1" i="1" dirty="0">
                  <a:latin typeface="Times New Roman" pitchFamily="18" charset="0"/>
                  <a:ea typeface="黑体" pitchFamily="49" charset="-122"/>
                  <a:cs typeface="Times New Roman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2800" b="1" dirty="0">
                    <a:latin typeface="Times New Roman" pitchFamily="18" charset="0"/>
                    <a:ea typeface="黑体" pitchFamily="49" charset="-122"/>
                    <a:cs typeface="Times New Roman" pitchFamily="18" charset="0"/>
                  </a:rPr>
                  <a:t>解为</a:t>
                </a:r>
                <a:endParaRPr lang="en-US" altLang="zh-CN" sz="2800" b="1" dirty="0">
                  <a:latin typeface="Times New Roman" pitchFamily="18" charset="0"/>
                  <a:ea typeface="黑体" pitchFamily="49" charset="-122"/>
                  <a:cs typeface="Times New Roman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1" i="1">
                          <a:latin typeface="Cambria Math" panose="02040503050406030204" pitchFamily="18" charset="0"/>
                        </a:rPr>
                        <m:t>𝑾</m:t>
                      </m:r>
                      <m:d>
                        <m:dPr>
                          <m:ctrlPr>
                            <a:rPr lang="en-US" altLang="zh-CN" sz="2800" b="1" i="1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altLang="zh-CN" sz="2800" b="1" i="1"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</m:d>
                      <m:r>
                        <a:rPr lang="en-US" altLang="zh-CN" sz="2800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800" b="1" i="1"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US" altLang="zh-CN" sz="2800" b="1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800" b="1" i="1"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US" altLang="zh-CN" sz="2800" b="1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 sz="2800" b="1" i="1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altLang="zh-CN" sz="2800" b="1" i="1">
                          <a:latin typeface="Cambria Math" panose="02040503050406030204" pitchFamily="18" charset="0"/>
                        </a:rPr>
                        <m:t>)/</m:t>
                      </m:r>
                      <m:r>
                        <a:rPr lang="en-US" altLang="zh-CN" sz="2800" b="1" i="1"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zh-CN" altLang="en-US" sz="2800" b="1" dirty="0">
                  <a:latin typeface="Times New Roman" pitchFamily="18" charset="0"/>
                  <a:ea typeface="黑体" pitchFamily="49" charset="-122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9903" y="1121663"/>
                <a:ext cx="8874056" cy="3962692"/>
              </a:xfrm>
              <a:prstGeom prst="rect">
                <a:avLst/>
              </a:prstGeom>
              <a:blipFill rotWithShape="1">
                <a:blip r:embed="rId2"/>
                <a:stretch>
                  <a:fillRect l="-1442" r="-15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矩形 2"/>
          <p:cNvSpPr/>
          <p:nvPr/>
        </p:nvSpPr>
        <p:spPr>
          <a:xfrm>
            <a:off x="414701" y="134932"/>
            <a:ext cx="8869257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4400" b="1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  <a:cs typeface="宋体"/>
              </a:rPr>
              <a:t>最坏情况下时间复杂度</a:t>
            </a:r>
          </a:p>
        </p:txBody>
      </p:sp>
    </p:spTree>
    <p:extLst>
      <p:ext uri="{BB962C8B-B14F-4D97-AF65-F5344CB8AC3E}">
        <p14:creationId xmlns:p14="http://schemas.microsoft.com/office/powerpoint/2010/main" val="22676631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416439" y="251897"/>
            <a:ext cx="8867519" cy="627159"/>
          </a:xfrm>
        </p:spPr>
        <p:txBody>
          <a:bodyPr>
            <a:noAutofit/>
          </a:bodyPr>
          <a:lstStyle/>
          <a:p>
            <a:pPr algn="ctr"/>
            <a:r>
              <a:rPr lang="zh-CN" altLang="en-US" sz="4400" b="1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  <a:cs typeface="宋体"/>
              </a:rPr>
              <a:t>小 结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388458" y="1305169"/>
            <a:ext cx="8904831" cy="4111612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3300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递推方程的定义及初值</a:t>
            </a:r>
            <a:endParaRPr lang="en-US" altLang="zh-CN" sz="3300" dirty="0">
              <a:latin typeface="Times New Roman" pitchFamily="18" charset="0"/>
              <a:ea typeface="黑体" pitchFamily="49" charset="-122"/>
              <a:cs typeface="Times New Roman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3300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递推方程与算法时间复杂度的关系</a:t>
            </a:r>
            <a:endParaRPr lang="en-US" altLang="zh-CN" sz="3300" dirty="0">
              <a:latin typeface="Times New Roman" pitchFamily="18" charset="0"/>
              <a:ea typeface="黑体" pitchFamily="49" charset="-122"/>
              <a:cs typeface="Times New Roman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3300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	Hanoi</a:t>
            </a:r>
            <a:r>
              <a:rPr lang="zh-CN" altLang="en-US" sz="3300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塔的递归排序</a:t>
            </a:r>
            <a:endParaRPr lang="en-US" altLang="zh-CN" sz="3300" dirty="0">
              <a:latin typeface="Times New Roman" pitchFamily="18" charset="0"/>
              <a:ea typeface="黑体" pitchFamily="49" charset="-122"/>
              <a:cs typeface="Times New Roman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3300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	</a:t>
            </a:r>
            <a:r>
              <a:rPr lang="zh-CN" altLang="en-US" sz="3300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插入排序的迭代算法</a:t>
            </a:r>
          </a:p>
        </p:txBody>
      </p:sp>
    </p:spTree>
    <p:extLst>
      <p:ext uri="{BB962C8B-B14F-4D97-AF65-F5344CB8AC3E}">
        <p14:creationId xmlns:p14="http://schemas.microsoft.com/office/powerpoint/2010/main" val="24118442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1230218" y="1889098"/>
            <a:ext cx="7286817" cy="1843878"/>
          </a:xfrm>
          <a:prstGeom prst="rect">
            <a:avLst/>
          </a:prstGeom>
        </p:spPr>
        <p:txBody>
          <a:bodyPr vert="horz" wrap="square" lIns="0" tIns="15534" rIns="0" bIns="0" rtlCol="0" anchor="ctr">
            <a:spAutoFit/>
          </a:bodyPr>
          <a:lstStyle/>
          <a:p>
            <a:pPr marR="6214" algn="ctr"/>
            <a:r>
              <a:rPr sz="6600" dirty="0" err="1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迭代法求解</a:t>
            </a:r>
            <a:r>
              <a:rPr sz="6600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 </a:t>
            </a:r>
            <a:r>
              <a:rPr lang="en-US" sz="6600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/>
            </a:r>
            <a:br>
              <a:rPr lang="en-US" sz="6600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</a:br>
            <a:r>
              <a:rPr sz="6600" dirty="0" err="1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递推方程</a:t>
            </a:r>
            <a:endParaRPr sz="6600" dirty="0">
              <a:solidFill>
                <a:srgbClr val="C00000"/>
              </a:solidFill>
              <a:latin typeface="黑体" pitchFamily="49" charset="-122"/>
              <a:ea typeface="黑体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084009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407777" y="280424"/>
            <a:ext cx="8904173" cy="624300"/>
          </a:xfrm>
          <a:prstGeom prst="rect">
            <a:avLst/>
          </a:prstGeom>
        </p:spPr>
        <p:txBody>
          <a:bodyPr vert="horz" wrap="square" lIns="0" tIns="14758" rIns="0" bIns="0" rtlCol="0" anchor="ctr">
            <a:spAutoFit/>
          </a:bodyPr>
          <a:lstStyle/>
          <a:p>
            <a:pPr marL="15534" algn="ctr"/>
            <a:r>
              <a:rPr sz="4400" b="1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  <a:cs typeface="宋体"/>
              </a:rPr>
              <a:t>迭代法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07778" y="1281737"/>
            <a:ext cx="8652245" cy="3387314"/>
          </a:xfrm>
          <a:prstGeom prst="rect">
            <a:avLst/>
          </a:prstGeom>
        </p:spPr>
        <p:txBody>
          <a:bodyPr vert="horz" wrap="square" lIns="0" tIns="15534" rIns="0" bIns="0" rtlCol="0">
            <a:spAutoFit/>
          </a:bodyPr>
          <a:lstStyle/>
          <a:p>
            <a:pPr marL="453600" indent="-438066">
              <a:spcBef>
                <a:spcPts val="122"/>
              </a:spcBef>
              <a:buFont typeface="Arial"/>
              <a:buChar char="•"/>
              <a:tabLst>
                <a:tab pos="452823" algn="l"/>
                <a:tab pos="453600" algn="l"/>
              </a:tabLst>
            </a:pPr>
            <a:r>
              <a:rPr sz="2900" b="1" dirty="0">
                <a:latin typeface="宋体"/>
                <a:cs typeface="宋体"/>
              </a:rPr>
              <a:t>不断用递推方程的右部替换左部</a:t>
            </a:r>
            <a:endParaRPr sz="2900" dirty="0">
              <a:latin typeface="宋体"/>
              <a:cs typeface="宋体"/>
            </a:endParaRPr>
          </a:p>
          <a:p>
            <a:pPr marL="427192" marR="6214" indent="-412435">
              <a:lnSpc>
                <a:spcPct val="117200"/>
              </a:lnSpc>
              <a:spcBef>
                <a:spcPts val="1761"/>
              </a:spcBef>
              <a:buFont typeface="Arial"/>
              <a:buChar char="•"/>
              <a:tabLst>
                <a:tab pos="452823" algn="l"/>
                <a:tab pos="453600" algn="l"/>
              </a:tabLst>
            </a:pPr>
            <a:r>
              <a:rPr sz="2900" b="1" dirty="0">
                <a:latin typeface="宋体"/>
                <a:cs typeface="宋体"/>
              </a:rPr>
              <a:t>每次替换，随</a:t>
            </a:r>
            <a:r>
              <a:rPr sz="2900" b="1" spc="-12" dirty="0">
                <a:latin typeface="宋体"/>
                <a:cs typeface="宋体"/>
              </a:rPr>
              <a:t>着</a:t>
            </a:r>
            <a:r>
              <a:rPr sz="2900" b="1" spc="-709" dirty="0">
                <a:latin typeface="宋体"/>
                <a:cs typeface="宋体"/>
              </a:rPr>
              <a:t> </a:t>
            </a:r>
            <a:r>
              <a:rPr sz="2900" b="1" i="1" spc="-6" dirty="0">
                <a:latin typeface="Times New Roman"/>
                <a:cs typeface="Times New Roman"/>
              </a:rPr>
              <a:t>n</a:t>
            </a:r>
            <a:r>
              <a:rPr sz="2900" b="1" i="1" spc="-43" dirty="0">
                <a:latin typeface="Times New Roman"/>
                <a:cs typeface="Times New Roman"/>
              </a:rPr>
              <a:t> </a:t>
            </a:r>
            <a:r>
              <a:rPr sz="2900" b="1" dirty="0" err="1" smtClean="0">
                <a:latin typeface="宋体"/>
                <a:cs typeface="宋体"/>
              </a:rPr>
              <a:t>的降低在和式中</a:t>
            </a:r>
            <a:r>
              <a:rPr sz="2900" b="1" spc="-6" dirty="0" err="1" smtClean="0">
                <a:latin typeface="宋体"/>
                <a:cs typeface="宋体"/>
              </a:rPr>
              <a:t>多出一项</a:t>
            </a:r>
            <a:endParaRPr sz="2900" dirty="0">
              <a:latin typeface="宋体"/>
              <a:cs typeface="宋体"/>
            </a:endParaRPr>
          </a:p>
          <a:p>
            <a:pPr marL="453600" indent="-438066">
              <a:spcBef>
                <a:spcPts val="1890"/>
              </a:spcBef>
              <a:buFont typeface="Arial"/>
              <a:buChar char="•"/>
              <a:tabLst>
                <a:tab pos="452823" algn="l"/>
                <a:tab pos="453600" algn="l"/>
              </a:tabLst>
            </a:pPr>
            <a:r>
              <a:rPr sz="2900" b="1" dirty="0">
                <a:latin typeface="宋体"/>
                <a:cs typeface="宋体"/>
              </a:rPr>
              <a:t>直到出现初值停止迭代</a:t>
            </a:r>
            <a:endParaRPr sz="2900" dirty="0">
              <a:latin typeface="宋体"/>
              <a:cs typeface="宋体"/>
            </a:endParaRPr>
          </a:p>
          <a:p>
            <a:pPr marL="453600" indent="-438066">
              <a:spcBef>
                <a:spcPts val="2337"/>
              </a:spcBef>
              <a:buFont typeface="Arial"/>
              <a:buChar char="•"/>
              <a:tabLst>
                <a:tab pos="452823" algn="l"/>
                <a:tab pos="453600" algn="l"/>
              </a:tabLst>
            </a:pPr>
            <a:r>
              <a:rPr sz="2900" b="1" dirty="0">
                <a:latin typeface="宋体"/>
                <a:cs typeface="宋体"/>
              </a:rPr>
              <a:t>将初值代入并对和式求和</a:t>
            </a:r>
            <a:endParaRPr sz="2900" dirty="0">
              <a:latin typeface="宋体"/>
              <a:cs typeface="宋体"/>
            </a:endParaRPr>
          </a:p>
          <a:p>
            <a:pPr marL="423309" indent="-408551">
              <a:spcBef>
                <a:spcPts val="2349"/>
              </a:spcBef>
              <a:buFont typeface="Arial"/>
              <a:buChar char="•"/>
              <a:tabLst>
                <a:tab pos="423309" algn="l"/>
                <a:tab pos="424085" algn="l"/>
              </a:tabLst>
            </a:pPr>
            <a:r>
              <a:rPr sz="2900" b="1" spc="-6" dirty="0">
                <a:latin typeface="宋体"/>
                <a:cs typeface="宋体"/>
              </a:rPr>
              <a:t>可用数学归纳法验证解的正确性</a:t>
            </a:r>
            <a:endParaRPr sz="2900" dirty="0">
              <a:latin typeface="宋体"/>
              <a:cs typeface="宋体"/>
            </a:endParaRPr>
          </a:p>
        </p:txBody>
      </p:sp>
    </p:spTree>
    <p:extLst>
      <p:ext uri="{BB962C8B-B14F-4D97-AF65-F5344CB8AC3E}">
        <p14:creationId xmlns:p14="http://schemas.microsoft.com/office/powerpoint/2010/main" val="10550154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410548" y="293158"/>
            <a:ext cx="8892072" cy="624300"/>
          </a:xfrm>
          <a:prstGeom prst="rect">
            <a:avLst/>
          </a:prstGeom>
        </p:spPr>
        <p:txBody>
          <a:bodyPr vert="horz" wrap="square" lIns="0" tIns="14758" rIns="0" bIns="0" rtlCol="0" anchor="ctr">
            <a:spAutoFit/>
          </a:bodyPr>
          <a:lstStyle/>
          <a:p>
            <a:pPr marL="15534" algn="ctr"/>
            <a:r>
              <a:rPr sz="4400" b="1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  <a:cs typeface="宋体"/>
              </a:rPr>
              <a:t>Hanoi 塔算法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91760" y="913206"/>
            <a:ext cx="4510874" cy="791637"/>
          </a:xfrm>
          <a:prstGeom prst="rect">
            <a:avLst/>
          </a:prstGeom>
          <a:ln w="25400">
            <a:solidFill>
              <a:srgbClr val="006FC0"/>
            </a:solidFill>
          </a:ln>
        </p:spPr>
        <p:txBody>
          <a:bodyPr vert="horz" wrap="square" lIns="0" tIns="47381" rIns="0" bIns="0" rtlCol="0">
            <a:spAutoFit/>
          </a:bodyPr>
          <a:lstStyle/>
          <a:p>
            <a:pPr marL="195732">
              <a:lnSpc>
                <a:spcPts val="2929"/>
              </a:lnSpc>
              <a:spcBef>
                <a:spcPts val="373"/>
              </a:spcBef>
            </a:pPr>
            <a:r>
              <a:rPr sz="2800" b="1" i="1" dirty="0">
                <a:latin typeface="Times New Roman"/>
                <a:cs typeface="Times New Roman"/>
              </a:rPr>
              <a:t>T</a:t>
            </a:r>
            <a:r>
              <a:rPr sz="2800" b="1" dirty="0">
                <a:latin typeface="Times New Roman"/>
                <a:cs typeface="Times New Roman"/>
              </a:rPr>
              <a:t>(</a:t>
            </a:r>
            <a:r>
              <a:rPr sz="2800" b="1" i="1" dirty="0">
                <a:latin typeface="Times New Roman"/>
                <a:cs typeface="Times New Roman"/>
              </a:rPr>
              <a:t>n</a:t>
            </a:r>
            <a:r>
              <a:rPr sz="2800" b="1" dirty="0">
                <a:latin typeface="Times New Roman"/>
                <a:cs typeface="Times New Roman"/>
              </a:rPr>
              <a:t>) = 2 </a:t>
            </a:r>
            <a:r>
              <a:rPr sz="2800" b="1" i="1" dirty="0">
                <a:latin typeface="Times New Roman"/>
                <a:cs typeface="Times New Roman"/>
              </a:rPr>
              <a:t>T</a:t>
            </a:r>
            <a:r>
              <a:rPr sz="2800" b="1" dirty="0">
                <a:latin typeface="Times New Roman"/>
                <a:cs typeface="Times New Roman"/>
              </a:rPr>
              <a:t>(</a:t>
            </a:r>
            <a:r>
              <a:rPr sz="2800" b="1" i="1" dirty="0">
                <a:latin typeface="Times New Roman"/>
                <a:cs typeface="Times New Roman"/>
              </a:rPr>
              <a:t>n</a:t>
            </a:r>
            <a:r>
              <a:rPr sz="2800" b="1" dirty="0">
                <a:latin typeface="Symbol"/>
                <a:cs typeface="Symbol"/>
              </a:rPr>
              <a:t></a:t>
            </a:r>
            <a:r>
              <a:rPr sz="2800" b="1" dirty="0">
                <a:latin typeface="Times New Roman"/>
                <a:cs typeface="Times New Roman"/>
              </a:rPr>
              <a:t>1) +</a:t>
            </a:r>
            <a:r>
              <a:rPr sz="2800" b="1" spc="-139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1</a:t>
            </a:r>
            <a:endParaRPr sz="2800" dirty="0">
              <a:latin typeface="Times New Roman"/>
              <a:cs typeface="Times New Roman"/>
            </a:endParaRPr>
          </a:p>
          <a:p>
            <a:pPr marL="188741">
              <a:lnSpc>
                <a:spcPts val="2929"/>
              </a:lnSpc>
            </a:pPr>
            <a:r>
              <a:rPr sz="2800" b="1" i="1" dirty="0">
                <a:latin typeface="Times New Roman"/>
                <a:cs typeface="Times New Roman"/>
              </a:rPr>
              <a:t>T</a:t>
            </a:r>
            <a:r>
              <a:rPr sz="2800" b="1" dirty="0">
                <a:latin typeface="Times New Roman"/>
                <a:cs typeface="Times New Roman"/>
              </a:rPr>
              <a:t>(1) =</a:t>
            </a:r>
            <a:r>
              <a:rPr sz="2800" b="1" spc="-49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1</a:t>
            </a:r>
            <a:endParaRPr sz="280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05441" y="3964990"/>
            <a:ext cx="7667971" cy="508128"/>
          </a:xfrm>
          <a:prstGeom prst="rect">
            <a:avLst/>
          </a:prstGeom>
        </p:spPr>
        <p:txBody>
          <a:bodyPr vert="horz" wrap="square" lIns="0" tIns="15534" rIns="0" bIns="0" rtlCol="0">
            <a:spAutoFit/>
          </a:bodyPr>
          <a:lstStyle/>
          <a:p>
            <a:pPr marL="46603">
              <a:spcBef>
                <a:spcPts val="122"/>
              </a:spcBef>
            </a:pPr>
            <a:r>
              <a:rPr sz="3200" b="1" dirty="0">
                <a:latin typeface="Times New Roman"/>
                <a:cs typeface="Times New Roman"/>
              </a:rPr>
              <a:t>= </a:t>
            </a:r>
            <a:r>
              <a:rPr sz="3200" b="1" spc="6" dirty="0">
                <a:latin typeface="Times New Roman"/>
                <a:cs typeface="Times New Roman"/>
              </a:rPr>
              <a:t>2</a:t>
            </a:r>
            <a:r>
              <a:rPr sz="3100" b="1" i="1" spc="8" baseline="26143" dirty="0">
                <a:latin typeface="Times New Roman"/>
                <a:cs typeface="Times New Roman"/>
              </a:rPr>
              <a:t>n</a:t>
            </a:r>
            <a:r>
              <a:rPr sz="3100" b="1" spc="8" baseline="26143" dirty="0">
                <a:latin typeface="Symbol"/>
                <a:cs typeface="Symbol"/>
              </a:rPr>
              <a:t></a:t>
            </a:r>
            <a:r>
              <a:rPr sz="3100" b="1" spc="8" baseline="26143" dirty="0">
                <a:latin typeface="Times New Roman"/>
                <a:cs typeface="Times New Roman"/>
              </a:rPr>
              <a:t>1</a:t>
            </a:r>
            <a:r>
              <a:rPr sz="3200" b="1" i="1" spc="6" dirty="0">
                <a:solidFill>
                  <a:srgbClr val="FF0000"/>
                </a:solidFill>
                <a:latin typeface="Times New Roman"/>
                <a:cs typeface="Times New Roman"/>
              </a:rPr>
              <a:t>T</a:t>
            </a:r>
            <a:r>
              <a:rPr sz="3200" b="1" spc="6" dirty="0">
                <a:solidFill>
                  <a:srgbClr val="FF0000"/>
                </a:solidFill>
                <a:latin typeface="Times New Roman"/>
                <a:cs typeface="Times New Roman"/>
              </a:rPr>
              <a:t>(1) </a:t>
            </a:r>
            <a:r>
              <a:rPr sz="3200" b="1" dirty="0">
                <a:latin typeface="Times New Roman"/>
                <a:cs typeface="Times New Roman"/>
              </a:rPr>
              <a:t>+</a:t>
            </a:r>
            <a:r>
              <a:rPr sz="3200" b="1" spc="-43" dirty="0">
                <a:latin typeface="Times New Roman"/>
                <a:cs typeface="Times New Roman"/>
              </a:rPr>
              <a:t> </a:t>
            </a:r>
            <a:r>
              <a:rPr sz="3200" b="1" spc="6" dirty="0">
                <a:solidFill>
                  <a:srgbClr val="0000FF"/>
                </a:solidFill>
                <a:latin typeface="Times New Roman"/>
                <a:cs typeface="Times New Roman"/>
              </a:rPr>
              <a:t>2</a:t>
            </a:r>
            <a:r>
              <a:rPr sz="3100" b="1" i="1" spc="8" baseline="26143" dirty="0">
                <a:solidFill>
                  <a:srgbClr val="0000FF"/>
                </a:solidFill>
                <a:latin typeface="Times New Roman"/>
                <a:cs typeface="Times New Roman"/>
              </a:rPr>
              <a:t>n</a:t>
            </a:r>
            <a:r>
              <a:rPr sz="3100" b="1" spc="8" baseline="26143" dirty="0">
                <a:solidFill>
                  <a:srgbClr val="0000FF"/>
                </a:solidFill>
                <a:latin typeface="Symbol"/>
                <a:cs typeface="Symbol"/>
              </a:rPr>
              <a:t></a:t>
            </a:r>
            <a:r>
              <a:rPr sz="3100" b="1" spc="8" baseline="26143" dirty="0">
                <a:solidFill>
                  <a:srgbClr val="0000FF"/>
                </a:solidFill>
                <a:latin typeface="Times New Roman"/>
                <a:cs typeface="Times New Roman"/>
              </a:rPr>
              <a:t>2</a:t>
            </a:r>
            <a:r>
              <a:rPr sz="3200" b="1" spc="6" dirty="0">
                <a:solidFill>
                  <a:srgbClr val="0000FF"/>
                </a:solidFill>
                <a:latin typeface="Times New Roman"/>
                <a:cs typeface="Times New Roman"/>
              </a:rPr>
              <a:t>+2</a:t>
            </a:r>
            <a:r>
              <a:rPr sz="3100" b="1" i="1" spc="8" baseline="26143" dirty="0">
                <a:solidFill>
                  <a:srgbClr val="0000FF"/>
                </a:solidFill>
                <a:latin typeface="Times New Roman"/>
                <a:cs typeface="Times New Roman"/>
              </a:rPr>
              <a:t>n</a:t>
            </a:r>
            <a:r>
              <a:rPr sz="3100" b="1" spc="8" baseline="26143" dirty="0">
                <a:solidFill>
                  <a:srgbClr val="0000FF"/>
                </a:solidFill>
                <a:latin typeface="Symbol"/>
                <a:cs typeface="Symbol"/>
              </a:rPr>
              <a:t></a:t>
            </a:r>
            <a:r>
              <a:rPr sz="3100" b="1" spc="8" baseline="26143" dirty="0">
                <a:solidFill>
                  <a:srgbClr val="0000FF"/>
                </a:solidFill>
                <a:latin typeface="Times New Roman"/>
                <a:cs typeface="Times New Roman"/>
              </a:rPr>
              <a:t>3</a:t>
            </a:r>
            <a:r>
              <a:rPr sz="3200" b="1" spc="6" dirty="0">
                <a:solidFill>
                  <a:srgbClr val="0000FF"/>
                </a:solidFill>
                <a:latin typeface="Times New Roman"/>
                <a:cs typeface="Times New Roman"/>
              </a:rPr>
              <a:t>+…+2+1</a:t>
            </a:r>
            <a:endParaRPr sz="3200" dirty="0">
              <a:solidFill>
                <a:srgbClr val="0000FF"/>
              </a:solidFill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14773" y="4308799"/>
            <a:ext cx="3330627" cy="1406541"/>
          </a:xfrm>
          <a:prstGeom prst="rect">
            <a:avLst/>
          </a:prstGeom>
        </p:spPr>
        <p:txBody>
          <a:bodyPr vert="horz" wrap="square" lIns="0" tIns="214378" rIns="0" bIns="0" rtlCol="0">
            <a:spAutoFit/>
          </a:bodyPr>
          <a:lstStyle/>
          <a:p>
            <a:pPr marL="46603">
              <a:spcBef>
                <a:spcPts val="1688"/>
              </a:spcBef>
            </a:pPr>
            <a:r>
              <a:rPr sz="4800" b="1" baseline="-17094" dirty="0">
                <a:latin typeface="Times New Roman"/>
                <a:cs typeface="Times New Roman"/>
              </a:rPr>
              <a:t>= </a:t>
            </a:r>
            <a:r>
              <a:rPr sz="4800" b="1" spc="18" baseline="-17094" dirty="0">
                <a:latin typeface="Times New Roman"/>
                <a:cs typeface="Times New Roman"/>
              </a:rPr>
              <a:t>2</a:t>
            </a:r>
            <a:r>
              <a:rPr sz="2100" b="1" i="1" spc="12" dirty="0">
                <a:latin typeface="Times New Roman"/>
                <a:cs typeface="Times New Roman"/>
              </a:rPr>
              <a:t>n</a:t>
            </a:r>
            <a:r>
              <a:rPr sz="2100" b="1" spc="12" dirty="0">
                <a:latin typeface="Symbol"/>
                <a:cs typeface="Symbol"/>
              </a:rPr>
              <a:t></a:t>
            </a:r>
            <a:r>
              <a:rPr sz="2100" b="1" spc="12" dirty="0">
                <a:latin typeface="Times New Roman"/>
                <a:cs typeface="Times New Roman"/>
              </a:rPr>
              <a:t>1 </a:t>
            </a:r>
            <a:r>
              <a:rPr sz="4800" b="1" baseline="-17094" dirty="0">
                <a:latin typeface="Times New Roman"/>
                <a:cs typeface="Times New Roman"/>
              </a:rPr>
              <a:t>+</a:t>
            </a:r>
            <a:r>
              <a:rPr sz="4800" b="1" spc="-137" baseline="-17094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4800" b="1" spc="18" baseline="-17094" dirty="0">
                <a:solidFill>
                  <a:srgbClr val="0000FF"/>
                </a:solidFill>
                <a:latin typeface="Times New Roman"/>
                <a:cs typeface="Times New Roman"/>
              </a:rPr>
              <a:t>2</a:t>
            </a:r>
            <a:r>
              <a:rPr sz="2100" b="1" i="1" spc="12" dirty="0">
                <a:solidFill>
                  <a:srgbClr val="0000FF"/>
                </a:solidFill>
                <a:latin typeface="Times New Roman"/>
                <a:cs typeface="Times New Roman"/>
              </a:rPr>
              <a:t>n</a:t>
            </a:r>
            <a:r>
              <a:rPr sz="2100" b="1" spc="12" dirty="0">
                <a:solidFill>
                  <a:srgbClr val="0000FF"/>
                </a:solidFill>
                <a:latin typeface="Symbol"/>
                <a:cs typeface="Symbol"/>
              </a:rPr>
              <a:t></a:t>
            </a:r>
            <a:r>
              <a:rPr sz="2100" b="1" spc="12" dirty="0">
                <a:solidFill>
                  <a:srgbClr val="0000FF"/>
                </a:solidFill>
                <a:latin typeface="Times New Roman"/>
                <a:cs typeface="Times New Roman"/>
              </a:rPr>
              <a:t>1</a:t>
            </a:r>
            <a:r>
              <a:rPr sz="4800" b="1" spc="18" baseline="-17094" dirty="0">
                <a:solidFill>
                  <a:srgbClr val="0000FF"/>
                </a:solidFill>
                <a:latin typeface="Symbol"/>
                <a:cs typeface="Symbol"/>
              </a:rPr>
              <a:t></a:t>
            </a:r>
            <a:r>
              <a:rPr sz="4800" b="1" spc="18" baseline="-17094" dirty="0">
                <a:solidFill>
                  <a:srgbClr val="0000FF"/>
                </a:solidFill>
                <a:latin typeface="Times New Roman"/>
                <a:cs typeface="Times New Roman"/>
              </a:rPr>
              <a:t>1</a:t>
            </a:r>
            <a:endParaRPr sz="4800" baseline="-17094" dirty="0">
              <a:solidFill>
                <a:srgbClr val="0000FF"/>
              </a:solidFill>
              <a:latin typeface="Times New Roman"/>
              <a:cs typeface="Times New Roman"/>
            </a:endParaRPr>
          </a:p>
          <a:p>
            <a:pPr marL="46603">
              <a:spcBef>
                <a:spcPts val="1572"/>
              </a:spcBef>
            </a:pPr>
            <a:r>
              <a:rPr sz="3200" b="1" dirty="0">
                <a:latin typeface="Times New Roman"/>
                <a:cs typeface="Times New Roman"/>
              </a:rPr>
              <a:t>=</a:t>
            </a:r>
            <a:r>
              <a:rPr sz="3200" b="1" spc="-257" dirty="0">
                <a:latin typeface="Times New Roman"/>
                <a:cs typeface="Times New Roman"/>
              </a:rPr>
              <a:t> </a:t>
            </a:r>
            <a:r>
              <a:rPr sz="3200" b="1" spc="6" dirty="0">
                <a:latin typeface="Times New Roman"/>
                <a:cs typeface="Times New Roman"/>
              </a:rPr>
              <a:t>2</a:t>
            </a:r>
            <a:r>
              <a:rPr sz="3100" b="1" i="1" spc="8" baseline="26143" dirty="0">
                <a:latin typeface="Times New Roman"/>
                <a:cs typeface="Times New Roman"/>
              </a:rPr>
              <a:t>n</a:t>
            </a:r>
            <a:r>
              <a:rPr sz="3200" b="1" spc="6" dirty="0">
                <a:latin typeface="Symbol"/>
                <a:cs typeface="Symbol"/>
              </a:rPr>
              <a:t></a:t>
            </a:r>
            <a:r>
              <a:rPr sz="3200" b="1" spc="6" dirty="0">
                <a:latin typeface="Times New Roman"/>
                <a:cs typeface="Times New Roman"/>
              </a:rPr>
              <a:t>1</a:t>
            </a:r>
            <a:endParaRPr sz="3200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91701" y="1088806"/>
            <a:ext cx="8732561" cy="2679870"/>
          </a:xfrm>
          <a:prstGeom prst="rect">
            <a:avLst/>
          </a:prstGeom>
        </p:spPr>
        <p:txBody>
          <a:bodyPr vert="horz" wrap="square" lIns="0" tIns="182532" rIns="0" bIns="0" rtlCol="0">
            <a:spAutoFit/>
          </a:bodyPr>
          <a:lstStyle/>
          <a:p>
            <a:pPr marL="31069">
              <a:spcBef>
                <a:spcPts val="1438"/>
              </a:spcBef>
            </a:pPr>
            <a:r>
              <a:rPr sz="3200" b="1" i="1" dirty="0">
                <a:latin typeface="Times New Roman"/>
                <a:cs typeface="Times New Roman"/>
              </a:rPr>
              <a:t>T</a:t>
            </a:r>
            <a:r>
              <a:rPr sz="3200" b="1" dirty="0">
                <a:latin typeface="Times New Roman"/>
                <a:cs typeface="Times New Roman"/>
              </a:rPr>
              <a:t>(</a:t>
            </a:r>
            <a:r>
              <a:rPr sz="3200" b="1" i="1" dirty="0">
                <a:latin typeface="Times New Roman"/>
                <a:cs typeface="Times New Roman"/>
              </a:rPr>
              <a:t>n</a:t>
            </a:r>
            <a:r>
              <a:rPr sz="3200" b="1" dirty="0">
                <a:latin typeface="Times New Roman"/>
                <a:cs typeface="Times New Roman"/>
              </a:rPr>
              <a:t>) = 2 </a:t>
            </a:r>
            <a:r>
              <a:rPr sz="3200" b="1" i="1" u="sng" dirty="0">
                <a:solidFill>
                  <a:srgbClr val="FF0000"/>
                </a:solidFill>
                <a:latin typeface="Times New Roman"/>
                <a:cs typeface="Times New Roman"/>
              </a:rPr>
              <a:t>T</a:t>
            </a:r>
            <a:r>
              <a:rPr sz="3200" b="1" u="sng" dirty="0">
                <a:solidFill>
                  <a:srgbClr val="FF0000"/>
                </a:solidFill>
                <a:uFill>
                  <a:solidFill>
                    <a:srgbClr val="C00000"/>
                  </a:solidFill>
                </a:uFill>
                <a:latin typeface="Times New Roman"/>
                <a:cs typeface="Times New Roman"/>
              </a:rPr>
              <a:t>(</a:t>
            </a:r>
            <a:r>
              <a:rPr sz="3200" b="1" i="1" u="sng" dirty="0">
                <a:solidFill>
                  <a:srgbClr val="FF0000"/>
                </a:solidFill>
                <a:uFill>
                  <a:solidFill>
                    <a:srgbClr val="C00000"/>
                  </a:solidFill>
                </a:uFill>
                <a:latin typeface="Times New Roman"/>
                <a:cs typeface="Times New Roman"/>
              </a:rPr>
              <a:t>n</a:t>
            </a:r>
            <a:r>
              <a:rPr sz="3200" b="1" u="sng" dirty="0">
                <a:solidFill>
                  <a:srgbClr val="FF0000"/>
                </a:solidFill>
                <a:uFill>
                  <a:solidFill>
                    <a:srgbClr val="C00000"/>
                  </a:solidFill>
                </a:uFill>
                <a:latin typeface="Symbol"/>
                <a:cs typeface="Symbol"/>
              </a:rPr>
              <a:t></a:t>
            </a:r>
            <a:r>
              <a:rPr sz="3200" b="1" u="sng" dirty="0">
                <a:solidFill>
                  <a:srgbClr val="FF0000"/>
                </a:solidFill>
                <a:uFill>
                  <a:solidFill>
                    <a:srgbClr val="C00000"/>
                  </a:solidFill>
                </a:uFill>
                <a:latin typeface="Times New Roman"/>
                <a:cs typeface="Times New Roman"/>
              </a:rPr>
              <a:t>1</a:t>
            </a:r>
            <a:r>
              <a:rPr sz="3200" b="1" u="sng" dirty="0">
                <a:solidFill>
                  <a:srgbClr val="FF0000"/>
                </a:solidFill>
                <a:latin typeface="Times New Roman"/>
                <a:cs typeface="Times New Roman"/>
              </a:rPr>
              <a:t>)</a:t>
            </a:r>
            <a:r>
              <a:rPr sz="3200" b="1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+</a:t>
            </a:r>
            <a:r>
              <a:rPr sz="3200" b="1" spc="-110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1</a:t>
            </a:r>
            <a:endParaRPr sz="3200" dirty="0">
              <a:latin typeface="Times New Roman"/>
              <a:cs typeface="Times New Roman"/>
            </a:endParaRPr>
          </a:p>
          <a:p>
            <a:pPr marL="869918">
              <a:spcBef>
                <a:spcPts val="1327"/>
              </a:spcBef>
            </a:pPr>
            <a:r>
              <a:rPr sz="3200" b="1" dirty="0">
                <a:latin typeface="Times New Roman"/>
                <a:cs typeface="Times New Roman"/>
              </a:rPr>
              <a:t>= 2 </a:t>
            </a:r>
            <a:r>
              <a:rPr sz="3200" b="1" u="sng" spc="190" dirty="0">
                <a:solidFill>
                  <a:srgbClr val="FF0000"/>
                </a:solidFill>
                <a:latin typeface="Times New Roman"/>
                <a:cs typeface="Times New Roman"/>
              </a:rPr>
              <a:t>[</a:t>
            </a:r>
            <a:r>
              <a:rPr sz="3200" b="1" u="sng" spc="190" dirty="0">
                <a:solidFill>
                  <a:srgbClr val="FF0000"/>
                </a:solidFill>
                <a:uFill>
                  <a:solidFill>
                    <a:srgbClr val="C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200" b="1" u="sng" dirty="0">
                <a:solidFill>
                  <a:srgbClr val="FF0000"/>
                </a:solidFill>
                <a:uFill>
                  <a:solidFill>
                    <a:srgbClr val="C00000"/>
                  </a:solidFill>
                </a:uFill>
                <a:latin typeface="Times New Roman"/>
                <a:cs typeface="Times New Roman"/>
              </a:rPr>
              <a:t>2</a:t>
            </a:r>
            <a:r>
              <a:rPr sz="3200" b="1" i="1" u="sng" dirty="0">
                <a:solidFill>
                  <a:srgbClr val="FF0000"/>
                </a:solidFill>
                <a:uFill>
                  <a:solidFill>
                    <a:srgbClr val="C00000"/>
                  </a:solidFill>
                </a:uFill>
                <a:latin typeface="Times New Roman"/>
                <a:cs typeface="Times New Roman"/>
              </a:rPr>
              <a:t>T</a:t>
            </a:r>
            <a:r>
              <a:rPr sz="3200" b="1" u="sng" dirty="0">
                <a:solidFill>
                  <a:srgbClr val="FF0000"/>
                </a:solidFill>
                <a:uFill>
                  <a:solidFill>
                    <a:srgbClr val="C00000"/>
                  </a:solidFill>
                </a:uFill>
                <a:latin typeface="Times New Roman"/>
                <a:cs typeface="Times New Roman"/>
              </a:rPr>
              <a:t>(</a:t>
            </a:r>
            <a:r>
              <a:rPr sz="3200" b="1" i="1" u="sng" dirty="0">
                <a:solidFill>
                  <a:srgbClr val="FF0000"/>
                </a:solidFill>
                <a:uFill>
                  <a:solidFill>
                    <a:srgbClr val="C00000"/>
                  </a:solidFill>
                </a:uFill>
                <a:latin typeface="Times New Roman"/>
                <a:cs typeface="Times New Roman"/>
              </a:rPr>
              <a:t>n</a:t>
            </a:r>
            <a:r>
              <a:rPr sz="3200" b="1" u="sng" dirty="0">
                <a:solidFill>
                  <a:srgbClr val="FF0000"/>
                </a:solidFill>
                <a:uFill>
                  <a:solidFill>
                    <a:srgbClr val="C00000"/>
                  </a:solidFill>
                </a:uFill>
                <a:latin typeface="Symbol"/>
                <a:cs typeface="Symbol"/>
              </a:rPr>
              <a:t></a:t>
            </a:r>
            <a:r>
              <a:rPr sz="3200" b="1" u="sng" dirty="0">
                <a:solidFill>
                  <a:srgbClr val="FF0000"/>
                </a:solidFill>
                <a:uFill>
                  <a:solidFill>
                    <a:srgbClr val="C00000"/>
                  </a:solidFill>
                </a:uFill>
                <a:latin typeface="Times New Roman"/>
                <a:cs typeface="Times New Roman"/>
              </a:rPr>
              <a:t>2) + 1</a:t>
            </a:r>
            <a:r>
              <a:rPr sz="3200" b="1" u="sng" dirty="0">
                <a:solidFill>
                  <a:srgbClr val="FF0000"/>
                </a:solidFill>
                <a:latin typeface="Times New Roman"/>
                <a:cs typeface="Times New Roman"/>
              </a:rPr>
              <a:t>]</a:t>
            </a:r>
            <a:r>
              <a:rPr sz="3200" b="1" dirty="0">
                <a:latin typeface="Times New Roman"/>
                <a:cs typeface="Times New Roman"/>
              </a:rPr>
              <a:t> +</a:t>
            </a:r>
            <a:r>
              <a:rPr sz="3200" b="1" spc="-539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1</a:t>
            </a:r>
            <a:endParaRPr sz="3200" dirty="0">
              <a:latin typeface="Times New Roman"/>
              <a:cs typeface="Times New Roman"/>
            </a:endParaRPr>
          </a:p>
          <a:p>
            <a:pPr marL="869918">
              <a:spcBef>
                <a:spcPts val="1718"/>
              </a:spcBef>
            </a:pPr>
            <a:r>
              <a:rPr sz="3200" b="1" dirty="0">
                <a:latin typeface="Times New Roman"/>
                <a:cs typeface="Times New Roman"/>
              </a:rPr>
              <a:t>= </a:t>
            </a:r>
            <a:r>
              <a:rPr sz="3200" b="1" spc="6" dirty="0">
                <a:latin typeface="Times New Roman"/>
                <a:cs typeface="Times New Roman"/>
              </a:rPr>
              <a:t>2</a:t>
            </a:r>
            <a:r>
              <a:rPr sz="3100" b="1" spc="8" baseline="26143" dirty="0">
                <a:latin typeface="Times New Roman"/>
                <a:cs typeface="Times New Roman"/>
              </a:rPr>
              <a:t>2 </a:t>
            </a:r>
            <a:r>
              <a:rPr sz="3200" b="1" i="1" dirty="0">
                <a:latin typeface="Times New Roman"/>
                <a:cs typeface="Times New Roman"/>
              </a:rPr>
              <a:t>T</a:t>
            </a:r>
            <a:r>
              <a:rPr sz="3200" b="1" dirty="0">
                <a:latin typeface="Times New Roman"/>
                <a:cs typeface="Times New Roman"/>
              </a:rPr>
              <a:t>(</a:t>
            </a:r>
            <a:r>
              <a:rPr sz="3200" b="1" i="1" dirty="0">
                <a:latin typeface="Times New Roman"/>
                <a:cs typeface="Times New Roman"/>
              </a:rPr>
              <a:t>n</a:t>
            </a:r>
            <a:r>
              <a:rPr sz="3200" b="1" dirty="0">
                <a:latin typeface="Symbol"/>
                <a:cs typeface="Symbol"/>
              </a:rPr>
              <a:t></a:t>
            </a:r>
            <a:r>
              <a:rPr sz="3200" b="1" dirty="0">
                <a:latin typeface="Times New Roman"/>
                <a:cs typeface="Times New Roman"/>
              </a:rPr>
              <a:t>2) + </a:t>
            </a:r>
            <a:r>
              <a:rPr sz="3200" b="1" u="sng" dirty="0">
                <a:solidFill>
                  <a:srgbClr val="0000FF"/>
                </a:solidFill>
                <a:latin typeface="Times New Roman"/>
                <a:cs typeface="Times New Roman"/>
              </a:rPr>
              <a:t>2</a:t>
            </a:r>
            <a:r>
              <a:rPr sz="3200" b="1" dirty="0">
                <a:latin typeface="Times New Roman"/>
                <a:cs typeface="Times New Roman"/>
              </a:rPr>
              <a:t> +</a:t>
            </a:r>
            <a:r>
              <a:rPr sz="3200" b="1" spc="-110" dirty="0">
                <a:latin typeface="Times New Roman"/>
                <a:cs typeface="Times New Roman"/>
              </a:rPr>
              <a:t> </a:t>
            </a:r>
            <a:r>
              <a:rPr sz="3200" b="1" dirty="0" smtClean="0">
                <a:latin typeface="Times New Roman"/>
                <a:cs typeface="Times New Roman"/>
              </a:rPr>
              <a:t>1</a:t>
            </a:r>
            <a:r>
              <a:rPr lang="en-US" sz="3200" b="1" dirty="0" smtClean="0">
                <a:latin typeface="Times New Roman"/>
                <a:cs typeface="Times New Roman"/>
              </a:rPr>
              <a:t>  </a:t>
            </a:r>
            <a:r>
              <a:rPr lang="zh-CN" altLang="en-US" sz="2400" b="1" dirty="0" smtClean="0">
                <a:solidFill>
                  <a:srgbClr val="0000FF"/>
                </a:solidFill>
                <a:latin typeface="Times New Roman"/>
                <a:cs typeface="Times New Roman"/>
              </a:rPr>
              <a:t>随着 </a:t>
            </a:r>
            <a:r>
              <a:rPr lang="en-US" sz="2400" b="1" dirty="0">
                <a:solidFill>
                  <a:srgbClr val="0000FF"/>
                </a:solidFill>
                <a:latin typeface="Times New Roman"/>
                <a:cs typeface="Times New Roman"/>
              </a:rPr>
              <a:t>n </a:t>
            </a:r>
            <a:r>
              <a:rPr lang="zh-CN" altLang="en-US" sz="2400" b="1" dirty="0">
                <a:solidFill>
                  <a:srgbClr val="0000FF"/>
                </a:solidFill>
                <a:latin typeface="Times New Roman"/>
                <a:cs typeface="Times New Roman"/>
              </a:rPr>
              <a:t>的降低在和式中多出一</a:t>
            </a:r>
            <a:r>
              <a:rPr lang="zh-CN" altLang="en-US" sz="2400" b="1" dirty="0" smtClean="0">
                <a:solidFill>
                  <a:srgbClr val="0000FF"/>
                </a:solidFill>
                <a:latin typeface="Times New Roman"/>
                <a:cs typeface="Times New Roman"/>
              </a:rPr>
              <a:t>项</a:t>
            </a:r>
            <a:endParaRPr sz="3200" dirty="0">
              <a:solidFill>
                <a:srgbClr val="0000FF"/>
              </a:solidFill>
              <a:latin typeface="Times New Roman"/>
              <a:cs typeface="Times New Roman"/>
            </a:endParaRPr>
          </a:p>
          <a:p>
            <a:pPr marL="869918">
              <a:spcBef>
                <a:spcPts val="1107"/>
              </a:spcBef>
            </a:pPr>
            <a:r>
              <a:rPr sz="3200" b="1" dirty="0">
                <a:latin typeface="Times New Roman"/>
                <a:cs typeface="Times New Roman"/>
              </a:rPr>
              <a:t>=</a:t>
            </a:r>
            <a:r>
              <a:rPr sz="3200" b="1" spc="-25" dirty="0">
                <a:latin typeface="Times New Roman"/>
                <a:cs typeface="Times New Roman"/>
              </a:rPr>
              <a:t> </a:t>
            </a:r>
            <a:r>
              <a:rPr sz="3200" b="1" spc="6" dirty="0">
                <a:latin typeface="Times New Roman"/>
                <a:cs typeface="Times New Roman"/>
              </a:rPr>
              <a:t>…</a:t>
            </a:r>
            <a:endParaRPr sz="3200" dirty="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384097" y="4889266"/>
            <a:ext cx="1286477" cy="685907"/>
          </a:xfrm>
          <a:prstGeom prst="rect">
            <a:avLst/>
          </a:prstGeom>
        </p:spPr>
        <p:txBody>
          <a:bodyPr vert="horz" wrap="square" lIns="0" tIns="44273" rIns="0" bIns="0" rtlCol="0">
            <a:spAutoFit/>
          </a:bodyPr>
          <a:lstStyle/>
          <a:p>
            <a:pPr marL="296705" marR="6214" indent="-281945">
              <a:lnSpc>
                <a:spcPts val="2471"/>
              </a:lnSpc>
              <a:spcBef>
                <a:spcPts val="348"/>
              </a:spcBef>
            </a:pPr>
            <a:r>
              <a:rPr sz="2200" b="1" dirty="0">
                <a:solidFill>
                  <a:srgbClr val="FFFFFF"/>
                </a:solidFill>
                <a:latin typeface="宋体"/>
                <a:cs typeface="宋体"/>
              </a:rPr>
              <a:t>代入初值 求和</a:t>
            </a:r>
            <a:endParaRPr sz="2200" dirty="0">
              <a:latin typeface="宋体"/>
              <a:cs typeface="宋体"/>
            </a:endParaRPr>
          </a:p>
        </p:txBody>
      </p:sp>
    </p:spTree>
    <p:extLst>
      <p:ext uri="{BB962C8B-B14F-4D97-AF65-F5344CB8AC3E}">
        <p14:creationId xmlns:p14="http://schemas.microsoft.com/office/powerpoint/2010/main" val="31225877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405264" y="294192"/>
            <a:ext cx="8916017" cy="624300"/>
          </a:xfrm>
          <a:prstGeom prst="rect">
            <a:avLst/>
          </a:prstGeom>
        </p:spPr>
        <p:txBody>
          <a:bodyPr vert="horz" wrap="square" lIns="0" tIns="14758" rIns="0" bIns="0" rtlCol="0" anchor="ctr">
            <a:spAutoFit/>
          </a:bodyPr>
          <a:lstStyle/>
          <a:p>
            <a:pPr marL="15534" algn="ctr"/>
            <a:r>
              <a:rPr sz="4400" b="1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  <a:cs typeface="宋体"/>
              </a:rPr>
              <a:t>插入排序算法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134645" y="1313894"/>
            <a:ext cx="2016597" cy="384234"/>
          </a:xfrm>
          <a:prstGeom prst="rect">
            <a:avLst/>
          </a:prstGeom>
        </p:spPr>
        <p:txBody>
          <a:bodyPr vert="horz" wrap="square" lIns="0" tIns="14758" rIns="0" bIns="0" rtlCol="0">
            <a:spAutoFit/>
          </a:bodyPr>
          <a:lstStyle/>
          <a:p>
            <a:pPr marL="31069">
              <a:spcBef>
                <a:spcPts val="117"/>
              </a:spcBef>
            </a:pPr>
            <a:r>
              <a:rPr sz="2400" b="1" i="1" spc="-37" dirty="0" smtClean="0">
                <a:latin typeface="Times New Roman"/>
                <a:cs typeface="Times New Roman"/>
              </a:rPr>
              <a:t>W </a:t>
            </a:r>
            <a:r>
              <a:rPr sz="2400" b="1" spc="-18" dirty="0">
                <a:latin typeface="Times New Roman"/>
                <a:cs typeface="Times New Roman"/>
              </a:rPr>
              <a:t>(1) </a:t>
            </a:r>
            <a:r>
              <a:rPr sz="2400" b="1" spc="25" dirty="0">
                <a:latin typeface="Symbol"/>
                <a:cs typeface="Symbol"/>
              </a:rPr>
              <a:t></a:t>
            </a:r>
            <a:r>
              <a:rPr sz="2400" b="1" spc="-330" dirty="0">
                <a:latin typeface="Times New Roman"/>
                <a:cs typeface="Times New Roman"/>
              </a:rPr>
              <a:t> </a:t>
            </a:r>
            <a:r>
              <a:rPr sz="2400" b="1" spc="25" dirty="0">
                <a:latin typeface="Times New Roman"/>
                <a:cs typeface="Times New Roman"/>
              </a:rPr>
              <a:t>0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076414" y="946485"/>
            <a:ext cx="3286549" cy="445789"/>
          </a:xfrm>
          <a:prstGeom prst="rect">
            <a:avLst/>
          </a:prstGeom>
        </p:spPr>
        <p:txBody>
          <a:bodyPr vert="horz" wrap="square" lIns="0" tIns="14758" rIns="0" bIns="0" rtlCol="0">
            <a:spAutoFit/>
          </a:bodyPr>
          <a:lstStyle/>
          <a:p>
            <a:pPr>
              <a:spcBef>
                <a:spcPts val="117"/>
              </a:spcBef>
            </a:pPr>
            <a:r>
              <a:rPr lang="en-US" sz="2800" b="1" spc="-37" dirty="0" smtClean="0">
                <a:latin typeface="Symbol"/>
                <a:cs typeface="Times New Roman"/>
              </a:rPr>
              <a:t> </a:t>
            </a:r>
            <a:r>
              <a:rPr sz="3600" b="1" i="1" spc="-54" baseline="3472" dirty="0" smtClean="0">
                <a:latin typeface="Times New Roman"/>
                <a:cs typeface="Times New Roman"/>
              </a:rPr>
              <a:t>W</a:t>
            </a:r>
            <a:r>
              <a:rPr sz="3600" b="1" i="1" spc="-302" baseline="3472" dirty="0" smtClean="0">
                <a:latin typeface="Times New Roman"/>
                <a:cs typeface="Times New Roman"/>
              </a:rPr>
              <a:t> </a:t>
            </a:r>
            <a:r>
              <a:rPr sz="3600" b="1" spc="63" baseline="3472" dirty="0">
                <a:latin typeface="Times New Roman"/>
                <a:cs typeface="Times New Roman"/>
              </a:rPr>
              <a:t>(</a:t>
            </a:r>
            <a:r>
              <a:rPr sz="3600" b="1" i="1" spc="63" baseline="3472" dirty="0">
                <a:latin typeface="Times New Roman"/>
                <a:cs typeface="Times New Roman"/>
              </a:rPr>
              <a:t>n</a:t>
            </a:r>
            <a:r>
              <a:rPr sz="3600" b="1" spc="63" baseline="3472" dirty="0">
                <a:latin typeface="Times New Roman"/>
                <a:cs typeface="Times New Roman"/>
              </a:rPr>
              <a:t>)</a:t>
            </a:r>
            <a:r>
              <a:rPr sz="3600" b="1" spc="-147" baseline="3472" dirty="0">
                <a:latin typeface="Times New Roman"/>
                <a:cs typeface="Times New Roman"/>
              </a:rPr>
              <a:t> </a:t>
            </a:r>
            <a:r>
              <a:rPr sz="3600" b="1" spc="37" baseline="3472" dirty="0">
                <a:latin typeface="Symbol"/>
                <a:cs typeface="Symbol"/>
              </a:rPr>
              <a:t></a:t>
            </a:r>
            <a:r>
              <a:rPr sz="3600" b="1" spc="-283" baseline="3472" dirty="0">
                <a:latin typeface="Times New Roman"/>
                <a:cs typeface="Times New Roman"/>
              </a:rPr>
              <a:t> </a:t>
            </a:r>
            <a:r>
              <a:rPr sz="3600" b="1" i="1" spc="63" baseline="3472" dirty="0">
                <a:latin typeface="Times New Roman"/>
                <a:cs typeface="Times New Roman"/>
              </a:rPr>
              <a:t>W</a:t>
            </a:r>
            <a:r>
              <a:rPr sz="3600" b="1" i="1" spc="-294" baseline="3472" dirty="0">
                <a:latin typeface="Times New Roman"/>
                <a:cs typeface="Times New Roman"/>
              </a:rPr>
              <a:t> </a:t>
            </a:r>
            <a:r>
              <a:rPr sz="3600" b="1" spc="73" baseline="3472" dirty="0">
                <a:latin typeface="Times New Roman"/>
                <a:cs typeface="Times New Roman"/>
              </a:rPr>
              <a:t>(</a:t>
            </a:r>
            <a:r>
              <a:rPr sz="3600" b="1" i="1" spc="73" baseline="3472" dirty="0">
                <a:latin typeface="Times New Roman"/>
                <a:cs typeface="Times New Roman"/>
              </a:rPr>
              <a:t>n</a:t>
            </a:r>
            <a:r>
              <a:rPr sz="3600" b="1" i="1" spc="-294" baseline="3472" dirty="0">
                <a:latin typeface="Times New Roman"/>
                <a:cs typeface="Times New Roman"/>
              </a:rPr>
              <a:t> </a:t>
            </a:r>
            <a:r>
              <a:rPr sz="3600" b="1" spc="37" baseline="3472" dirty="0">
                <a:latin typeface="Symbol"/>
                <a:cs typeface="Symbol"/>
              </a:rPr>
              <a:t></a:t>
            </a:r>
            <a:r>
              <a:rPr sz="3600" b="1" spc="-375" baseline="3472" dirty="0">
                <a:latin typeface="Times New Roman"/>
                <a:cs typeface="Times New Roman"/>
              </a:rPr>
              <a:t> </a:t>
            </a:r>
            <a:r>
              <a:rPr sz="3600" b="1" spc="-8" baseline="3472" dirty="0">
                <a:latin typeface="Times New Roman"/>
                <a:cs typeface="Times New Roman"/>
              </a:rPr>
              <a:t>1)</a:t>
            </a:r>
            <a:r>
              <a:rPr sz="3600" b="1" spc="-320" baseline="3472" dirty="0">
                <a:latin typeface="Times New Roman"/>
                <a:cs typeface="Times New Roman"/>
              </a:rPr>
              <a:t> </a:t>
            </a:r>
            <a:r>
              <a:rPr sz="3600" b="1" spc="37" baseline="3472" dirty="0">
                <a:latin typeface="Symbol"/>
                <a:cs typeface="Symbol"/>
              </a:rPr>
              <a:t></a:t>
            </a:r>
            <a:r>
              <a:rPr sz="3600" b="1" spc="-147" baseline="3472" dirty="0">
                <a:latin typeface="Times New Roman"/>
                <a:cs typeface="Times New Roman"/>
              </a:rPr>
              <a:t> </a:t>
            </a:r>
            <a:r>
              <a:rPr sz="3600" b="1" i="1" spc="37" baseline="3472" dirty="0">
                <a:latin typeface="Times New Roman"/>
                <a:cs typeface="Times New Roman"/>
              </a:rPr>
              <a:t>n</a:t>
            </a:r>
            <a:r>
              <a:rPr sz="3600" b="1" i="1" spc="-302" baseline="3472" dirty="0">
                <a:latin typeface="Times New Roman"/>
                <a:cs typeface="Times New Roman"/>
              </a:rPr>
              <a:t> </a:t>
            </a:r>
            <a:r>
              <a:rPr sz="3600" b="1" spc="37" baseline="3472" dirty="0">
                <a:latin typeface="Symbol"/>
                <a:cs typeface="Symbol"/>
              </a:rPr>
              <a:t></a:t>
            </a:r>
            <a:r>
              <a:rPr sz="3600" b="1" spc="-375" baseline="3472" dirty="0">
                <a:latin typeface="Times New Roman"/>
                <a:cs typeface="Times New Roman"/>
              </a:rPr>
              <a:t> </a:t>
            </a:r>
            <a:r>
              <a:rPr sz="3600" b="1" spc="37" baseline="3472" dirty="0">
                <a:latin typeface="Times New Roman"/>
                <a:cs typeface="Times New Roman"/>
              </a:rPr>
              <a:t>1</a:t>
            </a:r>
            <a:endParaRPr sz="3600" baseline="3472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6076414" y="946485"/>
            <a:ext cx="3244867" cy="782421"/>
          </a:xfrm>
          <a:custGeom>
            <a:avLst/>
            <a:gdLst/>
            <a:ahLst/>
            <a:cxnLst/>
            <a:rect l="l" t="t" r="r" b="b"/>
            <a:pathLst>
              <a:path w="2187575" h="621030">
                <a:moveTo>
                  <a:pt x="0" y="620712"/>
                </a:moveTo>
                <a:lnTo>
                  <a:pt x="2187575" y="620712"/>
                </a:lnTo>
                <a:lnTo>
                  <a:pt x="2187575" y="0"/>
                </a:lnTo>
                <a:lnTo>
                  <a:pt x="0" y="0"/>
                </a:lnTo>
                <a:lnTo>
                  <a:pt x="0" y="620712"/>
                </a:lnTo>
                <a:close/>
              </a:path>
            </a:pathLst>
          </a:custGeom>
          <a:ln w="25400">
            <a:solidFill>
              <a:srgbClr val="3366FF"/>
            </a:solidFill>
          </a:ln>
        </p:spPr>
        <p:txBody>
          <a:bodyPr wrap="square" lIns="0" tIns="0" rIns="0" bIns="0" rtlCol="0"/>
          <a:lstStyle/>
          <a:p>
            <a:endParaRPr sz="2800"/>
          </a:p>
        </p:txBody>
      </p:sp>
      <p:sp>
        <p:nvSpPr>
          <p:cNvPr id="7" name="object 7"/>
          <p:cNvSpPr txBox="1"/>
          <p:nvPr/>
        </p:nvSpPr>
        <p:spPr>
          <a:xfrm>
            <a:off x="401216" y="1099955"/>
            <a:ext cx="8920065" cy="4229773"/>
          </a:xfrm>
          <a:prstGeom prst="rect">
            <a:avLst/>
          </a:prstGeom>
        </p:spPr>
        <p:txBody>
          <a:bodyPr vert="horz" wrap="square" lIns="0" tIns="155346" rIns="0" bIns="0" rtlCol="0">
            <a:spAutoFit/>
          </a:bodyPr>
          <a:lstStyle/>
          <a:p>
            <a:pPr marL="15534">
              <a:spcBef>
                <a:spcPts val="1223"/>
              </a:spcBef>
            </a:pPr>
            <a:r>
              <a:rPr sz="2900" b="1" i="1" dirty="0">
                <a:latin typeface="Times New Roman"/>
                <a:cs typeface="Times New Roman"/>
              </a:rPr>
              <a:t>W</a:t>
            </a:r>
            <a:r>
              <a:rPr sz="2900" b="1" dirty="0">
                <a:latin typeface="Times New Roman"/>
                <a:cs typeface="Times New Roman"/>
              </a:rPr>
              <a:t>(</a:t>
            </a:r>
            <a:r>
              <a:rPr sz="2900" b="1" i="1" dirty="0">
                <a:latin typeface="Times New Roman"/>
                <a:cs typeface="Times New Roman"/>
              </a:rPr>
              <a:t>n</a:t>
            </a:r>
            <a:r>
              <a:rPr sz="2900" b="1" dirty="0">
                <a:latin typeface="Times New Roman"/>
                <a:cs typeface="Times New Roman"/>
              </a:rPr>
              <a:t>)=</a:t>
            </a:r>
            <a:r>
              <a:rPr sz="2900" b="1" i="1" dirty="0">
                <a:solidFill>
                  <a:srgbClr val="FF0000"/>
                </a:solidFill>
                <a:latin typeface="Times New Roman"/>
                <a:cs typeface="Times New Roman"/>
              </a:rPr>
              <a:t>W</a:t>
            </a:r>
            <a:r>
              <a:rPr sz="2900" b="1" dirty="0">
                <a:solidFill>
                  <a:srgbClr val="FF0000"/>
                </a:solidFill>
                <a:latin typeface="Times New Roman"/>
                <a:cs typeface="Times New Roman"/>
              </a:rPr>
              <a:t>(</a:t>
            </a:r>
            <a:r>
              <a:rPr sz="2900" b="1" i="1" dirty="0">
                <a:solidFill>
                  <a:srgbClr val="FF0000"/>
                </a:solidFill>
                <a:latin typeface="Times New Roman"/>
                <a:cs typeface="Times New Roman"/>
              </a:rPr>
              <a:t>n</a:t>
            </a:r>
            <a:r>
              <a:rPr sz="2900" b="1" dirty="0">
                <a:solidFill>
                  <a:srgbClr val="FF0000"/>
                </a:solidFill>
                <a:latin typeface="Symbol"/>
                <a:cs typeface="Symbol"/>
              </a:rPr>
              <a:t></a:t>
            </a:r>
            <a:r>
              <a:rPr sz="2900" b="1" dirty="0">
                <a:solidFill>
                  <a:srgbClr val="FF0000"/>
                </a:solidFill>
                <a:latin typeface="Times New Roman"/>
                <a:cs typeface="Times New Roman"/>
              </a:rPr>
              <a:t>1)</a:t>
            </a:r>
            <a:r>
              <a:rPr sz="2900" b="1" dirty="0">
                <a:latin typeface="Times New Roman"/>
                <a:cs typeface="Times New Roman"/>
              </a:rPr>
              <a:t> +</a:t>
            </a:r>
            <a:r>
              <a:rPr sz="2900" b="1" spc="-73" dirty="0">
                <a:latin typeface="Times New Roman"/>
                <a:cs typeface="Times New Roman"/>
              </a:rPr>
              <a:t> </a:t>
            </a:r>
            <a:r>
              <a:rPr sz="2900" b="1" i="1" dirty="0">
                <a:latin typeface="Times New Roman"/>
                <a:cs typeface="Times New Roman"/>
              </a:rPr>
              <a:t>n</a:t>
            </a:r>
            <a:r>
              <a:rPr sz="2900" b="1" dirty="0">
                <a:latin typeface="Symbol"/>
                <a:cs typeface="Symbol"/>
              </a:rPr>
              <a:t></a:t>
            </a:r>
            <a:r>
              <a:rPr sz="2900" b="1" dirty="0">
                <a:latin typeface="Times New Roman"/>
                <a:cs typeface="Times New Roman"/>
              </a:rPr>
              <a:t>1</a:t>
            </a:r>
            <a:endParaRPr sz="2900" dirty="0">
              <a:latin typeface="Times New Roman"/>
              <a:cs typeface="Times New Roman"/>
            </a:endParaRPr>
          </a:p>
          <a:p>
            <a:pPr marL="15534">
              <a:spcBef>
                <a:spcPts val="1101"/>
              </a:spcBef>
            </a:pPr>
            <a:r>
              <a:rPr sz="2900" b="1" dirty="0">
                <a:latin typeface="Times New Roman"/>
                <a:cs typeface="Times New Roman"/>
              </a:rPr>
              <a:t>= </a:t>
            </a:r>
            <a:r>
              <a:rPr sz="2900" b="1" dirty="0">
                <a:solidFill>
                  <a:srgbClr val="FF0000"/>
                </a:solidFill>
                <a:latin typeface="Times New Roman"/>
                <a:cs typeface="Times New Roman"/>
              </a:rPr>
              <a:t>[</a:t>
            </a:r>
            <a:r>
              <a:rPr sz="2900" b="1" i="1" dirty="0">
                <a:solidFill>
                  <a:srgbClr val="FF0000"/>
                </a:solidFill>
                <a:latin typeface="Times New Roman"/>
                <a:cs typeface="Times New Roman"/>
              </a:rPr>
              <a:t>W</a:t>
            </a:r>
            <a:r>
              <a:rPr sz="2900" b="1" dirty="0">
                <a:solidFill>
                  <a:srgbClr val="FF0000"/>
                </a:solidFill>
                <a:latin typeface="Times New Roman"/>
                <a:cs typeface="Times New Roman"/>
              </a:rPr>
              <a:t>(</a:t>
            </a:r>
            <a:r>
              <a:rPr sz="2900" b="1" i="1" dirty="0">
                <a:solidFill>
                  <a:srgbClr val="FF0000"/>
                </a:solidFill>
                <a:latin typeface="Times New Roman"/>
                <a:cs typeface="Times New Roman"/>
              </a:rPr>
              <a:t>n</a:t>
            </a:r>
            <a:r>
              <a:rPr sz="2900" b="1" dirty="0">
                <a:solidFill>
                  <a:srgbClr val="FF0000"/>
                </a:solidFill>
                <a:latin typeface="Symbol"/>
                <a:cs typeface="Symbol"/>
              </a:rPr>
              <a:t></a:t>
            </a:r>
            <a:r>
              <a:rPr sz="2900" b="1" dirty="0">
                <a:solidFill>
                  <a:srgbClr val="FF0000"/>
                </a:solidFill>
                <a:latin typeface="Times New Roman"/>
                <a:cs typeface="Times New Roman"/>
              </a:rPr>
              <a:t>2) + </a:t>
            </a:r>
            <a:r>
              <a:rPr sz="2900" b="1" i="1" dirty="0">
                <a:solidFill>
                  <a:srgbClr val="FF0000"/>
                </a:solidFill>
                <a:latin typeface="Times New Roman"/>
                <a:cs typeface="Times New Roman"/>
              </a:rPr>
              <a:t>n</a:t>
            </a:r>
            <a:r>
              <a:rPr sz="2900" b="1" dirty="0">
                <a:solidFill>
                  <a:srgbClr val="FF0000"/>
                </a:solidFill>
                <a:latin typeface="Symbol"/>
                <a:cs typeface="Symbol"/>
              </a:rPr>
              <a:t></a:t>
            </a:r>
            <a:r>
              <a:rPr sz="2900" b="1" dirty="0">
                <a:solidFill>
                  <a:srgbClr val="FF0000"/>
                </a:solidFill>
                <a:latin typeface="Times New Roman"/>
                <a:cs typeface="Times New Roman"/>
              </a:rPr>
              <a:t>2] </a:t>
            </a:r>
            <a:r>
              <a:rPr sz="2900" b="1" dirty="0">
                <a:latin typeface="Times New Roman"/>
                <a:cs typeface="Times New Roman"/>
              </a:rPr>
              <a:t>+</a:t>
            </a:r>
            <a:r>
              <a:rPr sz="2900" b="1" spc="-110" dirty="0">
                <a:latin typeface="Times New Roman"/>
                <a:cs typeface="Times New Roman"/>
              </a:rPr>
              <a:t> </a:t>
            </a:r>
            <a:r>
              <a:rPr sz="2900" b="1" i="1" dirty="0">
                <a:latin typeface="Times New Roman"/>
                <a:cs typeface="Times New Roman"/>
              </a:rPr>
              <a:t>n</a:t>
            </a:r>
            <a:r>
              <a:rPr sz="2900" b="1" dirty="0">
                <a:latin typeface="Symbol"/>
                <a:cs typeface="Symbol"/>
              </a:rPr>
              <a:t></a:t>
            </a:r>
            <a:r>
              <a:rPr sz="2900" b="1" dirty="0">
                <a:latin typeface="Times New Roman"/>
                <a:cs typeface="Times New Roman"/>
              </a:rPr>
              <a:t>1</a:t>
            </a:r>
            <a:endParaRPr sz="2900" dirty="0">
              <a:latin typeface="Times New Roman"/>
              <a:cs typeface="Times New Roman"/>
            </a:endParaRPr>
          </a:p>
          <a:p>
            <a:pPr marL="15534">
              <a:spcBef>
                <a:spcPts val="1101"/>
              </a:spcBef>
            </a:pPr>
            <a:r>
              <a:rPr sz="2900" b="1" dirty="0">
                <a:latin typeface="Times New Roman"/>
                <a:cs typeface="Times New Roman"/>
              </a:rPr>
              <a:t>= </a:t>
            </a:r>
            <a:r>
              <a:rPr sz="2900" b="1" i="1" dirty="0">
                <a:solidFill>
                  <a:srgbClr val="FF0000"/>
                </a:solidFill>
                <a:latin typeface="Times New Roman"/>
                <a:cs typeface="Times New Roman"/>
              </a:rPr>
              <a:t>W</a:t>
            </a:r>
            <a:r>
              <a:rPr sz="2900" b="1" dirty="0">
                <a:solidFill>
                  <a:srgbClr val="FF0000"/>
                </a:solidFill>
                <a:latin typeface="Times New Roman"/>
                <a:cs typeface="Times New Roman"/>
              </a:rPr>
              <a:t>(</a:t>
            </a:r>
            <a:r>
              <a:rPr sz="2900" b="1" i="1" dirty="0">
                <a:solidFill>
                  <a:srgbClr val="FF0000"/>
                </a:solidFill>
                <a:latin typeface="Times New Roman"/>
                <a:cs typeface="Times New Roman"/>
              </a:rPr>
              <a:t>n</a:t>
            </a:r>
            <a:r>
              <a:rPr sz="2900" b="1" dirty="0">
                <a:solidFill>
                  <a:srgbClr val="FF0000"/>
                </a:solidFill>
                <a:latin typeface="Symbol"/>
                <a:cs typeface="Symbol"/>
              </a:rPr>
              <a:t></a:t>
            </a:r>
            <a:r>
              <a:rPr sz="2900" b="1" dirty="0">
                <a:solidFill>
                  <a:srgbClr val="FF0000"/>
                </a:solidFill>
                <a:latin typeface="Times New Roman"/>
                <a:cs typeface="Times New Roman"/>
              </a:rPr>
              <a:t>2) </a:t>
            </a:r>
            <a:r>
              <a:rPr sz="2900" b="1" dirty="0" smtClean="0">
                <a:latin typeface="Times New Roman"/>
                <a:cs typeface="Times New Roman"/>
              </a:rPr>
              <a:t>+ </a:t>
            </a:r>
            <a:r>
              <a:rPr sz="2900" b="1" i="1" u="sng" dirty="0" smtClean="0">
                <a:solidFill>
                  <a:srgbClr val="0000FF"/>
                </a:solidFill>
                <a:latin typeface="Times New Roman"/>
                <a:cs typeface="Times New Roman"/>
              </a:rPr>
              <a:t>n</a:t>
            </a:r>
            <a:r>
              <a:rPr sz="2900" b="1" u="sng" dirty="0" smtClean="0">
                <a:solidFill>
                  <a:srgbClr val="0000FF"/>
                </a:solidFill>
                <a:latin typeface="Symbol"/>
                <a:cs typeface="Symbol"/>
              </a:rPr>
              <a:t></a:t>
            </a:r>
            <a:r>
              <a:rPr sz="2900" b="1" u="sng" dirty="0" smtClean="0">
                <a:solidFill>
                  <a:srgbClr val="0000FF"/>
                </a:solidFill>
                <a:latin typeface="Times New Roman"/>
                <a:cs typeface="Times New Roman"/>
              </a:rPr>
              <a:t>2</a:t>
            </a:r>
            <a:r>
              <a:rPr sz="2900" b="1" dirty="0" smtClean="0">
                <a:latin typeface="Times New Roman"/>
                <a:cs typeface="Times New Roman"/>
              </a:rPr>
              <a:t> +</a:t>
            </a:r>
            <a:r>
              <a:rPr sz="2900" b="1" spc="-104" dirty="0" smtClean="0">
                <a:latin typeface="Times New Roman"/>
                <a:cs typeface="Times New Roman"/>
              </a:rPr>
              <a:t> </a:t>
            </a:r>
            <a:r>
              <a:rPr sz="2900" b="1" i="1" dirty="0">
                <a:latin typeface="Times New Roman"/>
                <a:cs typeface="Times New Roman"/>
              </a:rPr>
              <a:t>n</a:t>
            </a:r>
            <a:r>
              <a:rPr sz="2900" b="1" dirty="0">
                <a:latin typeface="Symbol"/>
                <a:cs typeface="Symbol"/>
              </a:rPr>
              <a:t></a:t>
            </a:r>
            <a:r>
              <a:rPr sz="2900" b="1" dirty="0" smtClean="0">
                <a:latin typeface="Times New Roman"/>
                <a:cs typeface="Times New Roman"/>
              </a:rPr>
              <a:t>1</a:t>
            </a:r>
            <a:r>
              <a:rPr lang="en-US" sz="2900" b="1" dirty="0" smtClean="0">
                <a:latin typeface="Times New Roman"/>
                <a:cs typeface="Times New Roman"/>
              </a:rPr>
              <a:t>    </a:t>
            </a:r>
            <a:r>
              <a:rPr lang="zh-CN" altLang="en-US" sz="2400" b="1" dirty="0" smtClean="0">
                <a:solidFill>
                  <a:srgbClr val="0000FF"/>
                </a:solidFill>
                <a:latin typeface="Times New Roman"/>
                <a:cs typeface="Times New Roman"/>
              </a:rPr>
              <a:t>随着 </a:t>
            </a:r>
            <a:r>
              <a:rPr lang="en-US" sz="2400" b="1" dirty="0">
                <a:solidFill>
                  <a:srgbClr val="0000FF"/>
                </a:solidFill>
                <a:latin typeface="Times New Roman"/>
                <a:cs typeface="Times New Roman"/>
              </a:rPr>
              <a:t>n </a:t>
            </a:r>
            <a:r>
              <a:rPr lang="zh-CN" altLang="en-US" sz="2400" b="1" dirty="0">
                <a:solidFill>
                  <a:srgbClr val="0000FF"/>
                </a:solidFill>
                <a:latin typeface="Times New Roman"/>
                <a:cs typeface="Times New Roman"/>
              </a:rPr>
              <a:t>的降低在和式中多出一项</a:t>
            </a:r>
            <a:endParaRPr sz="2900" dirty="0">
              <a:solidFill>
                <a:srgbClr val="0000FF"/>
              </a:solidFill>
              <a:latin typeface="Times New Roman"/>
              <a:cs typeface="Times New Roman"/>
            </a:endParaRPr>
          </a:p>
          <a:p>
            <a:pPr marL="15534">
              <a:spcBef>
                <a:spcPts val="1915"/>
              </a:spcBef>
            </a:pPr>
            <a:r>
              <a:rPr sz="2900" b="1" dirty="0">
                <a:latin typeface="Times New Roman"/>
                <a:cs typeface="Times New Roman"/>
              </a:rPr>
              <a:t>=</a:t>
            </a:r>
            <a:r>
              <a:rPr sz="2900" b="1" spc="-25" dirty="0">
                <a:latin typeface="Times New Roman"/>
                <a:cs typeface="Times New Roman"/>
              </a:rPr>
              <a:t> </a:t>
            </a:r>
            <a:r>
              <a:rPr sz="2900" b="1" dirty="0" smtClean="0">
                <a:latin typeface="Times New Roman"/>
                <a:cs typeface="Times New Roman"/>
              </a:rPr>
              <a:t>…</a:t>
            </a:r>
            <a:endParaRPr sz="2900" dirty="0">
              <a:latin typeface="Times New Roman"/>
              <a:cs typeface="Times New Roman"/>
            </a:endParaRPr>
          </a:p>
          <a:p>
            <a:pPr marL="15534">
              <a:spcBef>
                <a:spcPts val="1119"/>
              </a:spcBef>
            </a:pPr>
            <a:r>
              <a:rPr sz="2900" b="1" dirty="0">
                <a:latin typeface="Times New Roman"/>
                <a:cs typeface="Times New Roman"/>
              </a:rPr>
              <a:t>= </a:t>
            </a:r>
            <a:r>
              <a:rPr sz="2900" b="1" i="1" dirty="0">
                <a:latin typeface="Times New Roman"/>
                <a:cs typeface="Times New Roman"/>
              </a:rPr>
              <a:t>W</a:t>
            </a:r>
            <a:r>
              <a:rPr sz="2900" b="1" dirty="0">
                <a:latin typeface="Times New Roman"/>
                <a:cs typeface="Times New Roman"/>
              </a:rPr>
              <a:t>(1) + </a:t>
            </a:r>
            <a:r>
              <a:rPr sz="2900" b="1" dirty="0">
                <a:solidFill>
                  <a:srgbClr val="0000FF"/>
                </a:solidFill>
                <a:latin typeface="Times New Roman"/>
                <a:cs typeface="Times New Roman"/>
              </a:rPr>
              <a:t>1 + 2 + … + (</a:t>
            </a:r>
            <a:r>
              <a:rPr sz="2900" b="1" i="1" dirty="0">
                <a:solidFill>
                  <a:srgbClr val="0000FF"/>
                </a:solidFill>
                <a:latin typeface="Times New Roman"/>
                <a:cs typeface="Times New Roman"/>
              </a:rPr>
              <a:t>n</a:t>
            </a:r>
            <a:r>
              <a:rPr sz="2900" b="1" dirty="0">
                <a:solidFill>
                  <a:srgbClr val="0000FF"/>
                </a:solidFill>
                <a:latin typeface="Symbol"/>
                <a:cs typeface="Symbol"/>
              </a:rPr>
              <a:t></a:t>
            </a:r>
            <a:r>
              <a:rPr sz="2900" b="1" dirty="0">
                <a:solidFill>
                  <a:srgbClr val="0000FF"/>
                </a:solidFill>
                <a:latin typeface="Times New Roman"/>
                <a:cs typeface="Times New Roman"/>
              </a:rPr>
              <a:t>2) +</a:t>
            </a:r>
            <a:r>
              <a:rPr sz="2900" b="1" spc="-172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900" b="1" spc="-6" dirty="0">
                <a:solidFill>
                  <a:srgbClr val="0000FF"/>
                </a:solidFill>
                <a:latin typeface="Times New Roman"/>
                <a:cs typeface="Times New Roman"/>
              </a:rPr>
              <a:t>(</a:t>
            </a:r>
            <a:r>
              <a:rPr sz="2900" b="1" i="1" spc="-6" dirty="0">
                <a:solidFill>
                  <a:srgbClr val="0000FF"/>
                </a:solidFill>
                <a:latin typeface="Times New Roman"/>
                <a:cs typeface="Times New Roman"/>
              </a:rPr>
              <a:t>n</a:t>
            </a:r>
            <a:r>
              <a:rPr sz="2900" b="1" spc="-6" dirty="0">
                <a:solidFill>
                  <a:srgbClr val="0000FF"/>
                </a:solidFill>
                <a:latin typeface="Symbol"/>
                <a:cs typeface="Symbol"/>
              </a:rPr>
              <a:t></a:t>
            </a:r>
            <a:r>
              <a:rPr sz="2900" b="1" spc="-6" dirty="0">
                <a:solidFill>
                  <a:srgbClr val="0000FF"/>
                </a:solidFill>
                <a:latin typeface="Times New Roman"/>
                <a:cs typeface="Times New Roman"/>
              </a:rPr>
              <a:t>1)</a:t>
            </a:r>
            <a:endParaRPr sz="2900" dirty="0">
              <a:solidFill>
                <a:srgbClr val="0000FF"/>
              </a:solidFill>
              <a:latin typeface="Times New Roman"/>
              <a:cs typeface="Times New Roman"/>
            </a:endParaRPr>
          </a:p>
          <a:p>
            <a:pPr marL="15534">
              <a:spcBef>
                <a:spcPts val="1101"/>
              </a:spcBef>
            </a:pPr>
            <a:r>
              <a:rPr sz="2900" b="1" dirty="0">
                <a:latin typeface="Times New Roman"/>
                <a:cs typeface="Times New Roman"/>
              </a:rPr>
              <a:t>= 1 + 2 + … + (</a:t>
            </a:r>
            <a:r>
              <a:rPr sz="2900" b="1" i="1" dirty="0">
                <a:latin typeface="Times New Roman"/>
                <a:cs typeface="Times New Roman"/>
              </a:rPr>
              <a:t>n</a:t>
            </a:r>
            <a:r>
              <a:rPr sz="2900" b="1" dirty="0">
                <a:latin typeface="Symbol"/>
                <a:cs typeface="Symbol"/>
              </a:rPr>
              <a:t></a:t>
            </a:r>
            <a:r>
              <a:rPr sz="2900" b="1" dirty="0">
                <a:latin typeface="Times New Roman"/>
                <a:cs typeface="Times New Roman"/>
              </a:rPr>
              <a:t>2) +</a:t>
            </a:r>
            <a:r>
              <a:rPr sz="2900" b="1" spc="-122" dirty="0">
                <a:latin typeface="Times New Roman"/>
                <a:cs typeface="Times New Roman"/>
              </a:rPr>
              <a:t> </a:t>
            </a:r>
            <a:r>
              <a:rPr sz="2900" b="1" dirty="0">
                <a:latin typeface="Times New Roman"/>
                <a:cs typeface="Times New Roman"/>
              </a:rPr>
              <a:t>(</a:t>
            </a:r>
            <a:r>
              <a:rPr sz="2900" b="1" i="1" dirty="0">
                <a:latin typeface="Times New Roman"/>
                <a:cs typeface="Times New Roman"/>
              </a:rPr>
              <a:t>n</a:t>
            </a:r>
            <a:r>
              <a:rPr sz="2900" b="1" dirty="0">
                <a:latin typeface="Symbol"/>
                <a:cs typeface="Symbol"/>
              </a:rPr>
              <a:t></a:t>
            </a:r>
            <a:r>
              <a:rPr sz="2900" b="1" dirty="0">
                <a:latin typeface="Times New Roman"/>
                <a:cs typeface="Times New Roman"/>
              </a:rPr>
              <a:t>1)</a:t>
            </a:r>
            <a:endParaRPr sz="2900" dirty="0">
              <a:latin typeface="Times New Roman"/>
              <a:cs typeface="Times New Roman"/>
            </a:endParaRPr>
          </a:p>
          <a:p>
            <a:pPr marL="15534">
              <a:spcBef>
                <a:spcPts val="1107"/>
              </a:spcBef>
            </a:pPr>
            <a:r>
              <a:rPr sz="2900" b="1" dirty="0">
                <a:latin typeface="Times New Roman"/>
                <a:cs typeface="Times New Roman"/>
              </a:rPr>
              <a:t>=</a:t>
            </a:r>
            <a:r>
              <a:rPr sz="2900" b="1" spc="-25" dirty="0">
                <a:latin typeface="Times New Roman"/>
                <a:cs typeface="Times New Roman"/>
              </a:rPr>
              <a:t> </a:t>
            </a:r>
            <a:r>
              <a:rPr sz="2900" b="1" i="1" dirty="0">
                <a:latin typeface="Times New Roman"/>
                <a:cs typeface="Times New Roman"/>
              </a:rPr>
              <a:t>n</a:t>
            </a:r>
            <a:r>
              <a:rPr sz="2900" b="1" dirty="0">
                <a:latin typeface="Times New Roman"/>
                <a:cs typeface="Times New Roman"/>
              </a:rPr>
              <a:t>(</a:t>
            </a:r>
            <a:r>
              <a:rPr sz="2900" b="1" i="1" dirty="0">
                <a:latin typeface="Times New Roman"/>
                <a:cs typeface="Times New Roman"/>
              </a:rPr>
              <a:t>n</a:t>
            </a:r>
            <a:r>
              <a:rPr sz="2900" b="1" dirty="0">
                <a:latin typeface="Symbol"/>
                <a:cs typeface="Symbol"/>
              </a:rPr>
              <a:t></a:t>
            </a:r>
            <a:r>
              <a:rPr sz="2900" b="1" dirty="0">
                <a:latin typeface="Times New Roman"/>
                <a:cs typeface="Times New Roman"/>
              </a:rPr>
              <a:t>1)/2</a:t>
            </a:r>
            <a:endParaRPr sz="29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5237279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89567" y="1331639"/>
            <a:ext cx="8894391" cy="2031308"/>
          </a:xfrm>
          <a:prstGeom prst="rect">
            <a:avLst/>
          </a:prstGeom>
        </p:spPr>
        <p:txBody>
          <a:bodyPr vert="horz" wrap="square" lIns="0" tIns="66023" rIns="0" bIns="0" rtlCol="0">
            <a:spAutoFit/>
          </a:bodyPr>
          <a:lstStyle/>
          <a:p>
            <a:pPr marL="517290" indent="-502533">
              <a:spcBef>
                <a:spcPts val="520"/>
              </a:spcBef>
              <a:buFont typeface="Arial"/>
              <a:buChar char="•"/>
              <a:tabLst>
                <a:tab pos="516514" algn="l"/>
                <a:tab pos="518068" algn="l"/>
              </a:tabLst>
            </a:pPr>
            <a:r>
              <a:rPr sz="3200" b="1" spc="-6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将</a:t>
            </a:r>
            <a:r>
              <a:rPr sz="3200" b="1" spc="-12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对</a:t>
            </a:r>
            <a:r>
              <a:rPr sz="3200" b="1" spc="-77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</a:t>
            </a:r>
            <a:r>
              <a:rPr sz="3200" b="1" i="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n</a:t>
            </a:r>
            <a:r>
              <a:rPr sz="3200" b="1" i="1" spc="-18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</a:t>
            </a:r>
            <a:r>
              <a:rPr sz="3200" b="1" spc="-6" dirty="0" err="1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的递推式换成对其他变元</a:t>
            </a:r>
            <a:r>
              <a:rPr sz="3200" b="1" i="1" dirty="0" err="1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k</a:t>
            </a:r>
            <a:r>
              <a:rPr sz="3200" b="1" dirty="0" err="1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的递推式</a:t>
            </a:r>
            <a:endParaRPr sz="3200" dirty="0">
              <a:latin typeface="Times New Roman" pitchFamily="18" charset="0"/>
              <a:ea typeface="黑体" pitchFamily="49" charset="-122"/>
              <a:cs typeface="Times New Roman" pitchFamily="18" charset="0"/>
            </a:endParaRPr>
          </a:p>
          <a:p>
            <a:pPr marL="517290" indent="-502533">
              <a:spcBef>
                <a:spcPts val="1853"/>
              </a:spcBef>
              <a:buFont typeface="Arial"/>
              <a:buChar char="•"/>
              <a:tabLst>
                <a:tab pos="516514" algn="l"/>
                <a:tab pos="518068" algn="l"/>
              </a:tabLst>
            </a:pPr>
            <a:r>
              <a:rPr sz="3200" b="1" spc="-12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对</a:t>
            </a:r>
            <a:r>
              <a:rPr sz="3200" b="1" spc="-740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</a:t>
            </a:r>
            <a:r>
              <a:rPr sz="3200" b="1" i="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k</a:t>
            </a:r>
            <a:r>
              <a:rPr sz="3200" b="1" i="1" spc="-6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</a:t>
            </a:r>
            <a:r>
              <a:rPr sz="3200" b="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直接迭代</a:t>
            </a:r>
            <a:endParaRPr sz="3200" dirty="0">
              <a:latin typeface="Times New Roman" pitchFamily="18" charset="0"/>
              <a:ea typeface="黑体" pitchFamily="49" charset="-122"/>
              <a:cs typeface="Times New Roman" pitchFamily="18" charset="0"/>
            </a:endParaRPr>
          </a:p>
          <a:p>
            <a:pPr marL="517290" indent="-502533">
              <a:spcBef>
                <a:spcPts val="1860"/>
              </a:spcBef>
              <a:buFont typeface="Arial"/>
              <a:buChar char="•"/>
              <a:tabLst>
                <a:tab pos="516514" algn="l"/>
                <a:tab pos="518068" algn="l"/>
              </a:tabLst>
            </a:pPr>
            <a:r>
              <a:rPr sz="3200" b="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将</a:t>
            </a:r>
            <a:r>
              <a:rPr sz="3200" b="1" spc="-12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解</a:t>
            </a:r>
            <a:r>
              <a:rPr sz="3200" b="1" spc="-764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</a:t>
            </a:r>
            <a:r>
              <a:rPr sz="3200" b="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(关</a:t>
            </a:r>
            <a:r>
              <a:rPr sz="3200" b="1" spc="-12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于</a:t>
            </a:r>
            <a:r>
              <a:rPr sz="3200" b="1" spc="-759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</a:t>
            </a:r>
            <a:r>
              <a:rPr sz="3200" b="1" i="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k</a:t>
            </a:r>
            <a:r>
              <a:rPr sz="3200" b="1" i="1" spc="-30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</a:t>
            </a:r>
            <a:r>
              <a:rPr sz="3200" b="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的函</a:t>
            </a:r>
            <a:r>
              <a:rPr sz="3200" b="1" spc="6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数</a:t>
            </a:r>
            <a:r>
              <a:rPr sz="3200" b="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)</a:t>
            </a:r>
            <a:r>
              <a:rPr sz="3200" b="1" spc="-25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</a:t>
            </a:r>
            <a:r>
              <a:rPr sz="3200" b="1" dirty="0" err="1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转换成关于</a:t>
            </a:r>
            <a:r>
              <a:rPr sz="3200" b="1" i="1" dirty="0" err="1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n</a:t>
            </a:r>
            <a:r>
              <a:rPr sz="3200" b="1" i="1" spc="-12" dirty="0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</a:t>
            </a:r>
            <a:r>
              <a:rPr sz="3200" b="1" spc="-6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的函数</a:t>
            </a:r>
            <a:endParaRPr sz="3200" dirty="0">
              <a:latin typeface="Times New Roman" pitchFamily="18" charset="0"/>
              <a:ea typeface="黑体" pitchFamily="49" charset="-122"/>
              <a:cs typeface="Times New Roman" pitchFamily="18" charset="0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 idx="4294967295"/>
          </p:nvPr>
        </p:nvSpPr>
        <p:spPr>
          <a:xfrm>
            <a:off x="391886" y="221216"/>
            <a:ext cx="8892073" cy="686730"/>
          </a:xfrm>
          <a:prstGeom prst="rect">
            <a:avLst/>
          </a:prstGeom>
        </p:spPr>
        <p:txBody>
          <a:bodyPr vert="horz" wrap="square" lIns="0" tIns="14758" rIns="0" bIns="0" rtlCol="0" anchor="ctr">
            <a:spAutoFit/>
          </a:bodyPr>
          <a:lstStyle/>
          <a:p>
            <a:pPr marL="15534" algn="ctr"/>
            <a:r>
              <a:rPr sz="4400" b="1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  <a:cs typeface="宋体"/>
              </a:rPr>
              <a:t>换元迭代</a:t>
            </a:r>
          </a:p>
        </p:txBody>
      </p:sp>
    </p:spTree>
    <p:extLst>
      <p:ext uri="{BB962C8B-B14F-4D97-AF65-F5344CB8AC3E}">
        <p14:creationId xmlns:p14="http://schemas.microsoft.com/office/powerpoint/2010/main" val="12747258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391886" y="294525"/>
            <a:ext cx="8920065" cy="624300"/>
          </a:xfrm>
          <a:prstGeom prst="rect">
            <a:avLst/>
          </a:prstGeom>
        </p:spPr>
        <p:txBody>
          <a:bodyPr vert="horz" wrap="square" lIns="0" tIns="14758" rIns="0" bIns="0" rtlCol="0" anchor="ctr">
            <a:spAutoFit/>
          </a:bodyPr>
          <a:lstStyle/>
          <a:p>
            <a:pPr marL="15534" algn="ctr"/>
            <a:r>
              <a:rPr sz="4400" b="1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  <a:cs typeface="宋体"/>
              </a:rPr>
              <a:t>二分归并排序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09468" y="1194928"/>
            <a:ext cx="8389294" cy="4322782"/>
          </a:xfrm>
          <a:prstGeom prst="rect">
            <a:avLst/>
          </a:prstGeom>
        </p:spPr>
        <p:txBody>
          <a:bodyPr vert="horz" wrap="square" lIns="0" tIns="110296" rIns="0" bIns="0" rtlCol="0">
            <a:spAutoFit/>
          </a:bodyPr>
          <a:lstStyle/>
          <a:p>
            <a:pPr marL="15534">
              <a:spcBef>
                <a:spcPts val="869"/>
              </a:spcBef>
            </a:pPr>
            <a:r>
              <a:rPr sz="2900" b="1" dirty="0">
                <a:uFill>
                  <a:solidFill>
                    <a:srgbClr val="C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900" b="1" spc="-465" dirty="0">
                <a:uFill>
                  <a:solidFill>
                    <a:srgbClr val="C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900" b="1" dirty="0">
                <a:uFill>
                  <a:solidFill>
                    <a:srgbClr val="C00000"/>
                  </a:solidFill>
                </a:uFill>
                <a:latin typeface="Times New Roman"/>
                <a:cs typeface="Times New Roman"/>
              </a:rPr>
              <a:t>MergeSort </a:t>
            </a:r>
            <a:r>
              <a:rPr sz="2900" b="1" spc="-6" dirty="0">
                <a:uFill>
                  <a:solidFill>
                    <a:srgbClr val="C00000"/>
                  </a:solidFill>
                </a:uFill>
                <a:latin typeface="Times New Roman"/>
                <a:cs typeface="Times New Roman"/>
              </a:rPr>
              <a:t>(</a:t>
            </a:r>
            <a:r>
              <a:rPr sz="2900" b="1" i="1" spc="-6" dirty="0">
                <a:latin typeface="Times New Roman"/>
                <a:cs typeface="Times New Roman"/>
              </a:rPr>
              <a:t>A</a:t>
            </a:r>
            <a:r>
              <a:rPr sz="2900" b="1" spc="-6" dirty="0">
                <a:latin typeface="Times New Roman"/>
                <a:cs typeface="Times New Roman"/>
              </a:rPr>
              <a:t>, </a:t>
            </a:r>
            <a:r>
              <a:rPr sz="2900" b="1" i="1" dirty="0">
                <a:latin typeface="Times New Roman"/>
                <a:cs typeface="Times New Roman"/>
              </a:rPr>
              <a:t>p</a:t>
            </a:r>
            <a:r>
              <a:rPr sz="2900" b="1" dirty="0">
                <a:latin typeface="Times New Roman"/>
                <a:cs typeface="Times New Roman"/>
              </a:rPr>
              <a:t>,</a:t>
            </a:r>
            <a:r>
              <a:rPr sz="2900" b="1" spc="-37" dirty="0">
                <a:latin typeface="Times New Roman"/>
                <a:cs typeface="Times New Roman"/>
              </a:rPr>
              <a:t> </a:t>
            </a:r>
            <a:r>
              <a:rPr sz="2900" b="1" i="1" spc="-6" dirty="0">
                <a:latin typeface="Times New Roman"/>
                <a:cs typeface="Times New Roman"/>
              </a:rPr>
              <a:t>r</a:t>
            </a:r>
            <a:r>
              <a:rPr sz="2900" b="1" spc="-6" dirty="0">
                <a:latin typeface="Times New Roman"/>
                <a:cs typeface="Times New Roman"/>
              </a:rPr>
              <a:t>)</a:t>
            </a:r>
            <a:endParaRPr sz="2900" dirty="0">
              <a:latin typeface="Times New Roman"/>
              <a:cs typeface="Times New Roman"/>
            </a:endParaRPr>
          </a:p>
          <a:p>
            <a:pPr marL="142913">
              <a:spcBef>
                <a:spcPts val="752"/>
              </a:spcBef>
            </a:pPr>
            <a:r>
              <a:rPr sz="2900" b="1" dirty="0">
                <a:latin typeface="宋体"/>
                <a:cs typeface="宋体"/>
              </a:rPr>
              <a:t>输入：数</a:t>
            </a:r>
            <a:r>
              <a:rPr sz="2900" b="1" spc="-12" dirty="0">
                <a:latin typeface="宋体"/>
                <a:cs typeface="宋体"/>
              </a:rPr>
              <a:t>组</a:t>
            </a:r>
            <a:r>
              <a:rPr sz="2900" b="1" spc="-752" dirty="0">
                <a:latin typeface="宋体"/>
                <a:cs typeface="宋体"/>
              </a:rPr>
              <a:t> </a:t>
            </a:r>
            <a:r>
              <a:rPr sz="2900" b="1" i="1" spc="-6" dirty="0">
                <a:latin typeface="Times New Roman"/>
                <a:cs typeface="Times New Roman"/>
              </a:rPr>
              <a:t>A</a:t>
            </a:r>
            <a:r>
              <a:rPr sz="2900" b="1" spc="-6" dirty="0">
                <a:latin typeface="Times New Roman"/>
                <a:cs typeface="Times New Roman"/>
              </a:rPr>
              <a:t>[</a:t>
            </a:r>
            <a:r>
              <a:rPr sz="2900" b="1" i="1" spc="-6" dirty="0">
                <a:latin typeface="Times New Roman"/>
                <a:cs typeface="Times New Roman"/>
              </a:rPr>
              <a:t>p</a:t>
            </a:r>
            <a:r>
              <a:rPr sz="2900" b="1" spc="-6" dirty="0">
                <a:latin typeface="Times New Roman"/>
                <a:cs typeface="Times New Roman"/>
              </a:rPr>
              <a:t>..</a:t>
            </a:r>
            <a:r>
              <a:rPr sz="2900" b="1" i="1" spc="-6" dirty="0">
                <a:latin typeface="Times New Roman"/>
                <a:cs typeface="Times New Roman"/>
              </a:rPr>
              <a:t>r</a:t>
            </a:r>
            <a:r>
              <a:rPr sz="2900" b="1" spc="-6" dirty="0">
                <a:latin typeface="Times New Roman"/>
                <a:cs typeface="Times New Roman"/>
              </a:rPr>
              <a:t>]</a:t>
            </a:r>
            <a:endParaRPr sz="2900" dirty="0">
              <a:latin typeface="Times New Roman"/>
              <a:cs typeface="Times New Roman"/>
            </a:endParaRPr>
          </a:p>
          <a:p>
            <a:pPr marL="142913">
              <a:spcBef>
                <a:spcPts val="704"/>
              </a:spcBef>
            </a:pPr>
            <a:r>
              <a:rPr sz="2900" b="1" spc="-6" dirty="0">
                <a:latin typeface="宋体"/>
                <a:cs typeface="宋体"/>
              </a:rPr>
              <a:t>输出：按递增顺序排序的数</a:t>
            </a:r>
            <a:r>
              <a:rPr sz="2900" b="1" spc="-12" dirty="0">
                <a:latin typeface="宋体"/>
                <a:cs typeface="宋体"/>
              </a:rPr>
              <a:t>组</a:t>
            </a:r>
            <a:r>
              <a:rPr sz="2900" b="1" spc="-789" dirty="0">
                <a:latin typeface="宋体"/>
                <a:cs typeface="宋体"/>
              </a:rPr>
              <a:t> </a:t>
            </a:r>
            <a:r>
              <a:rPr sz="2900" b="1" i="1" dirty="0">
                <a:latin typeface="Times New Roman"/>
                <a:cs typeface="Times New Roman"/>
              </a:rPr>
              <a:t>A</a:t>
            </a:r>
            <a:endParaRPr sz="2900" dirty="0">
              <a:latin typeface="Times New Roman"/>
              <a:cs typeface="Times New Roman"/>
            </a:endParaRPr>
          </a:p>
          <a:p>
            <a:pPr marL="142913">
              <a:spcBef>
                <a:spcPts val="661"/>
              </a:spcBef>
              <a:tabLst>
                <a:tab pos="702149" algn="l"/>
                <a:tab pos="1113806" algn="l"/>
              </a:tabLst>
            </a:pPr>
            <a:r>
              <a:rPr sz="2900" b="1" dirty="0">
                <a:latin typeface="Times New Roman"/>
                <a:cs typeface="Times New Roman"/>
              </a:rPr>
              <a:t>1.	if	</a:t>
            </a:r>
            <a:r>
              <a:rPr sz="2900" b="1" i="1" dirty="0">
                <a:latin typeface="Times New Roman"/>
                <a:cs typeface="Times New Roman"/>
              </a:rPr>
              <a:t>p </a:t>
            </a:r>
            <a:r>
              <a:rPr sz="2900" b="1" dirty="0">
                <a:latin typeface="Times New Roman"/>
                <a:cs typeface="Times New Roman"/>
              </a:rPr>
              <a:t>&lt;</a:t>
            </a:r>
            <a:r>
              <a:rPr sz="2900" b="1" spc="-25" dirty="0">
                <a:latin typeface="Times New Roman"/>
                <a:cs typeface="Times New Roman"/>
              </a:rPr>
              <a:t> </a:t>
            </a:r>
            <a:r>
              <a:rPr sz="2900" b="1" i="1" spc="-6" dirty="0">
                <a:latin typeface="Times New Roman"/>
                <a:cs typeface="Times New Roman"/>
              </a:rPr>
              <a:t>r</a:t>
            </a:r>
            <a:endParaRPr sz="2900" dirty="0">
              <a:latin typeface="Times New Roman"/>
              <a:cs typeface="Times New Roman"/>
            </a:endParaRPr>
          </a:p>
          <a:p>
            <a:pPr marL="142913">
              <a:spcBef>
                <a:spcPts val="722"/>
              </a:spcBef>
              <a:tabLst>
                <a:tab pos="702149" algn="l"/>
              </a:tabLst>
            </a:pPr>
            <a:r>
              <a:rPr sz="2900" b="1" spc="-6" dirty="0">
                <a:latin typeface="Times New Roman"/>
                <a:cs typeface="Times New Roman"/>
              </a:rPr>
              <a:t>2.	</a:t>
            </a:r>
            <a:r>
              <a:rPr sz="2900" b="1" dirty="0">
                <a:latin typeface="Times New Roman"/>
                <a:cs typeface="Times New Roman"/>
              </a:rPr>
              <a:t>then</a:t>
            </a:r>
            <a:r>
              <a:rPr sz="2900" b="1" spc="-25" dirty="0">
                <a:latin typeface="Times New Roman"/>
                <a:cs typeface="Times New Roman"/>
              </a:rPr>
              <a:t> </a:t>
            </a:r>
            <a:r>
              <a:rPr sz="2900" b="1" i="1" dirty="0">
                <a:latin typeface="Times New Roman"/>
                <a:cs typeface="Times New Roman"/>
              </a:rPr>
              <a:t>q</a:t>
            </a:r>
            <a:r>
              <a:rPr sz="2900" b="1" dirty="0">
                <a:latin typeface="Symbol"/>
                <a:cs typeface="Symbol"/>
              </a:rPr>
              <a:t></a:t>
            </a:r>
            <a:r>
              <a:rPr sz="2900" b="1" dirty="0">
                <a:latin typeface="Times New Roman"/>
                <a:cs typeface="Times New Roman"/>
              </a:rPr>
              <a:t>(</a:t>
            </a:r>
            <a:r>
              <a:rPr sz="2900" b="1" i="1" dirty="0">
                <a:latin typeface="Times New Roman"/>
                <a:cs typeface="Times New Roman"/>
              </a:rPr>
              <a:t>p+r</a:t>
            </a:r>
            <a:r>
              <a:rPr sz="2900" b="1" dirty="0">
                <a:latin typeface="Times New Roman"/>
                <a:cs typeface="Times New Roman"/>
              </a:rPr>
              <a:t>)/2</a:t>
            </a:r>
            <a:r>
              <a:rPr sz="2900" b="1" dirty="0">
                <a:latin typeface="Symbol"/>
                <a:cs typeface="Symbol"/>
              </a:rPr>
              <a:t></a:t>
            </a:r>
            <a:endParaRPr sz="2900" dirty="0">
              <a:latin typeface="Symbol"/>
              <a:cs typeface="Symbol"/>
            </a:endParaRPr>
          </a:p>
          <a:p>
            <a:pPr marL="1227206" indent="-1084291">
              <a:spcBef>
                <a:spcPts val="691"/>
              </a:spcBef>
              <a:buAutoNum type="arabicPeriod" startAt="3"/>
              <a:tabLst>
                <a:tab pos="1226429" algn="l"/>
                <a:tab pos="1227206" algn="l"/>
              </a:tabLst>
            </a:pPr>
            <a:r>
              <a:rPr sz="2900" b="1" dirty="0">
                <a:uFill>
                  <a:solidFill>
                    <a:srgbClr val="C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900" b="1" spc="257" dirty="0">
                <a:uFill>
                  <a:solidFill>
                    <a:srgbClr val="C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900" b="1" dirty="0">
                <a:uFill>
                  <a:solidFill>
                    <a:srgbClr val="C00000"/>
                  </a:solidFill>
                </a:uFill>
                <a:latin typeface="Times New Roman"/>
                <a:cs typeface="Times New Roman"/>
              </a:rPr>
              <a:t>MergeSort</a:t>
            </a:r>
            <a:r>
              <a:rPr sz="2900" b="1" dirty="0">
                <a:latin typeface="Times New Roman"/>
                <a:cs typeface="Times New Roman"/>
              </a:rPr>
              <a:t> </a:t>
            </a:r>
            <a:r>
              <a:rPr sz="2900" b="1" spc="-6" dirty="0">
                <a:latin typeface="Times New Roman"/>
                <a:cs typeface="Times New Roman"/>
              </a:rPr>
              <a:t>(</a:t>
            </a:r>
            <a:r>
              <a:rPr sz="2900" b="1" i="1" spc="-6" dirty="0">
                <a:latin typeface="Times New Roman"/>
                <a:cs typeface="Times New Roman"/>
              </a:rPr>
              <a:t>A</a:t>
            </a:r>
            <a:r>
              <a:rPr sz="2900" b="1" spc="-6" dirty="0">
                <a:latin typeface="Times New Roman"/>
                <a:cs typeface="Times New Roman"/>
              </a:rPr>
              <a:t>, </a:t>
            </a:r>
            <a:r>
              <a:rPr sz="2900" b="1" i="1" dirty="0">
                <a:latin typeface="Times New Roman"/>
                <a:cs typeface="Times New Roman"/>
              </a:rPr>
              <a:t>p</a:t>
            </a:r>
            <a:r>
              <a:rPr sz="2900" b="1" dirty="0">
                <a:latin typeface="Times New Roman"/>
                <a:cs typeface="Times New Roman"/>
              </a:rPr>
              <a:t>,</a:t>
            </a:r>
            <a:r>
              <a:rPr sz="2900" b="1" spc="-43" dirty="0">
                <a:latin typeface="Times New Roman"/>
                <a:cs typeface="Times New Roman"/>
              </a:rPr>
              <a:t> </a:t>
            </a:r>
            <a:r>
              <a:rPr sz="2900" b="1" i="1" dirty="0">
                <a:latin typeface="Times New Roman"/>
                <a:cs typeface="Times New Roman"/>
              </a:rPr>
              <a:t>q</a:t>
            </a:r>
            <a:r>
              <a:rPr sz="2900" b="1" dirty="0">
                <a:latin typeface="Times New Roman"/>
                <a:cs typeface="Times New Roman"/>
              </a:rPr>
              <a:t>)</a:t>
            </a:r>
            <a:endParaRPr sz="2900" dirty="0">
              <a:latin typeface="Times New Roman"/>
              <a:cs typeface="Times New Roman"/>
            </a:endParaRPr>
          </a:p>
          <a:p>
            <a:pPr marL="1320411" indent="-1177497">
              <a:spcBef>
                <a:spcPts val="704"/>
              </a:spcBef>
              <a:buAutoNum type="arabicPeriod" startAt="3"/>
              <a:tabLst>
                <a:tab pos="1319635" algn="l"/>
                <a:tab pos="1320411" algn="l"/>
              </a:tabLst>
            </a:pPr>
            <a:r>
              <a:rPr sz="2900" b="1" spc="257" dirty="0">
                <a:uFill>
                  <a:solidFill>
                    <a:srgbClr val="C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900" b="1" dirty="0">
                <a:uFill>
                  <a:solidFill>
                    <a:srgbClr val="C00000"/>
                  </a:solidFill>
                </a:uFill>
                <a:latin typeface="Times New Roman"/>
                <a:cs typeface="Times New Roman"/>
              </a:rPr>
              <a:t>MergeSort </a:t>
            </a:r>
            <a:r>
              <a:rPr sz="2900" b="1" spc="-6" dirty="0">
                <a:uFill>
                  <a:solidFill>
                    <a:srgbClr val="C00000"/>
                  </a:solidFill>
                </a:uFill>
                <a:latin typeface="Times New Roman"/>
                <a:cs typeface="Times New Roman"/>
              </a:rPr>
              <a:t>(</a:t>
            </a:r>
            <a:r>
              <a:rPr sz="2900" b="1" i="1" spc="-6" dirty="0">
                <a:latin typeface="Times New Roman"/>
                <a:cs typeface="Times New Roman"/>
              </a:rPr>
              <a:t>A</a:t>
            </a:r>
            <a:r>
              <a:rPr sz="2900" b="1" spc="-6" dirty="0">
                <a:latin typeface="Times New Roman"/>
                <a:cs typeface="Times New Roman"/>
              </a:rPr>
              <a:t>, </a:t>
            </a:r>
            <a:r>
              <a:rPr sz="2900" b="1" i="1" dirty="0">
                <a:latin typeface="Times New Roman"/>
                <a:cs typeface="Times New Roman"/>
              </a:rPr>
              <a:t>q</a:t>
            </a:r>
            <a:r>
              <a:rPr sz="2900" b="1" dirty="0">
                <a:latin typeface="Times New Roman"/>
                <a:cs typeface="Times New Roman"/>
              </a:rPr>
              <a:t>+1,</a:t>
            </a:r>
            <a:r>
              <a:rPr sz="2900" b="1" spc="-67" dirty="0">
                <a:latin typeface="Times New Roman"/>
                <a:cs typeface="Times New Roman"/>
              </a:rPr>
              <a:t> </a:t>
            </a:r>
            <a:r>
              <a:rPr sz="2900" b="1" i="1" spc="-6" dirty="0">
                <a:latin typeface="Times New Roman"/>
                <a:cs typeface="Times New Roman"/>
              </a:rPr>
              <a:t>r</a:t>
            </a:r>
            <a:r>
              <a:rPr sz="2900" b="1" spc="-6" dirty="0">
                <a:latin typeface="Times New Roman"/>
                <a:cs typeface="Times New Roman"/>
              </a:rPr>
              <a:t>)</a:t>
            </a:r>
            <a:endParaRPr sz="2900" dirty="0">
              <a:latin typeface="Times New Roman"/>
              <a:cs typeface="Times New Roman"/>
            </a:endParaRPr>
          </a:p>
          <a:p>
            <a:pPr marL="1446239" indent="-1303324">
              <a:spcBef>
                <a:spcPts val="709"/>
              </a:spcBef>
              <a:buAutoNum type="arabicPeriod" startAt="3"/>
              <a:tabLst>
                <a:tab pos="1445462" algn="l"/>
                <a:tab pos="1446239" algn="l"/>
              </a:tabLst>
            </a:pPr>
            <a:r>
              <a:rPr sz="2900" b="1" dirty="0">
                <a:latin typeface="Times New Roman"/>
                <a:cs typeface="Times New Roman"/>
              </a:rPr>
              <a:t>Merge (</a:t>
            </a:r>
            <a:r>
              <a:rPr sz="2900" b="1" i="1" dirty="0">
                <a:latin typeface="Times New Roman"/>
                <a:cs typeface="Times New Roman"/>
              </a:rPr>
              <a:t>A</a:t>
            </a:r>
            <a:r>
              <a:rPr sz="2900" b="1" dirty="0">
                <a:latin typeface="Times New Roman"/>
                <a:cs typeface="Times New Roman"/>
              </a:rPr>
              <a:t>, </a:t>
            </a:r>
            <a:r>
              <a:rPr sz="2900" b="1" i="1" dirty="0">
                <a:latin typeface="Times New Roman"/>
                <a:cs typeface="Times New Roman"/>
              </a:rPr>
              <a:t>p</a:t>
            </a:r>
            <a:r>
              <a:rPr sz="2900" b="1" dirty="0">
                <a:latin typeface="Times New Roman"/>
                <a:cs typeface="Times New Roman"/>
              </a:rPr>
              <a:t>, </a:t>
            </a:r>
            <a:r>
              <a:rPr sz="2900" b="1" i="1" dirty="0">
                <a:latin typeface="Times New Roman"/>
                <a:cs typeface="Times New Roman"/>
              </a:rPr>
              <a:t>q</a:t>
            </a:r>
            <a:r>
              <a:rPr sz="2900" b="1" dirty="0">
                <a:latin typeface="Times New Roman"/>
                <a:cs typeface="Times New Roman"/>
              </a:rPr>
              <a:t>,</a:t>
            </a:r>
            <a:r>
              <a:rPr sz="2900" b="1" spc="-55" dirty="0">
                <a:latin typeface="Times New Roman"/>
                <a:cs typeface="Times New Roman"/>
              </a:rPr>
              <a:t> </a:t>
            </a:r>
            <a:r>
              <a:rPr sz="2900" b="1" i="1" spc="-6" dirty="0">
                <a:latin typeface="Times New Roman"/>
                <a:cs typeface="Times New Roman"/>
              </a:rPr>
              <a:t>r</a:t>
            </a:r>
            <a:r>
              <a:rPr sz="2900" b="1" spc="-6" dirty="0">
                <a:latin typeface="Times New Roman"/>
                <a:cs typeface="Times New Roman"/>
              </a:rPr>
              <a:t>)</a:t>
            </a:r>
            <a:endParaRPr sz="2900" dirty="0">
              <a:latin typeface="Times New Roman"/>
              <a:cs typeface="Times New Roman"/>
            </a:endParaRPr>
          </a:p>
        </p:txBody>
      </p:sp>
      <p:sp>
        <p:nvSpPr>
          <p:cNvPr id="4" name="object 39"/>
          <p:cNvSpPr/>
          <p:nvPr/>
        </p:nvSpPr>
        <p:spPr>
          <a:xfrm>
            <a:off x="1006705" y="3442779"/>
            <a:ext cx="2939120" cy="428078"/>
          </a:xfrm>
          <a:custGeom>
            <a:avLst/>
            <a:gdLst/>
            <a:ahLst/>
            <a:cxnLst/>
            <a:rect l="l" t="t" r="r" b="b"/>
            <a:pathLst>
              <a:path w="2895600" h="914400">
                <a:moveTo>
                  <a:pt x="0" y="152400"/>
                </a:moveTo>
                <a:lnTo>
                  <a:pt x="7769" y="104217"/>
                </a:lnTo>
                <a:lnTo>
                  <a:pt x="29405" y="62380"/>
                </a:lnTo>
                <a:lnTo>
                  <a:pt x="62396" y="29394"/>
                </a:lnTo>
                <a:lnTo>
                  <a:pt x="104231" y="7766"/>
                </a:lnTo>
                <a:lnTo>
                  <a:pt x="152400" y="0"/>
                </a:lnTo>
                <a:lnTo>
                  <a:pt x="2743200" y="0"/>
                </a:lnTo>
                <a:lnTo>
                  <a:pt x="2791382" y="7766"/>
                </a:lnTo>
                <a:lnTo>
                  <a:pt x="2833219" y="29394"/>
                </a:lnTo>
                <a:lnTo>
                  <a:pt x="2866205" y="62380"/>
                </a:lnTo>
                <a:lnTo>
                  <a:pt x="2887833" y="104217"/>
                </a:lnTo>
                <a:lnTo>
                  <a:pt x="2895600" y="152400"/>
                </a:lnTo>
                <a:lnTo>
                  <a:pt x="2895600" y="762000"/>
                </a:lnTo>
                <a:lnTo>
                  <a:pt x="2887833" y="810168"/>
                </a:lnTo>
                <a:lnTo>
                  <a:pt x="2866205" y="852003"/>
                </a:lnTo>
                <a:lnTo>
                  <a:pt x="2833219" y="884994"/>
                </a:lnTo>
                <a:lnTo>
                  <a:pt x="2791382" y="906630"/>
                </a:lnTo>
                <a:lnTo>
                  <a:pt x="2743200" y="914400"/>
                </a:lnTo>
                <a:lnTo>
                  <a:pt x="152400" y="914400"/>
                </a:lnTo>
                <a:lnTo>
                  <a:pt x="104231" y="906630"/>
                </a:lnTo>
                <a:lnTo>
                  <a:pt x="62396" y="884994"/>
                </a:lnTo>
                <a:lnTo>
                  <a:pt x="29405" y="852003"/>
                </a:lnTo>
                <a:lnTo>
                  <a:pt x="7769" y="810168"/>
                </a:lnTo>
                <a:lnTo>
                  <a:pt x="0" y="762000"/>
                </a:lnTo>
                <a:lnTo>
                  <a:pt x="0" y="152400"/>
                </a:lnTo>
                <a:close/>
              </a:path>
            </a:pathLst>
          </a:custGeom>
          <a:ln w="2540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39"/>
          <p:cNvSpPr/>
          <p:nvPr/>
        </p:nvSpPr>
        <p:spPr>
          <a:xfrm>
            <a:off x="1826512" y="4044319"/>
            <a:ext cx="3079668" cy="379304"/>
          </a:xfrm>
          <a:custGeom>
            <a:avLst/>
            <a:gdLst/>
            <a:ahLst/>
            <a:cxnLst/>
            <a:rect l="l" t="t" r="r" b="b"/>
            <a:pathLst>
              <a:path w="2895600" h="914400">
                <a:moveTo>
                  <a:pt x="0" y="152400"/>
                </a:moveTo>
                <a:lnTo>
                  <a:pt x="7769" y="104217"/>
                </a:lnTo>
                <a:lnTo>
                  <a:pt x="29405" y="62380"/>
                </a:lnTo>
                <a:lnTo>
                  <a:pt x="62396" y="29394"/>
                </a:lnTo>
                <a:lnTo>
                  <a:pt x="104231" y="7766"/>
                </a:lnTo>
                <a:lnTo>
                  <a:pt x="152400" y="0"/>
                </a:lnTo>
                <a:lnTo>
                  <a:pt x="2743200" y="0"/>
                </a:lnTo>
                <a:lnTo>
                  <a:pt x="2791382" y="7766"/>
                </a:lnTo>
                <a:lnTo>
                  <a:pt x="2833219" y="29394"/>
                </a:lnTo>
                <a:lnTo>
                  <a:pt x="2866205" y="62380"/>
                </a:lnTo>
                <a:lnTo>
                  <a:pt x="2887833" y="104217"/>
                </a:lnTo>
                <a:lnTo>
                  <a:pt x="2895600" y="152400"/>
                </a:lnTo>
                <a:lnTo>
                  <a:pt x="2895600" y="762000"/>
                </a:lnTo>
                <a:lnTo>
                  <a:pt x="2887833" y="810168"/>
                </a:lnTo>
                <a:lnTo>
                  <a:pt x="2866205" y="852003"/>
                </a:lnTo>
                <a:lnTo>
                  <a:pt x="2833219" y="884994"/>
                </a:lnTo>
                <a:lnTo>
                  <a:pt x="2791382" y="906630"/>
                </a:lnTo>
                <a:lnTo>
                  <a:pt x="2743200" y="914400"/>
                </a:lnTo>
                <a:lnTo>
                  <a:pt x="152400" y="914400"/>
                </a:lnTo>
                <a:lnTo>
                  <a:pt x="104231" y="906630"/>
                </a:lnTo>
                <a:lnTo>
                  <a:pt x="62396" y="884994"/>
                </a:lnTo>
                <a:lnTo>
                  <a:pt x="29405" y="852003"/>
                </a:lnTo>
                <a:lnTo>
                  <a:pt x="7769" y="810168"/>
                </a:lnTo>
                <a:lnTo>
                  <a:pt x="0" y="762000"/>
                </a:lnTo>
                <a:lnTo>
                  <a:pt x="0" y="152400"/>
                </a:lnTo>
                <a:close/>
              </a:path>
            </a:pathLst>
          </a:custGeom>
          <a:ln w="2540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39"/>
          <p:cNvSpPr/>
          <p:nvPr/>
        </p:nvSpPr>
        <p:spPr>
          <a:xfrm>
            <a:off x="1816002" y="4555045"/>
            <a:ext cx="3447530" cy="401222"/>
          </a:xfrm>
          <a:custGeom>
            <a:avLst/>
            <a:gdLst/>
            <a:ahLst/>
            <a:cxnLst/>
            <a:rect l="l" t="t" r="r" b="b"/>
            <a:pathLst>
              <a:path w="2895600" h="914400">
                <a:moveTo>
                  <a:pt x="0" y="152400"/>
                </a:moveTo>
                <a:lnTo>
                  <a:pt x="7769" y="104217"/>
                </a:lnTo>
                <a:lnTo>
                  <a:pt x="29405" y="62380"/>
                </a:lnTo>
                <a:lnTo>
                  <a:pt x="62396" y="29394"/>
                </a:lnTo>
                <a:lnTo>
                  <a:pt x="104231" y="7766"/>
                </a:lnTo>
                <a:lnTo>
                  <a:pt x="152400" y="0"/>
                </a:lnTo>
                <a:lnTo>
                  <a:pt x="2743200" y="0"/>
                </a:lnTo>
                <a:lnTo>
                  <a:pt x="2791382" y="7766"/>
                </a:lnTo>
                <a:lnTo>
                  <a:pt x="2833219" y="29394"/>
                </a:lnTo>
                <a:lnTo>
                  <a:pt x="2866205" y="62380"/>
                </a:lnTo>
                <a:lnTo>
                  <a:pt x="2887833" y="104217"/>
                </a:lnTo>
                <a:lnTo>
                  <a:pt x="2895600" y="152400"/>
                </a:lnTo>
                <a:lnTo>
                  <a:pt x="2895600" y="762000"/>
                </a:lnTo>
                <a:lnTo>
                  <a:pt x="2887833" y="810168"/>
                </a:lnTo>
                <a:lnTo>
                  <a:pt x="2866205" y="852003"/>
                </a:lnTo>
                <a:lnTo>
                  <a:pt x="2833219" y="884994"/>
                </a:lnTo>
                <a:lnTo>
                  <a:pt x="2791382" y="906630"/>
                </a:lnTo>
                <a:lnTo>
                  <a:pt x="2743200" y="914400"/>
                </a:lnTo>
                <a:lnTo>
                  <a:pt x="152400" y="914400"/>
                </a:lnTo>
                <a:lnTo>
                  <a:pt x="104231" y="906630"/>
                </a:lnTo>
                <a:lnTo>
                  <a:pt x="62396" y="884994"/>
                </a:lnTo>
                <a:lnTo>
                  <a:pt x="29405" y="852003"/>
                </a:lnTo>
                <a:lnTo>
                  <a:pt x="7769" y="810168"/>
                </a:lnTo>
                <a:lnTo>
                  <a:pt x="0" y="762000"/>
                </a:lnTo>
                <a:lnTo>
                  <a:pt x="0" y="152400"/>
                </a:lnTo>
                <a:close/>
              </a:path>
            </a:pathLst>
          </a:custGeom>
          <a:ln w="2540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39"/>
          <p:cNvSpPr/>
          <p:nvPr/>
        </p:nvSpPr>
        <p:spPr>
          <a:xfrm>
            <a:off x="1816002" y="5087689"/>
            <a:ext cx="2869461" cy="401222"/>
          </a:xfrm>
          <a:custGeom>
            <a:avLst/>
            <a:gdLst/>
            <a:ahLst/>
            <a:cxnLst/>
            <a:rect l="l" t="t" r="r" b="b"/>
            <a:pathLst>
              <a:path w="2895600" h="914400">
                <a:moveTo>
                  <a:pt x="0" y="152400"/>
                </a:moveTo>
                <a:lnTo>
                  <a:pt x="7769" y="104217"/>
                </a:lnTo>
                <a:lnTo>
                  <a:pt x="29405" y="62380"/>
                </a:lnTo>
                <a:lnTo>
                  <a:pt x="62396" y="29394"/>
                </a:lnTo>
                <a:lnTo>
                  <a:pt x="104231" y="7766"/>
                </a:lnTo>
                <a:lnTo>
                  <a:pt x="152400" y="0"/>
                </a:lnTo>
                <a:lnTo>
                  <a:pt x="2743200" y="0"/>
                </a:lnTo>
                <a:lnTo>
                  <a:pt x="2791382" y="7766"/>
                </a:lnTo>
                <a:lnTo>
                  <a:pt x="2833219" y="29394"/>
                </a:lnTo>
                <a:lnTo>
                  <a:pt x="2866205" y="62380"/>
                </a:lnTo>
                <a:lnTo>
                  <a:pt x="2887833" y="104217"/>
                </a:lnTo>
                <a:lnTo>
                  <a:pt x="2895600" y="152400"/>
                </a:lnTo>
                <a:lnTo>
                  <a:pt x="2895600" y="762000"/>
                </a:lnTo>
                <a:lnTo>
                  <a:pt x="2887833" y="810168"/>
                </a:lnTo>
                <a:lnTo>
                  <a:pt x="2866205" y="852003"/>
                </a:lnTo>
                <a:lnTo>
                  <a:pt x="2833219" y="884994"/>
                </a:lnTo>
                <a:lnTo>
                  <a:pt x="2791382" y="906630"/>
                </a:lnTo>
                <a:lnTo>
                  <a:pt x="2743200" y="914400"/>
                </a:lnTo>
                <a:lnTo>
                  <a:pt x="152400" y="914400"/>
                </a:lnTo>
                <a:lnTo>
                  <a:pt x="104231" y="906630"/>
                </a:lnTo>
                <a:lnTo>
                  <a:pt x="62396" y="884994"/>
                </a:lnTo>
                <a:lnTo>
                  <a:pt x="29405" y="852003"/>
                </a:lnTo>
                <a:lnTo>
                  <a:pt x="7769" y="810168"/>
                </a:lnTo>
                <a:lnTo>
                  <a:pt x="0" y="762000"/>
                </a:lnTo>
                <a:lnTo>
                  <a:pt x="0" y="152400"/>
                </a:lnTo>
                <a:close/>
              </a:path>
            </a:pathLst>
          </a:custGeom>
          <a:ln w="2540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931968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382554" y="269556"/>
            <a:ext cx="8948057" cy="624300"/>
          </a:xfrm>
          <a:prstGeom prst="rect">
            <a:avLst/>
          </a:prstGeom>
        </p:spPr>
        <p:txBody>
          <a:bodyPr vert="horz" wrap="square" lIns="0" tIns="14758" rIns="0" bIns="0" rtlCol="0" anchor="ctr">
            <a:spAutoFit/>
          </a:bodyPr>
          <a:lstStyle/>
          <a:p>
            <a:pPr marL="15534" algn="ctr"/>
            <a:r>
              <a:rPr sz="4400" b="1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  <a:cs typeface="宋体"/>
              </a:rPr>
              <a:t>换</a:t>
            </a:r>
            <a:r>
              <a:rPr lang="en-US" sz="4400" b="1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  <a:cs typeface="宋体"/>
              </a:rPr>
              <a:t> </a:t>
            </a:r>
            <a:r>
              <a:rPr sz="4400" b="1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  <a:cs typeface="宋体"/>
              </a:rPr>
              <a:t>元</a:t>
            </a:r>
          </a:p>
        </p:txBody>
      </p:sp>
      <p:sp>
        <p:nvSpPr>
          <p:cNvPr id="3" name="object 3"/>
          <p:cNvSpPr/>
          <p:nvPr/>
        </p:nvSpPr>
        <p:spPr>
          <a:xfrm>
            <a:off x="1042898" y="4677518"/>
            <a:ext cx="3456793" cy="58164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200"/>
          </a:p>
        </p:txBody>
      </p:sp>
      <p:sp>
        <p:nvSpPr>
          <p:cNvPr id="4" name="object 4"/>
          <p:cNvSpPr txBox="1"/>
          <p:nvPr/>
        </p:nvSpPr>
        <p:spPr>
          <a:xfrm>
            <a:off x="394497" y="1216933"/>
            <a:ext cx="8889462" cy="3652308"/>
          </a:xfrm>
          <a:prstGeom prst="rect">
            <a:avLst/>
          </a:prstGeom>
        </p:spPr>
        <p:txBody>
          <a:bodyPr vert="horz" wrap="square" lIns="0" tIns="14758" rIns="0" bIns="0" rtlCol="0">
            <a:spAutoFit/>
          </a:bodyPr>
          <a:lstStyle/>
          <a:p>
            <a:pPr marL="914967" marR="202722" indent="-838072">
              <a:lnSpc>
                <a:spcPct val="120200"/>
              </a:lnSpc>
              <a:spcBef>
                <a:spcPts val="117"/>
              </a:spcBef>
              <a:tabLst>
                <a:tab pos="1928578" algn="l"/>
              </a:tabLst>
            </a:pPr>
            <a:r>
              <a:rPr sz="3200" b="1" spc="-6" dirty="0">
                <a:latin typeface="宋体"/>
                <a:cs typeface="宋体"/>
              </a:rPr>
              <a:t>假</a:t>
            </a:r>
            <a:r>
              <a:rPr sz="3200" b="1" spc="-12" dirty="0">
                <a:latin typeface="宋体"/>
                <a:cs typeface="宋体"/>
              </a:rPr>
              <a:t>设</a:t>
            </a:r>
            <a:r>
              <a:rPr sz="3200" b="1" spc="-746" dirty="0">
                <a:latin typeface="宋体"/>
                <a:cs typeface="宋体"/>
              </a:rPr>
              <a:t> </a:t>
            </a:r>
            <a:r>
              <a:rPr sz="3200" b="1" i="1" spc="-6" dirty="0">
                <a:latin typeface="Times New Roman"/>
                <a:cs typeface="Times New Roman"/>
              </a:rPr>
              <a:t>n</a:t>
            </a:r>
            <a:r>
              <a:rPr sz="3200" b="1" spc="-6" dirty="0">
                <a:latin typeface="Times New Roman"/>
                <a:cs typeface="Times New Roman"/>
              </a:rPr>
              <a:t>=2</a:t>
            </a:r>
            <a:r>
              <a:rPr sz="3200" b="1" i="1" baseline="24305" dirty="0">
                <a:latin typeface="Times New Roman"/>
                <a:cs typeface="Times New Roman"/>
              </a:rPr>
              <a:t>k</a:t>
            </a:r>
            <a:r>
              <a:rPr sz="3200" b="1" dirty="0">
                <a:latin typeface="Times New Roman"/>
                <a:cs typeface="Times New Roman"/>
              </a:rPr>
              <a:t>,	</a:t>
            </a:r>
            <a:r>
              <a:rPr sz="3200" b="1" spc="-6" dirty="0">
                <a:latin typeface="宋体"/>
                <a:cs typeface="宋体"/>
              </a:rPr>
              <a:t>递推方程如下：  </a:t>
            </a:r>
            <a:endParaRPr lang="en-US" sz="3200" b="1" spc="-6" dirty="0" smtClean="0">
              <a:latin typeface="宋体"/>
              <a:cs typeface="宋体"/>
            </a:endParaRPr>
          </a:p>
          <a:p>
            <a:pPr marL="914967" marR="202722" indent="-838072">
              <a:lnSpc>
                <a:spcPct val="120200"/>
              </a:lnSpc>
              <a:spcBef>
                <a:spcPts val="117"/>
              </a:spcBef>
              <a:tabLst>
                <a:tab pos="1928578" algn="l"/>
              </a:tabLst>
            </a:pPr>
            <a:r>
              <a:rPr lang="en-US" sz="3200" b="1" i="1" spc="-6" dirty="0">
                <a:latin typeface="宋体"/>
                <a:cs typeface="Times New Roman"/>
              </a:rPr>
              <a:t> </a:t>
            </a:r>
            <a:r>
              <a:rPr lang="en-US" sz="3200" b="1" i="1" spc="-6" dirty="0" smtClean="0">
                <a:latin typeface="宋体"/>
                <a:cs typeface="Times New Roman"/>
              </a:rPr>
              <a:t>             </a:t>
            </a:r>
            <a:r>
              <a:rPr sz="3200" b="1" i="1" dirty="0" smtClean="0">
                <a:latin typeface="Times New Roman"/>
                <a:cs typeface="Times New Roman"/>
              </a:rPr>
              <a:t>W</a:t>
            </a:r>
            <a:r>
              <a:rPr sz="3200" b="1" dirty="0" smtClean="0">
                <a:latin typeface="Times New Roman"/>
                <a:cs typeface="Times New Roman"/>
              </a:rPr>
              <a:t>(</a:t>
            </a:r>
            <a:r>
              <a:rPr sz="3200" b="1" i="1" dirty="0" smtClean="0">
                <a:latin typeface="Times New Roman"/>
                <a:cs typeface="Times New Roman"/>
              </a:rPr>
              <a:t>n</a:t>
            </a:r>
            <a:r>
              <a:rPr sz="3200" b="1" dirty="0">
                <a:latin typeface="Times New Roman"/>
                <a:cs typeface="Times New Roman"/>
              </a:rPr>
              <a:t>)=</a:t>
            </a:r>
            <a:r>
              <a:rPr sz="3200" b="1" dirty="0">
                <a:solidFill>
                  <a:srgbClr val="0000FF"/>
                </a:solidFill>
                <a:latin typeface="Times New Roman"/>
                <a:cs typeface="Times New Roman"/>
              </a:rPr>
              <a:t>2</a:t>
            </a:r>
            <a:r>
              <a:rPr sz="3200" b="1" i="1" dirty="0">
                <a:solidFill>
                  <a:srgbClr val="0000FF"/>
                </a:solidFill>
                <a:latin typeface="Times New Roman"/>
                <a:cs typeface="Times New Roman"/>
              </a:rPr>
              <a:t>W</a:t>
            </a:r>
            <a:r>
              <a:rPr sz="3200" b="1" dirty="0">
                <a:solidFill>
                  <a:srgbClr val="0000FF"/>
                </a:solidFill>
                <a:latin typeface="Times New Roman"/>
                <a:cs typeface="Times New Roman"/>
              </a:rPr>
              <a:t>(</a:t>
            </a:r>
            <a:r>
              <a:rPr sz="3200" b="1" i="1" dirty="0">
                <a:solidFill>
                  <a:srgbClr val="0000FF"/>
                </a:solidFill>
                <a:latin typeface="Times New Roman"/>
                <a:cs typeface="Times New Roman"/>
              </a:rPr>
              <a:t>n</a:t>
            </a:r>
            <a:r>
              <a:rPr sz="3200" b="1" dirty="0">
                <a:solidFill>
                  <a:srgbClr val="0000FF"/>
                </a:solidFill>
                <a:latin typeface="Times New Roman"/>
                <a:cs typeface="Times New Roman"/>
              </a:rPr>
              <a:t>/2)</a:t>
            </a:r>
            <a:r>
              <a:rPr sz="3200" b="1" dirty="0">
                <a:latin typeface="Times New Roman"/>
                <a:cs typeface="Times New Roman"/>
              </a:rPr>
              <a:t>+</a:t>
            </a:r>
            <a:r>
              <a:rPr sz="3200" b="1" i="1" dirty="0">
                <a:solidFill>
                  <a:srgbClr val="FF0000"/>
                </a:solidFill>
                <a:latin typeface="Times New Roman"/>
                <a:cs typeface="Times New Roman"/>
              </a:rPr>
              <a:t>n</a:t>
            </a:r>
            <a:r>
              <a:rPr sz="3200" b="1" dirty="0">
                <a:solidFill>
                  <a:srgbClr val="FF0000"/>
                </a:solidFill>
                <a:latin typeface="Symbol"/>
                <a:cs typeface="Symbol"/>
              </a:rPr>
              <a:t></a:t>
            </a:r>
            <a:r>
              <a:rPr sz="3200" b="1" dirty="0">
                <a:solidFill>
                  <a:srgbClr val="FF0000"/>
                </a:solidFill>
                <a:latin typeface="Times New Roman"/>
                <a:cs typeface="Times New Roman"/>
              </a:rPr>
              <a:t>1</a:t>
            </a:r>
            <a:r>
              <a:rPr sz="3200" b="1" dirty="0">
                <a:latin typeface="Times New Roman"/>
                <a:cs typeface="Times New Roman"/>
              </a:rPr>
              <a:t> </a:t>
            </a:r>
            <a:endParaRPr lang="en-US" sz="3200" b="1" dirty="0" smtClean="0">
              <a:latin typeface="Times New Roman"/>
              <a:cs typeface="Times New Roman"/>
            </a:endParaRPr>
          </a:p>
          <a:p>
            <a:pPr marL="914967" marR="202722" indent="-838072">
              <a:lnSpc>
                <a:spcPct val="120200"/>
              </a:lnSpc>
              <a:spcBef>
                <a:spcPts val="117"/>
              </a:spcBef>
              <a:tabLst>
                <a:tab pos="1928578" algn="l"/>
              </a:tabLst>
            </a:pPr>
            <a:r>
              <a:rPr lang="en-US" sz="3200" b="1" dirty="0">
                <a:latin typeface="Times New Roman"/>
                <a:cs typeface="Times New Roman"/>
              </a:rPr>
              <a:t> </a:t>
            </a:r>
            <a:r>
              <a:rPr lang="en-US" sz="3200" b="1" dirty="0" smtClean="0">
                <a:latin typeface="Times New Roman"/>
                <a:cs typeface="Times New Roman"/>
              </a:rPr>
              <a:t>                          </a:t>
            </a:r>
            <a:r>
              <a:rPr sz="3200" b="1" dirty="0" smtClean="0">
                <a:latin typeface="Times New Roman"/>
                <a:cs typeface="Times New Roman"/>
              </a:rPr>
              <a:t> </a:t>
            </a:r>
            <a:r>
              <a:rPr sz="3200" b="1" i="1" dirty="0">
                <a:latin typeface="Times New Roman"/>
                <a:cs typeface="Times New Roman"/>
              </a:rPr>
              <a:t>W</a:t>
            </a:r>
            <a:r>
              <a:rPr sz="3200" b="1" dirty="0">
                <a:latin typeface="Times New Roman"/>
                <a:cs typeface="Times New Roman"/>
              </a:rPr>
              <a:t>(1)=0</a:t>
            </a:r>
            <a:endParaRPr sz="3200" dirty="0">
              <a:latin typeface="Times New Roman"/>
              <a:cs typeface="Times New Roman"/>
            </a:endParaRPr>
          </a:p>
          <a:p>
            <a:pPr>
              <a:spcBef>
                <a:spcPts val="6"/>
              </a:spcBef>
            </a:pPr>
            <a:endParaRPr sz="3200" dirty="0">
              <a:latin typeface="Times New Roman"/>
              <a:cs typeface="Times New Roman"/>
            </a:endParaRPr>
          </a:p>
          <a:p>
            <a:pPr marL="77672">
              <a:lnSpc>
                <a:spcPts val="3511"/>
              </a:lnSpc>
            </a:pPr>
            <a:r>
              <a:rPr sz="3200" b="1" spc="-6" dirty="0">
                <a:latin typeface="宋体"/>
                <a:cs typeface="宋体"/>
              </a:rPr>
              <a:t>换元：</a:t>
            </a:r>
            <a:endParaRPr sz="3200" dirty="0">
              <a:latin typeface="宋体"/>
              <a:cs typeface="宋体"/>
            </a:endParaRPr>
          </a:p>
          <a:p>
            <a:pPr marL="1007395">
              <a:lnSpc>
                <a:spcPts val="3498"/>
              </a:lnSpc>
            </a:pPr>
            <a:r>
              <a:rPr lang="en-US" sz="3200" b="1" i="1" dirty="0" smtClean="0">
                <a:latin typeface="Times New Roman"/>
                <a:cs typeface="Times New Roman"/>
              </a:rPr>
              <a:t>            </a:t>
            </a:r>
            <a:r>
              <a:rPr sz="3200" b="1" i="1" dirty="0" smtClean="0">
                <a:latin typeface="Times New Roman"/>
                <a:cs typeface="Times New Roman"/>
              </a:rPr>
              <a:t>W</a:t>
            </a:r>
            <a:r>
              <a:rPr sz="3200" b="1" dirty="0" smtClean="0">
                <a:latin typeface="Times New Roman"/>
                <a:cs typeface="Times New Roman"/>
              </a:rPr>
              <a:t>(2</a:t>
            </a:r>
            <a:r>
              <a:rPr sz="3200" b="1" i="1" baseline="24305" dirty="0" smtClean="0">
                <a:latin typeface="Times New Roman"/>
                <a:cs typeface="Times New Roman"/>
              </a:rPr>
              <a:t>k</a:t>
            </a:r>
            <a:r>
              <a:rPr sz="3200" b="1" dirty="0">
                <a:latin typeface="Times New Roman"/>
                <a:cs typeface="Times New Roman"/>
              </a:rPr>
              <a:t>) = </a:t>
            </a:r>
            <a:r>
              <a:rPr sz="3200" b="1" spc="-6" dirty="0">
                <a:solidFill>
                  <a:srgbClr val="0000FF"/>
                </a:solidFill>
                <a:latin typeface="Times New Roman"/>
                <a:cs typeface="Times New Roman"/>
              </a:rPr>
              <a:t>2</a:t>
            </a:r>
            <a:r>
              <a:rPr sz="3200" b="1" i="1" spc="-6" dirty="0">
                <a:solidFill>
                  <a:srgbClr val="0000FF"/>
                </a:solidFill>
                <a:latin typeface="Times New Roman"/>
                <a:cs typeface="Times New Roman"/>
              </a:rPr>
              <a:t>W</a:t>
            </a:r>
            <a:r>
              <a:rPr sz="3200" b="1" spc="-6" dirty="0">
                <a:solidFill>
                  <a:srgbClr val="0000FF"/>
                </a:solidFill>
                <a:latin typeface="Times New Roman"/>
                <a:cs typeface="Times New Roman"/>
              </a:rPr>
              <a:t>(2</a:t>
            </a:r>
            <a:r>
              <a:rPr sz="3200" b="1" i="1" spc="-8" baseline="24305" dirty="0">
                <a:solidFill>
                  <a:srgbClr val="0000FF"/>
                </a:solidFill>
                <a:latin typeface="Times New Roman"/>
                <a:cs typeface="Times New Roman"/>
              </a:rPr>
              <a:t>k</a:t>
            </a:r>
            <a:r>
              <a:rPr sz="3200" b="1" spc="-8" baseline="24305" dirty="0">
                <a:solidFill>
                  <a:srgbClr val="0000FF"/>
                </a:solidFill>
                <a:latin typeface="Times New Roman"/>
                <a:cs typeface="Times New Roman"/>
              </a:rPr>
              <a:t>-1</a:t>
            </a:r>
            <a:r>
              <a:rPr sz="3200" b="1" spc="-6" dirty="0">
                <a:solidFill>
                  <a:srgbClr val="0000FF"/>
                </a:solidFill>
                <a:latin typeface="Times New Roman"/>
                <a:cs typeface="Times New Roman"/>
              </a:rPr>
              <a:t>) </a:t>
            </a:r>
            <a:r>
              <a:rPr sz="3200" b="1" dirty="0">
                <a:latin typeface="Times New Roman"/>
                <a:cs typeface="Times New Roman"/>
              </a:rPr>
              <a:t>+</a:t>
            </a:r>
            <a:r>
              <a:rPr sz="3200" b="1" spc="-61" dirty="0">
                <a:latin typeface="Times New Roman"/>
                <a:cs typeface="Times New Roman"/>
              </a:rPr>
              <a:t> </a:t>
            </a:r>
            <a:r>
              <a:rPr sz="3200" b="1" dirty="0">
                <a:solidFill>
                  <a:srgbClr val="FF0000"/>
                </a:solidFill>
                <a:latin typeface="Times New Roman"/>
                <a:cs typeface="Times New Roman"/>
              </a:rPr>
              <a:t>2</a:t>
            </a:r>
            <a:r>
              <a:rPr sz="3200" b="1" i="1" baseline="24305" dirty="0">
                <a:solidFill>
                  <a:srgbClr val="FF0000"/>
                </a:solidFill>
                <a:latin typeface="Times New Roman"/>
                <a:cs typeface="Times New Roman"/>
              </a:rPr>
              <a:t>k</a:t>
            </a:r>
            <a:r>
              <a:rPr sz="3200" b="1" dirty="0">
                <a:solidFill>
                  <a:srgbClr val="FF0000"/>
                </a:solidFill>
                <a:latin typeface="Symbol"/>
                <a:cs typeface="Symbol"/>
              </a:rPr>
              <a:t></a:t>
            </a:r>
            <a:r>
              <a:rPr sz="3200" b="1" dirty="0">
                <a:solidFill>
                  <a:srgbClr val="FF0000"/>
                </a:solidFill>
                <a:latin typeface="Times New Roman"/>
                <a:cs typeface="Times New Roman"/>
              </a:rPr>
              <a:t>1</a:t>
            </a:r>
            <a:endParaRPr sz="3200" dirty="0">
              <a:solidFill>
                <a:srgbClr val="FF0000"/>
              </a:solidFill>
              <a:latin typeface="Times New Roman"/>
              <a:cs typeface="Times New Roman"/>
            </a:endParaRPr>
          </a:p>
          <a:p>
            <a:pPr marL="1007395">
              <a:lnSpc>
                <a:spcPts val="3516"/>
              </a:lnSpc>
            </a:pPr>
            <a:r>
              <a:rPr lang="en-US" sz="3200" b="1" i="1" spc="-6" dirty="0" smtClean="0">
                <a:latin typeface="Times New Roman"/>
                <a:cs typeface="Times New Roman"/>
              </a:rPr>
              <a:t>            </a:t>
            </a:r>
            <a:r>
              <a:rPr sz="3200" b="1" i="1" spc="-6" dirty="0" smtClean="0">
                <a:latin typeface="Times New Roman"/>
                <a:cs typeface="Times New Roman"/>
              </a:rPr>
              <a:t>W</a:t>
            </a:r>
            <a:r>
              <a:rPr sz="3200" b="1" spc="-6" dirty="0" smtClean="0">
                <a:latin typeface="Times New Roman"/>
                <a:cs typeface="Times New Roman"/>
              </a:rPr>
              <a:t>(0</a:t>
            </a:r>
            <a:r>
              <a:rPr sz="3200" b="1" spc="-6" dirty="0">
                <a:latin typeface="Times New Roman"/>
                <a:cs typeface="Times New Roman"/>
              </a:rPr>
              <a:t>) </a:t>
            </a:r>
            <a:r>
              <a:rPr sz="3200" b="1" dirty="0">
                <a:latin typeface="Times New Roman"/>
                <a:cs typeface="Times New Roman"/>
              </a:rPr>
              <a:t>=</a:t>
            </a:r>
            <a:r>
              <a:rPr sz="3200" b="1" spc="-12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0</a:t>
            </a:r>
            <a:endParaRPr sz="32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7071024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424985" y="3506770"/>
            <a:ext cx="8282000" cy="2297840"/>
          </a:xfrm>
          <a:prstGeom prst="rect">
            <a:avLst/>
          </a:prstGeom>
        </p:spPr>
        <p:txBody>
          <a:bodyPr vert="horz" wrap="square" lIns="0" tIns="162337" rIns="0" bIns="0" rtlCol="0">
            <a:spAutoFit/>
          </a:bodyPr>
          <a:lstStyle/>
          <a:p>
            <a:pPr marL="46603">
              <a:spcBef>
                <a:spcPts val="1278"/>
              </a:spcBef>
            </a:pPr>
            <a:r>
              <a:rPr sz="2800" spc="18" dirty="0">
                <a:latin typeface="Symbol"/>
                <a:cs typeface="Symbol"/>
              </a:rPr>
              <a:t>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b="1" spc="80" dirty="0">
                <a:latin typeface="Times New Roman"/>
                <a:cs typeface="Times New Roman"/>
              </a:rPr>
              <a:t>...</a:t>
            </a:r>
            <a:endParaRPr sz="2800" dirty="0">
              <a:latin typeface="Times New Roman"/>
              <a:cs typeface="Times New Roman"/>
            </a:endParaRPr>
          </a:p>
          <a:p>
            <a:pPr marL="46603">
              <a:spcBef>
                <a:spcPts val="1168"/>
              </a:spcBef>
            </a:pPr>
            <a:r>
              <a:rPr sz="2800" spc="18" dirty="0">
                <a:latin typeface="Symbol"/>
                <a:cs typeface="Symbol"/>
              </a:rPr>
              <a:t></a:t>
            </a:r>
            <a:r>
              <a:rPr sz="2800" spc="-6" dirty="0">
                <a:latin typeface="Times New Roman"/>
                <a:cs typeface="Times New Roman"/>
              </a:rPr>
              <a:t> </a:t>
            </a:r>
            <a:r>
              <a:rPr sz="2800" b="1" spc="61" dirty="0">
                <a:latin typeface="Times New Roman"/>
                <a:cs typeface="Times New Roman"/>
              </a:rPr>
              <a:t>2</a:t>
            </a:r>
            <a:r>
              <a:rPr sz="2800" b="1" i="1" spc="92" baseline="44444" dirty="0">
                <a:latin typeface="Times New Roman"/>
                <a:cs typeface="Times New Roman"/>
              </a:rPr>
              <a:t>k</a:t>
            </a:r>
            <a:r>
              <a:rPr sz="2800" b="1" i="1" spc="-275" baseline="44444" dirty="0">
                <a:latin typeface="Times New Roman"/>
                <a:cs typeface="Times New Roman"/>
              </a:rPr>
              <a:t> </a:t>
            </a:r>
            <a:r>
              <a:rPr sz="2800" b="1" i="1" spc="37" dirty="0">
                <a:solidFill>
                  <a:srgbClr val="FF0000"/>
                </a:solidFill>
                <a:latin typeface="Times New Roman"/>
                <a:cs typeface="Times New Roman"/>
              </a:rPr>
              <a:t>W</a:t>
            </a:r>
            <a:r>
              <a:rPr sz="2800" b="1" i="1" spc="-239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b="1" spc="55" dirty="0">
                <a:solidFill>
                  <a:srgbClr val="FF0000"/>
                </a:solidFill>
                <a:latin typeface="Times New Roman"/>
                <a:cs typeface="Times New Roman"/>
              </a:rPr>
              <a:t>(1)</a:t>
            </a:r>
            <a:r>
              <a:rPr sz="2800" b="1" spc="-422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spc="18" dirty="0">
                <a:latin typeface="Symbol"/>
                <a:cs typeface="Symbol"/>
              </a:rPr>
              <a:t></a:t>
            </a:r>
            <a:r>
              <a:rPr sz="2800" spc="-122" dirty="0">
                <a:latin typeface="Times New Roman"/>
                <a:cs typeface="Times New Roman"/>
              </a:rPr>
              <a:t> </a:t>
            </a:r>
            <a:r>
              <a:rPr sz="2800" b="1" i="1" spc="18" dirty="0">
                <a:latin typeface="Times New Roman"/>
                <a:cs typeface="Times New Roman"/>
              </a:rPr>
              <a:t>k</a:t>
            </a:r>
            <a:r>
              <a:rPr sz="2800" b="1" i="1" spc="-428" dirty="0">
                <a:latin typeface="Times New Roman"/>
                <a:cs typeface="Times New Roman"/>
              </a:rPr>
              <a:t> </a:t>
            </a:r>
            <a:r>
              <a:rPr sz="2800" b="1" spc="6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sz="2800" b="1" i="1" spc="92" baseline="44444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sz="2800" b="1" i="1" spc="92" baseline="44444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800" spc="18" dirty="0">
                <a:solidFill>
                  <a:srgbClr val="0000FF"/>
                </a:solidFill>
                <a:latin typeface="Symbol"/>
                <a:cs typeface="Symbol"/>
              </a:rPr>
              <a:t></a:t>
            </a:r>
            <a:r>
              <a:rPr lang="en-US" altLang="zh-CN" sz="2800" b="1" spc="18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</a:t>
            </a:r>
            <a:r>
              <a:rPr lang="en-US" altLang="zh-CN" sz="2800" b="1" i="1" spc="18" baseline="30000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k-1</a:t>
            </a:r>
            <a:r>
              <a:rPr lang="en-US" altLang="zh-CN" sz="2800" b="1" spc="18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+2</a:t>
            </a:r>
            <a:r>
              <a:rPr lang="en-US" altLang="zh-CN" sz="2800" b="1" i="1" spc="18" baseline="30000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k-2</a:t>
            </a:r>
            <a:r>
              <a:rPr lang="en-US" altLang="zh-CN" sz="2800" b="1" spc="18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b="1" spc="80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r>
              <a:rPr lang="en-US" altLang="zh-CN" sz="2800" b="1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+2+1</a:t>
            </a:r>
            <a:r>
              <a:rPr lang="en-US" altLang="zh-CN" sz="2800" b="1" spc="18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800" b="1" spc="18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sz="28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6603">
              <a:spcBef>
                <a:spcPts val="1168"/>
              </a:spcBef>
            </a:pPr>
            <a:r>
              <a:rPr sz="2800" spc="18" dirty="0">
                <a:latin typeface="Symbol"/>
                <a:cs typeface="Symbol"/>
              </a:rPr>
              <a:t></a:t>
            </a:r>
            <a:r>
              <a:rPr sz="2800" spc="18" dirty="0">
                <a:latin typeface="Times New Roman"/>
                <a:cs typeface="Times New Roman"/>
              </a:rPr>
              <a:t> </a:t>
            </a:r>
            <a:r>
              <a:rPr sz="2800" b="1" i="1" spc="18" dirty="0" smtClean="0">
                <a:latin typeface="Times New Roman"/>
                <a:cs typeface="Times New Roman"/>
              </a:rPr>
              <a:t>k</a:t>
            </a:r>
            <a:r>
              <a:rPr sz="2800" b="1" spc="61" dirty="0" smtClean="0">
                <a:latin typeface="Times New Roman"/>
                <a:cs typeface="Times New Roman"/>
              </a:rPr>
              <a:t>2</a:t>
            </a:r>
            <a:r>
              <a:rPr sz="2800" b="1" i="1" spc="92" baseline="44444" dirty="0" smtClean="0">
                <a:latin typeface="Times New Roman"/>
                <a:cs typeface="Times New Roman"/>
              </a:rPr>
              <a:t>k </a:t>
            </a:r>
            <a:r>
              <a:rPr sz="2800" spc="18" dirty="0">
                <a:solidFill>
                  <a:srgbClr val="0000FF"/>
                </a:solidFill>
                <a:latin typeface="Symbol"/>
                <a:cs typeface="Symbol"/>
              </a:rPr>
              <a:t></a:t>
            </a:r>
            <a:r>
              <a:rPr sz="2800" spc="18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800" b="1" spc="61" dirty="0">
                <a:solidFill>
                  <a:srgbClr val="0000FF"/>
                </a:solidFill>
                <a:latin typeface="Times New Roman"/>
                <a:cs typeface="Times New Roman"/>
              </a:rPr>
              <a:t>2</a:t>
            </a:r>
            <a:r>
              <a:rPr sz="2800" b="1" i="1" spc="92" baseline="44444" dirty="0">
                <a:solidFill>
                  <a:srgbClr val="0000FF"/>
                </a:solidFill>
                <a:latin typeface="Times New Roman"/>
                <a:cs typeface="Times New Roman"/>
              </a:rPr>
              <a:t>k </a:t>
            </a:r>
            <a:r>
              <a:rPr sz="2800" spc="18" dirty="0">
                <a:solidFill>
                  <a:srgbClr val="0000FF"/>
                </a:solidFill>
                <a:latin typeface="Symbol"/>
                <a:cs typeface="Symbol"/>
              </a:rPr>
              <a:t></a:t>
            </a:r>
            <a:r>
              <a:rPr sz="2800" spc="-159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800" b="1" spc="18" dirty="0">
                <a:solidFill>
                  <a:srgbClr val="0000FF"/>
                </a:solidFill>
                <a:latin typeface="Times New Roman"/>
                <a:cs typeface="Times New Roman"/>
              </a:rPr>
              <a:t>1</a:t>
            </a:r>
            <a:endParaRPr sz="2800" dirty="0">
              <a:solidFill>
                <a:srgbClr val="0000FF"/>
              </a:solidFill>
              <a:latin typeface="Times New Roman"/>
              <a:cs typeface="Times New Roman"/>
            </a:endParaRPr>
          </a:p>
          <a:p>
            <a:pPr marL="46603">
              <a:spcBef>
                <a:spcPts val="838"/>
              </a:spcBef>
            </a:pPr>
            <a:r>
              <a:rPr sz="2800" spc="18" dirty="0">
                <a:latin typeface="Symbol"/>
                <a:cs typeface="Symbol"/>
              </a:rPr>
              <a:t></a:t>
            </a:r>
            <a:r>
              <a:rPr sz="2800" spc="6" dirty="0">
                <a:latin typeface="Times New Roman"/>
                <a:cs typeface="Times New Roman"/>
              </a:rPr>
              <a:t> </a:t>
            </a:r>
            <a:r>
              <a:rPr sz="2800" b="1" i="1" spc="18" dirty="0">
                <a:latin typeface="Times New Roman"/>
                <a:cs typeface="Times New Roman"/>
              </a:rPr>
              <a:t>n</a:t>
            </a:r>
            <a:r>
              <a:rPr sz="2800" b="1" i="1" spc="-373" dirty="0">
                <a:latin typeface="Times New Roman"/>
                <a:cs typeface="Times New Roman"/>
              </a:rPr>
              <a:t> </a:t>
            </a:r>
            <a:r>
              <a:rPr sz="2800" b="1" spc="37" dirty="0">
                <a:latin typeface="Times New Roman"/>
                <a:cs typeface="Times New Roman"/>
              </a:rPr>
              <a:t>log</a:t>
            </a:r>
            <a:r>
              <a:rPr sz="2800" b="1" spc="-349" dirty="0">
                <a:latin typeface="Times New Roman"/>
                <a:cs typeface="Times New Roman"/>
              </a:rPr>
              <a:t> </a:t>
            </a:r>
            <a:r>
              <a:rPr sz="2800" b="1" i="1" spc="18" dirty="0">
                <a:latin typeface="Times New Roman"/>
                <a:cs typeface="Times New Roman"/>
              </a:rPr>
              <a:t>n</a:t>
            </a:r>
            <a:r>
              <a:rPr sz="2800" b="1" i="1" spc="-245" dirty="0">
                <a:latin typeface="Times New Roman"/>
                <a:cs typeface="Times New Roman"/>
              </a:rPr>
              <a:t> </a:t>
            </a:r>
            <a:r>
              <a:rPr sz="2800" spc="18" dirty="0">
                <a:latin typeface="Symbol"/>
                <a:cs typeface="Symbol"/>
              </a:rPr>
              <a:t></a:t>
            </a:r>
            <a:r>
              <a:rPr sz="2800" spc="-159" dirty="0">
                <a:latin typeface="Times New Roman"/>
                <a:cs typeface="Times New Roman"/>
              </a:rPr>
              <a:t> </a:t>
            </a:r>
            <a:r>
              <a:rPr sz="2800" b="1" i="1" spc="18" dirty="0">
                <a:latin typeface="Times New Roman"/>
                <a:cs typeface="Times New Roman"/>
              </a:rPr>
              <a:t>n</a:t>
            </a:r>
            <a:r>
              <a:rPr sz="2800" b="1" i="1" spc="-250" dirty="0">
                <a:latin typeface="Times New Roman"/>
                <a:cs typeface="Times New Roman"/>
              </a:rPr>
              <a:t> </a:t>
            </a:r>
            <a:r>
              <a:rPr sz="2800" spc="18" dirty="0">
                <a:latin typeface="Symbol"/>
                <a:cs typeface="Symbol"/>
              </a:rPr>
              <a:t></a:t>
            </a:r>
            <a:r>
              <a:rPr sz="2800" spc="-275" dirty="0">
                <a:latin typeface="Times New Roman"/>
                <a:cs typeface="Times New Roman"/>
              </a:rPr>
              <a:t> </a:t>
            </a:r>
            <a:r>
              <a:rPr sz="2800" b="1" spc="18" dirty="0">
                <a:latin typeface="Times New Roman"/>
                <a:cs typeface="Times New Roman"/>
              </a:rPr>
              <a:t>1</a:t>
            </a:r>
            <a:endParaRPr sz="2800" dirty="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24986" y="3131721"/>
            <a:ext cx="7450038" cy="450496"/>
          </a:xfrm>
          <a:prstGeom prst="rect">
            <a:avLst/>
          </a:prstGeom>
        </p:spPr>
        <p:txBody>
          <a:bodyPr vert="horz" wrap="square" lIns="0" tIns="19419" rIns="0" bIns="0" rtlCol="0">
            <a:spAutoFit/>
          </a:bodyPr>
          <a:lstStyle/>
          <a:p>
            <a:pPr marL="46603">
              <a:spcBef>
                <a:spcPts val="153"/>
              </a:spcBef>
            </a:pPr>
            <a:r>
              <a:rPr sz="2800" spc="18" dirty="0">
                <a:latin typeface="Symbol"/>
                <a:cs typeface="Symbol"/>
              </a:rPr>
              <a:t></a:t>
            </a:r>
            <a:r>
              <a:rPr sz="2800" spc="18" dirty="0">
                <a:latin typeface="Times New Roman"/>
                <a:cs typeface="Times New Roman"/>
              </a:rPr>
              <a:t> </a:t>
            </a:r>
            <a:r>
              <a:rPr sz="2800" b="1" spc="30" dirty="0">
                <a:latin typeface="Times New Roman"/>
                <a:cs typeface="Times New Roman"/>
              </a:rPr>
              <a:t>2</a:t>
            </a:r>
            <a:r>
              <a:rPr sz="2800" b="1" spc="45" baseline="44444" dirty="0">
                <a:latin typeface="Times New Roman"/>
                <a:cs typeface="Times New Roman"/>
              </a:rPr>
              <a:t>2</a:t>
            </a:r>
            <a:r>
              <a:rPr sz="2800" b="1" spc="30" dirty="0">
                <a:solidFill>
                  <a:srgbClr val="FF0000"/>
                </a:solidFill>
                <a:latin typeface="Times New Roman"/>
                <a:cs typeface="Times New Roman"/>
              </a:rPr>
              <a:t>[2</a:t>
            </a:r>
            <a:r>
              <a:rPr sz="2800" b="1" i="1" spc="30" dirty="0">
                <a:solidFill>
                  <a:srgbClr val="FF0000"/>
                </a:solidFill>
                <a:latin typeface="Times New Roman"/>
                <a:cs typeface="Times New Roman"/>
              </a:rPr>
              <a:t>W</a:t>
            </a:r>
            <a:r>
              <a:rPr sz="2800" b="1" i="1" spc="-2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b="1" spc="73" dirty="0">
                <a:solidFill>
                  <a:srgbClr val="FF0000"/>
                </a:solidFill>
                <a:latin typeface="Times New Roman"/>
                <a:cs typeface="Times New Roman"/>
              </a:rPr>
              <a:t>(2</a:t>
            </a:r>
            <a:r>
              <a:rPr sz="2800" b="1" i="1" spc="109" baseline="44444" dirty="0">
                <a:solidFill>
                  <a:srgbClr val="FF0000"/>
                </a:solidFill>
                <a:latin typeface="Times New Roman"/>
                <a:cs typeface="Times New Roman"/>
              </a:rPr>
              <a:t>k</a:t>
            </a:r>
            <a:r>
              <a:rPr sz="2800" b="1" i="1" spc="-302" baseline="44444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spc="118" baseline="44444" dirty="0">
                <a:solidFill>
                  <a:srgbClr val="FF0000"/>
                </a:solidFill>
                <a:latin typeface="Symbol"/>
                <a:cs typeface="Symbol"/>
              </a:rPr>
              <a:t></a:t>
            </a:r>
            <a:r>
              <a:rPr sz="2800" b="1" spc="118" baseline="44444" dirty="0">
                <a:solidFill>
                  <a:srgbClr val="FF0000"/>
                </a:solidFill>
                <a:latin typeface="Times New Roman"/>
                <a:cs typeface="Times New Roman"/>
              </a:rPr>
              <a:t>3</a:t>
            </a:r>
            <a:r>
              <a:rPr sz="2800" b="1" spc="-82" baseline="44444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b="1" spc="12" dirty="0">
                <a:solidFill>
                  <a:srgbClr val="FF0000"/>
                </a:solidFill>
                <a:latin typeface="Times New Roman"/>
                <a:cs typeface="Times New Roman"/>
              </a:rPr>
              <a:t>)</a:t>
            </a:r>
            <a:r>
              <a:rPr sz="2800" b="1" spc="-269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spc="18" dirty="0">
                <a:solidFill>
                  <a:srgbClr val="FF0000"/>
                </a:solidFill>
                <a:latin typeface="Symbol"/>
                <a:cs typeface="Symbol"/>
              </a:rPr>
              <a:t></a:t>
            </a:r>
            <a:r>
              <a:rPr sz="2800" spc="-98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b="1" spc="61" dirty="0">
                <a:solidFill>
                  <a:srgbClr val="FF0000"/>
                </a:solidFill>
                <a:latin typeface="Times New Roman"/>
                <a:cs typeface="Times New Roman"/>
              </a:rPr>
              <a:t>2</a:t>
            </a:r>
            <a:r>
              <a:rPr sz="2800" b="1" i="1" spc="92" baseline="44444" dirty="0">
                <a:solidFill>
                  <a:srgbClr val="FF0000"/>
                </a:solidFill>
                <a:latin typeface="Times New Roman"/>
                <a:cs typeface="Times New Roman"/>
              </a:rPr>
              <a:t>k</a:t>
            </a:r>
            <a:r>
              <a:rPr sz="2800" b="1" i="1" spc="-294" baseline="44444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spc="109" baseline="44444" dirty="0">
                <a:solidFill>
                  <a:srgbClr val="FF0000"/>
                </a:solidFill>
                <a:latin typeface="Symbol"/>
                <a:cs typeface="Symbol"/>
              </a:rPr>
              <a:t></a:t>
            </a:r>
            <a:r>
              <a:rPr sz="2800" b="1" spc="109" baseline="44444" dirty="0">
                <a:solidFill>
                  <a:srgbClr val="FF0000"/>
                </a:solidFill>
                <a:latin typeface="Times New Roman"/>
                <a:cs typeface="Times New Roman"/>
              </a:rPr>
              <a:t>2</a:t>
            </a:r>
            <a:r>
              <a:rPr sz="2800" b="1" spc="477" baseline="44444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spc="18" dirty="0">
                <a:solidFill>
                  <a:srgbClr val="FF0000"/>
                </a:solidFill>
                <a:latin typeface="Symbol"/>
                <a:cs typeface="Symbol"/>
              </a:rPr>
              <a:t></a:t>
            </a:r>
            <a:r>
              <a:rPr sz="2800" spc="-30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b="1" spc="98" dirty="0">
                <a:solidFill>
                  <a:srgbClr val="FF0000"/>
                </a:solidFill>
                <a:latin typeface="Times New Roman"/>
                <a:cs typeface="Times New Roman"/>
              </a:rPr>
              <a:t>1]</a:t>
            </a:r>
            <a:r>
              <a:rPr sz="2800" spc="98" dirty="0">
                <a:latin typeface="Symbol"/>
                <a:cs typeface="Symbol"/>
              </a:rPr>
              <a:t></a:t>
            </a:r>
            <a:r>
              <a:rPr sz="2800" spc="-104" dirty="0">
                <a:latin typeface="Times New Roman"/>
                <a:cs typeface="Times New Roman"/>
              </a:rPr>
              <a:t> </a:t>
            </a:r>
            <a:r>
              <a:rPr sz="2800" b="1" spc="61" dirty="0">
                <a:solidFill>
                  <a:srgbClr val="0000FF"/>
                </a:solidFill>
                <a:latin typeface="Times New Roman"/>
                <a:cs typeface="Times New Roman"/>
              </a:rPr>
              <a:t>2</a:t>
            </a:r>
            <a:r>
              <a:rPr sz="2800" b="1" i="1" spc="92" baseline="44444" dirty="0">
                <a:solidFill>
                  <a:srgbClr val="0000FF"/>
                </a:solidFill>
                <a:latin typeface="Times New Roman"/>
                <a:cs typeface="Times New Roman"/>
              </a:rPr>
              <a:t>k</a:t>
            </a:r>
            <a:r>
              <a:rPr sz="2800" b="1" i="1" spc="661" baseline="44444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800" spc="18" dirty="0">
                <a:solidFill>
                  <a:srgbClr val="0000FF"/>
                </a:solidFill>
                <a:latin typeface="Symbol"/>
                <a:cs typeface="Symbol"/>
              </a:rPr>
              <a:t></a:t>
            </a:r>
            <a:r>
              <a:rPr sz="2800" spc="-139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800" b="1" spc="18" dirty="0">
                <a:solidFill>
                  <a:srgbClr val="0000FF"/>
                </a:solidFill>
                <a:latin typeface="Times New Roman"/>
                <a:cs typeface="Times New Roman"/>
              </a:rPr>
              <a:t>2</a:t>
            </a:r>
            <a:r>
              <a:rPr sz="2800" b="1" spc="-257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800" spc="18" dirty="0">
                <a:latin typeface="Symbol"/>
                <a:cs typeface="Symbol"/>
              </a:rPr>
              <a:t></a:t>
            </a:r>
            <a:r>
              <a:rPr sz="2800" spc="-98" dirty="0">
                <a:latin typeface="Times New Roman"/>
                <a:cs typeface="Times New Roman"/>
              </a:rPr>
              <a:t> </a:t>
            </a:r>
            <a:r>
              <a:rPr sz="2800" b="1" spc="61" dirty="0">
                <a:latin typeface="Times New Roman"/>
                <a:cs typeface="Times New Roman"/>
              </a:rPr>
              <a:t>2</a:t>
            </a:r>
            <a:r>
              <a:rPr sz="2800" b="1" i="1" spc="92" baseline="44444" dirty="0">
                <a:latin typeface="Times New Roman"/>
                <a:cs typeface="Times New Roman"/>
              </a:rPr>
              <a:t>k</a:t>
            </a:r>
            <a:r>
              <a:rPr sz="2800" b="1" i="1" spc="650" baseline="44444" dirty="0">
                <a:latin typeface="Times New Roman"/>
                <a:cs typeface="Times New Roman"/>
              </a:rPr>
              <a:t> </a:t>
            </a:r>
            <a:r>
              <a:rPr sz="2800" spc="18" dirty="0">
                <a:latin typeface="Symbol"/>
                <a:cs typeface="Symbol"/>
              </a:rPr>
              <a:t></a:t>
            </a:r>
            <a:r>
              <a:rPr sz="2800" spc="-311" dirty="0">
                <a:latin typeface="Times New Roman"/>
                <a:cs typeface="Times New Roman"/>
              </a:rPr>
              <a:t> </a:t>
            </a:r>
            <a:r>
              <a:rPr sz="2800" b="1" spc="18" dirty="0">
                <a:latin typeface="Times New Roman"/>
                <a:cs typeface="Times New Roman"/>
              </a:rPr>
              <a:t>1</a:t>
            </a:r>
            <a:endParaRPr sz="2800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97981" y="1724200"/>
            <a:ext cx="6460006" cy="1179585"/>
          </a:xfrm>
          <a:prstGeom prst="rect">
            <a:avLst/>
          </a:prstGeom>
        </p:spPr>
        <p:txBody>
          <a:bodyPr vert="horz" wrap="square" lIns="0" tIns="162337" rIns="0" bIns="0" rtlCol="0">
            <a:spAutoFit/>
          </a:bodyPr>
          <a:lstStyle/>
          <a:p>
            <a:pPr marL="77672">
              <a:spcBef>
                <a:spcPts val="1278"/>
              </a:spcBef>
            </a:pPr>
            <a:r>
              <a:rPr sz="2800" spc="18" dirty="0">
                <a:latin typeface="Symbol"/>
                <a:cs typeface="Symbol"/>
              </a:rPr>
              <a:t></a:t>
            </a:r>
            <a:r>
              <a:rPr sz="2800" spc="18" dirty="0">
                <a:latin typeface="Times New Roman"/>
                <a:cs typeface="Times New Roman"/>
              </a:rPr>
              <a:t> </a:t>
            </a:r>
            <a:r>
              <a:rPr sz="2800" b="1" spc="-67" dirty="0">
                <a:latin typeface="Times New Roman"/>
                <a:cs typeface="Times New Roman"/>
              </a:rPr>
              <a:t>2</a:t>
            </a:r>
            <a:r>
              <a:rPr sz="2800" b="1" spc="-67" dirty="0">
                <a:solidFill>
                  <a:srgbClr val="FF0000"/>
                </a:solidFill>
                <a:latin typeface="Times New Roman"/>
                <a:cs typeface="Times New Roman"/>
              </a:rPr>
              <a:t>[2</a:t>
            </a:r>
            <a:r>
              <a:rPr sz="2800" b="1" i="1" spc="-67" dirty="0">
                <a:solidFill>
                  <a:srgbClr val="FF0000"/>
                </a:solidFill>
                <a:latin typeface="Times New Roman"/>
                <a:cs typeface="Times New Roman"/>
              </a:rPr>
              <a:t>W</a:t>
            </a:r>
            <a:r>
              <a:rPr sz="2800" b="1" i="1" spc="-227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b="1" spc="80" dirty="0">
                <a:solidFill>
                  <a:srgbClr val="FF0000"/>
                </a:solidFill>
                <a:latin typeface="Times New Roman"/>
                <a:cs typeface="Times New Roman"/>
              </a:rPr>
              <a:t>(2</a:t>
            </a:r>
            <a:r>
              <a:rPr sz="2800" b="1" i="1" spc="118" baseline="44444" dirty="0">
                <a:solidFill>
                  <a:srgbClr val="FF0000"/>
                </a:solidFill>
                <a:latin typeface="Times New Roman"/>
                <a:cs typeface="Times New Roman"/>
              </a:rPr>
              <a:t>k</a:t>
            </a:r>
            <a:r>
              <a:rPr sz="2800" b="1" i="1" spc="-302" baseline="44444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spc="118" baseline="44444" dirty="0">
                <a:solidFill>
                  <a:srgbClr val="FF0000"/>
                </a:solidFill>
                <a:latin typeface="Symbol"/>
                <a:cs typeface="Symbol"/>
              </a:rPr>
              <a:t></a:t>
            </a:r>
            <a:r>
              <a:rPr sz="2800" b="1" spc="118" baseline="44444" dirty="0">
                <a:solidFill>
                  <a:srgbClr val="FF0000"/>
                </a:solidFill>
                <a:latin typeface="Times New Roman"/>
                <a:cs typeface="Times New Roman"/>
              </a:rPr>
              <a:t>2</a:t>
            </a:r>
            <a:r>
              <a:rPr sz="2800" b="1" spc="-92" baseline="44444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b="1" spc="12" dirty="0">
                <a:solidFill>
                  <a:srgbClr val="FF0000"/>
                </a:solidFill>
                <a:latin typeface="Times New Roman"/>
                <a:cs typeface="Times New Roman"/>
              </a:rPr>
              <a:t>)</a:t>
            </a:r>
            <a:r>
              <a:rPr sz="2800" b="1" spc="-263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spc="18" dirty="0">
                <a:solidFill>
                  <a:srgbClr val="FF0000"/>
                </a:solidFill>
                <a:latin typeface="Symbol"/>
                <a:cs typeface="Symbol"/>
              </a:rPr>
              <a:t></a:t>
            </a:r>
            <a:r>
              <a:rPr sz="2800" spc="-104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b="1" spc="61" dirty="0">
                <a:solidFill>
                  <a:srgbClr val="FF0000"/>
                </a:solidFill>
                <a:latin typeface="Times New Roman"/>
                <a:cs typeface="Times New Roman"/>
              </a:rPr>
              <a:t>2</a:t>
            </a:r>
            <a:r>
              <a:rPr sz="2800" b="1" i="1" spc="92" baseline="44444" dirty="0">
                <a:solidFill>
                  <a:srgbClr val="FF0000"/>
                </a:solidFill>
                <a:latin typeface="Times New Roman"/>
                <a:cs typeface="Times New Roman"/>
              </a:rPr>
              <a:t>k</a:t>
            </a:r>
            <a:r>
              <a:rPr sz="2800" b="1" i="1" spc="-302" baseline="44444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spc="45" baseline="44444" dirty="0">
                <a:solidFill>
                  <a:srgbClr val="FF0000"/>
                </a:solidFill>
                <a:latin typeface="Symbol"/>
                <a:cs typeface="Symbol"/>
              </a:rPr>
              <a:t></a:t>
            </a:r>
            <a:r>
              <a:rPr sz="2800" b="1" spc="45" baseline="44444" dirty="0">
                <a:solidFill>
                  <a:srgbClr val="FF0000"/>
                </a:solidFill>
                <a:latin typeface="Times New Roman"/>
                <a:cs typeface="Times New Roman"/>
              </a:rPr>
              <a:t>1</a:t>
            </a:r>
            <a:r>
              <a:rPr sz="2800" b="1" spc="394" baseline="44444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spc="18" dirty="0">
                <a:solidFill>
                  <a:srgbClr val="FF0000"/>
                </a:solidFill>
                <a:latin typeface="Symbol"/>
                <a:cs typeface="Symbol"/>
              </a:rPr>
              <a:t></a:t>
            </a:r>
            <a:r>
              <a:rPr sz="2800" spc="-30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b="1" spc="-37" dirty="0">
                <a:solidFill>
                  <a:srgbClr val="FF0000"/>
                </a:solidFill>
                <a:latin typeface="Times New Roman"/>
                <a:cs typeface="Times New Roman"/>
              </a:rPr>
              <a:t>1]</a:t>
            </a:r>
            <a:r>
              <a:rPr sz="2800" b="1" spc="-392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spc="18" dirty="0">
                <a:latin typeface="Symbol"/>
                <a:cs typeface="Symbol"/>
              </a:rPr>
              <a:t></a:t>
            </a:r>
            <a:r>
              <a:rPr sz="2800" spc="-104" dirty="0">
                <a:latin typeface="Times New Roman"/>
                <a:cs typeface="Times New Roman"/>
              </a:rPr>
              <a:t> </a:t>
            </a:r>
            <a:r>
              <a:rPr sz="2800" b="1" spc="61" dirty="0">
                <a:solidFill>
                  <a:srgbClr val="0000FF"/>
                </a:solidFill>
                <a:latin typeface="Times New Roman"/>
                <a:cs typeface="Times New Roman"/>
              </a:rPr>
              <a:t>2</a:t>
            </a:r>
            <a:r>
              <a:rPr sz="2800" b="1" i="1" spc="92" baseline="44444" dirty="0">
                <a:solidFill>
                  <a:srgbClr val="0000FF"/>
                </a:solidFill>
                <a:latin typeface="Times New Roman"/>
                <a:cs typeface="Times New Roman"/>
              </a:rPr>
              <a:t>k</a:t>
            </a:r>
            <a:r>
              <a:rPr sz="2800" b="1" i="1" spc="650" baseline="44444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800" spc="18" dirty="0">
                <a:solidFill>
                  <a:srgbClr val="0000FF"/>
                </a:solidFill>
                <a:latin typeface="Symbol"/>
                <a:cs typeface="Symbol"/>
              </a:rPr>
              <a:t></a:t>
            </a:r>
            <a:r>
              <a:rPr sz="2800" spc="-30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800" b="1" spc="18" dirty="0">
                <a:solidFill>
                  <a:srgbClr val="0000FF"/>
                </a:solidFill>
                <a:latin typeface="Times New Roman"/>
                <a:cs typeface="Times New Roman"/>
              </a:rPr>
              <a:t>1</a:t>
            </a:r>
            <a:endParaRPr sz="2800" dirty="0">
              <a:solidFill>
                <a:srgbClr val="0000FF"/>
              </a:solidFill>
              <a:latin typeface="Times New Roman"/>
              <a:cs typeface="Times New Roman"/>
            </a:endParaRPr>
          </a:p>
          <a:p>
            <a:pPr marL="77672">
              <a:spcBef>
                <a:spcPts val="1155"/>
              </a:spcBef>
            </a:pPr>
            <a:r>
              <a:rPr sz="2800" spc="18" dirty="0">
                <a:latin typeface="Symbol"/>
                <a:cs typeface="Symbol"/>
              </a:rPr>
              <a:t></a:t>
            </a:r>
            <a:r>
              <a:rPr sz="2800" spc="18" dirty="0">
                <a:latin typeface="Times New Roman"/>
                <a:cs typeface="Times New Roman"/>
              </a:rPr>
              <a:t> </a:t>
            </a:r>
            <a:r>
              <a:rPr sz="2800" b="1" spc="80" dirty="0">
                <a:latin typeface="Times New Roman"/>
                <a:cs typeface="Times New Roman"/>
              </a:rPr>
              <a:t>2</a:t>
            </a:r>
            <a:r>
              <a:rPr sz="2800" b="1" spc="118" baseline="42222" dirty="0">
                <a:latin typeface="Times New Roman"/>
                <a:cs typeface="Times New Roman"/>
              </a:rPr>
              <a:t>2</a:t>
            </a:r>
            <a:r>
              <a:rPr sz="2800" b="1" i="1" spc="80" dirty="0">
                <a:solidFill>
                  <a:srgbClr val="FF0000"/>
                </a:solidFill>
                <a:latin typeface="Times New Roman"/>
                <a:cs typeface="Times New Roman"/>
              </a:rPr>
              <a:t>W</a:t>
            </a:r>
            <a:r>
              <a:rPr sz="2800" b="1" i="1" spc="-227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b="1" spc="80" dirty="0">
                <a:solidFill>
                  <a:srgbClr val="FF0000"/>
                </a:solidFill>
                <a:latin typeface="Times New Roman"/>
                <a:cs typeface="Times New Roman"/>
              </a:rPr>
              <a:t>(2</a:t>
            </a:r>
            <a:r>
              <a:rPr sz="2800" b="1" i="1" spc="118" baseline="42222" dirty="0">
                <a:solidFill>
                  <a:srgbClr val="FF0000"/>
                </a:solidFill>
                <a:latin typeface="Times New Roman"/>
                <a:cs typeface="Times New Roman"/>
              </a:rPr>
              <a:t>k</a:t>
            </a:r>
            <a:r>
              <a:rPr sz="2800" b="1" i="1" spc="-302" baseline="42222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spc="118" baseline="42222" dirty="0">
                <a:solidFill>
                  <a:srgbClr val="FF0000"/>
                </a:solidFill>
                <a:latin typeface="Symbol"/>
                <a:cs typeface="Symbol"/>
              </a:rPr>
              <a:t></a:t>
            </a:r>
            <a:r>
              <a:rPr sz="2800" b="1" spc="118" baseline="42222" dirty="0">
                <a:solidFill>
                  <a:srgbClr val="FF0000"/>
                </a:solidFill>
                <a:latin typeface="Times New Roman"/>
                <a:cs typeface="Times New Roman"/>
              </a:rPr>
              <a:t>2</a:t>
            </a:r>
            <a:r>
              <a:rPr sz="2800" b="1" spc="-92" baseline="42222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b="1" spc="12" dirty="0">
                <a:solidFill>
                  <a:srgbClr val="FF0000"/>
                </a:solidFill>
                <a:latin typeface="Times New Roman"/>
                <a:cs typeface="Times New Roman"/>
              </a:rPr>
              <a:t>)</a:t>
            </a:r>
            <a:r>
              <a:rPr sz="2800" b="1" spc="-263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spc="18" dirty="0">
                <a:latin typeface="Symbol"/>
                <a:cs typeface="Symbol"/>
              </a:rPr>
              <a:t></a:t>
            </a:r>
            <a:r>
              <a:rPr sz="2800" spc="-104" dirty="0">
                <a:latin typeface="Times New Roman"/>
                <a:cs typeface="Times New Roman"/>
              </a:rPr>
              <a:t> </a:t>
            </a:r>
            <a:r>
              <a:rPr sz="2800" b="1" spc="61" dirty="0">
                <a:solidFill>
                  <a:srgbClr val="0000FF"/>
                </a:solidFill>
                <a:latin typeface="Times New Roman"/>
                <a:cs typeface="Times New Roman"/>
              </a:rPr>
              <a:t>2</a:t>
            </a:r>
            <a:r>
              <a:rPr sz="2800" b="1" i="1" spc="92" baseline="42222" dirty="0">
                <a:solidFill>
                  <a:srgbClr val="0000FF"/>
                </a:solidFill>
                <a:latin typeface="Times New Roman"/>
                <a:cs typeface="Times New Roman"/>
              </a:rPr>
              <a:t>k</a:t>
            </a:r>
            <a:r>
              <a:rPr sz="2800" b="1" i="1" spc="650" baseline="42222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800" spc="18" dirty="0">
                <a:solidFill>
                  <a:srgbClr val="0000FF"/>
                </a:solidFill>
                <a:latin typeface="Symbol"/>
                <a:cs typeface="Symbol"/>
              </a:rPr>
              <a:t></a:t>
            </a:r>
            <a:r>
              <a:rPr sz="2800" spc="-139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800" b="1" spc="18" dirty="0">
                <a:solidFill>
                  <a:srgbClr val="0000FF"/>
                </a:solidFill>
                <a:latin typeface="Times New Roman"/>
                <a:cs typeface="Times New Roman"/>
              </a:rPr>
              <a:t>2</a:t>
            </a:r>
            <a:r>
              <a:rPr sz="2800" b="1" spc="-263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800" spc="18" dirty="0">
                <a:latin typeface="Symbol"/>
                <a:cs typeface="Symbol"/>
              </a:rPr>
              <a:t></a:t>
            </a:r>
            <a:r>
              <a:rPr sz="2800" spc="-104" dirty="0">
                <a:latin typeface="Times New Roman"/>
                <a:cs typeface="Times New Roman"/>
              </a:rPr>
              <a:t> </a:t>
            </a:r>
            <a:r>
              <a:rPr sz="2800" b="1" spc="61" dirty="0">
                <a:latin typeface="Times New Roman"/>
                <a:cs typeface="Times New Roman"/>
              </a:rPr>
              <a:t>2</a:t>
            </a:r>
            <a:r>
              <a:rPr sz="2800" b="1" i="1" spc="92" baseline="42222" dirty="0">
                <a:latin typeface="Times New Roman"/>
                <a:cs typeface="Times New Roman"/>
              </a:rPr>
              <a:t>k</a:t>
            </a:r>
            <a:r>
              <a:rPr sz="2800" b="1" i="1" spc="661" baseline="42222" dirty="0">
                <a:latin typeface="Times New Roman"/>
                <a:cs typeface="Times New Roman"/>
              </a:rPr>
              <a:t> </a:t>
            </a:r>
            <a:r>
              <a:rPr sz="2800" spc="18" dirty="0">
                <a:latin typeface="Symbol"/>
                <a:cs typeface="Symbol"/>
              </a:rPr>
              <a:t></a:t>
            </a:r>
            <a:r>
              <a:rPr sz="2800" spc="-318" dirty="0">
                <a:latin typeface="Times New Roman"/>
                <a:cs typeface="Times New Roman"/>
              </a:rPr>
              <a:t> </a:t>
            </a:r>
            <a:r>
              <a:rPr sz="2800" b="1" spc="18" dirty="0">
                <a:latin typeface="Times New Roman"/>
                <a:cs typeface="Times New Roman"/>
              </a:rPr>
              <a:t>1</a:t>
            </a:r>
            <a:endParaRPr sz="2800" dirty="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10963" y="1305459"/>
            <a:ext cx="5532623" cy="450496"/>
          </a:xfrm>
          <a:prstGeom prst="rect">
            <a:avLst/>
          </a:prstGeom>
        </p:spPr>
        <p:txBody>
          <a:bodyPr vert="horz" wrap="square" lIns="0" tIns="19419" rIns="0" bIns="0" rtlCol="0">
            <a:spAutoFit/>
          </a:bodyPr>
          <a:lstStyle/>
          <a:p>
            <a:pPr marL="31069">
              <a:spcBef>
                <a:spcPts val="153"/>
              </a:spcBef>
            </a:pPr>
            <a:r>
              <a:rPr sz="2800" b="1" i="1" spc="37" dirty="0">
                <a:latin typeface="Times New Roman"/>
                <a:cs typeface="Times New Roman"/>
              </a:rPr>
              <a:t>W</a:t>
            </a:r>
            <a:r>
              <a:rPr sz="2800" b="1" i="1" spc="-227" dirty="0">
                <a:latin typeface="Times New Roman"/>
                <a:cs typeface="Times New Roman"/>
              </a:rPr>
              <a:t> </a:t>
            </a:r>
            <a:r>
              <a:rPr sz="2800" b="1" spc="61" dirty="0">
                <a:latin typeface="Times New Roman"/>
                <a:cs typeface="Times New Roman"/>
              </a:rPr>
              <a:t>(</a:t>
            </a:r>
            <a:r>
              <a:rPr sz="2800" b="1" i="1" spc="61" dirty="0">
                <a:latin typeface="Times New Roman"/>
                <a:cs typeface="Times New Roman"/>
              </a:rPr>
              <a:t>n</a:t>
            </a:r>
            <a:r>
              <a:rPr sz="2800" b="1" spc="61" dirty="0">
                <a:latin typeface="Times New Roman"/>
                <a:cs typeface="Times New Roman"/>
              </a:rPr>
              <a:t>)</a:t>
            </a:r>
            <a:r>
              <a:rPr sz="2800" b="1" spc="-190" dirty="0">
                <a:latin typeface="Times New Roman"/>
                <a:cs typeface="Times New Roman"/>
              </a:rPr>
              <a:t> </a:t>
            </a:r>
            <a:r>
              <a:rPr sz="2800" spc="18" dirty="0">
                <a:latin typeface="Symbol"/>
                <a:cs typeface="Symbol"/>
              </a:rPr>
              <a:t></a:t>
            </a:r>
            <a:r>
              <a:rPr sz="2800" spc="-73" dirty="0">
                <a:latin typeface="Times New Roman"/>
                <a:cs typeface="Times New Roman"/>
              </a:rPr>
              <a:t> </a:t>
            </a:r>
            <a:r>
              <a:rPr sz="2800" b="1" spc="-85" dirty="0">
                <a:latin typeface="Times New Roman"/>
                <a:cs typeface="Times New Roman"/>
              </a:rPr>
              <a:t>2</a:t>
            </a:r>
            <a:r>
              <a:rPr sz="2800" b="1" i="1" spc="-85" dirty="0">
                <a:solidFill>
                  <a:srgbClr val="FF0000"/>
                </a:solidFill>
                <a:latin typeface="Times New Roman"/>
                <a:cs typeface="Times New Roman"/>
              </a:rPr>
              <a:t>W</a:t>
            </a:r>
            <a:r>
              <a:rPr sz="2800" b="1" i="1" spc="-227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b="1" spc="12" dirty="0">
                <a:solidFill>
                  <a:srgbClr val="FF0000"/>
                </a:solidFill>
                <a:latin typeface="Times New Roman"/>
                <a:cs typeface="Times New Roman"/>
              </a:rPr>
              <a:t>(</a:t>
            </a:r>
            <a:r>
              <a:rPr sz="2800" b="1" spc="-1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b="1" spc="61" dirty="0">
                <a:solidFill>
                  <a:srgbClr val="FF0000"/>
                </a:solidFill>
                <a:latin typeface="Times New Roman"/>
                <a:cs typeface="Times New Roman"/>
              </a:rPr>
              <a:t>2</a:t>
            </a:r>
            <a:r>
              <a:rPr sz="2800" b="1" i="1" spc="92" baseline="44444" dirty="0">
                <a:solidFill>
                  <a:srgbClr val="FF0000"/>
                </a:solidFill>
                <a:latin typeface="Times New Roman"/>
                <a:cs typeface="Times New Roman"/>
              </a:rPr>
              <a:t>k</a:t>
            </a:r>
            <a:r>
              <a:rPr sz="2800" b="1" i="1" spc="-302" baseline="44444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spc="45" baseline="44444" dirty="0">
                <a:solidFill>
                  <a:srgbClr val="FF0000"/>
                </a:solidFill>
                <a:latin typeface="Symbol"/>
                <a:cs typeface="Symbol"/>
              </a:rPr>
              <a:t></a:t>
            </a:r>
            <a:r>
              <a:rPr sz="2800" b="1" spc="45" baseline="44444" dirty="0">
                <a:solidFill>
                  <a:srgbClr val="FF0000"/>
                </a:solidFill>
                <a:latin typeface="Times New Roman"/>
                <a:cs typeface="Times New Roman"/>
              </a:rPr>
              <a:t>1</a:t>
            </a:r>
            <a:r>
              <a:rPr sz="2800" b="1" spc="-165" baseline="44444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b="1" spc="12" dirty="0">
                <a:solidFill>
                  <a:srgbClr val="FF0000"/>
                </a:solidFill>
                <a:latin typeface="Times New Roman"/>
                <a:cs typeface="Times New Roman"/>
              </a:rPr>
              <a:t>)</a:t>
            </a:r>
            <a:r>
              <a:rPr sz="2800" b="1" spc="-19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spc="18" dirty="0">
                <a:latin typeface="Symbol"/>
                <a:cs typeface="Symbol"/>
              </a:rPr>
              <a:t></a:t>
            </a:r>
            <a:r>
              <a:rPr sz="2800" spc="-18" dirty="0">
                <a:latin typeface="Times New Roman"/>
                <a:cs typeface="Times New Roman"/>
              </a:rPr>
              <a:t> </a:t>
            </a:r>
            <a:r>
              <a:rPr sz="2800" b="1" spc="61" dirty="0">
                <a:solidFill>
                  <a:srgbClr val="0000FF"/>
                </a:solidFill>
                <a:latin typeface="Times New Roman"/>
                <a:cs typeface="Times New Roman"/>
              </a:rPr>
              <a:t>2</a:t>
            </a:r>
            <a:r>
              <a:rPr sz="2800" b="1" i="1" spc="92" baseline="44444" dirty="0">
                <a:solidFill>
                  <a:srgbClr val="0000FF"/>
                </a:solidFill>
                <a:latin typeface="Times New Roman"/>
                <a:cs typeface="Times New Roman"/>
              </a:rPr>
              <a:t>k</a:t>
            </a:r>
            <a:r>
              <a:rPr sz="2800" b="1" i="1" spc="650" baseline="44444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800" spc="18" dirty="0">
                <a:solidFill>
                  <a:srgbClr val="0000FF"/>
                </a:solidFill>
                <a:latin typeface="Symbol"/>
                <a:cs typeface="Symbol"/>
              </a:rPr>
              <a:t></a:t>
            </a:r>
            <a:r>
              <a:rPr sz="2800" spc="-311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800" b="1" spc="18" dirty="0">
                <a:solidFill>
                  <a:srgbClr val="0000FF"/>
                </a:solidFill>
                <a:latin typeface="Times New Roman"/>
                <a:cs typeface="Times New Roman"/>
              </a:rPr>
              <a:t>1</a:t>
            </a:r>
            <a:endParaRPr sz="2800" dirty="0">
              <a:solidFill>
                <a:srgbClr val="0000FF"/>
              </a:solidFill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 idx="4294967295"/>
          </p:nvPr>
        </p:nvSpPr>
        <p:spPr>
          <a:xfrm>
            <a:off x="410547" y="301755"/>
            <a:ext cx="8873411" cy="624300"/>
          </a:xfrm>
          <a:prstGeom prst="rect">
            <a:avLst/>
          </a:prstGeom>
        </p:spPr>
        <p:txBody>
          <a:bodyPr vert="horz" wrap="square" lIns="0" tIns="14758" rIns="0" bIns="0" rtlCol="0" anchor="ctr">
            <a:spAutoFit/>
          </a:bodyPr>
          <a:lstStyle/>
          <a:p>
            <a:pPr marL="15534" algn="ctr"/>
            <a:r>
              <a:rPr sz="4400" b="1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  <a:cs typeface="宋体"/>
              </a:rPr>
              <a:t>迭代求解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4873908" y="904321"/>
            <a:ext cx="4455786" cy="490982"/>
          </a:xfrm>
          <a:prstGeom prst="rect">
            <a:avLst/>
          </a:prstGeom>
          <a:ln w="25400">
            <a:solidFill>
              <a:srgbClr val="006FC0"/>
            </a:solidFill>
          </a:ln>
        </p:spPr>
        <p:txBody>
          <a:bodyPr vert="horz" wrap="square" lIns="0" tIns="44274" rIns="0" bIns="0" rtlCol="0">
            <a:spAutoFit/>
          </a:bodyPr>
          <a:lstStyle/>
          <a:p>
            <a:pPr marL="112624">
              <a:spcBef>
                <a:spcPts val="349"/>
              </a:spcBef>
            </a:pPr>
            <a:r>
              <a:rPr sz="2900" b="1" i="1" dirty="0">
                <a:latin typeface="Times New Roman"/>
                <a:cs typeface="Times New Roman"/>
              </a:rPr>
              <a:t>W</a:t>
            </a:r>
            <a:r>
              <a:rPr sz="2900" b="1" dirty="0">
                <a:latin typeface="Times New Roman"/>
                <a:cs typeface="Times New Roman"/>
              </a:rPr>
              <a:t>(2</a:t>
            </a:r>
            <a:r>
              <a:rPr sz="2900" b="1" i="1" baseline="24305" dirty="0">
                <a:latin typeface="Times New Roman"/>
                <a:cs typeface="Times New Roman"/>
              </a:rPr>
              <a:t>k</a:t>
            </a:r>
            <a:r>
              <a:rPr sz="2900" b="1" dirty="0">
                <a:latin typeface="Times New Roman"/>
                <a:cs typeface="Times New Roman"/>
              </a:rPr>
              <a:t>) = </a:t>
            </a:r>
            <a:r>
              <a:rPr sz="2900" b="1" spc="-6" dirty="0">
                <a:latin typeface="Times New Roman"/>
                <a:cs typeface="Times New Roman"/>
              </a:rPr>
              <a:t>2</a:t>
            </a:r>
            <a:r>
              <a:rPr sz="2900" b="1" i="1" spc="-6" dirty="0">
                <a:latin typeface="Times New Roman"/>
                <a:cs typeface="Times New Roman"/>
              </a:rPr>
              <a:t>W</a:t>
            </a:r>
            <a:r>
              <a:rPr sz="2900" b="1" spc="-6" dirty="0">
                <a:latin typeface="Times New Roman"/>
                <a:cs typeface="Times New Roman"/>
              </a:rPr>
              <a:t>(2</a:t>
            </a:r>
            <a:r>
              <a:rPr sz="2900" b="1" i="1" spc="-8" baseline="24305" dirty="0">
                <a:latin typeface="Times New Roman"/>
                <a:cs typeface="Times New Roman"/>
              </a:rPr>
              <a:t>k</a:t>
            </a:r>
            <a:r>
              <a:rPr sz="2900" b="1" spc="-8" baseline="24305" dirty="0">
                <a:latin typeface="Times New Roman"/>
                <a:cs typeface="Times New Roman"/>
              </a:rPr>
              <a:t>-1</a:t>
            </a:r>
            <a:r>
              <a:rPr sz="2900" b="1" spc="-6" dirty="0">
                <a:latin typeface="Times New Roman"/>
                <a:cs typeface="Times New Roman"/>
              </a:rPr>
              <a:t>) </a:t>
            </a:r>
            <a:r>
              <a:rPr sz="2900" b="1" dirty="0">
                <a:latin typeface="Times New Roman"/>
                <a:cs typeface="Times New Roman"/>
              </a:rPr>
              <a:t>+</a:t>
            </a:r>
            <a:r>
              <a:rPr sz="2900" b="1" spc="-67" dirty="0">
                <a:latin typeface="Times New Roman"/>
                <a:cs typeface="Times New Roman"/>
              </a:rPr>
              <a:t> </a:t>
            </a:r>
            <a:r>
              <a:rPr sz="2900" b="1" dirty="0">
                <a:latin typeface="Times New Roman"/>
                <a:cs typeface="Times New Roman"/>
              </a:rPr>
              <a:t>2</a:t>
            </a:r>
            <a:r>
              <a:rPr sz="2900" b="1" i="1" baseline="24305" dirty="0">
                <a:latin typeface="Times New Roman"/>
                <a:cs typeface="Times New Roman"/>
              </a:rPr>
              <a:t>k</a:t>
            </a:r>
            <a:r>
              <a:rPr sz="2900" b="1" dirty="0">
                <a:latin typeface="Symbol"/>
                <a:cs typeface="Symbol"/>
              </a:rPr>
              <a:t></a:t>
            </a:r>
            <a:r>
              <a:rPr sz="2900" b="1" dirty="0">
                <a:latin typeface="Times New Roman"/>
                <a:cs typeface="Times New Roman"/>
              </a:rPr>
              <a:t>1</a:t>
            </a:r>
            <a:endParaRPr sz="2900" dirty="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4956278" y="1431751"/>
            <a:ext cx="1828310" cy="1060829"/>
          </a:xfrm>
          <a:custGeom>
            <a:avLst/>
            <a:gdLst/>
            <a:ahLst/>
            <a:cxnLst/>
            <a:rect l="l" t="t" r="r" b="b"/>
            <a:pathLst>
              <a:path w="1747520" h="842010">
                <a:moveTo>
                  <a:pt x="1033538" y="0"/>
                </a:moveTo>
                <a:lnTo>
                  <a:pt x="982739" y="636"/>
                </a:lnTo>
                <a:lnTo>
                  <a:pt x="932286" y="3329"/>
                </a:lnTo>
                <a:lnTo>
                  <a:pt x="882370" y="8048"/>
                </a:lnTo>
                <a:lnTo>
                  <a:pt x="833183" y="14762"/>
                </a:lnTo>
                <a:lnTo>
                  <a:pt x="784915" y="23442"/>
                </a:lnTo>
                <a:lnTo>
                  <a:pt x="737758" y="34058"/>
                </a:lnTo>
                <a:lnTo>
                  <a:pt x="691902" y="46579"/>
                </a:lnTo>
                <a:lnTo>
                  <a:pt x="647539" y="60975"/>
                </a:lnTo>
                <a:lnTo>
                  <a:pt x="604860" y="77216"/>
                </a:lnTo>
                <a:lnTo>
                  <a:pt x="564055" y="95272"/>
                </a:lnTo>
                <a:lnTo>
                  <a:pt x="525317" y="115113"/>
                </a:lnTo>
                <a:lnTo>
                  <a:pt x="488835" y="136709"/>
                </a:lnTo>
                <a:lnTo>
                  <a:pt x="454801" y="160029"/>
                </a:lnTo>
                <a:lnTo>
                  <a:pt x="423407" y="185044"/>
                </a:lnTo>
                <a:lnTo>
                  <a:pt x="394842" y="211723"/>
                </a:lnTo>
                <a:lnTo>
                  <a:pt x="0" y="218454"/>
                </a:lnTo>
                <a:lnTo>
                  <a:pt x="305942" y="363615"/>
                </a:lnTo>
                <a:lnTo>
                  <a:pt x="299902" y="402741"/>
                </a:lnTo>
                <a:lnTo>
                  <a:pt x="300121" y="441548"/>
                </a:lnTo>
                <a:lnTo>
                  <a:pt x="306419" y="479821"/>
                </a:lnTo>
                <a:lnTo>
                  <a:pt x="318611" y="517343"/>
                </a:lnTo>
                <a:lnTo>
                  <a:pt x="336515" y="553900"/>
                </a:lnTo>
                <a:lnTo>
                  <a:pt x="359948" y="589277"/>
                </a:lnTo>
                <a:lnTo>
                  <a:pt x="388728" y="623258"/>
                </a:lnTo>
                <a:lnTo>
                  <a:pt x="422672" y="655627"/>
                </a:lnTo>
                <a:lnTo>
                  <a:pt x="461596" y="686169"/>
                </a:lnTo>
                <a:lnTo>
                  <a:pt x="505319" y="714670"/>
                </a:lnTo>
                <a:lnTo>
                  <a:pt x="553657" y="740912"/>
                </a:lnTo>
                <a:lnTo>
                  <a:pt x="606427" y="764682"/>
                </a:lnTo>
                <a:lnTo>
                  <a:pt x="663448" y="785763"/>
                </a:lnTo>
                <a:lnTo>
                  <a:pt x="711320" y="800362"/>
                </a:lnTo>
                <a:lnTo>
                  <a:pt x="760184" y="812694"/>
                </a:lnTo>
                <a:lnTo>
                  <a:pt x="809848" y="822789"/>
                </a:lnTo>
                <a:lnTo>
                  <a:pt x="860121" y="830678"/>
                </a:lnTo>
                <a:lnTo>
                  <a:pt x="910813" y="836389"/>
                </a:lnTo>
                <a:lnTo>
                  <a:pt x="961731" y="839955"/>
                </a:lnTo>
                <a:lnTo>
                  <a:pt x="1012685" y="841404"/>
                </a:lnTo>
                <a:lnTo>
                  <a:pt x="1063484" y="840767"/>
                </a:lnTo>
                <a:lnTo>
                  <a:pt x="1113937" y="838075"/>
                </a:lnTo>
                <a:lnTo>
                  <a:pt x="1163853" y="833356"/>
                </a:lnTo>
                <a:lnTo>
                  <a:pt x="1213040" y="826642"/>
                </a:lnTo>
                <a:lnTo>
                  <a:pt x="1261308" y="817961"/>
                </a:lnTo>
                <a:lnTo>
                  <a:pt x="1308465" y="807346"/>
                </a:lnTo>
                <a:lnTo>
                  <a:pt x="1354321" y="794825"/>
                </a:lnTo>
                <a:lnTo>
                  <a:pt x="1398684" y="780429"/>
                </a:lnTo>
                <a:lnTo>
                  <a:pt x="1441363" y="764188"/>
                </a:lnTo>
                <a:lnTo>
                  <a:pt x="1482168" y="746132"/>
                </a:lnTo>
                <a:lnTo>
                  <a:pt x="1520906" y="726290"/>
                </a:lnTo>
                <a:lnTo>
                  <a:pt x="1557388" y="704695"/>
                </a:lnTo>
                <a:lnTo>
                  <a:pt x="1591422" y="681374"/>
                </a:lnTo>
                <a:lnTo>
                  <a:pt x="1622816" y="656360"/>
                </a:lnTo>
                <a:lnTo>
                  <a:pt x="1651381" y="629680"/>
                </a:lnTo>
                <a:lnTo>
                  <a:pt x="1681548" y="595609"/>
                </a:lnTo>
                <a:lnTo>
                  <a:pt x="1705905" y="560712"/>
                </a:lnTo>
                <a:lnTo>
                  <a:pt x="1724547" y="525193"/>
                </a:lnTo>
                <a:lnTo>
                  <a:pt x="1737567" y="489255"/>
                </a:lnTo>
                <a:lnTo>
                  <a:pt x="1747124" y="416932"/>
                </a:lnTo>
                <a:lnTo>
                  <a:pt x="1743851" y="380952"/>
                </a:lnTo>
                <a:lnTo>
                  <a:pt x="1721675" y="310371"/>
                </a:lnTo>
                <a:lnTo>
                  <a:pt x="1702962" y="276174"/>
                </a:lnTo>
                <a:lnTo>
                  <a:pt x="1679292" y="242978"/>
                </a:lnTo>
                <a:lnTo>
                  <a:pt x="1650760" y="210985"/>
                </a:lnTo>
                <a:lnTo>
                  <a:pt x="1617460" y="180397"/>
                </a:lnTo>
                <a:lnTo>
                  <a:pt x="1579489" y="151418"/>
                </a:lnTo>
                <a:lnTo>
                  <a:pt x="1536939" y="124250"/>
                </a:lnTo>
                <a:lnTo>
                  <a:pt x="1489908" y="99096"/>
                </a:lnTo>
                <a:lnTo>
                  <a:pt x="1438488" y="76158"/>
                </a:lnTo>
                <a:lnTo>
                  <a:pt x="1382776" y="55640"/>
                </a:lnTo>
                <a:lnTo>
                  <a:pt x="1334903" y="41042"/>
                </a:lnTo>
                <a:lnTo>
                  <a:pt x="1286039" y="28710"/>
                </a:lnTo>
                <a:lnTo>
                  <a:pt x="1236375" y="18615"/>
                </a:lnTo>
                <a:lnTo>
                  <a:pt x="1186102" y="10726"/>
                </a:lnTo>
                <a:lnTo>
                  <a:pt x="1135410" y="5014"/>
                </a:lnTo>
                <a:lnTo>
                  <a:pt x="1084492" y="1449"/>
                </a:lnTo>
                <a:lnTo>
                  <a:pt x="1033538" y="0"/>
                </a:lnTo>
                <a:close/>
              </a:path>
            </a:pathLst>
          </a:custGeom>
          <a:solidFill>
            <a:srgbClr val="4F81BC"/>
          </a:solidFill>
        </p:spPr>
        <p:txBody>
          <a:bodyPr wrap="square" lIns="0" tIns="0" rIns="0" bIns="0" rtlCol="0"/>
          <a:lstStyle/>
          <a:p>
            <a:endParaRPr sz="2200"/>
          </a:p>
        </p:txBody>
      </p:sp>
      <p:sp>
        <p:nvSpPr>
          <p:cNvPr id="13" name="object 13"/>
          <p:cNvSpPr/>
          <p:nvPr/>
        </p:nvSpPr>
        <p:spPr>
          <a:xfrm>
            <a:off x="4926634" y="1413089"/>
            <a:ext cx="1857954" cy="1060829"/>
          </a:xfrm>
          <a:custGeom>
            <a:avLst/>
            <a:gdLst/>
            <a:ahLst/>
            <a:cxnLst/>
            <a:rect l="l" t="t" r="r" b="b"/>
            <a:pathLst>
              <a:path w="1747520" h="842010">
                <a:moveTo>
                  <a:pt x="0" y="218454"/>
                </a:moveTo>
                <a:lnTo>
                  <a:pt x="394842" y="211723"/>
                </a:lnTo>
                <a:lnTo>
                  <a:pt x="423407" y="185044"/>
                </a:lnTo>
                <a:lnTo>
                  <a:pt x="454801" y="160029"/>
                </a:lnTo>
                <a:lnTo>
                  <a:pt x="488835" y="136709"/>
                </a:lnTo>
                <a:lnTo>
                  <a:pt x="525317" y="115113"/>
                </a:lnTo>
                <a:lnTo>
                  <a:pt x="564055" y="95272"/>
                </a:lnTo>
                <a:lnTo>
                  <a:pt x="604860" y="77216"/>
                </a:lnTo>
                <a:lnTo>
                  <a:pt x="647539" y="60975"/>
                </a:lnTo>
                <a:lnTo>
                  <a:pt x="691902" y="46579"/>
                </a:lnTo>
                <a:lnTo>
                  <a:pt x="737758" y="34058"/>
                </a:lnTo>
                <a:lnTo>
                  <a:pt x="784915" y="23442"/>
                </a:lnTo>
                <a:lnTo>
                  <a:pt x="833183" y="14762"/>
                </a:lnTo>
                <a:lnTo>
                  <a:pt x="882370" y="8048"/>
                </a:lnTo>
                <a:lnTo>
                  <a:pt x="932286" y="3329"/>
                </a:lnTo>
                <a:lnTo>
                  <a:pt x="982739" y="636"/>
                </a:lnTo>
                <a:lnTo>
                  <a:pt x="1033538" y="0"/>
                </a:lnTo>
                <a:lnTo>
                  <a:pt x="1084492" y="1449"/>
                </a:lnTo>
                <a:lnTo>
                  <a:pt x="1135410" y="5014"/>
                </a:lnTo>
                <a:lnTo>
                  <a:pt x="1186102" y="10726"/>
                </a:lnTo>
                <a:lnTo>
                  <a:pt x="1236375" y="18615"/>
                </a:lnTo>
                <a:lnTo>
                  <a:pt x="1286039" y="28710"/>
                </a:lnTo>
                <a:lnTo>
                  <a:pt x="1334903" y="41042"/>
                </a:lnTo>
                <a:lnTo>
                  <a:pt x="1382776" y="55640"/>
                </a:lnTo>
                <a:lnTo>
                  <a:pt x="1438488" y="76158"/>
                </a:lnTo>
                <a:lnTo>
                  <a:pt x="1489908" y="99096"/>
                </a:lnTo>
                <a:lnTo>
                  <a:pt x="1536939" y="124250"/>
                </a:lnTo>
                <a:lnTo>
                  <a:pt x="1579489" y="151418"/>
                </a:lnTo>
                <a:lnTo>
                  <a:pt x="1617460" y="180397"/>
                </a:lnTo>
                <a:lnTo>
                  <a:pt x="1650760" y="210985"/>
                </a:lnTo>
                <a:lnTo>
                  <a:pt x="1679292" y="242978"/>
                </a:lnTo>
                <a:lnTo>
                  <a:pt x="1702962" y="276174"/>
                </a:lnTo>
                <a:lnTo>
                  <a:pt x="1721675" y="310371"/>
                </a:lnTo>
                <a:lnTo>
                  <a:pt x="1743851" y="380952"/>
                </a:lnTo>
                <a:lnTo>
                  <a:pt x="1747124" y="416932"/>
                </a:lnTo>
                <a:lnTo>
                  <a:pt x="1745061" y="453101"/>
                </a:lnTo>
                <a:lnTo>
                  <a:pt x="1724547" y="525193"/>
                </a:lnTo>
                <a:lnTo>
                  <a:pt x="1705905" y="560712"/>
                </a:lnTo>
                <a:lnTo>
                  <a:pt x="1681548" y="595609"/>
                </a:lnTo>
                <a:lnTo>
                  <a:pt x="1651381" y="629680"/>
                </a:lnTo>
                <a:lnTo>
                  <a:pt x="1622816" y="656360"/>
                </a:lnTo>
                <a:lnTo>
                  <a:pt x="1591422" y="681374"/>
                </a:lnTo>
                <a:lnTo>
                  <a:pt x="1557388" y="704695"/>
                </a:lnTo>
                <a:lnTo>
                  <a:pt x="1520906" y="726290"/>
                </a:lnTo>
                <a:lnTo>
                  <a:pt x="1482168" y="746132"/>
                </a:lnTo>
                <a:lnTo>
                  <a:pt x="1441363" y="764188"/>
                </a:lnTo>
                <a:lnTo>
                  <a:pt x="1398684" y="780429"/>
                </a:lnTo>
                <a:lnTo>
                  <a:pt x="1354321" y="794825"/>
                </a:lnTo>
                <a:lnTo>
                  <a:pt x="1308465" y="807346"/>
                </a:lnTo>
                <a:lnTo>
                  <a:pt x="1261308" y="817961"/>
                </a:lnTo>
                <a:lnTo>
                  <a:pt x="1213040" y="826642"/>
                </a:lnTo>
                <a:lnTo>
                  <a:pt x="1163853" y="833356"/>
                </a:lnTo>
                <a:lnTo>
                  <a:pt x="1113937" y="838075"/>
                </a:lnTo>
                <a:lnTo>
                  <a:pt x="1063484" y="840767"/>
                </a:lnTo>
                <a:lnTo>
                  <a:pt x="1012685" y="841404"/>
                </a:lnTo>
                <a:lnTo>
                  <a:pt x="961731" y="839955"/>
                </a:lnTo>
                <a:lnTo>
                  <a:pt x="910813" y="836389"/>
                </a:lnTo>
                <a:lnTo>
                  <a:pt x="860121" y="830678"/>
                </a:lnTo>
                <a:lnTo>
                  <a:pt x="809848" y="822789"/>
                </a:lnTo>
                <a:lnTo>
                  <a:pt x="760184" y="812694"/>
                </a:lnTo>
                <a:lnTo>
                  <a:pt x="711320" y="800362"/>
                </a:lnTo>
                <a:lnTo>
                  <a:pt x="663448" y="785763"/>
                </a:lnTo>
                <a:lnTo>
                  <a:pt x="606427" y="764682"/>
                </a:lnTo>
                <a:lnTo>
                  <a:pt x="553657" y="740912"/>
                </a:lnTo>
                <a:lnTo>
                  <a:pt x="505319" y="714670"/>
                </a:lnTo>
                <a:lnTo>
                  <a:pt x="461596" y="686169"/>
                </a:lnTo>
                <a:lnTo>
                  <a:pt x="422672" y="655627"/>
                </a:lnTo>
                <a:lnTo>
                  <a:pt x="388728" y="623258"/>
                </a:lnTo>
                <a:lnTo>
                  <a:pt x="359948" y="589277"/>
                </a:lnTo>
                <a:lnTo>
                  <a:pt x="336515" y="553900"/>
                </a:lnTo>
                <a:lnTo>
                  <a:pt x="318611" y="517343"/>
                </a:lnTo>
                <a:lnTo>
                  <a:pt x="306419" y="479821"/>
                </a:lnTo>
                <a:lnTo>
                  <a:pt x="300121" y="441548"/>
                </a:lnTo>
                <a:lnTo>
                  <a:pt x="299902" y="402741"/>
                </a:lnTo>
                <a:lnTo>
                  <a:pt x="305942" y="363615"/>
                </a:lnTo>
                <a:lnTo>
                  <a:pt x="0" y="218454"/>
                </a:lnTo>
                <a:close/>
              </a:path>
            </a:pathLst>
          </a:custGeom>
          <a:ln w="25399">
            <a:solidFill>
              <a:srgbClr val="385D89"/>
            </a:solidFill>
          </a:ln>
        </p:spPr>
        <p:txBody>
          <a:bodyPr wrap="square" lIns="0" tIns="0" rIns="0" bIns="0" rtlCol="0"/>
          <a:lstStyle/>
          <a:p>
            <a:endParaRPr sz="2200"/>
          </a:p>
        </p:txBody>
      </p:sp>
      <p:sp>
        <p:nvSpPr>
          <p:cNvPr id="14" name="object 14"/>
          <p:cNvSpPr txBox="1"/>
          <p:nvPr/>
        </p:nvSpPr>
        <p:spPr>
          <a:xfrm>
            <a:off x="5573136" y="1531140"/>
            <a:ext cx="1137297" cy="685123"/>
          </a:xfrm>
          <a:prstGeom prst="rect">
            <a:avLst/>
          </a:prstGeom>
        </p:spPr>
        <p:txBody>
          <a:bodyPr vert="horz" wrap="square" lIns="0" tIns="43497" rIns="0" bIns="0" rtlCol="0">
            <a:spAutoFit/>
          </a:bodyPr>
          <a:lstStyle/>
          <a:p>
            <a:pPr marL="15534" marR="6214" indent="70681">
              <a:lnSpc>
                <a:spcPts val="2471"/>
              </a:lnSpc>
              <a:spcBef>
                <a:spcPts val="342"/>
              </a:spcBef>
            </a:pPr>
            <a:r>
              <a:rPr sz="2200" b="1" dirty="0">
                <a:solidFill>
                  <a:srgbClr val="FFFFFF"/>
                </a:solidFill>
                <a:latin typeface="宋体"/>
                <a:cs typeface="宋体"/>
              </a:rPr>
              <a:t>换元，  对</a:t>
            </a:r>
            <a:r>
              <a:rPr sz="2200" b="1" i="1" dirty="0">
                <a:solidFill>
                  <a:srgbClr val="FFFFFF"/>
                </a:solidFill>
                <a:latin typeface="Times New Roman"/>
                <a:cs typeface="Times New Roman"/>
              </a:rPr>
              <a:t>k</a:t>
            </a:r>
            <a:r>
              <a:rPr sz="2200" b="1" dirty="0">
                <a:solidFill>
                  <a:srgbClr val="FFFFFF"/>
                </a:solidFill>
                <a:latin typeface="宋体"/>
                <a:cs typeface="宋体"/>
              </a:rPr>
              <a:t>迭代</a:t>
            </a:r>
            <a:endParaRPr sz="2200" dirty="0">
              <a:latin typeface="宋体"/>
              <a:cs typeface="宋体"/>
            </a:endParaRPr>
          </a:p>
        </p:txBody>
      </p:sp>
    </p:spTree>
    <p:extLst>
      <p:ext uri="{BB962C8B-B14F-4D97-AF65-F5344CB8AC3E}">
        <p14:creationId xmlns:p14="http://schemas.microsoft.com/office/powerpoint/2010/main" val="17137451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396112" y="273502"/>
            <a:ext cx="8925170" cy="624300"/>
          </a:xfrm>
          <a:prstGeom prst="rect">
            <a:avLst/>
          </a:prstGeom>
        </p:spPr>
        <p:txBody>
          <a:bodyPr vert="horz" wrap="square" lIns="0" tIns="14758" rIns="0" bIns="0" rtlCol="0" anchor="ctr">
            <a:spAutoFit/>
          </a:bodyPr>
          <a:lstStyle/>
          <a:p>
            <a:pPr marL="15534" algn="ctr"/>
            <a:r>
              <a:rPr sz="4400" b="1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  <a:cs typeface="宋体"/>
              </a:rPr>
              <a:t>解的正确性-归纳验证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96112" y="1151721"/>
            <a:ext cx="8859855" cy="5009873"/>
          </a:xfrm>
          <a:prstGeom prst="rect">
            <a:avLst/>
          </a:prstGeom>
        </p:spPr>
        <p:txBody>
          <a:bodyPr vert="horz" wrap="square" lIns="0" tIns="15534" rIns="0" bIns="0" rtlCol="0">
            <a:spAutoFit/>
          </a:bodyPr>
          <a:lstStyle/>
          <a:p>
            <a:pPr marL="625254" marR="6214" indent="-596515">
              <a:lnSpc>
                <a:spcPct val="145000"/>
              </a:lnSpc>
              <a:spcBef>
                <a:spcPts val="122"/>
              </a:spcBef>
            </a:pPr>
            <a:r>
              <a:rPr sz="2800" b="1" spc="-6" dirty="0">
                <a:latin typeface="宋体"/>
                <a:cs typeface="宋体"/>
              </a:rPr>
              <a:t>证明</a:t>
            </a:r>
            <a:r>
              <a:rPr sz="2800" b="1" spc="-6" dirty="0">
                <a:latin typeface="Arial"/>
                <a:cs typeface="Arial"/>
              </a:rPr>
              <a:t>:</a:t>
            </a:r>
            <a:r>
              <a:rPr sz="2800" b="1" spc="-6" dirty="0">
                <a:latin typeface="宋体"/>
                <a:cs typeface="宋体"/>
              </a:rPr>
              <a:t>下述递推方程的解</a:t>
            </a:r>
            <a:r>
              <a:rPr sz="2800" b="1" spc="-18" dirty="0">
                <a:latin typeface="宋体"/>
                <a:cs typeface="宋体"/>
              </a:rPr>
              <a:t>是</a:t>
            </a:r>
            <a:r>
              <a:rPr sz="2800" b="1" spc="-569" dirty="0">
                <a:latin typeface="宋体"/>
                <a:cs typeface="宋体"/>
              </a:rPr>
              <a:t> </a:t>
            </a:r>
            <a:r>
              <a:rPr sz="2800" b="1" i="1" spc="-6" dirty="0">
                <a:latin typeface="Times New Roman"/>
                <a:cs typeface="Times New Roman"/>
              </a:rPr>
              <a:t>W</a:t>
            </a:r>
            <a:r>
              <a:rPr sz="2800" b="1" spc="-6" dirty="0">
                <a:latin typeface="Times New Roman"/>
                <a:cs typeface="Times New Roman"/>
              </a:rPr>
              <a:t>(</a:t>
            </a:r>
            <a:r>
              <a:rPr sz="2800" b="1" i="1" spc="-6" dirty="0">
                <a:latin typeface="Times New Roman"/>
                <a:cs typeface="Times New Roman"/>
              </a:rPr>
              <a:t>n</a:t>
            </a:r>
            <a:r>
              <a:rPr sz="2800" b="1" spc="-6" dirty="0">
                <a:latin typeface="Times New Roman"/>
                <a:cs typeface="Times New Roman"/>
              </a:rPr>
              <a:t>)=</a:t>
            </a:r>
            <a:r>
              <a:rPr sz="2800" b="1" i="1" spc="-6" dirty="0">
                <a:latin typeface="Times New Roman"/>
                <a:cs typeface="Times New Roman"/>
              </a:rPr>
              <a:t>n</a:t>
            </a:r>
            <a:r>
              <a:rPr sz="2800" b="1" spc="-6" dirty="0">
                <a:latin typeface="Times New Roman"/>
                <a:cs typeface="Times New Roman"/>
              </a:rPr>
              <a:t>(</a:t>
            </a:r>
            <a:r>
              <a:rPr sz="2800" b="1" i="1" spc="-6" dirty="0">
                <a:latin typeface="Times New Roman"/>
                <a:cs typeface="Times New Roman"/>
              </a:rPr>
              <a:t>n</a:t>
            </a:r>
            <a:r>
              <a:rPr sz="2800" b="1" spc="-6" dirty="0">
                <a:latin typeface="Symbol"/>
                <a:cs typeface="Symbol"/>
              </a:rPr>
              <a:t></a:t>
            </a:r>
            <a:r>
              <a:rPr sz="2800" b="1" spc="-6" dirty="0">
                <a:latin typeface="Times New Roman"/>
                <a:cs typeface="Times New Roman"/>
              </a:rPr>
              <a:t>1)/2  </a:t>
            </a:r>
            <a:r>
              <a:rPr lang="en-US" sz="2800" b="1" spc="-6" dirty="0" smtClean="0">
                <a:latin typeface="Times New Roman"/>
                <a:cs typeface="Times New Roman"/>
              </a:rPr>
              <a:t>                    </a:t>
            </a:r>
          </a:p>
          <a:p>
            <a:pPr marL="625254" marR="6214" indent="-596515"/>
            <a:r>
              <a:rPr lang="en-US" sz="2800" b="1" i="1" spc="-6" dirty="0">
                <a:latin typeface="Times New Roman"/>
                <a:cs typeface="Times New Roman"/>
              </a:rPr>
              <a:t> </a:t>
            </a:r>
            <a:r>
              <a:rPr lang="en-US" sz="2800" b="1" i="1" spc="-6" dirty="0" smtClean="0">
                <a:latin typeface="Times New Roman"/>
                <a:cs typeface="Times New Roman"/>
              </a:rPr>
              <a:t>                           </a:t>
            </a:r>
            <a:r>
              <a:rPr sz="2800" b="1" i="1" spc="-6" dirty="0" smtClean="0">
                <a:latin typeface="Times New Roman"/>
                <a:cs typeface="Times New Roman"/>
              </a:rPr>
              <a:t>W</a:t>
            </a:r>
            <a:r>
              <a:rPr sz="2800" b="1" spc="-6" dirty="0" smtClean="0">
                <a:latin typeface="Times New Roman"/>
                <a:cs typeface="Times New Roman"/>
              </a:rPr>
              <a:t>(</a:t>
            </a:r>
            <a:r>
              <a:rPr sz="2800" b="1" i="1" spc="-6" dirty="0" smtClean="0">
                <a:latin typeface="Times New Roman"/>
                <a:cs typeface="Times New Roman"/>
              </a:rPr>
              <a:t>n</a:t>
            </a:r>
            <a:r>
              <a:rPr sz="2800" b="1" spc="-6" dirty="0" smtClean="0">
                <a:latin typeface="Times New Roman"/>
                <a:cs typeface="Times New Roman"/>
              </a:rPr>
              <a:t>)</a:t>
            </a:r>
            <a:r>
              <a:rPr lang="en-US" sz="2800" b="1" spc="-6" dirty="0" smtClean="0">
                <a:latin typeface="Times New Roman"/>
                <a:cs typeface="Times New Roman"/>
              </a:rPr>
              <a:t> </a:t>
            </a:r>
            <a:r>
              <a:rPr sz="2800" b="1" spc="-6" dirty="0" smtClean="0">
                <a:latin typeface="Times New Roman"/>
                <a:cs typeface="Times New Roman"/>
              </a:rPr>
              <a:t>=</a:t>
            </a:r>
            <a:r>
              <a:rPr lang="en-US" sz="2800" b="1" spc="-6" dirty="0" smtClean="0">
                <a:latin typeface="Times New Roman"/>
                <a:cs typeface="Times New Roman"/>
              </a:rPr>
              <a:t> </a:t>
            </a:r>
            <a:r>
              <a:rPr sz="2800" b="1" i="1" spc="-6" dirty="0" smtClean="0">
                <a:latin typeface="Times New Roman"/>
                <a:cs typeface="Times New Roman"/>
              </a:rPr>
              <a:t>W</a:t>
            </a:r>
            <a:r>
              <a:rPr sz="2800" b="1" spc="-6" dirty="0" smtClean="0">
                <a:latin typeface="Times New Roman"/>
                <a:cs typeface="Times New Roman"/>
              </a:rPr>
              <a:t>(</a:t>
            </a:r>
            <a:r>
              <a:rPr sz="2800" b="1" i="1" spc="-6" dirty="0" smtClean="0">
                <a:latin typeface="Times New Roman"/>
                <a:cs typeface="Times New Roman"/>
              </a:rPr>
              <a:t>n</a:t>
            </a:r>
            <a:r>
              <a:rPr sz="2800" b="1" spc="-6" dirty="0">
                <a:latin typeface="Symbol"/>
                <a:cs typeface="Symbol"/>
              </a:rPr>
              <a:t></a:t>
            </a:r>
            <a:r>
              <a:rPr sz="2800" b="1" spc="-6" dirty="0">
                <a:latin typeface="Times New Roman"/>
                <a:cs typeface="Times New Roman"/>
              </a:rPr>
              <a:t>1)+</a:t>
            </a:r>
            <a:r>
              <a:rPr sz="2800" b="1" i="1" spc="-6" dirty="0">
                <a:latin typeface="Times New Roman"/>
                <a:cs typeface="Times New Roman"/>
              </a:rPr>
              <a:t>n</a:t>
            </a:r>
            <a:r>
              <a:rPr sz="2800" b="1" spc="-6" dirty="0">
                <a:latin typeface="Symbol"/>
                <a:cs typeface="Symbol"/>
              </a:rPr>
              <a:t></a:t>
            </a:r>
            <a:r>
              <a:rPr sz="2800" b="1" spc="-6" dirty="0">
                <a:latin typeface="Times New Roman"/>
                <a:cs typeface="Times New Roman"/>
              </a:rPr>
              <a:t>1</a:t>
            </a:r>
            <a:endParaRPr sz="2800" dirty="0">
              <a:latin typeface="Times New Roman"/>
              <a:cs typeface="Times New Roman"/>
            </a:endParaRPr>
          </a:p>
          <a:p>
            <a:pPr marL="625254"/>
            <a:r>
              <a:rPr lang="en-US" sz="2800" b="1" i="1" spc="-6" dirty="0" smtClean="0">
                <a:latin typeface="Times New Roman"/>
                <a:cs typeface="Times New Roman"/>
              </a:rPr>
              <a:t>                     </a:t>
            </a:r>
            <a:r>
              <a:rPr sz="2800" b="1" i="1" spc="-6" dirty="0" smtClean="0">
                <a:latin typeface="Times New Roman"/>
                <a:cs typeface="Times New Roman"/>
              </a:rPr>
              <a:t>W</a:t>
            </a:r>
            <a:r>
              <a:rPr sz="2800" b="1" spc="-6" dirty="0" smtClean="0">
                <a:latin typeface="Times New Roman"/>
                <a:cs typeface="Times New Roman"/>
              </a:rPr>
              <a:t>(1)</a:t>
            </a:r>
            <a:r>
              <a:rPr lang="en-US" sz="2800" b="1" spc="-6" dirty="0" smtClean="0">
                <a:latin typeface="Times New Roman"/>
                <a:cs typeface="Times New Roman"/>
              </a:rPr>
              <a:t> </a:t>
            </a:r>
            <a:r>
              <a:rPr sz="2800" b="1" spc="-6" dirty="0" smtClean="0">
                <a:latin typeface="Times New Roman"/>
                <a:cs typeface="Times New Roman"/>
              </a:rPr>
              <a:t>=</a:t>
            </a:r>
            <a:r>
              <a:rPr lang="en-US" sz="2800" b="1" spc="-6" dirty="0" smtClean="0">
                <a:latin typeface="Times New Roman"/>
                <a:cs typeface="Times New Roman"/>
              </a:rPr>
              <a:t> </a:t>
            </a:r>
            <a:r>
              <a:rPr sz="2800" b="1" spc="-6" dirty="0" smtClean="0">
                <a:latin typeface="Times New Roman"/>
                <a:cs typeface="Times New Roman"/>
              </a:rPr>
              <a:t>0</a:t>
            </a:r>
            <a:endParaRPr sz="2800" dirty="0">
              <a:latin typeface="Times New Roman"/>
              <a:cs typeface="Times New Roman"/>
            </a:endParaRPr>
          </a:p>
          <a:p>
            <a:endParaRPr sz="2800" dirty="0">
              <a:latin typeface="Times New Roman"/>
              <a:cs typeface="Times New Roman"/>
            </a:endParaRPr>
          </a:p>
          <a:p>
            <a:pPr marL="28738"/>
            <a:r>
              <a:rPr sz="2800" b="1" spc="-6" dirty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方法：数学归纳法</a:t>
            </a:r>
            <a:endParaRPr sz="2800" dirty="0">
              <a:latin typeface="黑体" panose="02010609060101010101" pitchFamily="49" charset="-122"/>
              <a:ea typeface="黑体" panose="02010609060101010101" pitchFamily="49" charset="-122"/>
              <a:cs typeface="宋体"/>
            </a:endParaRPr>
          </a:p>
          <a:p>
            <a:pPr marL="28738">
              <a:spcBef>
                <a:spcPts val="734"/>
              </a:spcBef>
            </a:pPr>
            <a:r>
              <a:rPr sz="2800" b="1" spc="-18" dirty="0">
                <a:latin typeface="宋体"/>
                <a:cs typeface="宋体"/>
              </a:rPr>
              <a:t>证 </a:t>
            </a:r>
            <a:r>
              <a:rPr sz="2800" b="1" i="1" spc="-6" dirty="0">
                <a:latin typeface="Times New Roman"/>
                <a:cs typeface="Times New Roman"/>
              </a:rPr>
              <a:t>n</a:t>
            </a:r>
            <a:r>
              <a:rPr sz="2800" b="1" spc="-6" dirty="0">
                <a:latin typeface="Times New Roman"/>
                <a:cs typeface="Times New Roman"/>
              </a:rPr>
              <a:t>=1</a:t>
            </a:r>
            <a:r>
              <a:rPr sz="2800" b="1" spc="-6" dirty="0">
                <a:latin typeface="宋体"/>
                <a:cs typeface="宋体"/>
              </a:rPr>
              <a:t>，</a:t>
            </a:r>
            <a:r>
              <a:rPr sz="2800" b="1" i="1" spc="-6" dirty="0">
                <a:latin typeface="Times New Roman"/>
                <a:cs typeface="Times New Roman"/>
              </a:rPr>
              <a:t>W</a:t>
            </a:r>
            <a:r>
              <a:rPr sz="2800" b="1" spc="-6" dirty="0">
                <a:latin typeface="Times New Roman"/>
                <a:cs typeface="Times New Roman"/>
              </a:rPr>
              <a:t>(1</a:t>
            </a:r>
            <a:r>
              <a:rPr sz="2800" b="1" spc="-6" dirty="0" smtClean="0">
                <a:latin typeface="Times New Roman"/>
                <a:cs typeface="Times New Roman"/>
              </a:rPr>
              <a:t>)</a:t>
            </a:r>
            <a:r>
              <a:rPr lang="en-US" sz="2800" b="1" spc="-6" dirty="0" smtClean="0">
                <a:latin typeface="Times New Roman"/>
                <a:cs typeface="Times New Roman"/>
              </a:rPr>
              <a:t> </a:t>
            </a:r>
            <a:r>
              <a:rPr sz="2800" b="1" spc="-6" dirty="0" smtClean="0">
                <a:latin typeface="Times New Roman"/>
                <a:cs typeface="Times New Roman"/>
              </a:rPr>
              <a:t>=</a:t>
            </a:r>
            <a:r>
              <a:rPr lang="en-US" sz="2800" b="1" spc="-6" dirty="0" smtClean="0">
                <a:latin typeface="Times New Roman"/>
                <a:cs typeface="Times New Roman"/>
              </a:rPr>
              <a:t> </a:t>
            </a:r>
            <a:r>
              <a:rPr sz="2800" b="1" spc="-6" dirty="0" smtClean="0">
                <a:latin typeface="Times New Roman"/>
                <a:cs typeface="Times New Roman"/>
              </a:rPr>
              <a:t>1</a:t>
            </a:r>
            <a:r>
              <a:rPr sz="2800" b="1" spc="-6" dirty="0">
                <a:latin typeface="Symbol"/>
                <a:cs typeface="Symbol"/>
              </a:rPr>
              <a:t></a:t>
            </a:r>
            <a:r>
              <a:rPr sz="2800" b="1" spc="-6" dirty="0">
                <a:latin typeface="Times New Roman"/>
                <a:cs typeface="Times New Roman"/>
              </a:rPr>
              <a:t>(1</a:t>
            </a:r>
            <a:r>
              <a:rPr sz="2800" b="1" spc="-6" dirty="0">
                <a:latin typeface="Symbol"/>
                <a:cs typeface="Symbol"/>
              </a:rPr>
              <a:t></a:t>
            </a:r>
            <a:r>
              <a:rPr sz="2800" b="1" spc="-6" dirty="0">
                <a:latin typeface="Times New Roman"/>
                <a:cs typeface="Times New Roman"/>
              </a:rPr>
              <a:t>1)/2 </a:t>
            </a:r>
            <a:r>
              <a:rPr lang="en-US" sz="2800" b="1" spc="-6" dirty="0" smtClean="0">
                <a:latin typeface="Times New Roman"/>
                <a:cs typeface="Times New Roman"/>
              </a:rPr>
              <a:t> </a:t>
            </a:r>
            <a:r>
              <a:rPr sz="2800" b="1" spc="-6" dirty="0" smtClean="0">
                <a:latin typeface="Times New Roman"/>
                <a:cs typeface="Times New Roman"/>
              </a:rPr>
              <a:t>= </a:t>
            </a:r>
            <a:r>
              <a:rPr sz="2800" b="1" spc="12" dirty="0" smtClean="0">
                <a:latin typeface="Times New Roman"/>
                <a:cs typeface="Times New Roman"/>
              </a:rPr>
              <a:t> </a:t>
            </a:r>
            <a:r>
              <a:rPr sz="2800" b="1" spc="-6" dirty="0">
                <a:latin typeface="Times New Roman"/>
                <a:cs typeface="Times New Roman"/>
              </a:rPr>
              <a:t>0</a:t>
            </a:r>
            <a:endParaRPr sz="2800" dirty="0">
              <a:latin typeface="Times New Roman"/>
              <a:cs typeface="Times New Roman"/>
            </a:endParaRPr>
          </a:p>
          <a:p>
            <a:pPr marL="15534">
              <a:lnSpc>
                <a:spcPts val="3217"/>
              </a:lnSpc>
              <a:spcBef>
                <a:spcPts val="1021"/>
              </a:spcBef>
              <a:tabLst>
                <a:tab pos="1920810" algn="l"/>
              </a:tabLst>
            </a:pPr>
            <a:r>
              <a:rPr sz="2800" b="1" spc="-6" dirty="0">
                <a:latin typeface="宋体"/>
                <a:cs typeface="宋体"/>
              </a:rPr>
              <a:t>假设对于</a:t>
            </a:r>
            <a:r>
              <a:rPr sz="2800" b="1" i="1" spc="-6" dirty="0">
                <a:latin typeface="Times New Roman"/>
                <a:cs typeface="Times New Roman"/>
              </a:rPr>
              <a:t>n</a:t>
            </a:r>
            <a:r>
              <a:rPr sz="2800" b="1" i="1" spc="6" dirty="0">
                <a:latin typeface="Times New Roman"/>
                <a:cs typeface="Times New Roman"/>
              </a:rPr>
              <a:t> </a:t>
            </a:r>
            <a:r>
              <a:rPr sz="2800" b="1" i="1" spc="-6" dirty="0">
                <a:latin typeface="Times New Roman"/>
                <a:cs typeface="Times New Roman"/>
              </a:rPr>
              <a:t>,</a:t>
            </a:r>
            <a:r>
              <a:rPr sz="2800" b="1" i="1" dirty="0">
                <a:latin typeface="Times New Roman"/>
                <a:cs typeface="Times New Roman"/>
              </a:rPr>
              <a:t>	</a:t>
            </a:r>
            <a:r>
              <a:rPr sz="2800" b="1" spc="-6" dirty="0" err="1" smtClean="0">
                <a:latin typeface="宋体"/>
                <a:cs typeface="宋体"/>
              </a:rPr>
              <a:t>解</a:t>
            </a:r>
            <a:r>
              <a:rPr lang="en-US" altLang="zh-CN" sz="2800" b="1" i="1" spc="-6" dirty="0" err="1">
                <a:latin typeface="Times New Roman"/>
                <a:cs typeface="Times New Roman"/>
              </a:rPr>
              <a:t>W</a:t>
            </a:r>
            <a:r>
              <a:rPr lang="en-US" altLang="zh-CN" sz="2800" b="1" spc="-6" dirty="0">
                <a:latin typeface="Times New Roman"/>
                <a:cs typeface="Times New Roman"/>
              </a:rPr>
              <a:t>(</a:t>
            </a:r>
            <a:r>
              <a:rPr lang="en-US" altLang="zh-CN" sz="2800" b="1" i="1" spc="-6" dirty="0">
                <a:latin typeface="Times New Roman"/>
                <a:cs typeface="Times New Roman"/>
              </a:rPr>
              <a:t>n</a:t>
            </a:r>
            <a:r>
              <a:rPr lang="en-US" altLang="zh-CN" sz="2800" b="1" spc="-6" dirty="0">
                <a:latin typeface="Times New Roman"/>
                <a:cs typeface="Times New Roman"/>
              </a:rPr>
              <a:t>)=</a:t>
            </a:r>
            <a:r>
              <a:rPr lang="en-US" altLang="zh-CN" sz="2800" b="1" i="1" spc="-6" dirty="0">
                <a:latin typeface="Times New Roman"/>
                <a:cs typeface="Times New Roman"/>
              </a:rPr>
              <a:t>n</a:t>
            </a:r>
            <a:r>
              <a:rPr lang="en-US" altLang="zh-CN" sz="2800" b="1" spc="-6" dirty="0">
                <a:latin typeface="Times New Roman"/>
                <a:cs typeface="Times New Roman"/>
              </a:rPr>
              <a:t>(</a:t>
            </a:r>
            <a:r>
              <a:rPr lang="en-US" altLang="zh-CN" sz="2800" b="1" i="1" spc="-6" dirty="0">
                <a:latin typeface="Times New Roman"/>
                <a:cs typeface="Times New Roman"/>
              </a:rPr>
              <a:t>n</a:t>
            </a:r>
            <a:r>
              <a:rPr lang="en-US" altLang="zh-CN" sz="2800" b="1" spc="-6" dirty="0">
                <a:latin typeface="Symbol"/>
                <a:cs typeface="Symbol"/>
              </a:rPr>
              <a:t></a:t>
            </a:r>
            <a:r>
              <a:rPr lang="en-US" altLang="zh-CN" sz="2800" b="1" spc="-6" dirty="0">
                <a:latin typeface="Times New Roman"/>
                <a:cs typeface="Times New Roman"/>
              </a:rPr>
              <a:t>1)/2</a:t>
            </a:r>
            <a:r>
              <a:rPr sz="2800" b="1" spc="-6" dirty="0" smtClean="0">
                <a:latin typeface="宋体"/>
                <a:cs typeface="宋体"/>
              </a:rPr>
              <a:t>满足方程</a:t>
            </a:r>
            <a:r>
              <a:rPr sz="2800" b="1" spc="-6" dirty="0">
                <a:latin typeface="宋体"/>
                <a:cs typeface="宋体"/>
              </a:rPr>
              <a:t>，</a:t>
            </a:r>
            <a:r>
              <a:rPr sz="2800" b="1" spc="-6" dirty="0" smtClean="0">
                <a:latin typeface="宋体"/>
                <a:cs typeface="宋体"/>
              </a:rPr>
              <a:t>则</a:t>
            </a:r>
            <a:endParaRPr lang="en-US" sz="2800" b="1" spc="-6" dirty="0" smtClean="0">
              <a:latin typeface="宋体"/>
              <a:cs typeface="宋体"/>
            </a:endParaRPr>
          </a:p>
          <a:p>
            <a:pPr marL="15534">
              <a:lnSpc>
                <a:spcPts val="3217"/>
              </a:lnSpc>
              <a:spcBef>
                <a:spcPts val="1021"/>
              </a:spcBef>
              <a:tabLst>
                <a:tab pos="1920810" algn="l"/>
              </a:tabLst>
            </a:pPr>
            <a:r>
              <a:rPr lang="en-US" sz="2800" b="1" i="1" spc="-6" dirty="0" smtClean="0">
                <a:latin typeface="Times New Roman"/>
                <a:cs typeface="Times New Roman"/>
              </a:rPr>
              <a:t>                         </a:t>
            </a:r>
            <a:r>
              <a:rPr sz="2800" b="1" i="1" spc="-6" dirty="0" smtClean="0">
                <a:latin typeface="Times New Roman"/>
                <a:cs typeface="Times New Roman"/>
              </a:rPr>
              <a:t>W</a:t>
            </a:r>
            <a:r>
              <a:rPr sz="2800" b="1" spc="-6" dirty="0" smtClean="0">
                <a:latin typeface="Times New Roman"/>
                <a:cs typeface="Times New Roman"/>
              </a:rPr>
              <a:t>(</a:t>
            </a:r>
            <a:r>
              <a:rPr sz="2800" b="1" i="1" spc="-6" dirty="0" smtClean="0">
                <a:latin typeface="Times New Roman"/>
                <a:cs typeface="Times New Roman"/>
              </a:rPr>
              <a:t>n</a:t>
            </a:r>
            <a:r>
              <a:rPr sz="2800" b="1" spc="-6" dirty="0" smtClean="0">
                <a:latin typeface="Times New Roman"/>
                <a:cs typeface="Times New Roman"/>
              </a:rPr>
              <a:t>+1)</a:t>
            </a:r>
            <a:r>
              <a:rPr lang="en-US" sz="2800" b="1" spc="-6" dirty="0" smtClean="0">
                <a:latin typeface="Times New Roman"/>
                <a:cs typeface="Times New Roman"/>
              </a:rPr>
              <a:t> </a:t>
            </a:r>
            <a:r>
              <a:rPr sz="2800" b="1" spc="25" dirty="0" smtClean="0">
                <a:latin typeface="Times New Roman"/>
                <a:cs typeface="Times New Roman"/>
              </a:rPr>
              <a:t>=</a:t>
            </a:r>
            <a:r>
              <a:rPr sz="2800" b="1" i="1" spc="-6" dirty="0" smtClean="0">
                <a:solidFill>
                  <a:srgbClr val="FF0000"/>
                </a:solidFill>
                <a:uFill>
                  <a:solidFill>
                    <a:srgbClr val="CC3300"/>
                  </a:solidFill>
                </a:uFill>
                <a:latin typeface="Times New Roman"/>
                <a:cs typeface="Times New Roman"/>
              </a:rPr>
              <a:t>W</a:t>
            </a:r>
            <a:r>
              <a:rPr sz="2800" b="1" spc="-6" dirty="0" smtClean="0">
                <a:solidFill>
                  <a:srgbClr val="FF0000"/>
                </a:solidFill>
                <a:uFill>
                  <a:solidFill>
                    <a:srgbClr val="CC3300"/>
                  </a:solidFill>
                </a:uFill>
                <a:latin typeface="Times New Roman"/>
                <a:cs typeface="Times New Roman"/>
              </a:rPr>
              <a:t>(</a:t>
            </a:r>
            <a:r>
              <a:rPr sz="2800" b="1" i="1" spc="-6" dirty="0" smtClean="0">
                <a:solidFill>
                  <a:srgbClr val="FF0000"/>
                </a:solidFill>
                <a:uFill>
                  <a:solidFill>
                    <a:srgbClr val="CC3300"/>
                  </a:solidFill>
                </a:uFill>
                <a:latin typeface="Times New Roman"/>
                <a:cs typeface="Times New Roman"/>
              </a:rPr>
              <a:t>n</a:t>
            </a:r>
            <a:r>
              <a:rPr sz="2800" b="1" spc="-6" dirty="0">
                <a:solidFill>
                  <a:srgbClr val="FF0000"/>
                </a:solidFill>
                <a:uFill>
                  <a:solidFill>
                    <a:srgbClr val="CC3300"/>
                  </a:solidFill>
                </a:uFill>
                <a:latin typeface="Times New Roman"/>
                <a:cs typeface="Times New Roman"/>
              </a:rPr>
              <a:t>)</a:t>
            </a:r>
            <a:r>
              <a:rPr sz="2800" b="1" spc="-6" dirty="0">
                <a:uFill>
                  <a:solidFill>
                    <a:srgbClr val="CC3300"/>
                  </a:solidFill>
                </a:uFill>
                <a:latin typeface="Times New Roman"/>
                <a:cs typeface="Times New Roman"/>
              </a:rPr>
              <a:t>+</a:t>
            </a:r>
            <a:r>
              <a:rPr sz="2800" b="1" i="1" spc="-6" dirty="0">
                <a:latin typeface="Times New Roman"/>
                <a:cs typeface="Times New Roman"/>
              </a:rPr>
              <a:t>n </a:t>
            </a:r>
            <a:r>
              <a:rPr lang="en-US" sz="2800" b="1" i="1" spc="-6" dirty="0" smtClean="0">
                <a:latin typeface="Times New Roman"/>
                <a:cs typeface="Times New Roman"/>
              </a:rPr>
              <a:t> </a:t>
            </a:r>
          </a:p>
          <a:p>
            <a:pPr marL="354181">
              <a:spcBef>
                <a:spcPts val="18"/>
              </a:spcBef>
            </a:pPr>
            <a:r>
              <a:rPr lang="en-US" sz="2800" b="1" i="1" spc="-6" dirty="0">
                <a:latin typeface="Times New Roman"/>
                <a:cs typeface="Times New Roman"/>
              </a:rPr>
              <a:t> </a:t>
            </a:r>
            <a:r>
              <a:rPr lang="en-US" sz="2800" b="1" i="1" spc="-6" dirty="0" smtClean="0">
                <a:latin typeface="Times New Roman"/>
                <a:cs typeface="Times New Roman"/>
              </a:rPr>
              <a:t>                                  </a:t>
            </a:r>
            <a:r>
              <a:rPr sz="2800" b="1" spc="-6" dirty="0" smtClean="0">
                <a:latin typeface="Times New Roman"/>
                <a:cs typeface="Times New Roman"/>
              </a:rPr>
              <a:t>=</a:t>
            </a:r>
            <a:r>
              <a:rPr sz="2800" b="1" i="1" spc="-6" dirty="0" smtClean="0">
                <a:solidFill>
                  <a:srgbClr val="FF0000"/>
                </a:solidFill>
                <a:latin typeface="Times New Roman"/>
                <a:cs typeface="Times New Roman"/>
              </a:rPr>
              <a:t>n</a:t>
            </a:r>
            <a:r>
              <a:rPr sz="2800" b="1" spc="-6" dirty="0" smtClean="0">
                <a:solidFill>
                  <a:srgbClr val="FF0000"/>
                </a:solidFill>
                <a:uFill>
                  <a:solidFill>
                    <a:srgbClr val="CC3300"/>
                  </a:solidFill>
                </a:uFill>
                <a:latin typeface="Times New Roman"/>
                <a:cs typeface="Times New Roman"/>
              </a:rPr>
              <a:t>(</a:t>
            </a:r>
            <a:r>
              <a:rPr sz="2800" b="1" i="1" spc="-6" dirty="0" smtClean="0">
                <a:solidFill>
                  <a:srgbClr val="FF0000"/>
                </a:solidFill>
                <a:uFill>
                  <a:solidFill>
                    <a:srgbClr val="CC3300"/>
                  </a:solidFill>
                </a:uFill>
                <a:latin typeface="Times New Roman"/>
                <a:cs typeface="Times New Roman"/>
              </a:rPr>
              <a:t>n</a:t>
            </a:r>
            <a:r>
              <a:rPr sz="2800" b="1" spc="-6" dirty="0">
                <a:solidFill>
                  <a:srgbClr val="FF0000"/>
                </a:solidFill>
                <a:uFill>
                  <a:solidFill>
                    <a:srgbClr val="CC3300"/>
                  </a:solidFill>
                </a:uFill>
                <a:latin typeface="Symbol"/>
                <a:cs typeface="Symbol"/>
              </a:rPr>
              <a:t></a:t>
            </a:r>
            <a:r>
              <a:rPr sz="2800" b="1" spc="-6" dirty="0">
                <a:solidFill>
                  <a:srgbClr val="FF0000"/>
                </a:solidFill>
                <a:uFill>
                  <a:solidFill>
                    <a:srgbClr val="CC3300"/>
                  </a:solidFill>
                </a:uFill>
                <a:latin typeface="Times New Roman"/>
                <a:cs typeface="Times New Roman"/>
              </a:rPr>
              <a:t>1)/2</a:t>
            </a:r>
            <a:r>
              <a:rPr sz="2800" b="1" spc="-6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b="1" spc="-6" dirty="0">
                <a:latin typeface="Times New Roman"/>
                <a:cs typeface="Times New Roman"/>
              </a:rPr>
              <a:t>+</a:t>
            </a:r>
            <a:r>
              <a:rPr sz="2800" b="1" spc="-43" dirty="0">
                <a:latin typeface="Times New Roman"/>
                <a:cs typeface="Times New Roman"/>
              </a:rPr>
              <a:t> </a:t>
            </a:r>
            <a:r>
              <a:rPr sz="2800" b="1" i="1" spc="-6" dirty="0">
                <a:latin typeface="Times New Roman"/>
                <a:cs typeface="Times New Roman"/>
              </a:rPr>
              <a:t>n</a:t>
            </a:r>
            <a:endParaRPr sz="2800" dirty="0">
              <a:latin typeface="Times New Roman"/>
              <a:cs typeface="Times New Roman"/>
            </a:endParaRPr>
          </a:p>
          <a:p>
            <a:pPr marL="354181"/>
            <a:r>
              <a:rPr lang="en-US" sz="2800" b="1" spc="-6" dirty="0" smtClean="0">
                <a:latin typeface="Times New Roman"/>
                <a:cs typeface="Times New Roman"/>
              </a:rPr>
              <a:t>                                   </a:t>
            </a:r>
            <a:r>
              <a:rPr sz="2800" b="1" spc="-6" dirty="0" smtClean="0">
                <a:latin typeface="Times New Roman"/>
                <a:cs typeface="Times New Roman"/>
              </a:rPr>
              <a:t>=</a:t>
            </a:r>
            <a:r>
              <a:rPr sz="2800" b="1" i="1" spc="-6" dirty="0" smtClean="0">
                <a:latin typeface="Times New Roman"/>
                <a:cs typeface="Times New Roman"/>
              </a:rPr>
              <a:t>n</a:t>
            </a:r>
            <a:r>
              <a:rPr sz="2800" b="1" spc="-6" dirty="0">
                <a:latin typeface="Times New Roman"/>
                <a:cs typeface="Times New Roman"/>
              </a:rPr>
              <a:t>[(</a:t>
            </a:r>
            <a:r>
              <a:rPr sz="2800" b="1" i="1" spc="-6" dirty="0">
                <a:latin typeface="Times New Roman"/>
                <a:cs typeface="Times New Roman"/>
              </a:rPr>
              <a:t>n</a:t>
            </a:r>
            <a:r>
              <a:rPr sz="2800" b="1" spc="-6" dirty="0">
                <a:latin typeface="Symbol"/>
                <a:cs typeface="Symbol"/>
              </a:rPr>
              <a:t></a:t>
            </a:r>
            <a:r>
              <a:rPr sz="2800" b="1" spc="-6" dirty="0">
                <a:latin typeface="Times New Roman"/>
                <a:cs typeface="Times New Roman"/>
              </a:rPr>
              <a:t>1)/2+1</a:t>
            </a:r>
            <a:r>
              <a:rPr sz="2800" b="1" spc="-6" dirty="0" smtClean="0">
                <a:latin typeface="Times New Roman"/>
                <a:cs typeface="Times New Roman"/>
              </a:rPr>
              <a:t>]</a:t>
            </a:r>
            <a:r>
              <a:rPr lang="en-US" sz="2800" b="1" spc="-6" dirty="0" smtClean="0">
                <a:latin typeface="Times New Roman"/>
                <a:cs typeface="Times New Roman"/>
              </a:rPr>
              <a:t> </a:t>
            </a:r>
            <a:r>
              <a:rPr sz="2800" b="1" spc="-6" dirty="0" smtClean="0">
                <a:latin typeface="Times New Roman"/>
                <a:cs typeface="Times New Roman"/>
              </a:rPr>
              <a:t>=</a:t>
            </a:r>
            <a:r>
              <a:rPr sz="2800" b="1" spc="18" dirty="0" smtClean="0">
                <a:latin typeface="Times New Roman"/>
                <a:cs typeface="Times New Roman"/>
              </a:rPr>
              <a:t> </a:t>
            </a:r>
            <a:r>
              <a:rPr sz="2800" b="1" i="1" spc="-6" dirty="0">
                <a:latin typeface="Times New Roman"/>
                <a:cs typeface="Times New Roman"/>
              </a:rPr>
              <a:t>n</a:t>
            </a:r>
            <a:r>
              <a:rPr sz="2800" b="1" spc="-6" dirty="0">
                <a:latin typeface="Times New Roman"/>
                <a:cs typeface="Times New Roman"/>
              </a:rPr>
              <a:t>(</a:t>
            </a:r>
            <a:r>
              <a:rPr sz="2800" b="1" i="1" spc="-6" dirty="0">
                <a:latin typeface="Times New Roman"/>
                <a:cs typeface="Times New Roman"/>
              </a:rPr>
              <a:t>n</a:t>
            </a:r>
            <a:r>
              <a:rPr sz="2800" b="1" spc="-6" dirty="0">
                <a:latin typeface="Times New Roman"/>
                <a:cs typeface="Times New Roman"/>
              </a:rPr>
              <a:t>+1)/2</a:t>
            </a:r>
            <a:endParaRPr sz="28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7650729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95483" y="1190824"/>
            <a:ext cx="8851149" cy="3064540"/>
          </a:xfrm>
          <a:prstGeom prst="rect">
            <a:avLst/>
          </a:prstGeom>
        </p:spPr>
        <p:txBody>
          <a:bodyPr vert="horz" wrap="square" lIns="0" tIns="119617" rIns="0" bIns="0" rtlCol="0">
            <a:spAutoFit/>
          </a:bodyPr>
          <a:lstStyle/>
          <a:p>
            <a:pPr marL="15534">
              <a:spcBef>
                <a:spcPts val="942"/>
              </a:spcBef>
            </a:pPr>
            <a:r>
              <a:rPr sz="3400" b="1" spc="-6" dirty="0">
                <a:latin typeface="宋体"/>
                <a:cs typeface="宋体"/>
              </a:rPr>
              <a:t>迭代法求解递推方程</a:t>
            </a:r>
            <a:endParaRPr sz="3400" dirty="0">
              <a:latin typeface="宋体"/>
              <a:cs typeface="宋体"/>
            </a:endParaRPr>
          </a:p>
          <a:p>
            <a:pPr marL="434959" indent="-419425" algn="just">
              <a:spcBef>
                <a:spcPts val="826"/>
              </a:spcBef>
              <a:buFont typeface="Arial"/>
              <a:buChar char="•"/>
              <a:tabLst>
                <a:tab pos="434959" algn="l"/>
              </a:tabLst>
            </a:pPr>
            <a:r>
              <a:rPr sz="3400" b="1" spc="-6" dirty="0">
                <a:latin typeface="宋体"/>
                <a:cs typeface="宋体"/>
              </a:rPr>
              <a:t>直接迭代，代入初值，然后求和</a:t>
            </a:r>
            <a:endParaRPr sz="3400" dirty="0">
              <a:latin typeface="宋体"/>
              <a:cs typeface="宋体"/>
            </a:endParaRPr>
          </a:p>
          <a:p>
            <a:pPr marL="434959" marR="6214" indent="-419425" algn="just">
              <a:lnSpc>
                <a:spcPct val="96800"/>
              </a:lnSpc>
              <a:spcBef>
                <a:spcPts val="1216"/>
              </a:spcBef>
              <a:buFont typeface="Arial"/>
              <a:buChar char="•"/>
              <a:tabLst>
                <a:tab pos="434959" algn="l"/>
              </a:tabLst>
            </a:pPr>
            <a:r>
              <a:rPr sz="3400" b="1" spc="-6" dirty="0" err="1">
                <a:latin typeface="宋体"/>
                <a:cs typeface="宋体"/>
              </a:rPr>
              <a:t>对递推方程和初值进行换元，</a:t>
            </a:r>
            <a:r>
              <a:rPr sz="3400" b="1" spc="-6" dirty="0" err="1" smtClean="0">
                <a:latin typeface="宋体"/>
                <a:cs typeface="宋体"/>
              </a:rPr>
              <a:t>然后求和</a:t>
            </a:r>
            <a:r>
              <a:rPr sz="3400" b="1" spc="-6" dirty="0" err="1">
                <a:latin typeface="宋体"/>
                <a:cs typeface="宋体"/>
              </a:rPr>
              <a:t>，求和后进行相反换元</a:t>
            </a:r>
            <a:r>
              <a:rPr sz="3400" b="1" spc="-6" dirty="0" err="1" smtClean="0">
                <a:latin typeface="宋体"/>
                <a:cs typeface="宋体"/>
              </a:rPr>
              <a:t>，得到原始递推方程的解</a:t>
            </a:r>
            <a:endParaRPr sz="3400" dirty="0">
              <a:latin typeface="宋体"/>
              <a:cs typeface="宋体"/>
            </a:endParaRPr>
          </a:p>
          <a:p>
            <a:pPr marL="434959" indent="-419425" algn="just">
              <a:spcBef>
                <a:spcPts val="826"/>
              </a:spcBef>
              <a:buFont typeface="Arial"/>
              <a:buChar char="•"/>
              <a:tabLst>
                <a:tab pos="434959" algn="l"/>
              </a:tabLst>
            </a:pPr>
            <a:r>
              <a:rPr sz="3400" b="1" spc="-6" dirty="0">
                <a:latin typeface="宋体"/>
                <a:cs typeface="宋体"/>
              </a:rPr>
              <a:t>验证方法</a:t>
            </a:r>
            <a:r>
              <a:rPr sz="3400" b="1" spc="-6" dirty="0">
                <a:latin typeface="Calibri"/>
                <a:cs typeface="Calibri"/>
              </a:rPr>
              <a:t>——</a:t>
            </a:r>
            <a:r>
              <a:rPr sz="3400" b="1" spc="-6" dirty="0">
                <a:latin typeface="宋体"/>
                <a:cs typeface="宋体"/>
              </a:rPr>
              <a:t>数学归纳法</a:t>
            </a:r>
            <a:endParaRPr sz="3400" dirty="0">
              <a:latin typeface="宋体"/>
              <a:cs typeface="宋体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 idx="4294967295"/>
          </p:nvPr>
        </p:nvSpPr>
        <p:spPr>
          <a:xfrm>
            <a:off x="382555" y="239460"/>
            <a:ext cx="8957387" cy="624300"/>
          </a:xfrm>
          <a:prstGeom prst="rect">
            <a:avLst/>
          </a:prstGeom>
        </p:spPr>
        <p:txBody>
          <a:bodyPr vert="horz" wrap="square" lIns="0" tIns="14758" rIns="0" bIns="0" rtlCol="0" anchor="ctr">
            <a:spAutoFit/>
          </a:bodyPr>
          <a:lstStyle/>
          <a:p>
            <a:pPr marL="15534" algn="ctr"/>
            <a:r>
              <a:rPr sz="4400" b="1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  <a:cs typeface="宋体"/>
              </a:rPr>
              <a:t>小</a:t>
            </a:r>
            <a:r>
              <a:rPr lang="en-US" sz="4400" b="1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  <a:cs typeface="宋体"/>
              </a:rPr>
              <a:t> </a:t>
            </a:r>
            <a:r>
              <a:rPr sz="4400" b="1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  <a:cs typeface="宋体"/>
              </a:rPr>
              <a:t>结</a:t>
            </a:r>
          </a:p>
        </p:txBody>
      </p:sp>
    </p:spTree>
    <p:extLst>
      <p:ext uri="{BB962C8B-B14F-4D97-AF65-F5344CB8AC3E}">
        <p14:creationId xmlns:p14="http://schemas.microsoft.com/office/powerpoint/2010/main" val="26991232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921037" y="1787531"/>
            <a:ext cx="7719095" cy="2047011"/>
          </a:xfrm>
          <a:prstGeom prst="rect">
            <a:avLst/>
          </a:prstGeom>
        </p:spPr>
        <p:txBody>
          <a:bodyPr vert="horz" wrap="square" lIns="0" tIns="15534" rIns="0" bIns="0" rtlCol="0" anchor="ctr">
            <a:spAutoFit/>
          </a:bodyPr>
          <a:lstStyle/>
          <a:p>
            <a:pPr marL="15534" marR="6214" indent="422532" algn="ctr">
              <a:lnSpc>
                <a:spcPct val="100000"/>
              </a:lnSpc>
              <a:spcBef>
                <a:spcPts val="122"/>
              </a:spcBef>
            </a:pPr>
            <a:r>
              <a:rPr sz="6600" spc="-18" dirty="0" err="1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差消法化简</a:t>
            </a:r>
            <a:r>
              <a:rPr sz="6600" spc="-18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 </a:t>
            </a:r>
            <a:r>
              <a:rPr lang="en-US" sz="6600" spc="-18" dirty="0" smtClean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/>
            </a:r>
            <a:br>
              <a:rPr lang="en-US" sz="6600" spc="-18" dirty="0" smtClean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</a:br>
            <a:r>
              <a:rPr sz="6600" spc="-30" dirty="0" err="1" smtClean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高</a:t>
            </a:r>
            <a:r>
              <a:rPr sz="6600" spc="-6" dirty="0" err="1" smtClean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阶</a:t>
            </a:r>
            <a:r>
              <a:rPr sz="6600" spc="-30" dirty="0" err="1" smtClean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递</a:t>
            </a:r>
            <a:r>
              <a:rPr sz="6600" spc="-6" dirty="0" err="1" smtClean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推方</a:t>
            </a:r>
            <a:r>
              <a:rPr sz="6600" spc="-30" dirty="0" err="1" smtClean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程</a:t>
            </a:r>
            <a:endParaRPr sz="6600" dirty="0">
              <a:solidFill>
                <a:srgbClr val="C00000"/>
              </a:solidFill>
              <a:latin typeface="黑体" pitchFamily="49" charset="-122"/>
              <a:ea typeface="黑体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396187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401216" y="255839"/>
            <a:ext cx="8854751" cy="624300"/>
          </a:xfrm>
          <a:prstGeom prst="rect">
            <a:avLst/>
          </a:prstGeom>
        </p:spPr>
        <p:txBody>
          <a:bodyPr vert="horz" wrap="square" lIns="0" tIns="14758" rIns="0" bIns="0" rtlCol="0" anchor="ctr">
            <a:spAutoFit/>
          </a:bodyPr>
          <a:lstStyle/>
          <a:p>
            <a:pPr marL="15534" algn="ctr"/>
            <a:r>
              <a:rPr sz="4400" b="1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  <a:cs typeface="宋体"/>
              </a:rPr>
              <a:t>快速排序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13698" y="1125111"/>
            <a:ext cx="8898253" cy="4122665"/>
          </a:xfrm>
          <a:prstGeom prst="rect">
            <a:avLst/>
          </a:prstGeom>
        </p:spPr>
        <p:txBody>
          <a:bodyPr vert="horz" wrap="square" lIns="0" tIns="173988" rIns="0" bIns="0" rtlCol="0">
            <a:spAutoFit/>
          </a:bodyPr>
          <a:lstStyle/>
          <a:p>
            <a:pPr marL="434959" indent="-419425">
              <a:spcBef>
                <a:spcPts val="1370"/>
              </a:spcBef>
              <a:buFont typeface="Arial"/>
              <a:buChar char="•"/>
              <a:tabLst>
                <a:tab pos="434182" algn="l"/>
                <a:tab pos="434959" algn="l"/>
              </a:tabLst>
            </a:pPr>
            <a:r>
              <a:rPr sz="3200" b="1" dirty="0">
                <a:latin typeface="宋体"/>
                <a:cs typeface="宋体"/>
              </a:rPr>
              <a:t>假</a:t>
            </a:r>
            <a:r>
              <a:rPr sz="3200" b="1" spc="-12" dirty="0">
                <a:latin typeface="宋体"/>
                <a:cs typeface="宋体"/>
              </a:rPr>
              <a:t>设</a:t>
            </a:r>
            <a:r>
              <a:rPr sz="3200" b="1" spc="-752" dirty="0">
                <a:latin typeface="宋体"/>
                <a:cs typeface="宋体"/>
              </a:rPr>
              <a:t> </a:t>
            </a:r>
            <a:r>
              <a:rPr sz="3200" b="1" i="1" spc="-6" dirty="0">
                <a:latin typeface="Times New Roman"/>
                <a:cs typeface="Times New Roman"/>
              </a:rPr>
              <a:t>A</a:t>
            </a:r>
            <a:r>
              <a:rPr sz="3200" b="1" spc="-6" dirty="0">
                <a:latin typeface="Times New Roman"/>
                <a:cs typeface="Times New Roman"/>
              </a:rPr>
              <a:t>[</a:t>
            </a:r>
            <a:r>
              <a:rPr sz="3200" b="1" i="1" spc="-6" dirty="0">
                <a:latin typeface="Times New Roman"/>
                <a:cs typeface="Times New Roman"/>
              </a:rPr>
              <a:t>p</a:t>
            </a:r>
            <a:r>
              <a:rPr sz="3200" b="1" spc="-6" dirty="0">
                <a:latin typeface="Times New Roman"/>
                <a:cs typeface="Times New Roman"/>
              </a:rPr>
              <a:t>..</a:t>
            </a:r>
            <a:r>
              <a:rPr sz="3200" b="1" i="1" spc="-6" dirty="0">
                <a:latin typeface="Times New Roman"/>
                <a:cs typeface="Times New Roman"/>
              </a:rPr>
              <a:t>r</a:t>
            </a:r>
            <a:r>
              <a:rPr sz="3200" b="1" spc="-6" dirty="0">
                <a:latin typeface="Times New Roman"/>
                <a:cs typeface="Times New Roman"/>
              </a:rPr>
              <a:t>] </a:t>
            </a:r>
            <a:r>
              <a:rPr sz="3200" b="1" dirty="0">
                <a:latin typeface="宋体"/>
                <a:cs typeface="宋体"/>
              </a:rPr>
              <a:t>的元素彼此不等</a:t>
            </a:r>
            <a:endParaRPr sz="3200" dirty="0">
              <a:latin typeface="宋体"/>
              <a:cs typeface="宋体"/>
            </a:endParaRPr>
          </a:p>
          <a:p>
            <a:pPr marL="852054" marR="6214" indent="-466027">
              <a:lnSpc>
                <a:spcPct val="104200"/>
              </a:lnSpc>
              <a:spcBef>
                <a:spcPts val="1101"/>
              </a:spcBef>
            </a:pPr>
            <a:r>
              <a:rPr sz="2900" b="1" dirty="0">
                <a:latin typeface="宋体"/>
                <a:cs typeface="宋体"/>
              </a:rPr>
              <a:t>以首元素</a:t>
            </a:r>
            <a:r>
              <a:rPr sz="2900" b="1" i="1" dirty="0">
                <a:latin typeface="Times New Roman"/>
                <a:cs typeface="Times New Roman"/>
              </a:rPr>
              <a:t>A</a:t>
            </a:r>
            <a:r>
              <a:rPr sz="2900" b="1" dirty="0">
                <a:latin typeface="Times New Roman"/>
                <a:cs typeface="Times New Roman"/>
              </a:rPr>
              <a:t>[1]</a:t>
            </a:r>
            <a:r>
              <a:rPr sz="2900" b="1" dirty="0">
                <a:latin typeface="宋体"/>
                <a:cs typeface="宋体"/>
              </a:rPr>
              <a:t>对数</a:t>
            </a:r>
            <a:r>
              <a:rPr sz="2900" b="1" spc="-12" dirty="0">
                <a:latin typeface="宋体"/>
                <a:cs typeface="宋体"/>
              </a:rPr>
              <a:t>组</a:t>
            </a:r>
            <a:r>
              <a:rPr sz="2900" b="1" spc="-801" dirty="0">
                <a:latin typeface="宋体"/>
                <a:cs typeface="宋体"/>
              </a:rPr>
              <a:t> </a:t>
            </a:r>
            <a:r>
              <a:rPr sz="2900" b="1" i="1" spc="-6" dirty="0">
                <a:latin typeface="Times New Roman"/>
                <a:cs typeface="Times New Roman"/>
              </a:rPr>
              <a:t>A</a:t>
            </a:r>
            <a:r>
              <a:rPr sz="2900" b="1" spc="-6" dirty="0">
                <a:latin typeface="Times New Roman"/>
                <a:cs typeface="Times New Roman"/>
              </a:rPr>
              <a:t>[</a:t>
            </a:r>
            <a:r>
              <a:rPr sz="2900" b="1" i="1" spc="-6" dirty="0">
                <a:latin typeface="Times New Roman"/>
                <a:cs typeface="Times New Roman"/>
              </a:rPr>
              <a:t>p..r</a:t>
            </a:r>
            <a:r>
              <a:rPr sz="2900" b="1" spc="-6" dirty="0">
                <a:latin typeface="Times New Roman"/>
                <a:cs typeface="Times New Roman"/>
              </a:rPr>
              <a:t>]</a:t>
            </a:r>
            <a:r>
              <a:rPr sz="2900" b="1" dirty="0">
                <a:latin typeface="宋体"/>
                <a:cs typeface="宋体"/>
              </a:rPr>
              <a:t>划分</a:t>
            </a:r>
            <a:r>
              <a:rPr sz="2900" b="1" dirty="0">
                <a:latin typeface="Times New Roman"/>
                <a:cs typeface="Times New Roman"/>
              </a:rPr>
              <a:t>,</a:t>
            </a:r>
            <a:r>
              <a:rPr sz="2900" b="1" dirty="0">
                <a:latin typeface="宋体"/>
                <a:cs typeface="宋体"/>
              </a:rPr>
              <a:t>使得：  </a:t>
            </a:r>
            <a:endParaRPr lang="en-US" sz="2900" b="1" dirty="0" smtClean="0">
              <a:latin typeface="宋体"/>
              <a:cs typeface="宋体"/>
            </a:endParaRPr>
          </a:p>
          <a:p>
            <a:pPr marL="852054" marR="6214" indent="-466027">
              <a:lnSpc>
                <a:spcPct val="104200"/>
              </a:lnSpc>
              <a:spcBef>
                <a:spcPts val="1101"/>
              </a:spcBef>
            </a:pPr>
            <a:r>
              <a:rPr lang="en-US" sz="2900" b="1" dirty="0">
                <a:latin typeface="宋体"/>
                <a:cs typeface="宋体"/>
              </a:rPr>
              <a:t> </a:t>
            </a:r>
            <a:r>
              <a:rPr lang="en-US" sz="2900" b="1" dirty="0" smtClean="0">
                <a:latin typeface="宋体"/>
                <a:cs typeface="宋体"/>
              </a:rPr>
              <a:t>   </a:t>
            </a:r>
            <a:r>
              <a:rPr sz="2900" b="1" dirty="0" err="1" smtClean="0">
                <a:latin typeface="宋体"/>
                <a:cs typeface="宋体"/>
              </a:rPr>
              <a:t>小于</a:t>
            </a:r>
            <a:r>
              <a:rPr sz="2900" b="1" i="1" dirty="0" err="1">
                <a:latin typeface="Times New Roman"/>
                <a:cs typeface="Times New Roman"/>
              </a:rPr>
              <a:t>x</a:t>
            </a:r>
            <a:r>
              <a:rPr sz="2900" b="1" i="1" spc="-6" dirty="0">
                <a:latin typeface="Times New Roman"/>
                <a:cs typeface="Times New Roman"/>
              </a:rPr>
              <a:t> </a:t>
            </a:r>
            <a:r>
              <a:rPr sz="2900" b="1" dirty="0" err="1">
                <a:latin typeface="宋体"/>
                <a:cs typeface="宋体"/>
              </a:rPr>
              <a:t>的元素放</a:t>
            </a:r>
            <a:r>
              <a:rPr sz="2900" b="1" spc="-12" dirty="0" err="1">
                <a:latin typeface="宋体"/>
                <a:cs typeface="宋体"/>
              </a:rPr>
              <a:t>在</a:t>
            </a:r>
            <a:r>
              <a:rPr sz="2900" b="1" spc="-734" dirty="0">
                <a:latin typeface="宋体"/>
                <a:cs typeface="宋体"/>
              </a:rPr>
              <a:t> </a:t>
            </a:r>
            <a:r>
              <a:rPr sz="2900" b="1" i="1" spc="-6" dirty="0" smtClean="0">
                <a:latin typeface="Times New Roman"/>
                <a:cs typeface="Times New Roman"/>
              </a:rPr>
              <a:t>A</a:t>
            </a:r>
            <a:r>
              <a:rPr sz="2900" b="1" spc="-6" dirty="0" smtClean="0">
                <a:latin typeface="Times New Roman"/>
                <a:cs typeface="Times New Roman"/>
              </a:rPr>
              <a:t>[</a:t>
            </a:r>
            <a:r>
              <a:rPr sz="2900" b="1" i="1" dirty="0" smtClean="0">
                <a:latin typeface="Times New Roman"/>
                <a:cs typeface="Times New Roman"/>
              </a:rPr>
              <a:t>p</a:t>
            </a:r>
            <a:r>
              <a:rPr sz="2900" b="1" dirty="0">
                <a:latin typeface="Times New Roman"/>
                <a:cs typeface="Times New Roman"/>
              </a:rPr>
              <a:t>..</a:t>
            </a:r>
            <a:r>
              <a:rPr sz="2900" b="1" i="1" dirty="0">
                <a:latin typeface="Times New Roman"/>
                <a:cs typeface="Times New Roman"/>
              </a:rPr>
              <a:t>q</a:t>
            </a:r>
            <a:r>
              <a:rPr sz="2900" b="1" dirty="0">
                <a:latin typeface="Symbol"/>
                <a:cs typeface="Symbol"/>
              </a:rPr>
              <a:t></a:t>
            </a:r>
            <a:r>
              <a:rPr sz="2900" b="1" dirty="0">
                <a:latin typeface="Times New Roman"/>
                <a:cs typeface="Times New Roman"/>
              </a:rPr>
              <a:t>1]</a:t>
            </a:r>
            <a:endParaRPr sz="2900" dirty="0">
              <a:latin typeface="Times New Roman"/>
              <a:cs typeface="Times New Roman"/>
            </a:endParaRPr>
          </a:p>
          <a:p>
            <a:pPr marL="852054">
              <a:spcBef>
                <a:spcPts val="147"/>
              </a:spcBef>
            </a:pPr>
            <a:r>
              <a:rPr lang="en-US" sz="2900" b="1" dirty="0" smtClean="0">
                <a:latin typeface="宋体"/>
                <a:cs typeface="宋体"/>
              </a:rPr>
              <a:t> </a:t>
            </a:r>
            <a:r>
              <a:rPr sz="2900" b="1" dirty="0" err="1" smtClean="0">
                <a:latin typeface="宋体"/>
                <a:cs typeface="宋体"/>
              </a:rPr>
              <a:t>大</a:t>
            </a:r>
            <a:r>
              <a:rPr sz="2900" b="1" spc="-12" dirty="0" err="1" smtClean="0">
                <a:latin typeface="宋体"/>
                <a:cs typeface="宋体"/>
              </a:rPr>
              <a:t>于</a:t>
            </a:r>
            <a:r>
              <a:rPr sz="2900" b="1" spc="-740" dirty="0" smtClean="0">
                <a:latin typeface="宋体"/>
                <a:cs typeface="宋体"/>
              </a:rPr>
              <a:t> </a:t>
            </a:r>
            <a:r>
              <a:rPr sz="2900" b="1" i="1" dirty="0">
                <a:latin typeface="Times New Roman"/>
                <a:cs typeface="Times New Roman"/>
              </a:rPr>
              <a:t>x</a:t>
            </a:r>
            <a:r>
              <a:rPr sz="2900" b="1" i="1" spc="-6" dirty="0">
                <a:latin typeface="Times New Roman"/>
                <a:cs typeface="Times New Roman"/>
              </a:rPr>
              <a:t> </a:t>
            </a:r>
            <a:r>
              <a:rPr sz="2900" b="1" dirty="0">
                <a:latin typeface="宋体"/>
                <a:cs typeface="宋体"/>
              </a:rPr>
              <a:t>的元素放</a:t>
            </a:r>
            <a:r>
              <a:rPr sz="2900" b="1" spc="-12" dirty="0">
                <a:latin typeface="宋体"/>
                <a:cs typeface="宋体"/>
              </a:rPr>
              <a:t>在</a:t>
            </a:r>
            <a:r>
              <a:rPr sz="2900" b="1" spc="-734" dirty="0">
                <a:latin typeface="宋体"/>
                <a:cs typeface="宋体"/>
              </a:rPr>
              <a:t> </a:t>
            </a:r>
            <a:r>
              <a:rPr sz="2900" b="1" i="1" spc="-6" dirty="0">
                <a:latin typeface="Times New Roman"/>
                <a:cs typeface="Times New Roman"/>
              </a:rPr>
              <a:t>A</a:t>
            </a:r>
            <a:r>
              <a:rPr sz="2900" b="1" spc="-6" dirty="0">
                <a:latin typeface="Times New Roman"/>
                <a:cs typeface="Times New Roman"/>
              </a:rPr>
              <a:t>[</a:t>
            </a:r>
            <a:r>
              <a:rPr sz="2900" b="1" i="1" spc="-6" dirty="0">
                <a:latin typeface="Times New Roman"/>
                <a:cs typeface="Times New Roman"/>
              </a:rPr>
              <a:t>q</a:t>
            </a:r>
            <a:r>
              <a:rPr sz="2900" b="1" spc="-6" dirty="0">
                <a:latin typeface="Times New Roman"/>
                <a:cs typeface="Times New Roman"/>
              </a:rPr>
              <a:t>+1..</a:t>
            </a:r>
            <a:r>
              <a:rPr sz="2900" b="1" i="1" spc="-6" dirty="0">
                <a:latin typeface="Times New Roman"/>
                <a:cs typeface="Times New Roman"/>
              </a:rPr>
              <a:t>r</a:t>
            </a:r>
            <a:r>
              <a:rPr sz="2900" b="1" spc="-6" dirty="0">
                <a:latin typeface="Times New Roman"/>
                <a:cs typeface="Times New Roman"/>
              </a:rPr>
              <a:t>]</a:t>
            </a:r>
            <a:endParaRPr sz="2900" dirty="0">
              <a:latin typeface="Times New Roman"/>
              <a:cs typeface="Times New Roman"/>
            </a:endParaRPr>
          </a:p>
          <a:p>
            <a:pPr marL="434959" indent="-419425">
              <a:spcBef>
                <a:spcPts val="2355"/>
              </a:spcBef>
              <a:buFont typeface="Arial"/>
              <a:buChar char="•"/>
              <a:tabLst>
                <a:tab pos="434182" algn="l"/>
                <a:tab pos="434959" algn="l"/>
              </a:tabLst>
            </a:pPr>
            <a:r>
              <a:rPr sz="3200" b="1" spc="-6" dirty="0" err="1">
                <a:latin typeface="宋体"/>
                <a:cs typeface="宋体"/>
              </a:rPr>
              <a:t>递归</a:t>
            </a:r>
            <a:r>
              <a:rPr sz="3200" b="1" spc="-12" dirty="0" err="1">
                <a:latin typeface="宋体"/>
                <a:cs typeface="宋体"/>
              </a:rPr>
              <a:t>对</a:t>
            </a:r>
            <a:r>
              <a:rPr sz="3200" b="1" spc="-752" dirty="0">
                <a:latin typeface="宋体"/>
                <a:cs typeface="宋体"/>
              </a:rPr>
              <a:t> </a:t>
            </a:r>
            <a:r>
              <a:rPr sz="3200" b="1" i="1" spc="-6" dirty="0" smtClean="0">
                <a:latin typeface="Times New Roman"/>
                <a:cs typeface="Times New Roman"/>
              </a:rPr>
              <a:t>A</a:t>
            </a:r>
            <a:r>
              <a:rPr sz="3200" b="1" spc="-6" dirty="0" smtClean="0">
                <a:latin typeface="Times New Roman"/>
                <a:cs typeface="Times New Roman"/>
              </a:rPr>
              <a:t>[</a:t>
            </a:r>
            <a:r>
              <a:rPr sz="3200" b="1" i="1" spc="-6" dirty="0" smtClean="0">
                <a:latin typeface="Times New Roman"/>
                <a:cs typeface="Times New Roman"/>
              </a:rPr>
              <a:t>p</a:t>
            </a:r>
            <a:r>
              <a:rPr sz="3200" b="1" spc="-6" dirty="0">
                <a:latin typeface="Times New Roman"/>
                <a:cs typeface="Times New Roman"/>
              </a:rPr>
              <a:t>..</a:t>
            </a:r>
            <a:r>
              <a:rPr sz="3200" b="1" i="1" spc="-6" dirty="0">
                <a:latin typeface="Times New Roman"/>
                <a:cs typeface="Times New Roman"/>
              </a:rPr>
              <a:t>q</a:t>
            </a:r>
            <a:r>
              <a:rPr sz="3200" b="1" spc="-6" dirty="0">
                <a:latin typeface="Symbol"/>
                <a:cs typeface="Symbol"/>
              </a:rPr>
              <a:t></a:t>
            </a:r>
            <a:r>
              <a:rPr sz="3200" b="1" spc="-6" dirty="0">
                <a:latin typeface="Times New Roman"/>
                <a:cs typeface="Times New Roman"/>
              </a:rPr>
              <a:t>1]</a:t>
            </a:r>
            <a:r>
              <a:rPr sz="3200" b="1" spc="-12" dirty="0">
                <a:latin typeface="宋体"/>
                <a:cs typeface="宋体"/>
              </a:rPr>
              <a:t>和</a:t>
            </a:r>
            <a:r>
              <a:rPr sz="3200" b="1" spc="-771" dirty="0">
                <a:latin typeface="宋体"/>
                <a:cs typeface="宋体"/>
              </a:rPr>
              <a:t> </a:t>
            </a:r>
            <a:r>
              <a:rPr sz="3200" b="1" i="1" spc="-6" dirty="0">
                <a:latin typeface="Times New Roman"/>
                <a:cs typeface="Times New Roman"/>
              </a:rPr>
              <a:t>A</a:t>
            </a:r>
            <a:r>
              <a:rPr sz="3200" b="1" spc="-6" dirty="0">
                <a:latin typeface="Times New Roman"/>
                <a:cs typeface="Times New Roman"/>
              </a:rPr>
              <a:t>[</a:t>
            </a:r>
            <a:r>
              <a:rPr sz="3200" b="1" i="1" spc="-6" dirty="0">
                <a:latin typeface="Times New Roman"/>
                <a:cs typeface="Times New Roman"/>
              </a:rPr>
              <a:t>q</a:t>
            </a:r>
            <a:r>
              <a:rPr sz="3200" b="1" spc="-6" dirty="0">
                <a:latin typeface="Times New Roman"/>
                <a:cs typeface="Times New Roman"/>
              </a:rPr>
              <a:t>+1..</a:t>
            </a:r>
            <a:r>
              <a:rPr sz="3200" b="1" i="1" spc="-6" dirty="0">
                <a:latin typeface="Times New Roman"/>
                <a:cs typeface="Times New Roman"/>
              </a:rPr>
              <a:t>r</a:t>
            </a:r>
            <a:r>
              <a:rPr sz="3200" b="1" spc="-6" dirty="0">
                <a:latin typeface="Times New Roman"/>
                <a:cs typeface="Times New Roman"/>
              </a:rPr>
              <a:t>]</a:t>
            </a:r>
            <a:r>
              <a:rPr sz="3200" b="1" dirty="0">
                <a:latin typeface="Times New Roman"/>
                <a:cs typeface="Times New Roman"/>
              </a:rPr>
              <a:t> </a:t>
            </a:r>
            <a:r>
              <a:rPr sz="3200" b="1" spc="-6" dirty="0">
                <a:latin typeface="宋体"/>
                <a:cs typeface="宋体"/>
              </a:rPr>
              <a:t>排序</a:t>
            </a:r>
            <a:endParaRPr sz="3200" dirty="0">
              <a:latin typeface="宋体"/>
              <a:cs typeface="宋体"/>
            </a:endParaRPr>
          </a:p>
          <a:p>
            <a:pPr>
              <a:spcBef>
                <a:spcPts val="6"/>
              </a:spcBef>
            </a:pPr>
            <a:endParaRPr sz="3200" dirty="0">
              <a:latin typeface="Times New Roman"/>
              <a:cs typeface="Times New Roman"/>
            </a:endParaRPr>
          </a:p>
          <a:p>
            <a:pPr marL="327772"/>
            <a:r>
              <a:rPr sz="3200" b="1" spc="-6" dirty="0">
                <a:solidFill>
                  <a:srgbClr val="C00000"/>
                </a:solidFill>
                <a:latin typeface="宋体"/>
                <a:cs typeface="宋体"/>
              </a:rPr>
              <a:t>工作量</a:t>
            </a:r>
            <a:r>
              <a:rPr sz="3200" b="1" dirty="0">
                <a:solidFill>
                  <a:srgbClr val="C00000"/>
                </a:solidFill>
                <a:latin typeface="宋体"/>
                <a:cs typeface="宋体"/>
              </a:rPr>
              <a:t>：</a:t>
            </a:r>
            <a:r>
              <a:rPr sz="3200" b="1" spc="-6" dirty="0">
                <a:latin typeface="宋体"/>
                <a:cs typeface="宋体"/>
              </a:rPr>
              <a:t>子问题工作</a:t>
            </a:r>
            <a:r>
              <a:rPr sz="3200" b="1" dirty="0">
                <a:latin typeface="宋体"/>
                <a:cs typeface="宋体"/>
              </a:rPr>
              <a:t>量</a:t>
            </a:r>
            <a:r>
              <a:rPr sz="3200" b="1" dirty="0">
                <a:latin typeface="Times New Roman"/>
                <a:cs typeface="Times New Roman"/>
              </a:rPr>
              <a:t>+</a:t>
            </a:r>
            <a:r>
              <a:rPr sz="3200" b="1" spc="-6" dirty="0">
                <a:latin typeface="宋体"/>
                <a:cs typeface="宋体"/>
              </a:rPr>
              <a:t>划分工作量</a:t>
            </a:r>
            <a:endParaRPr sz="3200" dirty="0">
              <a:latin typeface="宋体"/>
              <a:cs typeface="宋体"/>
            </a:endParaRPr>
          </a:p>
        </p:txBody>
      </p:sp>
    </p:spTree>
    <p:extLst>
      <p:ext uri="{BB962C8B-B14F-4D97-AF65-F5344CB8AC3E}">
        <p14:creationId xmlns:p14="http://schemas.microsoft.com/office/powerpoint/2010/main" val="7162736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373224" y="243816"/>
            <a:ext cx="8929395" cy="624300"/>
          </a:xfrm>
          <a:prstGeom prst="rect">
            <a:avLst/>
          </a:prstGeom>
        </p:spPr>
        <p:txBody>
          <a:bodyPr vert="horz" wrap="square" lIns="0" tIns="14758" rIns="0" bIns="0" rtlCol="0" anchor="ctr">
            <a:spAutoFit/>
          </a:bodyPr>
          <a:lstStyle/>
          <a:p>
            <a:pPr marL="15534" algn="ctr"/>
            <a:r>
              <a:rPr sz="4400" b="1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  <a:cs typeface="宋体"/>
              </a:rPr>
              <a:t>输入情况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14146" y="1238507"/>
            <a:ext cx="4643043" cy="445789"/>
          </a:xfrm>
          <a:prstGeom prst="rect">
            <a:avLst/>
          </a:prstGeom>
        </p:spPr>
        <p:txBody>
          <a:bodyPr vert="horz" wrap="square" lIns="0" tIns="14758" rIns="0" bIns="0" rtlCol="0">
            <a:spAutoFit/>
          </a:bodyPr>
          <a:lstStyle/>
          <a:p>
            <a:pPr marL="434959" indent="-419425">
              <a:spcBef>
                <a:spcPts val="117"/>
              </a:spcBef>
              <a:buFont typeface="Arial"/>
              <a:buChar char="•"/>
              <a:tabLst>
                <a:tab pos="434182" algn="l"/>
                <a:tab pos="434959" algn="l"/>
              </a:tabLst>
            </a:pPr>
            <a:r>
              <a:rPr sz="2800" b="1" spc="-18" dirty="0">
                <a:latin typeface="宋体"/>
                <a:cs typeface="宋体"/>
              </a:rPr>
              <a:t>有</a:t>
            </a:r>
            <a:r>
              <a:rPr sz="2800" b="1" spc="-722" dirty="0">
                <a:latin typeface="宋体"/>
                <a:cs typeface="宋体"/>
              </a:rPr>
              <a:t> </a:t>
            </a:r>
            <a:r>
              <a:rPr sz="2800" b="1" i="1" spc="-6" dirty="0">
                <a:latin typeface="Times New Roman"/>
                <a:cs typeface="Times New Roman"/>
              </a:rPr>
              <a:t>n</a:t>
            </a:r>
            <a:r>
              <a:rPr sz="2800" b="1" i="1" spc="-37" dirty="0">
                <a:latin typeface="Times New Roman"/>
                <a:cs typeface="Times New Roman"/>
              </a:rPr>
              <a:t> </a:t>
            </a:r>
            <a:r>
              <a:rPr sz="2800" b="1" spc="-12" dirty="0">
                <a:latin typeface="宋体"/>
                <a:cs typeface="宋体"/>
              </a:rPr>
              <a:t>种可能的输入</a:t>
            </a:r>
            <a:endParaRPr sz="2800" dirty="0">
              <a:latin typeface="宋体"/>
              <a:cs typeface="宋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14146" y="5352898"/>
            <a:ext cx="8295557" cy="445789"/>
          </a:xfrm>
          <a:prstGeom prst="rect">
            <a:avLst/>
          </a:prstGeom>
        </p:spPr>
        <p:txBody>
          <a:bodyPr vert="horz" wrap="square" lIns="0" tIns="14758" rIns="0" bIns="0" rtlCol="0">
            <a:spAutoFit/>
          </a:bodyPr>
          <a:lstStyle/>
          <a:p>
            <a:pPr marL="15534">
              <a:spcBef>
                <a:spcPts val="117"/>
              </a:spcBef>
            </a:pPr>
            <a:r>
              <a:rPr sz="2800" b="1" spc="-6" dirty="0">
                <a:latin typeface="宋体"/>
                <a:cs typeface="宋体"/>
              </a:rPr>
              <a:t>对每个输入，划分的比</a:t>
            </a:r>
            <a:r>
              <a:rPr sz="2800" b="1" spc="6" dirty="0">
                <a:latin typeface="宋体"/>
                <a:cs typeface="宋体"/>
              </a:rPr>
              <a:t>较</a:t>
            </a:r>
            <a:r>
              <a:rPr sz="2800" b="1" spc="-6" dirty="0">
                <a:latin typeface="宋体"/>
                <a:cs typeface="宋体"/>
              </a:rPr>
              <a:t>次数</a:t>
            </a:r>
            <a:r>
              <a:rPr sz="2800" b="1" spc="6" dirty="0">
                <a:latin typeface="宋体"/>
                <a:cs typeface="宋体"/>
              </a:rPr>
              <a:t>都</a:t>
            </a:r>
            <a:r>
              <a:rPr sz="2800" b="1" spc="-18" dirty="0">
                <a:latin typeface="宋体"/>
                <a:cs typeface="宋体"/>
              </a:rPr>
              <a:t>是</a:t>
            </a:r>
            <a:r>
              <a:rPr sz="2800" b="1" spc="-649" dirty="0">
                <a:latin typeface="宋体"/>
                <a:cs typeface="宋体"/>
              </a:rPr>
              <a:t> </a:t>
            </a:r>
            <a:r>
              <a:rPr sz="2800" b="1" i="1" spc="-6" dirty="0">
                <a:latin typeface="Times New Roman"/>
                <a:cs typeface="Times New Roman"/>
              </a:rPr>
              <a:t>n</a:t>
            </a:r>
            <a:r>
              <a:rPr sz="2800" b="1" spc="-6" dirty="0">
                <a:latin typeface="Symbol"/>
                <a:cs typeface="Symbol"/>
              </a:rPr>
              <a:t></a:t>
            </a:r>
            <a:r>
              <a:rPr sz="2800" b="1" spc="-6" dirty="0">
                <a:latin typeface="Times New Roman"/>
                <a:cs typeface="Times New Roman"/>
              </a:rPr>
              <a:t>1</a:t>
            </a:r>
            <a:endParaRPr sz="2800" dirty="0">
              <a:latin typeface="Times New Roman"/>
              <a:cs typeface="Times New Roman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6267503"/>
              </p:ext>
            </p:extLst>
          </p:nvPr>
        </p:nvGraphicFramePr>
        <p:xfrm>
          <a:off x="1767417" y="1857364"/>
          <a:ext cx="5855694" cy="48001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51441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735493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1968760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</a:tblGrid>
              <a:tr h="480013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2300" b="1" i="1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sz="2300" b="1" i="1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300" b="1" dirty="0">
                          <a:latin typeface="宋体"/>
                          <a:cs typeface="宋体"/>
                        </a:rPr>
                        <a:t>排好序位置</a:t>
                      </a:r>
                      <a:endParaRPr sz="2300" dirty="0">
                        <a:latin typeface="宋体"/>
                        <a:cs typeface="宋体"/>
                      </a:endParaRPr>
                    </a:p>
                  </a:txBody>
                  <a:tcPr marL="0" marR="0" marT="52001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2300" b="1" dirty="0">
                          <a:latin typeface="宋体"/>
                          <a:cs typeface="宋体"/>
                        </a:rPr>
                        <a:t>子问</a:t>
                      </a:r>
                      <a:r>
                        <a:rPr sz="2300" b="1" spc="-10" dirty="0">
                          <a:latin typeface="宋体"/>
                          <a:cs typeface="宋体"/>
                        </a:rPr>
                        <a:t>题</a:t>
                      </a:r>
                      <a:r>
                        <a:rPr sz="2300" b="1" spc="-480" dirty="0">
                          <a:latin typeface="宋体"/>
                          <a:cs typeface="宋体"/>
                        </a:rPr>
                        <a:t> </a:t>
                      </a:r>
                      <a:r>
                        <a:rPr sz="2300" b="1" dirty="0">
                          <a:latin typeface="Times New Roman"/>
                          <a:cs typeface="Times New Roman"/>
                        </a:rPr>
                        <a:t>1</a:t>
                      </a:r>
                      <a:r>
                        <a:rPr sz="2300" b="1" dirty="0">
                          <a:latin typeface="宋体"/>
                          <a:cs typeface="宋体"/>
                        </a:rPr>
                        <a:t>规模</a:t>
                      </a:r>
                      <a:endParaRPr sz="2300">
                        <a:latin typeface="宋体"/>
                        <a:cs typeface="宋体"/>
                      </a:endParaRPr>
                    </a:p>
                  </a:txBody>
                  <a:tcPr marL="0" marR="0" marT="52001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2300" b="1" dirty="0">
                          <a:latin typeface="宋体"/>
                          <a:cs typeface="宋体"/>
                        </a:rPr>
                        <a:t>子问</a:t>
                      </a:r>
                      <a:r>
                        <a:rPr sz="2300" b="1" spc="-10" dirty="0">
                          <a:latin typeface="宋体"/>
                          <a:cs typeface="宋体"/>
                        </a:rPr>
                        <a:t>题</a:t>
                      </a:r>
                      <a:r>
                        <a:rPr sz="2300" b="1" spc="-484" dirty="0">
                          <a:latin typeface="宋体"/>
                          <a:cs typeface="宋体"/>
                        </a:rPr>
                        <a:t> </a:t>
                      </a:r>
                      <a:r>
                        <a:rPr sz="2300" b="1" dirty="0">
                          <a:latin typeface="Times New Roman"/>
                          <a:cs typeface="Times New Roman"/>
                        </a:rPr>
                        <a:t>2</a:t>
                      </a:r>
                      <a:r>
                        <a:rPr sz="2300" b="1" dirty="0">
                          <a:latin typeface="宋体"/>
                          <a:cs typeface="宋体"/>
                        </a:rPr>
                        <a:t>规模</a:t>
                      </a:r>
                      <a:endParaRPr sz="2300" dirty="0">
                        <a:latin typeface="宋体"/>
                        <a:cs typeface="宋体"/>
                      </a:endParaRPr>
                    </a:p>
                  </a:txBody>
                  <a:tcPr marL="0" marR="0" marT="52001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object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5874274"/>
              </p:ext>
            </p:extLst>
          </p:nvPr>
        </p:nvGraphicFramePr>
        <p:xfrm>
          <a:off x="1764572" y="4726954"/>
          <a:ext cx="5855694" cy="48001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51441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735493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1968760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</a:tblGrid>
              <a:tr h="480013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400" b="1" i="1" dirty="0">
                          <a:latin typeface="Times New Roman"/>
                          <a:cs typeface="Times New Roman"/>
                        </a:rPr>
                        <a:t>n</a:t>
                      </a:r>
                      <a:endParaRPr sz="2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8802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 cap="flat" cmpd="sng" algn="ctr">
                      <a:solidFill>
                        <a:srgbClr val="4F8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400" b="1" i="1" dirty="0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2400" b="1" dirty="0">
                          <a:latin typeface="Symbol"/>
                          <a:cs typeface="Symbol"/>
                        </a:rPr>
                        <a:t></a:t>
                      </a:r>
                      <a:r>
                        <a:rPr sz="24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48802" marB="0">
                    <a:lnL w="12700" cap="flat" cmpd="sng" algn="ctr">
                      <a:solidFill>
                        <a:srgbClr val="4F8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8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8802" marB="0">
                    <a:lnL w="12700" cap="flat" cmpd="sng" algn="ctr">
                      <a:solidFill>
                        <a:srgbClr val="4F8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7" name="object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7572039"/>
              </p:ext>
            </p:extLst>
          </p:nvPr>
        </p:nvGraphicFramePr>
        <p:xfrm>
          <a:off x="1761329" y="4245469"/>
          <a:ext cx="5855694" cy="48001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51441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735493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1968760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</a:tblGrid>
              <a:tr h="480013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400" b="1" i="1" spc="-5" dirty="0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2400" b="1" spc="-5" dirty="0">
                          <a:latin typeface="Symbol"/>
                          <a:cs typeface="Symbol"/>
                        </a:rPr>
                        <a:t></a:t>
                      </a:r>
                      <a:r>
                        <a:rPr sz="2400" b="1" spc="-5" dirty="0">
                          <a:latin typeface="Times New Roman"/>
                          <a:cs typeface="Times New Roman"/>
                        </a:rPr>
                        <a:t>1</a:t>
                      </a:r>
                      <a:endParaRPr sz="2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8802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 cap="flat" cmpd="sng" algn="ctr">
                      <a:solidFill>
                        <a:srgbClr val="4F8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400" b="1" i="1" dirty="0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2400" b="1" dirty="0">
                          <a:latin typeface="Symbol"/>
                          <a:cs typeface="Symbol"/>
                        </a:rPr>
                        <a:t></a:t>
                      </a:r>
                      <a:r>
                        <a:rPr sz="2400" b="1" dirty="0">
                          <a:latin typeface="Times New Roman"/>
                          <a:cs typeface="Times New Roman"/>
                        </a:rPr>
                        <a:t>2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48802" marB="0">
                    <a:lnL w="12700" cap="flat" cmpd="sng" algn="ctr">
                      <a:solidFill>
                        <a:srgbClr val="4F8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8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8802" marB="0">
                    <a:lnL w="12700" cap="flat" cmpd="sng" algn="ctr">
                      <a:solidFill>
                        <a:srgbClr val="4F8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8" name="object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0535759"/>
              </p:ext>
            </p:extLst>
          </p:nvPr>
        </p:nvGraphicFramePr>
        <p:xfrm>
          <a:off x="1758086" y="3764078"/>
          <a:ext cx="5855694" cy="48001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51441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735493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1968760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</a:tblGrid>
              <a:tr h="480013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400" b="1" spc="5" dirty="0">
                          <a:latin typeface="Times New Roman"/>
                          <a:cs typeface="Times New Roman"/>
                        </a:rPr>
                        <a:t>...</a:t>
                      </a:r>
                      <a:endParaRPr sz="2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8802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 cap="flat" cmpd="sng" algn="ctr">
                      <a:solidFill>
                        <a:srgbClr val="4F8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400" b="1" spc="5" dirty="0">
                          <a:latin typeface="Times New Roman"/>
                          <a:cs typeface="Times New Roman"/>
                        </a:rPr>
                        <a:t>...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48802" marB="0">
                    <a:lnL w="12700" cap="flat" cmpd="sng" algn="ctr">
                      <a:solidFill>
                        <a:srgbClr val="4F8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8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400" b="1" i="1" spc="5" dirty="0" smtClean="0">
                          <a:latin typeface="Times New Roman"/>
                          <a:cs typeface="Times New Roman"/>
                        </a:rPr>
                        <a:t>...</a:t>
                      </a:r>
                      <a:endParaRPr sz="2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8802" marB="0">
                    <a:lnL w="12700" cap="flat" cmpd="sng" algn="ctr">
                      <a:solidFill>
                        <a:srgbClr val="4F8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9" name="object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3231340"/>
              </p:ext>
            </p:extLst>
          </p:nvPr>
        </p:nvGraphicFramePr>
        <p:xfrm>
          <a:off x="1761083" y="3295975"/>
          <a:ext cx="5855694" cy="48001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51441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735493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1968760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</a:tblGrid>
              <a:tr h="480013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3</a:t>
                      </a:r>
                      <a:endParaRPr sz="2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8802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 cap="flat" cmpd="sng" algn="ctr">
                      <a:solidFill>
                        <a:srgbClr val="4F8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2</a:t>
                      </a:r>
                      <a:endParaRPr sz="2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8802" marB="0">
                    <a:lnL w="12700" cap="flat" cmpd="sng" algn="ctr">
                      <a:solidFill>
                        <a:srgbClr val="4F8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8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400" b="1" i="1" spc="-5" dirty="0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2400" b="1" spc="-5" dirty="0">
                          <a:latin typeface="Symbol"/>
                          <a:cs typeface="Symbol"/>
                        </a:rPr>
                        <a:t></a:t>
                      </a:r>
                      <a:r>
                        <a:rPr sz="2400" b="1" spc="-5" dirty="0">
                          <a:latin typeface="Times New Roman"/>
                          <a:cs typeface="Times New Roman"/>
                        </a:rPr>
                        <a:t>3</a:t>
                      </a:r>
                      <a:endParaRPr sz="2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8802" marB="0">
                    <a:lnL w="12700" cap="flat" cmpd="sng" algn="ctr">
                      <a:solidFill>
                        <a:srgbClr val="4F8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0" name="object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8735296"/>
              </p:ext>
            </p:extLst>
          </p:nvPr>
        </p:nvGraphicFramePr>
        <p:xfrm>
          <a:off x="1761328" y="2816671"/>
          <a:ext cx="5855694" cy="48001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51441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735493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1968760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</a:tblGrid>
              <a:tr h="480013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2</a:t>
                      </a:r>
                      <a:endParaRPr sz="2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8802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 cap="flat" cmpd="sng" algn="ctr">
                      <a:solidFill>
                        <a:srgbClr val="4F8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8802" marB="0">
                    <a:lnL w="12700" cap="flat" cmpd="sng" algn="ctr">
                      <a:solidFill>
                        <a:srgbClr val="4F8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8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400" b="1" i="1" spc="-5" dirty="0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2400" b="1" spc="-5" dirty="0">
                          <a:latin typeface="Symbol"/>
                          <a:cs typeface="Symbol"/>
                        </a:rPr>
                        <a:t></a:t>
                      </a:r>
                      <a:r>
                        <a:rPr sz="2400" b="1" spc="-5" dirty="0">
                          <a:latin typeface="Times New Roman"/>
                          <a:cs typeface="Times New Roman"/>
                        </a:rPr>
                        <a:t>2</a:t>
                      </a:r>
                      <a:endParaRPr sz="2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8802" marB="0">
                    <a:lnL w="12700" cap="flat" cmpd="sng" algn="ctr">
                      <a:solidFill>
                        <a:srgbClr val="4F8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1" name="object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3359632"/>
              </p:ext>
            </p:extLst>
          </p:nvPr>
        </p:nvGraphicFramePr>
        <p:xfrm>
          <a:off x="1763843" y="2336401"/>
          <a:ext cx="5855694" cy="48001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51441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735493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1968760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</a:tblGrid>
              <a:tr h="480013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8802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 cap="flat" cmpd="sng" algn="ctr">
                      <a:solidFill>
                        <a:srgbClr val="4F8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8802" marB="0">
                    <a:lnL w="12700" cap="flat" cmpd="sng" algn="ctr">
                      <a:solidFill>
                        <a:srgbClr val="4F8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8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400" b="1" i="1" spc="-5" dirty="0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2400" b="1" spc="-5" dirty="0">
                          <a:latin typeface="Symbol"/>
                          <a:cs typeface="Symbol"/>
                        </a:rPr>
                        <a:t></a:t>
                      </a:r>
                      <a:r>
                        <a:rPr sz="2400" b="1" spc="-5" dirty="0">
                          <a:latin typeface="Times New Roman"/>
                          <a:cs typeface="Times New Roman"/>
                        </a:rPr>
                        <a:t>1</a:t>
                      </a:r>
                      <a:endParaRPr sz="2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8802" marB="0">
                    <a:lnL w="12700" cap="flat" cmpd="sng" algn="ctr">
                      <a:solidFill>
                        <a:srgbClr val="4F8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182866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395611" y="198961"/>
            <a:ext cx="8944332" cy="624300"/>
          </a:xfrm>
          <a:prstGeom prst="rect">
            <a:avLst/>
          </a:prstGeom>
        </p:spPr>
        <p:txBody>
          <a:bodyPr vert="horz" wrap="square" lIns="0" tIns="14758" rIns="0" bIns="0" rtlCol="0" anchor="ctr">
            <a:spAutoFit/>
          </a:bodyPr>
          <a:lstStyle/>
          <a:p>
            <a:pPr marL="15534" algn="ctr"/>
            <a:r>
              <a:rPr sz="4400" b="1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  <a:cs typeface="宋体"/>
              </a:rPr>
              <a:t>工作量总和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23621" y="1323321"/>
            <a:ext cx="8878999" cy="4054982"/>
          </a:xfrm>
          <a:prstGeom prst="rect">
            <a:avLst/>
          </a:prstGeom>
        </p:spPr>
        <p:txBody>
          <a:bodyPr vert="horz" wrap="square" lIns="0" tIns="14758" rIns="0" bIns="0" rtlCol="0">
            <a:spAutoFit/>
          </a:bodyPr>
          <a:lstStyle/>
          <a:p>
            <a:pPr marL="411658" marR="709915" indent="-24855" algn="just">
              <a:lnSpc>
                <a:spcPct val="120000"/>
              </a:lnSpc>
              <a:spcBef>
                <a:spcPts val="117"/>
              </a:spcBef>
            </a:pPr>
            <a:r>
              <a:rPr sz="3200" b="1" i="1" dirty="0">
                <a:latin typeface="Times New Roman"/>
                <a:cs typeface="Times New Roman"/>
              </a:rPr>
              <a:t>T</a:t>
            </a:r>
            <a:r>
              <a:rPr sz="3200" b="1" dirty="0">
                <a:latin typeface="Times New Roman"/>
                <a:cs typeface="Times New Roman"/>
              </a:rPr>
              <a:t>(0) + </a:t>
            </a:r>
            <a:r>
              <a:rPr sz="3200" b="1" i="1" dirty="0">
                <a:latin typeface="Times New Roman"/>
                <a:cs typeface="Times New Roman"/>
              </a:rPr>
              <a:t>T</a:t>
            </a:r>
            <a:r>
              <a:rPr sz="3200" b="1" dirty="0">
                <a:latin typeface="Times New Roman"/>
                <a:cs typeface="Times New Roman"/>
              </a:rPr>
              <a:t>(</a:t>
            </a:r>
            <a:r>
              <a:rPr sz="3200" b="1" i="1" dirty="0">
                <a:latin typeface="Times New Roman"/>
                <a:cs typeface="Times New Roman"/>
              </a:rPr>
              <a:t>n</a:t>
            </a:r>
            <a:r>
              <a:rPr sz="3200" b="1" dirty="0">
                <a:latin typeface="Symbol"/>
                <a:cs typeface="Symbol"/>
              </a:rPr>
              <a:t></a:t>
            </a:r>
            <a:r>
              <a:rPr sz="3200" b="1" dirty="0">
                <a:latin typeface="Times New Roman"/>
                <a:cs typeface="Times New Roman"/>
              </a:rPr>
              <a:t>1) + </a:t>
            </a:r>
            <a:r>
              <a:rPr sz="3200" b="1" i="1" dirty="0">
                <a:latin typeface="Times New Roman"/>
                <a:cs typeface="Times New Roman"/>
              </a:rPr>
              <a:t>n</a:t>
            </a:r>
            <a:r>
              <a:rPr sz="3200" b="1" dirty="0">
                <a:latin typeface="Symbol"/>
                <a:cs typeface="Symbol"/>
              </a:rPr>
              <a:t></a:t>
            </a:r>
            <a:r>
              <a:rPr sz="3200" b="1" dirty="0" smtClean="0">
                <a:latin typeface="Times New Roman"/>
                <a:cs typeface="Times New Roman"/>
              </a:rPr>
              <a:t>1</a:t>
            </a:r>
            <a:endParaRPr lang="en-US" sz="3200" b="1" dirty="0" smtClean="0">
              <a:latin typeface="Times New Roman"/>
              <a:cs typeface="Times New Roman"/>
            </a:endParaRPr>
          </a:p>
          <a:p>
            <a:pPr marL="411658" marR="709915" indent="-24855" algn="just">
              <a:lnSpc>
                <a:spcPct val="120000"/>
              </a:lnSpc>
              <a:spcBef>
                <a:spcPts val="117"/>
              </a:spcBef>
            </a:pPr>
            <a:r>
              <a:rPr sz="3200" b="1" i="1" dirty="0" smtClean="0">
                <a:latin typeface="Times New Roman"/>
                <a:cs typeface="Times New Roman"/>
              </a:rPr>
              <a:t>T</a:t>
            </a:r>
            <a:r>
              <a:rPr sz="3200" b="1" dirty="0" smtClean="0">
                <a:latin typeface="Times New Roman"/>
                <a:cs typeface="Times New Roman"/>
              </a:rPr>
              <a:t>(1</a:t>
            </a:r>
            <a:r>
              <a:rPr sz="3200" b="1" dirty="0">
                <a:latin typeface="Times New Roman"/>
                <a:cs typeface="Times New Roman"/>
              </a:rPr>
              <a:t>) + </a:t>
            </a:r>
            <a:r>
              <a:rPr sz="3200" b="1" i="1" dirty="0">
                <a:latin typeface="Times New Roman"/>
                <a:cs typeface="Times New Roman"/>
              </a:rPr>
              <a:t>T</a:t>
            </a:r>
            <a:r>
              <a:rPr sz="3200" b="1" dirty="0">
                <a:latin typeface="Times New Roman"/>
                <a:cs typeface="Times New Roman"/>
              </a:rPr>
              <a:t>(</a:t>
            </a:r>
            <a:r>
              <a:rPr sz="3200" b="1" i="1" dirty="0">
                <a:latin typeface="Times New Roman"/>
                <a:cs typeface="Times New Roman"/>
              </a:rPr>
              <a:t>n</a:t>
            </a:r>
            <a:r>
              <a:rPr sz="3200" b="1" dirty="0">
                <a:latin typeface="Symbol"/>
                <a:cs typeface="Symbol"/>
              </a:rPr>
              <a:t></a:t>
            </a:r>
            <a:r>
              <a:rPr sz="3200" b="1" dirty="0">
                <a:latin typeface="Times New Roman"/>
                <a:cs typeface="Times New Roman"/>
              </a:rPr>
              <a:t>2) +</a:t>
            </a:r>
            <a:r>
              <a:rPr sz="3200" b="1" spc="-135" dirty="0">
                <a:latin typeface="Times New Roman"/>
                <a:cs typeface="Times New Roman"/>
              </a:rPr>
              <a:t> </a:t>
            </a:r>
            <a:r>
              <a:rPr sz="3200" b="1" i="1" dirty="0">
                <a:latin typeface="Times New Roman"/>
                <a:cs typeface="Times New Roman"/>
              </a:rPr>
              <a:t>n</a:t>
            </a:r>
            <a:r>
              <a:rPr sz="3200" b="1" dirty="0">
                <a:latin typeface="Symbol"/>
                <a:cs typeface="Symbol"/>
              </a:rPr>
              <a:t></a:t>
            </a:r>
            <a:r>
              <a:rPr sz="3200" b="1" dirty="0">
                <a:latin typeface="Times New Roman"/>
                <a:cs typeface="Times New Roman"/>
              </a:rPr>
              <a:t>1  </a:t>
            </a:r>
            <a:endParaRPr lang="en-US" sz="3200" b="1" dirty="0" smtClean="0">
              <a:latin typeface="Times New Roman"/>
              <a:cs typeface="Times New Roman"/>
            </a:endParaRPr>
          </a:p>
          <a:p>
            <a:pPr marL="411658" marR="709915" indent="-24855" algn="just">
              <a:lnSpc>
                <a:spcPct val="120000"/>
              </a:lnSpc>
              <a:spcBef>
                <a:spcPts val="117"/>
              </a:spcBef>
            </a:pPr>
            <a:r>
              <a:rPr sz="3200" b="1" i="1" dirty="0" smtClean="0">
                <a:latin typeface="Times New Roman"/>
                <a:cs typeface="Times New Roman"/>
              </a:rPr>
              <a:t>T</a:t>
            </a:r>
            <a:r>
              <a:rPr sz="3200" b="1" dirty="0" smtClean="0">
                <a:latin typeface="Times New Roman"/>
                <a:cs typeface="Times New Roman"/>
              </a:rPr>
              <a:t>(2</a:t>
            </a:r>
            <a:r>
              <a:rPr sz="3200" b="1" dirty="0">
                <a:latin typeface="Times New Roman"/>
                <a:cs typeface="Times New Roman"/>
              </a:rPr>
              <a:t>) + </a:t>
            </a:r>
            <a:r>
              <a:rPr sz="3200" b="1" i="1" dirty="0">
                <a:latin typeface="Times New Roman"/>
                <a:cs typeface="Times New Roman"/>
              </a:rPr>
              <a:t>T</a:t>
            </a:r>
            <a:r>
              <a:rPr sz="3200" b="1" dirty="0">
                <a:latin typeface="Times New Roman"/>
                <a:cs typeface="Times New Roman"/>
              </a:rPr>
              <a:t>(</a:t>
            </a:r>
            <a:r>
              <a:rPr sz="3200" b="1" i="1" dirty="0">
                <a:latin typeface="Times New Roman"/>
                <a:cs typeface="Times New Roman"/>
              </a:rPr>
              <a:t>n</a:t>
            </a:r>
            <a:r>
              <a:rPr sz="3200" b="1" dirty="0">
                <a:latin typeface="Symbol"/>
                <a:cs typeface="Symbol"/>
              </a:rPr>
              <a:t></a:t>
            </a:r>
            <a:r>
              <a:rPr sz="3200" b="1" dirty="0">
                <a:latin typeface="Times New Roman"/>
                <a:cs typeface="Times New Roman"/>
              </a:rPr>
              <a:t>3) +</a:t>
            </a:r>
            <a:r>
              <a:rPr sz="3200" b="1" spc="-122" dirty="0">
                <a:latin typeface="Times New Roman"/>
                <a:cs typeface="Times New Roman"/>
              </a:rPr>
              <a:t> </a:t>
            </a:r>
            <a:r>
              <a:rPr sz="3200" b="1" i="1" dirty="0">
                <a:latin typeface="Times New Roman"/>
                <a:cs typeface="Times New Roman"/>
              </a:rPr>
              <a:t>n</a:t>
            </a:r>
            <a:r>
              <a:rPr sz="3200" b="1" dirty="0">
                <a:latin typeface="Symbol"/>
                <a:cs typeface="Symbol"/>
              </a:rPr>
              <a:t></a:t>
            </a:r>
            <a:r>
              <a:rPr sz="3200" b="1" dirty="0">
                <a:latin typeface="Times New Roman"/>
                <a:cs typeface="Times New Roman"/>
              </a:rPr>
              <a:t>1</a:t>
            </a:r>
            <a:endParaRPr sz="3200" dirty="0">
              <a:latin typeface="Times New Roman"/>
              <a:cs typeface="Times New Roman"/>
            </a:endParaRPr>
          </a:p>
          <a:p>
            <a:pPr marL="917297">
              <a:spcBef>
                <a:spcPts val="752"/>
              </a:spcBef>
            </a:pPr>
            <a:r>
              <a:rPr sz="3200" b="1" spc="-6" dirty="0">
                <a:latin typeface="Times New Roman"/>
                <a:cs typeface="Times New Roman"/>
              </a:rPr>
              <a:t>...</a:t>
            </a:r>
            <a:endParaRPr sz="3200" dirty="0">
              <a:latin typeface="Times New Roman"/>
              <a:cs typeface="Times New Roman"/>
            </a:endParaRPr>
          </a:p>
          <a:p>
            <a:pPr marL="411658">
              <a:spcBef>
                <a:spcPts val="704"/>
              </a:spcBef>
            </a:pPr>
            <a:r>
              <a:rPr sz="3200" b="1" i="1" dirty="0">
                <a:latin typeface="Times New Roman"/>
                <a:cs typeface="Times New Roman"/>
              </a:rPr>
              <a:t>T</a:t>
            </a:r>
            <a:r>
              <a:rPr sz="3200" b="1" dirty="0">
                <a:latin typeface="Times New Roman"/>
                <a:cs typeface="Times New Roman"/>
              </a:rPr>
              <a:t>(</a:t>
            </a:r>
            <a:r>
              <a:rPr sz="3200" b="1" i="1" dirty="0">
                <a:latin typeface="Times New Roman"/>
                <a:cs typeface="Times New Roman"/>
              </a:rPr>
              <a:t>n</a:t>
            </a:r>
            <a:r>
              <a:rPr sz="3200" b="1" dirty="0">
                <a:latin typeface="Symbol"/>
                <a:cs typeface="Symbol"/>
              </a:rPr>
              <a:t></a:t>
            </a:r>
            <a:r>
              <a:rPr sz="3200" b="1" dirty="0">
                <a:latin typeface="Times New Roman"/>
                <a:cs typeface="Times New Roman"/>
              </a:rPr>
              <a:t>1) + </a:t>
            </a:r>
            <a:r>
              <a:rPr sz="3200" b="1" i="1" dirty="0">
                <a:latin typeface="Times New Roman"/>
                <a:cs typeface="Times New Roman"/>
              </a:rPr>
              <a:t>T</a:t>
            </a:r>
            <a:r>
              <a:rPr sz="3200" b="1" dirty="0">
                <a:latin typeface="Times New Roman"/>
                <a:cs typeface="Times New Roman"/>
              </a:rPr>
              <a:t>(0) +</a:t>
            </a:r>
            <a:r>
              <a:rPr sz="3200" b="1" spc="-92" dirty="0">
                <a:latin typeface="Times New Roman"/>
                <a:cs typeface="Times New Roman"/>
              </a:rPr>
              <a:t> </a:t>
            </a:r>
            <a:r>
              <a:rPr sz="3200" b="1" i="1" dirty="0">
                <a:latin typeface="Times New Roman"/>
                <a:cs typeface="Times New Roman"/>
              </a:rPr>
              <a:t>n</a:t>
            </a:r>
            <a:r>
              <a:rPr sz="3200" b="1" dirty="0">
                <a:latin typeface="Symbol"/>
                <a:cs typeface="Symbol"/>
              </a:rPr>
              <a:t></a:t>
            </a:r>
            <a:r>
              <a:rPr sz="3200" b="1" dirty="0">
                <a:latin typeface="Times New Roman"/>
                <a:cs typeface="Times New Roman"/>
              </a:rPr>
              <a:t>1</a:t>
            </a:r>
            <a:endParaRPr sz="3200" dirty="0">
              <a:latin typeface="Times New Roman"/>
              <a:cs typeface="Times New Roman"/>
            </a:endParaRPr>
          </a:p>
          <a:p>
            <a:pPr>
              <a:spcBef>
                <a:spcPts val="6"/>
              </a:spcBef>
            </a:pPr>
            <a:endParaRPr sz="3800" dirty="0">
              <a:latin typeface="Times New Roman"/>
              <a:cs typeface="Times New Roman"/>
            </a:endParaRPr>
          </a:p>
          <a:p>
            <a:pPr marL="15534"/>
            <a:endParaRPr sz="320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11492" y="4654827"/>
            <a:ext cx="3808400" cy="2400"/>
          </a:xfrm>
          <a:custGeom>
            <a:avLst/>
            <a:gdLst/>
            <a:ahLst/>
            <a:cxnLst/>
            <a:rect l="l" t="t" r="r" b="b"/>
            <a:pathLst>
              <a:path w="3582035" h="1904">
                <a:moveTo>
                  <a:pt x="0" y="0"/>
                </a:moveTo>
                <a:lnTo>
                  <a:pt x="3581463" y="1650"/>
                </a:lnTo>
              </a:path>
            </a:pathLst>
          </a:custGeom>
          <a:ln w="2540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 sz="2200"/>
          </a:p>
        </p:txBody>
      </p:sp>
      <p:sp>
        <p:nvSpPr>
          <p:cNvPr id="5" name="object 5"/>
          <p:cNvSpPr/>
          <p:nvPr/>
        </p:nvSpPr>
        <p:spPr>
          <a:xfrm>
            <a:off x="616119" y="3385234"/>
            <a:ext cx="2025" cy="384010"/>
          </a:xfrm>
          <a:custGeom>
            <a:avLst/>
            <a:gdLst/>
            <a:ahLst/>
            <a:cxnLst/>
            <a:rect l="l" t="t" r="r" b="b"/>
            <a:pathLst>
              <a:path w="1905" h="304800">
                <a:moveTo>
                  <a:pt x="1587" y="0"/>
                </a:moveTo>
                <a:lnTo>
                  <a:pt x="0" y="304800"/>
                </a:lnTo>
              </a:path>
            </a:pathLst>
          </a:custGeom>
          <a:ln w="2540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 sz="2200"/>
          </a:p>
        </p:txBody>
      </p:sp>
      <p:sp>
        <p:nvSpPr>
          <p:cNvPr id="6" name="object 6"/>
          <p:cNvSpPr/>
          <p:nvPr/>
        </p:nvSpPr>
        <p:spPr>
          <a:xfrm>
            <a:off x="454088" y="3577240"/>
            <a:ext cx="324062" cy="2400"/>
          </a:xfrm>
          <a:custGeom>
            <a:avLst/>
            <a:gdLst/>
            <a:ahLst/>
            <a:cxnLst/>
            <a:rect l="l" t="t" r="r" b="b"/>
            <a:pathLst>
              <a:path w="304800" h="1904">
                <a:moveTo>
                  <a:pt x="0" y="0"/>
                </a:moveTo>
                <a:lnTo>
                  <a:pt x="304800" y="1650"/>
                </a:lnTo>
              </a:path>
            </a:pathLst>
          </a:custGeom>
          <a:ln w="2540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 sz="2200"/>
          </a:p>
        </p:txBody>
      </p:sp>
      <p:sp>
        <p:nvSpPr>
          <p:cNvPr id="7" name="object 3"/>
          <p:cNvSpPr txBox="1"/>
          <p:nvPr/>
        </p:nvSpPr>
        <p:spPr>
          <a:xfrm>
            <a:off x="778150" y="4858744"/>
            <a:ext cx="7899285" cy="507345"/>
          </a:xfrm>
          <a:prstGeom prst="rect">
            <a:avLst/>
          </a:prstGeom>
        </p:spPr>
        <p:txBody>
          <a:bodyPr vert="horz" wrap="square" lIns="0" tIns="14758" rIns="0" bIns="0" rtlCol="0">
            <a:spAutoFit/>
          </a:bodyPr>
          <a:lstStyle/>
          <a:p>
            <a:pPr marL="15534"/>
            <a:r>
              <a:rPr sz="3200" b="1" dirty="0" smtClean="0">
                <a:solidFill>
                  <a:srgbClr val="FF0000"/>
                </a:solidFill>
                <a:latin typeface="Times New Roman"/>
                <a:cs typeface="Times New Roman"/>
              </a:rPr>
              <a:t>2[</a:t>
            </a:r>
            <a:r>
              <a:rPr sz="3200" b="1" i="1" dirty="0" smtClean="0">
                <a:solidFill>
                  <a:srgbClr val="FF0000"/>
                </a:solidFill>
                <a:latin typeface="Times New Roman"/>
                <a:cs typeface="Times New Roman"/>
              </a:rPr>
              <a:t>T</a:t>
            </a:r>
            <a:r>
              <a:rPr sz="3200" b="1" dirty="0" smtClean="0">
                <a:solidFill>
                  <a:srgbClr val="FF0000"/>
                </a:solidFill>
                <a:latin typeface="Times New Roman"/>
                <a:cs typeface="Times New Roman"/>
              </a:rPr>
              <a:t>(1</a:t>
            </a:r>
            <a:r>
              <a:rPr sz="3200" b="1" dirty="0">
                <a:solidFill>
                  <a:srgbClr val="FF0000"/>
                </a:solidFill>
                <a:latin typeface="Times New Roman"/>
                <a:cs typeface="Times New Roman"/>
              </a:rPr>
              <a:t>)+...+</a:t>
            </a:r>
            <a:r>
              <a:rPr sz="3200" b="1" i="1" dirty="0">
                <a:solidFill>
                  <a:srgbClr val="FF0000"/>
                </a:solidFill>
                <a:latin typeface="Times New Roman"/>
                <a:cs typeface="Times New Roman"/>
              </a:rPr>
              <a:t>T</a:t>
            </a:r>
            <a:r>
              <a:rPr sz="3200" b="1" dirty="0">
                <a:solidFill>
                  <a:srgbClr val="FF0000"/>
                </a:solidFill>
                <a:latin typeface="Times New Roman"/>
                <a:cs typeface="Times New Roman"/>
              </a:rPr>
              <a:t>(</a:t>
            </a:r>
            <a:r>
              <a:rPr sz="3200" b="1" i="1" dirty="0">
                <a:solidFill>
                  <a:srgbClr val="FF0000"/>
                </a:solidFill>
                <a:latin typeface="Times New Roman"/>
                <a:cs typeface="Times New Roman"/>
              </a:rPr>
              <a:t>n</a:t>
            </a:r>
            <a:r>
              <a:rPr sz="3200" b="1" dirty="0">
                <a:solidFill>
                  <a:srgbClr val="FF0000"/>
                </a:solidFill>
                <a:latin typeface="Symbol"/>
                <a:cs typeface="Symbol"/>
              </a:rPr>
              <a:t></a:t>
            </a:r>
            <a:r>
              <a:rPr sz="3200" b="1" dirty="0">
                <a:solidFill>
                  <a:srgbClr val="FF0000"/>
                </a:solidFill>
                <a:latin typeface="Times New Roman"/>
                <a:cs typeface="Times New Roman"/>
              </a:rPr>
              <a:t>1)]</a:t>
            </a:r>
            <a:r>
              <a:rPr sz="3200" b="1" dirty="0">
                <a:latin typeface="Times New Roman"/>
                <a:cs typeface="Times New Roman"/>
              </a:rPr>
              <a:t>+</a:t>
            </a:r>
            <a:r>
              <a:rPr sz="3200" b="1" i="1" dirty="0">
                <a:solidFill>
                  <a:srgbClr val="0000FF"/>
                </a:solidFill>
                <a:latin typeface="Times New Roman"/>
                <a:cs typeface="Times New Roman"/>
              </a:rPr>
              <a:t>n</a:t>
            </a:r>
            <a:r>
              <a:rPr sz="3200" b="1" dirty="0">
                <a:solidFill>
                  <a:srgbClr val="0000FF"/>
                </a:solidFill>
                <a:latin typeface="Times New Roman"/>
                <a:cs typeface="Times New Roman"/>
              </a:rPr>
              <a:t>(</a:t>
            </a:r>
            <a:r>
              <a:rPr sz="3200" b="1" i="1" dirty="0">
                <a:solidFill>
                  <a:srgbClr val="0000FF"/>
                </a:solidFill>
                <a:latin typeface="Times New Roman"/>
                <a:cs typeface="Times New Roman"/>
              </a:rPr>
              <a:t>n</a:t>
            </a:r>
            <a:r>
              <a:rPr sz="3200" b="1" dirty="0">
                <a:solidFill>
                  <a:srgbClr val="0000FF"/>
                </a:solidFill>
                <a:latin typeface="Symbol"/>
                <a:cs typeface="Symbol"/>
              </a:rPr>
              <a:t></a:t>
            </a:r>
            <a:r>
              <a:rPr sz="3200" b="1" dirty="0">
                <a:solidFill>
                  <a:srgbClr val="0000FF"/>
                </a:solidFill>
                <a:latin typeface="Times New Roman"/>
                <a:cs typeface="Times New Roman"/>
              </a:rPr>
              <a:t>1)</a:t>
            </a:r>
            <a:endParaRPr sz="3200" dirty="0">
              <a:solidFill>
                <a:srgbClr val="0000FF"/>
              </a:solidFill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195658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382555" y="273509"/>
            <a:ext cx="8913783" cy="624300"/>
          </a:xfrm>
          <a:prstGeom prst="rect">
            <a:avLst/>
          </a:prstGeom>
        </p:spPr>
        <p:txBody>
          <a:bodyPr vert="horz" wrap="square" lIns="0" tIns="14758" rIns="0" bIns="0" rtlCol="0" anchor="ctr">
            <a:spAutoFit/>
          </a:bodyPr>
          <a:lstStyle/>
          <a:p>
            <a:pPr marL="15534" algn="ctr"/>
            <a:r>
              <a:rPr sz="4400" b="1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  <a:cs typeface="宋体"/>
              </a:rPr>
              <a:t>快速排序平均工作量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09323" y="1263988"/>
            <a:ext cx="8342791" cy="461962"/>
          </a:xfrm>
          <a:prstGeom prst="rect">
            <a:avLst/>
          </a:prstGeom>
        </p:spPr>
        <p:txBody>
          <a:bodyPr vert="horz" wrap="square" lIns="0" tIns="15534" rIns="0" bIns="0" rtlCol="0">
            <a:spAutoFit/>
          </a:bodyPr>
          <a:lstStyle/>
          <a:p>
            <a:pPr marL="15534" marR="6214">
              <a:spcBef>
                <a:spcPts val="122"/>
              </a:spcBef>
            </a:pPr>
            <a:r>
              <a:rPr sz="2900" b="1" dirty="0" err="1" smtClean="0">
                <a:latin typeface="宋体"/>
                <a:cs typeface="宋体"/>
              </a:rPr>
              <a:t>假设首元素排好序在每个位置是等概率的</a:t>
            </a:r>
            <a:endParaRPr sz="2900" dirty="0">
              <a:latin typeface="宋体"/>
              <a:cs typeface="宋体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1537314" y="2133134"/>
                <a:ext cx="6388672" cy="148906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b="1" i="1" smtClean="0">
                          <a:latin typeface="Cambria Math"/>
                        </a:rPr>
                        <m:t>𝑻</m:t>
                      </m:r>
                      <m:d>
                        <m:dPr>
                          <m:ctrlPr>
                            <a:rPr lang="en-US" altLang="zh-CN" sz="3200" b="1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altLang="zh-CN" sz="3200" b="1" i="1" smtClean="0">
                              <a:latin typeface="Cambria Math"/>
                            </a:rPr>
                            <m:t>𝒏</m:t>
                          </m:r>
                        </m:e>
                      </m:d>
                      <m:r>
                        <a:rPr lang="en-US" altLang="zh-CN" sz="3200" b="1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altLang="zh-CN" sz="3200" b="1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altLang="zh-CN" sz="3200" b="1" i="1" smtClean="0">
                              <a:latin typeface="Cambria Math"/>
                            </a:rPr>
                            <m:t>𝟐</m:t>
                          </m:r>
                        </m:num>
                        <m:den>
                          <m:r>
                            <a:rPr lang="en-US" altLang="zh-CN" sz="3200" b="1" i="1" smtClean="0">
                              <a:latin typeface="Cambria Math"/>
                            </a:rPr>
                            <m:t>𝒏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altLang="zh-CN" sz="3200" b="1" i="1" smtClean="0">
                              <a:latin typeface="Cambria Math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3200" b="1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𝒊</m:t>
                          </m:r>
                          <m:r>
                            <a:rPr lang="en-US" altLang="zh-CN" sz="3200" b="1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=</m:t>
                          </m:r>
                          <m:r>
                            <a:rPr lang="en-US" altLang="zh-CN" sz="3200" b="1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𝟏</m:t>
                          </m:r>
                        </m:sub>
                        <m:sup>
                          <m:r>
                            <a:rPr lang="en-US" altLang="zh-CN" sz="3200" b="1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𝒏</m:t>
                          </m:r>
                          <m:r>
                            <a:rPr lang="en-US" altLang="zh-CN" sz="3200" b="1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−</m:t>
                          </m:r>
                          <m:r>
                            <a:rPr lang="en-US" altLang="zh-CN" sz="3200" b="1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𝟏</m:t>
                          </m:r>
                        </m:sup>
                        <m:e>
                          <m:r>
                            <a:rPr lang="en-US" altLang="zh-CN" sz="3200" b="1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𝑻</m:t>
                          </m:r>
                          <m:d>
                            <m:dPr>
                              <m:ctrlPr>
                                <a:rPr lang="en-US" altLang="zh-CN" sz="3200" b="1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altLang="zh-CN" sz="3200" b="1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𝒊</m:t>
                              </m:r>
                            </m:e>
                          </m:d>
                          <m:r>
                            <a:rPr lang="en-US" altLang="zh-CN" sz="3200" b="1" i="1" smtClean="0">
                              <a:latin typeface="Cambria Math"/>
                            </a:rPr>
                            <m:t>+</m:t>
                          </m:r>
                          <m:r>
                            <m:rPr>
                              <m:nor/>
                            </m:rPr>
                            <a:rPr lang="en-US" altLang="zh-CN" sz="3200" b="1" i="1" dirty="0" smtClean="0">
                              <a:solidFill>
                                <a:srgbClr val="0000FF"/>
                              </a:solidFill>
                              <a:latin typeface="Times New Roman"/>
                              <a:cs typeface="Times New Roman"/>
                            </a:rPr>
                            <m:t>n</m:t>
                          </m:r>
                          <m:r>
                            <m:rPr>
                              <m:nor/>
                            </m:rPr>
                            <a:rPr lang="en-US" altLang="zh-CN" sz="3200" b="1" dirty="0" smtClean="0">
                              <a:solidFill>
                                <a:srgbClr val="0000FF"/>
                              </a:solidFill>
                              <a:latin typeface="Times New Roman"/>
                              <a:cs typeface="Times New Roman"/>
                            </a:rPr>
                            <m:t>(</m:t>
                          </m:r>
                          <m:r>
                            <m:rPr>
                              <m:nor/>
                            </m:rPr>
                            <a:rPr lang="en-US" altLang="zh-CN" sz="3200" b="1" i="1" dirty="0" smtClean="0">
                              <a:solidFill>
                                <a:srgbClr val="0000FF"/>
                              </a:solidFill>
                              <a:latin typeface="Times New Roman"/>
                              <a:cs typeface="Times New Roman"/>
                            </a:rPr>
                            <m:t>n</m:t>
                          </m:r>
                          <m:r>
                            <m:rPr>
                              <m:nor/>
                            </m:rPr>
                            <a:rPr lang="en-US" altLang="zh-CN" sz="3200" b="1" dirty="0" smtClean="0">
                              <a:solidFill>
                                <a:srgbClr val="0000FF"/>
                              </a:solidFill>
                              <a:latin typeface="Symbol"/>
                              <a:cs typeface="Symbol"/>
                            </a:rPr>
                            <m:t></m:t>
                          </m:r>
                          <m:r>
                            <m:rPr>
                              <m:nor/>
                            </m:rPr>
                            <a:rPr lang="en-US" altLang="zh-CN" sz="3200" b="1" dirty="0" smtClean="0">
                              <a:solidFill>
                                <a:srgbClr val="0000FF"/>
                              </a:solidFill>
                              <a:latin typeface="Times New Roman"/>
                              <a:cs typeface="Times New Roman"/>
                            </a:rPr>
                            <m:t>1</m:t>
                          </m:r>
                          <m:r>
                            <m:rPr>
                              <m:nor/>
                            </m:rPr>
                            <a:rPr lang="en-US" altLang="zh-CN" sz="3200" b="1" dirty="0" smtClean="0">
                              <a:solidFill>
                                <a:srgbClr val="0000FF"/>
                              </a:solidFill>
                              <a:latin typeface="Times New Roman"/>
                              <a:cs typeface="Times New Roman"/>
                            </a:rPr>
                            <m:t>)</m:t>
                          </m:r>
                          <m:r>
                            <m:rPr>
                              <m:nor/>
                            </m:rPr>
                            <a:rPr lang="en-US" altLang="zh-CN" sz="3200" dirty="0">
                              <a:latin typeface="Times New Roman"/>
                              <a:cs typeface="Times New Roman"/>
                            </a:rPr>
                            <m:t> </m:t>
                          </m:r>
                          <m:r>
                            <a:rPr lang="en-US" altLang="zh-CN" sz="3200" b="1" i="1" smtClean="0">
                              <a:latin typeface="Cambria Math"/>
                            </a:rPr>
                            <m:t>,</m:t>
                          </m:r>
                          <m:r>
                            <a:rPr lang="en-US" altLang="zh-CN" sz="3200" b="1" i="1" smtClean="0">
                              <a:latin typeface="Cambria Math"/>
                            </a:rPr>
                            <m:t>𝒏</m:t>
                          </m:r>
                          <m:r>
                            <a:rPr lang="en-US" altLang="zh-CN" sz="3200" b="1" i="1">
                              <a:latin typeface="Cambria Math"/>
                              <a:ea typeface="Cambria Math"/>
                            </a:rPr>
                            <m:t>≥</m:t>
                          </m:r>
                          <m:r>
                            <a:rPr lang="en-US" altLang="zh-CN" sz="3200" b="1" i="1" smtClean="0">
                              <a:latin typeface="Cambria Math"/>
                              <a:ea typeface="Cambria Math"/>
                            </a:rPr>
                            <m:t>𝟐</m:t>
                          </m:r>
                        </m:e>
                      </m:nary>
                    </m:oMath>
                  </m:oMathPara>
                </a14:m>
                <a:endParaRPr lang="zh-CN" altLang="en-US" sz="3200" b="1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7314" y="2133134"/>
                <a:ext cx="6388672" cy="1489062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object 10"/>
          <p:cNvSpPr txBox="1"/>
          <p:nvPr/>
        </p:nvSpPr>
        <p:spPr>
          <a:xfrm>
            <a:off x="409323" y="4478032"/>
            <a:ext cx="8887015" cy="910590"/>
          </a:xfrm>
          <a:prstGeom prst="rect">
            <a:avLst/>
          </a:prstGeom>
        </p:spPr>
        <p:txBody>
          <a:bodyPr vert="horz" wrap="square" lIns="0" tIns="17864" rIns="0" bIns="0" rtlCol="0">
            <a:spAutoFit/>
          </a:bodyPr>
          <a:lstStyle/>
          <a:p>
            <a:pPr marL="15534">
              <a:spcBef>
                <a:spcPts val="2844"/>
              </a:spcBef>
            </a:pPr>
            <a:r>
              <a:rPr sz="2900" b="1" dirty="0" err="1" smtClean="0">
                <a:latin typeface="宋体"/>
                <a:cs typeface="宋体"/>
              </a:rPr>
              <a:t>全部历史递推方程</a:t>
            </a:r>
            <a:endParaRPr sz="2900" dirty="0">
              <a:latin typeface="宋体"/>
              <a:cs typeface="宋体"/>
            </a:endParaRPr>
          </a:p>
          <a:p>
            <a:pPr marL="15534"/>
            <a:r>
              <a:rPr sz="2900" b="1" dirty="0">
                <a:latin typeface="宋体"/>
                <a:cs typeface="宋体"/>
              </a:rPr>
              <a:t>对于高阶方程应该先化简，然后迭代</a:t>
            </a:r>
            <a:endParaRPr sz="2900" dirty="0">
              <a:latin typeface="宋体"/>
              <a:cs typeface="宋体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1754234" y="3767913"/>
                <a:ext cx="1918667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b="1" i="1" smtClean="0">
                          <a:latin typeface="Cambria Math"/>
                        </a:rPr>
                        <m:t>𝑻</m:t>
                      </m:r>
                      <m:d>
                        <m:dPr>
                          <m:ctrlPr>
                            <a:rPr lang="en-US" altLang="zh-CN" sz="3200" b="1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altLang="zh-CN" sz="3200" b="1" i="1" smtClean="0">
                              <a:latin typeface="Cambria Math"/>
                            </a:rPr>
                            <m:t>𝟏</m:t>
                          </m:r>
                        </m:e>
                      </m:d>
                      <m:r>
                        <a:rPr lang="en-US" altLang="zh-CN" sz="3200" b="1" i="1" smtClean="0">
                          <a:latin typeface="Cambria Math"/>
                        </a:rPr>
                        <m:t>=</m:t>
                      </m:r>
                      <m:r>
                        <a:rPr lang="en-US" altLang="zh-CN" sz="3200" b="1" i="1" smtClean="0">
                          <a:latin typeface="Cambria Math"/>
                        </a:rPr>
                        <m:t>𝟎</m:t>
                      </m:r>
                    </m:oMath>
                  </m:oMathPara>
                </a14:m>
                <a:endParaRPr lang="zh-CN" altLang="en-US" sz="3200" b="1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4234" y="3767913"/>
                <a:ext cx="1918667" cy="584775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094711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object 21"/>
          <p:cNvSpPr/>
          <p:nvPr/>
        </p:nvSpPr>
        <p:spPr>
          <a:xfrm>
            <a:off x="4205406" y="2564014"/>
            <a:ext cx="1483042" cy="2596565"/>
          </a:xfrm>
          <a:custGeom>
            <a:avLst/>
            <a:gdLst/>
            <a:ahLst/>
            <a:cxnLst/>
            <a:rect l="l" t="t" r="r" b="b"/>
            <a:pathLst>
              <a:path w="1752600" h="1447800">
                <a:moveTo>
                  <a:pt x="0" y="241300"/>
                </a:moveTo>
                <a:lnTo>
                  <a:pt x="4904" y="192682"/>
                </a:lnTo>
                <a:lnTo>
                  <a:pt x="18968" y="147393"/>
                </a:lnTo>
                <a:lnTo>
                  <a:pt x="41221" y="106405"/>
                </a:lnTo>
                <a:lnTo>
                  <a:pt x="70691" y="70691"/>
                </a:lnTo>
                <a:lnTo>
                  <a:pt x="106405" y="41221"/>
                </a:lnTo>
                <a:lnTo>
                  <a:pt x="147393" y="18968"/>
                </a:lnTo>
                <a:lnTo>
                  <a:pt x="192682" y="4904"/>
                </a:lnTo>
                <a:lnTo>
                  <a:pt x="241300" y="0"/>
                </a:lnTo>
                <a:lnTo>
                  <a:pt x="1511300" y="0"/>
                </a:lnTo>
                <a:lnTo>
                  <a:pt x="1559917" y="4904"/>
                </a:lnTo>
                <a:lnTo>
                  <a:pt x="1605206" y="18968"/>
                </a:lnTo>
                <a:lnTo>
                  <a:pt x="1646194" y="41221"/>
                </a:lnTo>
                <a:lnTo>
                  <a:pt x="1681908" y="70691"/>
                </a:lnTo>
                <a:lnTo>
                  <a:pt x="1711378" y="106405"/>
                </a:lnTo>
                <a:lnTo>
                  <a:pt x="1733631" y="147393"/>
                </a:lnTo>
                <a:lnTo>
                  <a:pt x="1747695" y="192682"/>
                </a:lnTo>
                <a:lnTo>
                  <a:pt x="1752600" y="241300"/>
                </a:lnTo>
                <a:lnTo>
                  <a:pt x="1752600" y="1206500"/>
                </a:lnTo>
                <a:lnTo>
                  <a:pt x="1747695" y="1255128"/>
                </a:lnTo>
                <a:lnTo>
                  <a:pt x="1733631" y="1300422"/>
                </a:lnTo>
                <a:lnTo>
                  <a:pt x="1711378" y="1341410"/>
                </a:lnTo>
                <a:lnTo>
                  <a:pt x="1681908" y="1377122"/>
                </a:lnTo>
                <a:lnTo>
                  <a:pt x="1646194" y="1406588"/>
                </a:lnTo>
                <a:lnTo>
                  <a:pt x="1605206" y="1428836"/>
                </a:lnTo>
                <a:lnTo>
                  <a:pt x="1559917" y="1442897"/>
                </a:lnTo>
                <a:lnTo>
                  <a:pt x="1511300" y="1447800"/>
                </a:lnTo>
                <a:lnTo>
                  <a:pt x="241300" y="1447800"/>
                </a:lnTo>
                <a:lnTo>
                  <a:pt x="192682" y="1442897"/>
                </a:lnTo>
                <a:lnTo>
                  <a:pt x="147393" y="1428836"/>
                </a:lnTo>
                <a:lnTo>
                  <a:pt x="106405" y="1406588"/>
                </a:lnTo>
                <a:lnTo>
                  <a:pt x="70691" y="1377122"/>
                </a:lnTo>
                <a:lnTo>
                  <a:pt x="41221" y="1341410"/>
                </a:lnTo>
                <a:lnTo>
                  <a:pt x="18968" y="1300422"/>
                </a:lnTo>
                <a:lnTo>
                  <a:pt x="4904" y="1255128"/>
                </a:lnTo>
                <a:lnTo>
                  <a:pt x="0" y="1206500"/>
                </a:lnTo>
                <a:lnTo>
                  <a:pt x="0" y="241300"/>
                </a:lnTo>
                <a:close/>
              </a:path>
            </a:pathLst>
          </a:custGeom>
          <a:ln w="3175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 sz="2200"/>
          </a:p>
        </p:txBody>
      </p:sp>
      <p:sp>
        <p:nvSpPr>
          <p:cNvPr id="22" name="object 22"/>
          <p:cNvSpPr txBox="1">
            <a:spLocks noGrp="1"/>
          </p:cNvSpPr>
          <p:nvPr>
            <p:ph type="sldNum" sz="quarter" idx="4294967295"/>
          </p:nvPr>
        </p:nvSpPr>
        <p:spPr>
          <a:xfrm>
            <a:off x="9154742" y="8129218"/>
            <a:ext cx="2916555" cy="21800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pPr marL="31069">
              <a:lnSpc>
                <a:spcPts val="1743"/>
              </a:lnSpc>
            </a:pPr>
            <a:fld id="{81D60167-4931-47E6-BA6A-407CBD079E47}" type="slidenum">
              <a:rPr spc="-6" dirty="0"/>
              <a:pPr marL="31069">
                <a:lnSpc>
                  <a:spcPts val="1743"/>
                </a:lnSpc>
              </a:pPr>
              <a:t>41</a:t>
            </a:fld>
            <a:endParaRPr spc="-6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本框 22"/>
              <p:cNvSpPr txBox="1"/>
              <p:nvPr/>
            </p:nvSpPr>
            <p:spPr>
              <a:xfrm>
                <a:off x="3035434" y="1213111"/>
                <a:ext cx="3687804" cy="12220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1" i="1">
                          <a:latin typeface="Cambria Math" panose="02040503050406030204" pitchFamily="18" charset="0"/>
                        </a:rPr>
                        <m:t>𝑻</m:t>
                      </m:r>
                      <m:d>
                        <m:dPr>
                          <m:ctrlPr>
                            <a:rPr lang="en-US" altLang="zh-CN" sz="2800" b="1" i="1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altLang="zh-CN" sz="2800" b="1" i="1"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</m:d>
                      <m:r>
                        <a:rPr lang="en-US" altLang="zh-CN" sz="2800" b="1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800" b="1" i="1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altLang="zh-CN" sz="2800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num>
                        <m:den>
                          <m:r>
                            <a:rPr lang="en-US" altLang="zh-CN" sz="2800" b="1" i="1">
                              <a:latin typeface="Cambria Math" panose="02040503050406030204" pitchFamily="18" charset="0"/>
                            </a:rPr>
                            <m:t>𝒏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altLang="zh-CN" sz="2800" b="1" i="1">
                              <a:latin typeface="Cambria Math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800" b="1" i="1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altLang="zh-CN" sz="2800" b="1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sz="28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altLang="zh-CN" sz="2800" b="1" i="1"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en-US" altLang="zh-CN" sz="2800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28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  <m:e>
                          <m:r>
                            <a:rPr lang="en-US" altLang="zh-CN" sz="2800" b="1" i="1">
                              <a:latin typeface="Cambria Math" panose="02040503050406030204" pitchFamily="18" charset="0"/>
                            </a:rPr>
                            <m:t>𝑻</m:t>
                          </m:r>
                          <m:r>
                            <a:rPr lang="en-US" altLang="zh-CN" sz="2800" b="1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800" b="1" i="1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altLang="zh-CN" sz="2800" b="1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a:rPr lang="en-US" altLang="zh-CN" sz="2800" b="1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800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𝒄𝒏</m:t>
                      </m:r>
                    </m:oMath>
                  </m:oMathPara>
                </a14:m>
                <a:endParaRPr lang="zh-CN" altLang="en-US" sz="2800" b="1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23" name="文本框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5434" y="1213111"/>
                <a:ext cx="3687804" cy="122206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文本框 23"/>
              <p:cNvSpPr txBox="1"/>
              <p:nvPr/>
            </p:nvSpPr>
            <p:spPr>
              <a:xfrm>
                <a:off x="2856758" y="2564014"/>
                <a:ext cx="3780907" cy="113486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600" b="1" i="1">
                          <a:latin typeface="Cambria Math" panose="02040503050406030204" pitchFamily="18" charset="0"/>
                        </a:rPr>
                        <m:t>𝒏𝑻</m:t>
                      </m:r>
                      <m:d>
                        <m:dPr>
                          <m:ctrlPr>
                            <a:rPr lang="en-US" altLang="zh-CN" sz="2600" b="1" i="1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altLang="zh-CN" sz="2600" b="1" i="1"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</m:d>
                      <m:r>
                        <a:rPr lang="en-US" altLang="zh-CN" sz="2600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600" b="1" i="1">
                          <a:latin typeface="Cambria Math" panose="02040503050406030204" pitchFamily="18" charset="0"/>
                        </a:rPr>
                        <m:t>𝟐</m:t>
                      </m:r>
                      <m:nary>
                        <m:naryPr>
                          <m:chr m:val="∑"/>
                          <m:ctrlPr>
                            <a:rPr lang="en-US" altLang="zh-CN" sz="2600" b="1" i="1">
                              <a:latin typeface="Cambria Math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600" b="1" i="1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altLang="zh-CN" sz="2600" b="1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sz="26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altLang="zh-CN" sz="2600" b="1" i="1"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en-US" altLang="zh-CN" sz="2600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26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  <m:e>
                          <m:r>
                            <a:rPr lang="en-US" altLang="zh-CN" sz="2600" b="1" i="1">
                              <a:latin typeface="Cambria Math" panose="02040503050406030204" pitchFamily="18" charset="0"/>
                            </a:rPr>
                            <m:t>𝑻</m:t>
                          </m:r>
                          <m:r>
                            <a:rPr lang="en-US" altLang="zh-CN" sz="2600" b="1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600" b="1" i="1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altLang="zh-CN" sz="2600" b="1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a:rPr lang="en-US" altLang="zh-CN" sz="2600" b="1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600" b="1" i="1">
                          <a:latin typeface="Cambria Math" panose="02040503050406030204" pitchFamily="18" charset="0"/>
                        </a:rPr>
                        <m:t>𝒄</m:t>
                      </m:r>
                      <m:sSup>
                        <m:sSupPr>
                          <m:ctrlPr>
                            <a:rPr lang="en-US" altLang="zh-CN" sz="2600" b="1" i="1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US" altLang="zh-CN" sz="2600" b="1" i="1"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  <m:sup>
                          <m:r>
                            <a:rPr lang="en-US" altLang="zh-CN" sz="2600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zh-CN" altLang="en-US" sz="2600" b="1" dirty="0"/>
              </a:p>
            </p:txBody>
          </p:sp>
        </mc:Choice>
        <mc:Fallback xmlns="">
          <p:sp>
            <p:nvSpPr>
              <p:cNvPr id="24" name="文本框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6758" y="2564014"/>
                <a:ext cx="3780907" cy="113486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文本框 25"/>
              <p:cNvSpPr txBox="1"/>
              <p:nvPr/>
            </p:nvSpPr>
            <p:spPr>
              <a:xfrm>
                <a:off x="1430515" y="3937271"/>
                <a:ext cx="6118791" cy="113486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600" b="1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600" b="1" i="1"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US" altLang="zh-CN" sz="2600" b="1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 sz="2600" b="1" i="1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altLang="zh-CN" sz="2600" b="1" i="1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altLang="zh-CN" sz="2600" b="1" i="1">
                          <a:latin typeface="Cambria Math" panose="02040503050406030204" pitchFamily="18" charset="0"/>
                        </a:rPr>
                        <m:t>𝑻</m:t>
                      </m:r>
                      <m:d>
                        <m:dPr>
                          <m:ctrlPr>
                            <a:rPr lang="en-US" altLang="zh-CN" sz="2600" b="1" i="1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altLang="zh-CN" sz="2600" b="1" i="1"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en-US" altLang="zh-CN" sz="2600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26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</m:d>
                      <m:r>
                        <a:rPr lang="en-US" altLang="zh-CN" sz="2600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600" b="1" i="1">
                          <a:latin typeface="Cambria Math" panose="02040503050406030204" pitchFamily="18" charset="0"/>
                        </a:rPr>
                        <m:t>𝟐</m:t>
                      </m:r>
                      <m:nary>
                        <m:naryPr>
                          <m:chr m:val="∑"/>
                          <m:ctrlPr>
                            <a:rPr lang="en-US" altLang="zh-CN" sz="2600" b="1" i="1">
                              <a:latin typeface="Cambria Math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600" b="1" i="1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altLang="zh-CN" sz="2600" b="1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sz="26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altLang="zh-CN" sz="2600" b="1" i="1"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en-US" altLang="zh-CN" sz="2600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2600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  <m:e>
                          <m:r>
                            <a:rPr lang="en-US" altLang="zh-CN" sz="2600" b="1" i="1">
                              <a:latin typeface="Cambria Math" panose="02040503050406030204" pitchFamily="18" charset="0"/>
                            </a:rPr>
                            <m:t>𝑻</m:t>
                          </m:r>
                          <m:r>
                            <a:rPr lang="en-US" altLang="zh-CN" sz="2600" b="1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600" b="1" i="1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altLang="zh-CN" sz="2600" b="1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a:rPr lang="en-US" altLang="zh-CN" sz="2600" b="1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600" b="1" i="1">
                          <a:latin typeface="Cambria Math" panose="02040503050406030204" pitchFamily="18" charset="0"/>
                        </a:rPr>
                        <m:t>𝒄</m:t>
                      </m:r>
                      <m:sSup>
                        <m:sSupPr>
                          <m:ctrlPr>
                            <a:rPr lang="en-US" altLang="zh-CN" sz="2600" b="1" i="1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US" altLang="zh-CN" sz="2600" b="1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600" b="1" i="1"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en-US" altLang="zh-CN" sz="2600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2600" b="1" i="1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altLang="zh-CN" sz="2600" b="1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altLang="zh-CN" sz="2600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zh-CN" altLang="en-US" sz="2600" b="1" dirty="0"/>
              </a:p>
            </p:txBody>
          </p:sp>
        </mc:Choice>
        <mc:Fallback xmlns="">
          <p:sp>
            <p:nvSpPr>
              <p:cNvPr id="26" name="文本框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0515" y="3937271"/>
                <a:ext cx="6118791" cy="113486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文本框 2"/>
          <p:cNvSpPr txBox="1"/>
          <p:nvPr/>
        </p:nvSpPr>
        <p:spPr>
          <a:xfrm>
            <a:off x="306128" y="2929697"/>
            <a:ext cx="28598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/>
              <a:t>等式两边同乘</a:t>
            </a:r>
            <a:r>
              <a:rPr lang="en-US" altLang="zh-CN" sz="2400" b="1" dirty="0" smtClean="0"/>
              <a:t>n</a:t>
            </a:r>
            <a:endParaRPr lang="zh-CN" altLang="en-US" sz="2400" b="1" dirty="0"/>
          </a:p>
        </p:txBody>
      </p:sp>
      <p:sp>
        <p:nvSpPr>
          <p:cNvPr id="4" name="矩形 3"/>
          <p:cNvSpPr/>
          <p:nvPr/>
        </p:nvSpPr>
        <p:spPr>
          <a:xfrm>
            <a:off x="483475" y="5272498"/>
            <a:ext cx="934369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Bef>
                <a:spcPts val="1927"/>
              </a:spcBef>
            </a:pPr>
            <a:r>
              <a:rPr lang="zh-CN" altLang="en-US" sz="2400" b="1" spc="-6" dirty="0">
                <a:latin typeface="宋体"/>
                <a:cs typeface="宋体"/>
              </a:rPr>
              <a:t>利用两个方程相减，将右边的项尽可能</a:t>
            </a:r>
            <a:r>
              <a:rPr lang="zh-CN" altLang="en-US" sz="2400" b="1" dirty="0">
                <a:latin typeface="宋体"/>
                <a:cs typeface="宋体"/>
              </a:rPr>
              <a:t>消去，以达到降阶的目的</a:t>
            </a:r>
            <a:endParaRPr lang="zh-CN" altLang="en-US" sz="2400" dirty="0">
              <a:latin typeface="宋体"/>
              <a:cs typeface="宋体"/>
            </a:endParaRPr>
          </a:p>
        </p:txBody>
      </p:sp>
      <p:sp>
        <p:nvSpPr>
          <p:cNvPr id="5" name="下箭头 4"/>
          <p:cNvSpPr/>
          <p:nvPr/>
        </p:nvSpPr>
        <p:spPr>
          <a:xfrm>
            <a:off x="3342290" y="2186152"/>
            <a:ext cx="304800" cy="48742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下箭头 12"/>
          <p:cNvSpPr/>
          <p:nvPr/>
        </p:nvSpPr>
        <p:spPr>
          <a:xfrm>
            <a:off x="3322536" y="3555349"/>
            <a:ext cx="304800" cy="48742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434073" y="185763"/>
            <a:ext cx="8890526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4400" b="1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  <a:cs typeface="宋体"/>
              </a:rPr>
              <a:t>差消化简</a:t>
            </a:r>
          </a:p>
        </p:txBody>
      </p:sp>
    </p:spTree>
    <p:extLst>
      <p:ext uri="{BB962C8B-B14F-4D97-AF65-F5344CB8AC3E}">
        <p14:creationId xmlns:p14="http://schemas.microsoft.com/office/powerpoint/2010/main" val="15687694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4" grpId="0"/>
      <p:bldP spid="26" grpId="0"/>
      <p:bldP spid="3" grpId="0"/>
      <p:bldP spid="4" grpId="0"/>
      <p:bldP spid="5" grpId="0" animBg="1"/>
      <p:bldP spid="13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408696" y="189583"/>
            <a:ext cx="8912585" cy="692011"/>
          </a:xfrm>
          <a:prstGeom prst="rect">
            <a:avLst/>
          </a:prstGeom>
        </p:spPr>
        <p:txBody>
          <a:bodyPr vert="horz" wrap="square" lIns="0" tIns="14758" rIns="0" bIns="0" rtlCol="0" anchor="ctr">
            <a:spAutoFit/>
          </a:bodyPr>
          <a:lstStyle/>
          <a:p>
            <a:pPr marL="15534" algn="ctr">
              <a:lnSpc>
                <a:spcPct val="100000"/>
              </a:lnSpc>
              <a:spcBef>
                <a:spcPts val="117"/>
              </a:spcBef>
            </a:pPr>
            <a:r>
              <a:rPr sz="4400" b="1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  <a:cs typeface="宋体"/>
              </a:rPr>
              <a:t>差消化简</a:t>
            </a:r>
          </a:p>
        </p:txBody>
      </p:sp>
      <p:sp>
        <p:nvSpPr>
          <p:cNvPr id="6" name="object 6"/>
          <p:cNvSpPr/>
          <p:nvPr/>
        </p:nvSpPr>
        <p:spPr>
          <a:xfrm>
            <a:off x="4392027" y="3869356"/>
            <a:ext cx="353092" cy="464013"/>
          </a:xfrm>
          <a:custGeom>
            <a:avLst/>
            <a:gdLst/>
            <a:ahLst/>
            <a:cxnLst/>
            <a:rect l="l" t="t" r="r" b="b"/>
            <a:pathLst>
              <a:path w="332105" h="368300">
                <a:moveTo>
                  <a:pt x="331850" y="202437"/>
                </a:moveTo>
                <a:lnTo>
                  <a:pt x="0" y="202437"/>
                </a:lnTo>
                <a:lnTo>
                  <a:pt x="165862" y="368300"/>
                </a:lnTo>
                <a:lnTo>
                  <a:pt x="331850" y="202437"/>
                </a:lnTo>
                <a:close/>
              </a:path>
              <a:path w="332105" h="368300">
                <a:moveTo>
                  <a:pt x="248793" y="0"/>
                </a:moveTo>
                <a:lnTo>
                  <a:pt x="82931" y="0"/>
                </a:lnTo>
                <a:lnTo>
                  <a:pt x="82931" y="202437"/>
                </a:lnTo>
                <a:lnTo>
                  <a:pt x="248793" y="202437"/>
                </a:lnTo>
                <a:lnTo>
                  <a:pt x="248793" y="0"/>
                </a:lnTo>
                <a:close/>
              </a:path>
            </a:pathLst>
          </a:custGeom>
          <a:solidFill>
            <a:srgbClr val="4F81BC"/>
          </a:solidFill>
        </p:spPr>
        <p:txBody>
          <a:bodyPr wrap="square" lIns="0" tIns="0" rIns="0" bIns="0" rtlCol="0"/>
          <a:lstStyle/>
          <a:p>
            <a:endParaRPr sz="2200"/>
          </a:p>
        </p:txBody>
      </p:sp>
      <p:sp>
        <p:nvSpPr>
          <p:cNvPr id="7" name="object 7"/>
          <p:cNvSpPr/>
          <p:nvPr/>
        </p:nvSpPr>
        <p:spPr>
          <a:xfrm>
            <a:off x="4392027" y="3869356"/>
            <a:ext cx="353092" cy="464013"/>
          </a:xfrm>
          <a:custGeom>
            <a:avLst/>
            <a:gdLst/>
            <a:ahLst/>
            <a:cxnLst/>
            <a:rect l="l" t="t" r="r" b="b"/>
            <a:pathLst>
              <a:path w="332105" h="368300">
                <a:moveTo>
                  <a:pt x="0" y="202437"/>
                </a:moveTo>
                <a:lnTo>
                  <a:pt x="82931" y="202437"/>
                </a:lnTo>
                <a:lnTo>
                  <a:pt x="82931" y="0"/>
                </a:lnTo>
                <a:lnTo>
                  <a:pt x="248793" y="0"/>
                </a:lnTo>
                <a:lnTo>
                  <a:pt x="248793" y="202437"/>
                </a:lnTo>
                <a:lnTo>
                  <a:pt x="331850" y="202437"/>
                </a:lnTo>
                <a:lnTo>
                  <a:pt x="165862" y="368300"/>
                </a:lnTo>
                <a:lnTo>
                  <a:pt x="0" y="202437"/>
                </a:lnTo>
                <a:close/>
              </a:path>
            </a:pathLst>
          </a:custGeom>
          <a:ln w="25400">
            <a:solidFill>
              <a:srgbClr val="385D89"/>
            </a:solidFill>
          </a:ln>
        </p:spPr>
        <p:txBody>
          <a:bodyPr wrap="square" lIns="0" tIns="0" rIns="0" bIns="0" rtlCol="0"/>
          <a:lstStyle/>
          <a:p>
            <a:endParaRPr sz="2200"/>
          </a:p>
        </p:txBody>
      </p:sp>
      <p:sp>
        <p:nvSpPr>
          <p:cNvPr id="8" name="object 8"/>
          <p:cNvSpPr/>
          <p:nvPr/>
        </p:nvSpPr>
        <p:spPr>
          <a:xfrm>
            <a:off x="4392027" y="2602369"/>
            <a:ext cx="405077" cy="480013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381000" y="190500"/>
                </a:moveTo>
                <a:lnTo>
                  <a:pt x="0" y="190500"/>
                </a:lnTo>
                <a:lnTo>
                  <a:pt x="190500" y="381000"/>
                </a:lnTo>
                <a:lnTo>
                  <a:pt x="381000" y="190500"/>
                </a:lnTo>
                <a:close/>
              </a:path>
              <a:path w="381000" h="381000">
                <a:moveTo>
                  <a:pt x="285750" y="0"/>
                </a:moveTo>
                <a:lnTo>
                  <a:pt x="95250" y="0"/>
                </a:lnTo>
                <a:lnTo>
                  <a:pt x="95250" y="190500"/>
                </a:lnTo>
                <a:lnTo>
                  <a:pt x="285750" y="190500"/>
                </a:lnTo>
                <a:lnTo>
                  <a:pt x="285750" y="0"/>
                </a:lnTo>
                <a:close/>
              </a:path>
            </a:pathLst>
          </a:custGeom>
          <a:solidFill>
            <a:srgbClr val="4F81BC"/>
          </a:solidFill>
        </p:spPr>
        <p:txBody>
          <a:bodyPr wrap="square" lIns="0" tIns="0" rIns="0" bIns="0" rtlCol="0"/>
          <a:lstStyle/>
          <a:p>
            <a:endParaRPr sz="2200"/>
          </a:p>
        </p:txBody>
      </p:sp>
      <p:sp>
        <p:nvSpPr>
          <p:cNvPr id="9" name="object 9"/>
          <p:cNvSpPr/>
          <p:nvPr/>
        </p:nvSpPr>
        <p:spPr>
          <a:xfrm>
            <a:off x="4392027" y="2602369"/>
            <a:ext cx="405077" cy="480013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0" y="190500"/>
                </a:moveTo>
                <a:lnTo>
                  <a:pt x="95250" y="190500"/>
                </a:lnTo>
                <a:lnTo>
                  <a:pt x="95250" y="0"/>
                </a:lnTo>
                <a:lnTo>
                  <a:pt x="285750" y="0"/>
                </a:lnTo>
                <a:lnTo>
                  <a:pt x="285750" y="190500"/>
                </a:lnTo>
                <a:lnTo>
                  <a:pt x="381000" y="190500"/>
                </a:lnTo>
                <a:lnTo>
                  <a:pt x="190500" y="381000"/>
                </a:lnTo>
                <a:lnTo>
                  <a:pt x="0" y="190500"/>
                </a:lnTo>
                <a:close/>
              </a:path>
            </a:pathLst>
          </a:custGeom>
          <a:ln w="25400">
            <a:solidFill>
              <a:srgbClr val="385D89"/>
            </a:solidFill>
          </a:ln>
        </p:spPr>
        <p:txBody>
          <a:bodyPr wrap="square" lIns="0" tIns="0" rIns="0" bIns="0" rtlCol="0"/>
          <a:lstStyle/>
          <a:p>
            <a:endParaRPr sz="2200"/>
          </a:p>
        </p:txBody>
      </p:sp>
      <p:sp>
        <p:nvSpPr>
          <p:cNvPr id="10" name="object 10"/>
          <p:cNvSpPr txBox="1"/>
          <p:nvPr/>
        </p:nvSpPr>
        <p:spPr>
          <a:xfrm>
            <a:off x="2623698" y="3869355"/>
            <a:ext cx="3305428" cy="385802"/>
          </a:xfrm>
          <a:prstGeom prst="rect">
            <a:avLst/>
          </a:prstGeom>
        </p:spPr>
        <p:txBody>
          <a:bodyPr vert="horz" wrap="square" lIns="0" tIns="16311" rIns="0" bIns="0" rtlCol="0">
            <a:spAutoFit/>
          </a:bodyPr>
          <a:lstStyle/>
          <a:p>
            <a:pPr marL="2533637">
              <a:spcBef>
                <a:spcPts val="2562"/>
              </a:spcBef>
            </a:pPr>
            <a:r>
              <a:rPr lang="zh-CN" altLang="en-US" sz="2400" b="1" dirty="0">
                <a:solidFill>
                  <a:srgbClr val="006FC0"/>
                </a:solidFill>
                <a:latin typeface="宋体"/>
                <a:cs typeface="宋体"/>
              </a:rPr>
              <a:t>变形</a:t>
            </a:r>
            <a:endParaRPr lang="zh-CN" altLang="en-US" sz="2400" dirty="0">
              <a:latin typeface="宋体"/>
              <a:cs typeface="宋体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/>
              <p:cNvSpPr txBox="1"/>
              <p:nvPr/>
            </p:nvSpPr>
            <p:spPr>
              <a:xfrm>
                <a:off x="1349368" y="1091144"/>
                <a:ext cx="4083490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1" i="1">
                          <a:latin typeface="Cambria Math" panose="02040503050406030204" pitchFamily="18" charset="0"/>
                        </a:rPr>
                        <m:t>𝒏𝑻</m:t>
                      </m:r>
                      <m:d>
                        <m:dPr>
                          <m:ctrlPr>
                            <a:rPr lang="en-US" altLang="zh-CN" sz="2800" b="1" i="1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altLang="zh-CN" sz="2800" b="1" i="1"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</m:d>
                      <m:r>
                        <a:rPr lang="en-US" altLang="zh-CN" sz="2800" b="1" i="1"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en-US" altLang="zh-CN" sz="2800" b="1" i="1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altLang="zh-CN" sz="2800" b="1" i="1"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en-US" altLang="zh-CN" sz="2800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28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</m:d>
                      <m:r>
                        <a:rPr lang="en-US" altLang="zh-CN" sz="2800" b="1" i="1">
                          <a:latin typeface="Cambria Math" panose="02040503050406030204" pitchFamily="18" charset="0"/>
                        </a:rPr>
                        <m:t>𝑻</m:t>
                      </m:r>
                      <m:r>
                        <a:rPr lang="en-US" altLang="zh-CN" sz="2800" b="1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800" b="1" i="1"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US" altLang="zh-CN" sz="2800" b="1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 sz="2800" b="1" i="1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altLang="zh-CN" sz="2800" b="1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6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3" name="文本框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9368" y="1091144"/>
                <a:ext cx="4083490" cy="43088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/>
              <p:cNvSpPr txBox="1"/>
              <p:nvPr/>
            </p:nvSpPr>
            <p:spPr>
              <a:xfrm>
                <a:off x="3294945" y="1656054"/>
                <a:ext cx="5044201" cy="44063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800" b="1" i="1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altLang="zh-CN" sz="2800" b="1" i="1">
                          <a:latin typeface="Cambria Math" panose="02040503050406030204" pitchFamily="18" charset="0"/>
                        </a:rPr>
                        <m:t>𝑻</m:t>
                      </m:r>
                      <m:d>
                        <m:dPr>
                          <m:ctrlPr>
                            <a:rPr lang="en-US" altLang="zh-CN" sz="2800" b="1" i="1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altLang="zh-CN" sz="2800" b="1" i="1"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en-US" altLang="zh-CN" sz="2800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28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</m:d>
                      <m:r>
                        <a:rPr lang="en-US" altLang="zh-CN" sz="2800" b="1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 sz="2800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𝒄</m:t>
                      </m:r>
                      <m:sSup>
                        <m:sSupPr>
                          <m:ctrlPr>
                            <a:rPr lang="en-US" altLang="zh-CN" sz="2800" b="1" i="1">
                              <a:solidFill>
                                <a:srgbClr val="0000FF"/>
                              </a:solidFill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US" altLang="zh-CN" sz="2800" b="1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  <m:sup>
                          <m:r>
                            <a:rPr lang="en-US" altLang="zh-CN" sz="2800" b="1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altLang="zh-CN" sz="2800" b="1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 sz="2800" b="1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𝒄</m:t>
                      </m:r>
                      <m:sSup>
                        <m:sSupPr>
                          <m:ctrlPr>
                            <a:rPr lang="en-US" altLang="zh-CN" sz="2800" b="1" i="1">
                              <a:solidFill>
                                <a:srgbClr val="0000FF"/>
                              </a:solidFill>
                              <a:latin typeface="Cambria Math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sz="2800" b="1" i="1">
                                  <a:solidFill>
                                    <a:srgbClr val="0000FF"/>
                                  </a:solidFill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altLang="zh-CN" sz="2800" b="1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  <m:r>
                                <a:rPr lang="en-US" altLang="zh-CN" sz="2800" b="1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2800" b="1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</m:d>
                        </m:e>
                        <m:sup>
                          <m:r>
                            <a:rPr lang="en-US" altLang="zh-CN" sz="2800" b="1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zh-CN" altLang="en-US" sz="26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4" name="文本框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94945" y="1656054"/>
                <a:ext cx="5044201" cy="44063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本框 14"/>
              <p:cNvSpPr txBox="1"/>
              <p:nvPr/>
            </p:nvSpPr>
            <p:spPr>
              <a:xfrm>
                <a:off x="1391668" y="3237987"/>
                <a:ext cx="5136150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1" i="1">
                          <a:latin typeface="Cambria Math" panose="02040503050406030204" pitchFamily="18" charset="0"/>
                        </a:rPr>
                        <m:t>𝒏𝑻</m:t>
                      </m:r>
                      <m:d>
                        <m:dPr>
                          <m:ctrlPr>
                            <a:rPr lang="en-US" altLang="zh-CN" sz="2800" b="1" i="1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altLang="zh-CN" sz="2800" b="1" i="1"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</m:d>
                      <m:r>
                        <a:rPr lang="en-US" altLang="zh-CN" sz="2800" b="1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CN" sz="2800" b="1" i="1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altLang="zh-CN" sz="2800" b="1" i="1"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en-US" altLang="zh-CN" sz="2800" b="1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28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</m:d>
                      <m:r>
                        <a:rPr lang="en-US" altLang="zh-CN" sz="2800" b="1" i="1">
                          <a:latin typeface="Cambria Math" panose="02040503050406030204" pitchFamily="18" charset="0"/>
                        </a:rPr>
                        <m:t>𝑻</m:t>
                      </m:r>
                      <m:d>
                        <m:dPr>
                          <m:ctrlPr>
                            <a:rPr lang="en-US" altLang="zh-CN" sz="2800" b="1" i="1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altLang="zh-CN" sz="2800" b="1" i="1"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en-US" altLang="zh-CN" sz="2800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28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</m:d>
                      <m:r>
                        <a:rPr lang="en-US" altLang="zh-CN" sz="2800" b="1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2800" b="1" i="1" smtClean="0">
                              <a:solidFill>
                                <a:srgbClr val="0000FF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altLang="zh-CN" sz="2800" b="1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𝒄</m:t>
                          </m:r>
                        </m:e>
                        <m:sub>
                          <m:r>
                            <a:rPr lang="en-US" altLang="zh-CN" sz="2800" b="1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altLang="zh-CN" sz="2800" b="1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𝒏</m:t>
                      </m:r>
                    </m:oMath>
                  </m:oMathPara>
                </a14:m>
                <a:endParaRPr lang="zh-CN" altLang="en-US" sz="2800" b="1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15" name="文本框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1668" y="3237987"/>
                <a:ext cx="5136150" cy="43088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15"/>
              <p:cNvSpPr txBox="1"/>
              <p:nvPr/>
            </p:nvSpPr>
            <p:spPr>
              <a:xfrm>
                <a:off x="3783165" y="4797293"/>
                <a:ext cx="4139723" cy="8433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2800" b="1" i="1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altLang="zh-CN" sz="2800" b="1" i="1">
                              <a:latin typeface="Cambria Math" panose="02040503050406030204" pitchFamily="18" charset="0"/>
                            </a:rPr>
                            <m:t>𝑻</m:t>
                          </m:r>
                          <m:d>
                            <m:dPr>
                              <m:ctrlPr>
                                <a:rPr lang="en-US" altLang="zh-CN" sz="2800" b="1" i="1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altLang="zh-CN" sz="2800" b="1" i="1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e>
                          </m:d>
                        </m:num>
                        <m:den>
                          <m:r>
                            <a:rPr lang="en-US" altLang="zh-CN" sz="2800" b="1" i="1"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en-US" altLang="zh-CN" sz="2800" b="1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28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den>
                      </m:f>
                      <m:r>
                        <a:rPr lang="en-US" altLang="zh-CN" sz="2800" b="1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800" b="1" i="1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altLang="zh-CN" sz="2800" b="1" i="1">
                              <a:latin typeface="Cambria Math" panose="02040503050406030204" pitchFamily="18" charset="0"/>
                            </a:rPr>
                            <m:t>𝑻</m:t>
                          </m:r>
                          <m:d>
                            <m:dPr>
                              <m:ctrlPr>
                                <a:rPr lang="en-US" altLang="zh-CN" sz="2800" b="1" i="1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altLang="zh-CN" sz="2800" b="1" i="1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  <m:r>
                                <a:rPr lang="en-US" altLang="zh-CN" sz="2800" b="1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2800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</m:d>
                        </m:num>
                        <m:den>
                          <m:r>
                            <a:rPr lang="en-US" altLang="zh-CN" sz="2800" b="1" i="1">
                              <a:latin typeface="Cambria Math" panose="02040503050406030204" pitchFamily="18" charset="0"/>
                            </a:rPr>
                            <m:t>𝒏</m:t>
                          </m:r>
                        </m:den>
                      </m:f>
                      <m:r>
                        <a:rPr lang="en-US" altLang="zh-CN" sz="2800" b="1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zh-CN" sz="2800" b="1" i="1">
                              <a:latin typeface="Cambria Math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sz="2800" b="1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altLang="zh-CN" sz="2800" b="1" i="1">
                                  <a:latin typeface="Cambria Math" panose="02040503050406030204" pitchFamily="18" charset="0"/>
                                </a:rPr>
                                <m:t>𝒄</m:t>
                              </m:r>
                            </m:e>
                            <m:sub>
                              <m:r>
                                <a:rPr lang="en-US" altLang="zh-CN" sz="2800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num>
                        <m:den>
                          <m:r>
                            <a:rPr lang="en-US" altLang="zh-CN" sz="2800" b="1" i="1"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en-US" altLang="zh-CN" sz="2800" b="1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28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den>
                      </m:f>
                    </m:oMath>
                  </m:oMathPara>
                </a14:m>
                <a:endParaRPr lang="zh-CN" altLang="en-US" sz="2800" b="1" dirty="0"/>
              </a:p>
            </p:txBody>
          </p:sp>
        </mc:Choice>
        <mc:Fallback xmlns="">
          <p:sp>
            <p:nvSpPr>
              <p:cNvPr id="16" name="文本框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83165" y="4797293"/>
                <a:ext cx="4139723" cy="843372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矩形 17"/>
          <p:cNvSpPr/>
          <p:nvPr/>
        </p:nvSpPr>
        <p:spPr>
          <a:xfrm>
            <a:off x="2522418" y="2617200"/>
            <a:ext cx="3294627" cy="454039"/>
          </a:xfrm>
          <a:prstGeom prst="rect">
            <a:avLst/>
          </a:prstGeom>
        </p:spPr>
        <p:txBody>
          <a:bodyPr wrap="none" lIns="83887" tIns="41944" rIns="83887" bIns="41944">
            <a:spAutoFit/>
          </a:bodyPr>
          <a:lstStyle/>
          <a:p>
            <a:pPr marL="2485481">
              <a:spcBef>
                <a:spcPts val="1229"/>
              </a:spcBef>
            </a:pPr>
            <a:r>
              <a:rPr lang="zh-CN" altLang="en-US" sz="2400" b="1" dirty="0">
                <a:solidFill>
                  <a:srgbClr val="006FC0"/>
                </a:solidFill>
                <a:latin typeface="宋体"/>
                <a:cs typeface="宋体"/>
              </a:rPr>
              <a:t>化简</a:t>
            </a:r>
            <a:endParaRPr lang="zh-CN" altLang="en-US" sz="2400" dirty="0">
              <a:latin typeface="宋体"/>
              <a:cs typeface="宋体"/>
            </a:endParaRPr>
          </a:p>
        </p:txBody>
      </p:sp>
      <p:cxnSp>
        <p:nvCxnSpPr>
          <p:cNvPr id="19" name="直接连接符 18"/>
          <p:cNvCxnSpPr/>
          <p:nvPr/>
        </p:nvCxnSpPr>
        <p:spPr>
          <a:xfrm>
            <a:off x="2774811" y="1522031"/>
            <a:ext cx="2567323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/>
          <p:cNvCxnSpPr/>
          <p:nvPr/>
        </p:nvCxnSpPr>
        <p:spPr>
          <a:xfrm>
            <a:off x="3783165" y="2109567"/>
            <a:ext cx="1411759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本框 16"/>
          <p:cNvSpPr txBox="1"/>
          <p:nvPr/>
        </p:nvSpPr>
        <p:spPr>
          <a:xfrm>
            <a:off x="302694" y="4997867"/>
            <a:ext cx="28598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/>
              <a:t>等式两边同</a:t>
            </a:r>
            <a:r>
              <a:rPr lang="zh-CN" altLang="en-US" sz="2400" b="1" dirty="0"/>
              <a:t>除</a:t>
            </a:r>
            <a:r>
              <a:rPr lang="en-US" altLang="zh-CN" sz="2400" b="1" dirty="0" smtClean="0"/>
              <a:t>n(n+1)</a:t>
            </a:r>
            <a:endParaRPr lang="zh-CN" alt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35158774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/>
      <p:bldP spid="15" grpId="0"/>
      <p:bldP spid="16" grpId="0"/>
      <p:bldP spid="18" grpId="0"/>
      <p:bldP spid="17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373224" y="233811"/>
            <a:ext cx="8969311" cy="692011"/>
          </a:xfrm>
          <a:prstGeom prst="rect">
            <a:avLst/>
          </a:prstGeom>
        </p:spPr>
        <p:txBody>
          <a:bodyPr vert="horz" wrap="square" lIns="0" tIns="14758" rIns="0" bIns="0" rtlCol="0" anchor="ctr">
            <a:spAutoFit/>
          </a:bodyPr>
          <a:lstStyle/>
          <a:p>
            <a:pPr marL="15534" algn="ctr">
              <a:lnSpc>
                <a:spcPct val="100000"/>
              </a:lnSpc>
              <a:spcBef>
                <a:spcPts val="117"/>
              </a:spcBef>
            </a:pPr>
            <a:r>
              <a:rPr sz="4400" b="1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  <a:cs typeface="宋体"/>
              </a:rPr>
              <a:t>迭代求解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951268" y="4566476"/>
            <a:ext cx="3788911" cy="509697"/>
          </a:xfrm>
          <a:prstGeom prst="rect">
            <a:avLst/>
          </a:prstGeom>
        </p:spPr>
        <p:txBody>
          <a:bodyPr vert="horz" wrap="square" lIns="0" tIns="17088" rIns="0" bIns="0" rtlCol="0">
            <a:spAutoFit/>
          </a:bodyPr>
          <a:lstStyle/>
          <a:p>
            <a:pPr marL="15534">
              <a:spcBef>
                <a:spcPts val="135"/>
              </a:spcBef>
            </a:pPr>
            <a:r>
              <a:rPr sz="3200" spc="122" dirty="0">
                <a:latin typeface="Symbol"/>
                <a:cs typeface="Symbol"/>
              </a:rPr>
              <a:t></a:t>
            </a:r>
            <a:r>
              <a:rPr sz="3200" spc="-110" dirty="0">
                <a:latin typeface="Times New Roman"/>
                <a:cs typeface="Times New Roman"/>
              </a:rPr>
              <a:t> </a:t>
            </a:r>
            <a:r>
              <a:rPr sz="3200" b="1" i="1" spc="165" dirty="0">
                <a:latin typeface="Times New Roman"/>
                <a:cs typeface="Times New Roman"/>
              </a:rPr>
              <a:t>Θ</a:t>
            </a:r>
            <a:r>
              <a:rPr sz="3200" b="1" spc="165" dirty="0">
                <a:latin typeface="Times New Roman"/>
                <a:cs typeface="Times New Roman"/>
              </a:rPr>
              <a:t>(log</a:t>
            </a:r>
            <a:r>
              <a:rPr sz="3200" b="1" spc="-526" dirty="0">
                <a:latin typeface="Times New Roman"/>
                <a:cs typeface="Times New Roman"/>
              </a:rPr>
              <a:t> </a:t>
            </a:r>
            <a:r>
              <a:rPr sz="3200" b="1" i="1" spc="135" dirty="0">
                <a:latin typeface="Times New Roman"/>
                <a:cs typeface="Times New Roman"/>
              </a:rPr>
              <a:t>n</a:t>
            </a:r>
            <a:r>
              <a:rPr sz="3200" b="1" spc="135" dirty="0">
                <a:latin typeface="Times New Roman"/>
                <a:cs typeface="Times New Roman"/>
              </a:rPr>
              <a:t>)</a:t>
            </a:r>
            <a:endParaRPr sz="3200" dirty="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892706" y="5228973"/>
            <a:ext cx="4196910" cy="568900"/>
          </a:xfrm>
          <a:prstGeom prst="rect">
            <a:avLst/>
          </a:prstGeom>
        </p:spPr>
        <p:txBody>
          <a:bodyPr vert="horz" wrap="square" lIns="0" tIns="14758" rIns="0" bIns="0" rtlCol="0">
            <a:spAutoFit/>
          </a:bodyPr>
          <a:lstStyle/>
          <a:p>
            <a:pPr marL="15534">
              <a:spcBef>
                <a:spcPts val="117"/>
              </a:spcBef>
            </a:pPr>
            <a:r>
              <a:rPr sz="3400" b="1" i="1" spc="-6" dirty="0">
                <a:latin typeface="Times New Roman"/>
                <a:cs typeface="Times New Roman"/>
              </a:rPr>
              <a:t>T</a:t>
            </a:r>
            <a:r>
              <a:rPr sz="3400" b="1" spc="-6" dirty="0">
                <a:latin typeface="Times New Roman"/>
                <a:cs typeface="Times New Roman"/>
              </a:rPr>
              <a:t>(</a:t>
            </a:r>
            <a:r>
              <a:rPr sz="3400" b="1" i="1" spc="-6" dirty="0">
                <a:latin typeface="Times New Roman"/>
                <a:cs typeface="Times New Roman"/>
              </a:rPr>
              <a:t>n</a:t>
            </a:r>
            <a:r>
              <a:rPr sz="3400" b="1" spc="-6" dirty="0">
                <a:latin typeface="Times New Roman"/>
                <a:cs typeface="Times New Roman"/>
              </a:rPr>
              <a:t>) =</a:t>
            </a:r>
            <a:r>
              <a:rPr sz="3400" b="1" spc="-43" dirty="0">
                <a:latin typeface="Times New Roman"/>
                <a:cs typeface="Times New Roman"/>
              </a:rPr>
              <a:t> </a:t>
            </a:r>
            <a:r>
              <a:rPr sz="3600" b="1" i="1" spc="-18" dirty="0">
                <a:latin typeface="Symbol"/>
                <a:cs typeface="Symbol"/>
              </a:rPr>
              <a:t></a:t>
            </a:r>
            <a:r>
              <a:rPr sz="3400" b="1" spc="-18" dirty="0">
                <a:latin typeface="Times New Roman"/>
                <a:cs typeface="Times New Roman"/>
              </a:rPr>
              <a:t>(</a:t>
            </a:r>
            <a:r>
              <a:rPr sz="3400" b="1" i="1" spc="-18" dirty="0">
                <a:latin typeface="Times New Roman"/>
                <a:cs typeface="Times New Roman"/>
              </a:rPr>
              <a:t>n</a:t>
            </a:r>
            <a:r>
              <a:rPr sz="3400" b="1" spc="-18" dirty="0">
                <a:latin typeface="Times New Roman"/>
                <a:cs typeface="Times New Roman"/>
              </a:rPr>
              <a:t>log</a:t>
            </a:r>
            <a:r>
              <a:rPr sz="3400" b="1" i="1" spc="-18" dirty="0">
                <a:latin typeface="Times New Roman"/>
                <a:cs typeface="Times New Roman"/>
              </a:rPr>
              <a:t>n</a:t>
            </a:r>
            <a:r>
              <a:rPr sz="3400" b="1" spc="-18" dirty="0">
                <a:latin typeface="Times New Roman"/>
                <a:cs typeface="Times New Roman"/>
              </a:rPr>
              <a:t>)</a:t>
            </a:r>
            <a:endParaRPr sz="3400" dirty="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/>
          <p:nvPr/>
        </p:nvSpPr>
        <p:spPr>
          <a:xfrm rot="4485950">
            <a:off x="233929" y="2794384"/>
            <a:ext cx="972185" cy="1153630"/>
          </a:xfrm>
          <a:custGeom>
            <a:avLst/>
            <a:gdLst/>
            <a:ahLst/>
            <a:cxnLst/>
            <a:rect l="l" t="t" r="r" b="b"/>
            <a:pathLst>
              <a:path w="914400" h="915670">
                <a:moveTo>
                  <a:pt x="93916" y="0"/>
                </a:moveTo>
                <a:lnTo>
                  <a:pt x="134556" y="199262"/>
                </a:lnTo>
                <a:lnTo>
                  <a:pt x="100850" y="233560"/>
                </a:lnTo>
                <a:lnTo>
                  <a:pt x="71831" y="270524"/>
                </a:lnTo>
                <a:lnTo>
                  <a:pt x="47585" y="309766"/>
                </a:lnTo>
                <a:lnTo>
                  <a:pt x="28194" y="350898"/>
                </a:lnTo>
                <a:lnTo>
                  <a:pt x="13744" y="393531"/>
                </a:lnTo>
                <a:lnTo>
                  <a:pt x="4317" y="437278"/>
                </a:lnTo>
                <a:lnTo>
                  <a:pt x="0" y="481750"/>
                </a:lnTo>
                <a:lnTo>
                  <a:pt x="874" y="526560"/>
                </a:lnTo>
                <a:lnTo>
                  <a:pt x="7026" y="571318"/>
                </a:lnTo>
                <a:lnTo>
                  <a:pt x="18538" y="615637"/>
                </a:lnTo>
                <a:lnTo>
                  <a:pt x="35496" y="659130"/>
                </a:lnTo>
                <a:lnTo>
                  <a:pt x="57286" y="700270"/>
                </a:lnTo>
                <a:lnTo>
                  <a:pt x="83246" y="738256"/>
                </a:lnTo>
                <a:lnTo>
                  <a:pt x="113010" y="772952"/>
                </a:lnTo>
                <a:lnTo>
                  <a:pt x="146216" y="804220"/>
                </a:lnTo>
                <a:lnTo>
                  <a:pt x="182496" y="831925"/>
                </a:lnTo>
                <a:lnTo>
                  <a:pt x="221487" y="855929"/>
                </a:lnTo>
                <a:lnTo>
                  <a:pt x="262823" y="876096"/>
                </a:lnTo>
                <a:lnTo>
                  <a:pt x="306140" y="892289"/>
                </a:lnTo>
                <a:lnTo>
                  <a:pt x="351073" y="904372"/>
                </a:lnTo>
                <a:lnTo>
                  <a:pt x="397258" y="912208"/>
                </a:lnTo>
                <a:lnTo>
                  <a:pt x="444328" y="915660"/>
                </a:lnTo>
                <a:lnTo>
                  <a:pt x="491920" y="914593"/>
                </a:lnTo>
                <a:lnTo>
                  <a:pt x="539668" y="908868"/>
                </a:lnTo>
                <a:lnTo>
                  <a:pt x="587207" y="898351"/>
                </a:lnTo>
                <a:lnTo>
                  <a:pt x="634174" y="882904"/>
                </a:lnTo>
                <a:lnTo>
                  <a:pt x="679060" y="862922"/>
                </a:lnTo>
                <a:lnTo>
                  <a:pt x="720502" y="839117"/>
                </a:lnTo>
                <a:lnTo>
                  <a:pt x="758351" y="811822"/>
                </a:lnTo>
                <a:lnTo>
                  <a:pt x="792460" y="781373"/>
                </a:lnTo>
                <a:lnTo>
                  <a:pt x="822679" y="748105"/>
                </a:lnTo>
                <a:lnTo>
                  <a:pt x="848861" y="712352"/>
                </a:lnTo>
                <a:lnTo>
                  <a:pt x="870855" y="674449"/>
                </a:lnTo>
                <a:lnTo>
                  <a:pt x="888515" y="634731"/>
                </a:lnTo>
                <a:lnTo>
                  <a:pt x="901691" y="593532"/>
                </a:lnTo>
                <a:lnTo>
                  <a:pt x="910234" y="551189"/>
                </a:lnTo>
                <a:lnTo>
                  <a:pt x="913997" y="508035"/>
                </a:lnTo>
                <a:lnTo>
                  <a:pt x="912830" y="464405"/>
                </a:lnTo>
                <a:lnTo>
                  <a:pt x="906585" y="420634"/>
                </a:lnTo>
                <a:lnTo>
                  <a:pt x="895114" y="377057"/>
                </a:lnTo>
                <a:lnTo>
                  <a:pt x="878268" y="334009"/>
                </a:lnTo>
                <a:lnTo>
                  <a:pt x="856478" y="292869"/>
                </a:lnTo>
                <a:lnTo>
                  <a:pt x="830518" y="254883"/>
                </a:lnTo>
                <a:lnTo>
                  <a:pt x="800753" y="220187"/>
                </a:lnTo>
                <a:lnTo>
                  <a:pt x="767548" y="188919"/>
                </a:lnTo>
                <a:lnTo>
                  <a:pt x="731268" y="161214"/>
                </a:lnTo>
                <a:lnTo>
                  <a:pt x="692277" y="137210"/>
                </a:lnTo>
                <a:lnTo>
                  <a:pt x="650940" y="117043"/>
                </a:lnTo>
                <a:lnTo>
                  <a:pt x="632729" y="110236"/>
                </a:lnTo>
                <a:lnTo>
                  <a:pt x="279590" y="110236"/>
                </a:lnTo>
                <a:lnTo>
                  <a:pt x="93916" y="0"/>
                </a:lnTo>
                <a:close/>
              </a:path>
              <a:path w="914400" h="915670">
                <a:moveTo>
                  <a:pt x="469436" y="77479"/>
                </a:moveTo>
                <a:lnTo>
                  <a:pt x="421844" y="78546"/>
                </a:lnTo>
                <a:lnTo>
                  <a:pt x="374096" y="84271"/>
                </a:lnTo>
                <a:lnTo>
                  <a:pt x="326556" y="94788"/>
                </a:lnTo>
                <a:lnTo>
                  <a:pt x="279590" y="110236"/>
                </a:lnTo>
                <a:lnTo>
                  <a:pt x="632729" y="110236"/>
                </a:lnTo>
                <a:lnTo>
                  <a:pt x="607623" y="100850"/>
                </a:lnTo>
                <a:lnTo>
                  <a:pt x="562690" y="88767"/>
                </a:lnTo>
                <a:lnTo>
                  <a:pt x="516506" y="80931"/>
                </a:lnTo>
                <a:lnTo>
                  <a:pt x="469436" y="77479"/>
                </a:lnTo>
                <a:close/>
              </a:path>
            </a:pathLst>
          </a:custGeom>
          <a:solidFill>
            <a:srgbClr val="4F81BC"/>
          </a:solidFill>
        </p:spPr>
        <p:txBody>
          <a:bodyPr wrap="square" lIns="0" tIns="0" rIns="0" bIns="0" rtlCol="0"/>
          <a:lstStyle/>
          <a:p>
            <a:endParaRPr sz="2200"/>
          </a:p>
        </p:txBody>
      </p:sp>
      <p:sp>
        <p:nvSpPr>
          <p:cNvPr id="28" name="object 28"/>
          <p:cNvSpPr/>
          <p:nvPr/>
        </p:nvSpPr>
        <p:spPr>
          <a:xfrm rot="4423400">
            <a:off x="233929" y="2794384"/>
            <a:ext cx="972185" cy="1153630"/>
          </a:xfrm>
          <a:custGeom>
            <a:avLst/>
            <a:gdLst/>
            <a:ahLst/>
            <a:cxnLst/>
            <a:rect l="l" t="t" r="r" b="b"/>
            <a:pathLst>
              <a:path w="914400" h="915670">
                <a:moveTo>
                  <a:pt x="93916" y="0"/>
                </a:moveTo>
                <a:lnTo>
                  <a:pt x="279590" y="110236"/>
                </a:lnTo>
                <a:lnTo>
                  <a:pt x="326556" y="94788"/>
                </a:lnTo>
                <a:lnTo>
                  <a:pt x="374096" y="84271"/>
                </a:lnTo>
                <a:lnTo>
                  <a:pt x="421844" y="78546"/>
                </a:lnTo>
                <a:lnTo>
                  <a:pt x="469436" y="77479"/>
                </a:lnTo>
                <a:lnTo>
                  <a:pt x="516506" y="80931"/>
                </a:lnTo>
                <a:lnTo>
                  <a:pt x="562690" y="88767"/>
                </a:lnTo>
                <a:lnTo>
                  <a:pt x="607623" y="100850"/>
                </a:lnTo>
                <a:lnTo>
                  <a:pt x="650940" y="117043"/>
                </a:lnTo>
                <a:lnTo>
                  <a:pt x="692277" y="137210"/>
                </a:lnTo>
                <a:lnTo>
                  <a:pt x="731268" y="161214"/>
                </a:lnTo>
                <a:lnTo>
                  <a:pt x="767548" y="188919"/>
                </a:lnTo>
                <a:lnTo>
                  <a:pt x="800753" y="220187"/>
                </a:lnTo>
                <a:lnTo>
                  <a:pt x="830518" y="254883"/>
                </a:lnTo>
                <a:lnTo>
                  <a:pt x="856478" y="292869"/>
                </a:lnTo>
                <a:lnTo>
                  <a:pt x="878268" y="334009"/>
                </a:lnTo>
                <a:lnTo>
                  <a:pt x="895114" y="377057"/>
                </a:lnTo>
                <a:lnTo>
                  <a:pt x="906585" y="420634"/>
                </a:lnTo>
                <a:lnTo>
                  <a:pt x="912830" y="464405"/>
                </a:lnTo>
                <a:lnTo>
                  <a:pt x="913997" y="508035"/>
                </a:lnTo>
                <a:lnTo>
                  <a:pt x="910234" y="551189"/>
                </a:lnTo>
                <a:lnTo>
                  <a:pt x="901691" y="593532"/>
                </a:lnTo>
                <a:lnTo>
                  <a:pt x="888515" y="634731"/>
                </a:lnTo>
                <a:lnTo>
                  <a:pt x="870855" y="674449"/>
                </a:lnTo>
                <a:lnTo>
                  <a:pt x="848861" y="712352"/>
                </a:lnTo>
                <a:lnTo>
                  <a:pt x="822679" y="748105"/>
                </a:lnTo>
                <a:lnTo>
                  <a:pt x="792460" y="781373"/>
                </a:lnTo>
                <a:lnTo>
                  <a:pt x="758351" y="811822"/>
                </a:lnTo>
                <a:lnTo>
                  <a:pt x="720502" y="839117"/>
                </a:lnTo>
                <a:lnTo>
                  <a:pt x="679060" y="862922"/>
                </a:lnTo>
                <a:lnTo>
                  <a:pt x="634174" y="882904"/>
                </a:lnTo>
                <a:lnTo>
                  <a:pt x="587207" y="898351"/>
                </a:lnTo>
                <a:lnTo>
                  <a:pt x="539668" y="908868"/>
                </a:lnTo>
                <a:lnTo>
                  <a:pt x="491920" y="914593"/>
                </a:lnTo>
                <a:lnTo>
                  <a:pt x="444328" y="915660"/>
                </a:lnTo>
                <a:lnTo>
                  <a:pt x="397258" y="912208"/>
                </a:lnTo>
                <a:lnTo>
                  <a:pt x="351073" y="904372"/>
                </a:lnTo>
                <a:lnTo>
                  <a:pt x="306140" y="892289"/>
                </a:lnTo>
                <a:lnTo>
                  <a:pt x="262823" y="876096"/>
                </a:lnTo>
                <a:lnTo>
                  <a:pt x="221487" y="855929"/>
                </a:lnTo>
                <a:lnTo>
                  <a:pt x="182496" y="831925"/>
                </a:lnTo>
                <a:lnTo>
                  <a:pt x="146216" y="804220"/>
                </a:lnTo>
                <a:lnTo>
                  <a:pt x="113010" y="772952"/>
                </a:lnTo>
                <a:lnTo>
                  <a:pt x="83246" y="738256"/>
                </a:lnTo>
                <a:lnTo>
                  <a:pt x="57286" y="700270"/>
                </a:lnTo>
                <a:lnTo>
                  <a:pt x="35496" y="659130"/>
                </a:lnTo>
                <a:lnTo>
                  <a:pt x="18538" y="615637"/>
                </a:lnTo>
                <a:lnTo>
                  <a:pt x="7026" y="571318"/>
                </a:lnTo>
                <a:lnTo>
                  <a:pt x="874" y="526560"/>
                </a:lnTo>
                <a:lnTo>
                  <a:pt x="0" y="481750"/>
                </a:lnTo>
                <a:lnTo>
                  <a:pt x="4317" y="437278"/>
                </a:lnTo>
                <a:lnTo>
                  <a:pt x="13744" y="393531"/>
                </a:lnTo>
                <a:lnTo>
                  <a:pt x="28194" y="350898"/>
                </a:lnTo>
                <a:lnTo>
                  <a:pt x="47585" y="309766"/>
                </a:lnTo>
                <a:lnTo>
                  <a:pt x="71831" y="270524"/>
                </a:lnTo>
                <a:lnTo>
                  <a:pt x="100850" y="233560"/>
                </a:lnTo>
                <a:lnTo>
                  <a:pt x="134556" y="199262"/>
                </a:lnTo>
                <a:lnTo>
                  <a:pt x="93916" y="0"/>
                </a:lnTo>
                <a:close/>
              </a:path>
            </a:pathLst>
          </a:custGeom>
          <a:ln w="25400">
            <a:solidFill>
              <a:srgbClr val="385D89"/>
            </a:solidFill>
          </a:ln>
        </p:spPr>
        <p:txBody>
          <a:bodyPr wrap="square" lIns="0" tIns="0" rIns="0" bIns="0" rtlCol="0"/>
          <a:lstStyle/>
          <a:p>
            <a:endParaRPr sz="2200"/>
          </a:p>
        </p:txBody>
      </p:sp>
      <p:sp>
        <p:nvSpPr>
          <p:cNvPr id="29" name="object 29"/>
          <p:cNvSpPr txBox="1"/>
          <p:nvPr/>
        </p:nvSpPr>
        <p:spPr>
          <a:xfrm>
            <a:off x="210439" y="2254036"/>
            <a:ext cx="1119957" cy="1471499"/>
          </a:xfrm>
          <a:prstGeom prst="rect">
            <a:avLst/>
          </a:prstGeom>
        </p:spPr>
        <p:txBody>
          <a:bodyPr vert="horz" wrap="square" lIns="0" tIns="17088" rIns="0" bIns="0" rtlCol="0">
            <a:spAutoFit/>
          </a:bodyPr>
          <a:lstStyle/>
          <a:p>
            <a:pPr marL="15534">
              <a:spcBef>
                <a:spcPts val="135"/>
              </a:spcBef>
            </a:pPr>
            <a:r>
              <a:rPr lang="en-US" sz="3200" b="1" spc="110" dirty="0">
                <a:latin typeface="Times New Roman"/>
                <a:cs typeface="Times New Roman"/>
              </a:rPr>
              <a:t> </a:t>
            </a:r>
            <a:endParaRPr sz="3200" dirty="0">
              <a:latin typeface="Times New Roman"/>
              <a:cs typeface="Times New Roman"/>
            </a:endParaRPr>
          </a:p>
          <a:p>
            <a:pPr marL="215150">
              <a:lnSpc>
                <a:spcPts val="2557"/>
              </a:lnSpc>
              <a:spcBef>
                <a:spcPts val="2330"/>
              </a:spcBef>
            </a:pPr>
            <a:r>
              <a:rPr sz="2200" b="1" dirty="0" err="1">
                <a:solidFill>
                  <a:srgbClr val="FFFFFF"/>
                </a:solidFill>
                <a:latin typeface="宋体"/>
                <a:cs typeface="宋体"/>
              </a:rPr>
              <a:t>代入</a:t>
            </a:r>
            <a:endParaRPr sz="2200" dirty="0">
              <a:latin typeface="宋体"/>
              <a:cs typeface="宋体"/>
            </a:endParaRPr>
          </a:p>
          <a:p>
            <a:pPr marL="215150">
              <a:lnSpc>
                <a:spcPts val="2557"/>
              </a:lnSpc>
            </a:pPr>
            <a:r>
              <a:rPr sz="2200" b="1" dirty="0">
                <a:solidFill>
                  <a:srgbClr val="FFFFFF"/>
                </a:solidFill>
                <a:latin typeface="宋体"/>
                <a:cs typeface="宋体"/>
              </a:rPr>
              <a:t>初值</a:t>
            </a:r>
            <a:endParaRPr sz="2200" dirty="0">
              <a:latin typeface="宋体"/>
              <a:cs typeface="宋体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本框 29"/>
              <p:cNvSpPr txBox="1"/>
              <p:nvPr/>
            </p:nvSpPr>
            <p:spPr>
              <a:xfrm>
                <a:off x="1215148" y="1207360"/>
                <a:ext cx="3842527" cy="78322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2600" b="1" i="1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altLang="zh-CN" sz="2600" b="1" i="1">
                              <a:latin typeface="Cambria Math" panose="02040503050406030204" pitchFamily="18" charset="0"/>
                            </a:rPr>
                            <m:t>𝑻</m:t>
                          </m:r>
                          <m:d>
                            <m:dPr>
                              <m:ctrlPr>
                                <a:rPr lang="en-US" altLang="zh-CN" sz="2600" b="1" i="1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altLang="zh-CN" sz="2600" b="1" i="1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e>
                          </m:d>
                        </m:num>
                        <m:den>
                          <m:r>
                            <a:rPr lang="en-US" altLang="zh-CN" sz="2600" b="1" i="1"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en-US" altLang="zh-CN" sz="2600" b="1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26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den>
                      </m:f>
                      <m:r>
                        <a:rPr lang="en-US" altLang="zh-CN" sz="2600" b="1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600" b="1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altLang="zh-CN" sz="26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𝑻</m:t>
                          </m:r>
                          <m:d>
                            <m:dPr>
                              <m:ctrlPr>
                                <a:rPr lang="en-US" altLang="zh-CN" sz="2600" b="1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altLang="zh-CN" sz="26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  <m:r>
                                <a:rPr lang="en-US" altLang="zh-CN" sz="26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26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</m:d>
                        </m:num>
                        <m:den>
                          <m:r>
                            <a:rPr lang="en-US" altLang="zh-CN" sz="26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den>
                      </m:f>
                      <m:r>
                        <a:rPr lang="en-US" altLang="zh-CN" sz="2600" b="1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zh-CN" sz="2600" b="1" i="1">
                              <a:latin typeface="Cambria Math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sz="2600" b="1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altLang="zh-CN" sz="2600" b="1" i="1">
                                  <a:latin typeface="Cambria Math" panose="02040503050406030204" pitchFamily="18" charset="0"/>
                                </a:rPr>
                                <m:t>𝒄</m:t>
                              </m:r>
                            </m:e>
                            <m:sub>
                              <m:r>
                                <a:rPr lang="en-US" altLang="zh-CN" sz="2600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num>
                        <m:den>
                          <m:r>
                            <a:rPr lang="en-US" altLang="zh-CN" sz="2600" b="1" i="1"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en-US" altLang="zh-CN" sz="2600" b="1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26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den>
                      </m:f>
                    </m:oMath>
                  </m:oMathPara>
                </a14:m>
                <a:endParaRPr lang="zh-CN" altLang="en-US" sz="2600" b="1" dirty="0"/>
              </a:p>
            </p:txBody>
          </p:sp>
        </mc:Choice>
        <mc:Fallback xmlns="">
          <p:sp>
            <p:nvSpPr>
              <p:cNvPr id="30" name="文本框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5148" y="1207360"/>
                <a:ext cx="3842527" cy="78322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文本框 30"/>
              <p:cNvSpPr txBox="1"/>
              <p:nvPr/>
            </p:nvSpPr>
            <p:spPr>
              <a:xfrm>
                <a:off x="861832" y="2333682"/>
                <a:ext cx="4689554" cy="77290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600" b="1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600" b="1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altLang="zh-CN" sz="26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𝑻</m:t>
                          </m:r>
                          <m:r>
                            <a:rPr lang="en-US" altLang="zh-CN" sz="26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6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altLang="zh-CN" sz="26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altLang="zh-CN" sz="26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  <m:r>
                        <a:rPr lang="en-US" altLang="zh-CN" sz="2600" b="1" i="1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600" b="1" i="1">
                              <a:latin typeface="Cambria Math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sz="2600" b="1" i="1">
                                  <a:latin typeface="Cambria Math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altLang="zh-CN" sz="2600" b="1" i="1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600" b="1" i="1">
                                      <a:latin typeface="Cambria Math" panose="02040503050406030204" pitchFamily="18" charset="0"/>
                                    </a:rPr>
                                    <m:t>𝒄</m:t>
                                  </m:r>
                                </m:e>
                                <m:sub>
                                  <m:r>
                                    <a:rPr lang="en-US" altLang="zh-CN" sz="2600" b="1" i="1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altLang="zh-CN" sz="2600" b="1" i="1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  <m:r>
                                <a:rPr lang="en-US" altLang="zh-CN" sz="2600" b="1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CN" sz="2600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den>
                          </m:f>
                          <m:r>
                            <a:rPr lang="en-US" altLang="zh-CN" sz="2600" b="1" i="1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altLang="zh-CN" sz="2600" b="1" i="1" smtClean="0">
                                  <a:solidFill>
                                    <a:srgbClr val="0000FF"/>
                                  </a:solidFill>
                                  <a:latin typeface="Cambria Math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altLang="zh-CN" sz="2600" b="1" i="1">
                                      <a:solidFill>
                                        <a:srgbClr val="0000FF"/>
                                      </a:solidFill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600" b="1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𝒄</m:t>
                                  </m:r>
                                </m:e>
                                <m:sub>
                                  <m:r>
                                    <a:rPr lang="en-US" altLang="zh-CN" sz="2600" b="1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altLang="zh-CN" sz="2600" b="1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den>
                          </m:f>
                          <m:r>
                            <a:rPr lang="en-US" altLang="zh-CN" sz="2600" b="1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2600" b="1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⋯+</m:t>
                          </m:r>
                          <m:f>
                            <m:fPr>
                              <m:ctrlPr>
                                <a:rPr lang="en-US" altLang="zh-CN" sz="2600" b="1" i="1">
                                  <a:solidFill>
                                    <a:srgbClr val="0000FF"/>
                                  </a:solidFill>
                                  <a:latin typeface="Cambria Math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altLang="zh-CN" sz="2600" b="1" i="1">
                                      <a:solidFill>
                                        <a:srgbClr val="0000FF"/>
                                      </a:solidFill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600" b="1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𝒄</m:t>
                                  </m:r>
                                </m:e>
                                <m:sub>
                                  <m:r>
                                    <a:rPr lang="en-US" altLang="zh-CN" sz="2600" b="1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altLang="zh-CN" sz="2600" b="1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zh-CN" altLang="en-US" sz="2600" b="1" dirty="0"/>
              </a:p>
            </p:txBody>
          </p:sp>
        </mc:Choice>
        <mc:Fallback xmlns="">
          <p:sp>
            <p:nvSpPr>
              <p:cNvPr id="31" name="文本框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1832" y="2333682"/>
                <a:ext cx="4689554" cy="77290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文本框 31"/>
              <p:cNvSpPr txBox="1"/>
              <p:nvPr/>
            </p:nvSpPr>
            <p:spPr>
              <a:xfrm>
                <a:off x="861832" y="3450079"/>
                <a:ext cx="3756028" cy="8903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600" b="1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600" b="1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altLang="zh-CN" sz="2600" b="1" i="1">
                              <a:latin typeface="Cambria Math" panose="02040503050406030204" pitchFamily="18" charset="0"/>
                            </a:rPr>
                            <m:t>𝒄</m:t>
                          </m:r>
                        </m:e>
                        <m:sub>
                          <m:r>
                            <a:rPr lang="en-US" altLang="zh-CN" sz="26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altLang="zh-CN" sz="2600" b="1" i="1">
                              <a:latin typeface="Cambria Math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sz="2600" b="1" i="1">
                                  <a:latin typeface="Cambria Math"/>
                                </a:rPr>
                              </m:ctrlPr>
                            </m:fPr>
                            <m:num>
                              <m:r>
                                <a:rPr lang="en-US" altLang="zh-CN" sz="2600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num>
                            <m:den>
                              <m:r>
                                <a:rPr lang="en-US" altLang="zh-CN" sz="2600" b="1" i="1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  <m:r>
                                <a:rPr lang="en-US" altLang="zh-CN" sz="2600" b="1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CN" sz="2600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den>
                          </m:f>
                          <m:r>
                            <a:rPr lang="en-US" altLang="zh-CN" sz="2600" b="1" i="1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altLang="zh-CN" sz="2600" b="1" i="1">
                                  <a:latin typeface="Cambria Math"/>
                                </a:rPr>
                              </m:ctrlPr>
                            </m:fPr>
                            <m:num>
                              <m:r>
                                <a:rPr lang="en-US" altLang="zh-CN" sz="2600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num>
                            <m:den>
                              <m:r>
                                <a:rPr lang="en-US" altLang="zh-CN" sz="2600" b="1" i="1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den>
                          </m:f>
                          <m:r>
                            <a:rPr lang="en-US" altLang="zh-CN" sz="2600" b="1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26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⋯+</m:t>
                          </m:r>
                          <m:f>
                            <m:fPr>
                              <m:ctrlPr>
                                <a:rPr lang="en-US" altLang="zh-CN" sz="2600" b="1" i="1">
                                  <a:latin typeface="Cambria Math"/>
                                </a:rPr>
                              </m:ctrlPr>
                            </m:fPr>
                            <m:num>
                              <m:r>
                                <a:rPr lang="en-US" altLang="zh-CN" sz="2600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num>
                            <m:den>
                              <m:r>
                                <a:rPr lang="en-US" altLang="zh-CN" sz="2600" b="1" i="1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zh-CN" altLang="en-US" sz="2600" b="1" dirty="0"/>
              </a:p>
            </p:txBody>
          </p:sp>
        </mc:Choice>
        <mc:Fallback xmlns="">
          <p:sp>
            <p:nvSpPr>
              <p:cNvPr id="32" name="文本框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1832" y="3450079"/>
                <a:ext cx="3756028" cy="89037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object 21"/>
          <p:cNvSpPr/>
          <p:nvPr/>
        </p:nvSpPr>
        <p:spPr>
          <a:xfrm>
            <a:off x="4160180" y="1207359"/>
            <a:ext cx="897495" cy="939057"/>
          </a:xfrm>
          <a:custGeom>
            <a:avLst/>
            <a:gdLst/>
            <a:ahLst/>
            <a:cxnLst/>
            <a:rect l="l" t="t" r="r" b="b"/>
            <a:pathLst>
              <a:path w="1752600" h="1447800">
                <a:moveTo>
                  <a:pt x="0" y="241300"/>
                </a:moveTo>
                <a:lnTo>
                  <a:pt x="4904" y="192682"/>
                </a:lnTo>
                <a:lnTo>
                  <a:pt x="18968" y="147393"/>
                </a:lnTo>
                <a:lnTo>
                  <a:pt x="41221" y="106405"/>
                </a:lnTo>
                <a:lnTo>
                  <a:pt x="70691" y="70691"/>
                </a:lnTo>
                <a:lnTo>
                  <a:pt x="106405" y="41221"/>
                </a:lnTo>
                <a:lnTo>
                  <a:pt x="147393" y="18968"/>
                </a:lnTo>
                <a:lnTo>
                  <a:pt x="192682" y="4904"/>
                </a:lnTo>
                <a:lnTo>
                  <a:pt x="241300" y="0"/>
                </a:lnTo>
                <a:lnTo>
                  <a:pt x="1511300" y="0"/>
                </a:lnTo>
                <a:lnTo>
                  <a:pt x="1559917" y="4904"/>
                </a:lnTo>
                <a:lnTo>
                  <a:pt x="1605206" y="18968"/>
                </a:lnTo>
                <a:lnTo>
                  <a:pt x="1646194" y="41221"/>
                </a:lnTo>
                <a:lnTo>
                  <a:pt x="1681908" y="70691"/>
                </a:lnTo>
                <a:lnTo>
                  <a:pt x="1711378" y="106405"/>
                </a:lnTo>
                <a:lnTo>
                  <a:pt x="1733631" y="147393"/>
                </a:lnTo>
                <a:lnTo>
                  <a:pt x="1747695" y="192682"/>
                </a:lnTo>
                <a:lnTo>
                  <a:pt x="1752600" y="241300"/>
                </a:lnTo>
                <a:lnTo>
                  <a:pt x="1752600" y="1206500"/>
                </a:lnTo>
                <a:lnTo>
                  <a:pt x="1747695" y="1255128"/>
                </a:lnTo>
                <a:lnTo>
                  <a:pt x="1733631" y="1300422"/>
                </a:lnTo>
                <a:lnTo>
                  <a:pt x="1711378" y="1341410"/>
                </a:lnTo>
                <a:lnTo>
                  <a:pt x="1681908" y="1377122"/>
                </a:lnTo>
                <a:lnTo>
                  <a:pt x="1646194" y="1406588"/>
                </a:lnTo>
                <a:lnTo>
                  <a:pt x="1605206" y="1428836"/>
                </a:lnTo>
                <a:lnTo>
                  <a:pt x="1559917" y="1442897"/>
                </a:lnTo>
                <a:lnTo>
                  <a:pt x="1511300" y="1447800"/>
                </a:lnTo>
                <a:lnTo>
                  <a:pt x="241300" y="1447800"/>
                </a:lnTo>
                <a:lnTo>
                  <a:pt x="192682" y="1442897"/>
                </a:lnTo>
                <a:lnTo>
                  <a:pt x="147393" y="1428836"/>
                </a:lnTo>
                <a:lnTo>
                  <a:pt x="106405" y="1406588"/>
                </a:lnTo>
                <a:lnTo>
                  <a:pt x="70691" y="1377122"/>
                </a:lnTo>
                <a:lnTo>
                  <a:pt x="41221" y="1341410"/>
                </a:lnTo>
                <a:lnTo>
                  <a:pt x="18968" y="1300422"/>
                </a:lnTo>
                <a:lnTo>
                  <a:pt x="4904" y="1255128"/>
                </a:lnTo>
                <a:lnTo>
                  <a:pt x="0" y="1206500"/>
                </a:lnTo>
                <a:lnTo>
                  <a:pt x="0" y="241300"/>
                </a:lnTo>
                <a:close/>
              </a:path>
            </a:pathLst>
          </a:custGeom>
          <a:ln w="3175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 sz="2200"/>
          </a:p>
        </p:txBody>
      </p:sp>
      <p:sp>
        <p:nvSpPr>
          <p:cNvPr id="12" name="object 21"/>
          <p:cNvSpPr/>
          <p:nvPr/>
        </p:nvSpPr>
        <p:spPr>
          <a:xfrm>
            <a:off x="2278365" y="2260790"/>
            <a:ext cx="3316957" cy="939057"/>
          </a:xfrm>
          <a:custGeom>
            <a:avLst/>
            <a:gdLst/>
            <a:ahLst/>
            <a:cxnLst/>
            <a:rect l="l" t="t" r="r" b="b"/>
            <a:pathLst>
              <a:path w="1752600" h="1447800">
                <a:moveTo>
                  <a:pt x="0" y="241300"/>
                </a:moveTo>
                <a:lnTo>
                  <a:pt x="4904" y="192682"/>
                </a:lnTo>
                <a:lnTo>
                  <a:pt x="18968" y="147393"/>
                </a:lnTo>
                <a:lnTo>
                  <a:pt x="41221" y="106405"/>
                </a:lnTo>
                <a:lnTo>
                  <a:pt x="70691" y="70691"/>
                </a:lnTo>
                <a:lnTo>
                  <a:pt x="106405" y="41221"/>
                </a:lnTo>
                <a:lnTo>
                  <a:pt x="147393" y="18968"/>
                </a:lnTo>
                <a:lnTo>
                  <a:pt x="192682" y="4904"/>
                </a:lnTo>
                <a:lnTo>
                  <a:pt x="241300" y="0"/>
                </a:lnTo>
                <a:lnTo>
                  <a:pt x="1511300" y="0"/>
                </a:lnTo>
                <a:lnTo>
                  <a:pt x="1559917" y="4904"/>
                </a:lnTo>
                <a:lnTo>
                  <a:pt x="1605206" y="18968"/>
                </a:lnTo>
                <a:lnTo>
                  <a:pt x="1646194" y="41221"/>
                </a:lnTo>
                <a:lnTo>
                  <a:pt x="1681908" y="70691"/>
                </a:lnTo>
                <a:lnTo>
                  <a:pt x="1711378" y="106405"/>
                </a:lnTo>
                <a:lnTo>
                  <a:pt x="1733631" y="147393"/>
                </a:lnTo>
                <a:lnTo>
                  <a:pt x="1747695" y="192682"/>
                </a:lnTo>
                <a:lnTo>
                  <a:pt x="1752600" y="241300"/>
                </a:lnTo>
                <a:lnTo>
                  <a:pt x="1752600" y="1206500"/>
                </a:lnTo>
                <a:lnTo>
                  <a:pt x="1747695" y="1255128"/>
                </a:lnTo>
                <a:lnTo>
                  <a:pt x="1733631" y="1300422"/>
                </a:lnTo>
                <a:lnTo>
                  <a:pt x="1711378" y="1341410"/>
                </a:lnTo>
                <a:lnTo>
                  <a:pt x="1681908" y="1377122"/>
                </a:lnTo>
                <a:lnTo>
                  <a:pt x="1646194" y="1406588"/>
                </a:lnTo>
                <a:lnTo>
                  <a:pt x="1605206" y="1428836"/>
                </a:lnTo>
                <a:lnTo>
                  <a:pt x="1559917" y="1442897"/>
                </a:lnTo>
                <a:lnTo>
                  <a:pt x="1511300" y="1447800"/>
                </a:lnTo>
                <a:lnTo>
                  <a:pt x="241300" y="1447800"/>
                </a:lnTo>
                <a:lnTo>
                  <a:pt x="192682" y="1442897"/>
                </a:lnTo>
                <a:lnTo>
                  <a:pt x="147393" y="1428836"/>
                </a:lnTo>
                <a:lnTo>
                  <a:pt x="106405" y="1406588"/>
                </a:lnTo>
                <a:lnTo>
                  <a:pt x="70691" y="1377122"/>
                </a:lnTo>
                <a:lnTo>
                  <a:pt x="41221" y="1341410"/>
                </a:lnTo>
                <a:lnTo>
                  <a:pt x="18968" y="1300422"/>
                </a:lnTo>
                <a:lnTo>
                  <a:pt x="4904" y="1255128"/>
                </a:lnTo>
                <a:lnTo>
                  <a:pt x="0" y="1206500"/>
                </a:lnTo>
                <a:lnTo>
                  <a:pt x="0" y="241300"/>
                </a:lnTo>
                <a:close/>
              </a:path>
            </a:pathLst>
          </a:custGeom>
          <a:ln w="3175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 sz="2200"/>
          </a:p>
        </p:txBody>
      </p:sp>
      <p:sp>
        <p:nvSpPr>
          <p:cNvPr id="3" name="矩形 2"/>
          <p:cNvSpPr/>
          <p:nvPr/>
        </p:nvSpPr>
        <p:spPr>
          <a:xfrm>
            <a:off x="5537326" y="2553922"/>
            <a:ext cx="380520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5534">
              <a:spcBef>
                <a:spcPts val="1101"/>
              </a:spcBef>
            </a:pPr>
            <a:r>
              <a:rPr lang="zh-CN" altLang="en-US" sz="2000" b="1" dirty="0">
                <a:solidFill>
                  <a:srgbClr val="0000FF"/>
                </a:solidFill>
                <a:latin typeface="Times New Roman"/>
                <a:cs typeface="Times New Roman"/>
              </a:rPr>
              <a:t>随着 </a:t>
            </a:r>
            <a:r>
              <a:rPr lang="en-US" altLang="zh-CN" sz="2000" b="1" dirty="0">
                <a:solidFill>
                  <a:srgbClr val="0000FF"/>
                </a:solidFill>
                <a:latin typeface="Times New Roman"/>
                <a:cs typeface="Times New Roman"/>
              </a:rPr>
              <a:t>n </a:t>
            </a:r>
            <a:r>
              <a:rPr lang="zh-CN" altLang="en-US" sz="2000" b="1" dirty="0">
                <a:solidFill>
                  <a:srgbClr val="0000FF"/>
                </a:solidFill>
                <a:latin typeface="Times New Roman"/>
                <a:cs typeface="Times New Roman"/>
              </a:rPr>
              <a:t>的降低在和式中多出一项</a:t>
            </a:r>
            <a:endParaRPr lang="zh-CN" altLang="en-US" sz="2800" dirty="0">
              <a:solidFill>
                <a:srgbClr val="0000FF"/>
              </a:solidFill>
              <a:latin typeface="Times New Roman"/>
              <a:cs typeface="Times New Roman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2"/>
              <p:cNvSpPr txBox="1"/>
              <p:nvPr/>
            </p:nvSpPr>
            <p:spPr>
              <a:xfrm>
                <a:off x="5741358" y="3247164"/>
                <a:ext cx="1703350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1" i="1" smtClean="0">
                          <a:latin typeface="Cambria Math"/>
                        </a:rPr>
                        <m:t>𝑻</m:t>
                      </m:r>
                      <m:d>
                        <m:dPr>
                          <m:ctrlPr>
                            <a:rPr lang="en-US" altLang="zh-CN" sz="2800" b="1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altLang="zh-CN" sz="2800" b="1" i="1" smtClean="0">
                              <a:latin typeface="Cambria Math"/>
                            </a:rPr>
                            <m:t>𝟏</m:t>
                          </m:r>
                        </m:e>
                      </m:d>
                      <m:r>
                        <a:rPr lang="en-US" altLang="zh-CN" sz="2800" b="1" i="1" smtClean="0">
                          <a:latin typeface="Cambria Math"/>
                        </a:rPr>
                        <m:t>=</m:t>
                      </m:r>
                      <m:r>
                        <a:rPr lang="en-US" altLang="zh-CN" sz="2800" b="1" i="1" smtClean="0">
                          <a:latin typeface="Cambria Math"/>
                        </a:rPr>
                        <m:t>𝟎</m:t>
                      </m:r>
                    </m:oMath>
                  </m:oMathPara>
                </a14:m>
                <a:endParaRPr lang="zh-CN" altLang="en-US" sz="2800" b="1" dirty="0"/>
              </a:p>
            </p:txBody>
          </p:sp>
        </mc:Choice>
        <mc:Fallback xmlns="">
          <p:sp>
            <p:nvSpPr>
              <p:cNvPr id="15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41358" y="3247164"/>
                <a:ext cx="1703350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矩形 15"/>
          <p:cNvSpPr/>
          <p:nvPr/>
        </p:nvSpPr>
        <p:spPr>
          <a:xfrm>
            <a:off x="4218912" y="4076981"/>
            <a:ext cx="143116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5534">
              <a:spcBef>
                <a:spcPts val="1101"/>
              </a:spcBef>
            </a:pPr>
            <a:r>
              <a:rPr lang="zh-CN" altLang="en-US" sz="2400" dirty="0" smtClean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/>
              </a:rPr>
              <a:t>调和级数</a:t>
            </a:r>
            <a:endParaRPr lang="zh-CN" altLang="en-US" sz="2400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  <a:cs typeface="Times New Roman"/>
            </a:endParaRPr>
          </a:p>
        </p:txBody>
      </p:sp>
      <p:sp>
        <p:nvSpPr>
          <p:cNvPr id="17" name="object 21"/>
          <p:cNvSpPr/>
          <p:nvPr/>
        </p:nvSpPr>
        <p:spPr>
          <a:xfrm>
            <a:off x="1590313" y="3399718"/>
            <a:ext cx="3097164" cy="939057"/>
          </a:xfrm>
          <a:custGeom>
            <a:avLst/>
            <a:gdLst/>
            <a:ahLst/>
            <a:cxnLst/>
            <a:rect l="l" t="t" r="r" b="b"/>
            <a:pathLst>
              <a:path w="1752600" h="1447800">
                <a:moveTo>
                  <a:pt x="0" y="241300"/>
                </a:moveTo>
                <a:lnTo>
                  <a:pt x="4904" y="192682"/>
                </a:lnTo>
                <a:lnTo>
                  <a:pt x="18968" y="147393"/>
                </a:lnTo>
                <a:lnTo>
                  <a:pt x="41221" y="106405"/>
                </a:lnTo>
                <a:lnTo>
                  <a:pt x="70691" y="70691"/>
                </a:lnTo>
                <a:lnTo>
                  <a:pt x="106405" y="41221"/>
                </a:lnTo>
                <a:lnTo>
                  <a:pt x="147393" y="18968"/>
                </a:lnTo>
                <a:lnTo>
                  <a:pt x="192682" y="4904"/>
                </a:lnTo>
                <a:lnTo>
                  <a:pt x="241300" y="0"/>
                </a:lnTo>
                <a:lnTo>
                  <a:pt x="1511300" y="0"/>
                </a:lnTo>
                <a:lnTo>
                  <a:pt x="1559917" y="4904"/>
                </a:lnTo>
                <a:lnTo>
                  <a:pt x="1605206" y="18968"/>
                </a:lnTo>
                <a:lnTo>
                  <a:pt x="1646194" y="41221"/>
                </a:lnTo>
                <a:lnTo>
                  <a:pt x="1681908" y="70691"/>
                </a:lnTo>
                <a:lnTo>
                  <a:pt x="1711378" y="106405"/>
                </a:lnTo>
                <a:lnTo>
                  <a:pt x="1733631" y="147393"/>
                </a:lnTo>
                <a:lnTo>
                  <a:pt x="1747695" y="192682"/>
                </a:lnTo>
                <a:lnTo>
                  <a:pt x="1752600" y="241300"/>
                </a:lnTo>
                <a:lnTo>
                  <a:pt x="1752600" y="1206500"/>
                </a:lnTo>
                <a:lnTo>
                  <a:pt x="1747695" y="1255128"/>
                </a:lnTo>
                <a:lnTo>
                  <a:pt x="1733631" y="1300422"/>
                </a:lnTo>
                <a:lnTo>
                  <a:pt x="1711378" y="1341410"/>
                </a:lnTo>
                <a:lnTo>
                  <a:pt x="1681908" y="1377122"/>
                </a:lnTo>
                <a:lnTo>
                  <a:pt x="1646194" y="1406588"/>
                </a:lnTo>
                <a:lnTo>
                  <a:pt x="1605206" y="1428836"/>
                </a:lnTo>
                <a:lnTo>
                  <a:pt x="1559917" y="1442897"/>
                </a:lnTo>
                <a:lnTo>
                  <a:pt x="1511300" y="1447800"/>
                </a:lnTo>
                <a:lnTo>
                  <a:pt x="241300" y="1447800"/>
                </a:lnTo>
                <a:lnTo>
                  <a:pt x="192682" y="1442897"/>
                </a:lnTo>
                <a:lnTo>
                  <a:pt x="147393" y="1428836"/>
                </a:lnTo>
                <a:lnTo>
                  <a:pt x="106405" y="1406588"/>
                </a:lnTo>
                <a:lnTo>
                  <a:pt x="70691" y="1377122"/>
                </a:lnTo>
                <a:lnTo>
                  <a:pt x="41221" y="1341410"/>
                </a:lnTo>
                <a:lnTo>
                  <a:pt x="18968" y="1300422"/>
                </a:lnTo>
                <a:lnTo>
                  <a:pt x="4904" y="1255128"/>
                </a:lnTo>
                <a:lnTo>
                  <a:pt x="0" y="1206500"/>
                </a:lnTo>
                <a:lnTo>
                  <a:pt x="0" y="241300"/>
                </a:lnTo>
                <a:close/>
              </a:path>
            </a:pathLst>
          </a:custGeom>
          <a:ln w="3175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 sz="2200"/>
          </a:p>
        </p:txBody>
      </p:sp>
    </p:spTree>
    <p:extLst>
      <p:ext uri="{BB962C8B-B14F-4D97-AF65-F5344CB8AC3E}">
        <p14:creationId xmlns:p14="http://schemas.microsoft.com/office/powerpoint/2010/main" val="29518948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24" grpId="0"/>
      <p:bldP spid="27" grpId="0" animBg="1"/>
      <p:bldP spid="28" grpId="0" animBg="1"/>
      <p:bldP spid="31" grpId="0"/>
      <p:bldP spid="32" grpId="0"/>
      <p:bldP spid="12" grpId="0" animBg="1"/>
      <p:bldP spid="3" grpId="0"/>
      <p:bldP spid="15" grpId="0"/>
      <p:bldP spid="16" grpId="0"/>
      <p:bldP spid="17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88792" y="1439079"/>
            <a:ext cx="8720521" cy="1410156"/>
          </a:xfrm>
          <a:prstGeom prst="rect">
            <a:avLst/>
          </a:prstGeom>
        </p:spPr>
        <p:txBody>
          <a:bodyPr vert="horz" wrap="square" lIns="0" tIns="14758" rIns="0" bIns="0" rtlCol="0">
            <a:spAutoFit/>
          </a:bodyPr>
          <a:lstStyle/>
          <a:p>
            <a:pPr marL="434182" marR="6214" indent="-434182">
              <a:lnSpc>
                <a:spcPct val="150000"/>
              </a:lnSpc>
              <a:spcBef>
                <a:spcPts val="117"/>
              </a:spcBef>
              <a:buFont typeface="Arial"/>
              <a:buChar char="•"/>
              <a:tabLst>
                <a:tab pos="434182" algn="l"/>
                <a:tab pos="434959" algn="l"/>
              </a:tabLst>
            </a:pPr>
            <a:r>
              <a:rPr sz="2800" b="1" spc="-6" dirty="0" err="1" smtClean="0">
                <a:latin typeface="黑体" pitchFamily="49" charset="-122"/>
                <a:ea typeface="黑体" pitchFamily="49" charset="-122"/>
                <a:cs typeface="宋体"/>
              </a:rPr>
              <a:t>对于高阶递推方程先要用差消法化简为一阶方程</a:t>
            </a:r>
            <a:endParaRPr sz="2800" dirty="0">
              <a:latin typeface="黑体" pitchFamily="49" charset="-122"/>
              <a:ea typeface="黑体" pitchFamily="49" charset="-122"/>
              <a:cs typeface="宋体"/>
            </a:endParaRPr>
          </a:p>
          <a:p>
            <a:pPr marL="434959" indent="-419425">
              <a:lnSpc>
                <a:spcPct val="150000"/>
              </a:lnSpc>
              <a:spcBef>
                <a:spcPts val="826"/>
              </a:spcBef>
              <a:buFont typeface="Arial"/>
              <a:buChar char="•"/>
              <a:tabLst>
                <a:tab pos="434182" algn="l"/>
                <a:tab pos="434959" algn="l"/>
              </a:tabLst>
            </a:pPr>
            <a:r>
              <a:rPr sz="2800" b="1" spc="-6" dirty="0">
                <a:latin typeface="黑体" pitchFamily="49" charset="-122"/>
                <a:ea typeface="黑体" pitchFamily="49" charset="-122"/>
                <a:cs typeface="宋体"/>
              </a:rPr>
              <a:t>迭代求解</a:t>
            </a:r>
            <a:endParaRPr sz="2800" dirty="0">
              <a:latin typeface="黑体" pitchFamily="49" charset="-122"/>
              <a:ea typeface="黑体" pitchFamily="49" charset="-122"/>
              <a:cs typeface="宋体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 idx="4294967295"/>
          </p:nvPr>
        </p:nvSpPr>
        <p:spPr>
          <a:xfrm>
            <a:off x="391886" y="242931"/>
            <a:ext cx="8920065" cy="692011"/>
          </a:xfrm>
          <a:prstGeom prst="rect">
            <a:avLst/>
          </a:prstGeom>
        </p:spPr>
        <p:txBody>
          <a:bodyPr vert="horz" wrap="square" lIns="0" tIns="14758" rIns="0" bIns="0" rtlCol="0" anchor="ctr">
            <a:spAutoFit/>
          </a:bodyPr>
          <a:lstStyle/>
          <a:p>
            <a:pPr marL="15534" algn="ctr">
              <a:lnSpc>
                <a:spcPct val="100000"/>
              </a:lnSpc>
              <a:spcBef>
                <a:spcPts val="117"/>
              </a:spcBef>
            </a:pPr>
            <a:r>
              <a:rPr sz="4400" b="1" dirty="0" err="1" smtClean="0">
                <a:solidFill>
                  <a:srgbClr val="C00000"/>
                </a:solidFill>
                <a:latin typeface="黑体" pitchFamily="49" charset="-122"/>
                <a:ea typeface="黑体" pitchFamily="49" charset="-122"/>
                <a:cs typeface="宋体"/>
              </a:rPr>
              <a:t>小结</a:t>
            </a:r>
            <a:endParaRPr sz="4400" b="1" dirty="0">
              <a:solidFill>
                <a:srgbClr val="C00000"/>
              </a:solidFill>
              <a:latin typeface="黑体" pitchFamily="49" charset="-122"/>
              <a:ea typeface="黑体" pitchFamily="49" charset="-122"/>
              <a:cs typeface="宋体"/>
            </a:endParaRPr>
          </a:p>
        </p:txBody>
      </p:sp>
    </p:spTree>
    <p:extLst>
      <p:ext uri="{BB962C8B-B14F-4D97-AF65-F5344CB8AC3E}">
        <p14:creationId xmlns:p14="http://schemas.microsoft.com/office/powerpoint/2010/main" val="18264919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668378" y="2110592"/>
            <a:ext cx="8385095" cy="1252534"/>
          </a:xfrm>
        </p:spPr>
        <p:txBody>
          <a:bodyPr>
            <a:normAutofit/>
          </a:bodyPr>
          <a:lstStyle/>
          <a:p>
            <a:pPr algn="ctr"/>
            <a:r>
              <a:rPr lang="zh-CN" altLang="en-US" sz="6600" b="1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递归树</a:t>
            </a:r>
          </a:p>
        </p:txBody>
      </p:sp>
    </p:spTree>
    <p:extLst>
      <p:ext uri="{BB962C8B-B14F-4D97-AF65-F5344CB8AC3E}">
        <p14:creationId xmlns:p14="http://schemas.microsoft.com/office/powerpoint/2010/main" val="41411471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379129" y="196064"/>
            <a:ext cx="8923491" cy="692011"/>
          </a:xfrm>
        </p:spPr>
        <p:txBody>
          <a:bodyPr vert="horz" wrap="square" lIns="0" tIns="14758" rIns="0" bIns="0" rtlCol="0" anchor="ctr">
            <a:spAutoFit/>
          </a:bodyPr>
          <a:lstStyle/>
          <a:p>
            <a:pPr marL="15534" algn="ctr">
              <a:lnSpc>
                <a:spcPct val="100000"/>
              </a:lnSpc>
              <a:spcBef>
                <a:spcPts val="117"/>
              </a:spcBef>
            </a:pPr>
            <a:r>
              <a:rPr lang="zh-CN" altLang="en-US" sz="4400" b="1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  <a:cs typeface="宋体"/>
              </a:rPr>
              <a:t>递归树的概念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410547" y="1146524"/>
            <a:ext cx="8724121" cy="4111612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dirty="0" smtClean="0">
                <a:latin typeface="黑体" pitchFamily="49" charset="-122"/>
                <a:ea typeface="黑体" pitchFamily="49" charset="-122"/>
              </a:rPr>
              <a:t>递归树是迭代计算的模型</a:t>
            </a:r>
            <a:r>
              <a:rPr lang="en-US" altLang="zh-CN" sz="2800" dirty="0" smtClean="0">
                <a:latin typeface="黑体" pitchFamily="49" charset="-122"/>
                <a:ea typeface="黑体" pitchFamily="49" charset="-122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zh-CN" altLang="en-US" sz="2800" dirty="0">
                <a:latin typeface="黑体" pitchFamily="49" charset="-122"/>
                <a:ea typeface="黑体" pitchFamily="49" charset="-122"/>
              </a:rPr>
              <a:t>递归</a:t>
            </a:r>
            <a:r>
              <a:rPr lang="zh-CN" altLang="en-US" sz="2800" dirty="0" smtClean="0">
                <a:latin typeface="黑体" pitchFamily="49" charset="-122"/>
                <a:ea typeface="黑体" pitchFamily="49" charset="-122"/>
              </a:rPr>
              <a:t>树的生成过程与迭代过程一致</a:t>
            </a:r>
            <a:r>
              <a:rPr lang="en-US" altLang="zh-CN" sz="2800" dirty="0" smtClean="0">
                <a:latin typeface="黑体" pitchFamily="49" charset="-122"/>
                <a:ea typeface="黑体" pitchFamily="49" charset="-122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zh-CN" altLang="en-US" sz="2800" dirty="0">
                <a:latin typeface="黑体" pitchFamily="49" charset="-122"/>
                <a:ea typeface="黑体" pitchFamily="49" charset="-122"/>
              </a:rPr>
              <a:t>递归树</a:t>
            </a:r>
            <a:r>
              <a:rPr lang="zh-CN" altLang="en-US" sz="2800" dirty="0" smtClean="0">
                <a:latin typeface="黑体" pitchFamily="49" charset="-122"/>
                <a:ea typeface="黑体" pitchFamily="49" charset="-122"/>
              </a:rPr>
              <a:t>上所有项恰好是迭代之后产生和式中的项</a:t>
            </a:r>
            <a:r>
              <a:rPr lang="en-US" altLang="zh-CN" sz="2800" dirty="0" smtClean="0">
                <a:latin typeface="黑体" pitchFamily="49" charset="-122"/>
                <a:ea typeface="黑体" pitchFamily="49" charset="-122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zh-CN" altLang="en-US" sz="2800" dirty="0" smtClean="0">
                <a:latin typeface="黑体" pitchFamily="49" charset="-122"/>
                <a:ea typeface="黑体" pitchFamily="49" charset="-122"/>
              </a:rPr>
              <a:t>对递归树上的项求和就是迭代后方程的解</a:t>
            </a:r>
            <a:r>
              <a:rPr lang="en-US" altLang="zh-CN" sz="2800" dirty="0" smtClean="0">
                <a:latin typeface="黑体" pitchFamily="49" charset="-122"/>
                <a:ea typeface="黑体" pitchFamily="49" charset="-122"/>
              </a:rPr>
              <a:t>.</a:t>
            </a:r>
            <a:endParaRPr lang="zh-CN" altLang="en-US" sz="2800" dirty="0">
              <a:latin typeface="黑体" pitchFamily="49" charset="-122"/>
              <a:ea typeface="黑体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963637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360517" y="252048"/>
            <a:ext cx="8932773" cy="692011"/>
          </a:xfrm>
        </p:spPr>
        <p:txBody>
          <a:bodyPr vert="horz" wrap="square" lIns="0" tIns="14758" rIns="0" bIns="0" rtlCol="0" anchor="ctr">
            <a:spAutoFit/>
          </a:bodyPr>
          <a:lstStyle/>
          <a:p>
            <a:pPr marL="15534" algn="ctr">
              <a:lnSpc>
                <a:spcPct val="100000"/>
              </a:lnSpc>
              <a:spcBef>
                <a:spcPts val="117"/>
              </a:spcBef>
            </a:pPr>
            <a:r>
              <a:rPr lang="zh-CN" altLang="en-US" sz="4400" b="1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  <a:cs typeface="宋体"/>
              </a:rPr>
              <a:t>迭代在递归树中的表示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/>
              <p:cNvSpPr txBox="1"/>
              <p:nvPr/>
            </p:nvSpPr>
            <p:spPr>
              <a:xfrm>
                <a:off x="401903" y="1279772"/>
                <a:ext cx="8910048" cy="454039"/>
              </a:xfrm>
              <a:prstGeom prst="rect">
                <a:avLst/>
              </a:prstGeom>
              <a:noFill/>
            </p:spPr>
            <p:txBody>
              <a:bodyPr wrap="square" lIns="83887" tIns="41944" rIns="83887" bIns="41944" rtlCol="0">
                <a:spAutoFit/>
              </a:bodyPr>
              <a:lstStyle/>
              <a:p>
                <a:r>
                  <a:rPr lang="zh-CN" altLang="en-US" sz="2400" b="1" dirty="0">
                    <a:latin typeface="黑体" pitchFamily="49" charset="-122"/>
                    <a:ea typeface="黑体" pitchFamily="49" charset="-122"/>
                  </a:rPr>
                  <a:t>如果递归树上某节点标记为</a:t>
                </a:r>
                <a14:m>
                  <m:oMath xmlns:m="http://schemas.openxmlformats.org/officeDocument/2006/math">
                    <m:r>
                      <a:rPr lang="en-US" altLang="zh-CN" sz="2400" b="1" i="1" dirty="0">
                        <a:latin typeface="Cambria Math" panose="02040503050406030204" pitchFamily="18" charset="0"/>
                      </a:rPr>
                      <m:t>𝑾</m:t>
                    </m:r>
                    <m:r>
                      <a:rPr lang="en-US" altLang="zh-CN" sz="2400" b="1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b="1" i="1" dirty="0">
                        <a:latin typeface="Cambria Math" panose="02040503050406030204" pitchFamily="18" charset="0"/>
                      </a:rPr>
                      <m:t>𝒎</m:t>
                    </m:r>
                    <m:r>
                      <a:rPr lang="en-US" altLang="zh-CN" sz="2400" b="1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zh-CN" altLang="en-US" sz="2400" b="1" i="1" dirty="0">
                  <a:latin typeface="黑体" pitchFamily="49" charset="-122"/>
                  <a:ea typeface="黑体" pitchFamily="49" charset="-122"/>
                </a:endParaRPr>
              </a:p>
            </p:txBody>
          </p:sp>
        </mc:Choice>
        <mc:Fallback xmlns=""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1903" y="1279772"/>
                <a:ext cx="8910048" cy="454039"/>
              </a:xfrm>
              <a:prstGeom prst="rect">
                <a:avLst/>
              </a:prstGeom>
              <a:blipFill rotWithShape="1">
                <a:blip r:embed="rId2"/>
                <a:stretch>
                  <a:fillRect l="-1163" t="-16216" b="-2702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/>
              <p:cNvSpPr/>
              <p:nvPr/>
            </p:nvSpPr>
            <p:spPr>
              <a:xfrm>
                <a:off x="1243658" y="1757883"/>
                <a:ext cx="7226537" cy="454039"/>
              </a:xfrm>
              <a:prstGeom prst="rect">
                <a:avLst/>
              </a:prstGeom>
            </p:spPr>
            <p:txBody>
              <a:bodyPr wrap="none" lIns="83887" tIns="41944" rIns="83887" bIns="41944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1" i="1">
                          <a:latin typeface="Cambria Math" panose="02040503050406030204" pitchFamily="18" charset="0"/>
                        </a:rPr>
                        <m:t>𝑾</m:t>
                      </m:r>
                      <m:d>
                        <m:dPr>
                          <m:ctrlPr>
                            <a:rPr lang="en-US" altLang="zh-CN" sz="2400" b="1" i="1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𝒎</m:t>
                          </m:r>
                        </m:e>
                      </m:d>
                      <m:r>
                        <a:rPr lang="en-US" altLang="zh-CN" sz="2400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𝑾</m:t>
                      </m:r>
                      <m:d>
                        <m:dPr>
                          <m:ctrlPr>
                            <a:rPr lang="en-US" altLang="zh-CN" sz="2400" b="1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400" b="1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altLang="zh-CN" sz="24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𝒎</m:t>
                              </m:r>
                            </m:e>
                            <m:sub>
                              <m:r>
                                <a:rPr lang="en-US" altLang="zh-CN" sz="24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e>
                      </m:d>
                      <m:r>
                        <a:rPr lang="en-US" altLang="zh-CN" sz="2400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400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⋯+</m:t>
                      </m:r>
                      <m:r>
                        <a:rPr lang="en-US" altLang="zh-CN" sz="2400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𝑾</m:t>
                      </m:r>
                      <m:d>
                        <m:dPr>
                          <m:ctrlPr>
                            <a:rPr lang="en-US" altLang="zh-CN" sz="2400" b="1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400" b="1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altLang="zh-CN" sz="24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𝒎</m:t>
                              </m:r>
                            </m:e>
                            <m:sub>
                              <m:r>
                                <a:rPr lang="en-US" altLang="zh-CN" sz="24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𝒕</m:t>
                              </m:r>
                            </m:sub>
                          </m:sSub>
                        </m:e>
                      </m:d>
                      <m:r>
                        <a:rPr lang="en-US" altLang="zh-CN" sz="2400" b="1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400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𝒇</m:t>
                      </m:r>
                      <m:d>
                        <m:dPr>
                          <m:ctrlPr>
                            <a:rPr lang="en-US" altLang="zh-CN" sz="2400" b="1" i="1">
                              <a:solidFill>
                                <a:srgbClr val="0000FF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altLang="zh-CN" sz="2400" b="1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𝒎</m:t>
                          </m:r>
                        </m:e>
                      </m:d>
                      <m:r>
                        <a:rPr lang="en-US" altLang="zh-CN" sz="2400" b="1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400" b="1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⋯+</m:t>
                      </m:r>
                      <m:r>
                        <a:rPr lang="en-US" altLang="zh-CN" sz="2400" b="1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𝒈</m:t>
                      </m:r>
                      <m:r>
                        <a:rPr lang="en-US" altLang="zh-CN" sz="2400" b="1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altLang="zh-CN" sz="2400" b="1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𝒎</m:t>
                      </m:r>
                      <m:r>
                        <a:rPr lang="en-US" altLang="zh-CN" sz="2400" b="1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200" b="1" i="1" dirty="0"/>
              </a:p>
            </p:txBody>
          </p:sp>
        </mc:Choice>
        <mc:Fallback xmlns="">
          <p:sp>
            <p:nvSpPr>
              <p:cNvPr id="6" name="矩形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3658" y="1757883"/>
                <a:ext cx="7226537" cy="454039"/>
              </a:xfrm>
              <a:prstGeom prst="rect">
                <a:avLst/>
              </a:prstGeom>
              <a:blipFill rotWithShape="1">
                <a:blip r:embed="rId3"/>
                <a:stretch>
                  <a:fillRect b="-18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/>
              <p:cNvSpPr/>
              <p:nvPr/>
            </p:nvSpPr>
            <p:spPr>
              <a:xfrm>
                <a:off x="3218017" y="2211922"/>
                <a:ext cx="2670097" cy="515594"/>
              </a:xfrm>
              <a:prstGeom prst="rect">
                <a:avLst/>
              </a:prstGeom>
            </p:spPr>
            <p:txBody>
              <a:bodyPr wrap="none" lIns="83887" tIns="41944" rIns="83887" bIns="41944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b="1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altLang="zh-CN" sz="2800" b="1" i="1">
                              <a:latin typeface="Cambria Math" panose="02040503050406030204" pitchFamily="18" charset="0"/>
                            </a:rPr>
                            <m:t>𝒎</m:t>
                          </m:r>
                        </m:e>
                        <m:sub>
                          <m:r>
                            <a:rPr lang="en-US" altLang="zh-CN" sz="28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altLang="zh-CN" sz="2800" b="1" i="1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altLang="zh-CN" sz="28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⋯,</m:t>
                      </m:r>
                      <m:sSub>
                        <m:sSubPr>
                          <m:ctrlPr>
                            <a:rPr lang="en-US" altLang="zh-CN" sz="2800" b="1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altLang="zh-CN" sz="2800" b="1" i="1">
                              <a:latin typeface="Cambria Math" panose="02040503050406030204" pitchFamily="18" charset="0"/>
                            </a:rPr>
                            <m:t>𝒎</m:t>
                          </m:r>
                        </m:e>
                        <m:sub>
                          <m:r>
                            <a:rPr lang="en-US" altLang="zh-CN" sz="2800" b="1" i="1">
                              <a:latin typeface="Cambria Math" panose="02040503050406030204" pitchFamily="18" charset="0"/>
                            </a:rPr>
                            <m:t>𝒕</m:t>
                          </m:r>
                        </m:sub>
                      </m:sSub>
                      <m:r>
                        <a:rPr lang="en-US" altLang="zh-CN" sz="2800" b="1" i="1"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en-US" altLang="zh-CN" sz="2800" b="1" i="1">
                          <a:latin typeface="Cambria Math" panose="02040503050406030204" pitchFamily="18" charset="0"/>
                        </a:rPr>
                        <m:t>𝒎</m:t>
                      </m:r>
                    </m:oMath>
                  </m:oMathPara>
                </a14:m>
                <a:endParaRPr lang="zh-CN" altLang="en-US" sz="2800" b="1" dirty="0"/>
              </a:p>
            </p:txBody>
          </p:sp>
        </mc:Choice>
        <mc:Fallback xmlns="">
          <p:sp>
            <p:nvSpPr>
              <p:cNvPr id="7" name="矩形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18017" y="2211922"/>
                <a:ext cx="2670097" cy="515594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/>
              <p:cNvSpPr txBox="1"/>
              <p:nvPr/>
            </p:nvSpPr>
            <p:spPr>
              <a:xfrm>
                <a:off x="401903" y="2727516"/>
                <a:ext cx="5765633" cy="454039"/>
              </a:xfrm>
              <a:prstGeom prst="rect">
                <a:avLst/>
              </a:prstGeom>
              <a:noFill/>
            </p:spPr>
            <p:txBody>
              <a:bodyPr wrap="square" lIns="83887" tIns="41944" rIns="83887" bIns="41944" rtlCol="0">
                <a:spAutoFit/>
              </a:bodyPr>
              <a:lstStyle/>
              <a:p>
                <a:r>
                  <a:rPr lang="zh-CN" altLang="en-US" sz="2400" b="1" dirty="0">
                    <a:latin typeface="黑体" pitchFamily="49" charset="-122"/>
                    <a:ea typeface="黑体" pitchFamily="49" charset="-122"/>
                  </a:rPr>
                  <a:t>其中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latin typeface="Cambria Math" panose="02040503050406030204" pitchFamily="18" charset="0"/>
                      </a:rPr>
                      <m:t>𝑾</m:t>
                    </m:r>
                    <m:d>
                      <m:dPr>
                        <m:ctrlPr>
                          <a:rPr lang="en-US" altLang="zh-CN" sz="2400" b="1" i="1">
                            <a:latin typeface="Cambria Math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400" b="1" i="1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latin typeface="Cambria Math" panose="02040503050406030204" pitchFamily="18" charset="0"/>
                              </a:rPr>
                              <m:t>𝒎</m:t>
                            </m:r>
                          </m:e>
                          <m:sub>
                            <m:r>
                              <a:rPr lang="en-US" altLang="zh-CN" sz="2400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e>
                    </m:d>
                    <m:r>
                      <a:rPr lang="en-US" altLang="zh-CN" sz="2400" b="1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4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⋯,</m:t>
                    </m:r>
                    <m:r>
                      <a:rPr lang="en-US" altLang="zh-CN" sz="2400" b="1" i="1">
                        <a:latin typeface="Cambria Math" panose="02040503050406030204" pitchFamily="18" charset="0"/>
                      </a:rPr>
                      <m:t>𝑾</m:t>
                    </m:r>
                    <m:d>
                      <m:dPr>
                        <m:ctrlPr>
                          <a:rPr lang="en-US" altLang="zh-CN" sz="2400" b="1" i="1">
                            <a:latin typeface="Cambria Math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400" b="1" i="1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latin typeface="Cambria Math" panose="02040503050406030204" pitchFamily="18" charset="0"/>
                              </a:rPr>
                              <m:t>𝒎</m:t>
                            </m:r>
                          </m:e>
                          <m:sub>
                            <m:r>
                              <a:rPr lang="en-US" altLang="zh-CN" sz="2400" b="1" i="1">
                                <a:latin typeface="Cambria Math" panose="02040503050406030204" pitchFamily="18" charset="0"/>
                              </a:rPr>
                              <m:t>𝒕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en-US" sz="2400" b="1" dirty="0">
                    <a:latin typeface="黑体" pitchFamily="49" charset="-122"/>
                    <a:ea typeface="黑体" pitchFamily="49" charset="-122"/>
                  </a:rPr>
                  <a:t>称为函数项</a:t>
                </a:r>
                <a:r>
                  <a:rPr lang="en-US" altLang="zh-CN" sz="2400" b="1" dirty="0">
                    <a:latin typeface="黑体" pitchFamily="49" charset="-122"/>
                    <a:ea typeface="黑体" pitchFamily="49" charset="-122"/>
                  </a:rPr>
                  <a:t>.</a:t>
                </a:r>
                <a:endParaRPr lang="zh-CN" altLang="en-US" sz="2400" b="1" dirty="0">
                  <a:latin typeface="黑体" pitchFamily="49" charset="-122"/>
                  <a:ea typeface="黑体" pitchFamily="49" charset="-122"/>
                </a:endParaRPr>
              </a:p>
            </p:txBody>
          </p:sp>
        </mc:Choice>
        <mc:Fallback xmlns=""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1903" y="2727516"/>
                <a:ext cx="5765633" cy="454039"/>
              </a:xfrm>
              <a:prstGeom prst="rect">
                <a:avLst/>
              </a:prstGeom>
              <a:blipFill rotWithShape="1">
                <a:blip r:embed="rId5"/>
                <a:stretch>
                  <a:fillRect l="-1797" t="-14667" b="-2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图片 9"/>
          <p:cNvPicPr>
            <a:picLocks noChangeAspect="1"/>
          </p:cNvPicPr>
          <p:nvPr/>
        </p:nvPicPr>
        <p:blipFill rotWithShape="1">
          <a:blip r:embed="rId6"/>
          <a:srcRect r="87182"/>
          <a:stretch/>
        </p:blipFill>
        <p:spPr>
          <a:xfrm>
            <a:off x="1513164" y="3290282"/>
            <a:ext cx="769573" cy="2569333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 rotWithShape="1">
          <a:blip r:embed="rId6"/>
          <a:srcRect l="14321" t="12831" r="51646" b="45571"/>
          <a:stretch/>
        </p:blipFill>
        <p:spPr>
          <a:xfrm>
            <a:off x="2509662" y="3619963"/>
            <a:ext cx="2043404" cy="106877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1"/>
          <a:stretch/>
        </p:blipFill>
        <p:spPr>
          <a:xfrm>
            <a:off x="4446062" y="3362033"/>
            <a:ext cx="4279217" cy="2425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62316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407896" y="224053"/>
            <a:ext cx="8894724" cy="692011"/>
          </a:xfrm>
        </p:spPr>
        <p:txBody>
          <a:bodyPr vert="horz" wrap="square" lIns="0" tIns="14758" rIns="0" bIns="0" rtlCol="0" anchor="ctr">
            <a:spAutoFit/>
          </a:bodyPr>
          <a:lstStyle/>
          <a:p>
            <a:pPr marL="15534" algn="ctr">
              <a:lnSpc>
                <a:spcPct val="100000"/>
              </a:lnSpc>
              <a:spcBef>
                <a:spcPts val="117"/>
              </a:spcBef>
            </a:pPr>
            <a:r>
              <a:rPr lang="zh-CN" altLang="en-US" sz="4400" b="1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  <a:cs typeface="宋体"/>
              </a:rPr>
              <a:t>二层子树的例子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407896" y="1259715"/>
            <a:ext cx="2555458" cy="515594"/>
          </a:xfrm>
          <a:prstGeom prst="rect">
            <a:avLst/>
          </a:prstGeom>
          <a:noFill/>
        </p:spPr>
        <p:txBody>
          <a:bodyPr wrap="square" lIns="83887" tIns="41944" rIns="83887" bIns="41944" rtlCol="0">
            <a:spAutoFit/>
          </a:bodyPr>
          <a:lstStyle/>
          <a:p>
            <a:r>
              <a:rPr lang="zh-CN" altLang="en-US" sz="2800" b="1" dirty="0"/>
              <a:t>二分归并排序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/>
              <p:cNvSpPr/>
              <p:nvPr/>
            </p:nvSpPr>
            <p:spPr>
              <a:xfrm>
                <a:off x="2273481" y="1952428"/>
                <a:ext cx="4432439" cy="515594"/>
              </a:xfrm>
              <a:prstGeom prst="rect">
                <a:avLst/>
              </a:prstGeom>
            </p:spPr>
            <p:txBody>
              <a:bodyPr wrap="none" lIns="83887" tIns="41944" rIns="83887" bIns="41944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1" i="1">
                          <a:latin typeface="Cambria Math" panose="02040503050406030204" pitchFamily="18" charset="0"/>
                        </a:rPr>
                        <m:t>𝑾</m:t>
                      </m:r>
                      <m:d>
                        <m:dPr>
                          <m:ctrlPr>
                            <a:rPr lang="en-US" altLang="zh-CN" sz="2800" b="1" i="1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altLang="zh-CN" sz="2800" b="1" i="1"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</m:d>
                      <m:r>
                        <a:rPr lang="en-US" altLang="zh-CN" sz="2800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altLang="zh-CN" sz="2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𝑾</m:t>
                      </m:r>
                      <m:d>
                        <m:dPr>
                          <m:ctrlPr>
                            <a:rPr lang="en-US" altLang="zh-CN" sz="2800" b="1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f>
                            <m:fPr>
                              <m:type m:val="lin"/>
                              <m:ctrlPr>
                                <a:rPr lang="en-US" altLang="zh-CN" sz="2800" b="1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</m:ctrlPr>
                            </m:fPr>
                            <m:num>
                              <m:r>
                                <a:rPr lang="en-US" altLang="zh-CN" sz="28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num>
                            <m:den>
                              <m:r>
                                <a:rPr lang="en-US" altLang="zh-CN" sz="28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den>
                          </m:f>
                        </m:e>
                      </m:d>
                      <m:r>
                        <a:rPr lang="en-US" altLang="zh-CN" sz="2800" b="1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800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US" altLang="zh-CN" sz="2800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 sz="2800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zh-CN" altLang="en-US" sz="2800" b="1" dirty="0">
                  <a:solidFill>
                    <a:srgbClr val="0000FF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5" name="矩形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73481" y="1952428"/>
                <a:ext cx="4432439" cy="515594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1878" y="3191610"/>
            <a:ext cx="1762239" cy="146176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矩形 8"/>
              <p:cNvSpPr/>
              <p:nvPr/>
            </p:nvSpPr>
            <p:spPr>
              <a:xfrm>
                <a:off x="3623527" y="2843998"/>
                <a:ext cx="1143269" cy="515594"/>
              </a:xfrm>
              <a:prstGeom prst="rect">
                <a:avLst/>
              </a:prstGeom>
            </p:spPr>
            <p:txBody>
              <a:bodyPr wrap="none" lIns="83887" tIns="41944" rIns="83887" bIns="41944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1" i="1"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US" altLang="zh-CN" sz="2800" b="1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 sz="2800" b="1" i="1"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zh-CN" altLang="en-US" sz="2800" b="1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9" name="矩形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23527" y="2843998"/>
                <a:ext cx="1143269" cy="515594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矩形 9"/>
              <p:cNvSpPr/>
              <p:nvPr/>
            </p:nvSpPr>
            <p:spPr>
              <a:xfrm>
                <a:off x="2847461" y="4653376"/>
                <a:ext cx="1563961" cy="515594"/>
              </a:xfrm>
              <a:prstGeom prst="rect">
                <a:avLst/>
              </a:prstGeom>
            </p:spPr>
            <p:txBody>
              <a:bodyPr wrap="none" lIns="83887" tIns="41944" rIns="83887" bIns="41944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1" i="1" smtClean="0">
                          <a:latin typeface="Cambria Math" panose="02040503050406030204" pitchFamily="18" charset="0"/>
                        </a:rPr>
                        <m:t>𝑾</m:t>
                      </m:r>
                      <m:d>
                        <m:dPr>
                          <m:ctrlPr>
                            <a:rPr lang="en-US" altLang="zh-CN" sz="2800" b="1" i="1">
                              <a:latin typeface="Cambria Math"/>
                            </a:rPr>
                          </m:ctrlPr>
                        </m:dPr>
                        <m:e>
                          <m:f>
                            <m:fPr>
                              <m:type m:val="lin"/>
                              <m:ctrlPr>
                                <a:rPr lang="en-US" altLang="zh-CN" sz="2800" b="1" i="1">
                                  <a:latin typeface="Cambria Math"/>
                                </a:rPr>
                              </m:ctrlPr>
                            </m:fPr>
                            <m:num>
                              <m:r>
                                <a:rPr lang="en-US" altLang="zh-CN" sz="2800" b="1" i="1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num>
                            <m:den>
                              <m:r>
                                <a:rPr lang="en-US" altLang="zh-CN" sz="2800" b="1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zh-CN" altLang="en-US" sz="2800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10" name="矩形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47461" y="4653376"/>
                <a:ext cx="1563961" cy="515594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矩形 10"/>
              <p:cNvSpPr/>
              <p:nvPr/>
            </p:nvSpPr>
            <p:spPr>
              <a:xfrm>
                <a:off x="4489701" y="4659756"/>
                <a:ext cx="1563961" cy="515594"/>
              </a:xfrm>
              <a:prstGeom prst="rect">
                <a:avLst/>
              </a:prstGeom>
            </p:spPr>
            <p:txBody>
              <a:bodyPr wrap="none" lIns="83887" tIns="41944" rIns="83887" bIns="41944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1" i="1" smtClean="0">
                          <a:latin typeface="Cambria Math" panose="02040503050406030204" pitchFamily="18" charset="0"/>
                        </a:rPr>
                        <m:t>𝑾</m:t>
                      </m:r>
                      <m:d>
                        <m:dPr>
                          <m:ctrlPr>
                            <a:rPr lang="en-US" altLang="zh-CN" sz="2800" b="1" i="1">
                              <a:latin typeface="Cambria Math"/>
                            </a:rPr>
                          </m:ctrlPr>
                        </m:dPr>
                        <m:e>
                          <m:f>
                            <m:fPr>
                              <m:type m:val="lin"/>
                              <m:ctrlPr>
                                <a:rPr lang="en-US" altLang="zh-CN" sz="2800" b="1" i="1">
                                  <a:latin typeface="Cambria Math"/>
                                </a:rPr>
                              </m:ctrlPr>
                            </m:fPr>
                            <m:num>
                              <m:r>
                                <a:rPr lang="en-US" altLang="zh-CN" sz="2800" b="1" i="1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num>
                            <m:den>
                              <m:r>
                                <a:rPr lang="en-US" altLang="zh-CN" sz="2800" b="1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zh-CN" altLang="en-US" sz="2800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11" name="矩形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89701" y="4659756"/>
                <a:ext cx="1563961" cy="515594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752295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391886" y="192439"/>
            <a:ext cx="8910734" cy="687911"/>
          </a:xfrm>
        </p:spPr>
        <p:txBody>
          <a:bodyPr>
            <a:noAutofit/>
          </a:bodyPr>
          <a:lstStyle/>
          <a:p>
            <a:pPr algn="ctr"/>
            <a:r>
              <a:rPr lang="zh-CN" altLang="en-US" sz="4400" b="1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递归</a:t>
            </a:r>
            <a:r>
              <a:rPr lang="zh-CN" altLang="en-US" sz="4400" b="1" dirty="0" smtClean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树的生成规则</a:t>
            </a:r>
            <a:endParaRPr lang="zh-CN" altLang="en-US" sz="4400" b="1" dirty="0">
              <a:solidFill>
                <a:srgbClr val="C00000"/>
              </a:solidFill>
              <a:latin typeface="黑体" pitchFamily="49" charset="-122"/>
              <a:ea typeface="黑体" pitchFamily="49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4294967295"/>
              </p:nvPr>
            </p:nvSpPr>
            <p:spPr>
              <a:xfrm>
                <a:off x="391885" y="1314499"/>
                <a:ext cx="8938727" cy="4111612"/>
              </a:xfrm>
            </p:spPr>
            <p:txBody>
              <a:bodyPr>
                <a:noAutofit/>
              </a:bodyPr>
              <a:lstStyle/>
              <a:p>
                <a:pPr marL="0"/>
                <a:r>
                  <a:rPr lang="zh-CN" altLang="en-US" sz="2800" dirty="0" smtClean="0">
                    <a:latin typeface="黑体" pitchFamily="49" charset="-122"/>
                    <a:ea typeface="黑体" pitchFamily="49" charset="-122"/>
                  </a:rPr>
                  <a:t>初始，递归树只有根节点，其值为</a:t>
                </a:r>
                <a14:m>
                  <m:oMath xmlns:m="http://schemas.openxmlformats.org/officeDocument/2006/math">
                    <m:r>
                      <a:rPr lang="en-US" altLang="zh-CN" sz="2800" b="1" i="1">
                        <a:latin typeface="Cambria Math" panose="02040503050406030204" pitchFamily="18" charset="0"/>
                      </a:rPr>
                      <m:t>𝑾</m:t>
                    </m:r>
                    <m:d>
                      <m:dPr>
                        <m:ctrlPr>
                          <a:rPr lang="en-US" altLang="zh-CN" sz="2800" b="1" i="1">
                            <a:latin typeface="Cambria Math"/>
                          </a:rPr>
                        </m:ctrlPr>
                      </m:dPr>
                      <m:e>
                        <m: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</m:d>
                  </m:oMath>
                </a14:m>
                <a:endParaRPr lang="en-US" altLang="zh-CN" sz="2800" b="1" dirty="0" smtClean="0">
                  <a:latin typeface="黑体" pitchFamily="49" charset="-122"/>
                  <a:ea typeface="黑体" pitchFamily="49" charset="-122"/>
                </a:endParaRPr>
              </a:p>
              <a:p>
                <a:pPr marL="0" indent="0">
                  <a:buNone/>
                </a:pPr>
                <a:endParaRPr lang="en-US" altLang="zh-CN" sz="2800" b="1" dirty="0" smtClean="0">
                  <a:latin typeface="黑体" pitchFamily="49" charset="-122"/>
                  <a:ea typeface="黑体" pitchFamily="49" charset="-122"/>
                </a:endParaRPr>
              </a:p>
              <a:p>
                <a:pPr marL="0"/>
                <a:r>
                  <a:rPr lang="zh-CN" altLang="en-US" sz="2800" dirty="0">
                    <a:latin typeface="黑体" pitchFamily="49" charset="-122"/>
                    <a:ea typeface="黑体" pitchFamily="49" charset="-122"/>
                  </a:rPr>
                  <a:t>不断继续下述过程：</a:t>
                </a:r>
                <a:endParaRPr lang="en-US" altLang="zh-CN" sz="2800" dirty="0">
                  <a:latin typeface="黑体" pitchFamily="49" charset="-122"/>
                  <a:ea typeface="黑体" pitchFamily="49" charset="-122"/>
                </a:endParaRPr>
              </a:p>
              <a:p>
                <a:pPr marL="396000" indent="0">
                  <a:buFont typeface="Wingdings" pitchFamily="2" charset="2"/>
                  <a:buChar char="Ø"/>
                </a:pPr>
                <a:r>
                  <a:rPr lang="zh-CN" altLang="en-US" sz="2800" dirty="0" smtClean="0">
                    <a:latin typeface="黑体" pitchFamily="49" charset="-122"/>
                    <a:ea typeface="黑体" pitchFamily="49" charset="-122"/>
                  </a:rPr>
                  <a:t>将</a:t>
                </a:r>
                <a:r>
                  <a:rPr lang="zh-CN" altLang="en-US" sz="2800" dirty="0">
                    <a:latin typeface="黑体" pitchFamily="49" charset="-122"/>
                    <a:ea typeface="黑体" pitchFamily="49" charset="-122"/>
                  </a:rPr>
                  <a:t>函数项叶结点的迭代式</a:t>
                </a:r>
                <a14:m>
                  <m:oMath xmlns:m="http://schemas.openxmlformats.org/officeDocument/2006/math">
                    <m:r>
                      <a:rPr lang="en-US" altLang="zh-CN" sz="2800" b="1" i="1">
                        <a:latin typeface="Cambria Math" panose="02040503050406030204" pitchFamily="18" charset="0"/>
                      </a:rPr>
                      <m:t>𝑾</m:t>
                    </m:r>
                    <m:d>
                      <m:dPr>
                        <m:ctrlPr>
                          <a:rPr lang="en-US" altLang="zh-CN" sz="2800" b="1" i="1">
                            <a:latin typeface="Cambria Math"/>
                          </a:rPr>
                        </m:ctrlPr>
                      </m:dPr>
                      <m:e>
                        <m:r>
                          <a:rPr lang="en-US" altLang="zh-CN" sz="2800" b="1" i="1">
                            <a:latin typeface="Cambria Math" panose="02040503050406030204" pitchFamily="18" charset="0"/>
                          </a:rPr>
                          <m:t>𝒎</m:t>
                        </m:r>
                      </m:e>
                    </m:d>
                  </m:oMath>
                </a14:m>
                <a:r>
                  <a:rPr lang="zh-CN" altLang="en-US" sz="2800" dirty="0">
                    <a:latin typeface="黑体" pitchFamily="49" charset="-122"/>
                    <a:ea typeface="黑体" pitchFamily="49" charset="-122"/>
                  </a:rPr>
                  <a:t>表示成二</a:t>
                </a:r>
                <a:r>
                  <a:rPr lang="zh-CN" altLang="en-US" sz="2800" dirty="0" smtClean="0">
                    <a:latin typeface="黑体" pitchFamily="49" charset="-122"/>
                    <a:ea typeface="黑体" pitchFamily="49" charset="-122"/>
                  </a:rPr>
                  <a:t>层子</a:t>
                </a:r>
                <a:r>
                  <a:rPr lang="zh-CN" altLang="en-US" sz="2800" dirty="0">
                    <a:latin typeface="黑体" pitchFamily="49" charset="-122"/>
                    <a:ea typeface="黑体" pitchFamily="49" charset="-122"/>
                  </a:rPr>
                  <a:t>树</a:t>
                </a:r>
                <a:endParaRPr lang="en-US" altLang="zh-CN" sz="2800" dirty="0">
                  <a:latin typeface="黑体" pitchFamily="49" charset="-122"/>
                  <a:ea typeface="黑体" pitchFamily="49" charset="-122"/>
                </a:endParaRPr>
              </a:p>
              <a:p>
                <a:pPr marL="396000" indent="0">
                  <a:buFont typeface="Wingdings" pitchFamily="2" charset="2"/>
                  <a:buChar char="Ø"/>
                </a:pPr>
                <a:r>
                  <a:rPr lang="zh-CN" altLang="en-US" sz="2800" dirty="0" smtClean="0">
                    <a:latin typeface="黑体" pitchFamily="49" charset="-122"/>
                    <a:ea typeface="黑体" pitchFamily="49" charset="-122"/>
                  </a:rPr>
                  <a:t>用</a:t>
                </a:r>
                <a:r>
                  <a:rPr lang="zh-CN" altLang="en-US" sz="2800" dirty="0">
                    <a:latin typeface="黑体" pitchFamily="49" charset="-122"/>
                    <a:ea typeface="黑体" pitchFamily="49" charset="-122"/>
                  </a:rPr>
                  <a:t>该子树替换该叶结点</a:t>
                </a:r>
                <a:endParaRPr lang="en-US" altLang="zh-CN" sz="2800" dirty="0">
                  <a:latin typeface="黑体" pitchFamily="49" charset="-122"/>
                  <a:ea typeface="黑体" pitchFamily="49" charset="-122"/>
                </a:endParaRPr>
              </a:p>
              <a:p>
                <a:pPr marL="0" indent="0">
                  <a:buNone/>
                </a:pPr>
                <a:endParaRPr lang="en-US" altLang="zh-CN" sz="2800" b="1" dirty="0" smtClean="0">
                  <a:latin typeface="黑体" pitchFamily="49" charset="-122"/>
                  <a:ea typeface="黑体" pitchFamily="49" charset="-122"/>
                </a:endParaRPr>
              </a:p>
              <a:p>
                <a:pPr marL="0"/>
                <a:r>
                  <a:rPr lang="zh-CN" altLang="en-US" sz="2800" dirty="0" smtClean="0">
                    <a:latin typeface="黑体" pitchFamily="49" charset="-122"/>
                    <a:ea typeface="黑体" pitchFamily="49" charset="-122"/>
                  </a:rPr>
                  <a:t>继续递归树的生成，直到树中无函数项</a:t>
                </a:r>
                <a:r>
                  <a:rPr lang="en-US" altLang="zh-CN" sz="2800" dirty="0" smtClean="0">
                    <a:latin typeface="黑体" pitchFamily="49" charset="-122"/>
                    <a:ea typeface="黑体" pitchFamily="49" charset="-122"/>
                  </a:rPr>
                  <a:t>(</a:t>
                </a:r>
                <a:r>
                  <a:rPr lang="zh-CN" altLang="en-US" sz="2800" dirty="0" smtClean="0">
                    <a:latin typeface="黑体" pitchFamily="49" charset="-122"/>
                    <a:ea typeface="黑体" pitchFamily="49" charset="-122"/>
                  </a:rPr>
                  <a:t>只有初值</a:t>
                </a:r>
                <a:r>
                  <a:rPr lang="en-US" altLang="zh-CN" sz="2800" dirty="0" smtClean="0">
                    <a:latin typeface="黑体" pitchFamily="49" charset="-122"/>
                    <a:ea typeface="黑体" pitchFamily="49" charset="-122"/>
                  </a:rPr>
                  <a:t>)</a:t>
                </a:r>
                <a:r>
                  <a:rPr lang="zh-CN" altLang="en-US" sz="2800" dirty="0" smtClean="0">
                    <a:latin typeface="黑体" pitchFamily="49" charset="-122"/>
                    <a:ea typeface="黑体" pitchFamily="49" charset="-122"/>
                  </a:rPr>
                  <a:t>为置</a:t>
                </a:r>
                <a:r>
                  <a:rPr lang="en-US" altLang="zh-CN" sz="2800" dirty="0" smtClean="0">
                    <a:latin typeface="黑体" pitchFamily="49" charset="-122"/>
                    <a:ea typeface="黑体" pitchFamily="49" charset="-122"/>
                  </a:rPr>
                  <a:t>.</a:t>
                </a:r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4294967295"/>
              </p:nvPr>
            </p:nvSpPr>
            <p:spPr>
              <a:xfrm>
                <a:off x="391885" y="1314499"/>
                <a:ext cx="8938727" cy="4111612"/>
              </a:xfrm>
              <a:blipFill rotWithShape="1">
                <a:blip r:embed="rId2"/>
                <a:stretch>
                  <a:fillRect l="-1159" t="-2819" r="-293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32725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397787" y="177059"/>
            <a:ext cx="8914164" cy="737341"/>
          </a:xfrm>
        </p:spPr>
        <p:txBody>
          <a:bodyPr>
            <a:normAutofit/>
          </a:bodyPr>
          <a:lstStyle/>
          <a:p>
            <a:pPr algn="ctr"/>
            <a:r>
              <a:rPr lang="zh-CN" altLang="en-US" sz="4400" b="1" dirty="0" smtClean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递归树生成实例</a:t>
            </a:r>
            <a:endParaRPr lang="zh-CN" altLang="en-US" sz="4400" b="1" dirty="0">
              <a:solidFill>
                <a:srgbClr val="C00000"/>
              </a:solidFill>
              <a:latin typeface="黑体" pitchFamily="49" charset="-122"/>
              <a:ea typeface="黑体" pitchFamily="49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2"/>
          <a:srcRect b="87704"/>
          <a:stretch/>
        </p:blipFill>
        <p:spPr>
          <a:xfrm>
            <a:off x="412624" y="1283940"/>
            <a:ext cx="3670316" cy="507538"/>
          </a:xfrm>
          <a:prstGeom prst="rect">
            <a:avLst/>
          </a:prstGeom>
        </p:spPr>
      </p:pic>
      <p:grpSp>
        <p:nvGrpSpPr>
          <p:cNvPr id="7" name="组合 6"/>
          <p:cNvGrpSpPr/>
          <p:nvPr/>
        </p:nvGrpSpPr>
        <p:grpSpPr>
          <a:xfrm>
            <a:off x="2188507" y="2065955"/>
            <a:ext cx="4108898" cy="779882"/>
            <a:chOff x="2188507" y="2065955"/>
            <a:chExt cx="4108898" cy="779882"/>
          </a:xfrm>
        </p:grpSpPr>
        <p:pic>
          <p:nvPicPr>
            <p:cNvPr id="5" name="图片 4"/>
            <p:cNvPicPr>
              <a:picLocks noChangeAspect="1"/>
            </p:cNvPicPr>
            <p:nvPr/>
          </p:nvPicPr>
          <p:blipFill rotWithShape="1">
            <a:blip r:embed="rId2"/>
            <a:srcRect t="19077" b="62840"/>
            <a:stretch/>
          </p:blipFill>
          <p:spPr>
            <a:xfrm>
              <a:off x="2627089" y="2099388"/>
              <a:ext cx="3670316" cy="746449"/>
            </a:xfrm>
            <a:prstGeom prst="rect">
              <a:avLst/>
            </a:prstGeom>
          </p:spPr>
        </p:pic>
        <p:sp>
          <p:nvSpPr>
            <p:cNvPr id="3" name="矩形 2"/>
            <p:cNvSpPr/>
            <p:nvPr/>
          </p:nvSpPr>
          <p:spPr>
            <a:xfrm>
              <a:off x="2188507" y="2065955"/>
              <a:ext cx="1357126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800" b="1" dirty="0">
                  <a:latin typeface="黑体" pitchFamily="49" charset="-122"/>
                  <a:ea typeface="黑体" pitchFamily="49" charset="-122"/>
                </a:rPr>
                <a:t>根节点</a:t>
              </a:r>
              <a:endParaRPr lang="zh-CN" altLang="en-US" sz="2400" b="1" dirty="0"/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2251199" y="3051110"/>
            <a:ext cx="4046206" cy="2541040"/>
            <a:chOff x="2251199" y="3051110"/>
            <a:chExt cx="4046206" cy="2541040"/>
          </a:xfrm>
        </p:grpSpPr>
        <p:pic>
          <p:nvPicPr>
            <p:cNvPr id="6" name="图片 5"/>
            <p:cNvPicPr>
              <a:picLocks noChangeAspect="1"/>
            </p:cNvPicPr>
            <p:nvPr/>
          </p:nvPicPr>
          <p:blipFill rotWithShape="1">
            <a:blip r:embed="rId2"/>
            <a:srcRect t="38441"/>
            <a:stretch/>
          </p:blipFill>
          <p:spPr>
            <a:xfrm>
              <a:off x="2627089" y="3051110"/>
              <a:ext cx="3670316" cy="2541040"/>
            </a:xfrm>
            <a:prstGeom prst="rect">
              <a:avLst/>
            </a:prstGeom>
          </p:spPr>
        </p:pic>
        <p:sp>
          <p:nvSpPr>
            <p:cNvPr id="8" name="矩形 7"/>
            <p:cNvSpPr/>
            <p:nvPr/>
          </p:nvSpPr>
          <p:spPr>
            <a:xfrm>
              <a:off x="2251199" y="4044467"/>
              <a:ext cx="1261884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800" b="1" dirty="0">
                  <a:latin typeface="黑体" pitchFamily="49" charset="-122"/>
                  <a:ea typeface="黑体" pitchFamily="49" charset="-122"/>
                </a:rPr>
                <a:t>叶结点</a:t>
              </a:r>
              <a:endParaRPr lang="zh-CN" altLang="en-US" sz="24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464707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369798" y="158398"/>
            <a:ext cx="8923492" cy="756002"/>
          </a:xfrm>
        </p:spPr>
        <p:txBody>
          <a:bodyPr>
            <a:normAutofit/>
          </a:bodyPr>
          <a:lstStyle/>
          <a:p>
            <a:pPr algn="ctr"/>
            <a:r>
              <a:rPr lang="zh-CN" altLang="en-US" sz="4400" b="1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递归树生成实例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3"/>
          <a:srcRect b="67210"/>
          <a:stretch/>
        </p:blipFill>
        <p:spPr>
          <a:xfrm>
            <a:off x="2843631" y="1144458"/>
            <a:ext cx="3421173" cy="137892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3"/>
          <a:srcRect t="32050"/>
          <a:stretch/>
        </p:blipFill>
        <p:spPr>
          <a:xfrm>
            <a:off x="2824969" y="2603226"/>
            <a:ext cx="3421173" cy="2652184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708227" y="4268866"/>
            <a:ext cx="2116742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96000" indent="0" algn="ctr"/>
            <a:r>
              <a:rPr lang="zh-CN" altLang="en-US" sz="2400" b="1" dirty="0">
                <a:latin typeface="黑体" pitchFamily="49" charset="-122"/>
                <a:ea typeface="黑体" pitchFamily="49" charset="-122"/>
              </a:rPr>
              <a:t>用该子树替换该叶结点</a:t>
            </a:r>
            <a:endParaRPr lang="en-US" altLang="zh-CN" sz="2400" b="1" dirty="0"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2852962" y="4035114"/>
            <a:ext cx="1710586" cy="1320641"/>
          </a:xfrm>
          <a:prstGeom prst="rect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88773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397788" y="167728"/>
            <a:ext cx="8904831" cy="756002"/>
          </a:xfrm>
        </p:spPr>
        <p:txBody>
          <a:bodyPr>
            <a:normAutofit/>
          </a:bodyPr>
          <a:lstStyle/>
          <a:p>
            <a:pPr algn="ctr"/>
            <a:r>
              <a:rPr lang="zh-CN" altLang="en-US" sz="4400" b="1" dirty="0" smtClean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递归树</a:t>
            </a:r>
            <a:endParaRPr lang="zh-CN" altLang="en-US" sz="4400" b="1" dirty="0">
              <a:solidFill>
                <a:srgbClr val="C00000"/>
              </a:solidFill>
              <a:latin typeface="黑体" pitchFamily="49" charset="-122"/>
              <a:ea typeface="黑体" pitchFamily="49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2"/>
          <a:srcRect r="19772"/>
          <a:stretch/>
        </p:blipFill>
        <p:spPr>
          <a:xfrm>
            <a:off x="824507" y="833473"/>
            <a:ext cx="5187187" cy="490375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6703001" y="1018323"/>
                <a:ext cx="95949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1" i="1" kern="400" spc="-100" smtClean="0">
                          <a:latin typeface="Cambria Math"/>
                        </a:rPr>
                        <m:t>𝒏</m:t>
                      </m:r>
                      <m:r>
                        <a:rPr lang="en-US" altLang="zh-CN" sz="2400" b="1" i="1" kern="400" spc="-100" smtClean="0">
                          <a:latin typeface="Cambria Math"/>
                        </a:rPr>
                        <m:t>−</m:t>
                      </m:r>
                      <m:r>
                        <a:rPr lang="en-US" altLang="zh-CN" sz="2400" b="1" i="1" kern="400" spc="-100" smtClean="0">
                          <a:latin typeface="Cambria Math"/>
                        </a:rPr>
                        <m:t>𝟏</m:t>
                      </m:r>
                    </m:oMath>
                  </m:oMathPara>
                </a14:m>
                <a:endParaRPr lang="zh-CN" altLang="en-US" sz="2400" b="1" kern="400" spc="-100" dirty="0">
                  <a:latin typeface="Times New Roman" pitchFamily="18" charset="0"/>
                  <a:ea typeface="黑体" pitchFamily="49" charset="-122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03001" y="1018323"/>
                <a:ext cx="959493" cy="461665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6739158" y="5244524"/>
                <a:ext cx="1155124" cy="45313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400" b="1" i="1" kern="400" spc="-100" smtClean="0">
                        <a:latin typeface="Cambria Math"/>
                      </a:rPr>
                      <m:t>𝒏</m:t>
                    </m:r>
                    <m:r>
                      <a:rPr lang="en-US" altLang="zh-CN" sz="2400" b="1" i="1" kern="400" spc="-100" smtClean="0">
                        <a:latin typeface="Cambria Math"/>
                      </a:rPr>
                      <m:t>−</m:t>
                    </m:r>
                    <m:r>
                      <a:rPr lang="en-US" altLang="zh-CN" sz="2400" b="1" i="1" kern="400" spc="-100" smtClean="0">
                        <a:latin typeface="Cambria Math"/>
                      </a:rPr>
                      <m:t>𝟐</m:t>
                    </m:r>
                  </m:oMath>
                </a14:m>
                <a:r>
                  <a:rPr lang="en-US" altLang="zh-CN" sz="2400" b="1" kern="400" spc="-100" baseline="30000" dirty="0" smtClean="0">
                    <a:latin typeface="Times New Roman" pitchFamily="18" charset="0"/>
                    <a:ea typeface="黑体" pitchFamily="49" charset="-122"/>
                    <a:cs typeface="Times New Roman" pitchFamily="18" charset="0"/>
                  </a:rPr>
                  <a:t>k-1</a:t>
                </a:r>
                <a:endParaRPr lang="zh-CN" altLang="en-US" sz="2400" b="1" kern="400" spc="-100" baseline="30000" dirty="0">
                  <a:latin typeface="Times New Roman" pitchFamily="18" charset="0"/>
                  <a:ea typeface="黑体" pitchFamily="49" charset="-122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39158" y="5244524"/>
                <a:ext cx="1155124" cy="453137"/>
              </a:xfrm>
              <a:prstGeom prst="rect">
                <a:avLst/>
              </a:prstGeom>
              <a:blipFill rotWithShape="1">
                <a:blip r:embed="rId4"/>
                <a:stretch>
                  <a:fillRect t="-2667" r="-158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6739158" y="3881498"/>
                <a:ext cx="95949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1" i="1" kern="400" spc="-100" smtClean="0">
                          <a:latin typeface="Cambria Math"/>
                        </a:rPr>
                        <m:t>𝒏</m:t>
                      </m:r>
                      <m:r>
                        <a:rPr lang="en-US" altLang="zh-CN" sz="2400" b="1" i="1" kern="400" spc="-100" smtClean="0">
                          <a:latin typeface="Cambria Math"/>
                        </a:rPr>
                        <m:t>−</m:t>
                      </m:r>
                      <m:r>
                        <a:rPr lang="en-US" altLang="zh-CN" sz="2400" b="1" i="1" kern="400" spc="-100" smtClean="0">
                          <a:latin typeface="Cambria Math"/>
                        </a:rPr>
                        <m:t>𝟒</m:t>
                      </m:r>
                    </m:oMath>
                  </m:oMathPara>
                </a14:m>
                <a:endParaRPr lang="zh-CN" altLang="en-US" sz="2400" b="1" kern="400" spc="-100" dirty="0">
                  <a:latin typeface="Times New Roman" pitchFamily="18" charset="0"/>
                  <a:ea typeface="黑体" pitchFamily="49" charset="-122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39158" y="3881498"/>
                <a:ext cx="959493" cy="461665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6711874" y="2399651"/>
                <a:ext cx="95949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1" i="1" kern="400" spc="-100" smtClean="0">
                          <a:latin typeface="Cambria Math"/>
                        </a:rPr>
                        <m:t>𝒏</m:t>
                      </m:r>
                      <m:r>
                        <a:rPr lang="en-US" altLang="zh-CN" sz="2400" b="1" i="1" kern="400" spc="-100" smtClean="0">
                          <a:latin typeface="Cambria Math"/>
                        </a:rPr>
                        <m:t>−</m:t>
                      </m:r>
                      <m:r>
                        <a:rPr lang="en-US" altLang="zh-CN" sz="2400" b="1" i="1" kern="400" spc="-100" smtClean="0">
                          <a:latin typeface="Cambria Math"/>
                        </a:rPr>
                        <m:t>𝟐</m:t>
                      </m:r>
                    </m:oMath>
                  </m:oMathPara>
                </a14:m>
                <a:endParaRPr lang="zh-CN" altLang="en-US" sz="2400" b="1" kern="400" spc="-100" dirty="0">
                  <a:latin typeface="Times New Roman" pitchFamily="18" charset="0"/>
                  <a:ea typeface="黑体" pitchFamily="49" charset="-122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11874" y="2399651"/>
                <a:ext cx="959493" cy="461665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776824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0" grpId="0"/>
      <p:bldP spid="11" grpId="0"/>
      <p:bldP spid="12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393915" y="0"/>
            <a:ext cx="8908705" cy="863935"/>
          </a:xfrm>
        </p:spPr>
        <p:txBody>
          <a:bodyPr>
            <a:normAutofit/>
          </a:bodyPr>
          <a:lstStyle/>
          <a:p>
            <a:pPr algn="ctr"/>
            <a:r>
              <a:rPr lang="zh-CN" altLang="en-US" sz="4400" b="1" dirty="0" smtClean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对递归树上的量求和</a:t>
            </a:r>
            <a:endParaRPr lang="zh-CN" altLang="en-US" sz="4400" b="1" dirty="0">
              <a:solidFill>
                <a:srgbClr val="C00000"/>
              </a:solidFill>
              <a:latin typeface="黑体" pitchFamily="49" charset="-122"/>
              <a:ea typeface="黑体" pitchFamily="49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2"/>
          <a:srcRect b="58590"/>
          <a:stretch/>
        </p:blipFill>
        <p:spPr>
          <a:xfrm>
            <a:off x="1594102" y="1080850"/>
            <a:ext cx="6598558" cy="1769355"/>
          </a:xfrm>
          <a:prstGeom prst="rect">
            <a:avLst/>
          </a:prstGeom>
        </p:spPr>
      </p:pic>
      <p:grpSp>
        <p:nvGrpSpPr>
          <p:cNvPr id="6" name="组合 5"/>
          <p:cNvGrpSpPr/>
          <p:nvPr/>
        </p:nvGrpSpPr>
        <p:grpSpPr>
          <a:xfrm>
            <a:off x="1430859" y="3023110"/>
            <a:ext cx="6616139" cy="2547786"/>
            <a:chOff x="1441267" y="3209730"/>
            <a:chExt cx="6616139" cy="2547786"/>
          </a:xfrm>
        </p:grpSpPr>
        <p:pic>
          <p:nvPicPr>
            <p:cNvPr id="4" name="图片 3"/>
            <p:cNvPicPr>
              <a:picLocks noChangeAspect="1"/>
            </p:cNvPicPr>
            <p:nvPr/>
          </p:nvPicPr>
          <p:blipFill rotWithShape="1">
            <a:blip r:embed="rId2"/>
            <a:srcRect t="47322" r="7163"/>
            <a:stretch/>
          </p:blipFill>
          <p:spPr>
            <a:xfrm>
              <a:off x="1441267" y="3209730"/>
              <a:ext cx="6125860" cy="2547786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TextBox 2"/>
                <p:cNvSpPr txBox="1"/>
                <p:nvPr/>
              </p:nvSpPr>
              <p:spPr>
                <a:xfrm>
                  <a:off x="7406267" y="3249236"/>
                  <a:ext cx="651139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000" b="1" i="1">
                            <a:latin typeface="Cambria Math"/>
                          </a:rPr>
                          <m:t>𝒌</m:t>
                        </m:r>
                        <m:r>
                          <a:rPr lang="en-US" altLang="zh-CN" sz="2000" b="1" i="1">
                            <a:latin typeface="Cambria Math"/>
                          </a:rPr>
                          <m:t>−</m:t>
                        </m:r>
                        <m:r>
                          <a:rPr lang="en-US" altLang="zh-CN" sz="2000" b="1" i="1">
                            <a:latin typeface="Cambria Math"/>
                          </a:rPr>
                          <m:t>𝟏</m:t>
                        </m:r>
                      </m:oMath>
                    </m:oMathPara>
                  </a14:m>
                  <a:endParaRPr lang="zh-CN" altLang="en-US" sz="2000" b="1" dirty="0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</mc:Choice>
          <mc:Fallback xmlns="">
            <p:sp>
              <p:nvSpPr>
                <p:cNvPr id="3" name="TextBox 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06267" y="3249236"/>
                  <a:ext cx="651139" cy="400110"/>
                </a:xfrm>
                <a:prstGeom prst="rect">
                  <a:avLst/>
                </a:prstGeom>
                <a:blipFill rotWithShape="1"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8" name="直接连接符 7"/>
          <p:cNvCxnSpPr/>
          <p:nvPr/>
        </p:nvCxnSpPr>
        <p:spPr>
          <a:xfrm>
            <a:off x="2975384" y="3676251"/>
            <a:ext cx="3600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5059221" y="3691801"/>
            <a:ext cx="360000" cy="0"/>
          </a:xfrm>
          <a:prstGeom prst="line">
            <a:avLst/>
          </a:prstGeom>
          <a:ln w="3810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>
            <a:off x="6545898" y="3685582"/>
            <a:ext cx="3600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>
            <a:off x="4325834" y="3685582"/>
            <a:ext cx="3600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>
            <a:off x="3681400" y="3682470"/>
            <a:ext cx="360000" cy="0"/>
          </a:xfrm>
          <a:prstGeom prst="line">
            <a:avLst/>
          </a:prstGeom>
          <a:ln w="3810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/>
        </p:nvCxnSpPr>
        <p:spPr>
          <a:xfrm>
            <a:off x="7243455" y="3694908"/>
            <a:ext cx="360000" cy="0"/>
          </a:xfrm>
          <a:prstGeom prst="line">
            <a:avLst/>
          </a:prstGeom>
          <a:ln w="3810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/>
        </p:nvCxnSpPr>
        <p:spPr>
          <a:xfrm>
            <a:off x="4118317" y="4677731"/>
            <a:ext cx="1080000" cy="0"/>
          </a:xfrm>
          <a:prstGeom prst="line">
            <a:avLst/>
          </a:prstGeom>
          <a:ln w="3810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/>
        </p:nvCxnSpPr>
        <p:spPr>
          <a:xfrm>
            <a:off x="3006481" y="4662178"/>
            <a:ext cx="7200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" name="组合 22"/>
          <p:cNvGrpSpPr/>
          <p:nvPr/>
        </p:nvGrpSpPr>
        <p:grpSpPr>
          <a:xfrm>
            <a:off x="6982836" y="3924640"/>
            <a:ext cx="1711494" cy="1504426"/>
            <a:chOff x="6189701" y="4045943"/>
            <a:chExt cx="1711494" cy="150442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/>
                <p:cNvSpPr txBox="1"/>
                <p:nvPr/>
              </p:nvSpPr>
              <p:spPr>
                <a:xfrm>
                  <a:off x="6360268" y="4045943"/>
                  <a:ext cx="1373709" cy="539443"/>
                </a:xfrm>
                <a:prstGeom prst="rect">
                  <a:avLst/>
                </a:prstGeom>
                <a:noFill/>
                <a:ln w="25400">
                  <a:solidFill>
                    <a:srgbClr val="C00000"/>
                  </a:solidFill>
                </a:ln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1" i="1" smtClean="0">
                            <a:latin typeface="Cambria Math"/>
                          </a:rPr>
                          <m:t>𝒏</m:t>
                        </m:r>
                        <m:r>
                          <a:rPr lang="en-US" altLang="zh-CN" sz="2800" b="1" i="1" smtClean="0">
                            <a:latin typeface="Cambria Math"/>
                          </a:rPr>
                          <m:t>=</m:t>
                        </m:r>
                        <m:sSup>
                          <m:sSupPr>
                            <m:ctrlPr>
                              <a:rPr lang="en-US" altLang="zh-CN" sz="2800" b="1" i="1" smtClean="0"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a:rPr lang="en-US" altLang="zh-CN" sz="2800" b="1" i="1" smtClean="0">
                                <a:latin typeface="Cambria Math"/>
                              </a:rPr>
                              <m:t>𝟐</m:t>
                            </m:r>
                          </m:e>
                          <m:sup>
                            <m:r>
                              <a:rPr lang="en-US" altLang="zh-CN" sz="2800" b="1" i="1" smtClean="0">
                                <a:latin typeface="Cambria Math"/>
                              </a:rPr>
                              <m:t>𝒌</m:t>
                            </m:r>
                          </m:sup>
                        </m:sSup>
                      </m:oMath>
                    </m:oMathPara>
                  </a14:m>
                  <a:endParaRPr lang="zh-CN" altLang="en-US" b="1" dirty="0"/>
                </a:p>
              </p:txBody>
            </p:sp>
          </mc:Choice>
          <mc:Fallback xmlns="">
            <p:sp>
              <p:nvSpPr>
                <p:cNvPr id="17" name="TextBox 1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60268" y="4045943"/>
                  <a:ext cx="1373709" cy="539443"/>
                </a:xfrm>
                <a:prstGeom prst="rect">
                  <a:avLst/>
                </a:prstGeom>
                <a:blipFill rotWithShape="1">
                  <a:blip r:embed="rId4"/>
                  <a:stretch>
                    <a:fillRect/>
                  </a:stretch>
                </a:blipFill>
                <a:ln w="25400">
                  <a:solidFill>
                    <a:srgbClr val="C00000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8" name="右箭头 17"/>
            <p:cNvSpPr/>
            <p:nvPr/>
          </p:nvSpPr>
          <p:spPr>
            <a:xfrm rot="5400000">
              <a:off x="6830489" y="4678488"/>
              <a:ext cx="440571" cy="261258"/>
            </a:xfrm>
            <a:prstGeom prst="rightArrow">
              <a:avLst/>
            </a:prstGeom>
            <a:noFill/>
            <a:ln w="254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/>
                <p:cNvSpPr txBox="1"/>
                <p:nvPr/>
              </p:nvSpPr>
              <p:spPr>
                <a:xfrm>
                  <a:off x="6189701" y="5027149"/>
                  <a:ext cx="1711494" cy="523220"/>
                </a:xfrm>
                <a:prstGeom prst="rect">
                  <a:avLst/>
                </a:prstGeom>
                <a:noFill/>
                <a:ln w="25400">
                  <a:solidFill>
                    <a:srgbClr val="C00000"/>
                  </a:solidFill>
                </a:ln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1" i="1" smtClean="0">
                            <a:latin typeface="Cambria Math"/>
                          </a:rPr>
                          <m:t>𝒌</m:t>
                        </m:r>
                        <m:r>
                          <a:rPr lang="en-US" altLang="zh-CN" sz="2800" b="1" i="1" smtClean="0">
                            <a:latin typeface="Cambria Math"/>
                          </a:rPr>
                          <m:t>=</m:t>
                        </m:r>
                        <m:r>
                          <a:rPr lang="en-US" altLang="zh-CN" sz="2800" b="1" i="0" smtClean="0">
                            <a:latin typeface="Cambria Math"/>
                          </a:rPr>
                          <m:t>𝐥𝐨𝐠𝐧</m:t>
                        </m:r>
                      </m:oMath>
                    </m:oMathPara>
                  </a14:m>
                  <a:endParaRPr lang="zh-CN" altLang="en-US" b="1" dirty="0"/>
                </a:p>
              </p:txBody>
            </p:sp>
          </mc:Choice>
          <mc:Fallback xmlns="">
            <p:sp>
              <p:nvSpPr>
                <p:cNvPr id="19" name="TextBox 1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89701" y="5027149"/>
                  <a:ext cx="1711494" cy="523220"/>
                </a:xfrm>
                <a:prstGeom prst="rect">
                  <a:avLst/>
                </a:prstGeom>
                <a:blipFill rotWithShape="1">
                  <a:blip r:embed="rId5"/>
                  <a:stretch>
                    <a:fillRect/>
                  </a:stretch>
                </a:blipFill>
                <a:ln w="25400">
                  <a:solidFill>
                    <a:srgbClr val="C00000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6005441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392925" y="143405"/>
            <a:ext cx="8900365" cy="724342"/>
          </a:xfrm>
        </p:spPr>
        <p:txBody>
          <a:bodyPr>
            <a:normAutofit/>
          </a:bodyPr>
          <a:lstStyle/>
          <a:p>
            <a:pPr algn="ctr"/>
            <a:r>
              <a:rPr lang="zh-CN" altLang="en-US" sz="4400" b="1" dirty="0" smtClean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递归树应用实例</a:t>
            </a:r>
            <a:endParaRPr lang="zh-CN" altLang="en-US" sz="4400" b="1" dirty="0">
              <a:solidFill>
                <a:srgbClr val="C00000"/>
              </a:solidFill>
              <a:latin typeface="黑体" pitchFamily="49" charset="-122"/>
              <a:ea typeface="黑体" pitchFamily="49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2"/>
          <a:srcRect b="88626"/>
          <a:stretch/>
        </p:blipFill>
        <p:spPr>
          <a:xfrm>
            <a:off x="1991861" y="1175649"/>
            <a:ext cx="5633085" cy="56138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5550113" y="1760136"/>
                <a:ext cx="516487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1" i="1" smtClean="0">
                          <a:latin typeface="Cambria Math"/>
                        </a:rPr>
                        <m:t>𝒏</m:t>
                      </m:r>
                    </m:oMath>
                  </m:oMathPara>
                </a14:m>
                <a:endParaRPr lang="zh-CN" altLang="en-US" sz="2800" b="1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50113" y="1760136"/>
                <a:ext cx="516487" cy="523220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6485304" y="2912427"/>
                <a:ext cx="811441" cy="90178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2800" b="1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altLang="zh-CN" sz="2800" b="1" i="1" smtClean="0">
                              <a:latin typeface="Cambria Math"/>
                            </a:rPr>
                            <m:t>𝟐</m:t>
                          </m:r>
                          <m:r>
                            <a:rPr lang="en-US" altLang="zh-CN" sz="2800" b="1" i="1">
                              <a:latin typeface="Cambria Math"/>
                            </a:rPr>
                            <m:t>𝒏</m:t>
                          </m:r>
                          <m:r>
                            <m:rPr>
                              <m:nor/>
                            </m:rPr>
                            <a:rPr lang="zh-CN" altLang="en-US" sz="2800" b="1" dirty="0">
                              <a:latin typeface="Times New Roman" pitchFamily="18" charset="0"/>
                              <a:cs typeface="Times New Roman" pitchFamily="18" charset="0"/>
                            </a:rPr>
                            <m:t> </m:t>
                          </m:r>
                        </m:num>
                        <m:den>
                          <m:r>
                            <a:rPr lang="en-US" altLang="zh-CN" sz="2800" b="1" i="1" smtClean="0">
                              <a:latin typeface="Cambria Math"/>
                            </a:rPr>
                            <m:t>𝟑</m:t>
                          </m:r>
                        </m:den>
                      </m:f>
                    </m:oMath>
                  </m:oMathPara>
                </a14:m>
                <a:endParaRPr lang="zh-CN" altLang="en-US" sz="2800" b="1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85304" y="2912427"/>
                <a:ext cx="811441" cy="901785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4523766" y="2980523"/>
                <a:ext cx="596637" cy="83638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2800" b="1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altLang="zh-CN" sz="2800" b="1" i="1">
                              <a:latin typeface="Cambria Math"/>
                            </a:rPr>
                            <m:t>𝒏</m:t>
                          </m:r>
                          <m:r>
                            <m:rPr>
                              <m:nor/>
                            </m:rPr>
                            <a:rPr lang="zh-CN" altLang="en-US" sz="2800" b="1" dirty="0">
                              <a:latin typeface="Times New Roman" pitchFamily="18" charset="0"/>
                              <a:cs typeface="Times New Roman" pitchFamily="18" charset="0"/>
                            </a:rPr>
                            <m:t> </m:t>
                          </m:r>
                        </m:num>
                        <m:den>
                          <m:r>
                            <a:rPr lang="en-US" altLang="zh-CN" sz="2800" b="1" i="1" smtClean="0">
                              <a:latin typeface="Cambria Math"/>
                            </a:rPr>
                            <m:t>𝟑</m:t>
                          </m:r>
                        </m:den>
                      </m:f>
                    </m:oMath>
                  </m:oMathPara>
                </a14:m>
                <a:endParaRPr lang="zh-CN" altLang="en-US" sz="2800" b="1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23766" y="2980523"/>
                <a:ext cx="596637" cy="836383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直接连接符 13"/>
          <p:cNvCxnSpPr>
            <a:endCxn id="33" idx="0"/>
          </p:cNvCxnSpPr>
          <p:nvPr/>
        </p:nvCxnSpPr>
        <p:spPr>
          <a:xfrm flipH="1">
            <a:off x="4694332" y="2092710"/>
            <a:ext cx="930497" cy="858629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>
            <a:endCxn id="34" idx="0"/>
          </p:cNvCxnSpPr>
          <p:nvPr/>
        </p:nvCxnSpPr>
        <p:spPr>
          <a:xfrm>
            <a:off x="5985946" y="2091050"/>
            <a:ext cx="893077" cy="858354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/>
              <p:cNvSpPr txBox="1"/>
              <p:nvPr/>
            </p:nvSpPr>
            <p:spPr>
              <a:xfrm>
                <a:off x="4605183" y="4526651"/>
                <a:ext cx="811441" cy="90178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2800" b="1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altLang="zh-CN" sz="2800" b="1" i="1" smtClean="0">
                              <a:latin typeface="Cambria Math"/>
                            </a:rPr>
                            <m:t>𝟐</m:t>
                          </m:r>
                          <m:r>
                            <a:rPr lang="en-US" altLang="zh-CN" sz="2800" b="1" i="1">
                              <a:latin typeface="Cambria Math"/>
                            </a:rPr>
                            <m:t>𝒏</m:t>
                          </m:r>
                          <m:r>
                            <m:rPr>
                              <m:nor/>
                            </m:rPr>
                            <a:rPr lang="zh-CN" altLang="en-US" sz="2800" b="1" dirty="0">
                              <a:latin typeface="Times New Roman" pitchFamily="18" charset="0"/>
                              <a:cs typeface="Times New Roman" pitchFamily="18" charset="0"/>
                            </a:rPr>
                            <m:t> </m:t>
                          </m:r>
                        </m:num>
                        <m:den>
                          <m:r>
                            <a:rPr lang="en-US" altLang="zh-CN" sz="2800" b="1" i="1" smtClean="0">
                              <a:latin typeface="Cambria Math"/>
                            </a:rPr>
                            <m:t>𝟗</m:t>
                          </m:r>
                        </m:den>
                      </m:f>
                    </m:oMath>
                  </m:oMathPara>
                </a14:m>
                <a:endParaRPr lang="zh-CN" altLang="en-US" sz="2800" b="1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05183" y="4526651"/>
                <a:ext cx="811441" cy="901785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4027406" y="4588537"/>
                <a:ext cx="596637" cy="83638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2800" b="1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altLang="zh-CN" sz="2800" b="1" i="1">
                              <a:latin typeface="Cambria Math"/>
                            </a:rPr>
                            <m:t>𝒏</m:t>
                          </m:r>
                          <m:r>
                            <m:rPr>
                              <m:nor/>
                            </m:rPr>
                            <a:rPr lang="zh-CN" altLang="en-US" sz="2800" b="1" dirty="0">
                              <a:latin typeface="Times New Roman" pitchFamily="18" charset="0"/>
                              <a:cs typeface="Times New Roman" pitchFamily="18" charset="0"/>
                            </a:rPr>
                            <m:t> </m:t>
                          </m:r>
                        </m:num>
                        <m:den>
                          <m:r>
                            <a:rPr lang="en-US" altLang="zh-CN" sz="2800" b="1" i="1" smtClean="0">
                              <a:latin typeface="Cambria Math"/>
                            </a:rPr>
                            <m:t>𝟗</m:t>
                          </m:r>
                        </m:den>
                      </m:f>
                    </m:oMath>
                  </m:oMathPara>
                </a14:m>
                <a:endParaRPr lang="zh-CN" altLang="en-US" sz="2800" b="1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27406" y="4588537"/>
                <a:ext cx="596637" cy="836383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" name="直接连接符 25"/>
          <p:cNvCxnSpPr/>
          <p:nvPr/>
        </p:nvCxnSpPr>
        <p:spPr>
          <a:xfrm flipH="1">
            <a:off x="4391518" y="3798004"/>
            <a:ext cx="344395" cy="819717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/>
          <p:cNvCxnSpPr/>
          <p:nvPr/>
        </p:nvCxnSpPr>
        <p:spPr>
          <a:xfrm>
            <a:off x="4870725" y="3826634"/>
            <a:ext cx="91407" cy="781359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/>
          <p:cNvCxnSpPr/>
          <p:nvPr/>
        </p:nvCxnSpPr>
        <p:spPr>
          <a:xfrm>
            <a:off x="6907524" y="3833668"/>
            <a:ext cx="291941" cy="784053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/>
          <p:cNvCxnSpPr/>
          <p:nvPr/>
        </p:nvCxnSpPr>
        <p:spPr>
          <a:xfrm flipH="1">
            <a:off x="6478533" y="3825562"/>
            <a:ext cx="344395" cy="819717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/>
              <p:cNvSpPr txBox="1"/>
              <p:nvPr/>
            </p:nvSpPr>
            <p:spPr>
              <a:xfrm>
                <a:off x="6175550" y="4544743"/>
                <a:ext cx="811441" cy="90178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2800" b="1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altLang="zh-CN" sz="2800" b="1" i="1" smtClean="0">
                              <a:latin typeface="Cambria Math"/>
                            </a:rPr>
                            <m:t>𝟐</m:t>
                          </m:r>
                          <m:r>
                            <a:rPr lang="en-US" altLang="zh-CN" sz="2800" b="1" i="1">
                              <a:latin typeface="Cambria Math"/>
                            </a:rPr>
                            <m:t>𝒏</m:t>
                          </m:r>
                          <m:r>
                            <m:rPr>
                              <m:nor/>
                            </m:rPr>
                            <a:rPr lang="zh-CN" altLang="en-US" sz="2800" b="1" dirty="0">
                              <a:latin typeface="Times New Roman" pitchFamily="18" charset="0"/>
                              <a:cs typeface="Times New Roman" pitchFamily="18" charset="0"/>
                            </a:rPr>
                            <m:t> </m:t>
                          </m:r>
                        </m:num>
                        <m:den>
                          <m:r>
                            <a:rPr lang="en-US" altLang="zh-CN" sz="2800" b="1" i="1" smtClean="0">
                              <a:latin typeface="Cambria Math"/>
                            </a:rPr>
                            <m:t>𝟗</m:t>
                          </m:r>
                        </m:den>
                      </m:f>
                    </m:oMath>
                  </m:oMathPara>
                </a14:m>
                <a:endParaRPr lang="zh-CN" altLang="en-US" sz="2800" b="1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75550" y="4544743"/>
                <a:ext cx="811441" cy="901785"/>
              </a:xfrm>
              <a:prstGeom prst="rect">
                <a:avLst/>
              </a:prstGeom>
              <a:blipFill rotWithShape="1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/>
              <p:cNvSpPr txBox="1"/>
              <p:nvPr/>
            </p:nvSpPr>
            <p:spPr>
              <a:xfrm>
                <a:off x="6829750" y="4547999"/>
                <a:ext cx="811441" cy="90024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2800" b="1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altLang="zh-CN" sz="2800" b="1" i="1" smtClean="0">
                              <a:latin typeface="Cambria Math"/>
                            </a:rPr>
                            <m:t>𝟒</m:t>
                          </m:r>
                          <m:r>
                            <a:rPr lang="en-US" altLang="zh-CN" sz="2800" b="1" i="1">
                              <a:latin typeface="Cambria Math"/>
                            </a:rPr>
                            <m:t>𝒏</m:t>
                          </m:r>
                          <m:r>
                            <m:rPr>
                              <m:nor/>
                            </m:rPr>
                            <a:rPr lang="zh-CN" altLang="en-US" sz="2800" b="1" dirty="0">
                              <a:latin typeface="Times New Roman" pitchFamily="18" charset="0"/>
                              <a:cs typeface="Times New Roman" pitchFamily="18" charset="0"/>
                            </a:rPr>
                            <m:t> </m:t>
                          </m:r>
                        </m:num>
                        <m:den>
                          <m:r>
                            <a:rPr lang="en-US" altLang="zh-CN" sz="2800" b="1" i="1" smtClean="0">
                              <a:latin typeface="Cambria Math"/>
                            </a:rPr>
                            <m:t>𝟗</m:t>
                          </m:r>
                        </m:den>
                      </m:f>
                    </m:oMath>
                  </m:oMathPara>
                </a14:m>
                <a:endParaRPr lang="zh-CN" altLang="en-US" sz="2800" b="1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32" name="TextBox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9750" y="4547999"/>
                <a:ext cx="811441" cy="900246"/>
              </a:xfrm>
              <a:prstGeom prst="rect">
                <a:avLst/>
              </a:prstGeom>
              <a:blipFill rotWithShape="1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矩形 32"/>
          <p:cNvSpPr/>
          <p:nvPr/>
        </p:nvSpPr>
        <p:spPr>
          <a:xfrm>
            <a:off x="4108232" y="2951339"/>
            <a:ext cx="1172200" cy="2535818"/>
          </a:xfrm>
          <a:prstGeom prst="rect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矩形 33"/>
          <p:cNvSpPr/>
          <p:nvPr/>
        </p:nvSpPr>
        <p:spPr>
          <a:xfrm>
            <a:off x="6292923" y="2949404"/>
            <a:ext cx="1172200" cy="2535818"/>
          </a:xfrm>
          <a:prstGeom prst="rect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mtClean="0">
                <a:latin typeface="Cambria Math"/>
              </a:rPr>
              <a:t>⋯</a:t>
            </a:r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/>
              <p:cNvSpPr txBox="1"/>
              <p:nvPr/>
            </p:nvSpPr>
            <p:spPr>
              <a:xfrm>
                <a:off x="5486654" y="5560832"/>
                <a:ext cx="652230" cy="35394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smtClean="0">
                          <a:latin typeface="Cambria Math"/>
                          <a:ea typeface="Cambria Math"/>
                        </a:rPr>
                        <m:t>⋯⋯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5" name="Text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6654" y="5560832"/>
                <a:ext cx="652230" cy="353943"/>
              </a:xfrm>
              <a:prstGeom prst="rect">
                <a:avLst/>
              </a:prstGeom>
              <a:blipFill rotWithShape="1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/>
              <p:cNvSpPr txBox="1"/>
              <p:nvPr/>
            </p:nvSpPr>
            <p:spPr>
              <a:xfrm>
                <a:off x="4183895" y="5713231"/>
                <a:ext cx="3732245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i="1" smtClean="0">
                        <a:latin typeface="Cambria Math"/>
                        <a:ea typeface="Cambria Math"/>
                      </a:rPr>
                      <m:t>⋯⋯⋯⋯⋯⋯⋯⋯⋯⋯</m:t>
                    </m:r>
                    <m:r>
                      <a:rPr lang="en-US" altLang="zh-CN" b="0" i="1" smtClean="0">
                        <a:latin typeface="Cambria Math"/>
                        <a:ea typeface="Cambria Math"/>
                      </a:rPr>
                      <m:t>                       </m:t>
                    </m:r>
                  </m:oMath>
                </a14:m>
                <a:r>
                  <a:rPr lang="en-US" altLang="zh-CN" sz="2800" b="1" dirty="0" smtClean="0"/>
                  <a:t>1</a:t>
                </a:r>
                <a:endParaRPr lang="zh-CN" altLang="en-US" sz="2800" b="1" dirty="0"/>
              </a:p>
            </p:txBody>
          </p:sp>
        </mc:Choice>
        <mc:Fallback xmlns="">
          <p:sp>
            <p:nvSpPr>
              <p:cNvPr id="36" name="TextBox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3895" y="5713231"/>
                <a:ext cx="3732245" cy="523220"/>
              </a:xfrm>
              <a:prstGeom prst="rect">
                <a:avLst/>
              </a:prstGeom>
              <a:blipFill rotWithShape="1">
                <a:blip r:embed="rId11"/>
                <a:stretch>
                  <a:fillRect t="-12791" r="-816" b="-302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/>
              <p:cNvSpPr txBox="1"/>
              <p:nvPr/>
            </p:nvSpPr>
            <p:spPr>
              <a:xfrm>
                <a:off x="8098845" y="1732565"/>
                <a:ext cx="516487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1" i="1" smtClean="0">
                          <a:latin typeface="Cambria Math"/>
                        </a:rPr>
                        <m:t>𝒏</m:t>
                      </m:r>
                    </m:oMath>
                  </m:oMathPara>
                </a14:m>
                <a:endParaRPr lang="zh-CN" altLang="en-US" sz="2800" b="1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37" name="TextBox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98845" y="1732565"/>
                <a:ext cx="516487" cy="523220"/>
              </a:xfrm>
              <a:prstGeom prst="rect">
                <a:avLst/>
              </a:prstGeom>
              <a:blipFill rotWithShape="1"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/>
              <p:cNvSpPr txBox="1"/>
              <p:nvPr/>
            </p:nvSpPr>
            <p:spPr>
              <a:xfrm>
                <a:off x="8129900" y="3078812"/>
                <a:ext cx="516487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1" i="1" smtClean="0">
                          <a:latin typeface="Cambria Math"/>
                        </a:rPr>
                        <m:t>𝒏</m:t>
                      </m:r>
                    </m:oMath>
                  </m:oMathPara>
                </a14:m>
                <a:endParaRPr lang="zh-CN" altLang="en-US" sz="2800" b="1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38" name="TextBox 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29900" y="3078812"/>
                <a:ext cx="516487" cy="523220"/>
              </a:xfrm>
              <a:prstGeom prst="rect">
                <a:avLst/>
              </a:prstGeom>
              <a:blipFill rotWithShape="1"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/>
              <p:cNvSpPr txBox="1"/>
              <p:nvPr/>
            </p:nvSpPr>
            <p:spPr>
              <a:xfrm>
                <a:off x="8132959" y="4693036"/>
                <a:ext cx="516487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1" i="1" smtClean="0">
                          <a:latin typeface="Cambria Math"/>
                        </a:rPr>
                        <m:t>𝒏</m:t>
                      </m:r>
                    </m:oMath>
                  </m:oMathPara>
                </a14:m>
                <a:endParaRPr lang="zh-CN" altLang="en-US" sz="2800" b="1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39" name="TextBox 3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32959" y="4693036"/>
                <a:ext cx="516487" cy="523220"/>
              </a:xfrm>
              <a:prstGeom prst="rect">
                <a:avLst/>
              </a:prstGeom>
              <a:blipFill rotWithShape="1"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/>
              <p:cNvSpPr txBox="1"/>
              <p:nvPr/>
            </p:nvSpPr>
            <p:spPr>
              <a:xfrm>
                <a:off x="7989791" y="5677643"/>
                <a:ext cx="106792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1" i="1" smtClean="0">
                          <a:latin typeface="Cambria Math"/>
                        </a:rPr>
                        <m:t>𝑶</m:t>
                      </m:r>
                      <m:r>
                        <a:rPr lang="en-US" altLang="zh-CN" sz="2800" b="1" i="1" smtClean="0">
                          <a:latin typeface="Cambria Math"/>
                        </a:rPr>
                        <m:t>(</m:t>
                      </m:r>
                      <m:r>
                        <a:rPr lang="en-US" altLang="zh-CN" sz="2800" b="1" i="1" smtClean="0">
                          <a:latin typeface="Cambria Math"/>
                        </a:rPr>
                        <m:t>𝒏</m:t>
                      </m:r>
                      <m:r>
                        <a:rPr lang="en-US" altLang="zh-CN" sz="2800" b="1" i="1" smtClean="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zh-CN" altLang="en-US" sz="2800" b="1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40" name="TextBox 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89791" y="5677643"/>
                <a:ext cx="1067921" cy="523220"/>
              </a:xfrm>
              <a:prstGeom prst="rect">
                <a:avLst/>
              </a:prstGeom>
              <a:blipFill rotWithShape="1"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/>
              <p:cNvSpPr txBox="1"/>
              <p:nvPr/>
            </p:nvSpPr>
            <p:spPr>
              <a:xfrm>
                <a:off x="2065198" y="1735176"/>
                <a:ext cx="516487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1" i="1" smtClean="0">
                          <a:latin typeface="Cambria Math"/>
                        </a:rPr>
                        <m:t>𝒏</m:t>
                      </m:r>
                    </m:oMath>
                  </m:oMathPara>
                </a14:m>
                <a:endParaRPr lang="zh-CN" altLang="en-US" sz="2800" b="1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51" name="TextBox 5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5198" y="1735176"/>
                <a:ext cx="516487" cy="523220"/>
              </a:xfrm>
              <a:prstGeom prst="rect">
                <a:avLst/>
              </a:prstGeom>
              <a:blipFill rotWithShape="1"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/>
              <p:cNvSpPr txBox="1"/>
              <p:nvPr/>
            </p:nvSpPr>
            <p:spPr>
              <a:xfrm>
                <a:off x="2296475" y="2684106"/>
                <a:ext cx="1005403" cy="71468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800" b="1" i="1" smtClean="0">
                        <a:latin typeface="Cambria Math"/>
                      </a:rPr>
                      <m:t>𝑻</m:t>
                    </m:r>
                    <m:r>
                      <a:rPr lang="en-US" altLang="zh-CN" sz="2800" b="1" i="1" smtClean="0">
                        <a:latin typeface="Cambria Math"/>
                      </a:rPr>
                      <m:t>(</m:t>
                    </m:r>
                    <m:f>
                      <m:fPr>
                        <m:ctrlPr>
                          <a:rPr lang="en-US" altLang="zh-CN" sz="2800" b="1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US" altLang="zh-CN" sz="2800" b="1" i="1" smtClean="0">
                            <a:latin typeface="Cambria Math"/>
                          </a:rPr>
                          <m:t>𝟐</m:t>
                        </m:r>
                        <m:r>
                          <a:rPr lang="en-US" altLang="zh-CN" sz="2800" b="1" i="1" smtClean="0">
                            <a:latin typeface="Cambria Math"/>
                          </a:rPr>
                          <m:t>𝒏</m:t>
                        </m:r>
                      </m:num>
                      <m:den>
                        <m:r>
                          <a:rPr lang="en-US" altLang="zh-CN" sz="2800" b="1" i="1" smtClean="0">
                            <a:latin typeface="Cambria Math"/>
                          </a:rPr>
                          <m:t>𝟑</m:t>
                        </m:r>
                      </m:den>
                    </m:f>
                  </m:oMath>
                </a14:m>
                <a:r>
                  <a:rPr lang="en-US" altLang="zh-CN" sz="2800" b="1" dirty="0" smtClean="0">
                    <a:latin typeface="Times New Roman" pitchFamily="18" charset="0"/>
                    <a:cs typeface="Times New Roman" pitchFamily="18" charset="0"/>
                  </a:rPr>
                  <a:t>)</a:t>
                </a:r>
                <a:endParaRPr lang="zh-CN" altLang="en-US" sz="2800" b="1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53" name="TextBox 5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6475" y="2684106"/>
                <a:ext cx="1005403" cy="714683"/>
              </a:xfrm>
              <a:prstGeom prst="rect">
                <a:avLst/>
              </a:prstGeom>
              <a:blipFill rotWithShape="1">
                <a:blip r:embed="rId17"/>
                <a:stretch>
                  <a:fillRect r="-10909" b="-847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/>
              <p:cNvSpPr txBox="1"/>
              <p:nvPr/>
            </p:nvSpPr>
            <p:spPr>
              <a:xfrm>
                <a:off x="1365169" y="2709949"/>
                <a:ext cx="848309" cy="66691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800" b="1" i="1" smtClean="0">
                        <a:latin typeface="Cambria Math"/>
                      </a:rPr>
                      <m:t>𝑻</m:t>
                    </m:r>
                    <m:r>
                      <a:rPr lang="en-US" altLang="zh-CN" sz="2800" b="1" i="1" smtClean="0">
                        <a:latin typeface="Cambria Math"/>
                      </a:rPr>
                      <m:t>(</m:t>
                    </m:r>
                    <m:f>
                      <m:fPr>
                        <m:ctrlPr>
                          <a:rPr lang="en-US" altLang="zh-CN" sz="2800" b="1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US" altLang="zh-CN" sz="2800" b="1" i="1" smtClean="0">
                            <a:latin typeface="Cambria Math"/>
                          </a:rPr>
                          <m:t>𝒏</m:t>
                        </m:r>
                      </m:num>
                      <m:den>
                        <m:r>
                          <a:rPr lang="en-US" altLang="zh-CN" sz="2800" b="1" i="1" smtClean="0">
                            <a:latin typeface="Cambria Math"/>
                          </a:rPr>
                          <m:t>𝟑</m:t>
                        </m:r>
                      </m:den>
                    </m:f>
                  </m:oMath>
                </a14:m>
                <a:r>
                  <a:rPr lang="en-US" altLang="zh-CN" sz="2800" b="1" dirty="0" smtClean="0">
                    <a:latin typeface="Times New Roman" pitchFamily="18" charset="0"/>
                    <a:cs typeface="Times New Roman" pitchFamily="18" charset="0"/>
                  </a:rPr>
                  <a:t>)</a:t>
                </a:r>
                <a:endParaRPr lang="zh-CN" altLang="en-US" sz="2800" b="1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54" name="TextBox 5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65169" y="2709949"/>
                <a:ext cx="848309" cy="666914"/>
              </a:xfrm>
              <a:prstGeom prst="rect">
                <a:avLst/>
              </a:prstGeom>
              <a:blipFill rotWithShape="1">
                <a:blip r:embed="rId18"/>
                <a:stretch>
                  <a:fillRect t="-1835" r="-12950" b="-1100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5" name="直接连接符 54"/>
          <p:cNvCxnSpPr>
            <a:endCxn id="54" idx="0"/>
          </p:cNvCxnSpPr>
          <p:nvPr/>
        </p:nvCxnSpPr>
        <p:spPr>
          <a:xfrm flipH="1">
            <a:off x="1789324" y="2153144"/>
            <a:ext cx="487933" cy="556805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接连接符 56"/>
          <p:cNvCxnSpPr/>
          <p:nvPr/>
        </p:nvCxnSpPr>
        <p:spPr>
          <a:xfrm>
            <a:off x="2386479" y="2153144"/>
            <a:ext cx="352555" cy="60346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接连接符 62"/>
          <p:cNvCxnSpPr/>
          <p:nvPr/>
        </p:nvCxnSpPr>
        <p:spPr>
          <a:xfrm flipH="1">
            <a:off x="1698171" y="4414633"/>
            <a:ext cx="529276" cy="679881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接连接符 63"/>
          <p:cNvCxnSpPr/>
          <p:nvPr/>
        </p:nvCxnSpPr>
        <p:spPr>
          <a:xfrm>
            <a:off x="2411316" y="4414633"/>
            <a:ext cx="434927" cy="679881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5" name="TextBox 64"/>
              <p:cNvSpPr txBox="1"/>
              <p:nvPr/>
            </p:nvSpPr>
            <p:spPr>
              <a:xfrm>
                <a:off x="74245" y="2261158"/>
                <a:ext cx="1029449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1" i="1" smtClean="0">
                          <a:latin typeface="Cambria Math"/>
                        </a:rPr>
                        <m:t>𝑻</m:t>
                      </m:r>
                      <m:r>
                        <a:rPr lang="en-US" altLang="zh-CN" sz="2800" b="1" i="1" smtClean="0">
                          <a:latin typeface="Cambria Math"/>
                        </a:rPr>
                        <m:t>(</m:t>
                      </m:r>
                      <m:r>
                        <a:rPr lang="en-US" altLang="zh-CN" sz="2800" b="1" i="1" smtClean="0">
                          <a:latin typeface="Cambria Math"/>
                        </a:rPr>
                        <m:t>𝒏</m:t>
                      </m:r>
                      <m:r>
                        <a:rPr lang="en-US" altLang="zh-CN" sz="2800" b="1" i="1" smtClean="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zh-CN" altLang="en-US" sz="2800" b="1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65" name="TextBox 6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245" y="2261158"/>
                <a:ext cx="1029449" cy="523220"/>
              </a:xfrm>
              <a:prstGeom prst="rect">
                <a:avLst/>
              </a:prstGeom>
              <a:blipFill rotWithShape="1"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6" name="左右箭头 65"/>
          <p:cNvSpPr/>
          <p:nvPr/>
        </p:nvSpPr>
        <p:spPr>
          <a:xfrm>
            <a:off x="954883" y="2389030"/>
            <a:ext cx="671276" cy="270196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7" name="TextBox 66"/>
              <p:cNvSpPr txBox="1"/>
              <p:nvPr/>
            </p:nvSpPr>
            <p:spPr>
              <a:xfrm>
                <a:off x="162075" y="4339037"/>
                <a:ext cx="848309" cy="66691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800" b="1" i="1" smtClean="0">
                        <a:latin typeface="Cambria Math"/>
                      </a:rPr>
                      <m:t>𝑻</m:t>
                    </m:r>
                    <m:r>
                      <a:rPr lang="en-US" altLang="zh-CN" sz="2800" b="1" i="1" smtClean="0">
                        <a:latin typeface="Cambria Math"/>
                      </a:rPr>
                      <m:t>(</m:t>
                    </m:r>
                    <m:f>
                      <m:fPr>
                        <m:ctrlPr>
                          <a:rPr lang="en-US" altLang="zh-CN" sz="2800" b="1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US" altLang="zh-CN" sz="2800" b="1" i="1" smtClean="0">
                            <a:latin typeface="Cambria Math"/>
                          </a:rPr>
                          <m:t>𝒏</m:t>
                        </m:r>
                      </m:num>
                      <m:den>
                        <m:r>
                          <a:rPr lang="en-US" altLang="zh-CN" sz="2800" b="1" i="1" smtClean="0">
                            <a:latin typeface="Cambria Math"/>
                          </a:rPr>
                          <m:t>𝟑</m:t>
                        </m:r>
                      </m:den>
                    </m:f>
                  </m:oMath>
                </a14:m>
                <a:r>
                  <a:rPr lang="en-US" altLang="zh-CN" sz="2800" b="1" dirty="0" smtClean="0">
                    <a:latin typeface="Times New Roman" pitchFamily="18" charset="0"/>
                    <a:cs typeface="Times New Roman" pitchFamily="18" charset="0"/>
                  </a:rPr>
                  <a:t>)</a:t>
                </a:r>
                <a:endParaRPr lang="zh-CN" altLang="en-US" sz="2800" b="1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67" name="TextBox 6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075" y="4339037"/>
                <a:ext cx="848309" cy="666914"/>
              </a:xfrm>
              <a:prstGeom prst="rect">
                <a:avLst/>
              </a:prstGeom>
              <a:blipFill rotWithShape="1">
                <a:blip r:embed="rId20"/>
                <a:stretch>
                  <a:fillRect t="-1835" r="-12950" b="-1100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8" name="左右箭头 67"/>
          <p:cNvSpPr/>
          <p:nvPr/>
        </p:nvSpPr>
        <p:spPr>
          <a:xfrm>
            <a:off x="926890" y="4537396"/>
            <a:ext cx="671276" cy="270196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9" name="TextBox 68"/>
              <p:cNvSpPr txBox="1"/>
              <p:nvPr/>
            </p:nvSpPr>
            <p:spPr>
              <a:xfrm>
                <a:off x="2078279" y="3607169"/>
                <a:ext cx="506869" cy="83638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2800" b="1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altLang="zh-CN" sz="2800" b="1" i="1" smtClean="0">
                              <a:latin typeface="Cambria Math"/>
                            </a:rPr>
                            <m:t>𝒏</m:t>
                          </m:r>
                        </m:num>
                        <m:den>
                          <m:r>
                            <a:rPr lang="en-US" altLang="zh-CN" sz="2800" b="1" i="1" smtClean="0">
                              <a:latin typeface="Cambria Math"/>
                            </a:rPr>
                            <m:t>𝟑</m:t>
                          </m:r>
                        </m:den>
                      </m:f>
                    </m:oMath>
                  </m:oMathPara>
                </a14:m>
                <a:endParaRPr lang="zh-CN" altLang="en-US" sz="2800" b="1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69" name="TextBox 6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78279" y="3607169"/>
                <a:ext cx="506869" cy="836383"/>
              </a:xfrm>
              <a:prstGeom prst="rect">
                <a:avLst/>
              </a:prstGeom>
              <a:blipFill rotWithShape="1"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TextBox 69"/>
              <p:cNvSpPr txBox="1"/>
              <p:nvPr/>
            </p:nvSpPr>
            <p:spPr>
              <a:xfrm>
                <a:off x="2343542" y="4953535"/>
                <a:ext cx="1005403" cy="71468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800" b="1" i="1" smtClean="0">
                        <a:latin typeface="Cambria Math"/>
                      </a:rPr>
                      <m:t>𝑻</m:t>
                    </m:r>
                    <m:r>
                      <a:rPr lang="en-US" altLang="zh-CN" sz="2800" b="1" i="1" smtClean="0">
                        <a:latin typeface="Cambria Math"/>
                      </a:rPr>
                      <m:t>(</m:t>
                    </m:r>
                    <m:f>
                      <m:fPr>
                        <m:ctrlPr>
                          <a:rPr lang="en-US" altLang="zh-CN" sz="2800" b="1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US" altLang="zh-CN" sz="2800" b="1" i="1" smtClean="0">
                            <a:latin typeface="Cambria Math"/>
                          </a:rPr>
                          <m:t>𝟐</m:t>
                        </m:r>
                        <m:r>
                          <a:rPr lang="en-US" altLang="zh-CN" sz="2800" b="1" i="1" smtClean="0">
                            <a:latin typeface="Cambria Math"/>
                          </a:rPr>
                          <m:t>𝒏</m:t>
                        </m:r>
                      </m:num>
                      <m:den>
                        <m:r>
                          <a:rPr lang="en-US" altLang="zh-CN" sz="2800" b="1" i="1" smtClean="0">
                            <a:latin typeface="Cambria Math"/>
                          </a:rPr>
                          <m:t>𝟗</m:t>
                        </m:r>
                      </m:den>
                    </m:f>
                  </m:oMath>
                </a14:m>
                <a:r>
                  <a:rPr lang="en-US" altLang="zh-CN" sz="2800" b="1" dirty="0" smtClean="0">
                    <a:latin typeface="Times New Roman" pitchFamily="18" charset="0"/>
                    <a:cs typeface="Times New Roman" pitchFamily="18" charset="0"/>
                  </a:rPr>
                  <a:t>)</a:t>
                </a:r>
                <a:endParaRPr lang="zh-CN" altLang="en-US" sz="2800" b="1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70" name="TextBox 6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43542" y="4953535"/>
                <a:ext cx="1005403" cy="714683"/>
              </a:xfrm>
              <a:prstGeom prst="rect">
                <a:avLst/>
              </a:prstGeom>
              <a:blipFill rotWithShape="1">
                <a:blip r:embed="rId22"/>
                <a:stretch>
                  <a:fillRect r="-11515" b="-940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TextBox 70"/>
              <p:cNvSpPr txBox="1"/>
              <p:nvPr/>
            </p:nvSpPr>
            <p:spPr>
              <a:xfrm>
                <a:off x="1412236" y="4979378"/>
                <a:ext cx="848309" cy="66691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800" b="1" i="1" smtClean="0">
                        <a:latin typeface="Cambria Math"/>
                      </a:rPr>
                      <m:t>𝑻</m:t>
                    </m:r>
                    <m:r>
                      <a:rPr lang="en-US" altLang="zh-CN" sz="2800" b="1" i="1" smtClean="0">
                        <a:latin typeface="Cambria Math"/>
                      </a:rPr>
                      <m:t>(</m:t>
                    </m:r>
                    <m:f>
                      <m:fPr>
                        <m:ctrlPr>
                          <a:rPr lang="en-US" altLang="zh-CN" sz="2800" b="1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US" altLang="zh-CN" sz="2800" b="1" i="1" smtClean="0">
                            <a:latin typeface="Cambria Math"/>
                          </a:rPr>
                          <m:t>𝒏</m:t>
                        </m:r>
                      </m:num>
                      <m:den>
                        <m:r>
                          <a:rPr lang="en-US" altLang="zh-CN" sz="2800" b="1" i="1" smtClean="0">
                            <a:latin typeface="Cambria Math"/>
                          </a:rPr>
                          <m:t>𝟗</m:t>
                        </m:r>
                      </m:den>
                    </m:f>
                  </m:oMath>
                </a14:m>
                <a:r>
                  <a:rPr lang="en-US" altLang="zh-CN" sz="2800" b="1" dirty="0" smtClean="0">
                    <a:latin typeface="Times New Roman" pitchFamily="18" charset="0"/>
                    <a:cs typeface="Times New Roman" pitchFamily="18" charset="0"/>
                  </a:rPr>
                  <a:t>)</a:t>
                </a:r>
                <a:endParaRPr lang="zh-CN" altLang="en-US" sz="2800" b="1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71" name="TextBox 7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2236" y="4979378"/>
                <a:ext cx="848309" cy="666914"/>
              </a:xfrm>
              <a:prstGeom prst="rect">
                <a:avLst/>
              </a:prstGeom>
              <a:blipFill rotWithShape="1">
                <a:blip r:embed="rId23"/>
                <a:stretch>
                  <a:fillRect t="-1835" r="-12950" b="-1100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993298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1" grpId="0"/>
      <p:bldP spid="12" grpId="0"/>
      <p:bldP spid="22" grpId="0"/>
      <p:bldP spid="23" grpId="0"/>
      <p:bldP spid="31" grpId="0"/>
      <p:bldP spid="32" grpId="0"/>
      <p:bldP spid="33" grpId="0" animBg="1"/>
      <p:bldP spid="34" grpId="0" animBg="1"/>
      <p:bldP spid="35" grpId="0"/>
      <p:bldP spid="36" grpId="0"/>
      <p:bldP spid="37" grpId="0"/>
      <p:bldP spid="38" grpId="0"/>
      <p:bldP spid="39" grpId="0"/>
      <p:bldP spid="40" grpId="0"/>
      <p:bldP spid="51" grpId="0"/>
      <p:bldP spid="53" grpId="0"/>
      <p:bldP spid="54" grpId="0"/>
      <p:bldP spid="65" grpId="0"/>
      <p:bldP spid="66" grpId="0" animBg="1"/>
      <p:bldP spid="67" grpId="0"/>
      <p:bldP spid="68" grpId="0" animBg="1"/>
      <p:bldP spid="69" grpId="0"/>
      <p:bldP spid="70" grpId="0"/>
      <p:bldP spid="71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407108" y="139728"/>
            <a:ext cx="8886181" cy="746672"/>
          </a:xfrm>
        </p:spPr>
        <p:txBody>
          <a:bodyPr>
            <a:normAutofit/>
          </a:bodyPr>
          <a:lstStyle/>
          <a:p>
            <a:pPr algn="ctr"/>
            <a:r>
              <a:rPr lang="zh-CN" altLang="en-US" sz="4400" b="1" dirty="0" smtClean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求和</a:t>
            </a:r>
            <a:endParaRPr lang="zh-CN" altLang="en-US" sz="4400" b="1" dirty="0">
              <a:solidFill>
                <a:srgbClr val="C00000"/>
              </a:solidFill>
              <a:latin typeface="黑体" pitchFamily="49" charset="-122"/>
              <a:ea typeface="黑体" pitchFamily="49" charset="-122"/>
            </a:endParaRPr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4294967295"/>
          </p:nvPr>
        </p:nvPicPr>
        <p:blipFill rotWithShape="1">
          <a:blip r:embed="rId2"/>
          <a:srcRect b="72416"/>
          <a:stretch/>
        </p:blipFill>
        <p:spPr>
          <a:xfrm>
            <a:off x="1156473" y="1054580"/>
            <a:ext cx="5397389" cy="1134143"/>
          </a:xfrm>
          <a:prstGeom prst="rect">
            <a:avLst/>
          </a:prstGeom>
        </p:spPr>
      </p:pic>
      <p:pic>
        <p:nvPicPr>
          <p:cNvPr id="5" name="内容占位符 3"/>
          <p:cNvPicPr>
            <a:picLocks noChangeAspect="1"/>
          </p:cNvPicPr>
          <p:nvPr/>
        </p:nvPicPr>
        <p:blipFill rotWithShape="1">
          <a:blip r:embed="rId2"/>
          <a:srcRect t="35557" b="52642"/>
          <a:stretch/>
        </p:blipFill>
        <p:spPr>
          <a:xfrm>
            <a:off x="1706913" y="2295330"/>
            <a:ext cx="5397389" cy="485193"/>
          </a:xfrm>
          <a:prstGeom prst="rect">
            <a:avLst/>
          </a:prstGeom>
        </p:spPr>
      </p:pic>
      <p:pic>
        <p:nvPicPr>
          <p:cNvPr id="6" name="内容占位符 3"/>
          <p:cNvPicPr>
            <a:picLocks noChangeAspect="1"/>
          </p:cNvPicPr>
          <p:nvPr/>
        </p:nvPicPr>
        <p:blipFill rotWithShape="1">
          <a:blip r:embed="rId2"/>
          <a:srcRect t="48189" b="39696"/>
          <a:stretch/>
        </p:blipFill>
        <p:spPr>
          <a:xfrm>
            <a:off x="1943289" y="3247054"/>
            <a:ext cx="5397389" cy="498096"/>
          </a:xfrm>
          <a:prstGeom prst="rect">
            <a:avLst/>
          </a:prstGeom>
        </p:spPr>
      </p:pic>
      <p:pic>
        <p:nvPicPr>
          <p:cNvPr id="7" name="内容占位符 3"/>
          <p:cNvPicPr>
            <a:picLocks noChangeAspect="1"/>
          </p:cNvPicPr>
          <p:nvPr/>
        </p:nvPicPr>
        <p:blipFill rotWithShape="1">
          <a:blip r:embed="rId2"/>
          <a:srcRect t="59815" b="24333"/>
          <a:stretch/>
        </p:blipFill>
        <p:spPr>
          <a:xfrm>
            <a:off x="1943289" y="3959159"/>
            <a:ext cx="5397389" cy="651752"/>
          </a:xfrm>
          <a:prstGeom prst="rect">
            <a:avLst/>
          </a:prstGeom>
        </p:spPr>
      </p:pic>
      <p:pic>
        <p:nvPicPr>
          <p:cNvPr id="8" name="内容占位符 3"/>
          <p:cNvPicPr>
            <a:picLocks noChangeAspect="1"/>
          </p:cNvPicPr>
          <p:nvPr/>
        </p:nvPicPr>
        <p:blipFill rotWithShape="1">
          <a:blip r:embed="rId2"/>
          <a:srcRect t="86547"/>
          <a:stretch/>
        </p:blipFill>
        <p:spPr>
          <a:xfrm>
            <a:off x="1743082" y="4898552"/>
            <a:ext cx="5397389" cy="553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43487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397788" y="158396"/>
            <a:ext cx="8895501" cy="746672"/>
          </a:xfrm>
        </p:spPr>
        <p:txBody>
          <a:bodyPr>
            <a:normAutofit/>
          </a:bodyPr>
          <a:lstStyle/>
          <a:p>
            <a:pPr algn="ctr"/>
            <a:r>
              <a:rPr lang="zh-CN" altLang="en-US" sz="4400" b="1" dirty="0" smtClean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小结</a:t>
            </a:r>
            <a:endParaRPr lang="zh-CN" altLang="en-US" sz="4400" b="1" dirty="0">
              <a:solidFill>
                <a:srgbClr val="C00000"/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388459" y="1333161"/>
            <a:ext cx="8895500" cy="4111612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dirty="0" smtClean="0">
                <a:latin typeface="黑体" pitchFamily="49" charset="-122"/>
                <a:ea typeface="黑体" pitchFamily="49" charset="-122"/>
              </a:rPr>
              <a:t>递归树是迭代的图形表达</a:t>
            </a:r>
            <a:endParaRPr lang="en-US" altLang="zh-CN" sz="2800" dirty="0" smtClean="0">
              <a:latin typeface="黑体" pitchFamily="49" charset="-122"/>
              <a:ea typeface="黑体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dirty="0">
                <a:latin typeface="黑体" pitchFamily="49" charset="-122"/>
                <a:ea typeface="黑体" pitchFamily="49" charset="-122"/>
              </a:rPr>
              <a:t>递归</a:t>
            </a:r>
            <a:r>
              <a:rPr lang="zh-CN" altLang="en-US" sz="2800" dirty="0" smtClean="0">
                <a:latin typeface="黑体" pitchFamily="49" charset="-122"/>
                <a:ea typeface="黑体" pitchFamily="49" charset="-122"/>
              </a:rPr>
              <a:t>树的生成规则</a:t>
            </a:r>
            <a:endParaRPr lang="en-US" altLang="zh-CN" sz="2800" dirty="0" smtClean="0">
              <a:latin typeface="黑体" pitchFamily="49" charset="-122"/>
              <a:ea typeface="黑体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dirty="0" smtClean="0">
                <a:latin typeface="黑体" pitchFamily="49" charset="-122"/>
                <a:ea typeface="黑体" pitchFamily="49" charset="-122"/>
              </a:rPr>
              <a:t>如何利用递归树求解递推方程？</a:t>
            </a:r>
            <a:endParaRPr lang="zh-CN" altLang="en-US" sz="2800" dirty="0">
              <a:latin typeface="黑体" pitchFamily="49" charset="-122"/>
              <a:ea typeface="黑体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592644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373225" y="2077748"/>
            <a:ext cx="8901404" cy="1252534"/>
          </a:xfrm>
        </p:spPr>
        <p:txBody>
          <a:bodyPr>
            <a:normAutofit/>
          </a:bodyPr>
          <a:lstStyle/>
          <a:p>
            <a:pPr algn="ctr"/>
            <a:r>
              <a:rPr lang="zh-CN" altLang="en-US" sz="6600" b="1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主定理及其证明</a:t>
            </a:r>
          </a:p>
        </p:txBody>
      </p:sp>
    </p:spTree>
    <p:extLst>
      <p:ext uri="{BB962C8B-B14F-4D97-AF65-F5344CB8AC3E}">
        <p14:creationId xmlns:p14="http://schemas.microsoft.com/office/powerpoint/2010/main" val="6944687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391886" y="220208"/>
            <a:ext cx="8920065" cy="694192"/>
          </a:xfrm>
        </p:spPr>
        <p:txBody>
          <a:bodyPr>
            <a:noAutofit/>
          </a:bodyPr>
          <a:lstStyle/>
          <a:p>
            <a:pPr algn="ctr"/>
            <a:r>
              <a:rPr lang="zh-CN" altLang="en-US" sz="4400" b="1" dirty="0" smtClean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主定理的应用背景</a:t>
            </a:r>
            <a:endParaRPr lang="zh-CN" altLang="en-US" sz="4400" b="1" dirty="0">
              <a:solidFill>
                <a:srgbClr val="C00000"/>
              </a:solidFill>
              <a:latin typeface="黑体" pitchFamily="49" charset="-122"/>
              <a:ea typeface="黑体" pitchFamily="49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7821" y="1268962"/>
            <a:ext cx="6234677" cy="4469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8014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363894" y="307686"/>
            <a:ext cx="8929396" cy="569390"/>
          </a:xfrm>
        </p:spPr>
        <p:txBody>
          <a:bodyPr>
            <a:noAutofit/>
          </a:bodyPr>
          <a:lstStyle/>
          <a:p>
            <a:pPr algn="ctr"/>
            <a:r>
              <a:rPr lang="zh-CN" altLang="en-US" sz="4400" b="1" dirty="0" smtClean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主定理</a:t>
            </a:r>
            <a:endParaRPr lang="zh-CN" altLang="en-US" sz="4400" b="1" dirty="0">
              <a:solidFill>
                <a:srgbClr val="C00000"/>
              </a:solidFill>
              <a:latin typeface="黑体" pitchFamily="49" charset="-122"/>
              <a:ea typeface="黑体" pitchFamily="49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/>
              <p:cNvSpPr txBox="1"/>
              <p:nvPr/>
            </p:nvSpPr>
            <p:spPr>
              <a:xfrm>
                <a:off x="429381" y="1243924"/>
                <a:ext cx="8882570" cy="946482"/>
              </a:xfrm>
              <a:prstGeom prst="rect">
                <a:avLst/>
              </a:prstGeom>
              <a:noFill/>
            </p:spPr>
            <p:txBody>
              <a:bodyPr wrap="square" lIns="83887" tIns="41944" rIns="83887" bIns="41944" rtlCol="0">
                <a:spAutoFit/>
              </a:bodyPr>
              <a:lstStyle/>
              <a:p>
                <a:pPr algn="just"/>
                <a:r>
                  <a:rPr lang="zh-CN" altLang="en-US" sz="2800" b="1" dirty="0" smtClean="0">
                    <a:solidFill>
                      <a:srgbClr val="C00000"/>
                    </a:solidFill>
                  </a:rPr>
                  <a:t>定理</a:t>
                </a:r>
                <a:r>
                  <a:rPr lang="zh-CN" altLang="en-US" sz="2800" dirty="0" smtClean="0"/>
                  <a:t>：</a:t>
                </a:r>
                <a:r>
                  <a:rPr lang="zh-CN" altLang="en-US" sz="2800" b="1" dirty="0"/>
                  <a:t>设</a:t>
                </a:r>
                <a14:m>
                  <m:oMath xmlns:m="http://schemas.openxmlformats.org/officeDocument/2006/math">
                    <m:r>
                      <a:rPr lang="en-US" altLang="zh-CN" sz="2800" b="1" i="1" dirty="0"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altLang="zh-CN" sz="2800" b="1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US" altLang="zh-CN" sz="2800" b="1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𝟏</m:t>
                    </m:r>
                    <m:r>
                      <a:rPr lang="en-US" altLang="zh-CN" sz="2800" b="1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a:rPr lang="en-US" altLang="zh-CN" sz="2800" b="1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𝒃</m:t>
                    </m:r>
                    <m:r>
                      <a:rPr lang="en-US" altLang="zh-CN" sz="2800" b="1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US" altLang="zh-CN" sz="2800" b="1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zh-CN" altLang="en-US" sz="2800" b="1" dirty="0"/>
                  <a:t> 为常数，</a:t>
                </a:r>
                <a14:m>
                  <m:oMath xmlns:m="http://schemas.openxmlformats.org/officeDocument/2006/math">
                    <m:r>
                      <a:rPr lang="en-US" altLang="zh-CN" sz="2800" b="1" i="1" dirty="0">
                        <a:latin typeface="Cambria Math" panose="02040503050406030204" pitchFamily="18" charset="0"/>
                      </a:rPr>
                      <m:t>𝒇</m:t>
                    </m:r>
                    <m:r>
                      <a:rPr lang="en-US" altLang="zh-CN" sz="2800" b="1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800" b="1" i="1" dirty="0"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altLang="zh-CN" sz="2800" b="1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800" b="1" dirty="0"/>
                  <a:t>为函数，</a:t>
                </a:r>
                <a:r>
                  <a:rPr lang="en-US" altLang="zh-CN" sz="2800" b="1" dirty="0"/>
                  <a:t> </a:t>
                </a:r>
                <a14:m>
                  <m:oMath xmlns:m="http://schemas.openxmlformats.org/officeDocument/2006/math">
                    <m:r>
                      <a:rPr lang="en-US" altLang="zh-CN" sz="2800" b="1" i="1" dirty="0">
                        <a:latin typeface="Cambria Math" panose="02040503050406030204" pitchFamily="18" charset="0"/>
                      </a:rPr>
                      <m:t>𝐓</m:t>
                    </m:r>
                    <m:r>
                      <a:rPr lang="en-US" altLang="zh-CN" sz="2800" b="1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800" b="1" i="1" dirty="0"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altLang="zh-CN" sz="2800" b="1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800" b="1" dirty="0"/>
                  <a:t>为非负整数，且</a:t>
                </a:r>
                <a14:m>
                  <m:oMath xmlns:m="http://schemas.openxmlformats.org/officeDocument/2006/math">
                    <m:r>
                      <a:rPr lang="en-US" altLang="zh-CN" sz="2800" b="1" i="1" dirty="0">
                        <a:latin typeface="Cambria Math" panose="02040503050406030204" pitchFamily="18" charset="0"/>
                      </a:rPr>
                      <m:t>𝐓</m:t>
                    </m:r>
                    <m:d>
                      <m:dPr>
                        <m:ctrlPr>
                          <a:rPr lang="en-US" altLang="zh-CN" sz="2800" b="1" i="1" dirty="0">
                            <a:latin typeface="Cambria Math"/>
                          </a:rPr>
                        </m:ctrlPr>
                      </m:dPr>
                      <m:e>
                        <m:r>
                          <a:rPr lang="en-US" altLang="zh-CN" sz="2800" b="1" i="1" dirty="0"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</m:d>
                    <m:r>
                      <a:rPr lang="en-US" altLang="zh-CN" sz="2800" b="1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800" b="1" i="1" dirty="0">
                        <a:latin typeface="Cambria Math" panose="02040503050406030204" pitchFamily="18" charset="0"/>
                      </a:rPr>
                      <m:t>𝒂𝑻</m:t>
                    </m:r>
                    <m:d>
                      <m:dPr>
                        <m:ctrlPr>
                          <a:rPr lang="en-US" altLang="zh-CN" sz="2800" b="1" i="1" dirty="0">
                            <a:latin typeface="Cambria Math"/>
                          </a:rPr>
                        </m:ctrlPr>
                      </m:dPr>
                      <m:e>
                        <m:f>
                          <m:fPr>
                            <m:type m:val="lin"/>
                            <m:ctrlPr>
                              <a:rPr lang="en-US" altLang="zh-CN" sz="2800" b="1" i="1" dirty="0">
                                <a:latin typeface="Cambria Math"/>
                              </a:rPr>
                            </m:ctrlPr>
                          </m:fPr>
                          <m:num>
                            <m:r>
                              <a:rPr lang="en-US" altLang="zh-CN" sz="2800" b="1" i="1" dirty="0">
                                <a:latin typeface="Cambria Math" panose="02040503050406030204" pitchFamily="18" charset="0"/>
                              </a:rPr>
                              <m:t>𝒏</m:t>
                            </m:r>
                          </m:num>
                          <m:den>
                            <m:r>
                              <a:rPr lang="en-US" altLang="zh-CN" sz="2800" b="1" i="1" dirty="0">
                                <a:latin typeface="Cambria Math" panose="02040503050406030204" pitchFamily="18" charset="0"/>
                              </a:rPr>
                              <m:t>𝒃</m:t>
                            </m:r>
                          </m:den>
                        </m:f>
                      </m:e>
                    </m:d>
                    <m:r>
                      <a:rPr lang="en-US" altLang="zh-CN" sz="2800" b="1" i="1" dirty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800" b="1" i="1" dirty="0">
                        <a:latin typeface="Cambria Math" panose="02040503050406030204" pitchFamily="18" charset="0"/>
                      </a:rPr>
                      <m:t>𝒇</m:t>
                    </m:r>
                    <m:r>
                      <a:rPr lang="en-US" altLang="zh-CN" sz="2800" b="1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800" b="1" i="1" dirty="0"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altLang="zh-CN" sz="2800" b="1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800" b="1" dirty="0"/>
                  <a:t>，则</a:t>
                </a:r>
              </a:p>
            </p:txBody>
          </p:sp>
        </mc:Choice>
        <mc:Fallback xmlns=""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9381" y="1243924"/>
                <a:ext cx="8882570" cy="946482"/>
              </a:xfrm>
              <a:prstGeom prst="rect">
                <a:avLst/>
              </a:prstGeom>
              <a:blipFill rotWithShape="1">
                <a:blip r:embed="rId2"/>
                <a:stretch>
                  <a:fillRect l="-1440" t="-7097" r="-1440" b="-1741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/>
              <p:cNvSpPr txBox="1"/>
              <p:nvPr/>
            </p:nvSpPr>
            <p:spPr>
              <a:xfrm>
                <a:off x="429381" y="2395328"/>
                <a:ext cx="6376875" cy="501553"/>
              </a:xfrm>
              <a:prstGeom prst="rect">
                <a:avLst/>
              </a:prstGeom>
              <a:noFill/>
            </p:spPr>
            <p:txBody>
              <a:bodyPr wrap="square" lIns="83887" tIns="41944" rIns="83887" bIns="41944" rtlCol="0">
                <a:spAutoFit/>
              </a:bodyPr>
              <a:lstStyle/>
              <a:p>
                <a:r>
                  <a:rPr lang="en-US" altLang="zh-CN" sz="2400" b="1" dirty="0" smtClean="0"/>
                  <a:t>1. </a:t>
                </a:r>
                <a:r>
                  <a:rPr lang="zh-CN" altLang="en-US" sz="2400" b="1" dirty="0"/>
                  <a:t>若</a:t>
                </a:r>
                <a14:m>
                  <m:oMath xmlns:m="http://schemas.openxmlformats.org/officeDocument/2006/math">
                    <m:r>
                      <a:rPr lang="en-US" altLang="zh-CN" sz="2400" b="1" i="1" dirty="0">
                        <a:latin typeface="Cambria Math" panose="02040503050406030204" pitchFamily="18" charset="0"/>
                      </a:rPr>
                      <m:t>𝒇</m:t>
                    </m:r>
                    <m:d>
                      <m:dPr>
                        <m:ctrlPr>
                          <a:rPr lang="en-US" altLang="zh-CN" sz="2400" b="1" i="1" dirty="0">
                            <a:latin typeface="Cambria Math"/>
                          </a:rPr>
                        </m:ctrlPr>
                      </m:dPr>
                      <m:e>
                        <m:r>
                          <a:rPr lang="en-US" altLang="zh-CN" sz="2400" b="1" i="1" dirty="0"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</m:d>
                    <m:r>
                      <a:rPr lang="en-US" altLang="zh-CN" sz="2400" b="1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b="1" i="1" dirty="0">
                        <a:latin typeface="Cambria Math" panose="02040503050406030204" pitchFamily="18" charset="0"/>
                      </a:rPr>
                      <m:t>𝑶</m:t>
                    </m:r>
                    <m:d>
                      <m:dPr>
                        <m:ctrlPr>
                          <a:rPr lang="en-US" altLang="zh-CN" sz="2400" b="1" i="1" dirty="0">
                            <a:latin typeface="Cambria Math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sz="2400" b="1" i="1" dirty="0"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a:rPr lang="en-US" altLang="zh-CN" sz="2400" b="1" i="1" dirty="0">
                                <a:latin typeface="Cambria Math" panose="02040503050406030204" pitchFamily="18" charset="0"/>
                              </a:rPr>
                              <m:t>𝒏</m:t>
                            </m:r>
                          </m:e>
                          <m:sup>
                            <m:func>
                              <m:funcPr>
                                <m:ctrlPr>
                                  <a:rPr lang="en-US" altLang="zh-CN" sz="2400" b="1" i="1" dirty="0">
                                    <a:latin typeface="Cambria Math"/>
                                  </a:rPr>
                                </m:ctrlPr>
                              </m:funcPr>
                              <m:fName>
                                <m:sSub>
                                  <m:sSubPr>
                                    <m:ctrlPr>
                                      <a:rPr lang="en-US" altLang="zh-CN" sz="2400" b="1" i="1" dirty="0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400" b="1" i="1" dirty="0">
                                        <a:latin typeface="Cambria Math" panose="02040503050406030204" pitchFamily="18" charset="0"/>
                                      </a:rPr>
                                      <m:t>𝐥𝐨𝐠</m:t>
                                    </m:r>
                                  </m:e>
                                  <m:sub>
                                    <m:r>
                                      <a:rPr lang="en-US" altLang="zh-CN" sz="2400" b="1" i="1" dirty="0">
                                        <a:latin typeface="Cambria Math" panose="02040503050406030204" pitchFamily="18" charset="0"/>
                                      </a:rPr>
                                      <m:t>𝒃</m:t>
                                    </m:r>
                                  </m:sub>
                                </m:sSub>
                              </m:fName>
                              <m:e>
                                <m:r>
                                  <a:rPr lang="en-US" altLang="zh-CN" sz="2400" b="1" i="1" dirty="0">
                                    <a:latin typeface="Cambria Math" panose="02040503050406030204" pitchFamily="18" charset="0"/>
                                  </a:rPr>
                                  <m:t>𝒂</m:t>
                                </m:r>
                              </m:e>
                            </m:func>
                            <m:r>
                              <a:rPr lang="en-US" altLang="zh-CN" sz="2400" b="1" i="1" dirty="0" smtClean="0">
                                <a:latin typeface="Cambria Math"/>
                              </a:rPr>
                              <m:t> </m:t>
                            </m:r>
                            <m:r>
                              <a:rPr lang="en-US" altLang="zh-CN" sz="2400" b="1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zh-CN" altLang="en-US" sz="2400" b="1" i="1" dirty="0">
                                <a:latin typeface="Cambria Math" panose="02040503050406030204" pitchFamily="18" charset="0"/>
                              </a:rPr>
                              <m:t>𝜺</m:t>
                            </m:r>
                          </m:sup>
                        </m:sSup>
                      </m:e>
                    </m:d>
                    <m:r>
                      <a:rPr lang="zh-CN" altLang="en-US" sz="2400" b="1" i="1" dirty="0">
                        <a:latin typeface="Cambria Math" panose="02040503050406030204" pitchFamily="18" charset="0"/>
                      </a:rPr>
                      <m:t>，</m:t>
                    </m:r>
                    <m:r>
                      <a:rPr lang="zh-CN" altLang="en-US" sz="2400" b="1" i="1" dirty="0">
                        <a:latin typeface="Cambria Math" panose="02040503050406030204" pitchFamily="18" charset="0"/>
                      </a:rPr>
                      <m:t>𝜺</m:t>
                    </m:r>
                    <m:r>
                      <a:rPr lang="en-US" altLang="zh-CN" sz="2400" b="1" i="1" dirty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altLang="zh-CN" sz="2400" b="1" i="1" dirty="0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zh-CN" altLang="en-US" sz="2400" b="1" dirty="0"/>
                  <a:t>，那么</a:t>
                </a:r>
              </a:p>
            </p:txBody>
          </p:sp>
        </mc:Choice>
        <mc:Fallback xmlns="">
          <p:sp>
            <p:nvSpPr>
              <p:cNvPr id="5" name="文本框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9381" y="2395328"/>
                <a:ext cx="6376875" cy="501553"/>
              </a:xfrm>
              <a:prstGeom prst="rect">
                <a:avLst/>
              </a:prstGeom>
              <a:blipFill rotWithShape="1">
                <a:blip r:embed="rId3"/>
                <a:stretch>
                  <a:fillRect l="-1528" t="-3659" b="-2561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/>
              <p:cNvSpPr/>
              <p:nvPr/>
            </p:nvSpPr>
            <p:spPr>
              <a:xfrm>
                <a:off x="2666224" y="2874424"/>
                <a:ext cx="2663237" cy="501553"/>
              </a:xfrm>
              <a:prstGeom prst="rect">
                <a:avLst/>
              </a:prstGeom>
            </p:spPr>
            <p:txBody>
              <a:bodyPr wrap="none" lIns="83887" tIns="41944" rIns="83887" bIns="41944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1" i="1" dirty="0">
                          <a:latin typeface="Cambria Math" panose="02040503050406030204" pitchFamily="18" charset="0"/>
                        </a:rPr>
                        <m:t>𝑻</m:t>
                      </m:r>
                      <m:d>
                        <m:dPr>
                          <m:ctrlPr>
                            <a:rPr lang="en-US" altLang="zh-CN" sz="2400" b="1" i="1" dirty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altLang="zh-CN" sz="2400" b="1" i="1" dirty="0"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</m:d>
                      <m:r>
                        <a:rPr lang="en-US" altLang="zh-CN" sz="2400" b="1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l-GR" altLang="zh-CN" sz="2400" b="1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𝜣</m:t>
                      </m:r>
                      <m:d>
                        <m:dPr>
                          <m:ctrlPr>
                            <a:rPr lang="en-US" altLang="zh-CN" sz="2400" b="1" i="1" dirty="0">
                              <a:latin typeface="Cambria Math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sz="2400" b="1" i="1" dirty="0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US" altLang="zh-CN" sz="2400" b="1" i="1" dirty="0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e>
                            <m:sup>
                              <m:func>
                                <m:funcPr>
                                  <m:ctrlPr>
                                    <a:rPr lang="en-US" altLang="zh-CN" sz="2400" b="1" i="1" dirty="0">
                                      <a:latin typeface="Cambria Math"/>
                                    </a:rPr>
                                  </m:ctrlPr>
                                </m:funcPr>
                                <m:fName>
                                  <m:sSub>
                                    <m:sSubPr>
                                      <m:ctrlPr>
                                        <a:rPr lang="en-US" altLang="zh-CN" sz="2400" b="1" i="1" dirty="0">
                                          <a:latin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400" b="1" i="1" dirty="0">
                                          <a:latin typeface="Cambria Math" panose="02040503050406030204" pitchFamily="18" charset="0"/>
                                        </a:rPr>
                                        <m:t>𝐥𝐨𝐠</m:t>
                                      </m:r>
                                    </m:e>
                                    <m:sub>
                                      <m:r>
                                        <a:rPr lang="en-US" altLang="zh-CN" sz="2400" b="1" i="1" dirty="0">
                                          <a:latin typeface="Cambria Math" panose="02040503050406030204" pitchFamily="18" charset="0"/>
                                        </a:rPr>
                                        <m:t>𝒃</m:t>
                                      </m:r>
                                    </m:sub>
                                  </m:sSub>
                                </m:fName>
                                <m:e>
                                  <m:r>
                                    <a:rPr lang="en-US" altLang="zh-CN" sz="2400" b="1" i="1" dirty="0">
                                      <a:latin typeface="Cambria Math" panose="02040503050406030204" pitchFamily="18" charset="0"/>
                                    </a:rPr>
                                    <m:t>𝒂</m:t>
                                  </m:r>
                                </m:e>
                              </m:func>
                            </m:sup>
                          </m:sSup>
                        </m:e>
                      </m:d>
                    </m:oMath>
                  </m:oMathPara>
                </a14:m>
                <a:endParaRPr lang="zh-CN" altLang="en-US" sz="2400" b="1" dirty="0"/>
              </a:p>
            </p:txBody>
          </p:sp>
        </mc:Choice>
        <mc:Fallback xmlns="">
          <p:sp>
            <p:nvSpPr>
              <p:cNvPr id="6" name="矩形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6224" y="2874424"/>
                <a:ext cx="2663237" cy="501553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/>
              <p:cNvSpPr txBox="1"/>
              <p:nvPr/>
            </p:nvSpPr>
            <p:spPr>
              <a:xfrm>
                <a:off x="429381" y="3519938"/>
                <a:ext cx="7225961" cy="501553"/>
              </a:xfrm>
              <a:prstGeom prst="rect">
                <a:avLst/>
              </a:prstGeom>
              <a:noFill/>
            </p:spPr>
            <p:txBody>
              <a:bodyPr wrap="square" lIns="83887" tIns="41944" rIns="83887" bIns="41944" rtlCol="0">
                <a:spAutoFit/>
              </a:bodyPr>
              <a:lstStyle/>
              <a:p>
                <a:r>
                  <a:rPr lang="en-US" altLang="zh-CN" sz="2400" b="1" dirty="0"/>
                  <a:t>2. </a:t>
                </a:r>
                <a:r>
                  <a:rPr lang="zh-CN" altLang="en-US" sz="2400" b="1" dirty="0"/>
                  <a:t>若</a:t>
                </a:r>
                <a14:m>
                  <m:oMath xmlns:m="http://schemas.openxmlformats.org/officeDocument/2006/math">
                    <m:r>
                      <a:rPr lang="en-US" altLang="zh-CN" sz="2400" b="1" i="1" dirty="0">
                        <a:latin typeface="Cambria Math" panose="02040503050406030204" pitchFamily="18" charset="0"/>
                      </a:rPr>
                      <m:t>𝒇</m:t>
                    </m:r>
                    <m:d>
                      <m:dPr>
                        <m:ctrlPr>
                          <a:rPr lang="en-US" altLang="zh-CN" sz="2400" b="1" i="1" dirty="0">
                            <a:latin typeface="Cambria Math"/>
                          </a:rPr>
                        </m:ctrlPr>
                      </m:dPr>
                      <m:e>
                        <m:r>
                          <a:rPr lang="en-US" altLang="zh-CN" sz="2400" b="1" i="1" dirty="0"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</m:d>
                    <m:r>
                      <a:rPr lang="en-US" altLang="zh-CN" sz="2400" b="1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l-GR" altLang="zh-CN" sz="2400" b="1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𝜣</m:t>
                    </m:r>
                    <m:d>
                      <m:dPr>
                        <m:ctrlPr>
                          <a:rPr lang="en-US" altLang="zh-CN" sz="2400" b="1" i="1" dirty="0">
                            <a:latin typeface="Cambria Math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sz="2400" b="1" i="1" dirty="0"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a:rPr lang="en-US" altLang="zh-CN" sz="2400" b="1" i="1" dirty="0">
                                <a:latin typeface="Cambria Math" panose="02040503050406030204" pitchFamily="18" charset="0"/>
                              </a:rPr>
                              <m:t>𝒏</m:t>
                            </m:r>
                          </m:e>
                          <m:sup>
                            <m:func>
                              <m:funcPr>
                                <m:ctrlPr>
                                  <a:rPr lang="en-US" altLang="zh-CN" sz="2400" b="1" i="1" dirty="0">
                                    <a:latin typeface="Cambria Math"/>
                                  </a:rPr>
                                </m:ctrlPr>
                              </m:funcPr>
                              <m:fName>
                                <m:sSub>
                                  <m:sSubPr>
                                    <m:ctrlPr>
                                      <a:rPr lang="en-US" altLang="zh-CN" sz="2400" b="1" i="1" dirty="0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400" b="1" i="1" dirty="0">
                                        <a:latin typeface="Cambria Math" panose="02040503050406030204" pitchFamily="18" charset="0"/>
                                      </a:rPr>
                                      <m:t>𝐥𝐨𝐠</m:t>
                                    </m:r>
                                  </m:e>
                                  <m:sub>
                                    <m:r>
                                      <a:rPr lang="en-US" altLang="zh-CN" sz="2400" b="1" i="1" dirty="0">
                                        <a:latin typeface="Cambria Math" panose="02040503050406030204" pitchFamily="18" charset="0"/>
                                      </a:rPr>
                                      <m:t>𝒃</m:t>
                                    </m:r>
                                  </m:sub>
                                </m:sSub>
                              </m:fName>
                              <m:e>
                                <m:r>
                                  <a:rPr lang="en-US" altLang="zh-CN" sz="2400" b="1" i="1" dirty="0">
                                    <a:latin typeface="Cambria Math" panose="02040503050406030204" pitchFamily="18" charset="0"/>
                                  </a:rPr>
                                  <m:t>𝒂</m:t>
                                </m:r>
                              </m:e>
                            </m:func>
                          </m:sup>
                        </m:sSup>
                      </m:e>
                    </m:d>
                  </m:oMath>
                </a14:m>
                <a:r>
                  <a:rPr lang="zh-CN" altLang="en-US" sz="2400" b="1" dirty="0"/>
                  <a:t>，那么</a:t>
                </a:r>
              </a:p>
            </p:txBody>
          </p:sp>
        </mc:Choice>
        <mc:Fallback xmlns="">
          <p:sp>
            <p:nvSpPr>
              <p:cNvPr id="7" name="文本框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9381" y="3519938"/>
                <a:ext cx="7225961" cy="501553"/>
              </a:xfrm>
              <a:prstGeom prst="rect">
                <a:avLst/>
              </a:prstGeom>
              <a:blipFill rotWithShape="1">
                <a:blip r:embed="rId5"/>
                <a:stretch>
                  <a:fillRect l="-1349" t="-2410" b="-2530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/>
              <p:cNvSpPr/>
              <p:nvPr/>
            </p:nvSpPr>
            <p:spPr>
              <a:xfrm>
                <a:off x="2668680" y="4012160"/>
                <a:ext cx="3410236" cy="501553"/>
              </a:xfrm>
              <a:prstGeom prst="rect">
                <a:avLst/>
              </a:prstGeom>
            </p:spPr>
            <p:txBody>
              <a:bodyPr wrap="none" lIns="83887" tIns="41944" rIns="83887" bIns="41944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1" i="1" dirty="0">
                          <a:latin typeface="Cambria Math" panose="02040503050406030204" pitchFamily="18" charset="0"/>
                        </a:rPr>
                        <m:t>𝑻</m:t>
                      </m:r>
                      <m:d>
                        <m:dPr>
                          <m:ctrlPr>
                            <a:rPr lang="en-US" altLang="zh-CN" sz="2400" b="1" i="1" dirty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altLang="zh-CN" sz="2400" b="1" i="1" dirty="0"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</m:d>
                      <m:r>
                        <a:rPr lang="en-US" altLang="zh-CN" sz="2400" b="1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l-GR" altLang="zh-CN" sz="2400" b="1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𝜣</m:t>
                      </m:r>
                      <m:d>
                        <m:dPr>
                          <m:ctrlPr>
                            <a:rPr lang="en-US" altLang="zh-CN" sz="2400" b="1" i="1" dirty="0">
                              <a:latin typeface="Cambria Math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sz="2400" b="1" i="1" dirty="0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US" altLang="zh-CN" sz="2400" b="1" i="1" dirty="0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e>
                            <m:sup>
                              <m:func>
                                <m:funcPr>
                                  <m:ctrlPr>
                                    <a:rPr lang="en-US" altLang="zh-CN" sz="2400" b="1" i="1" dirty="0">
                                      <a:latin typeface="Cambria Math"/>
                                    </a:rPr>
                                  </m:ctrlPr>
                                </m:funcPr>
                                <m:fName>
                                  <m:sSub>
                                    <m:sSubPr>
                                      <m:ctrlPr>
                                        <a:rPr lang="en-US" altLang="zh-CN" sz="2400" b="1" i="1" dirty="0">
                                          <a:latin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400" b="1" i="1" dirty="0">
                                          <a:latin typeface="Cambria Math" panose="02040503050406030204" pitchFamily="18" charset="0"/>
                                        </a:rPr>
                                        <m:t>𝐥𝐨𝐠</m:t>
                                      </m:r>
                                    </m:e>
                                    <m:sub>
                                      <m:r>
                                        <a:rPr lang="en-US" altLang="zh-CN" sz="2400" b="1" i="1" dirty="0">
                                          <a:latin typeface="Cambria Math" panose="02040503050406030204" pitchFamily="18" charset="0"/>
                                        </a:rPr>
                                        <m:t>𝒃</m:t>
                                      </m:r>
                                    </m:sub>
                                  </m:sSub>
                                </m:fName>
                                <m:e>
                                  <m:r>
                                    <a:rPr lang="en-US" altLang="zh-CN" sz="2400" b="1" i="1" dirty="0">
                                      <a:latin typeface="Cambria Math" panose="02040503050406030204" pitchFamily="18" charset="0"/>
                                    </a:rPr>
                                    <m:t>𝒂</m:t>
                                  </m:r>
                                </m:e>
                              </m:func>
                            </m:sup>
                          </m:sSup>
                          <m:func>
                            <m:funcPr>
                              <m:ctrlPr>
                                <a:rPr lang="en-US" altLang="zh-CN" sz="2400" b="1" i="1" dirty="0">
                                  <a:latin typeface="Cambria Math"/>
                                </a:rPr>
                              </m:ctrlPr>
                            </m:funcPr>
                            <m:fName>
                              <m:r>
                                <a:rPr lang="en-US" altLang="zh-CN" sz="2400" b="1" i="1" dirty="0">
                                  <a:latin typeface="Cambria Math" panose="02040503050406030204" pitchFamily="18" charset="0"/>
                                </a:rPr>
                                <m:t>𝐥𝐨𝐠</m:t>
                              </m:r>
                            </m:fName>
                            <m:e>
                              <m:r>
                                <a:rPr lang="en-US" altLang="zh-CN" sz="2400" b="1" i="1" dirty="0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e>
                          </m:func>
                        </m:e>
                      </m:d>
                    </m:oMath>
                  </m:oMathPara>
                </a14:m>
                <a:endParaRPr lang="zh-CN" altLang="en-US" sz="2200" b="1" dirty="0"/>
              </a:p>
            </p:txBody>
          </p:sp>
        </mc:Choice>
        <mc:Fallback xmlns="">
          <p:sp>
            <p:nvSpPr>
              <p:cNvPr id="8" name="矩形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8680" y="4012160"/>
                <a:ext cx="3410236" cy="501553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/>
              <p:cNvSpPr txBox="1"/>
              <p:nvPr/>
            </p:nvSpPr>
            <p:spPr>
              <a:xfrm>
                <a:off x="420050" y="4523520"/>
                <a:ext cx="8891901" cy="870884"/>
              </a:xfrm>
              <a:prstGeom prst="rect">
                <a:avLst/>
              </a:prstGeom>
              <a:noFill/>
            </p:spPr>
            <p:txBody>
              <a:bodyPr wrap="square" lIns="83887" tIns="41944" rIns="83887" bIns="41944" rtlCol="0">
                <a:spAutoFit/>
              </a:bodyPr>
              <a:lstStyle/>
              <a:p>
                <a:pPr algn="just"/>
                <a:r>
                  <a:rPr lang="en-US" altLang="zh-CN" sz="2400" b="1" dirty="0" smtClean="0"/>
                  <a:t>3. </a:t>
                </a:r>
                <a:r>
                  <a:rPr lang="zh-CN" altLang="en-US" sz="2400" b="1" dirty="0"/>
                  <a:t>若</a:t>
                </a:r>
                <a14:m>
                  <m:oMath xmlns:m="http://schemas.openxmlformats.org/officeDocument/2006/math">
                    <m:r>
                      <a:rPr lang="en-US" altLang="zh-CN" sz="2400" b="1" i="1" dirty="0">
                        <a:latin typeface="Cambria Math" panose="02040503050406030204" pitchFamily="18" charset="0"/>
                      </a:rPr>
                      <m:t>𝒇</m:t>
                    </m:r>
                    <m:d>
                      <m:dPr>
                        <m:ctrlPr>
                          <a:rPr lang="en-US" altLang="zh-CN" sz="2400" b="1" i="1" dirty="0">
                            <a:latin typeface="Cambria Math"/>
                          </a:rPr>
                        </m:ctrlPr>
                      </m:dPr>
                      <m:e>
                        <m:r>
                          <a:rPr lang="en-US" altLang="zh-CN" sz="2400" b="1" i="1" dirty="0"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</m:d>
                    <m:r>
                      <a:rPr lang="en-US" altLang="zh-CN" sz="2400" b="1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l-GR" altLang="zh-CN" sz="2400" b="1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𝜴</m:t>
                    </m:r>
                    <m:d>
                      <m:dPr>
                        <m:ctrlPr>
                          <a:rPr lang="en-US" altLang="zh-CN" sz="2400" b="1" i="1" dirty="0">
                            <a:latin typeface="Cambria Math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sz="2400" b="1" i="1" dirty="0"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a:rPr lang="en-US" altLang="zh-CN" sz="2400" b="1" i="1" dirty="0">
                                <a:latin typeface="Cambria Math" panose="02040503050406030204" pitchFamily="18" charset="0"/>
                              </a:rPr>
                              <m:t>𝒏</m:t>
                            </m:r>
                          </m:e>
                          <m:sup>
                            <m:func>
                              <m:funcPr>
                                <m:ctrlPr>
                                  <a:rPr lang="en-US" altLang="zh-CN" sz="2400" b="1" i="1" dirty="0">
                                    <a:latin typeface="Cambria Math"/>
                                  </a:rPr>
                                </m:ctrlPr>
                              </m:funcPr>
                              <m:fName>
                                <m:sSub>
                                  <m:sSubPr>
                                    <m:ctrlPr>
                                      <a:rPr lang="en-US" altLang="zh-CN" sz="2400" b="1" i="1" dirty="0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400" b="1" i="1" dirty="0">
                                        <a:latin typeface="Cambria Math" panose="02040503050406030204" pitchFamily="18" charset="0"/>
                                      </a:rPr>
                                      <m:t>𝐥𝐨𝐠</m:t>
                                    </m:r>
                                  </m:e>
                                  <m:sub>
                                    <m:r>
                                      <a:rPr lang="en-US" altLang="zh-CN" sz="2400" b="1" i="1" dirty="0">
                                        <a:latin typeface="Cambria Math" panose="02040503050406030204" pitchFamily="18" charset="0"/>
                                      </a:rPr>
                                      <m:t>𝒃</m:t>
                                    </m:r>
                                  </m:sub>
                                </m:sSub>
                              </m:fName>
                              <m:e>
                                <m:r>
                                  <a:rPr lang="en-US" altLang="zh-CN" sz="2400" b="1" i="1" dirty="0">
                                    <a:latin typeface="Cambria Math" panose="02040503050406030204" pitchFamily="18" charset="0"/>
                                  </a:rPr>
                                  <m:t>𝒂</m:t>
                                </m:r>
                              </m:e>
                            </m:func>
                            <m:r>
                              <a:rPr lang="en-US" altLang="zh-CN" sz="2400" b="1" i="1" dirty="0" smtClean="0">
                                <a:latin typeface="Cambria Math"/>
                              </a:rPr>
                              <m:t> </m:t>
                            </m:r>
                            <m:r>
                              <a:rPr lang="en-US" altLang="zh-CN" sz="2400" b="1" i="1" dirty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zh-CN" altLang="en-US" sz="2400" b="1" i="1" dirty="0">
                                <a:latin typeface="Cambria Math" panose="02040503050406030204" pitchFamily="18" charset="0"/>
                              </a:rPr>
                              <m:t>𝜺</m:t>
                            </m:r>
                          </m:sup>
                        </m:sSup>
                      </m:e>
                    </m:d>
                    <m:r>
                      <a:rPr lang="zh-CN" altLang="en-US" sz="2400" b="1" i="1" dirty="0">
                        <a:latin typeface="Cambria Math" panose="02040503050406030204" pitchFamily="18" charset="0"/>
                      </a:rPr>
                      <m:t>，</m:t>
                    </m:r>
                    <m:r>
                      <a:rPr lang="zh-CN" altLang="en-US" sz="2400" b="1" i="1" dirty="0">
                        <a:latin typeface="Cambria Math" panose="02040503050406030204" pitchFamily="18" charset="0"/>
                      </a:rPr>
                      <m:t>𝜺</m:t>
                    </m:r>
                    <m:r>
                      <a:rPr lang="en-US" altLang="zh-CN" sz="2400" b="1" i="1" dirty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altLang="zh-CN" sz="2400" b="1" i="1" dirty="0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altLang="zh-CN" sz="2400" b="1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sz="2400" b="1" dirty="0"/>
                  <a:t>，且对于某个常数</a:t>
                </a:r>
                <a14:m>
                  <m:oMath xmlns:m="http://schemas.openxmlformats.org/officeDocument/2006/math">
                    <m:r>
                      <a:rPr lang="en-US" altLang="zh-CN" sz="2400" b="1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𝒄</m:t>
                    </m:r>
                  </m:oMath>
                </a14:m>
                <a:r>
                  <a:rPr lang="en-US" altLang="zh-CN" sz="2400" b="1" dirty="0"/>
                  <a:t>&lt;1</a:t>
                </a:r>
                <a:r>
                  <a:rPr lang="zh-CN" altLang="en-US" sz="2400" b="1" dirty="0"/>
                  <a:t>和充分大的</a:t>
                </a:r>
                <a14:m>
                  <m:oMath xmlns:m="http://schemas.openxmlformats.org/officeDocument/2006/math">
                    <m:r>
                      <a:rPr lang="en-US" altLang="zh-CN" sz="2400" b="1" i="1" dirty="0"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zh-CN" altLang="en-US" sz="2400" b="1" dirty="0"/>
                  <a:t>有</a:t>
                </a:r>
                <a14:m>
                  <m:oMath xmlns:m="http://schemas.openxmlformats.org/officeDocument/2006/math">
                    <m:r>
                      <a:rPr lang="en-US" altLang="zh-CN" sz="2400" b="1" i="1" dirty="0">
                        <a:latin typeface="Cambria Math" panose="02040503050406030204" pitchFamily="18" charset="0"/>
                      </a:rPr>
                      <m:t>𝒂𝒇</m:t>
                    </m:r>
                    <m:r>
                      <a:rPr lang="en-US" altLang="zh-CN" sz="2400" b="1" i="1" dirty="0">
                        <a:latin typeface="Cambria Math" panose="02040503050406030204" pitchFamily="18" charset="0"/>
                      </a:rPr>
                      <m:t>(</m:t>
                    </m:r>
                    <m:f>
                      <m:fPr>
                        <m:type m:val="lin"/>
                        <m:ctrlPr>
                          <a:rPr lang="en-US" altLang="zh-CN" sz="2400" b="1" i="1" dirty="0">
                            <a:latin typeface="Cambria Math"/>
                          </a:rPr>
                        </m:ctrlPr>
                      </m:fPr>
                      <m:num>
                        <m:r>
                          <a:rPr lang="en-US" altLang="zh-CN" sz="2400" b="1" i="1" dirty="0">
                            <a:latin typeface="Cambria Math" panose="02040503050406030204" pitchFamily="18" charset="0"/>
                          </a:rPr>
                          <m:t>𝒏</m:t>
                        </m:r>
                      </m:num>
                      <m:den>
                        <m:r>
                          <a:rPr lang="en-US" altLang="zh-CN" sz="2400" b="1" i="1" dirty="0">
                            <a:latin typeface="Cambria Math" panose="02040503050406030204" pitchFamily="18" charset="0"/>
                          </a:rPr>
                          <m:t>𝒃</m:t>
                        </m:r>
                      </m:den>
                    </m:f>
                    <m:r>
                      <a:rPr lang="en-US" altLang="zh-CN" sz="2400" b="1" i="1" dirty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altLang="zh-CN" sz="2400" b="1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zh-CN" sz="2400" b="1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𝒄𝒇</m:t>
                    </m:r>
                    <m:r>
                      <a:rPr lang="en-US" altLang="zh-CN" sz="2400" b="1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altLang="zh-CN" sz="2400" b="1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𝒏</m:t>
                    </m:r>
                    <m:r>
                      <a:rPr lang="en-US" altLang="zh-CN" sz="2400" b="1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400" b="1" dirty="0"/>
                  <a:t>，那么</a:t>
                </a:r>
              </a:p>
            </p:txBody>
          </p:sp>
        </mc:Choice>
        <mc:Fallback xmlns="">
          <p:sp>
            <p:nvSpPr>
              <p:cNvPr id="9" name="文本框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0050" y="4523520"/>
                <a:ext cx="8891901" cy="870884"/>
              </a:xfrm>
              <a:prstGeom prst="rect">
                <a:avLst/>
              </a:prstGeom>
              <a:blipFill rotWithShape="1">
                <a:blip r:embed="rId7"/>
                <a:stretch>
                  <a:fillRect l="-1165" t="-19580" r="-1097" b="-10139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矩形 9"/>
              <p:cNvSpPr/>
              <p:nvPr/>
            </p:nvSpPr>
            <p:spPr>
              <a:xfrm>
                <a:off x="2649445" y="5328811"/>
                <a:ext cx="2412591" cy="454039"/>
              </a:xfrm>
              <a:prstGeom prst="rect">
                <a:avLst/>
              </a:prstGeom>
            </p:spPr>
            <p:txBody>
              <a:bodyPr wrap="none" lIns="83887" tIns="41944" rIns="83887" bIns="41944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1" i="1" dirty="0">
                          <a:latin typeface="Cambria Math" panose="02040503050406030204" pitchFamily="18" charset="0"/>
                        </a:rPr>
                        <m:t>𝑻</m:t>
                      </m:r>
                      <m:d>
                        <m:dPr>
                          <m:ctrlPr>
                            <a:rPr lang="en-US" altLang="zh-CN" sz="2400" b="1" i="1" dirty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altLang="zh-CN" sz="2400" b="1" i="1" dirty="0"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</m:d>
                      <m:r>
                        <a:rPr lang="en-US" altLang="zh-CN" sz="2400" b="1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l-GR" altLang="zh-CN" sz="2400" b="1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𝜣</m:t>
                      </m:r>
                      <m:d>
                        <m:dPr>
                          <m:ctrlPr>
                            <a:rPr lang="en-US" altLang="zh-CN" sz="2400" b="1" i="1" dirty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altLang="zh-CN" sz="2400" b="1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𝒇</m:t>
                          </m:r>
                          <m:r>
                            <a:rPr lang="en-US" altLang="zh-CN" sz="2400" b="1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400" b="1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𝒏</m:t>
                          </m:r>
                          <m:r>
                            <a:rPr lang="en-US" altLang="zh-CN" sz="2400" b="1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</m:d>
                    </m:oMath>
                  </m:oMathPara>
                </a14:m>
                <a:endParaRPr lang="zh-CN" altLang="en-US" sz="2400" b="1" dirty="0"/>
              </a:p>
            </p:txBody>
          </p:sp>
        </mc:Choice>
        <mc:Fallback xmlns="">
          <p:sp>
            <p:nvSpPr>
              <p:cNvPr id="10" name="矩形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9445" y="5328811"/>
                <a:ext cx="2412591" cy="454039"/>
              </a:xfrm>
              <a:prstGeom prst="rect">
                <a:avLst/>
              </a:prstGeom>
              <a:blipFill rotWithShape="1">
                <a:blip r:embed="rId8"/>
                <a:stretch>
                  <a:fillRect b="-18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椭圆形标注 10"/>
              <p:cNvSpPr/>
              <p:nvPr/>
            </p:nvSpPr>
            <p:spPr>
              <a:xfrm>
                <a:off x="5151913" y="2931039"/>
                <a:ext cx="1332050" cy="556815"/>
              </a:xfrm>
              <a:prstGeom prst="wedgeEllipseCallout">
                <a:avLst>
                  <a:gd name="adj1" fmla="val -101688"/>
                  <a:gd name="adj2" fmla="val -77300"/>
                </a:avLst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83887" tIns="41944" rIns="83887" bIns="41944" rtlCol="0" anchor="ctr"/>
              <a:lstStyle/>
              <a:p>
                <a:pPr algn="ctr"/>
                <a:r>
                  <a:rPr lang="zh-CN" altLang="en-US" sz="2400" b="1" dirty="0"/>
                  <a:t>存在</a:t>
                </a:r>
                <a14:m>
                  <m:oMath xmlns:m="http://schemas.openxmlformats.org/officeDocument/2006/math">
                    <m:r>
                      <a:rPr lang="zh-CN" altLang="en-US" sz="2400" b="1" i="1" dirty="0">
                        <a:latin typeface="Cambria Math" panose="02040503050406030204" pitchFamily="18" charset="0"/>
                      </a:rPr>
                      <m:t>𝜺</m:t>
                    </m:r>
                  </m:oMath>
                </a14:m>
                <a:endParaRPr lang="zh-CN" altLang="en-US" sz="2400" b="1" dirty="0"/>
              </a:p>
            </p:txBody>
          </p:sp>
        </mc:Choice>
        <mc:Fallback xmlns="">
          <p:sp>
            <p:nvSpPr>
              <p:cNvPr id="11" name="椭圆形标注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51913" y="2931039"/>
                <a:ext cx="1332050" cy="556815"/>
              </a:xfrm>
              <a:prstGeom prst="wedgeEllipseCallout">
                <a:avLst>
                  <a:gd name="adj1" fmla="val -101688"/>
                  <a:gd name="adj2" fmla="val -77300"/>
                </a:avLst>
              </a:prstGeom>
              <a:blipFill rotWithShape="1">
                <a:blip r:embed="rId9"/>
                <a:stretch>
                  <a:fillRect b="-125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椭圆形标注 11"/>
              <p:cNvSpPr/>
              <p:nvPr/>
            </p:nvSpPr>
            <p:spPr>
              <a:xfrm>
                <a:off x="6483963" y="3300163"/>
                <a:ext cx="1396227" cy="749320"/>
              </a:xfrm>
              <a:prstGeom prst="wedgeEllipseCallout">
                <a:avLst>
                  <a:gd name="adj1" fmla="val -144149"/>
                  <a:gd name="adj2" fmla="val 50910"/>
                </a:avLst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83887" tIns="41944" rIns="83887" bIns="41944" rtlCol="0" anchor="ctr"/>
              <a:lstStyle/>
              <a:p>
                <a:pPr algn="ctr"/>
                <a:r>
                  <a:rPr lang="zh-CN" altLang="en-US" sz="2400" b="1" dirty="0"/>
                  <a:t>存在</a:t>
                </a:r>
                <a14:m>
                  <m:oMath xmlns:m="http://schemas.openxmlformats.org/officeDocument/2006/math">
                    <m:r>
                      <a:rPr lang="zh-CN" altLang="en-US" sz="2400" b="1" i="1" dirty="0">
                        <a:latin typeface="Cambria Math" panose="02040503050406030204" pitchFamily="18" charset="0"/>
                      </a:rPr>
                      <m:t>𝜺</m:t>
                    </m:r>
                  </m:oMath>
                </a14:m>
                <a:endParaRPr lang="zh-CN" altLang="en-US" sz="2400" b="1" dirty="0"/>
              </a:p>
            </p:txBody>
          </p:sp>
        </mc:Choice>
        <mc:Fallback xmlns="">
          <p:sp>
            <p:nvSpPr>
              <p:cNvPr id="12" name="椭圆形标注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83963" y="3300163"/>
                <a:ext cx="1396227" cy="749320"/>
              </a:xfrm>
              <a:prstGeom prst="wedgeEllipseCallout">
                <a:avLst>
                  <a:gd name="adj1" fmla="val -144149"/>
                  <a:gd name="adj2" fmla="val 50910"/>
                </a:avLst>
              </a:prstGeom>
              <a:blipFill rotWithShape="1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椭圆形标注 12"/>
              <p:cNvSpPr/>
              <p:nvPr/>
            </p:nvSpPr>
            <p:spPr>
              <a:xfrm>
                <a:off x="7738765" y="5409146"/>
                <a:ext cx="1334598" cy="747409"/>
              </a:xfrm>
              <a:prstGeom prst="wedgeEllipseCallout">
                <a:avLst>
                  <a:gd name="adj1" fmla="val -63977"/>
                  <a:gd name="adj2" fmla="val -116809"/>
                </a:avLst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83887" tIns="41944" rIns="83887" bIns="41944" rtlCol="0" anchor="ctr"/>
              <a:lstStyle/>
              <a:p>
                <a:pPr algn="ctr"/>
                <a:r>
                  <a:rPr lang="zh-CN" altLang="en-US" sz="2400" dirty="0" smtClean="0"/>
                  <a:t>存在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zh-CN" altLang="en-US" sz="2400" dirty="0" smtClean="0"/>
                  <a:t>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dirty="0" smtClean="0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13" name="椭圆形标注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38765" y="5409146"/>
                <a:ext cx="1334598" cy="747409"/>
              </a:xfrm>
              <a:prstGeom prst="wedgeEllipseCallout">
                <a:avLst>
                  <a:gd name="adj1" fmla="val -63977"/>
                  <a:gd name="adj2" fmla="val -116809"/>
                </a:avLst>
              </a:prstGeom>
              <a:blipFill rotWithShape="1">
                <a:blip r:embed="rId11"/>
                <a:stretch>
                  <a:fillRect b="-1314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976744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9" grpId="0"/>
      <p:bldP spid="10" grpId="0"/>
      <p:bldP spid="11" grpId="0" animBg="1"/>
      <p:bldP spid="12" grpId="0" animBg="1"/>
      <p:bldP spid="13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382554" y="345010"/>
            <a:ext cx="8920065" cy="537419"/>
          </a:xfrm>
        </p:spPr>
        <p:txBody>
          <a:bodyPr>
            <a:noAutofit/>
          </a:bodyPr>
          <a:lstStyle/>
          <a:p>
            <a:pPr algn="ctr"/>
            <a:r>
              <a:rPr lang="zh-CN" altLang="en-US" sz="4400" b="1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迭代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/>
              <p:cNvSpPr txBox="1"/>
              <p:nvPr/>
            </p:nvSpPr>
            <p:spPr>
              <a:xfrm>
                <a:off x="5237057" y="1003099"/>
                <a:ext cx="4056232" cy="515594"/>
              </a:xfrm>
              <a:prstGeom prst="rect">
                <a:avLst/>
              </a:prstGeom>
              <a:noFill/>
            </p:spPr>
            <p:txBody>
              <a:bodyPr wrap="square" lIns="83887" tIns="41944" rIns="83887" bIns="41944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1" i="1" dirty="0">
                          <a:latin typeface="Cambria Math" panose="02040503050406030204" pitchFamily="18" charset="0"/>
                        </a:rPr>
                        <m:t>𝑻</m:t>
                      </m:r>
                      <m:d>
                        <m:dPr>
                          <m:ctrlPr>
                            <a:rPr lang="en-US" altLang="zh-CN" sz="2800" b="1" i="1" dirty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altLang="zh-CN" sz="2800" b="1" i="1" dirty="0"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</m:d>
                      <m:r>
                        <a:rPr lang="en-US" altLang="zh-CN" sz="2800" b="1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800" b="1" i="1" dirty="0">
                          <a:latin typeface="Cambria Math" panose="02040503050406030204" pitchFamily="18" charset="0"/>
                        </a:rPr>
                        <m:t>𝒂𝑻</m:t>
                      </m:r>
                      <m:d>
                        <m:dPr>
                          <m:ctrlPr>
                            <a:rPr lang="en-US" altLang="zh-CN" sz="2800" b="1" i="1" dirty="0">
                              <a:latin typeface="Cambria Math"/>
                            </a:rPr>
                          </m:ctrlPr>
                        </m:dPr>
                        <m:e>
                          <m:f>
                            <m:fPr>
                              <m:type m:val="lin"/>
                              <m:ctrlPr>
                                <a:rPr lang="en-US" altLang="zh-CN" sz="2800" b="1" i="1" dirty="0">
                                  <a:latin typeface="Cambria Math"/>
                                </a:rPr>
                              </m:ctrlPr>
                            </m:fPr>
                            <m:num>
                              <m:r>
                                <a:rPr lang="en-US" altLang="zh-CN" sz="2800" b="1" i="1" dirty="0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num>
                            <m:den>
                              <m:r>
                                <a:rPr lang="en-US" altLang="zh-CN" sz="2800" b="1" i="1" dirty="0"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</m:den>
                          </m:f>
                        </m:e>
                      </m:d>
                      <m:r>
                        <a:rPr lang="en-US" altLang="zh-CN" sz="2800" b="1" i="1" dirty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800" b="1" i="1" dirty="0">
                          <a:latin typeface="Cambria Math" panose="02040503050406030204" pitchFamily="18" charset="0"/>
                        </a:rPr>
                        <m:t>𝒇</m:t>
                      </m:r>
                      <m:r>
                        <a:rPr lang="en-US" altLang="zh-CN" sz="2800" b="1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800" b="1" i="1" dirty="0"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US" altLang="zh-CN" sz="2800" b="1" i="1" dirty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800" b="1" dirty="0"/>
              </a:p>
            </p:txBody>
          </p:sp>
        </mc:Choice>
        <mc:Fallback xmlns=""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37057" y="1003099"/>
                <a:ext cx="4056232" cy="515594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/>
              <p:cNvSpPr txBox="1"/>
              <p:nvPr/>
            </p:nvSpPr>
            <p:spPr>
              <a:xfrm>
                <a:off x="942392" y="1258999"/>
                <a:ext cx="4506685" cy="531817"/>
              </a:xfrm>
              <a:prstGeom prst="rect">
                <a:avLst/>
              </a:prstGeom>
              <a:noFill/>
            </p:spPr>
            <p:txBody>
              <a:bodyPr wrap="square" lIns="83887" tIns="41944" rIns="83887" bIns="41944" rtlCol="0">
                <a:spAutoFit/>
              </a:bodyPr>
              <a:lstStyle/>
              <a:p>
                <a:r>
                  <a:rPr lang="zh-CN" altLang="en-US" sz="2800" dirty="0">
                    <a:latin typeface="黑体" pitchFamily="49" charset="-122"/>
                    <a:ea typeface="黑体" pitchFamily="49" charset="-122"/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sz="2800" b="1" i="1" dirty="0"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altLang="zh-CN" sz="2800" b="1" i="1" dirty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2800" b="1" i="1" dirty="0">
                            <a:latin typeface="Cambria Math"/>
                          </a:rPr>
                        </m:ctrlPr>
                      </m:sSupPr>
                      <m:e>
                        <m:r>
                          <a:rPr lang="en-US" altLang="zh-CN" sz="2800" b="1" i="1" dirty="0"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  <m:sup>
                        <m:r>
                          <a:rPr lang="en-US" altLang="zh-CN" sz="2800" b="1" i="1" dirty="0">
                            <a:latin typeface="Cambria Math" panose="02040503050406030204" pitchFamily="18" charset="0"/>
                          </a:rPr>
                          <m:t>𝒌</m:t>
                        </m:r>
                      </m:sup>
                    </m:sSup>
                  </m:oMath>
                </a14:m>
                <a:endParaRPr lang="zh-CN" altLang="en-US" sz="2200" b="1" dirty="0"/>
              </a:p>
            </p:txBody>
          </p:sp>
        </mc:Choice>
        <mc:Fallback xmlns="">
          <p:sp>
            <p:nvSpPr>
              <p:cNvPr id="6" name="文本框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2392" y="1258999"/>
                <a:ext cx="4506685" cy="531817"/>
              </a:xfrm>
              <a:prstGeom prst="rect">
                <a:avLst/>
              </a:prstGeom>
              <a:blipFill rotWithShape="1">
                <a:blip r:embed="rId3"/>
                <a:stretch>
                  <a:fillRect l="-2977" t="-14943" b="-2643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/>
              <p:cNvSpPr txBox="1"/>
              <p:nvPr/>
            </p:nvSpPr>
            <p:spPr>
              <a:xfrm>
                <a:off x="850662" y="1973855"/>
                <a:ext cx="5307542" cy="846647"/>
              </a:xfrm>
              <a:prstGeom prst="rect">
                <a:avLst/>
              </a:prstGeom>
              <a:noFill/>
            </p:spPr>
            <p:txBody>
              <a:bodyPr wrap="square" lIns="83887" tIns="41944" rIns="83887" bIns="41944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1" i="1" dirty="0">
                          <a:latin typeface="Cambria Math" panose="02040503050406030204" pitchFamily="18" charset="0"/>
                        </a:rPr>
                        <m:t>𝑻</m:t>
                      </m:r>
                      <m:d>
                        <m:dPr>
                          <m:ctrlPr>
                            <a:rPr lang="en-US" altLang="zh-CN" sz="2800" b="1" i="1" dirty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altLang="zh-CN" sz="2800" b="1" i="1" dirty="0"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</m:d>
                      <m:r>
                        <a:rPr lang="en-US" altLang="zh-CN" sz="2800" b="1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800" b="1" i="1" dirty="0">
                          <a:latin typeface="Cambria Math" panose="02040503050406030204" pitchFamily="18" charset="0"/>
                        </a:rPr>
                        <m:t>𝒂𝑻</m:t>
                      </m:r>
                      <m:d>
                        <m:dPr>
                          <m:ctrlPr>
                            <a:rPr lang="en-US" altLang="zh-CN" sz="2800" b="1" i="1" dirty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sz="2800" b="1" i="1" dirty="0">
                                  <a:solidFill>
                                    <a:srgbClr val="C00000"/>
                                  </a:solidFill>
                                  <a:latin typeface="Cambria Math"/>
                                </a:rPr>
                              </m:ctrlPr>
                            </m:fPr>
                            <m:num>
                              <m:r>
                                <a:rPr lang="en-US" altLang="zh-CN" sz="2800" b="1" i="1" dirty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num>
                            <m:den>
                              <m:r>
                                <a:rPr lang="en-US" altLang="zh-CN" sz="2800" b="1" i="1" dirty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</m:den>
                          </m:f>
                        </m:e>
                      </m:d>
                      <m:r>
                        <a:rPr lang="en-US" altLang="zh-CN" sz="2800" b="1" i="1" dirty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800" b="1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𝒇</m:t>
                      </m:r>
                      <m:r>
                        <a:rPr lang="en-US" altLang="zh-CN" sz="2800" b="1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800" b="1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US" altLang="zh-CN" sz="2800" b="1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800" b="1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7" name="文本框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0662" y="1973855"/>
                <a:ext cx="5307542" cy="846647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/>
              <p:cNvSpPr txBox="1"/>
              <p:nvPr/>
            </p:nvSpPr>
            <p:spPr>
              <a:xfrm>
                <a:off x="1607423" y="2854148"/>
                <a:ext cx="5364253" cy="851584"/>
              </a:xfrm>
              <a:prstGeom prst="rect">
                <a:avLst/>
              </a:prstGeom>
              <a:noFill/>
            </p:spPr>
            <p:txBody>
              <a:bodyPr wrap="square" lIns="83887" tIns="41944" rIns="83887" bIns="41944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800" b="1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800" b="1" i="1" dirty="0">
                          <a:latin typeface="Cambria Math" panose="02040503050406030204" pitchFamily="18" charset="0"/>
                        </a:rPr>
                        <m:t>𝒂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800" b="1" i="1" dirty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altLang="zh-CN" sz="2800" b="1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𝒂𝑻</m:t>
                          </m:r>
                          <m:d>
                            <m:dPr>
                              <m:ctrlPr>
                                <a:rPr lang="en-US" altLang="zh-CN" sz="2800" b="1" i="1" dirty="0">
                                  <a:solidFill>
                                    <a:srgbClr val="C00000"/>
                                  </a:solidFill>
                                  <a:latin typeface="Cambria Math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zh-CN" sz="2800" b="1" i="1" dirty="0">
                                      <a:solidFill>
                                        <a:srgbClr val="C00000"/>
                                      </a:solidFill>
                                      <a:latin typeface="Cambria Math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800" b="1" i="1" dirty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𝒏</m:t>
                                  </m:r>
                                </m:num>
                                <m:den>
                                  <m:sSup>
                                    <m:sSupPr>
                                      <m:ctrlPr>
                                        <a:rPr lang="en-US" altLang="zh-CN" sz="2800" b="1" i="1" dirty="0">
                                          <a:solidFill>
                                            <a:srgbClr val="C00000"/>
                                          </a:solidFill>
                                          <a:latin typeface="Cambria Math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2800" b="1" i="1" dirty="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𝒃</m:t>
                                      </m:r>
                                    </m:e>
                                    <m:sup>
                                      <m:r>
                                        <a:rPr lang="en-US" altLang="zh-CN" sz="2800" b="1" i="1" dirty="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sup>
                                  </m:sSup>
                                </m:den>
                              </m:f>
                            </m:e>
                          </m:d>
                          <m:r>
                            <a:rPr lang="en-US" altLang="zh-CN" sz="2800" b="1" i="1" dirty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2800" b="1" i="1" dirty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𝒇</m:t>
                          </m:r>
                          <m:r>
                            <a:rPr lang="en-US" altLang="zh-CN" sz="2800" b="1" i="1" dirty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f>
                            <m:fPr>
                              <m:ctrlPr>
                                <a:rPr lang="en-US" altLang="zh-CN" sz="2800" b="1" i="1" dirty="0">
                                  <a:solidFill>
                                    <a:srgbClr val="C00000"/>
                                  </a:solidFill>
                                  <a:latin typeface="Cambria Math"/>
                                </a:rPr>
                              </m:ctrlPr>
                            </m:fPr>
                            <m:num>
                              <m:r>
                                <a:rPr lang="en-US" altLang="zh-CN" sz="2800" b="1" i="1" dirty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num>
                            <m:den>
                              <m:r>
                                <a:rPr lang="en-US" altLang="zh-CN" sz="2800" b="1" i="1" dirty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</m:den>
                          </m:f>
                          <m:r>
                            <a:rPr lang="en-US" altLang="zh-CN" sz="2800" b="1" i="1" dirty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m:rPr>
                              <m:nor/>
                            </m:rPr>
                            <a:rPr lang="zh-CN" altLang="en-US" sz="2800" b="1" dirty="0">
                              <a:solidFill>
                                <a:srgbClr val="C00000"/>
                              </a:solidFill>
                            </a:rPr>
                            <m:t> </m:t>
                          </m:r>
                        </m:e>
                      </m:d>
                      <m:r>
                        <a:rPr lang="en-US" altLang="zh-CN" sz="2800" b="1" i="1" dirty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800" b="1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𝒇</m:t>
                      </m:r>
                      <m:r>
                        <a:rPr lang="en-US" altLang="zh-CN" sz="2800" b="1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800" b="1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US" altLang="zh-CN" sz="2800" b="1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800" b="1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9" name="文本框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7423" y="2854148"/>
                <a:ext cx="5364253" cy="851584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/>
              <p:cNvSpPr txBox="1"/>
              <p:nvPr/>
            </p:nvSpPr>
            <p:spPr>
              <a:xfrm>
                <a:off x="1588761" y="3861479"/>
                <a:ext cx="6726020" cy="846647"/>
              </a:xfrm>
              <a:prstGeom prst="rect">
                <a:avLst/>
              </a:prstGeom>
              <a:noFill/>
            </p:spPr>
            <p:txBody>
              <a:bodyPr wrap="square" lIns="83887" tIns="41944" rIns="83887" bIns="41944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800" b="1" i="1" dirty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sz="2800" b="1" i="1" dirty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US" altLang="zh-CN" sz="2800" b="1" i="1" dirty="0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p>
                          <m:r>
                            <a:rPr lang="en-US" altLang="zh-CN" sz="2800" b="1" i="1" dirty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altLang="zh-CN" sz="2800" b="1" i="1" dirty="0">
                          <a:latin typeface="Cambria Math" panose="02040503050406030204" pitchFamily="18" charset="0"/>
                        </a:rPr>
                        <m:t>𝑻</m:t>
                      </m:r>
                      <m:d>
                        <m:dPr>
                          <m:ctrlPr>
                            <a:rPr lang="en-US" altLang="zh-CN" sz="2800" b="1" i="1" dirty="0">
                              <a:latin typeface="Cambria Math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sz="2800" b="1" i="1" dirty="0">
                                  <a:latin typeface="Cambria Math"/>
                                </a:rPr>
                              </m:ctrlPr>
                            </m:fPr>
                            <m:num>
                              <m:r>
                                <a:rPr lang="en-US" altLang="zh-CN" sz="2800" b="1" i="1" dirty="0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US" altLang="zh-CN" sz="2800" b="1" i="1" dirty="0">
                                      <a:latin typeface="Cambria Math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800" b="1" i="1" dirty="0">
                                      <a:latin typeface="Cambria Math" panose="02040503050406030204" pitchFamily="18" charset="0"/>
                                    </a:rPr>
                                    <m:t>𝒃</m:t>
                                  </m:r>
                                </m:e>
                                <m:sup>
                                  <m:r>
                                    <a:rPr lang="en-US" altLang="zh-CN" sz="2800" b="1" i="1" dirty="0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p>
                              </m:sSup>
                            </m:den>
                          </m:f>
                        </m:e>
                      </m:d>
                      <m:r>
                        <a:rPr lang="en-US" altLang="zh-CN" sz="2800" b="1" i="1" dirty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800" b="1" i="1" dirty="0">
                          <a:latin typeface="Cambria Math" panose="02040503050406030204" pitchFamily="18" charset="0"/>
                        </a:rPr>
                        <m:t>𝒂𝒇</m:t>
                      </m:r>
                      <m:r>
                        <a:rPr lang="en-US" altLang="zh-CN" sz="2800" b="1" i="1" dirty="0">
                          <a:latin typeface="Cambria Math" panose="02040503050406030204" pitchFamily="18" charset="0"/>
                        </a:rPr>
                        <m:t>(</m:t>
                      </m:r>
                      <m:f>
                        <m:fPr>
                          <m:ctrlPr>
                            <a:rPr lang="en-US" altLang="zh-CN" sz="2800" b="1" i="1" dirty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altLang="zh-CN" sz="2800" b="1" i="1" dirty="0">
                              <a:latin typeface="Cambria Math" panose="02040503050406030204" pitchFamily="18" charset="0"/>
                            </a:rPr>
                            <m:t>𝒏</m:t>
                          </m:r>
                        </m:num>
                        <m:den>
                          <m:r>
                            <a:rPr lang="en-US" altLang="zh-CN" sz="2800" b="1" i="1" dirty="0">
                              <a:latin typeface="Cambria Math" panose="02040503050406030204" pitchFamily="18" charset="0"/>
                            </a:rPr>
                            <m:t>𝒃</m:t>
                          </m:r>
                        </m:den>
                      </m:f>
                      <m:r>
                        <a:rPr lang="en-US" altLang="zh-CN" sz="2800" b="1" i="1" dirty="0">
                          <a:latin typeface="Cambria Math" panose="02040503050406030204" pitchFamily="18" charset="0"/>
                        </a:rPr>
                        <m:t>) +</m:t>
                      </m:r>
                      <m:r>
                        <a:rPr lang="en-US" altLang="zh-CN" sz="2800" b="1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𝒇</m:t>
                      </m:r>
                      <m:r>
                        <a:rPr lang="en-US" altLang="zh-CN" sz="2800" b="1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800" b="1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US" altLang="zh-CN" sz="2800" b="1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400" b="1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10" name="文本框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8761" y="3861479"/>
                <a:ext cx="6726020" cy="846647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矩形 10"/>
              <p:cNvSpPr/>
              <p:nvPr/>
            </p:nvSpPr>
            <p:spPr>
              <a:xfrm>
                <a:off x="1588761" y="4911174"/>
                <a:ext cx="4859673" cy="515594"/>
              </a:xfrm>
              <a:prstGeom prst="rect">
                <a:avLst/>
              </a:prstGeom>
            </p:spPr>
            <p:txBody>
              <a:bodyPr wrap="square" lIns="83887" tIns="41944" rIns="83887" bIns="41944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800" b="1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800" b="1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⋯</m:t>
                      </m:r>
                    </m:oMath>
                  </m:oMathPara>
                </a14:m>
                <a:endParaRPr lang="zh-CN" altLang="en-US" sz="2800" b="1" dirty="0"/>
              </a:p>
            </p:txBody>
          </p:sp>
        </mc:Choice>
        <mc:Fallback xmlns="">
          <p:sp>
            <p:nvSpPr>
              <p:cNvPr id="11" name="矩形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8761" y="4911174"/>
                <a:ext cx="4859673" cy="515594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object 21"/>
          <p:cNvSpPr/>
          <p:nvPr/>
        </p:nvSpPr>
        <p:spPr>
          <a:xfrm>
            <a:off x="5237058" y="891126"/>
            <a:ext cx="4056231" cy="777157"/>
          </a:xfrm>
          <a:custGeom>
            <a:avLst/>
            <a:gdLst/>
            <a:ahLst/>
            <a:cxnLst/>
            <a:rect l="l" t="t" r="r" b="b"/>
            <a:pathLst>
              <a:path w="1752600" h="1447800">
                <a:moveTo>
                  <a:pt x="0" y="241300"/>
                </a:moveTo>
                <a:lnTo>
                  <a:pt x="4904" y="192682"/>
                </a:lnTo>
                <a:lnTo>
                  <a:pt x="18968" y="147393"/>
                </a:lnTo>
                <a:lnTo>
                  <a:pt x="41221" y="106405"/>
                </a:lnTo>
                <a:lnTo>
                  <a:pt x="70691" y="70691"/>
                </a:lnTo>
                <a:lnTo>
                  <a:pt x="106405" y="41221"/>
                </a:lnTo>
                <a:lnTo>
                  <a:pt x="147393" y="18968"/>
                </a:lnTo>
                <a:lnTo>
                  <a:pt x="192682" y="4904"/>
                </a:lnTo>
                <a:lnTo>
                  <a:pt x="241300" y="0"/>
                </a:lnTo>
                <a:lnTo>
                  <a:pt x="1511300" y="0"/>
                </a:lnTo>
                <a:lnTo>
                  <a:pt x="1559917" y="4904"/>
                </a:lnTo>
                <a:lnTo>
                  <a:pt x="1605206" y="18968"/>
                </a:lnTo>
                <a:lnTo>
                  <a:pt x="1646194" y="41221"/>
                </a:lnTo>
                <a:lnTo>
                  <a:pt x="1681908" y="70691"/>
                </a:lnTo>
                <a:lnTo>
                  <a:pt x="1711378" y="106405"/>
                </a:lnTo>
                <a:lnTo>
                  <a:pt x="1733631" y="147393"/>
                </a:lnTo>
                <a:lnTo>
                  <a:pt x="1747695" y="192682"/>
                </a:lnTo>
                <a:lnTo>
                  <a:pt x="1752600" y="241300"/>
                </a:lnTo>
                <a:lnTo>
                  <a:pt x="1752600" y="1206500"/>
                </a:lnTo>
                <a:lnTo>
                  <a:pt x="1747695" y="1255128"/>
                </a:lnTo>
                <a:lnTo>
                  <a:pt x="1733631" y="1300422"/>
                </a:lnTo>
                <a:lnTo>
                  <a:pt x="1711378" y="1341410"/>
                </a:lnTo>
                <a:lnTo>
                  <a:pt x="1681908" y="1377122"/>
                </a:lnTo>
                <a:lnTo>
                  <a:pt x="1646194" y="1406588"/>
                </a:lnTo>
                <a:lnTo>
                  <a:pt x="1605206" y="1428836"/>
                </a:lnTo>
                <a:lnTo>
                  <a:pt x="1559917" y="1442897"/>
                </a:lnTo>
                <a:lnTo>
                  <a:pt x="1511300" y="1447800"/>
                </a:lnTo>
                <a:lnTo>
                  <a:pt x="241300" y="1447800"/>
                </a:lnTo>
                <a:lnTo>
                  <a:pt x="192682" y="1442897"/>
                </a:lnTo>
                <a:lnTo>
                  <a:pt x="147393" y="1428836"/>
                </a:lnTo>
                <a:lnTo>
                  <a:pt x="106405" y="1406588"/>
                </a:lnTo>
                <a:lnTo>
                  <a:pt x="70691" y="1377122"/>
                </a:lnTo>
                <a:lnTo>
                  <a:pt x="41221" y="1341410"/>
                </a:lnTo>
                <a:lnTo>
                  <a:pt x="18968" y="1300422"/>
                </a:lnTo>
                <a:lnTo>
                  <a:pt x="4904" y="1255128"/>
                </a:lnTo>
                <a:lnTo>
                  <a:pt x="0" y="1206500"/>
                </a:lnTo>
                <a:lnTo>
                  <a:pt x="0" y="241300"/>
                </a:lnTo>
                <a:close/>
              </a:path>
            </a:pathLst>
          </a:custGeom>
          <a:ln w="3175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 sz="2200"/>
          </a:p>
        </p:txBody>
      </p:sp>
    </p:spTree>
    <p:extLst>
      <p:ext uri="{BB962C8B-B14F-4D97-AF65-F5344CB8AC3E}">
        <p14:creationId xmlns:p14="http://schemas.microsoft.com/office/powerpoint/2010/main" val="29483359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391886" y="345010"/>
            <a:ext cx="8929396" cy="578721"/>
          </a:xfrm>
        </p:spPr>
        <p:txBody>
          <a:bodyPr>
            <a:noAutofit/>
          </a:bodyPr>
          <a:lstStyle/>
          <a:p>
            <a:pPr algn="ctr"/>
            <a:r>
              <a:rPr lang="zh-CN" altLang="en-US" sz="4400" b="1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迭代结果</a:t>
            </a:r>
          </a:p>
        </p:txBody>
      </p:sp>
      <p:sp>
        <p:nvSpPr>
          <p:cNvPr id="5" name="object 21"/>
          <p:cNvSpPr/>
          <p:nvPr/>
        </p:nvSpPr>
        <p:spPr>
          <a:xfrm>
            <a:off x="6158203" y="941722"/>
            <a:ext cx="3433665" cy="576782"/>
          </a:xfrm>
          <a:custGeom>
            <a:avLst/>
            <a:gdLst/>
            <a:ahLst/>
            <a:cxnLst/>
            <a:rect l="l" t="t" r="r" b="b"/>
            <a:pathLst>
              <a:path w="1752600" h="1447800">
                <a:moveTo>
                  <a:pt x="0" y="241300"/>
                </a:moveTo>
                <a:lnTo>
                  <a:pt x="4904" y="192682"/>
                </a:lnTo>
                <a:lnTo>
                  <a:pt x="18968" y="147393"/>
                </a:lnTo>
                <a:lnTo>
                  <a:pt x="41221" y="106405"/>
                </a:lnTo>
                <a:lnTo>
                  <a:pt x="70691" y="70691"/>
                </a:lnTo>
                <a:lnTo>
                  <a:pt x="106405" y="41221"/>
                </a:lnTo>
                <a:lnTo>
                  <a:pt x="147393" y="18968"/>
                </a:lnTo>
                <a:lnTo>
                  <a:pt x="192682" y="4904"/>
                </a:lnTo>
                <a:lnTo>
                  <a:pt x="241300" y="0"/>
                </a:lnTo>
                <a:lnTo>
                  <a:pt x="1511300" y="0"/>
                </a:lnTo>
                <a:lnTo>
                  <a:pt x="1559917" y="4904"/>
                </a:lnTo>
                <a:lnTo>
                  <a:pt x="1605206" y="18968"/>
                </a:lnTo>
                <a:lnTo>
                  <a:pt x="1646194" y="41221"/>
                </a:lnTo>
                <a:lnTo>
                  <a:pt x="1681908" y="70691"/>
                </a:lnTo>
                <a:lnTo>
                  <a:pt x="1711378" y="106405"/>
                </a:lnTo>
                <a:lnTo>
                  <a:pt x="1733631" y="147393"/>
                </a:lnTo>
                <a:lnTo>
                  <a:pt x="1747695" y="192682"/>
                </a:lnTo>
                <a:lnTo>
                  <a:pt x="1752600" y="241300"/>
                </a:lnTo>
                <a:lnTo>
                  <a:pt x="1752600" y="1206500"/>
                </a:lnTo>
                <a:lnTo>
                  <a:pt x="1747695" y="1255128"/>
                </a:lnTo>
                <a:lnTo>
                  <a:pt x="1733631" y="1300422"/>
                </a:lnTo>
                <a:lnTo>
                  <a:pt x="1711378" y="1341410"/>
                </a:lnTo>
                <a:lnTo>
                  <a:pt x="1681908" y="1377122"/>
                </a:lnTo>
                <a:lnTo>
                  <a:pt x="1646194" y="1406588"/>
                </a:lnTo>
                <a:lnTo>
                  <a:pt x="1605206" y="1428836"/>
                </a:lnTo>
                <a:lnTo>
                  <a:pt x="1559917" y="1442897"/>
                </a:lnTo>
                <a:lnTo>
                  <a:pt x="1511300" y="1447800"/>
                </a:lnTo>
                <a:lnTo>
                  <a:pt x="241300" y="1447800"/>
                </a:lnTo>
                <a:lnTo>
                  <a:pt x="192682" y="1442897"/>
                </a:lnTo>
                <a:lnTo>
                  <a:pt x="147393" y="1428836"/>
                </a:lnTo>
                <a:lnTo>
                  <a:pt x="106405" y="1406588"/>
                </a:lnTo>
                <a:lnTo>
                  <a:pt x="70691" y="1377122"/>
                </a:lnTo>
                <a:lnTo>
                  <a:pt x="41221" y="1341410"/>
                </a:lnTo>
                <a:lnTo>
                  <a:pt x="18968" y="1300422"/>
                </a:lnTo>
                <a:lnTo>
                  <a:pt x="4904" y="1255128"/>
                </a:lnTo>
                <a:lnTo>
                  <a:pt x="0" y="1206500"/>
                </a:lnTo>
                <a:lnTo>
                  <a:pt x="0" y="241300"/>
                </a:lnTo>
                <a:close/>
              </a:path>
            </a:pathLst>
          </a:custGeom>
          <a:ln w="3175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 sz="22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/>
              <p:cNvSpPr txBox="1"/>
              <p:nvPr/>
            </p:nvSpPr>
            <p:spPr>
              <a:xfrm>
                <a:off x="783226" y="1678953"/>
                <a:ext cx="7716969" cy="737835"/>
              </a:xfrm>
              <a:prstGeom prst="rect">
                <a:avLst/>
              </a:prstGeom>
              <a:noFill/>
            </p:spPr>
            <p:txBody>
              <a:bodyPr wrap="square" lIns="83887" tIns="41944" rIns="83887" bIns="41944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400" b="1" i="1" dirty="0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sz="2400" b="1" i="1" dirty="0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US" altLang="zh-CN" sz="2400" b="1" i="1" dirty="0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p>
                          <m:r>
                            <a:rPr lang="en-US" altLang="zh-CN" sz="2400" b="1" i="1" dirty="0">
                              <a:latin typeface="Cambria Math" panose="02040503050406030204" pitchFamily="18" charset="0"/>
                            </a:rPr>
                            <m:t>𝒌</m:t>
                          </m:r>
                        </m:sup>
                      </m:sSup>
                      <m:r>
                        <a:rPr lang="en-US" altLang="zh-CN" sz="2400" b="1" i="1" dirty="0">
                          <a:latin typeface="Cambria Math" panose="02040503050406030204" pitchFamily="18" charset="0"/>
                        </a:rPr>
                        <m:t>𝑻</m:t>
                      </m:r>
                      <m:d>
                        <m:dPr>
                          <m:ctrlPr>
                            <a:rPr lang="en-US" altLang="zh-CN" sz="2400" b="1" i="1" dirty="0">
                              <a:latin typeface="Cambria Math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sz="2400" b="1" i="1" dirty="0">
                                  <a:latin typeface="Cambria Math"/>
                                </a:rPr>
                              </m:ctrlPr>
                            </m:fPr>
                            <m:num>
                              <m:r>
                                <a:rPr lang="en-US" altLang="zh-CN" sz="2400" b="1" i="1" dirty="0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US" altLang="zh-CN" sz="2400" b="1" i="1" dirty="0">
                                      <a:latin typeface="Cambria Math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400" b="1" i="1" dirty="0">
                                      <a:latin typeface="Cambria Math" panose="02040503050406030204" pitchFamily="18" charset="0"/>
                                    </a:rPr>
                                    <m:t>𝒃</m:t>
                                  </m:r>
                                </m:e>
                                <m:sup>
                                  <m:r>
                                    <a:rPr lang="en-US" altLang="zh-CN" sz="2400" b="1" i="1" dirty="0">
                                      <a:latin typeface="Cambria Math" panose="02040503050406030204" pitchFamily="18" charset="0"/>
                                    </a:rPr>
                                    <m:t>𝒌</m:t>
                                  </m:r>
                                </m:sup>
                              </m:sSup>
                            </m:den>
                          </m:f>
                        </m:e>
                      </m:d>
                      <m:r>
                        <a:rPr lang="en-US" altLang="zh-CN" sz="2400" b="1" i="1" dirty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altLang="zh-CN" sz="2400" b="1" i="1" dirty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US" altLang="zh-CN" sz="2400" b="1" i="1" dirty="0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p>
                          <m:r>
                            <a:rPr lang="en-US" altLang="zh-CN" sz="2400" b="1" i="1" dirty="0">
                              <a:latin typeface="Cambria Math" panose="02040503050406030204" pitchFamily="18" charset="0"/>
                            </a:rPr>
                            <m:t>𝒌</m:t>
                          </m:r>
                          <m:r>
                            <a:rPr lang="en-US" altLang="zh-CN" sz="2400" b="1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2400" b="1" i="1" dirty="0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  <m:r>
                        <a:rPr lang="en-US" altLang="zh-CN" sz="2400" b="1" i="1" dirty="0">
                          <a:latin typeface="Cambria Math" panose="02040503050406030204" pitchFamily="18" charset="0"/>
                        </a:rPr>
                        <m:t>𝑻</m:t>
                      </m:r>
                      <m:d>
                        <m:dPr>
                          <m:ctrlPr>
                            <a:rPr lang="en-US" altLang="zh-CN" sz="2400" b="1" i="1" dirty="0">
                              <a:latin typeface="Cambria Math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sz="2400" b="1" i="1" dirty="0">
                                  <a:latin typeface="Cambria Math"/>
                                </a:rPr>
                              </m:ctrlPr>
                            </m:fPr>
                            <m:num>
                              <m:r>
                                <a:rPr lang="en-US" altLang="zh-CN" sz="2400" b="1" i="1" dirty="0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US" altLang="zh-CN" sz="2400" b="1" i="1" dirty="0">
                                      <a:latin typeface="Cambria Math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400" b="1" i="1" dirty="0">
                                      <a:latin typeface="Cambria Math" panose="02040503050406030204" pitchFamily="18" charset="0"/>
                                    </a:rPr>
                                    <m:t>𝒃</m:t>
                                  </m:r>
                                </m:e>
                                <m:sup>
                                  <m:r>
                                    <a:rPr lang="en-US" altLang="zh-CN" sz="2400" b="1" i="1" dirty="0">
                                      <a:latin typeface="Cambria Math" panose="02040503050406030204" pitchFamily="18" charset="0"/>
                                    </a:rPr>
                                    <m:t>𝒌</m:t>
                                  </m:r>
                                  <m:r>
                                    <a:rPr lang="en-US" altLang="zh-CN" sz="2400" b="1" i="1" dirty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CN" sz="2400" b="1" i="1" dirty="0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p>
                              </m:sSup>
                            </m:den>
                          </m:f>
                        </m:e>
                      </m:d>
                      <m:r>
                        <a:rPr lang="en-US" altLang="zh-CN" sz="2400" b="1" i="1" dirty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400" b="1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⋯+</m:t>
                      </m:r>
                      <m:r>
                        <a:rPr lang="en-US" altLang="zh-CN" sz="2400" b="1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𝒂𝒇</m:t>
                      </m:r>
                      <m:d>
                        <m:dPr>
                          <m:ctrlPr>
                            <a:rPr lang="en-US" altLang="zh-CN" sz="2400" b="1" i="1" dirty="0">
                              <a:latin typeface="Cambria Math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sz="2400" b="1" i="1" dirty="0">
                                  <a:latin typeface="Cambria Math"/>
                                </a:rPr>
                              </m:ctrlPr>
                            </m:fPr>
                            <m:num>
                              <m:r>
                                <a:rPr lang="en-US" altLang="zh-CN" sz="2400" b="1" i="1" dirty="0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num>
                            <m:den>
                              <m:r>
                                <a:rPr lang="en-US" altLang="zh-CN" sz="2400" b="1" i="1" dirty="0"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</m:den>
                          </m:f>
                        </m:e>
                      </m:d>
                      <m:r>
                        <a:rPr lang="en-US" altLang="zh-CN" sz="2400" b="1" i="1" dirty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400" b="1" i="1" dirty="0">
                          <a:latin typeface="Cambria Math" panose="02040503050406030204" pitchFamily="18" charset="0"/>
                        </a:rPr>
                        <m:t>𝒇</m:t>
                      </m:r>
                      <m:r>
                        <a:rPr lang="en-US" altLang="zh-CN" sz="2400" b="1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400" b="1" i="1" dirty="0"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US" altLang="zh-CN" sz="2400" b="1" i="1" dirty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400" b="1" dirty="0"/>
              </a:p>
            </p:txBody>
          </p:sp>
        </mc:Choice>
        <mc:Fallback xmlns="">
          <p:sp>
            <p:nvSpPr>
              <p:cNvPr id="6" name="文本框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3226" y="1678953"/>
                <a:ext cx="7716969" cy="737835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/>
              <p:cNvSpPr txBox="1"/>
              <p:nvPr/>
            </p:nvSpPr>
            <p:spPr>
              <a:xfrm>
                <a:off x="808034" y="2457813"/>
                <a:ext cx="6597296" cy="1185073"/>
              </a:xfrm>
              <a:prstGeom prst="rect">
                <a:avLst/>
              </a:prstGeom>
              <a:noFill/>
            </p:spPr>
            <p:txBody>
              <a:bodyPr wrap="square" lIns="83887" tIns="41944" rIns="83887" bIns="41944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sz="2400" b="1" i="1" dirty="0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US" altLang="zh-CN" sz="2400" b="1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p>
                          <m:r>
                            <a:rPr lang="en-US" altLang="zh-CN" sz="2400" b="1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𝒌</m:t>
                          </m:r>
                        </m:sup>
                      </m:sSup>
                      <m:r>
                        <a:rPr lang="en-US" altLang="zh-CN" sz="2400" b="1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𝑻</m:t>
                      </m:r>
                      <m:d>
                        <m:dPr>
                          <m:ctrlPr>
                            <a:rPr lang="en-US" altLang="zh-CN" sz="2400" b="1" i="1" dirty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altLang="zh-CN" sz="2400" b="1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</m:d>
                      <m:r>
                        <a:rPr lang="en-US" altLang="zh-CN" sz="2400" b="1" i="1" dirty="0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ctrlPr>
                            <a:rPr lang="en-US" altLang="zh-CN" sz="2400" b="1" i="1" dirty="0">
                              <a:latin typeface="Cambria Math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400" b="1" i="1" dirty="0">
                              <a:latin typeface="Cambria Math" panose="02040503050406030204" pitchFamily="18" charset="0"/>
                            </a:rPr>
                            <m:t>𝒋</m:t>
                          </m:r>
                          <m:r>
                            <a:rPr lang="en-US" altLang="zh-CN" sz="2400" b="1" i="1" dirty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sz="2400" b="1" i="1" dirty="0"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  <m:sup>
                          <m:r>
                            <a:rPr lang="en-US" altLang="zh-CN" sz="2400" b="1" i="1" dirty="0">
                              <a:latin typeface="Cambria Math" panose="02040503050406030204" pitchFamily="18" charset="0"/>
                            </a:rPr>
                            <m:t>𝒌</m:t>
                          </m:r>
                          <m:r>
                            <a:rPr lang="en-US" altLang="zh-CN" sz="2400" b="1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2400" b="1" i="1" dirty="0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  <m:e>
                          <m:sSup>
                            <m:sSupPr>
                              <m:ctrlPr>
                                <a:rPr lang="en-US" altLang="zh-CN" sz="2400" b="1" i="1" dirty="0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US" altLang="zh-CN" sz="2400" b="1" i="1" dirty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  <m:sup>
                              <m:r>
                                <a:rPr lang="en-US" altLang="zh-CN" sz="2400" b="1" i="1" dirty="0">
                                  <a:latin typeface="Cambria Math" panose="02040503050406030204" pitchFamily="18" charset="0"/>
                                </a:rPr>
                                <m:t>𝒋</m:t>
                              </m:r>
                            </m:sup>
                          </m:sSup>
                        </m:e>
                      </m:nary>
                      <m:r>
                        <a:rPr lang="en-US" altLang="zh-CN" sz="2400" b="1" i="1" dirty="0">
                          <a:latin typeface="Cambria Math" panose="02040503050406030204" pitchFamily="18" charset="0"/>
                        </a:rPr>
                        <m:t>𝒇</m:t>
                      </m:r>
                      <m:d>
                        <m:dPr>
                          <m:ctrlPr>
                            <a:rPr lang="en-US" altLang="zh-CN" sz="2400" b="1" i="1" dirty="0">
                              <a:latin typeface="Cambria Math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sz="2400" b="1" i="1" dirty="0">
                                  <a:latin typeface="Cambria Math"/>
                                </a:rPr>
                              </m:ctrlPr>
                            </m:fPr>
                            <m:num>
                              <m:r>
                                <a:rPr lang="en-US" altLang="zh-CN" sz="2400" b="1" i="1" dirty="0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US" altLang="zh-CN" sz="2400" b="1" i="1" dirty="0">
                                      <a:latin typeface="Cambria Math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400" b="1" i="1" dirty="0">
                                      <a:latin typeface="Cambria Math" panose="02040503050406030204" pitchFamily="18" charset="0"/>
                                    </a:rPr>
                                    <m:t>𝒃</m:t>
                                  </m:r>
                                </m:e>
                                <m:sup>
                                  <m:r>
                                    <a:rPr lang="en-US" altLang="zh-CN" sz="2400" b="1" i="1" dirty="0">
                                      <a:latin typeface="Cambria Math" panose="02040503050406030204" pitchFamily="18" charset="0"/>
                                    </a:rPr>
                                    <m:t>𝒋</m:t>
                                  </m:r>
                                </m:sup>
                              </m:sSup>
                            </m:den>
                          </m:f>
                        </m:e>
                      </m:d>
                    </m:oMath>
                  </m:oMathPara>
                </a14:m>
                <a:endParaRPr lang="zh-CN" altLang="en-US" sz="2400" b="1" dirty="0"/>
              </a:p>
            </p:txBody>
          </p:sp>
        </mc:Choice>
        <mc:Fallback xmlns="">
          <p:sp>
            <p:nvSpPr>
              <p:cNvPr id="7" name="文本框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8034" y="2457813"/>
                <a:ext cx="6597296" cy="1185073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/>
              <p:cNvSpPr txBox="1"/>
              <p:nvPr/>
            </p:nvSpPr>
            <p:spPr>
              <a:xfrm>
                <a:off x="818591" y="3590527"/>
                <a:ext cx="5125016" cy="1185073"/>
              </a:xfrm>
              <a:prstGeom prst="rect">
                <a:avLst/>
              </a:prstGeom>
              <a:noFill/>
            </p:spPr>
            <p:txBody>
              <a:bodyPr wrap="square" lIns="83887" tIns="41944" rIns="83887" bIns="41944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400" b="1" i="1" dirty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400" b="1" i="1" dirty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altLang="zh-CN" sz="2400" b="1" i="1" dirty="0">
                              <a:latin typeface="Cambria Math" panose="02040503050406030204" pitchFamily="18" charset="0"/>
                            </a:rPr>
                            <m:t>𝒄</m:t>
                          </m:r>
                        </m:e>
                        <m:sub>
                          <m:r>
                            <a:rPr lang="en-US" altLang="zh-CN" sz="2400" b="1" i="1" dirty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sSup>
                        <m:sSupPr>
                          <m:ctrlPr>
                            <a:rPr lang="en-US" altLang="zh-CN" sz="2400" b="1" i="1" dirty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US" altLang="zh-CN" sz="2400" b="1" i="1" dirty="0"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en-US" altLang="zh-CN" sz="2400" b="1" i="1" dirty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  <m:sup>
                          <m:func>
                            <m:funcPr>
                              <m:ctrlPr>
                                <a:rPr lang="en-US" altLang="zh-CN" sz="2400" b="1" i="1" dirty="0">
                                  <a:latin typeface="Cambria Math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n-US" altLang="zh-CN" sz="2400" b="1" i="1" dirty="0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1" i="1" dirty="0">
                                      <a:latin typeface="Cambria Math" panose="02040503050406030204" pitchFamily="18" charset="0"/>
                                    </a:rPr>
                                    <m:t>𝒍𝒐𝒈</m:t>
                                  </m:r>
                                </m:e>
                                <m:sub>
                                  <m:r>
                                    <a:rPr lang="en-US" altLang="zh-CN" sz="2400" b="1" i="1" dirty="0">
                                      <a:latin typeface="Cambria Math" panose="02040503050406030204" pitchFamily="18" charset="0"/>
                                    </a:rPr>
                                    <m:t>𝒃</m:t>
                                  </m:r>
                                </m:sub>
                              </m:sSub>
                            </m:fName>
                            <m:e>
                              <m:r>
                                <a:rPr lang="en-US" altLang="zh-CN" sz="2400" b="1" i="1" dirty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</m:func>
                        </m:sup>
                      </m:sSup>
                      <m:r>
                        <a:rPr lang="en-US" altLang="zh-CN" sz="2400" b="1" i="1" dirty="0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ctrlPr>
                            <a:rPr lang="en-US" altLang="zh-CN" sz="2400" b="1" i="1" dirty="0">
                              <a:latin typeface="Cambria Math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400" b="1" i="1" dirty="0">
                              <a:latin typeface="Cambria Math" panose="02040503050406030204" pitchFamily="18" charset="0"/>
                            </a:rPr>
                            <m:t>𝒋</m:t>
                          </m:r>
                          <m:r>
                            <a:rPr lang="en-US" altLang="zh-CN" sz="2400" b="1" i="1" dirty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sz="2400" b="1" i="1" dirty="0"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  <m:sup>
                          <m:r>
                            <a:rPr lang="en-US" altLang="zh-CN" sz="2400" b="1" i="1" dirty="0">
                              <a:latin typeface="Cambria Math" panose="02040503050406030204" pitchFamily="18" charset="0"/>
                            </a:rPr>
                            <m:t>𝒌</m:t>
                          </m:r>
                          <m:r>
                            <a:rPr lang="en-US" altLang="zh-CN" sz="2400" b="1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2400" b="1" i="1" dirty="0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  <m:e>
                          <m:sSup>
                            <m:sSupPr>
                              <m:ctrlPr>
                                <a:rPr lang="en-US" altLang="zh-CN" sz="2400" b="1" i="1" dirty="0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US" altLang="zh-CN" sz="2400" b="1" i="1" dirty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  <m:sup>
                              <m:r>
                                <a:rPr lang="en-US" altLang="zh-CN" sz="2400" b="1" i="1" dirty="0">
                                  <a:latin typeface="Cambria Math" panose="02040503050406030204" pitchFamily="18" charset="0"/>
                                </a:rPr>
                                <m:t>𝒋</m:t>
                              </m:r>
                            </m:sup>
                          </m:sSup>
                        </m:e>
                      </m:nary>
                      <m:r>
                        <a:rPr lang="en-US" altLang="zh-CN" sz="2400" b="1" i="1" dirty="0">
                          <a:latin typeface="Cambria Math" panose="02040503050406030204" pitchFamily="18" charset="0"/>
                        </a:rPr>
                        <m:t>𝒇</m:t>
                      </m:r>
                      <m:d>
                        <m:dPr>
                          <m:ctrlPr>
                            <a:rPr lang="en-US" altLang="zh-CN" sz="2400" b="1" i="1" dirty="0">
                              <a:latin typeface="Cambria Math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sz="2400" b="1" i="1" dirty="0">
                                  <a:latin typeface="Cambria Math"/>
                                </a:rPr>
                              </m:ctrlPr>
                            </m:fPr>
                            <m:num>
                              <m:r>
                                <a:rPr lang="en-US" altLang="zh-CN" sz="2400" b="1" i="1" dirty="0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US" altLang="zh-CN" sz="2400" b="1" i="1" dirty="0">
                                      <a:latin typeface="Cambria Math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400" b="1" i="1" dirty="0">
                                      <a:latin typeface="Cambria Math" panose="02040503050406030204" pitchFamily="18" charset="0"/>
                                    </a:rPr>
                                    <m:t>𝒃</m:t>
                                  </m:r>
                                </m:e>
                                <m:sup>
                                  <m:r>
                                    <a:rPr lang="en-US" altLang="zh-CN" sz="2400" b="1" i="1" dirty="0">
                                      <a:latin typeface="Cambria Math" panose="02040503050406030204" pitchFamily="18" charset="0"/>
                                    </a:rPr>
                                    <m:t>𝒋</m:t>
                                  </m:r>
                                </m:sup>
                              </m:sSup>
                            </m:den>
                          </m:f>
                        </m:e>
                      </m:d>
                    </m:oMath>
                  </m:oMathPara>
                </a14:m>
                <a:endParaRPr lang="zh-CN" altLang="en-US" sz="2400" b="1" dirty="0"/>
              </a:p>
            </p:txBody>
          </p:sp>
        </mc:Choice>
        <mc:Fallback xmlns=""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8591" y="3590527"/>
                <a:ext cx="5125016" cy="1185073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矩形 9"/>
          <p:cNvSpPr/>
          <p:nvPr/>
        </p:nvSpPr>
        <p:spPr>
          <a:xfrm>
            <a:off x="371446" y="4637814"/>
            <a:ext cx="8968716" cy="1192703"/>
          </a:xfrm>
          <a:prstGeom prst="rect">
            <a:avLst/>
          </a:prstGeom>
        </p:spPr>
        <p:txBody>
          <a:bodyPr wrap="square" lIns="83887" tIns="41944" rIns="83887" bIns="41944">
            <a:spAutoFit/>
          </a:bodyPr>
          <a:lstStyle/>
          <a:p>
            <a:pPr marL="262147" indent="-262147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spc="14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QMCWBO+ËÎÌå"/>
              </a:rPr>
              <a:t>第一项为所有最小子问题的计算工作量</a:t>
            </a:r>
            <a:endParaRPr lang="en-US" altLang="zh-CN" sz="2400" spc="14" dirty="0">
              <a:solidFill>
                <a:srgbClr val="000000"/>
              </a:solidFill>
              <a:latin typeface="黑体" pitchFamily="49" charset="-122"/>
              <a:ea typeface="黑体" pitchFamily="49" charset="-122"/>
              <a:cs typeface="QMCWBO+ËÎÌå"/>
            </a:endParaRPr>
          </a:p>
          <a:p>
            <a:pPr marL="262147" indent="-262147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spc="14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</a:rPr>
              <a:t>第二项为迭代过程归约到子问题及综合解的工作量</a:t>
            </a:r>
            <a:endParaRPr lang="zh-CN" altLang="en-US" sz="2400" dirty="0">
              <a:latin typeface="黑体" pitchFamily="49" charset="-122"/>
              <a:ea typeface="黑体" pitchFamily="49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矩形 10"/>
              <p:cNvSpPr/>
              <p:nvPr/>
            </p:nvSpPr>
            <p:spPr>
              <a:xfrm>
                <a:off x="4904394" y="3987281"/>
                <a:ext cx="1589609" cy="454039"/>
              </a:xfrm>
              <a:prstGeom prst="rect">
                <a:avLst/>
              </a:prstGeom>
            </p:spPr>
            <p:txBody>
              <a:bodyPr wrap="none" lIns="83887" tIns="41944" rIns="83887" bIns="41944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1" i="1" dirty="0">
                          <a:latin typeface="Cambria Math" panose="02040503050406030204" pitchFamily="18" charset="0"/>
                        </a:rPr>
                        <m:t>𝑻</m:t>
                      </m:r>
                      <m:d>
                        <m:dPr>
                          <m:ctrlPr>
                            <a:rPr lang="en-US" altLang="zh-CN" sz="2400" b="1" i="1" dirty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altLang="zh-CN" sz="2400" b="1" i="1" dirty="0"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</m:d>
                      <m:r>
                        <a:rPr lang="en-US" altLang="zh-CN" sz="2400" b="1" i="1" dirty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400" b="1" i="1" dirty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altLang="zh-CN" sz="2400" b="1" i="1" dirty="0">
                              <a:latin typeface="Cambria Math" panose="02040503050406030204" pitchFamily="18" charset="0"/>
                            </a:rPr>
                            <m:t>𝒄</m:t>
                          </m:r>
                        </m:e>
                        <m:sub>
                          <m:r>
                            <a:rPr lang="en-US" altLang="zh-CN" sz="2400" b="1" i="1" dirty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zh-CN" altLang="en-US" sz="2400" b="1" dirty="0"/>
              </a:p>
            </p:txBody>
          </p:sp>
        </mc:Choice>
        <mc:Fallback xmlns="">
          <p:sp>
            <p:nvSpPr>
              <p:cNvPr id="11" name="矩形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04394" y="3987281"/>
                <a:ext cx="1589609" cy="454039"/>
              </a:xfrm>
              <a:prstGeom prst="rect">
                <a:avLst/>
              </a:prstGeom>
              <a:blipFill rotWithShape="1">
                <a:blip r:embed="rId6"/>
                <a:stretch>
                  <a:fillRect b="-1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7" name="组合 16"/>
          <p:cNvGrpSpPr/>
          <p:nvPr/>
        </p:nvGrpSpPr>
        <p:grpSpPr>
          <a:xfrm>
            <a:off x="7165832" y="3155699"/>
            <a:ext cx="1718099" cy="1285621"/>
            <a:chOff x="6703961" y="2466483"/>
            <a:chExt cx="1718099" cy="128562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文本框 5"/>
                <p:cNvSpPr txBox="1"/>
                <p:nvPr/>
              </p:nvSpPr>
              <p:spPr>
                <a:xfrm>
                  <a:off x="6787940" y="2466483"/>
                  <a:ext cx="1570696" cy="531817"/>
                </a:xfrm>
                <a:prstGeom prst="rect">
                  <a:avLst/>
                </a:prstGeom>
                <a:noFill/>
              </p:spPr>
              <p:txBody>
                <a:bodyPr wrap="square" lIns="83887" tIns="41944" rIns="83887" bIns="41944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CN" sz="2800" b="1" i="1" dirty="0" smtClean="0"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a:rPr lang="en-US" altLang="zh-CN" sz="2800" b="1" i="1" dirty="0">
                                <a:latin typeface="Cambria Math" panose="02040503050406030204" pitchFamily="18" charset="0"/>
                              </a:rPr>
                              <m:t>𝒃</m:t>
                            </m:r>
                          </m:e>
                          <m:sup>
                            <m:r>
                              <a:rPr lang="en-US" altLang="zh-CN" sz="2800" b="1" i="1" dirty="0">
                                <a:latin typeface="Cambria Math" panose="02040503050406030204" pitchFamily="18" charset="0"/>
                              </a:rPr>
                              <m:t>𝒌</m:t>
                            </m:r>
                          </m:sup>
                        </m:sSup>
                        <m:r>
                          <a:rPr lang="en-US" altLang="zh-CN" sz="2800" b="1" i="1" dirty="0" smtClean="0">
                            <a:latin typeface="Cambria Math"/>
                          </a:rPr>
                          <m:t>=</m:t>
                        </m:r>
                        <m:r>
                          <a:rPr lang="en-US" altLang="zh-CN" sz="2800" b="1" i="1" dirty="0">
                            <a:latin typeface="Cambria Math" panose="02040503050406030204" pitchFamily="18" charset="0"/>
                          </a:rPr>
                          <m:t>𝒏</m:t>
                        </m:r>
                      </m:oMath>
                    </m:oMathPara>
                  </a14:m>
                  <a:endParaRPr lang="zh-CN" altLang="en-US" sz="2200" b="1" dirty="0"/>
                </a:p>
              </p:txBody>
            </p:sp>
          </mc:Choice>
          <mc:Fallback xmlns="">
            <p:sp>
              <p:nvSpPr>
                <p:cNvPr id="12" name="文本框 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87940" y="2466483"/>
                  <a:ext cx="1570696" cy="531817"/>
                </a:xfrm>
                <a:prstGeom prst="rect">
                  <a:avLst/>
                </a:prstGeom>
                <a:blipFill rotWithShape="1"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TextBox 2"/>
                <p:cNvSpPr txBox="1"/>
                <p:nvPr/>
              </p:nvSpPr>
              <p:spPr>
                <a:xfrm>
                  <a:off x="6703961" y="3228884"/>
                  <a:ext cx="1718099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2800" b="1" i="1" dirty="0" smtClean="0">
                      <a:latin typeface="Times New Roman" pitchFamily="18" charset="0"/>
                      <a:cs typeface="Times New Roman" pitchFamily="18" charset="0"/>
                    </a:rPr>
                    <a:t>k=</a:t>
                  </a:r>
                  <a:r>
                    <a:rPr lang="en-US" altLang="zh-CN" sz="2800" b="1" dirty="0" smtClean="0"/>
                    <a:t> </a:t>
                  </a:r>
                  <a14:m>
                    <m:oMath xmlns:m="http://schemas.openxmlformats.org/officeDocument/2006/math">
                      <m:func>
                        <m:funcPr>
                          <m:ctrlPr>
                            <a:rPr lang="en-US" altLang="zh-CN" sz="2800" b="1" i="1">
                              <a:latin typeface="Cambria Math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US" altLang="zh-CN" sz="2800" b="1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altLang="zh-CN" sz="2800" b="1" i="1">
                                  <a:latin typeface="Cambria Math"/>
                                </a:rPr>
                                <m:t>𝒍𝒐𝒈</m:t>
                              </m:r>
                            </m:e>
                            <m:sub>
                              <m:r>
                                <a:rPr lang="en-US" altLang="zh-CN" sz="2800" b="1" i="1">
                                  <a:latin typeface="Cambria Math"/>
                                </a:rPr>
                                <m:t>𝒃</m:t>
                              </m:r>
                            </m:sub>
                          </m:sSub>
                        </m:fName>
                        <m:e>
                          <m:r>
                            <a:rPr lang="en-US" altLang="zh-CN" sz="2800" b="1" i="1">
                              <a:latin typeface="Cambria Math"/>
                            </a:rPr>
                            <m:t>𝒏</m:t>
                          </m:r>
                        </m:e>
                      </m:func>
                    </m:oMath>
                  </a14:m>
                  <a:endParaRPr lang="zh-CN" altLang="en-US" sz="2800" b="1" i="1" dirty="0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</mc:Choice>
          <mc:Fallback xmlns="">
            <p:sp>
              <p:nvSpPr>
                <p:cNvPr id="3" name="TextBox 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03961" y="3228884"/>
                  <a:ext cx="1718099" cy="523220"/>
                </a:xfrm>
                <a:prstGeom prst="rect">
                  <a:avLst/>
                </a:prstGeom>
                <a:blipFill rotWithShape="1">
                  <a:blip r:embed="rId8"/>
                  <a:stretch>
                    <a:fillRect l="-7092" t="-12791" b="-3023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" name="下箭头 8"/>
            <p:cNvSpPr/>
            <p:nvPr/>
          </p:nvSpPr>
          <p:spPr>
            <a:xfrm>
              <a:off x="7371188" y="2929812"/>
              <a:ext cx="304741" cy="401217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5"/>
              <p:cNvSpPr txBox="1"/>
              <p:nvPr/>
            </p:nvSpPr>
            <p:spPr>
              <a:xfrm>
                <a:off x="6054743" y="969196"/>
                <a:ext cx="3667107" cy="534767"/>
              </a:xfrm>
              <a:prstGeom prst="rect">
                <a:avLst/>
              </a:prstGeom>
              <a:noFill/>
            </p:spPr>
            <p:txBody>
              <a:bodyPr wrap="square" lIns="83887" tIns="41944" rIns="83887" bIns="41944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800" b="1" i="1" dirty="0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US" altLang="zh-CN" sz="2800" b="1" i="1" dirty="0" smtClean="0">
                              <a:latin typeface="Cambria Math"/>
                            </a:rPr>
                            <m:t>𝒂</m:t>
                          </m:r>
                        </m:e>
                        <m:sup>
                          <m:r>
                            <a:rPr lang="en-US" altLang="zh-CN" sz="2800" b="1" i="1" dirty="0">
                              <a:latin typeface="Cambria Math" panose="02040503050406030204" pitchFamily="18" charset="0"/>
                            </a:rPr>
                            <m:t>𝒌</m:t>
                          </m:r>
                        </m:sup>
                      </m:sSup>
                      <m:r>
                        <a:rPr lang="en-US" altLang="zh-CN" sz="2800" b="1" i="0" dirty="0" smtClean="0">
                          <a:latin typeface="Cambria Math"/>
                        </a:rPr>
                        <m:t>=</m:t>
                      </m:r>
                      <m:sSup>
                        <m:sSupPr>
                          <m:ctrlPr>
                            <a:rPr lang="en-US" altLang="zh-CN" sz="2800" b="1" i="1" dirty="0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US" altLang="zh-CN" sz="2800" b="1" i="1" dirty="0" smtClean="0">
                              <a:latin typeface="Cambria Math"/>
                            </a:rPr>
                            <m:t>𝒂</m:t>
                          </m:r>
                        </m:e>
                        <m:sup>
                          <m:func>
                            <m:funcPr>
                              <m:ctrlPr>
                                <a:rPr lang="en-US" altLang="zh-CN" sz="2800" b="1" i="1">
                                  <a:latin typeface="Cambria Math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n-US" altLang="zh-CN" sz="2800" b="1" i="1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b="1" i="1">
                                      <a:latin typeface="Cambria Math"/>
                                    </a:rPr>
                                    <m:t>𝒍𝒐𝒈</m:t>
                                  </m:r>
                                </m:e>
                                <m:sub>
                                  <m:r>
                                    <a:rPr lang="en-US" altLang="zh-CN" sz="2800" b="1" i="1">
                                      <a:latin typeface="Cambria Math"/>
                                    </a:rPr>
                                    <m:t>𝒃</m:t>
                                  </m:r>
                                </m:sub>
                              </m:sSub>
                            </m:fName>
                            <m:e>
                              <m:r>
                                <a:rPr lang="en-US" altLang="zh-CN" sz="2800" b="1" i="1">
                                  <a:latin typeface="Cambria Math"/>
                                </a:rPr>
                                <m:t>𝒏</m:t>
                              </m:r>
                            </m:e>
                          </m:func>
                        </m:sup>
                      </m:sSup>
                      <m:r>
                        <a:rPr lang="en-US" altLang="zh-CN" sz="2800" b="1" i="1" dirty="0" smtClean="0">
                          <a:latin typeface="Cambria Math"/>
                        </a:rPr>
                        <m:t>=</m:t>
                      </m:r>
                      <m:sSup>
                        <m:sSupPr>
                          <m:ctrlPr>
                            <a:rPr lang="en-US" altLang="zh-CN" sz="2800" b="1" i="1" dirty="0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US" altLang="zh-CN" sz="2800" b="1" i="1" dirty="0" smtClean="0">
                              <a:latin typeface="Cambria Math"/>
                            </a:rPr>
                            <m:t>𝒏</m:t>
                          </m:r>
                        </m:e>
                        <m:sup>
                          <m:func>
                            <m:funcPr>
                              <m:ctrlPr>
                                <a:rPr lang="en-US" altLang="zh-CN" sz="2800" b="1" i="1" dirty="0" smtClean="0">
                                  <a:latin typeface="Cambria Math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n-US" altLang="zh-CN" sz="2800" b="1" i="1" dirty="0" smtClean="0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2800" b="0" i="0" dirty="0" smtClean="0">
                                      <a:latin typeface="Cambria Math"/>
                                    </a:rPr>
                                    <m:t>log</m:t>
                                  </m:r>
                                </m:e>
                                <m:sub>
                                  <m:r>
                                    <a:rPr lang="en-US" altLang="zh-CN" sz="2800" b="1" i="1" dirty="0" smtClean="0">
                                      <a:latin typeface="Cambria Math"/>
                                    </a:rPr>
                                    <m:t>𝒃</m:t>
                                  </m:r>
                                </m:sub>
                              </m:sSub>
                            </m:fName>
                            <m:e>
                              <m:r>
                                <a:rPr lang="en-US" altLang="zh-CN" sz="2800" b="1" i="1" dirty="0" smtClean="0">
                                  <a:latin typeface="Cambria Math"/>
                                </a:rPr>
                                <m:t>𝒂</m:t>
                              </m:r>
                            </m:e>
                          </m:func>
                        </m:sup>
                      </m:sSup>
                    </m:oMath>
                  </m:oMathPara>
                </a14:m>
                <a:endParaRPr lang="zh-CN" altLang="en-US" sz="2200" b="1" dirty="0"/>
              </a:p>
            </p:txBody>
          </p:sp>
        </mc:Choice>
        <mc:Fallback xmlns="">
          <p:sp>
            <p:nvSpPr>
              <p:cNvPr id="14" name="文本框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54743" y="969196"/>
                <a:ext cx="3667107" cy="534767"/>
              </a:xfrm>
              <a:prstGeom prst="rect">
                <a:avLst/>
              </a:prstGeom>
              <a:blipFill rotWithShape="1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矩形 14"/>
          <p:cNvSpPr/>
          <p:nvPr/>
        </p:nvSpPr>
        <p:spPr>
          <a:xfrm>
            <a:off x="1138335" y="1595535"/>
            <a:ext cx="1296955" cy="821253"/>
          </a:xfrm>
          <a:prstGeom prst="rect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2699662" y="1602347"/>
            <a:ext cx="4823896" cy="821253"/>
          </a:xfrm>
          <a:prstGeom prst="rect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50802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/>
      <p:bldP spid="8" grpId="0"/>
      <p:bldP spid="10" grpId="0"/>
      <p:bldP spid="11" grpId="0"/>
      <p:bldP spid="14" grpId="0"/>
      <p:bldP spid="15" grpId="0" animBg="1"/>
      <p:bldP spid="16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406582" y="102348"/>
            <a:ext cx="8924029" cy="793392"/>
          </a:xfrm>
        </p:spPr>
        <p:txBody>
          <a:bodyPr>
            <a:normAutofit/>
          </a:bodyPr>
          <a:lstStyle/>
          <a:p>
            <a:pPr algn="ctr"/>
            <a:r>
              <a:rPr lang="en-US" altLang="zh-CN" sz="4400" b="1" dirty="0" smtClean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Case1</a:t>
            </a:r>
            <a:endParaRPr lang="zh-CN" altLang="en-US" sz="4400" b="1" dirty="0">
              <a:solidFill>
                <a:srgbClr val="C00000"/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6" name="object 21"/>
          <p:cNvSpPr/>
          <p:nvPr/>
        </p:nvSpPr>
        <p:spPr>
          <a:xfrm>
            <a:off x="6104803" y="1083142"/>
            <a:ext cx="3244468" cy="576782"/>
          </a:xfrm>
          <a:custGeom>
            <a:avLst/>
            <a:gdLst/>
            <a:ahLst/>
            <a:cxnLst/>
            <a:rect l="l" t="t" r="r" b="b"/>
            <a:pathLst>
              <a:path w="1752600" h="1447800">
                <a:moveTo>
                  <a:pt x="0" y="241300"/>
                </a:moveTo>
                <a:lnTo>
                  <a:pt x="4904" y="192682"/>
                </a:lnTo>
                <a:lnTo>
                  <a:pt x="18968" y="147393"/>
                </a:lnTo>
                <a:lnTo>
                  <a:pt x="41221" y="106405"/>
                </a:lnTo>
                <a:lnTo>
                  <a:pt x="70691" y="70691"/>
                </a:lnTo>
                <a:lnTo>
                  <a:pt x="106405" y="41221"/>
                </a:lnTo>
                <a:lnTo>
                  <a:pt x="147393" y="18968"/>
                </a:lnTo>
                <a:lnTo>
                  <a:pt x="192682" y="4904"/>
                </a:lnTo>
                <a:lnTo>
                  <a:pt x="241300" y="0"/>
                </a:lnTo>
                <a:lnTo>
                  <a:pt x="1511300" y="0"/>
                </a:lnTo>
                <a:lnTo>
                  <a:pt x="1559917" y="4904"/>
                </a:lnTo>
                <a:lnTo>
                  <a:pt x="1605206" y="18968"/>
                </a:lnTo>
                <a:lnTo>
                  <a:pt x="1646194" y="41221"/>
                </a:lnTo>
                <a:lnTo>
                  <a:pt x="1681908" y="70691"/>
                </a:lnTo>
                <a:lnTo>
                  <a:pt x="1711378" y="106405"/>
                </a:lnTo>
                <a:lnTo>
                  <a:pt x="1733631" y="147393"/>
                </a:lnTo>
                <a:lnTo>
                  <a:pt x="1747695" y="192682"/>
                </a:lnTo>
                <a:lnTo>
                  <a:pt x="1752600" y="241300"/>
                </a:lnTo>
                <a:lnTo>
                  <a:pt x="1752600" y="1206500"/>
                </a:lnTo>
                <a:lnTo>
                  <a:pt x="1747695" y="1255128"/>
                </a:lnTo>
                <a:lnTo>
                  <a:pt x="1733631" y="1300422"/>
                </a:lnTo>
                <a:lnTo>
                  <a:pt x="1711378" y="1341410"/>
                </a:lnTo>
                <a:lnTo>
                  <a:pt x="1681908" y="1377122"/>
                </a:lnTo>
                <a:lnTo>
                  <a:pt x="1646194" y="1406588"/>
                </a:lnTo>
                <a:lnTo>
                  <a:pt x="1605206" y="1428836"/>
                </a:lnTo>
                <a:lnTo>
                  <a:pt x="1559917" y="1442897"/>
                </a:lnTo>
                <a:lnTo>
                  <a:pt x="1511300" y="1447800"/>
                </a:lnTo>
                <a:lnTo>
                  <a:pt x="241300" y="1447800"/>
                </a:lnTo>
                <a:lnTo>
                  <a:pt x="192682" y="1442897"/>
                </a:lnTo>
                <a:lnTo>
                  <a:pt x="147393" y="1428836"/>
                </a:lnTo>
                <a:lnTo>
                  <a:pt x="106405" y="1406588"/>
                </a:lnTo>
                <a:lnTo>
                  <a:pt x="70691" y="1377122"/>
                </a:lnTo>
                <a:lnTo>
                  <a:pt x="41221" y="1341410"/>
                </a:lnTo>
                <a:lnTo>
                  <a:pt x="18968" y="1300422"/>
                </a:lnTo>
                <a:lnTo>
                  <a:pt x="4904" y="1255128"/>
                </a:lnTo>
                <a:lnTo>
                  <a:pt x="0" y="1206500"/>
                </a:lnTo>
                <a:lnTo>
                  <a:pt x="0" y="241300"/>
                </a:lnTo>
                <a:close/>
              </a:path>
            </a:pathLst>
          </a:custGeom>
          <a:ln w="3175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 sz="22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/>
              <p:cNvSpPr txBox="1"/>
              <p:nvPr/>
            </p:nvSpPr>
            <p:spPr>
              <a:xfrm>
                <a:off x="406582" y="1482342"/>
                <a:ext cx="8924030" cy="1368392"/>
              </a:xfrm>
              <a:prstGeom prst="rect">
                <a:avLst/>
              </a:prstGeom>
              <a:noFill/>
            </p:spPr>
            <p:txBody>
              <a:bodyPr wrap="square" lIns="83887" tIns="41944" rIns="83887" bIns="41944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800" b="1" i="1" dirty="0">
                          <a:latin typeface="Cambria Math" panose="02040503050406030204" pitchFamily="18" charset="0"/>
                        </a:rPr>
                        <m:t>𝑻</m:t>
                      </m:r>
                      <m:r>
                        <a:rPr lang="en-US" altLang="zh-CN" sz="2800" b="1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800" b="1" i="1" dirty="0"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US" altLang="zh-CN" sz="2800" b="1" i="1" dirty="0">
                          <a:latin typeface="Cambria Math" panose="02040503050406030204" pitchFamily="18" charset="0"/>
                        </a:rPr>
                        <m:t>)=</m:t>
                      </m:r>
                      <m:sSub>
                        <m:sSubPr>
                          <m:ctrlPr>
                            <a:rPr lang="en-US" altLang="zh-CN" sz="2800" b="1" i="1" dirty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altLang="zh-CN" sz="2800" b="1" i="1" dirty="0">
                              <a:latin typeface="Cambria Math" panose="02040503050406030204" pitchFamily="18" charset="0"/>
                            </a:rPr>
                            <m:t>𝒄</m:t>
                          </m:r>
                        </m:e>
                        <m:sub>
                          <m:r>
                            <a:rPr lang="en-US" altLang="zh-CN" sz="2800" b="1" i="1" dirty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sSup>
                        <m:sSupPr>
                          <m:ctrlPr>
                            <a:rPr lang="en-US" altLang="zh-CN" sz="2800" b="1" i="1" dirty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US" altLang="zh-CN" sz="2800" b="1" i="1" dirty="0"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en-US" altLang="zh-CN" sz="2800" b="1" i="1" dirty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  <m:sup>
                          <m:func>
                            <m:funcPr>
                              <m:ctrlPr>
                                <a:rPr lang="en-US" altLang="zh-CN" sz="2800" b="1" i="1" dirty="0">
                                  <a:latin typeface="Cambria Math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n-US" altLang="zh-CN" sz="2800" b="1" i="1" dirty="0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b="1" i="1" dirty="0">
                                      <a:latin typeface="Cambria Math" panose="02040503050406030204" pitchFamily="18" charset="0"/>
                                    </a:rPr>
                                    <m:t>𝒍𝒐𝒈</m:t>
                                  </m:r>
                                </m:e>
                                <m:sub>
                                  <m:r>
                                    <a:rPr lang="en-US" altLang="zh-CN" sz="2800" b="1" i="1" dirty="0">
                                      <a:latin typeface="Cambria Math" panose="02040503050406030204" pitchFamily="18" charset="0"/>
                                    </a:rPr>
                                    <m:t>𝒃</m:t>
                                  </m:r>
                                </m:sub>
                              </m:sSub>
                            </m:fName>
                            <m:e>
                              <m:r>
                                <a:rPr lang="en-US" altLang="zh-CN" sz="2800" b="1" i="1" dirty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</m:func>
                        </m:sup>
                      </m:sSup>
                      <m:r>
                        <a:rPr lang="en-US" altLang="zh-CN" sz="2800" b="1" i="1" dirty="0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ctrlPr>
                            <a:rPr lang="en-US" altLang="zh-CN" sz="2800" b="1" i="1" dirty="0">
                              <a:latin typeface="Cambria Math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800" b="1" i="1" dirty="0">
                              <a:latin typeface="Cambria Math" panose="02040503050406030204" pitchFamily="18" charset="0"/>
                            </a:rPr>
                            <m:t>𝒋</m:t>
                          </m:r>
                          <m:r>
                            <a:rPr lang="en-US" altLang="zh-CN" sz="2800" b="1" i="1" dirty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sz="2800" b="1" i="1" dirty="0"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  <m:sup>
                          <m:r>
                            <a:rPr lang="en-US" altLang="zh-CN" sz="2800" b="1" i="1" dirty="0">
                              <a:latin typeface="Cambria Math" panose="02040503050406030204" pitchFamily="18" charset="0"/>
                            </a:rPr>
                            <m:t>𝒌</m:t>
                          </m:r>
                          <m:r>
                            <a:rPr lang="en-US" altLang="zh-CN" sz="2800" b="1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2800" b="1" i="1" dirty="0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  <m:e>
                          <m:sSup>
                            <m:sSupPr>
                              <m:ctrlPr>
                                <a:rPr lang="en-US" altLang="zh-CN" sz="2800" b="1" i="1" dirty="0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US" altLang="zh-CN" sz="2800" b="1" i="1" dirty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  <m:sup>
                              <m:r>
                                <a:rPr lang="en-US" altLang="zh-CN" sz="2800" b="1" i="1" dirty="0">
                                  <a:latin typeface="Cambria Math" panose="02040503050406030204" pitchFamily="18" charset="0"/>
                                </a:rPr>
                                <m:t>𝒋</m:t>
                              </m:r>
                            </m:sup>
                          </m:sSup>
                        </m:e>
                      </m:nary>
                      <m:r>
                        <a:rPr lang="en-US" altLang="zh-CN" sz="2800" b="1" i="1" dirty="0">
                          <a:latin typeface="Cambria Math" panose="02040503050406030204" pitchFamily="18" charset="0"/>
                        </a:rPr>
                        <m:t>𝒇</m:t>
                      </m:r>
                      <m:d>
                        <m:dPr>
                          <m:ctrlPr>
                            <a:rPr lang="en-US" altLang="zh-CN" sz="2800" b="1" i="1" dirty="0">
                              <a:latin typeface="Cambria Math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sz="2800" b="1" i="1" dirty="0">
                                  <a:latin typeface="Cambria Math"/>
                                </a:rPr>
                              </m:ctrlPr>
                            </m:fPr>
                            <m:num>
                              <m:r>
                                <a:rPr lang="en-US" altLang="zh-CN" sz="2800" b="1" i="1" dirty="0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US" altLang="zh-CN" sz="2800" b="1" i="1" dirty="0">
                                      <a:latin typeface="Cambria Math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800" b="1" i="1" dirty="0">
                                      <a:latin typeface="Cambria Math" panose="02040503050406030204" pitchFamily="18" charset="0"/>
                                    </a:rPr>
                                    <m:t>𝒃</m:t>
                                  </m:r>
                                </m:e>
                                <m:sup>
                                  <m:r>
                                    <a:rPr lang="en-US" altLang="zh-CN" sz="2800" b="1" i="1" dirty="0">
                                      <a:latin typeface="Cambria Math" panose="02040503050406030204" pitchFamily="18" charset="0"/>
                                    </a:rPr>
                                    <m:t>𝒋</m:t>
                                  </m:r>
                                </m:sup>
                              </m:sSup>
                            </m:den>
                          </m:f>
                        </m:e>
                      </m:d>
                    </m:oMath>
                  </m:oMathPara>
                </a14:m>
                <a:endParaRPr lang="zh-CN" altLang="en-US" sz="2800" b="1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7" name="文本框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582" y="1482342"/>
                <a:ext cx="8924030" cy="1368392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/>
              <p:cNvSpPr txBox="1"/>
              <p:nvPr/>
            </p:nvSpPr>
            <p:spPr>
              <a:xfrm>
                <a:off x="1278293" y="2938321"/>
                <a:ext cx="8052318" cy="1471882"/>
              </a:xfrm>
              <a:prstGeom prst="rect">
                <a:avLst/>
              </a:prstGeom>
              <a:noFill/>
            </p:spPr>
            <p:txBody>
              <a:bodyPr wrap="square" lIns="83887" tIns="41944" rIns="83887" bIns="41944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800" b="1" i="1" dirty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800" b="1" i="1" dirty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altLang="zh-CN" sz="2800" b="1" i="1" dirty="0">
                              <a:latin typeface="Cambria Math" panose="02040503050406030204" pitchFamily="18" charset="0"/>
                            </a:rPr>
                            <m:t>𝒄</m:t>
                          </m:r>
                        </m:e>
                        <m:sub>
                          <m:r>
                            <a:rPr lang="en-US" altLang="zh-CN" sz="2800" b="1" i="1" dirty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sSup>
                        <m:sSupPr>
                          <m:ctrlPr>
                            <a:rPr lang="en-US" altLang="zh-CN" sz="2800" b="1" i="1" dirty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US" altLang="zh-CN" sz="2800" b="1" i="1" dirty="0"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en-US" altLang="zh-CN" sz="2800" b="1" i="1" dirty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  <m:sup>
                          <m:func>
                            <m:funcPr>
                              <m:ctrlPr>
                                <a:rPr lang="en-US" altLang="zh-CN" sz="2800" b="1" i="1" dirty="0">
                                  <a:latin typeface="Cambria Math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n-US" altLang="zh-CN" sz="2800" b="1" i="1" dirty="0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b="1" i="1" dirty="0">
                                      <a:latin typeface="Cambria Math" panose="02040503050406030204" pitchFamily="18" charset="0"/>
                                    </a:rPr>
                                    <m:t>𝒍𝒐𝒈</m:t>
                                  </m:r>
                                </m:e>
                                <m:sub>
                                  <m:r>
                                    <a:rPr lang="en-US" altLang="zh-CN" sz="2800" b="1" i="1" dirty="0">
                                      <a:latin typeface="Cambria Math" panose="02040503050406030204" pitchFamily="18" charset="0"/>
                                    </a:rPr>
                                    <m:t>𝒃</m:t>
                                  </m:r>
                                </m:sub>
                              </m:sSub>
                            </m:fName>
                            <m:e>
                              <m:r>
                                <a:rPr lang="en-US" altLang="zh-CN" sz="2800" b="1" i="1" dirty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</m:func>
                        </m:sup>
                      </m:sSup>
                      <m:r>
                        <a:rPr lang="en-US" altLang="zh-CN" sz="2800" b="1" i="1" dirty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800" b="1" i="1" dirty="0">
                          <a:latin typeface="Cambria Math" panose="02040503050406030204" pitchFamily="18" charset="0"/>
                        </a:rPr>
                        <m:t>𝑶</m:t>
                      </m:r>
                      <m:d>
                        <m:dPr>
                          <m:ctrlPr>
                            <a:rPr lang="en-US" altLang="zh-CN" sz="2800" b="1" i="1" dirty="0">
                              <a:latin typeface="Cambria Math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ctrlPr>
                                <a:rPr lang="en-US" altLang="zh-CN" sz="2800" b="1" i="1" dirty="0">
                                  <a:latin typeface="Cambria Math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zh-CN" sz="2800" b="1" i="1" dirty="0">
                                  <a:latin typeface="Cambria Math" panose="02040503050406030204" pitchFamily="18" charset="0"/>
                                </a:rPr>
                                <m:t>𝒋</m:t>
                              </m:r>
                              <m:r>
                                <a:rPr lang="en-US" altLang="zh-CN" sz="2800" b="1" i="1" dirty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zh-CN" sz="2800" b="1" i="1" dirty="0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sub>
                            <m:sup>
                              <m:func>
                                <m:funcPr>
                                  <m:ctrlPr>
                                    <a:rPr lang="en-US" altLang="zh-CN" sz="2800" b="1" i="1" dirty="0" smtClean="0">
                                      <a:solidFill>
                                        <a:srgbClr val="C00000"/>
                                      </a:solidFill>
                                      <a:latin typeface="Cambria Math"/>
                                    </a:rPr>
                                  </m:ctrlPr>
                                </m:funcPr>
                                <m:fName>
                                  <m:sSub>
                                    <m:sSubPr>
                                      <m:ctrlPr>
                                        <a:rPr lang="en-US" altLang="zh-CN" sz="2800" b="1" i="1" dirty="0">
                                          <a:solidFill>
                                            <a:srgbClr val="C00000"/>
                                          </a:solidFill>
                                          <a:latin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800" b="1" i="1" dirty="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𝒍𝒐𝒈</m:t>
                                      </m:r>
                                    </m:e>
                                    <m:sub>
                                      <m:r>
                                        <a:rPr lang="en-US" altLang="zh-CN" sz="2800" b="1" i="1" dirty="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𝒃</m:t>
                                      </m:r>
                                    </m:sub>
                                  </m:sSub>
                                </m:fName>
                                <m:e>
                                  <m:r>
                                    <a:rPr lang="en-US" altLang="zh-CN" sz="2800" b="1" i="1" dirty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𝒏</m:t>
                                  </m:r>
                                </m:e>
                              </m:func>
                              <m:r>
                                <a:rPr lang="en-US" altLang="zh-CN" sz="2800" b="1" i="1" dirty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2800" b="1" i="1" dirty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altLang="zh-CN" sz="2800" b="1" i="1" dirty="0">
                                      <a:latin typeface="Cambria Math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800" b="1" i="1" dirty="0">
                                      <a:latin typeface="Cambria Math" panose="02040503050406030204" pitchFamily="18" charset="0"/>
                                    </a:rPr>
                                    <m:t>𝒂</m:t>
                                  </m:r>
                                </m:e>
                                <m:sup>
                                  <m:r>
                                    <a:rPr lang="en-US" altLang="zh-CN" sz="2800" b="1" i="1" dirty="0">
                                      <a:latin typeface="Cambria Math" panose="02040503050406030204" pitchFamily="18" charset="0"/>
                                    </a:rPr>
                                    <m:t>𝒋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en-US" altLang="zh-CN" sz="2800" b="1" i="1" dirty="0">
                                      <a:latin typeface="Cambria Math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altLang="zh-CN" sz="2800" b="1" i="1" dirty="0">
                                          <a:latin typeface="Cambria Math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en-US" altLang="zh-CN" sz="2800" b="1" i="1" dirty="0">
                                              <a:latin typeface="Cambria Math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altLang="zh-CN" sz="2800" b="1" i="1" dirty="0">
                                              <a:latin typeface="Cambria Math" panose="02040503050406030204" pitchFamily="18" charset="0"/>
                                            </a:rPr>
                                            <m:t>𝒏</m:t>
                                          </m:r>
                                        </m:num>
                                        <m:den>
                                          <m:sSup>
                                            <m:sSupPr>
                                              <m:ctrlPr>
                                                <a:rPr lang="en-US" altLang="zh-CN" sz="2800" b="1" i="1" dirty="0">
                                                  <a:latin typeface="Cambria Math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en-US" altLang="zh-CN" sz="2800" b="1" i="1" dirty="0">
                                                  <a:latin typeface="Cambria Math" panose="02040503050406030204" pitchFamily="18" charset="0"/>
                                                </a:rPr>
                                                <m:t>𝒃</m:t>
                                              </m:r>
                                            </m:e>
                                            <m:sup>
                                              <m:r>
                                                <a:rPr lang="en-US" altLang="zh-CN" sz="2800" b="1" i="1" dirty="0">
                                                  <a:latin typeface="Cambria Math" panose="02040503050406030204" pitchFamily="18" charset="0"/>
                                                </a:rPr>
                                                <m:t>𝒋</m:t>
                                              </m:r>
                                            </m:sup>
                                          </m:sSup>
                                        </m:den>
                                      </m:f>
                                    </m:e>
                                  </m:d>
                                </m:e>
                                <m:sup>
                                  <m:func>
                                    <m:funcPr>
                                      <m:ctrlPr>
                                        <a:rPr lang="en-US" altLang="zh-CN" sz="2800" b="1" i="1" dirty="0">
                                          <a:latin typeface="Cambria Math"/>
                                        </a:rPr>
                                      </m:ctrlPr>
                                    </m:funcPr>
                                    <m:fName>
                                      <m:sSub>
                                        <m:sSubPr>
                                          <m:ctrlPr>
                                            <a:rPr lang="en-US" altLang="zh-CN" sz="2800" b="1" i="1" dirty="0">
                                              <a:latin typeface="Cambria Math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2800" b="1" i="1" dirty="0">
                                              <a:latin typeface="Cambria Math" panose="02040503050406030204" pitchFamily="18" charset="0"/>
                                            </a:rPr>
                                            <m:t>𝒍𝒐𝒈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800" b="1" i="1" dirty="0">
                                              <a:latin typeface="Cambria Math" panose="02040503050406030204" pitchFamily="18" charset="0"/>
                                            </a:rPr>
                                            <m:t>𝒃</m:t>
                                          </m:r>
                                        </m:sub>
                                      </m:sSub>
                                    </m:fName>
                                    <m:e>
                                      <m:r>
                                        <a:rPr lang="en-US" altLang="zh-CN" sz="2800" b="1" i="1" dirty="0">
                                          <a:latin typeface="Cambria Math" panose="02040503050406030204" pitchFamily="18" charset="0"/>
                                        </a:rPr>
                                        <m:t>𝒂</m:t>
                                      </m:r>
                                    </m:e>
                                  </m:func>
                                  <m:r>
                                    <a:rPr lang="en-US" altLang="zh-CN" sz="2800" b="1" i="1" dirty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zh-CN" altLang="en-US" sz="2800" b="1" i="1" dirty="0">
                                      <a:latin typeface="Cambria Math" panose="02040503050406030204" pitchFamily="18" charset="0"/>
                                    </a:rPr>
                                    <m:t>𝜺</m:t>
                                  </m:r>
                                </m:sup>
                              </m:sSup>
                            </m:e>
                          </m:nary>
                        </m:e>
                      </m:d>
                    </m:oMath>
                  </m:oMathPara>
                </a14:m>
                <a:endParaRPr lang="zh-CN" altLang="en-US" sz="2800" b="1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8293" y="2938321"/>
                <a:ext cx="8052318" cy="1471882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/>
              <p:cNvSpPr txBox="1"/>
              <p:nvPr/>
            </p:nvSpPr>
            <p:spPr>
              <a:xfrm>
                <a:off x="1278293" y="4400076"/>
                <a:ext cx="8052318" cy="1471882"/>
              </a:xfrm>
              <a:prstGeom prst="rect">
                <a:avLst/>
              </a:prstGeom>
              <a:noFill/>
            </p:spPr>
            <p:txBody>
              <a:bodyPr wrap="square" lIns="83887" tIns="41944" rIns="83887" bIns="41944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800" b="1" i="1" dirty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800" b="1" i="1" dirty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altLang="zh-CN" sz="2800" b="1" i="1" dirty="0">
                              <a:latin typeface="Cambria Math" panose="02040503050406030204" pitchFamily="18" charset="0"/>
                            </a:rPr>
                            <m:t>𝒄</m:t>
                          </m:r>
                        </m:e>
                        <m:sub>
                          <m:r>
                            <a:rPr lang="en-US" altLang="zh-CN" sz="2800" b="1" i="1" dirty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sSup>
                        <m:sSupPr>
                          <m:ctrlPr>
                            <a:rPr lang="en-US" altLang="zh-CN" sz="2800" b="1" i="1" dirty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US" altLang="zh-CN" sz="2800" b="1" i="1" dirty="0"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en-US" altLang="zh-CN" sz="2800" b="1" i="1" dirty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  <m:sup>
                          <m:func>
                            <m:funcPr>
                              <m:ctrlPr>
                                <a:rPr lang="en-US" altLang="zh-CN" sz="2800" b="1" i="1" dirty="0">
                                  <a:latin typeface="Cambria Math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n-US" altLang="zh-CN" sz="2800" b="1" i="1" dirty="0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b="1" i="1" dirty="0">
                                      <a:latin typeface="Cambria Math" panose="02040503050406030204" pitchFamily="18" charset="0"/>
                                    </a:rPr>
                                    <m:t>𝒍𝒐𝒈</m:t>
                                  </m:r>
                                </m:e>
                                <m:sub>
                                  <m:r>
                                    <a:rPr lang="en-US" altLang="zh-CN" sz="2800" b="1" i="1" dirty="0">
                                      <a:latin typeface="Cambria Math" panose="02040503050406030204" pitchFamily="18" charset="0"/>
                                    </a:rPr>
                                    <m:t>𝒃</m:t>
                                  </m:r>
                                </m:sub>
                              </m:sSub>
                            </m:fName>
                            <m:e>
                              <m:r>
                                <a:rPr lang="en-US" altLang="zh-CN" sz="2800" b="1" i="1" dirty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</m:func>
                        </m:sup>
                      </m:sSup>
                      <m:r>
                        <a:rPr lang="en-US" altLang="zh-CN" sz="2800" b="1" i="1" dirty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800" b="1" i="1" dirty="0">
                          <a:latin typeface="Cambria Math" panose="02040503050406030204" pitchFamily="18" charset="0"/>
                        </a:rPr>
                        <m:t>𝑶</m:t>
                      </m:r>
                      <m:d>
                        <m:dPr>
                          <m:ctrlPr>
                            <a:rPr lang="en-US" altLang="zh-CN" sz="2800" b="1" i="1" dirty="0">
                              <a:latin typeface="Cambria Math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sz="2800" b="1" i="1" dirty="0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US" altLang="zh-CN" sz="2800" b="1" i="1" dirty="0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e>
                            <m:sup>
                              <m:func>
                                <m:funcPr>
                                  <m:ctrlPr>
                                    <a:rPr lang="en-US" altLang="zh-CN" sz="2800" b="1" i="1" dirty="0">
                                      <a:latin typeface="Cambria Math"/>
                                    </a:rPr>
                                  </m:ctrlPr>
                                </m:funcPr>
                                <m:fName>
                                  <m:sSub>
                                    <m:sSubPr>
                                      <m:ctrlPr>
                                        <a:rPr lang="en-US" altLang="zh-CN" sz="2800" b="1" i="1" dirty="0">
                                          <a:latin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800" b="1" i="1" dirty="0">
                                          <a:latin typeface="Cambria Math" panose="02040503050406030204" pitchFamily="18" charset="0"/>
                                        </a:rPr>
                                        <m:t>𝒍𝒐𝒈</m:t>
                                      </m:r>
                                    </m:e>
                                    <m:sub>
                                      <m:r>
                                        <a:rPr lang="en-US" altLang="zh-CN" sz="2800" b="1" i="1" dirty="0">
                                          <a:latin typeface="Cambria Math" panose="02040503050406030204" pitchFamily="18" charset="0"/>
                                        </a:rPr>
                                        <m:t>𝒃</m:t>
                                      </m:r>
                                    </m:sub>
                                  </m:sSub>
                                </m:fName>
                                <m:e>
                                  <m:r>
                                    <a:rPr lang="en-US" altLang="zh-CN" sz="2800" b="1" i="1" dirty="0">
                                      <a:latin typeface="Cambria Math" panose="02040503050406030204" pitchFamily="18" charset="0"/>
                                    </a:rPr>
                                    <m:t>𝒂</m:t>
                                  </m:r>
                                </m:e>
                              </m:func>
                              <m:r>
                                <a:rPr lang="en-US" altLang="zh-CN" sz="2800" b="1" i="1" dirty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zh-CN" altLang="en-US" sz="2800" b="1" i="1" dirty="0">
                                  <a:latin typeface="Cambria Math" panose="02040503050406030204" pitchFamily="18" charset="0"/>
                                </a:rPr>
                                <m:t>𝜺</m:t>
                              </m:r>
                            </m:sup>
                          </m:sSup>
                          <m:nary>
                            <m:naryPr>
                              <m:chr m:val="∑"/>
                              <m:ctrlPr>
                                <a:rPr lang="en-US" altLang="zh-CN" sz="2800" b="1" i="1" dirty="0">
                                  <a:latin typeface="Cambria Math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zh-CN" sz="2800" b="1" i="1" dirty="0">
                                  <a:latin typeface="Cambria Math" panose="02040503050406030204" pitchFamily="18" charset="0"/>
                                </a:rPr>
                                <m:t>𝒋</m:t>
                              </m:r>
                              <m:r>
                                <a:rPr lang="en-US" altLang="zh-CN" sz="2800" b="1" i="1" dirty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zh-CN" sz="2800" b="1" i="1" dirty="0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sub>
                            <m:sup>
                              <m:func>
                                <m:funcPr>
                                  <m:ctrlPr>
                                    <a:rPr lang="en-US" altLang="zh-CN" sz="2800" b="1" i="1" dirty="0">
                                      <a:latin typeface="Cambria Math"/>
                                    </a:rPr>
                                  </m:ctrlPr>
                                </m:funcPr>
                                <m:fName>
                                  <m:sSub>
                                    <m:sSubPr>
                                      <m:ctrlPr>
                                        <a:rPr lang="en-US" altLang="zh-CN" sz="2800" b="1" i="1" dirty="0">
                                          <a:latin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800" b="1" i="1" dirty="0">
                                          <a:latin typeface="Cambria Math" panose="02040503050406030204" pitchFamily="18" charset="0"/>
                                        </a:rPr>
                                        <m:t>𝒍𝒐𝒈</m:t>
                                      </m:r>
                                    </m:e>
                                    <m:sub>
                                      <m:r>
                                        <a:rPr lang="en-US" altLang="zh-CN" sz="2800" b="1" i="1" dirty="0">
                                          <a:latin typeface="Cambria Math" panose="02040503050406030204" pitchFamily="18" charset="0"/>
                                        </a:rPr>
                                        <m:t>𝒃</m:t>
                                      </m:r>
                                    </m:sub>
                                  </m:sSub>
                                </m:fName>
                                <m:e>
                                  <m:r>
                                    <a:rPr lang="en-US" altLang="zh-CN" sz="2800" b="1" i="1" dirty="0">
                                      <a:latin typeface="Cambria Math" panose="02040503050406030204" pitchFamily="18" charset="0"/>
                                    </a:rPr>
                                    <m:t>𝒏</m:t>
                                  </m:r>
                                </m:e>
                              </m:func>
                              <m:r>
                                <a:rPr lang="en-US" altLang="zh-CN" sz="2800" b="1" i="1" dirty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2800" b="1" i="1" dirty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altLang="zh-CN" sz="2800" b="1" i="1" dirty="0" smtClean="0">
                                      <a:latin typeface="Cambria Math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altLang="zh-CN" sz="2800" b="1" i="1" dirty="0" smtClean="0">
                                          <a:latin typeface="Cambria Math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en-US" altLang="zh-CN" sz="2800" b="1" i="1" dirty="0">
                                              <a:latin typeface="Cambria Math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altLang="zh-CN" sz="2800" b="1" i="1" dirty="0" smtClean="0">
                                              <a:latin typeface="Cambria Math"/>
                                            </a:rPr>
                                            <m:t>𝒂</m:t>
                                          </m:r>
                                        </m:num>
                                        <m:den>
                                          <m:sSup>
                                            <m:sSupPr>
                                              <m:ctrlPr>
                                                <a:rPr lang="en-US" altLang="zh-CN" sz="2800" b="1" i="1" dirty="0">
                                                  <a:latin typeface="Cambria Math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en-US" altLang="zh-CN" sz="2800" b="1" i="1" dirty="0">
                                                  <a:latin typeface="Cambria Math" panose="02040503050406030204" pitchFamily="18" charset="0"/>
                                                </a:rPr>
                                                <m:t>𝒃</m:t>
                                              </m:r>
                                            </m:e>
                                            <m:sup>
                                              <m:func>
                                                <m:funcPr>
                                                  <m:ctrlPr>
                                                    <a:rPr lang="en-US" altLang="zh-CN" sz="2800" b="1" i="1" dirty="0">
                                                      <a:latin typeface="Cambria Math"/>
                                                    </a:rPr>
                                                  </m:ctrlPr>
                                                </m:funcPr>
                                                <m:fName>
                                                  <m:sSub>
                                                    <m:sSubPr>
                                                      <m:ctrlPr>
                                                        <a:rPr lang="en-US" altLang="zh-CN" sz="2800" b="1" i="1" dirty="0">
                                                          <a:latin typeface="Cambria Math"/>
                                                        </a:rPr>
                                                      </m:ctrlPr>
                                                    </m:sSubPr>
                                                    <m:e>
                                                      <m:r>
                                                        <a:rPr lang="en-US" altLang="zh-CN" sz="2800" b="1" i="1" dirty="0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𝒍𝒐𝒈</m:t>
                                                      </m:r>
                                                    </m:e>
                                                    <m:sub>
                                                      <m:r>
                                                        <a:rPr lang="en-US" altLang="zh-CN" sz="2800" b="1" i="1" dirty="0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𝒃</m:t>
                                                      </m:r>
                                                    </m:sub>
                                                  </m:sSub>
                                                </m:fName>
                                                <m:e>
                                                  <m:r>
                                                    <a:rPr lang="en-US" altLang="zh-CN" sz="2800" b="1" i="1" dirty="0">
                                                      <a:latin typeface="Cambria Math" panose="02040503050406030204" pitchFamily="18" charset="0"/>
                                                    </a:rPr>
                                                    <m:t>𝒂</m:t>
                                                  </m:r>
                                                </m:e>
                                              </m:func>
                                              <m:r>
                                                <a:rPr lang="en-US" altLang="zh-CN" sz="2800" b="1" i="1" dirty="0">
                                                  <a:latin typeface="Cambria Math" panose="02040503050406030204" pitchFamily="18" charset="0"/>
                                                </a:rPr>
                                                <m:t>−</m:t>
                                              </m:r>
                                              <m:r>
                                                <a:rPr lang="zh-CN" altLang="en-US" sz="2800" b="1" i="1" dirty="0">
                                                  <a:latin typeface="Cambria Math" panose="02040503050406030204" pitchFamily="18" charset="0"/>
                                                </a:rPr>
                                                <m:t>𝜺</m:t>
                                              </m:r>
                                            </m:sup>
                                          </m:sSup>
                                        </m:den>
                                      </m:f>
                                    </m:e>
                                  </m:d>
                                </m:e>
                                <m:sup>
                                  <m:r>
                                    <a:rPr lang="en-US" altLang="zh-CN" sz="2800" b="1" i="1" dirty="0" smtClean="0">
                                      <a:latin typeface="Cambria Math"/>
                                    </a:rPr>
                                    <m:t>𝒋</m:t>
                                  </m:r>
                                </m:sup>
                              </m:sSup>
                            </m:e>
                          </m:nary>
                        </m:e>
                      </m:d>
                    </m:oMath>
                  </m:oMathPara>
                </a14:m>
                <a:endParaRPr lang="zh-CN" altLang="en-US" sz="2800" b="1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9" name="文本框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8293" y="4400076"/>
                <a:ext cx="8052318" cy="1471882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/>
              <p:cNvSpPr/>
              <p:nvPr/>
            </p:nvSpPr>
            <p:spPr>
              <a:xfrm>
                <a:off x="6033782" y="1077358"/>
                <a:ext cx="3394519" cy="5786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1" i="1" dirty="0">
                          <a:latin typeface="Cambria Math" panose="02040503050406030204" pitchFamily="18" charset="0"/>
                        </a:rPr>
                        <m:t>𝒇</m:t>
                      </m:r>
                      <m:d>
                        <m:dPr>
                          <m:ctrlPr>
                            <a:rPr lang="en-US" altLang="zh-CN" sz="2800" b="1" i="1" dirty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altLang="zh-CN" sz="2800" b="1" i="1" dirty="0"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</m:d>
                      <m:r>
                        <a:rPr lang="en-US" altLang="zh-CN" sz="2800" b="1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800" b="1" i="1" dirty="0">
                          <a:latin typeface="Cambria Math" panose="02040503050406030204" pitchFamily="18" charset="0"/>
                        </a:rPr>
                        <m:t>𝑶</m:t>
                      </m:r>
                      <m:d>
                        <m:dPr>
                          <m:ctrlPr>
                            <a:rPr lang="en-US" altLang="zh-CN" sz="2800" b="1" i="1" dirty="0">
                              <a:latin typeface="Cambria Math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sz="2800" b="1" i="1" dirty="0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US" altLang="zh-CN" sz="2800" b="1" i="1" dirty="0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e>
                            <m:sup>
                              <m:func>
                                <m:funcPr>
                                  <m:ctrlPr>
                                    <a:rPr lang="en-US" altLang="zh-CN" sz="2800" b="1" i="1" dirty="0">
                                      <a:latin typeface="Cambria Math"/>
                                    </a:rPr>
                                  </m:ctrlPr>
                                </m:funcPr>
                                <m:fName>
                                  <m:sSub>
                                    <m:sSubPr>
                                      <m:ctrlPr>
                                        <a:rPr lang="en-US" altLang="zh-CN" sz="2800" b="1" i="1" dirty="0">
                                          <a:latin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800" b="1" i="1" dirty="0">
                                          <a:latin typeface="Cambria Math" panose="02040503050406030204" pitchFamily="18" charset="0"/>
                                        </a:rPr>
                                        <m:t>𝐥𝐨𝐠</m:t>
                                      </m:r>
                                    </m:e>
                                    <m:sub>
                                      <m:r>
                                        <a:rPr lang="en-US" altLang="zh-CN" sz="2800" b="1" i="1" dirty="0">
                                          <a:latin typeface="Cambria Math" panose="02040503050406030204" pitchFamily="18" charset="0"/>
                                        </a:rPr>
                                        <m:t>𝒃</m:t>
                                      </m:r>
                                    </m:sub>
                                  </m:sSub>
                                </m:fName>
                                <m:e>
                                  <m:r>
                                    <a:rPr lang="en-US" altLang="zh-CN" sz="2800" b="1" i="1" dirty="0">
                                      <a:latin typeface="Cambria Math" panose="02040503050406030204" pitchFamily="18" charset="0"/>
                                    </a:rPr>
                                    <m:t>𝒂</m:t>
                                  </m:r>
                                </m:e>
                              </m:func>
                              <m:r>
                                <a:rPr lang="en-US" altLang="zh-CN" sz="2800" b="1" i="1" dirty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zh-CN" altLang="en-US" sz="2800" b="1" i="1" dirty="0">
                                  <a:latin typeface="Cambria Math" panose="02040503050406030204" pitchFamily="18" charset="0"/>
                                </a:rPr>
                                <m:t>𝜺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3" name="矩形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33782" y="1077358"/>
                <a:ext cx="3394519" cy="578685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矩形 9"/>
          <p:cNvSpPr/>
          <p:nvPr/>
        </p:nvSpPr>
        <p:spPr>
          <a:xfrm>
            <a:off x="4525347" y="1755911"/>
            <a:ext cx="1082351" cy="821253"/>
          </a:xfrm>
          <a:prstGeom prst="rect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5918717" y="3107092"/>
            <a:ext cx="1761665" cy="504445"/>
          </a:xfrm>
          <a:prstGeom prst="rect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2" name="组合 11"/>
          <p:cNvGrpSpPr/>
          <p:nvPr/>
        </p:nvGrpSpPr>
        <p:grpSpPr>
          <a:xfrm>
            <a:off x="7793499" y="1755911"/>
            <a:ext cx="1718099" cy="1285621"/>
            <a:chOff x="6703961" y="2466483"/>
            <a:chExt cx="1718099" cy="128562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文本框 5"/>
                <p:cNvSpPr txBox="1"/>
                <p:nvPr/>
              </p:nvSpPr>
              <p:spPr>
                <a:xfrm>
                  <a:off x="6787940" y="2466483"/>
                  <a:ext cx="1570696" cy="531817"/>
                </a:xfrm>
                <a:prstGeom prst="rect">
                  <a:avLst/>
                </a:prstGeom>
                <a:noFill/>
                <a:ln w="25400">
                  <a:solidFill>
                    <a:srgbClr val="C00000"/>
                  </a:solidFill>
                </a:ln>
              </p:spPr>
              <p:txBody>
                <a:bodyPr wrap="square" lIns="83887" tIns="41944" rIns="83887" bIns="41944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CN" sz="2800" b="1" i="1" dirty="0" smtClean="0"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a:rPr lang="en-US" altLang="zh-CN" sz="2800" b="1" i="1" dirty="0">
                                <a:latin typeface="Cambria Math" panose="02040503050406030204" pitchFamily="18" charset="0"/>
                              </a:rPr>
                              <m:t>𝒃</m:t>
                            </m:r>
                          </m:e>
                          <m:sup>
                            <m:r>
                              <a:rPr lang="en-US" altLang="zh-CN" sz="2800" b="1" i="1" dirty="0">
                                <a:latin typeface="Cambria Math" panose="02040503050406030204" pitchFamily="18" charset="0"/>
                              </a:rPr>
                              <m:t>𝒌</m:t>
                            </m:r>
                          </m:sup>
                        </m:sSup>
                        <m:r>
                          <a:rPr lang="en-US" altLang="zh-CN" sz="2800" b="1" i="1" dirty="0" smtClean="0">
                            <a:latin typeface="Cambria Math"/>
                          </a:rPr>
                          <m:t>=</m:t>
                        </m:r>
                        <m:r>
                          <a:rPr lang="en-US" altLang="zh-CN" sz="2800" b="1" i="1" dirty="0">
                            <a:latin typeface="Cambria Math" panose="02040503050406030204" pitchFamily="18" charset="0"/>
                          </a:rPr>
                          <m:t>𝒏</m:t>
                        </m:r>
                      </m:oMath>
                    </m:oMathPara>
                  </a14:m>
                  <a:endParaRPr lang="zh-CN" altLang="en-US" sz="2200" b="1" dirty="0"/>
                </a:p>
              </p:txBody>
            </p:sp>
          </mc:Choice>
          <mc:Fallback xmlns="">
            <p:sp>
              <p:nvSpPr>
                <p:cNvPr id="13" name="文本框 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87940" y="2466483"/>
                  <a:ext cx="1570696" cy="531817"/>
                </a:xfrm>
                <a:prstGeom prst="rect">
                  <a:avLst/>
                </a:prstGeom>
                <a:blipFill rotWithShape="1">
                  <a:blip r:embed="rId6"/>
                  <a:stretch>
                    <a:fillRect/>
                  </a:stretch>
                </a:blipFill>
                <a:ln w="25400">
                  <a:solidFill>
                    <a:srgbClr val="C00000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/>
                <p:cNvSpPr txBox="1"/>
                <p:nvPr/>
              </p:nvSpPr>
              <p:spPr>
                <a:xfrm>
                  <a:off x="6703961" y="3228884"/>
                  <a:ext cx="1718099" cy="523220"/>
                </a:xfrm>
                <a:prstGeom prst="rect">
                  <a:avLst/>
                </a:prstGeom>
                <a:noFill/>
                <a:ln w="25400">
                  <a:solidFill>
                    <a:srgbClr val="C00000"/>
                  </a:solidFill>
                </a:ln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2800" b="1" i="1" dirty="0" smtClean="0">
                      <a:solidFill>
                        <a:srgbClr val="C00000"/>
                      </a:solidFill>
                      <a:latin typeface="Times New Roman" pitchFamily="18" charset="0"/>
                      <a:cs typeface="Times New Roman" pitchFamily="18" charset="0"/>
                    </a:rPr>
                    <a:t>k=</a:t>
                  </a:r>
                  <a:r>
                    <a:rPr lang="en-US" altLang="zh-CN" sz="2800" b="1" dirty="0" smtClean="0">
                      <a:solidFill>
                        <a:srgbClr val="C00000"/>
                      </a:solidFill>
                    </a:rPr>
                    <a:t> </a:t>
                  </a:r>
                  <a14:m>
                    <m:oMath xmlns:m="http://schemas.openxmlformats.org/officeDocument/2006/math">
                      <m:func>
                        <m:funcPr>
                          <m:ctrlPr>
                            <a:rPr lang="en-US" altLang="zh-CN" sz="2800" b="1" i="1">
                              <a:solidFill>
                                <a:srgbClr val="C00000"/>
                              </a:solidFill>
                              <a:latin typeface="Cambria Math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US" altLang="zh-CN" sz="2800" b="1" i="1">
                                  <a:solidFill>
                                    <a:srgbClr val="C00000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altLang="zh-CN" sz="2800" b="1" i="1">
                                  <a:solidFill>
                                    <a:srgbClr val="C00000"/>
                                  </a:solidFill>
                                  <a:latin typeface="Cambria Math"/>
                                </a:rPr>
                                <m:t>𝒍𝒐𝒈</m:t>
                              </m:r>
                            </m:e>
                            <m:sub>
                              <m:r>
                                <a:rPr lang="en-US" altLang="zh-CN" sz="2800" b="1" i="1">
                                  <a:solidFill>
                                    <a:srgbClr val="C00000"/>
                                  </a:solidFill>
                                  <a:latin typeface="Cambria Math"/>
                                </a:rPr>
                                <m:t>𝒃</m:t>
                              </m:r>
                            </m:sub>
                          </m:sSub>
                        </m:fName>
                        <m:e>
                          <m:r>
                            <a:rPr lang="en-US" altLang="zh-CN" sz="2800" b="1" i="1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𝒏</m:t>
                          </m:r>
                        </m:e>
                      </m:func>
                    </m:oMath>
                  </a14:m>
                  <a:endParaRPr lang="zh-CN" altLang="en-US" sz="2800" b="1" i="1" dirty="0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</mc:Choice>
          <mc:Fallback xmlns="">
            <p:sp>
              <p:nvSpPr>
                <p:cNvPr id="14" name="TextBox 1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03961" y="3228884"/>
                  <a:ext cx="1718099" cy="523220"/>
                </a:xfrm>
                <a:prstGeom prst="rect">
                  <a:avLst/>
                </a:prstGeom>
                <a:blipFill rotWithShape="1">
                  <a:blip r:embed="rId7"/>
                  <a:stretch>
                    <a:fillRect l="-6294" t="-10000" b="-26667"/>
                  </a:stretch>
                </a:blipFill>
                <a:ln w="25400">
                  <a:solidFill>
                    <a:srgbClr val="C00000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5" name="下箭头 14"/>
            <p:cNvSpPr/>
            <p:nvPr/>
          </p:nvSpPr>
          <p:spPr>
            <a:xfrm>
              <a:off x="7371188" y="2929812"/>
              <a:ext cx="304741" cy="401217"/>
            </a:xfrm>
            <a:prstGeom prst="downArrow">
              <a:avLst/>
            </a:prstGeom>
            <a:ln w="254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1186600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/>
      <p:bldP spid="9" grpId="0"/>
      <p:bldP spid="3" grpId="0"/>
      <p:bldP spid="10" grpId="0" animBg="1"/>
      <p:bldP spid="11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433433" y="102052"/>
            <a:ext cx="8884381" cy="831009"/>
          </a:xfrm>
        </p:spPr>
        <p:txBody>
          <a:bodyPr>
            <a:normAutofit/>
          </a:bodyPr>
          <a:lstStyle/>
          <a:p>
            <a:pPr algn="ctr"/>
            <a:r>
              <a:rPr lang="en-US" altLang="zh-CN" sz="4400" b="1" dirty="0" smtClean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Case1(</a:t>
            </a:r>
            <a:r>
              <a:rPr lang="zh-CN" altLang="en-US" sz="4400" b="1" dirty="0" smtClean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续</a:t>
            </a:r>
            <a:r>
              <a:rPr lang="en-US" altLang="zh-CN" sz="4400" b="1" dirty="0" smtClean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)</a:t>
            </a:r>
            <a:endParaRPr lang="zh-CN" altLang="en-US" sz="4400" b="1" dirty="0">
              <a:solidFill>
                <a:srgbClr val="C00000"/>
              </a:solidFill>
              <a:latin typeface="黑体" pitchFamily="49" charset="-122"/>
              <a:ea typeface="黑体" pitchFamily="49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/>
              <p:cNvSpPr txBox="1"/>
              <p:nvPr/>
            </p:nvSpPr>
            <p:spPr>
              <a:xfrm>
                <a:off x="5129098" y="849624"/>
                <a:ext cx="4164192" cy="965464"/>
              </a:xfrm>
              <a:prstGeom prst="rect">
                <a:avLst/>
              </a:prstGeom>
              <a:noFill/>
            </p:spPr>
            <p:txBody>
              <a:bodyPr wrap="square" lIns="83887" tIns="41944" rIns="83887" bIns="41944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1900" b="1" i="1" dirty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altLang="zh-CN" sz="1900" b="1" i="1" dirty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sSup>
                            <m:sSupPr>
                              <m:ctrlPr>
                                <a:rPr lang="en-US" altLang="zh-CN" sz="1900" b="1" i="1" dirty="0">
                                  <a:latin typeface="Cambria Math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CN" sz="1900" b="1" i="1" dirty="0"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zh-CN" sz="2200" b="1" i="1" dirty="0">
                                          <a:latin typeface="Cambria Math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2200" b="1" i="1" dirty="0">
                                          <a:latin typeface="Cambria Math" panose="02040503050406030204" pitchFamily="18" charset="0"/>
                                        </a:rPr>
                                        <m:t>𝒃</m:t>
                                      </m:r>
                                    </m:e>
                                    <m:sup>
                                      <m:func>
                                        <m:funcPr>
                                          <m:ctrlPr>
                                            <a:rPr lang="en-US" altLang="zh-CN" sz="2200" b="1" i="1" dirty="0">
                                              <a:latin typeface="Cambria Math"/>
                                            </a:rPr>
                                          </m:ctrlPr>
                                        </m:funcPr>
                                        <m:fName>
                                          <m:sSub>
                                            <m:sSubPr>
                                              <m:ctrlPr>
                                                <a:rPr lang="en-US" altLang="zh-CN" sz="2200" b="1" i="1" dirty="0">
                                                  <a:latin typeface="Cambria Math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CN" sz="2200" b="1" i="1" dirty="0">
                                                  <a:latin typeface="Cambria Math" panose="02040503050406030204" pitchFamily="18" charset="0"/>
                                                </a:rPr>
                                                <m:t>𝒍𝒐𝒈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sz="2200" b="1" i="1" dirty="0">
                                                  <a:latin typeface="Cambria Math" panose="02040503050406030204" pitchFamily="18" charset="0"/>
                                                </a:rPr>
                                                <m:t>𝒃</m:t>
                                              </m:r>
                                            </m:sub>
                                          </m:sSub>
                                        </m:fName>
                                        <m:e>
                                          <m:r>
                                            <a:rPr lang="en-US" altLang="zh-CN" sz="2200" b="1" i="1" dirty="0">
                                              <a:latin typeface="Cambria Math" panose="02040503050406030204" pitchFamily="18" charset="0"/>
                                            </a:rPr>
                                            <m:t>𝒂</m:t>
                                          </m:r>
                                        </m:e>
                                      </m:func>
                                      <m:r>
                                        <a:rPr lang="en-US" altLang="zh-CN" sz="2200" b="1" i="1" dirty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zh-CN" altLang="en-US" sz="2200" b="1" i="1" dirty="0">
                                          <a:latin typeface="Cambria Math" panose="02040503050406030204" pitchFamily="18" charset="0"/>
                                        </a:rPr>
                                        <m:t>𝜺</m:t>
                                      </m:r>
                                    </m:sup>
                                  </m:sSup>
                                </m:e>
                              </m:d>
                            </m:e>
                            <m:sup>
                              <m:r>
                                <a:rPr lang="en-US" altLang="zh-CN" sz="1900" b="1" i="1" dirty="0">
                                  <a:latin typeface="Cambria Math" panose="02040503050406030204" pitchFamily="18" charset="0"/>
                                </a:rPr>
                                <m:t>𝒋</m:t>
                              </m:r>
                            </m:sup>
                          </m:sSup>
                        </m:den>
                      </m:f>
                      <m:r>
                        <a:rPr lang="en-US" altLang="zh-CN" sz="2600" b="1" i="1" dirty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200" b="1" i="1" dirty="0">
                              <a:latin typeface="Cambria Math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CN" sz="2200" b="1" i="1" dirty="0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US" altLang="zh-CN" sz="2200" b="1" i="1" dirty="0"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</m:e>
                            <m:sup>
                              <m:r>
                                <a:rPr lang="zh-CN" altLang="en-US" sz="2200" b="1" i="1" dirty="0">
                                  <a:latin typeface="Cambria Math" panose="02040503050406030204" pitchFamily="18" charset="0"/>
                                </a:rPr>
                                <m:t>𝜺</m:t>
                              </m:r>
                              <m:r>
                                <a:rPr lang="en-US" altLang="zh-CN" sz="2200" b="1" i="1" dirty="0">
                                  <a:latin typeface="Cambria Math" panose="02040503050406030204" pitchFamily="18" charset="0"/>
                                </a:rPr>
                                <m:t>𝒋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US" altLang="zh-CN" sz="2200" b="1" i="1" dirty="0">
                                  <a:latin typeface="Cambria Math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CN" sz="2200" b="1" i="1" dirty="0"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zh-CN" sz="2200" b="1" i="1" dirty="0">
                                          <a:latin typeface="Cambria Math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2200" b="1" i="1" dirty="0">
                                          <a:latin typeface="Cambria Math" panose="02040503050406030204" pitchFamily="18" charset="0"/>
                                        </a:rPr>
                                        <m:t>𝒃</m:t>
                                      </m:r>
                                    </m:e>
                                    <m:sup>
                                      <m:func>
                                        <m:funcPr>
                                          <m:ctrlPr>
                                            <a:rPr lang="en-US" altLang="zh-CN" sz="2200" b="1" i="1" dirty="0">
                                              <a:latin typeface="Cambria Math"/>
                                            </a:rPr>
                                          </m:ctrlPr>
                                        </m:funcPr>
                                        <m:fName>
                                          <m:sSub>
                                            <m:sSubPr>
                                              <m:ctrlPr>
                                                <a:rPr lang="en-US" altLang="zh-CN" sz="2200" b="1" i="1" dirty="0">
                                                  <a:latin typeface="Cambria Math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CN" sz="2200" b="1" i="1" dirty="0">
                                                  <a:latin typeface="Cambria Math" panose="02040503050406030204" pitchFamily="18" charset="0"/>
                                                </a:rPr>
                                                <m:t>𝒍𝒐𝒈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sz="2200" b="1" i="1" dirty="0">
                                                  <a:latin typeface="Cambria Math" panose="02040503050406030204" pitchFamily="18" charset="0"/>
                                                </a:rPr>
                                                <m:t>𝒃</m:t>
                                              </m:r>
                                            </m:sub>
                                          </m:sSub>
                                        </m:fName>
                                        <m:e>
                                          <m:r>
                                            <a:rPr lang="en-US" altLang="zh-CN" sz="2200" b="1" i="1" dirty="0">
                                              <a:latin typeface="Cambria Math" panose="02040503050406030204" pitchFamily="18" charset="0"/>
                                            </a:rPr>
                                            <m:t>𝒂</m:t>
                                          </m:r>
                                        </m:e>
                                      </m:func>
                                    </m:sup>
                                  </m:sSup>
                                </m:e>
                              </m:d>
                            </m:e>
                            <m:sup>
                              <m:r>
                                <a:rPr lang="en-US" altLang="zh-CN" sz="2200" b="1" i="1" dirty="0">
                                  <a:latin typeface="Cambria Math" panose="02040503050406030204" pitchFamily="18" charset="0"/>
                                </a:rPr>
                                <m:t>𝒋</m:t>
                              </m:r>
                            </m:sup>
                          </m:sSup>
                        </m:den>
                      </m:f>
                      <m:r>
                        <a:rPr lang="en-US" altLang="zh-CN" sz="2600" b="1" i="1" dirty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200" b="1" i="1" dirty="0">
                              <a:latin typeface="Cambria Math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CN" sz="2200" b="1" i="1" dirty="0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US" altLang="zh-CN" sz="2200" b="1" i="1" dirty="0"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</m:e>
                            <m:sup>
                              <m:r>
                                <a:rPr lang="zh-CN" altLang="en-US" sz="2200" b="1" i="1" dirty="0">
                                  <a:latin typeface="Cambria Math" panose="02040503050406030204" pitchFamily="18" charset="0"/>
                                </a:rPr>
                                <m:t>𝜺</m:t>
                              </m:r>
                              <m:r>
                                <a:rPr lang="en-US" altLang="zh-CN" sz="2200" b="1" i="1" dirty="0">
                                  <a:latin typeface="Cambria Math" panose="02040503050406030204" pitchFamily="18" charset="0"/>
                                </a:rPr>
                                <m:t>𝒋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US" altLang="zh-CN" sz="2200" b="1" i="1" dirty="0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US" altLang="zh-CN" sz="2200" b="1" i="1" dirty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  <m:sup>
                              <m:r>
                                <a:rPr lang="en-US" altLang="zh-CN" sz="2200" b="1" i="1" dirty="0">
                                  <a:latin typeface="Cambria Math" panose="02040503050406030204" pitchFamily="18" charset="0"/>
                                </a:rPr>
                                <m:t>𝒋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zh-CN" altLang="en-US" sz="1900" b="1" dirty="0"/>
              </a:p>
            </p:txBody>
          </p:sp>
        </mc:Choice>
        <mc:Fallback xmlns=""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29098" y="849624"/>
                <a:ext cx="4164192" cy="965464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object 21"/>
          <p:cNvSpPr/>
          <p:nvPr/>
        </p:nvSpPr>
        <p:spPr>
          <a:xfrm>
            <a:off x="5166423" y="849622"/>
            <a:ext cx="4055952" cy="1079251"/>
          </a:xfrm>
          <a:custGeom>
            <a:avLst/>
            <a:gdLst/>
            <a:ahLst/>
            <a:cxnLst/>
            <a:rect l="l" t="t" r="r" b="b"/>
            <a:pathLst>
              <a:path w="1752600" h="1447800">
                <a:moveTo>
                  <a:pt x="0" y="241300"/>
                </a:moveTo>
                <a:lnTo>
                  <a:pt x="4904" y="192682"/>
                </a:lnTo>
                <a:lnTo>
                  <a:pt x="18968" y="147393"/>
                </a:lnTo>
                <a:lnTo>
                  <a:pt x="41221" y="106405"/>
                </a:lnTo>
                <a:lnTo>
                  <a:pt x="70691" y="70691"/>
                </a:lnTo>
                <a:lnTo>
                  <a:pt x="106405" y="41221"/>
                </a:lnTo>
                <a:lnTo>
                  <a:pt x="147393" y="18968"/>
                </a:lnTo>
                <a:lnTo>
                  <a:pt x="192682" y="4904"/>
                </a:lnTo>
                <a:lnTo>
                  <a:pt x="241300" y="0"/>
                </a:lnTo>
                <a:lnTo>
                  <a:pt x="1511300" y="0"/>
                </a:lnTo>
                <a:lnTo>
                  <a:pt x="1559917" y="4904"/>
                </a:lnTo>
                <a:lnTo>
                  <a:pt x="1605206" y="18968"/>
                </a:lnTo>
                <a:lnTo>
                  <a:pt x="1646194" y="41221"/>
                </a:lnTo>
                <a:lnTo>
                  <a:pt x="1681908" y="70691"/>
                </a:lnTo>
                <a:lnTo>
                  <a:pt x="1711378" y="106405"/>
                </a:lnTo>
                <a:lnTo>
                  <a:pt x="1733631" y="147393"/>
                </a:lnTo>
                <a:lnTo>
                  <a:pt x="1747695" y="192682"/>
                </a:lnTo>
                <a:lnTo>
                  <a:pt x="1752600" y="241300"/>
                </a:lnTo>
                <a:lnTo>
                  <a:pt x="1752600" y="1206500"/>
                </a:lnTo>
                <a:lnTo>
                  <a:pt x="1747695" y="1255128"/>
                </a:lnTo>
                <a:lnTo>
                  <a:pt x="1733631" y="1300422"/>
                </a:lnTo>
                <a:lnTo>
                  <a:pt x="1711378" y="1341410"/>
                </a:lnTo>
                <a:lnTo>
                  <a:pt x="1681908" y="1377122"/>
                </a:lnTo>
                <a:lnTo>
                  <a:pt x="1646194" y="1406588"/>
                </a:lnTo>
                <a:lnTo>
                  <a:pt x="1605206" y="1428836"/>
                </a:lnTo>
                <a:lnTo>
                  <a:pt x="1559917" y="1442897"/>
                </a:lnTo>
                <a:lnTo>
                  <a:pt x="1511300" y="1447800"/>
                </a:lnTo>
                <a:lnTo>
                  <a:pt x="241300" y="1447800"/>
                </a:lnTo>
                <a:lnTo>
                  <a:pt x="192682" y="1442897"/>
                </a:lnTo>
                <a:lnTo>
                  <a:pt x="147393" y="1428836"/>
                </a:lnTo>
                <a:lnTo>
                  <a:pt x="106405" y="1406588"/>
                </a:lnTo>
                <a:lnTo>
                  <a:pt x="70691" y="1377122"/>
                </a:lnTo>
                <a:lnTo>
                  <a:pt x="41221" y="1341410"/>
                </a:lnTo>
                <a:lnTo>
                  <a:pt x="18968" y="1300422"/>
                </a:lnTo>
                <a:lnTo>
                  <a:pt x="4904" y="1255128"/>
                </a:lnTo>
                <a:lnTo>
                  <a:pt x="0" y="1206500"/>
                </a:lnTo>
                <a:lnTo>
                  <a:pt x="0" y="241300"/>
                </a:lnTo>
                <a:close/>
              </a:path>
            </a:pathLst>
          </a:custGeom>
          <a:ln w="3175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/>
              <p:cNvSpPr txBox="1"/>
              <p:nvPr/>
            </p:nvSpPr>
            <p:spPr>
              <a:xfrm>
                <a:off x="433433" y="1690854"/>
                <a:ext cx="7768175" cy="1273751"/>
              </a:xfrm>
              <a:prstGeom prst="rect">
                <a:avLst/>
              </a:prstGeom>
              <a:noFill/>
            </p:spPr>
            <p:txBody>
              <a:bodyPr wrap="square" lIns="83887" tIns="41944" rIns="83887" bIns="41944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400" b="1" i="1" dirty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400" b="1" i="1" dirty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altLang="zh-CN" sz="2400" b="1" i="1" dirty="0">
                              <a:latin typeface="Cambria Math" panose="02040503050406030204" pitchFamily="18" charset="0"/>
                            </a:rPr>
                            <m:t>𝒄</m:t>
                          </m:r>
                        </m:e>
                        <m:sub>
                          <m:r>
                            <a:rPr lang="en-US" altLang="zh-CN" sz="2400" b="1" i="1" dirty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sSup>
                        <m:sSupPr>
                          <m:ctrlPr>
                            <a:rPr lang="en-US" altLang="zh-CN" sz="2400" b="1" i="1" dirty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US" altLang="zh-CN" sz="2400" b="1" i="1" dirty="0"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en-US" altLang="zh-CN" sz="2400" b="1" i="1" dirty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  <m:sup>
                          <m:func>
                            <m:funcPr>
                              <m:ctrlPr>
                                <a:rPr lang="en-US" altLang="zh-CN" sz="2400" b="1" i="1" dirty="0">
                                  <a:latin typeface="Cambria Math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n-US" altLang="zh-CN" sz="2400" b="1" i="1" dirty="0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1" i="1" dirty="0">
                                      <a:latin typeface="Cambria Math" panose="02040503050406030204" pitchFamily="18" charset="0"/>
                                    </a:rPr>
                                    <m:t>𝒍𝒐𝒈</m:t>
                                  </m:r>
                                </m:e>
                                <m:sub>
                                  <m:r>
                                    <a:rPr lang="en-US" altLang="zh-CN" sz="2400" b="1" i="1" dirty="0">
                                      <a:latin typeface="Cambria Math" panose="02040503050406030204" pitchFamily="18" charset="0"/>
                                    </a:rPr>
                                    <m:t>𝒃</m:t>
                                  </m:r>
                                </m:sub>
                              </m:sSub>
                            </m:fName>
                            <m:e>
                              <m:r>
                                <a:rPr lang="en-US" altLang="zh-CN" sz="2400" b="1" i="1" dirty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</m:func>
                        </m:sup>
                      </m:sSup>
                      <m:r>
                        <a:rPr lang="en-US" altLang="zh-CN" sz="2400" b="1" i="1" dirty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400" b="1" i="1" dirty="0">
                          <a:latin typeface="Cambria Math" panose="02040503050406030204" pitchFamily="18" charset="0"/>
                        </a:rPr>
                        <m:t>𝑶</m:t>
                      </m:r>
                      <m:d>
                        <m:dPr>
                          <m:ctrlPr>
                            <a:rPr lang="en-US" altLang="zh-CN" sz="2400" b="1" i="1" dirty="0">
                              <a:latin typeface="Cambria Math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sz="2400" b="1" i="1" dirty="0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US" altLang="zh-CN" sz="2400" b="1" i="1" dirty="0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e>
                            <m:sup>
                              <m:func>
                                <m:funcPr>
                                  <m:ctrlPr>
                                    <a:rPr lang="en-US" altLang="zh-CN" sz="2400" b="1" i="1" dirty="0">
                                      <a:latin typeface="Cambria Math"/>
                                    </a:rPr>
                                  </m:ctrlPr>
                                </m:funcPr>
                                <m:fName>
                                  <m:sSub>
                                    <m:sSubPr>
                                      <m:ctrlPr>
                                        <a:rPr lang="en-US" altLang="zh-CN" sz="2400" b="1" i="1" dirty="0">
                                          <a:latin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400" b="1" i="1" dirty="0">
                                          <a:latin typeface="Cambria Math" panose="02040503050406030204" pitchFamily="18" charset="0"/>
                                        </a:rPr>
                                        <m:t>𝒍𝒐𝒈</m:t>
                                      </m:r>
                                    </m:e>
                                    <m:sub>
                                      <m:r>
                                        <a:rPr lang="en-US" altLang="zh-CN" sz="2400" b="1" i="1" dirty="0">
                                          <a:latin typeface="Cambria Math" panose="02040503050406030204" pitchFamily="18" charset="0"/>
                                        </a:rPr>
                                        <m:t>𝒃</m:t>
                                      </m:r>
                                    </m:sub>
                                  </m:sSub>
                                </m:fName>
                                <m:e>
                                  <m:r>
                                    <a:rPr lang="en-US" altLang="zh-CN" sz="2400" b="1" i="1" dirty="0">
                                      <a:latin typeface="Cambria Math" panose="02040503050406030204" pitchFamily="18" charset="0"/>
                                    </a:rPr>
                                    <m:t>𝒂</m:t>
                                  </m:r>
                                </m:e>
                              </m:func>
                              <m:r>
                                <a:rPr lang="en-US" altLang="zh-CN" sz="2400" b="1" i="1" dirty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zh-CN" altLang="en-US" sz="2400" b="1" i="1" dirty="0">
                                  <a:latin typeface="Cambria Math" panose="02040503050406030204" pitchFamily="18" charset="0"/>
                                </a:rPr>
                                <m:t>𝜺</m:t>
                              </m:r>
                            </m:sup>
                          </m:sSup>
                          <m:nary>
                            <m:naryPr>
                              <m:chr m:val="∑"/>
                              <m:ctrlPr>
                                <a:rPr lang="en-US" altLang="zh-CN" sz="2400" b="1" i="1" dirty="0">
                                  <a:latin typeface="Cambria Math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zh-CN" sz="2400" b="1" i="1" dirty="0">
                                  <a:latin typeface="Cambria Math" panose="02040503050406030204" pitchFamily="18" charset="0"/>
                                </a:rPr>
                                <m:t>𝒋</m:t>
                              </m:r>
                              <m:r>
                                <a:rPr lang="en-US" altLang="zh-CN" sz="2400" b="1" i="1" dirty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zh-CN" sz="2400" b="1" i="1" dirty="0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sub>
                            <m:sup>
                              <m:func>
                                <m:funcPr>
                                  <m:ctrlPr>
                                    <a:rPr lang="en-US" altLang="zh-CN" sz="2400" b="1" i="1" dirty="0">
                                      <a:latin typeface="Cambria Math"/>
                                    </a:rPr>
                                  </m:ctrlPr>
                                </m:funcPr>
                                <m:fName>
                                  <m:sSub>
                                    <m:sSubPr>
                                      <m:ctrlPr>
                                        <a:rPr lang="en-US" altLang="zh-CN" sz="2400" b="1" i="1" dirty="0">
                                          <a:latin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400" b="1" i="1" dirty="0">
                                          <a:latin typeface="Cambria Math" panose="02040503050406030204" pitchFamily="18" charset="0"/>
                                        </a:rPr>
                                        <m:t>𝒍𝒐𝒈</m:t>
                                      </m:r>
                                    </m:e>
                                    <m:sub>
                                      <m:r>
                                        <a:rPr lang="en-US" altLang="zh-CN" sz="2400" b="1" i="1" dirty="0">
                                          <a:latin typeface="Cambria Math" panose="02040503050406030204" pitchFamily="18" charset="0"/>
                                        </a:rPr>
                                        <m:t>𝒃</m:t>
                                      </m:r>
                                    </m:sub>
                                  </m:sSub>
                                </m:fName>
                                <m:e>
                                  <m:r>
                                    <a:rPr lang="en-US" altLang="zh-CN" sz="2400" b="1" i="1" dirty="0">
                                      <a:latin typeface="Cambria Math" panose="02040503050406030204" pitchFamily="18" charset="0"/>
                                    </a:rPr>
                                    <m:t>𝒏</m:t>
                                  </m:r>
                                </m:e>
                              </m:func>
                              <m:r>
                                <a:rPr lang="en-US" altLang="zh-CN" sz="2400" b="1" i="1" dirty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2400" b="1" i="1" dirty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p>
                            <m:e>
                              <m:f>
                                <m:fPr>
                                  <m:ctrlPr>
                                    <a:rPr lang="en-US" altLang="zh-CN" sz="2400" b="1" i="1" dirty="0">
                                      <a:latin typeface="Cambria Math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US" altLang="zh-CN" sz="2400" b="1" i="1" dirty="0">
                                          <a:latin typeface="Cambria Math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2400" b="1" i="1" dirty="0">
                                          <a:latin typeface="Cambria Math" panose="02040503050406030204" pitchFamily="18" charset="0"/>
                                        </a:rPr>
                                        <m:t>𝒂</m:t>
                                      </m:r>
                                    </m:e>
                                    <m:sup>
                                      <m:r>
                                        <a:rPr lang="en-US" altLang="zh-CN" sz="2400" b="1" i="1" dirty="0">
                                          <a:latin typeface="Cambria Math" panose="02040503050406030204" pitchFamily="18" charset="0"/>
                                        </a:rPr>
                                        <m:t>𝒋</m:t>
                                      </m:r>
                                    </m:sup>
                                  </m:sSup>
                                </m:num>
                                <m:den>
                                  <m:sSup>
                                    <m:sSupPr>
                                      <m:ctrlPr>
                                        <a:rPr lang="en-US" altLang="zh-CN" sz="2400" b="1" i="1" dirty="0">
                                          <a:latin typeface="Cambria Math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altLang="zh-CN" sz="2400" b="1" i="1" dirty="0">
                                              <a:latin typeface="Cambria Math"/>
                                            </a:rPr>
                                          </m:ctrlPr>
                                        </m:dPr>
                                        <m:e>
                                          <m:sSup>
                                            <m:sSupPr>
                                              <m:ctrlPr>
                                                <a:rPr lang="en-US" altLang="zh-CN" sz="2400" b="1" i="1" dirty="0">
                                                  <a:latin typeface="Cambria Math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en-US" altLang="zh-CN" sz="2400" b="1" i="1" dirty="0">
                                                  <a:latin typeface="Cambria Math" panose="02040503050406030204" pitchFamily="18" charset="0"/>
                                                </a:rPr>
                                                <m:t>𝒃</m:t>
                                              </m:r>
                                            </m:e>
                                            <m:sup>
                                              <m:func>
                                                <m:funcPr>
                                                  <m:ctrlPr>
                                                    <a:rPr lang="en-US" altLang="zh-CN" sz="2400" b="1" i="1" dirty="0">
                                                      <a:latin typeface="Cambria Math"/>
                                                    </a:rPr>
                                                  </m:ctrlPr>
                                                </m:funcPr>
                                                <m:fName>
                                                  <m:sSub>
                                                    <m:sSubPr>
                                                      <m:ctrlPr>
                                                        <a:rPr lang="en-US" altLang="zh-CN" sz="2400" b="1" i="1" dirty="0">
                                                          <a:latin typeface="Cambria Math"/>
                                                        </a:rPr>
                                                      </m:ctrlPr>
                                                    </m:sSubPr>
                                                    <m:e>
                                                      <m:r>
                                                        <a:rPr lang="en-US" altLang="zh-CN" sz="2400" b="1" i="1" dirty="0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𝒍𝒐𝒈</m:t>
                                                      </m:r>
                                                    </m:e>
                                                    <m:sub>
                                                      <m:r>
                                                        <a:rPr lang="en-US" altLang="zh-CN" sz="2400" b="1" i="1" dirty="0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𝒃</m:t>
                                                      </m:r>
                                                    </m:sub>
                                                  </m:sSub>
                                                </m:fName>
                                                <m:e>
                                                  <m:r>
                                                    <a:rPr lang="en-US" altLang="zh-CN" sz="2400" b="1" i="1" dirty="0">
                                                      <a:latin typeface="Cambria Math" panose="02040503050406030204" pitchFamily="18" charset="0"/>
                                                    </a:rPr>
                                                    <m:t>𝒂</m:t>
                                                  </m:r>
                                                </m:e>
                                              </m:func>
                                              <m:r>
                                                <a:rPr lang="en-US" altLang="zh-CN" sz="2400" b="1" i="1" dirty="0">
                                                  <a:latin typeface="Cambria Math" panose="02040503050406030204" pitchFamily="18" charset="0"/>
                                                </a:rPr>
                                                <m:t>−</m:t>
                                              </m:r>
                                              <m:r>
                                                <a:rPr lang="zh-CN" altLang="en-US" sz="2400" b="1" i="1" dirty="0">
                                                  <a:latin typeface="Cambria Math" panose="02040503050406030204" pitchFamily="18" charset="0"/>
                                                </a:rPr>
                                                <m:t>𝜺</m:t>
                                              </m:r>
                                            </m:sup>
                                          </m:sSup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altLang="zh-CN" sz="2400" b="1" i="1" dirty="0">
                                          <a:latin typeface="Cambria Math" panose="02040503050406030204" pitchFamily="18" charset="0"/>
                                        </a:rPr>
                                        <m:t>𝒋</m:t>
                                      </m:r>
                                    </m:sup>
                                  </m:sSup>
                                </m:den>
                              </m:f>
                            </m:e>
                          </m:nary>
                        </m:e>
                      </m:d>
                    </m:oMath>
                  </m:oMathPara>
                </a14:m>
                <a:endParaRPr lang="zh-CN" altLang="en-US" sz="2400" b="1" dirty="0"/>
              </a:p>
            </p:txBody>
          </p:sp>
        </mc:Choice>
        <mc:Fallback xmlns="">
          <p:sp>
            <p:nvSpPr>
              <p:cNvPr id="6" name="文本框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433" y="1690854"/>
                <a:ext cx="7768175" cy="1273751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/>
              <p:cNvSpPr txBox="1"/>
              <p:nvPr/>
            </p:nvSpPr>
            <p:spPr>
              <a:xfrm>
                <a:off x="433434" y="2934278"/>
                <a:ext cx="8859856" cy="1273751"/>
              </a:xfrm>
              <a:prstGeom prst="rect">
                <a:avLst/>
              </a:prstGeom>
              <a:noFill/>
            </p:spPr>
            <p:txBody>
              <a:bodyPr wrap="square" lIns="83887" tIns="41944" rIns="83887" bIns="41944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400" b="1" i="1" dirty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400" b="1" i="1" dirty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altLang="zh-CN" sz="2400" b="1" i="1" dirty="0">
                              <a:latin typeface="Cambria Math" panose="02040503050406030204" pitchFamily="18" charset="0"/>
                            </a:rPr>
                            <m:t>𝒄</m:t>
                          </m:r>
                        </m:e>
                        <m:sub>
                          <m:r>
                            <a:rPr lang="en-US" altLang="zh-CN" sz="2400" b="1" i="1" dirty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sSup>
                        <m:sSupPr>
                          <m:ctrlPr>
                            <a:rPr lang="en-US" altLang="zh-CN" sz="2400" b="1" i="1" dirty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US" altLang="zh-CN" sz="2400" b="1" i="1" dirty="0"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en-US" altLang="zh-CN" sz="2400" b="1" i="1" dirty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  <m:sup>
                          <m:func>
                            <m:funcPr>
                              <m:ctrlPr>
                                <a:rPr lang="en-US" altLang="zh-CN" sz="2400" b="1" i="1" dirty="0">
                                  <a:latin typeface="Cambria Math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n-US" altLang="zh-CN" sz="2400" b="1" i="1" dirty="0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1" i="1" dirty="0">
                                      <a:latin typeface="Cambria Math" panose="02040503050406030204" pitchFamily="18" charset="0"/>
                                    </a:rPr>
                                    <m:t>𝒍𝒐𝒈</m:t>
                                  </m:r>
                                </m:e>
                                <m:sub>
                                  <m:r>
                                    <a:rPr lang="en-US" altLang="zh-CN" sz="2400" b="1" i="1" dirty="0">
                                      <a:latin typeface="Cambria Math" panose="02040503050406030204" pitchFamily="18" charset="0"/>
                                    </a:rPr>
                                    <m:t>𝒃</m:t>
                                  </m:r>
                                </m:sub>
                              </m:sSub>
                            </m:fName>
                            <m:e>
                              <m:r>
                                <a:rPr lang="en-US" altLang="zh-CN" sz="2400" b="1" i="1" dirty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</m:func>
                        </m:sup>
                      </m:sSup>
                      <m:r>
                        <a:rPr lang="en-US" altLang="zh-CN" sz="2400" b="1" i="1" dirty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400" b="1" i="1" dirty="0">
                          <a:latin typeface="Cambria Math" panose="02040503050406030204" pitchFamily="18" charset="0"/>
                        </a:rPr>
                        <m:t>𝑶</m:t>
                      </m:r>
                      <m:d>
                        <m:dPr>
                          <m:ctrlPr>
                            <a:rPr lang="en-US" altLang="zh-CN" sz="2400" b="1" i="1" dirty="0">
                              <a:latin typeface="Cambria Math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sz="2400" b="1" i="1" dirty="0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US" altLang="zh-CN" sz="2400" b="1" i="1" dirty="0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e>
                            <m:sup>
                              <m:func>
                                <m:funcPr>
                                  <m:ctrlPr>
                                    <a:rPr lang="en-US" altLang="zh-CN" sz="2400" b="1" i="1" dirty="0">
                                      <a:latin typeface="Cambria Math"/>
                                    </a:rPr>
                                  </m:ctrlPr>
                                </m:funcPr>
                                <m:fName>
                                  <m:sSub>
                                    <m:sSubPr>
                                      <m:ctrlPr>
                                        <a:rPr lang="en-US" altLang="zh-CN" sz="2400" b="1" i="1" dirty="0">
                                          <a:latin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400" b="1" i="1" dirty="0">
                                          <a:latin typeface="Cambria Math" panose="02040503050406030204" pitchFamily="18" charset="0"/>
                                        </a:rPr>
                                        <m:t>𝒍𝒐𝒈</m:t>
                                      </m:r>
                                    </m:e>
                                    <m:sub>
                                      <m:r>
                                        <a:rPr lang="en-US" altLang="zh-CN" sz="2400" b="1" i="1" dirty="0">
                                          <a:latin typeface="Cambria Math" panose="02040503050406030204" pitchFamily="18" charset="0"/>
                                        </a:rPr>
                                        <m:t>𝒃</m:t>
                                      </m:r>
                                    </m:sub>
                                  </m:sSub>
                                </m:fName>
                                <m:e>
                                  <m:r>
                                    <a:rPr lang="en-US" altLang="zh-CN" sz="2400" b="1" i="1" dirty="0">
                                      <a:latin typeface="Cambria Math" panose="02040503050406030204" pitchFamily="18" charset="0"/>
                                    </a:rPr>
                                    <m:t>𝒂</m:t>
                                  </m:r>
                                </m:e>
                              </m:func>
                              <m:r>
                                <a:rPr lang="en-US" altLang="zh-CN" sz="2400" b="1" i="1" dirty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zh-CN" altLang="en-US" sz="2400" b="1" i="1" dirty="0">
                                  <a:latin typeface="Cambria Math" panose="02040503050406030204" pitchFamily="18" charset="0"/>
                                </a:rPr>
                                <m:t>𝜺</m:t>
                              </m:r>
                            </m:sup>
                          </m:sSup>
                          <m:nary>
                            <m:naryPr>
                              <m:chr m:val="∑"/>
                              <m:ctrlPr>
                                <a:rPr lang="en-US" altLang="zh-CN" sz="2400" b="1" i="1" dirty="0">
                                  <a:latin typeface="Cambria Math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zh-CN" sz="2400" b="1" i="1" dirty="0">
                                  <a:latin typeface="Cambria Math" panose="02040503050406030204" pitchFamily="18" charset="0"/>
                                </a:rPr>
                                <m:t>𝒋</m:t>
                              </m:r>
                              <m:r>
                                <a:rPr lang="en-US" altLang="zh-CN" sz="2400" b="1" i="1" dirty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zh-CN" sz="2400" b="1" i="1" dirty="0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sub>
                            <m:sup>
                              <m:func>
                                <m:funcPr>
                                  <m:ctrlPr>
                                    <a:rPr lang="en-US" altLang="zh-CN" sz="2400" b="1" i="1" dirty="0">
                                      <a:latin typeface="Cambria Math"/>
                                    </a:rPr>
                                  </m:ctrlPr>
                                </m:funcPr>
                                <m:fName>
                                  <m:sSub>
                                    <m:sSubPr>
                                      <m:ctrlPr>
                                        <a:rPr lang="en-US" altLang="zh-CN" sz="2400" b="1" i="1" dirty="0">
                                          <a:latin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400" b="1" i="1" dirty="0">
                                          <a:latin typeface="Cambria Math" panose="02040503050406030204" pitchFamily="18" charset="0"/>
                                        </a:rPr>
                                        <m:t>𝒍𝒐𝒈</m:t>
                                      </m:r>
                                    </m:e>
                                    <m:sub>
                                      <m:r>
                                        <a:rPr lang="en-US" altLang="zh-CN" sz="2400" b="1" i="1" dirty="0">
                                          <a:latin typeface="Cambria Math" panose="02040503050406030204" pitchFamily="18" charset="0"/>
                                        </a:rPr>
                                        <m:t>𝒃</m:t>
                                      </m:r>
                                    </m:sub>
                                  </m:sSub>
                                </m:fName>
                                <m:e>
                                  <m:r>
                                    <a:rPr lang="en-US" altLang="zh-CN" sz="2400" b="1" i="1" dirty="0">
                                      <a:latin typeface="Cambria Math" panose="02040503050406030204" pitchFamily="18" charset="0"/>
                                    </a:rPr>
                                    <m:t>𝒏</m:t>
                                  </m:r>
                                </m:e>
                              </m:func>
                              <m:r>
                                <a:rPr lang="en-US" altLang="zh-CN" sz="2400" b="1" i="1" dirty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2400" b="1" i="1" dirty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altLang="zh-CN" sz="2400" b="1" i="1" dirty="0">
                                      <a:latin typeface="Cambria Math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altLang="zh-CN" sz="2400" b="1" i="1" dirty="0">
                                          <a:latin typeface="Cambria Math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altLang="zh-CN" sz="2400" b="1" i="1" dirty="0">
                                              <a:latin typeface="Cambria Math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altLang="zh-CN" sz="2400" b="1" i="1" dirty="0">
                                              <a:latin typeface="Cambria Math" panose="02040503050406030204" pitchFamily="18" charset="0"/>
                                            </a:rPr>
                                            <m:t>𝒃</m:t>
                                          </m:r>
                                        </m:e>
                                        <m:sup>
                                          <m:r>
                                            <a:rPr lang="zh-CN" altLang="en-US" sz="2400" b="1" i="1" dirty="0">
                                              <a:latin typeface="Cambria Math" panose="02040503050406030204" pitchFamily="18" charset="0"/>
                                            </a:rPr>
                                            <m:t>𝜺</m:t>
                                          </m:r>
                                        </m:sup>
                                      </m:sSup>
                                    </m:e>
                                  </m:d>
                                </m:e>
                                <m:sup>
                                  <m:r>
                                    <a:rPr lang="en-US" altLang="zh-CN" sz="2400" b="1" i="1" dirty="0">
                                      <a:latin typeface="Cambria Math" panose="02040503050406030204" pitchFamily="18" charset="0"/>
                                    </a:rPr>
                                    <m:t>𝒋</m:t>
                                  </m:r>
                                </m:sup>
                              </m:sSup>
                            </m:e>
                          </m:nary>
                        </m:e>
                      </m:d>
                    </m:oMath>
                  </m:oMathPara>
                </a14:m>
                <a:endParaRPr lang="zh-CN" altLang="en-US" sz="2400" b="1" dirty="0"/>
              </a:p>
            </p:txBody>
          </p:sp>
        </mc:Choice>
        <mc:Fallback xmlns="">
          <p:sp>
            <p:nvSpPr>
              <p:cNvPr id="7" name="文本框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434" y="2934278"/>
                <a:ext cx="8859856" cy="1273751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/>
              <p:cNvSpPr txBox="1"/>
              <p:nvPr/>
            </p:nvSpPr>
            <p:spPr>
              <a:xfrm>
                <a:off x="444573" y="4179733"/>
                <a:ext cx="8848717" cy="937056"/>
              </a:xfrm>
              <a:prstGeom prst="rect">
                <a:avLst/>
              </a:prstGeom>
              <a:noFill/>
            </p:spPr>
            <p:txBody>
              <a:bodyPr wrap="square" lIns="83887" tIns="41944" rIns="83887" bIns="41944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400" b="1" i="1" dirty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400" b="1" i="1" dirty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altLang="zh-CN" sz="2400" b="1" i="1" dirty="0">
                              <a:latin typeface="Cambria Math" panose="02040503050406030204" pitchFamily="18" charset="0"/>
                            </a:rPr>
                            <m:t>𝒄</m:t>
                          </m:r>
                        </m:e>
                        <m:sub>
                          <m:r>
                            <a:rPr lang="en-US" altLang="zh-CN" sz="2400" b="1" i="1" dirty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sSup>
                        <m:sSupPr>
                          <m:ctrlPr>
                            <a:rPr lang="en-US" altLang="zh-CN" sz="2400" b="1" i="1" dirty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US" altLang="zh-CN" sz="2400" b="1" i="1" dirty="0"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en-US" altLang="zh-CN" sz="2400" b="1" i="1" dirty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  <m:sup>
                          <m:func>
                            <m:funcPr>
                              <m:ctrlPr>
                                <a:rPr lang="en-US" altLang="zh-CN" sz="2400" b="1" i="1" dirty="0">
                                  <a:latin typeface="Cambria Math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n-US" altLang="zh-CN" sz="2400" b="1" i="1" dirty="0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1" i="1" dirty="0">
                                      <a:latin typeface="Cambria Math" panose="02040503050406030204" pitchFamily="18" charset="0"/>
                                    </a:rPr>
                                    <m:t>𝒍𝒐𝒈</m:t>
                                  </m:r>
                                </m:e>
                                <m:sub>
                                  <m:r>
                                    <a:rPr lang="en-US" altLang="zh-CN" sz="2400" b="1" i="1" dirty="0">
                                      <a:latin typeface="Cambria Math" panose="02040503050406030204" pitchFamily="18" charset="0"/>
                                    </a:rPr>
                                    <m:t>𝒃</m:t>
                                  </m:r>
                                </m:sub>
                              </m:sSub>
                            </m:fName>
                            <m:e>
                              <m:r>
                                <a:rPr lang="en-US" altLang="zh-CN" sz="2400" b="1" i="1" dirty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</m:func>
                        </m:sup>
                      </m:sSup>
                      <m:r>
                        <a:rPr lang="en-US" altLang="zh-CN" sz="2400" b="1" i="1" dirty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400" b="1" i="1" dirty="0">
                          <a:latin typeface="Cambria Math" panose="02040503050406030204" pitchFamily="18" charset="0"/>
                        </a:rPr>
                        <m:t>𝑶</m:t>
                      </m:r>
                      <m:d>
                        <m:dPr>
                          <m:ctrlPr>
                            <a:rPr lang="en-US" altLang="zh-CN" sz="2400" b="1" i="1" dirty="0">
                              <a:latin typeface="Cambria Math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sz="2400" b="1" i="1" dirty="0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US" altLang="zh-CN" sz="2400" b="1" i="1" dirty="0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e>
                            <m:sup>
                              <m:func>
                                <m:funcPr>
                                  <m:ctrlPr>
                                    <a:rPr lang="en-US" altLang="zh-CN" sz="2400" b="1" i="1" dirty="0">
                                      <a:latin typeface="Cambria Math"/>
                                    </a:rPr>
                                  </m:ctrlPr>
                                </m:funcPr>
                                <m:fName>
                                  <m:sSub>
                                    <m:sSubPr>
                                      <m:ctrlPr>
                                        <a:rPr lang="en-US" altLang="zh-CN" sz="2400" b="1" i="1" dirty="0">
                                          <a:latin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400" b="1" i="1" dirty="0">
                                          <a:latin typeface="Cambria Math" panose="02040503050406030204" pitchFamily="18" charset="0"/>
                                        </a:rPr>
                                        <m:t>𝒍𝒐𝒈</m:t>
                                      </m:r>
                                    </m:e>
                                    <m:sub>
                                      <m:r>
                                        <a:rPr lang="en-US" altLang="zh-CN" sz="2400" b="1" i="1" dirty="0">
                                          <a:latin typeface="Cambria Math" panose="02040503050406030204" pitchFamily="18" charset="0"/>
                                        </a:rPr>
                                        <m:t>𝒃</m:t>
                                      </m:r>
                                    </m:sub>
                                  </m:sSub>
                                </m:fName>
                                <m:e>
                                  <m:r>
                                    <a:rPr lang="en-US" altLang="zh-CN" sz="2400" b="1" i="1" dirty="0">
                                      <a:latin typeface="Cambria Math" panose="02040503050406030204" pitchFamily="18" charset="0"/>
                                    </a:rPr>
                                    <m:t>𝒂</m:t>
                                  </m:r>
                                </m:e>
                              </m:func>
                              <m:r>
                                <a:rPr lang="en-US" altLang="zh-CN" sz="2400" b="1" i="1" dirty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zh-CN" altLang="en-US" sz="2400" b="1" i="1" dirty="0">
                                  <a:latin typeface="Cambria Math" panose="02040503050406030204" pitchFamily="18" charset="0"/>
                                </a:rPr>
                                <m:t>𝜺</m:t>
                              </m:r>
                            </m:sup>
                          </m:sSup>
                          <m:f>
                            <m:fPr>
                              <m:ctrlPr>
                                <a:rPr lang="en-US" altLang="zh-CN" sz="2400" b="1" i="1" dirty="0">
                                  <a:latin typeface="Cambria Math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altLang="zh-CN" sz="2400" b="1" i="1" dirty="0" smtClean="0">
                                      <a:solidFill>
                                        <a:srgbClr val="0000FF"/>
                                      </a:solidFill>
                                      <a:latin typeface="Cambria Math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400" b="1" i="1" dirty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𝒃</m:t>
                                  </m:r>
                                </m:e>
                                <m:sup>
                                  <m:r>
                                    <a:rPr lang="zh-CN" altLang="en-US" sz="2400" b="1" i="1" dirty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𝜺</m:t>
                                  </m:r>
                                  <m:func>
                                    <m:funcPr>
                                      <m:ctrlPr>
                                        <a:rPr lang="en-US" altLang="zh-CN" sz="2400" b="1" i="1" dirty="0">
                                          <a:solidFill>
                                            <a:srgbClr val="0000FF"/>
                                          </a:solidFill>
                                          <a:latin typeface="Cambria Math"/>
                                        </a:rPr>
                                      </m:ctrlPr>
                                    </m:funcPr>
                                    <m:fName>
                                      <m:sSub>
                                        <m:sSubPr>
                                          <m:ctrlPr>
                                            <a:rPr lang="en-US" altLang="zh-CN" sz="2400" b="1" i="1" dirty="0">
                                              <a:solidFill>
                                                <a:srgbClr val="0000FF"/>
                                              </a:solidFill>
                                              <a:latin typeface="Cambria Math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2400" b="1" i="1" dirty="0">
                                              <a:solidFill>
                                                <a:srgbClr val="0000FF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𝒍𝒐𝒈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400" b="1" i="1" dirty="0">
                                              <a:solidFill>
                                                <a:srgbClr val="0000FF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𝒃</m:t>
                                          </m:r>
                                        </m:sub>
                                      </m:sSub>
                                    </m:fName>
                                    <m:e>
                                      <m:r>
                                        <a:rPr lang="en-US" altLang="zh-CN" sz="2400" b="1" i="1" dirty="0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𝒏</m:t>
                                      </m:r>
                                    </m:e>
                                  </m:func>
                                </m:sup>
                              </m:sSup>
                              <m:r>
                                <a:rPr lang="en-US" altLang="zh-CN" sz="2400" b="1" i="1" dirty="0" smtClean="0">
                                  <a:solidFill>
                                    <a:srgbClr val="C00000"/>
                                  </a:solidFill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altLang="zh-CN" sz="2400" b="1" i="1" dirty="0" smtClean="0">
                                  <a:solidFill>
                                    <a:srgbClr val="C00000"/>
                                  </a:solidFill>
                                  <a:latin typeface="Cambria Math"/>
                                </a:rPr>
                                <m:t>𝟏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US" altLang="zh-CN" sz="2400" b="1" i="1" dirty="0" smtClean="0">
                                      <a:solidFill>
                                        <a:srgbClr val="C00000"/>
                                      </a:solidFill>
                                      <a:latin typeface="Cambria Math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400" b="1" i="1" dirty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𝒃</m:t>
                                  </m:r>
                                </m:e>
                                <m:sup>
                                  <m:r>
                                    <a:rPr lang="zh-CN" altLang="en-US" sz="2400" b="1" i="1" dirty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𝜺</m:t>
                                  </m:r>
                                </m:sup>
                              </m:sSup>
                              <m:r>
                                <a:rPr lang="en-US" altLang="zh-CN" sz="2400" b="1" i="1" dirty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2400" b="1" i="1" dirty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zh-CN" altLang="en-US" sz="2400" b="1" dirty="0"/>
              </a:p>
            </p:txBody>
          </p:sp>
        </mc:Choice>
        <mc:Fallback xmlns=""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4573" y="4179733"/>
                <a:ext cx="8848717" cy="937056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/>
              <p:cNvSpPr txBox="1"/>
              <p:nvPr/>
            </p:nvSpPr>
            <p:spPr>
              <a:xfrm>
                <a:off x="457957" y="5132434"/>
                <a:ext cx="8835333" cy="508669"/>
              </a:xfrm>
              <a:prstGeom prst="rect">
                <a:avLst/>
              </a:prstGeom>
              <a:noFill/>
            </p:spPr>
            <p:txBody>
              <a:bodyPr wrap="square" lIns="83887" tIns="41944" rIns="83887" bIns="41944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400" b="1" i="1" dirty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400" b="1" i="1" dirty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altLang="zh-CN" sz="2400" b="1" i="1" dirty="0">
                              <a:latin typeface="Cambria Math" panose="02040503050406030204" pitchFamily="18" charset="0"/>
                            </a:rPr>
                            <m:t>𝒄</m:t>
                          </m:r>
                        </m:e>
                        <m:sub>
                          <m:r>
                            <a:rPr lang="en-US" altLang="zh-CN" sz="2400" b="1" i="1" dirty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sSup>
                        <m:sSupPr>
                          <m:ctrlPr>
                            <a:rPr lang="en-US" altLang="zh-CN" sz="2400" b="1" i="1" dirty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US" altLang="zh-CN" sz="2400" b="1" i="1" dirty="0"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en-US" altLang="zh-CN" sz="2400" b="1" i="1" dirty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  <m:sup>
                          <m:func>
                            <m:funcPr>
                              <m:ctrlPr>
                                <a:rPr lang="en-US" altLang="zh-CN" sz="2400" b="1" i="1" dirty="0">
                                  <a:latin typeface="Cambria Math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n-US" altLang="zh-CN" sz="2400" b="1" i="1" dirty="0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1" i="1" dirty="0">
                                      <a:latin typeface="Cambria Math" panose="02040503050406030204" pitchFamily="18" charset="0"/>
                                    </a:rPr>
                                    <m:t>𝒍𝒐𝒈</m:t>
                                  </m:r>
                                </m:e>
                                <m:sub>
                                  <m:r>
                                    <a:rPr lang="en-US" altLang="zh-CN" sz="2400" b="1" i="1" dirty="0">
                                      <a:latin typeface="Cambria Math" panose="02040503050406030204" pitchFamily="18" charset="0"/>
                                    </a:rPr>
                                    <m:t>𝒃</m:t>
                                  </m:r>
                                </m:sub>
                              </m:sSub>
                            </m:fName>
                            <m:e>
                              <m:r>
                                <a:rPr lang="en-US" altLang="zh-CN" sz="2400" b="1" i="1" dirty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</m:func>
                        </m:sup>
                      </m:sSup>
                      <m:r>
                        <a:rPr lang="en-US" altLang="zh-CN" sz="2400" b="1" i="1" dirty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400" b="1" i="1" dirty="0">
                          <a:latin typeface="Cambria Math" panose="02040503050406030204" pitchFamily="18" charset="0"/>
                        </a:rPr>
                        <m:t>𝑶</m:t>
                      </m:r>
                      <m:d>
                        <m:dPr>
                          <m:ctrlPr>
                            <a:rPr lang="en-US" altLang="zh-CN" sz="2400" b="1" i="1" dirty="0">
                              <a:latin typeface="Cambria Math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sz="2400" b="1" i="1" dirty="0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US" altLang="zh-CN" sz="2400" b="1" i="1" dirty="0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e>
                            <m:sup>
                              <m:func>
                                <m:funcPr>
                                  <m:ctrlPr>
                                    <a:rPr lang="en-US" altLang="zh-CN" sz="2400" b="1" i="1" dirty="0">
                                      <a:latin typeface="Cambria Math"/>
                                    </a:rPr>
                                  </m:ctrlPr>
                                </m:funcPr>
                                <m:fName>
                                  <m:sSub>
                                    <m:sSubPr>
                                      <m:ctrlPr>
                                        <a:rPr lang="en-US" altLang="zh-CN" sz="2400" b="1" i="1" dirty="0">
                                          <a:latin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400" b="1" i="1" dirty="0">
                                          <a:latin typeface="Cambria Math" panose="02040503050406030204" pitchFamily="18" charset="0"/>
                                        </a:rPr>
                                        <m:t>𝒍𝒐𝒈</m:t>
                                      </m:r>
                                    </m:e>
                                    <m:sub>
                                      <m:r>
                                        <a:rPr lang="en-US" altLang="zh-CN" sz="2400" b="1" i="1" dirty="0">
                                          <a:latin typeface="Cambria Math" panose="02040503050406030204" pitchFamily="18" charset="0"/>
                                        </a:rPr>
                                        <m:t>𝒃</m:t>
                                      </m:r>
                                    </m:sub>
                                  </m:sSub>
                                </m:fName>
                                <m:e>
                                  <m:r>
                                    <a:rPr lang="en-US" altLang="zh-CN" sz="2400" b="1" i="1" dirty="0">
                                      <a:latin typeface="Cambria Math" panose="02040503050406030204" pitchFamily="18" charset="0"/>
                                    </a:rPr>
                                    <m:t>𝒂</m:t>
                                  </m:r>
                                </m:e>
                              </m:func>
                              <m:r>
                                <a:rPr lang="en-US" altLang="zh-CN" sz="2400" b="1" i="1" dirty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zh-CN" altLang="en-US" sz="2400" b="1" i="1" dirty="0">
                                  <a:latin typeface="Cambria Math" panose="02040503050406030204" pitchFamily="18" charset="0"/>
                                </a:rPr>
                                <m:t>𝜺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altLang="zh-CN" sz="2400" b="1" i="1" dirty="0" smtClean="0">
                                  <a:solidFill>
                                    <a:srgbClr val="0000FF"/>
                                  </a:solidFill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US" altLang="zh-CN" sz="2400" b="1" i="1" dirty="0" smtClean="0">
                                  <a:solidFill>
                                    <a:srgbClr val="0000FF"/>
                                  </a:solidFill>
                                  <a:latin typeface="Cambria Math"/>
                                </a:rPr>
                                <m:t>𝒏</m:t>
                              </m:r>
                            </m:e>
                            <m:sup>
                              <m:r>
                                <a:rPr lang="zh-CN" altLang="en-US" sz="2400" b="1" i="1" dirty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𝜺</m:t>
                              </m:r>
                            </m:sup>
                          </m:sSup>
                        </m:e>
                      </m:d>
                      <m:r>
                        <a:rPr lang="en-US" altLang="zh-CN" sz="2400" b="1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l-GR" altLang="zh-CN" sz="2400" b="1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𝜣</m:t>
                      </m:r>
                      <m:r>
                        <a:rPr lang="en-US" altLang="zh-CN" sz="2400" b="1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altLang="zh-CN" sz="2400" b="1" i="1" dirty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US" altLang="zh-CN" sz="2400" b="1" i="1" dirty="0"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en-US" altLang="zh-CN" sz="2400" b="1" i="1" dirty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  <m:sup>
                          <m:func>
                            <m:funcPr>
                              <m:ctrlPr>
                                <a:rPr lang="en-US" altLang="zh-CN" sz="2400" b="1" i="1" dirty="0">
                                  <a:latin typeface="Cambria Math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n-US" altLang="zh-CN" sz="2400" b="1" i="1" dirty="0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1" i="1" dirty="0">
                                      <a:latin typeface="Cambria Math" panose="02040503050406030204" pitchFamily="18" charset="0"/>
                                    </a:rPr>
                                    <m:t>𝒍𝒐𝒈</m:t>
                                  </m:r>
                                </m:e>
                                <m:sub>
                                  <m:r>
                                    <a:rPr lang="en-US" altLang="zh-CN" sz="2400" b="1" i="1" dirty="0">
                                      <a:latin typeface="Cambria Math" panose="02040503050406030204" pitchFamily="18" charset="0"/>
                                    </a:rPr>
                                    <m:t>𝒃</m:t>
                                  </m:r>
                                </m:sub>
                              </m:sSub>
                            </m:fName>
                            <m:e>
                              <m:r>
                                <a:rPr lang="en-US" altLang="zh-CN" sz="2400" b="1" i="1" dirty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</m:func>
                        </m:sup>
                      </m:sSup>
                      <m:r>
                        <a:rPr lang="en-US" altLang="zh-CN" sz="2400" b="1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400" b="1" dirty="0"/>
              </a:p>
            </p:txBody>
          </p:sp>
        </mc:Choice>
        <mc:Fallback xmlns="">
          <p:sp>
            <p:nvSpPr>
              <p:cNvPr id="9" name="文本框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957" y="5132434"/>
                <a:ext cx="8835333" cy="508669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矩形 9"/>
          <p:cNvSpPr/>
          <p:nvPr/>
        </p:nvSpPr>
        <p:spPr>
          <a:xfrm>
            <a:off x="5127729" y="2299734"/>
            <a:ext cx="1552989" cy="504445"/>
          </a:xfrm>
          <a:prstGeom prst="rect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5028203" y="3318930"/>
            <a:ext cx="776494" cy="504445"/>
          </a:xfrm>
          <a:prstGeom prst="rect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TextBox 2"/>
          <p:cNvSpPr txBox="1"/>
          <p:nvPr/>
        </p:nvSpPr>
        <p:spPr>
          <a:xfrm>
            <a:off x="6063529" y="4469362"/>
            <a:ext cx="11476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/>
              <a:t>常数</a:t>
            </a:r>
            <a:endParaRPr lang="zh-CN" altLang="en-US" sz="2400" b="1" dirty="0"/>
          </a:p>
        </p:txBody>
      </p:sp>
      <p:sp>
        <p:nvSpPr>
          <p:cNvPr id="12" name="矩形 11"/>
          <p:cNvSpPr/>
          <p:nvPr/>
        </p:nvSpPr>
        <p:spPr>
          <a:xfrm>
            <a:off x="5180603" y="4208029"/>
            <a:ext cx="624094" cy="431244"/>
          </a:xfrm>
          <a:prstGeom prst="rect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4463232" y="4639273"/>
            <a:ext cx="1029418" cy="431244"/>
          </a:xfrm>
          <a:prstGeom prst="rect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79256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animBg="1"/>
      <p:bldP spid="7" grpId="0"/>
      <p:bldP spid="8" grpId="0"/>
      <p:bldP spid="9" grpId="0"/>
      <p:bldP spid="10" grpId="0" animBg="1"/>
      <p:bldP spid="11" grpId="0" animBg="1"/>
      <p:bldP spid="3" grpId="0"/>
      <p:bldP spid="12" grpId="0" animBg="1"/>
      <p:bldP spid="13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435111" y="146406"/>
            <a:ext cx="8835724" cy="712010"/>
          </a:xfrm>
        </p:spPr>
        <p:txBody>
          <a:bodyPr>
            <a:normAutofit/>
          </a:bodyPr>
          <a:lstStyle/>
          <a:p>
            <a:pPr algn="ctr"/>
            <a:r>
              <a:rPr lang="en-US" altLang="zh-CN" sz="4400" b="1" dirty="0" smtClean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Case2</a:t>
            </a:r>
            <a:endParaRPr lang="zh-CN" altLang="en-US" sz="4400" b="1" dirty="0">
              <a:solidFill>
                <a:srgbClr val="C00000"/>
              </a:solidFill>
              <a:latin typeface="黑体" pitchFamily="49" charset="-122"/>
              <a:ea typeface="黑体" pitchFamily="49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/>
              <p:cNvSpPr txBox="1"/>
              <p:nvPr/>
            </p:nvSpPr>
            <p:spPr>
              <a:xfrm>
                <a:off x="6279506" y="928486"/>
                <a:ext cx="3411272" cy="531817"/>
              </a:xfrm>
              <a:prstGeom prst="rect">
                <a:avLst/>
              </a:prstGeom>
              <a:noFill/>
            </p:spPr>
            <p:txBody>
              <a:bodyPr wrap="square" lIns="83887" tIns="41944" rIns="83887" bIns="41944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1" i="1" dirty="0">
                          <a:latin typeface="Cambria Math" panose="02040503050406030204" pitchFamily="18" charset="0"/>
                        </a:rPr>
                        <m:t>𝒇</m:t>
                      </m:r>
                      <m:r>
                        <a:rPr lang="en-US" altLang="zh-CN" sz="2800" b="1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800" b="1" i="1" dirty="0"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US" altLang="zh-CN" sz="2800" b="1" i="1" dirty="0"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l-GR" altLang="zh-CN" sz="2800" b="1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𝜣</m:t>
                      </m:r>
                      <m:r>
                        <a:rPr lang="en-US" altLang="zh-CN" sz="2800" b="1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altLang="zh-CN" sz="2800" b="1" i="1" dirty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US" altLang="zh-CN" sz="2800" b="1" i="1" dirty="0"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en-US" altLang="zh-CN" sz="2800" b="1" i="1" dirty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  <m:sup>
                          <m:func>
                            <m:funcPr>
                              <m:ctrlPr>
                                <a:rPr lang="en-US" altLang="zh-CN" sz="2800" b="1" i="1" dirty="0">
                                  <a:latin typeface="Cambria Math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n-US" altLang="zh-CN" sz="2800" b="1" i="1" dirty="0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b="1" i="1" dirty="0">
                                      <a:latin typeface="Cambria Math" panose="02040503050406030204" pitchFamily="18" charset="0"/>
                                    </a:rPr>
                                    <m:t>𝐥𝐨𝐠</m:t>
                                  </m:r>
                                </m:e>
                                <m:sub>
                                  <m:r>
                                    <a:rPr lang="en-US" altLang="zh-CN" sz="2800" b="1" i="1" dirty="0">
                                      <a:latin typeface="Cambria Math" panose="02040503050406030204" pitchFamily="18" charset="0"/>
                                    </a:rPr>
                                    <m:t>𝒃</m:t>
                                  </m:r>
                                </m:sub>
                              </m:sSub>
                            </m:fName>
                            <m:e>
                              <m:r>
                                <a:rPr lang="en-US" altLang="zh-CN" sz="2800" b="1" i="1" dirty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</m:func>
                        </m:sup>
                      </m:sSup>
                      <m:r>
                        <a:rPr lang="en-US" altLang="zh-CN" sz="2800" b="1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400" b="1" dirty="0"/>
              </a:p>
            </p:txBody>
          </p:sp>
        </mc:Choice>
        <mc:Fallback xmlns=""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79506" y="928486"/>
                <a:ext cx="3411272" cy="531817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object 21"/>
          <p:cNvSpPr/>
          <p:nvPr/>
        </p:nvSpPr>
        <p:spPr>
          <a:xfrm>
            <a:off x="6550096" y="928486"/>
            <a:ext cx="2864492" cy="519524"/>
          </a:xfrm>
          <a:custGeom>
            <a:avLst/>
            <a:gdLst/>
            <a:ahLst/>
            <a:cxnLst/>
            <a:rect l="l" t="t" r="r" b="b"/>
            <a:pathLst>
              <a:path w="1752600" h="1447800">
                <a:moveTo>
                  <a:pt x="0" y="241300"/>
                </a:moveTo>
                <a:lnTo>
                  <a:pt x="4904" y="192682"/>
                </a:lnTo>
                <a:lnTo>
                  <a:pt x="18968" y="147393"/>
                </a:lnTo>
                <a:lnTo>
                  <a:pt x="41221" y="106405"/>
                </a:lnTo>
                <a:lnTo>
                  <a:pt x="70691" y="70691"/>
                </a:lnTo>
                <a:lnTo>
                  <a:pt x="106405" y="41221"/>
                </a:lnTo>
                <a:lnTo>
                  <a:pt x="147393" y="18968"/>
                </a:lnTo>
                <a:lnTo>
                  <a:pt x="192682" y="4904"/>
                </a:lnTo>
                <a:lnTo>
                  <a:pt x="241300" y="0"/>
                </a:lnTo>
                <a:lnTo>
                  <a:pt x="1511300" y="0"/>
                </a:lnTo>
                <a:lnTo>
                  <a:pt x="1559917" y="4904"/>
                </a:lnTo>
                <a:lnTo>
                  <a:pt x="1605206" y="18968"/>
                </a:lnTo>
                <a:lnTo>
                  <a:pt x="1646194" y="41221"/>
                </a:lnTo>
                <a:lnTo>
                  <a:pt x="1681908" y="70691"/>
                </a:lnTo>
                <a:lnTo>
                  <a:pt x="1711378" y="106405"/>
                </a:lnTo>
                <a:lnTo>
                  <a:pt x="1733631" y="147393"/>
                </a:lnTo>
                <a:lnTo>
                  <a:pt x="1747695" y="192682"/>
                </a:lnTo>
                <a:lnTo>
                  <a:pt x="1752600" y="241300"/>
                </a:lnTo>
                <a:lnTo>
                  <a:pt x="1752600" y="1206500"/>
                </a:lnTo>
                <a:lnTo>
                  <a:pt x="1747695" y="1255128"/>
                </a:lnTo>
                <a:lnTo>
                  <a:pt x="1733631" y="1300422"/>
                </a:lnTo>
                <a:lnTo>
                  <a:pt x="1711378" y="1341410"/>
                </a:lnTo>
                <a:lnTo>
                  <a:pt x="1681908" y="1377122"/>
                </a:lnTo>
                <a:lnTo>
                  <a:pt x="1646194" y="1406588"/>
                </a:lnTo>
                <a:lnTo>
                  <a:pt x="1605206" y="1428836"/>
                </a:lnTo>
                <a:lnTo>
                  <a:pt x="1559917" y="1442897"/>
                </a:lnTo>
                <a:lnTo>
                  <a:pt x="1511300" y="1447800"/>
                </a:lnTo>
                <a:lnTo>
                  <a:pt x="241300" y="1447800"/>
                </a:lnTo>
                <a:lnTo>
                  <a:pt x="192682" y="1442897"/>
                </a:lnTo>
                <a:lnTo>
                  <a:pt x="147393" y="1428836"/>
                </a:lnTo>
                <a:lnTo>
                  <a:pt x="106405" y="1406588"/>
                </a:lnTo>
                <a:lnTo>
                  <a:pt x="70691" y="1377122"/>
                </a:lnTo>
                <a:lnTo>
                  <a:pt x="41221" y="1341410"/>
                </a:lnTo>
                <a:lnTo>
                  <a:pt x="18968" y="1300422"/>
                </a:lnTo>
                <a:lnTo>
                  <a:pt x="4904" y="1255128"/>
                </a:lnTo>
                <a:lnTo>
                  <a:pt x="0" y="1206500"/>
                </a:lnTo>
                <a:lnTo>
                  <a:pt x="0" y="241300"/>
                </a:lnTo>
                <a:close/>
              </a:path>
            </a:pathLst>
          </a:custGeom>
          <a:ln w="3175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/>
              <p:cNvSpPr txBox="1"/>
              <p:nvPr/>
            </p:nvSpPr>
            <p:spPr>
              <a:xfrm>
                <a:off x="429209" y="1482342"/>
                <a:ext cx="8841626" cy="1368392"/>
              </a:xfrm>
              <a:prstGeom prst="rect">
                <a:avLst/>
              </a:prstGeom>
              <a:noFill/>
            </p:spPr>
            <p:txBody>
              <a:bodyPr wrap="square" lIns="83887" tIns="41944" rIns="83887" bIns="41944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800" b="1" i="1" dirty="0">
                          <a:latin typeface="Cambria Math" panose="02040503050406030204" pitchFamily="18" charset="0"/>
                        </a:rPr>
                        <m:t>𝑻</m:t>
                      </m:r>
                      <m:r>
                        <a:rPr lang="en-US" altLang="zh-CN" sz="2800" b="1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800" b="1" i="1" dirty="0"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US" altLang="zh-CN" sz="2800" b="1" i="1" dirty="0">
                          <a:latin typeface="Cambria Math" panose="02040503050406030204" pitchFamily="18" charset="0"/>
                        </a:rPr>
                        <m:t>)=</m:t>
                      </m:r>
                      <m:sSub>
                        <m:sSubPr>
                          <m:ctrlPr>
                            <a:rPr lang="en-US" altLang="zh-CN" sz="2800" b="1" i="1" dirty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altLang="zh-CN" sz="2800" b="1" i="1" dirty="0">
                              <a:latin typeface="Cambria Math" panose="02040503050406030204" pitchFamily="18" charset="0"/>
                            </a:rPr>
                            <m:t>𝒄</m:t>
                          </m:r>
                        </m:e>
                        <m:sub>
                          <m:r>
                            <a:rPr lang="en-US" altLang="zh-CN" sz="2800" b="1" i="1" dirty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sSup>
                        <m:sSupPr>
                          <m:ctrlPr>
                            <a:rPr lang="en-US" altLang="zh-CN" sz="2800" b="1" i="1" dirty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US" altLang="zh-CN" sz="2800" b="1" i="1" dirty="0"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en-US" altLang="zh-CN" sz="2800" b="1" i="1" dirty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  <m:sup>
                          <m:func>
                            <m:funcPr>
                              <m:ctrlPr>
                                <a:rPr lang="en-US" altLang="zh-CN" sz="2800" b="1" i="1" dirty="0">
                                  <a:latin typeface="Cambria Math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n-US" altLang="zh-CN" sz="2800" b="1" i="1" dirty="0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b="1" i="1" dirty="0">
                                      <a:latin typeface="Cambria Math" panose="02040503050406030204" pitchFamily="18" charset="0"/>
                                    </a:rPr>
                                    <m:t>𝒍𝒐𝒈</m:t>
                                  </m:r>
                                </m:e>
                                <m:sub>
                                  <m:r>
                                    <a:rPr lang="en-US" altLang="zh-CN" sz="2800" b="1" i="1" dirty="0">
                                      <a:latin typeface="Cambria Math" panose="02040503050406030204" pitchFamily="18" charset="0"/>
                                    </a:rPr>
                                    <m:t>𝒃</m:t>
                                  </m:r>
                                </m:sub>
                              </m:sSub>
                            </m:fName>
                            <m:e>
                              <m:r>
                                <a:rPr lang="en-US" altLang="zh-CN" sz="2800" b="1" i="1" dirty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</m:func>
                        </m:sup>
                      </m:sSup>
                      <m:r>
                        <a:rPr lang="en-US" altLang="zh-CN" sz="2800" b="1" i="1" dirty="0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ctrlPr>
                            <a:rPr lang="en-US" altLang="zh-CN" sz="2800" b="1" i="1" dirty="0">
                              <a:latin typeface="Cambria Math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800" b="1" i="1" dirty="0">
                              <a:latin typeface="Cambria Math" panose="02040503050406030204" pitchFamily="18" charset="0"/>
                            </a:rPr>
                            <m:t>𝒋</m:t>
                          </m:r>
                          <m:r>
                            <a:rPr lang="en-US" altLang="zh-CN" sz="2800" b="1" i="1" dirty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sz="2800" b="1" i="1" dirty="0"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  <m:sup>
                          <m:r>
                            <a:rPr lang="en-US" altLang="zh-CN" sz="2800" b="1" i="1" dirty="0">
                              <a:latin typeface="Cambria Math" panose="02040503050406030204" pitchFamily="18" charset="0"/>
                            </a:rPr>
                            <m:t>𝒌</m:t>
                          </m:r>
                          <m:r>
                            <a:rPr lang="en-US" altLang="zh-CN" sz="2800" b="1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2800" b="1" i="1" dirty="0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  <m:e>
                          <m:sSup>
                            <m:sSupPr>
                              <m:ctrlPr>
                                <a:rPr lang="en-US" altLang="zh-CN" sz="2800" b="1" i="1" dirty="0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US" altLang="zh-CN" sz="2800" b="1" i="1" dirty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  <m:sup>
                              <m:r>
                                <a:rPr lang="en-US" altLang="zh-CN" sz="2800" b="1" i="1" dirty="0">
                                  <a:latin typeface="Cambria Math" panose="02040503050406030204" pitchFamily="18" charset="0"/>
                                </a:rPr>
                                <m:t>𝒋</m:t>
                              </m:r>
                            </m:sup>
                          </m:sSup>
                        </m:e>
                      </m:nary>
                      <m:r>
                        <a:rPr lang="en-US" altLang="zh-CN" sz="2800" b="1" i="1" dirty="0">
                          <a:latin typeface="Cambria Math" panose="02040503050406030204" pitchFamily="18" charset="0"/>
                        </a:rPr>
                        <m:t>𝒇</m:t>
                      </m:r>
                      <m:d>
                        <m:dPr>
                          <m:ctrlPr>
                            <a:rPr lang="en-US" altLang="zh-CN" sz="2800" b="1" i="1" dirty="0">
                              <a:latin typeface="Cambria Math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sz="2800" b="1" i="1" dirty="0">
                                  <a:latin typeface="Cambria Math"/>
                                </a:rPr>
                              </m:ctrlPr>
                            </m:fPr>
                            <m:num>
                              <m:r>
                                <a:rPr lang="en-US" altLang="zh-CN" sz="2800" b="1" i="1" dirty="0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US" altLang="zh-CN" sz="2800" b="1" i="1" dirty="0">
                                      <a:latin typeface="Cambria Math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800" b="1" i="1" dirty="0">
                                      <a:latin typeface="Cambria Math" panose="02040503050406030204" pitchFamily="18" charset="0"/>
                                    </a:rPr>
                                    <m:t>𝒃</m:t>
                                  </m:r>
                                </m:e>
                                <m:sup>
                                  <m:r>
                                    <a:rPr lang="en-US" altLang="zh-CN" sz="2800" b="1" i="1" dirty="0">
                                      <a:latin typeface="Cambria Math" panose="02040503050406030204" pitchFamily="18" charset="0"/>
                                    </a:rPr>
                                    <m:t>𝒋</m:t>
                                  </m:r>
                                </m:sup>
                              </m:sSup>
                            </m:den>
                          </m:f>
                        </m:e>
                      </m:d>
                    </m:oMath>
                  </m:oMathPara>
                </a14:m>
                <a:endParaRPr lang="zh-CN" altLang="en-US" sz="2200" b="1" dirty="0"/>
              </a:p>
            </p:txBody>
          </p:sp>
        </mc:Choice>
        <mc:Fallback xmlns="">
          <p:sp>
            <p:nvSpPr>
              <p:cNvPr id="6" name="文本框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9209" y="1482342"/>
                <a:ext cx="8841626" cy="1368392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/>
              <p:cNvSpPr txBox="1"/>
              <p:nvPr/>
            </p:nvSpPr>
            <p:spPr>
              <a:xfrm>
                <a:off x="1156996" y="2656204"/>
                <a:ext cx="8113837" cy="1471882"/>
              </a:xfrm>
              <a:prstGeom prst="rect">
                <a:avLst/>
              </a:prstGeom>
              <a:noFill/>
            </p:spPr>
            <p:txBody>
              <a:bodyPr wrap="square" lIns="83887" tIns="41944" rIns="83887" bIns="41944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800" b="1" i="1" dirty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800" b="1" i="1" dirty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altLang="zh-CN" sz="2800" b="1" i="1" dirty="0">
                              <a:latin typeface="Cambria Math" panose="02040503050406030204" pitchFamily="18" charset="0"/>
                            </a:rPr>
                            <m:t>𝒄</m:t>
                          </m:r>
                        </m:e>
                        <m:sub>
                          <m:r>
                            <a:rPr lang="en-US" altLang="zh-CN" sz="2800" b="1" i="1" dirty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sSup>
                        <m:sSupPr>
                          <m:ctrlPr>
                            <a:rPr lang="en-US" altLang="zh-CN" sz="2800" b="1" i="1" dirty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US" altLang="zh-CN" sz="2800" b="1" i="1" dirty="0"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en-US" altLang="zh-CN" sz="2800" b="1" i="1" dirty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  <m:sup>
                          <m:func>
                            <m:funcPr>
                              <m:ctrlPr>
                                <a:rPr lang="en-US" altLang="zh-CN" sz="2800" b="1" i="1" dirty="0">
                                  <a:latin typeface="Cambria Math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n-US" altLang="zh-CN" sz="2800" b="1" i="1" dirty="0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b="1" i="1" dirty="0">
                                      <a:latin typeface="Cambria Math" panose="02040503050406030204" pitchFamily="18" charset="0"/>
                                    </a:rPr>
                                    <m:t>𝒍𝒐𝒈</m:t>
                                  </m:r>
                                </m:e>
                                <m:sub>
                                  <m:r>
                                    <a:rPr lang="en-US" altLang="zh-CN" sz="2800" b="1" i="1" dirty="0">
                                      <a:latin typeface="Cambria Math" panose="02040503050406030204" pitchFamily="18" charset="0"/>
                                    </a:rPr>
                                    <m:t>𝒃</m:t>
                                  </m:r>
                                </m:sub>
                              </m:sSub>
                            </m:fName>
                            <m:e>
                              <m:r>
                                <a:rPr lang="en-US" altLang="zh-CN" sz="2800" b="1" i="1" dirty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</m:func>
                        </m:sup>
                      </m:sSup>
                      <m:r>
                        <a:rPr lang="en-US" altLang="zh-CN" sz="2800" b="1" i="1" dirty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l-GR" altLang="zh-CN" sz="2800" b="1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𝜣</m:t>
                      </m:r>
                      <m:d>
                        <m:dPr>
                          <m:ctrlPr>
                            <a:rPr lang="en-US" altLang="zh-CN" sz="2800" b="1" i="1" dirty="0">
                              <a:latin typeface="Cambria Math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ctrlPr>
                                <a:rPr lang="en-US" altLang="zh-CN" sz="2800" b="1" i="1" dirty="0">
                                  <a:latin typeface="Cambria Math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zh-CN" sz="2800" b="1" i="1" dirty="0">
                                  <a:latin typeface="Cambria Math" panose="02040503050406030204" pitchFamily="18" charset="0"/>
                                </a:rPr>
                                <m:t>𝒋</m:t>
                              </m:r>
                              <m:r>
                                <a:rPr lang="en-US" altLang="zh-CN" sz="2800" b="1" i="1" dirty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zh-CN" sz="2800" b="1" i="1" dirty="0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sub>
                            <m:sup>
                              <m:func>
                                <m:funcPr>
                                  <m:ctrlPr>
                                    <a:rPr lang="en-US" altLang="zh-CN" sz="2800" b="1" i="1" dirty="0">
                                      <a:latin typeface="Cambria Math"/>
                                    </a:rPr>
                                  </m:ctrlPr>
                                </m:funcPr>
                                <m:fName>
                                  <m:sSub>
                                    <m:sSubPr>
                                      <m:ctrlPr>
                                        <a:rPr lang="en-US" altLang="zh-CN" sz="2800" b="1" i="1" dirty="0">
                                          <a:latin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800" b="1" i="1" dirty="0">
                                          <a:latin typeface="Cambria Math" panose="02040503050406030204" pitchFamily="18" charset="0"/>
                                        </a:rPr>
                                        <m:t>𝒍𝒐𝒈</m:t>
                                      </m:r>
                                    </m:e>
                                    <m:sub>
                                      <m:r>
                                        <a:rPr lang="en-US" altLang="zh-CN" sz="2800" b="1" i="1" dirty="0">
                                          <a:latin typeface="Cambria Math" panose="02040503050406030204" pitchFamily="18" charset="0"/>
                                        </a:rPr>
                                        <m:t>𝒃</m:t>
                                      </m:r>
                                    </m:sub>
                                  </m:sSub>
                                </m:fName>
                                <m:e>
                                  <m:r>
                                    <a:rPr lang="en-US" altLang="zh-CN" sz="2800" b="1" i="1" dirty="0">
                                      <a:latin typeface="Cambria Math" panose="02040503050406030204" pitchFamily="18" charset="0"/>
                                    </a:rPr>
                                    <m:t>𝒏</m:t>
                                  </m:r>
                                </m:e>
                              </m:func>
                              <m:r>
                                <a:rPr lang="en-US" altLang="zh-CN" sz="2800" b="1" i="1" dirty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2800" b="1" i="1" dirty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altLang="zh-CN" sz="2800" b="1" i="1" dirty="0">
                                      <a:latin typeface="Cambria Math"/>
                                    </a:rPr>
                                  </m:ctrlPr>
                                </m:sSupPr>
                                <m:e>
                                  <m:sSup>
                                    <m:sSupPr>
                                      <m:ctrlPr>
                                        <a:rPr lang="en-US" altLang="zh-CN" sz="2800" b="1" i="1" dirty="0">
                                          <a:latin typeface="Cambria Math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2800" b="1" i="1" dirty="0">
                                          <a:latin typeface="Cambria Math" panose="02040503050406030204" pitchFamily="18" charset="0"/>
                                        </a:rPr>
                                        <m:t>𝒂</m:t>
                                      </m:r>
                                    </m:e>
                                    <m:sup>
                                      <m:r>
                                        <a:rPr lang="en-US" altLang="zh-CN" sz="2800" b="1" i="1" dirty="0">
                                          <a:latin typeface="Cambria Math" panose="02040503050406030204" pitchFamily="18" charset="0"/>
                                        </a:rPr>
                                        <m:t>𝒋</m:t>
                                      </m:r>
                                    </m:sup>
                                  </m:sSup>
                                  <m:d>
                                    <m:dPr>
                                      <m:ctrlPr>
                                        <a:rPr lang="en-US" altLang="zh-CN" sz="2800" b="1" i="1" dirty="0">
                                          <a:latin typeface="Cambria Math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en-US" altLang="zh-CN" sz="2800" b="1" i="1" dirty="0">
                                              <a:latin typeface="Cambria Math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altLang="zh-CN" sz="2800" b="1" i="1" dirty="0">
                                              <a:latin typeface="Cambria Math" panose="02040503050406030204" pitchFamily="18" charset="0"/>
                                            </a:rPr>
                                            <m:t>𝒏</m:t>
                                          </m:r>
                                        </m:num>
                                        <m:den>
                                          <m:sSup>
                                            <m:sSupPr>
                                              <m:ctrlPr>
                                                <a:rPr lang="en-US" altLang="zh-CN" sz="2800" b="1" i="1" dirty="0">
                                                  <a:latin typeface="Cambria Math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en-US" altLang="zh-CN" sz="2800" b="1" i="1" dirty="0">
                                                  <a:latin typeface="Cambria Math" panose="02040503050406030204" pitchFamily="18" charset="0"/>
                                                </a:rPr>
                                                <m:t>𝒃</m:t>
                                              </m:r>
                                            </m:e>
                                            <m:sup>
                                              <m:r>
                                                <a:rPr lang="en-US" altLang="zh-CN" sz="2800" b="1" i="1" dirty="0">
                                                  <a:latin typeface="Cambria Math" panose="02040503050406030204" pitchFamily="18" charset="0"/>
                                                </a:rPr>
                                                <m:t>𝒋</m:t>
                                              </m:r>
                                            </m:sup>
                                          </m:sSup>
                                        </m:den>
                                      </m:f>
                                    </m:e>
                                  </m:d>
                                </m:e>
                                <m:sup>
                                  <m:func>
                                    <m:funcPr>
                                      <m:ctrlPr>
                                        <a:rPr lang="en-US" altLang="zh-CN" sz="2800" b="1" i="1" dirty="0">
                                          <a:latin typeface="Cambria Math"/>
                                        </a:rPr>
                                      </m:ctrlPr>
                                    </m:funcPr>
                                    <m:fName>
                                      <m:sSub>
                                        <m:sSubPr>
                                          <m:ctrlPr>
                                            <a:rPr lang="en-US" altLang="zh-CN" sz="2800" b="1" i="1" dirty="0">
                                              <a:latin typeface="Cambria Math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2800" b="1" i="1" dirty="0">
                                              <a:latin typeface="Cambria Math" panose="02040503050406030204" pitchFamily="18" charset="0"/>
                                            </a:rPr>
                                            <m:t>𝒍𝒐𝒈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800" b="1" i="1" dirty="0">
                                              <a:latin typeface="Cambria Math" panose="02040503050406030204" pitchFamily="18" charset="0"/>
                                            </a:rPr>
                                            <m:t>𝒃</m:t>
                                          </m:r>
                                        </m:sub>
                                      </m:sSub>
                                    </m:fName>
                                    <m:e>
                                      <m:r>
                                        <a:rPr lang="en-US" altLang="zh-CN" sz="2800" b="1" i="1" dirty="0">
                                          <a:latin typeface="Cambria Math" panose="02040503050406030204" pitchFamily="18" charset="0"/>
                                        </a:rPr>
                                        <m:t>𝒂</m:t>
                                      </m:r>
                                    </m:e>
                                  </m:func>
                                </m:sup>
                              </m:sSup>
                            </m:e>
                          </m:nary>
                        </m:e>
                      </m:d>
                    </m:oMath>
                  </m:oMathPara>
                </a14:m>
                <a:endParaRPr lang="zh-CN" altLang="en-US" sz="2200" b="1" dirty="0"/>
              </a:p>
            </p:txBody>
          </p:sp>
        </mc:Choice>
        <mc:Fallback xmlns="">
          <p:sp>
            <p:nvSpPr>
              <p:cNvPr id="7" name="文本框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6996" y="2656204"/>
                <a:ext cx="8113837" cy="1471882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/>
              <p:cNvSpPr txBox="1"/>
              <p:nvPr/>
            </p:nvSpPr>
            <p:spPr>
              <a:xfrm>
                <a:off x="1156996" y="3882590"/>
                <a:ext cx="8113836" cy="1471882"/>
              </a:xfrm>
              <a:prstGeom prst="rect">
                <a:avLst/>
              </a:prstGeom>
              <a:noFill/>
            </p:spPr>
            <p:txBody>
              <a:bodyPr wrap="square" lIns="83887" tIns="41944" rIns="83887" bIns="41944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800" b="1" i="1" dirty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800" b="1" i="1" dirty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altLang="zh-CN" sz="2800" b="1" i="1" dirty="0">
                              <a:latin typeface="Cambria Math" panose="02040503050406030204" pitchFamily="18" charset="0"/>
                            </a:rPr>
                            <m:t>𝒄</m:t>
                          </m:r>
                        </m:e>
                        <m:sub>
                          <m:r>
                            <a:rPr lang="en-US" altLang="zh-CN" sz="2800" b="1" i="1" dirty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sSup>
                        <m:sSupPr>
                          <m:ctrlPr>
                            <a:rPr lang="en-US" altLang="zh-CN" sz="2800" b="1" i="1" dirty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US" altLang="zh-CN" sz="2800" b="1" i="1" dirty="0"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en-US" altLang="zh-CN" sz="2800" b="1" i="1" dirty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  <m:sup>
                          <m:func>
                            <m:funcPr>
                              <m:ctrlPr>
                                <a:rPr lang="en-US" altLang="zh-CN" sz="2800" b="1" i="1" dirty="0">
                                  <a:latin typeface="Cambria Math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n-US" altLang="zh-CN" sz="2800" b="1" i="1" dirty="0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b="1" i="1" dirty="0">
                                      <a:latin typeface="Cambria Math" panose="02040503050406030204" pitchFamily="18" charset="0"/>
                                    </a:rPr>
                                    <m:t>𝒍𝒐𝒈</m:t>
                                  </m:r>
                                </m:e>
                                <m:sub>
                                  <m:r>
                                    <a:rPr lang="en-US" altLang="zh-CN" sz="2800" b="1" i="1" dirty="0">
                                      <a:latin typeface="Cambria Math" panose="02040503050406030204" pitchFamily="18" charset="0"/>
                                    </a:rPr>
                                    <m:t>𝒃</m:t>
                                  </m:r>
                                </m:sub>
                              </m:sSub>
                            </m:fName>
                            <m:e>
                              <m:r>
                                <a:rPr lang="en-US" altLang="zh-CN" sz="2800" b="1" i="1" dirty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</m:func>
                        </m:sup>
                      </m:sSup>
                      <m:r>
                        <a:rPr lang="en-US" altLang="zh-CN" sz="2800" b="1" i="1" dirty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l-GR" altLang="zh-CN" sz="2800" b="1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𝜣</m:t>
                      </m:r>
                      <m:d>
                        <m:dPr>
                          <m:ctrlPr>
                            <a:rPr lang="en-US" altLang="zh-CN" sz="2800" b="1" i="1" dirty="0">
                              <a:latin typeface="Cambria Math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sz="2800" b="1" i="1" dirty="0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US" altLang="zh-CN" sz="2800" b="1" i="1" dirty="0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e>
                            <m:sup>
                              <m:func>
                                <m:funcPr>
                                  <m:ctrlPr>
                                    <a:rPr lang="en-US" altLang="zh-CN" sz="2800" b="1" i="1" dirty="0">
                                      <a:latin typeface="Cambria Math"/>
                                    </a:rPr>
                                  </m:ctrlPr>
                                </m:funcPr>
                                <m:fName>
                                  <m:sSub>
                                    <m:sSubPr>
                                      <m:ctrlPr>
                                        <a:rPr lang="en-US" altLang="zh-CN" sz="2800" b="1" i="1" dirty="0">
                                          <a:latin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800" b="1" i="1" dirty="0">
                                          <a:latin typeface="Cambria Math" panose="02040503050406030204" pitchFamily="18" charset="0"/>
                                        </a:rPr>
                                        <m:t>𝒍𝒐𝒈</m:t>
                                      </m:r>
                                    </m:e>
                                    <m:sub>
                                      <m:r>
                                        <a:rPr lang="en-US" altLang="zh-CN" sz="2800" b="1" i="1" dirty="0">
                                          <a:latin typeface="Cambria Math" panose="02040503050406030204" pitchFamily="18" charset="0"/>
                                        </a:rPr>
                                        <m:t>𝒃</m:t>
                                      </m:r>
                                    </m:sub>
                                  </m:sSub>
                                </m:fName>
                                <m:e>
                                  <m:r>
                                    <a:rPr lang="en-US" altLang="zh-CN" sz="2800" b="1" i="1" dirty="0">
                                      <a:latin typeface="Cambria Math" panose="02040503050406030204" pitchFamily="18" charset="0"/>
                                    </a:rPr>
                                    <m:t>𝒂</m:t>
                                  </m:r>
                                </m:e>
                              </m:func>
                            </m:sup>
                          </m:sSup>
                          <m:nary>
                            <m:naryPr>
                              <m:chr m:val="∑"/>
                              <m:ctrlPr>
                                <a:rPr lang="en-US" altLang="zh-CN" sz="2800" b="1" i="1" dirty="0">
                                  <a:latin typeface="Cambria Math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zh-CN" sz="2800" b="1" i="1" dirty="0">
                                  <a:latin typeface="Cambria Math" panose="02040503050406030204" pitchFamily="18" charset="0"/>
                                </a:rPr>
                                <m:t>𝒋</m:t>
                              </m:r>
                              <m:r>
                                <a:rPr lang="en-US" altLang="zh-CN" sz="2800" b="1" i="1" dirty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zh-CN" sz="2800" b="1" i="1" dirty="0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sub>
                            <m:sup>
                              <m:func>
                                <m:funcPr>
                                  <m:ctrlPr>
                                    <a:rPr lang="en-US" altLang="zh-CN" sz="2800" b="1" i="1" dirty="0">
                                      <a:latin typeface="Cambria Math"/>
                                    </a:rPr>
                                  </m:ctrlPr>
                                </m:funcPr>
                                <m:fName>
                                  <m:sSub>
                                    <m:sSubPr>
                                      <m:ctrlPr>
                                        <a:rPr lang="en-US" altLang="zh-CN" sz="2800" b="1" i="1" dirty="0">
                                          <a:latin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800" b="1" i="1" dirty="0">
                                          <a:latin typeface="Cambria Math" panose="02040503050406030204" pitchFamily="18" charset="0"/>
                                        </a:rPr>
                                        <m:t>𝒍𝒐𝒈</m:t>
                                      </m:r>
                                    </m:e>
                                    <m:sub>
                                      <m:r>
                                        <a:rPr lang="en-US" altLang="zh-CN" sz="2800" b="1" i="1" dirty="0">
                                          <a:latin typeface="Cambria Math" panose="02040503050406030204" pitchFamily="18" charset="0"/>
                                        </a:rPr>
                                        <m:t>𝒃</m:t>
                                      </m:r>
                                    </m:sub>
                                  </m:sSub>
                                </m:fName>
                                <m:e>
                                  <m:r>
                                    <a:rPr lang="en-US" altLang="zh-CN" sz="2800" b="1" i="1" dirty="0">
                                      <a:latin typeface="Cambria Math" panose="02040503050406030204" pitchFamily="18" charset="0"/>
                                    </a:rPr>
                                    <m:t>𝒏</m:t>
                                  </m:r>
                                </m:e>
                              </m:func>
                              <m:r>
                                <a:rPr lang="en-US" altLang="zh-CN" sz="2800" b="1" i="1" dirty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2800" b="1" i="1" dirty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p>
                            <m:e>
                              <m:f>
                                <m:fPr>
                                  <m:ctrlPr>
                                    <a:rPr lang="en-US" altLang="zh-CN" sz="2800" b="1" i="1" dirty="0">
                                      <a:latin typeface="Cambria Math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US" altLang="zh-CN" sz="2800" b="1" i="1" dirty="0">
                                          <a:latin typeface="Cambria Math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2800" b="1" i="1" dirty="0">
                                          <a:latin typeface="Cambria Math" panose="02040503050406030204" pitchFamily="18" charset="0"/>
                                        </a:rPr>
                                        <m:t>𝒂</m:t>
                                      </m:r>
                                    </m:e>
                                    <m:sup>
                                      <m:r>
                                        <a:rPr lang="en-US" altLang="zh-CN" sz="2800" b="1" i="1" dirty="0">
                                          <a:latin typeface="Cambria Math" panose="02040503050406030204" pitchFamily="18" charset="0"/>
                                        </a:rPr>
                                        <m:t>𝒋</m:t>
                                      </m:r>
                                    </m:sup>
                                  </m:sSup>
                                </m:num>
                                <m:den>
                                  <m:sSup>
                                    <m:sSupPr>
                                      <m:ctrlPr>
                                        <a:rPr lang="en-US" altLang="zh-CN" sz="2800" b="1" i="1" dirty="0">
                                          <a:latin typeface="Cambria Math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2800" b="1" i="1" dirty="0">
                                          <a:latin typeface="Cambria Math" panose="02040503050406030204" pitchFamily="18" charset="0"/>
                                        </a:rPr>
                                        <m:t>𝒂</m:t>
                                      </m:r>
                                    </m:e>
                                    <m:sup>
                                      <m:r>
                                        <a:rPr lang="en-US" altLang="zh-CN" sz="2800" b="1" i="1" dirty="0">
                                          <a:latin typeface="Cambria Math" panose="02040503050406030204" pitchFamily="18" charset="0"/>
                                        </a:rPr>
                                        <m:t>𝒋</m:t>
                                      </m:r>
                                    </m:sup>
                                  </m:sSup>
                                </m:den>
                              </m:f>
                            </m:e>
                          </m:nary>
                        </m:e>
                      </m:d>
                    </m:oMath>
                  </m:oMathPara>
                </a14:m>
                <a:endParaRPr lang="zh-CN" altLang="en-US" sz="2400" b="1" dirty="0"/>
              </a:p>
            </p:txBody>
          </p:sp>
        </mc:Choice>
        <mc:Fallback xmlns="">
          <p:sp>
            <p:nvSpPr>
              <p:cNvPr id="9" name="文本框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6996" y="3882590"/>
                <a:ext cx="8113836" cy="1471882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/>
              <p:cNvSpPr txBox="1"/>
              <p:nvPr/>
            </p:nvSpPr>
            <p:spPr>
              <a:xfrm>
                <a:off x="1156996" y="5290744"/>
                <a:ext cx="8113835" cy="571059"/>
              </a:xfrm>
              <a:prstGeom prst="rect">
                <a:avLst/>
              </a:prstGeom>
              <a:noFill/>
            </p:spPr>
            <p:txBody>
              <a:bodyPr wrap="square" lIns="83887" tIns="41944" rIns="83887" bIns="41944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800" b="1" i="1" dirty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800" b="1" i="1" dirty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altLang="zh-CN" sz="2800" b="1" i="1" dirty="0">
                              <a:latin typeface="Cambria Math" panose="02040503050406030204" pitchFamily="18" charset="0"/>
                            </a:rPr>
                            <m:t>𝒄</m:t>
                          </m:r>
                        </m:e>
                        <m:sub>
                          <m:r>
                            <a:rPr lang="en-US" altLang="zh-CN" sz="2800" b="1" i="1" dirty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sSup>
                        <m:sSupPr>
                          <m:ctrlPr>
                            <a:rPr lang="en-US" altLang="zh-CN" sz="2800" b="1" i="1" dirty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US" altLang="zh-CN" sz="2800" b="1" i="1" dirty="0"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en-US" altLang="zh-CN" sz="2800" b="1" i="1" dirty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  <m:sup>
                          <m:func>
                            <m:funcPr>
                              <m:ctrlPr>
                                <a:rPr lang="en-US" altLang="zh-CN" sz="2800" b="1" i="1" dirty="0">
                                  <a:latin typeface="Cambria Math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n-US" altLang="zh-CN" sz="2800" b="1" i="1" dirty="0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b="1" i="1" dirty="0">
                                      <a:latin typeface="Cambria Math" panose="02040503050406030204" pitchFamily="18" charset="0"/>
                                    </a:rPr>
                                    <m:t>𝒍𝒐𝒈</m:t>
                                  </m:r>
                                </m:e>
                                <m:sub>
                                  <m:r>
                                    <a:rPr lang="en-US" altLang="zh-CN" sz="2800" b="1" i="1" dirty="0">
                                      <a:latin typeface="Cambria Math" panose="02040503050406030204" pitchFamily="18" charset="0"/>
                                    </a:rPr>
                                    <m:t>𝒃</m:t>
                                  </m:r>
                                </m:sub>
                              </m:sSub>
                            </m:fName>
                            <m:e>
                              <m:r>
                                <a:rPr lang="en-US" altLang="zh-CN" sz="2800" b="1" i="1" dirty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</m:func>
                        </m:sup>
                      </m:sSup>
                      <m:r>
                        <a:rPr lang="en-US" altLang="zh-CN" sz="2800" b="1" i="1" dirty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l-GR" altLang="zh-CN" sz="2800" b="1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𝜣</m:t>
                      </m:r>
                      <m:d>
                        <m:dPr>
                          <m:ctrlPr>
                            <a:rPr lang="en-US" altLang="zh-CN" sz="2800" b="1" i="1" dirty="0">
                              <a:latin typeface="Cambria Math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sz="2800" b="1" i="1" dirty="0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US" altLang="zh-CN" sz="2800" b="1" i="1" dirty="0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e>
                            <m:sup>
                              <m:func>
                                <m:funcPr>
                                  <m:ctrlPr>
                                    <a:rPr lang="en-US" altLang="zh-CN" sz="2800" b="1" i="1" dirty="0">
                                      <a:latin typeface="Cambria Math"/>
                                    </a:rPr>
                                  </m:ctrlPr>
                                </m:funcPr>
                                <m:fName>
                                  <m:sSub>
                                    <m:sSubPr>
                                      <m:ctrlPr>
                                        <a:rPr lang="en-US" altLang="zh-CN" sz="2800" b="1" i="1" dirty="0">
                                          <a:latin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800" b="1" i="1" dirty="0">
                                          <a:latin typeface="Cambria Math" panose="02040503050406030204" pitchFamily="18" charset="0"/>
                                        </a:rPr>
                                        <m:t>𝒍𝒐𝒈</m:t>
                                      </m:r>
                                    </m:e>
                                    <m:sub>
                                      <m:r>
                                        <a:rPr lang="en-US" altLang="zh-CN" sz="2800" b="1" i="1" dirty="0">
                                          <a:latin typeface="Cambria Math" panose="02040503050406030204" pitchFamily="18" charset="0"/>
                                        </a:rPr>
                                        <m:t>𝒃</m:t>
                                      </m:r>
                                    </m:sub>
                                  </m:sSub>
                                </m:fName>
                                <m:e>
                                  <m:r>
                                    <a:rPr lang="en-US" altLang="zh-CN" sz="2800" b="1" i="1" dirty="0">
                                      <a:latin typeface="Cambria Math" panose="02040503050406030204" pitchFamily="18" charset="0"/>
                                    </a:rPr>
                                    <m:t>𝒂</m:t>
                                  </m:r>
                                </m:e>
                              </m:func>
                            </m:sup>
                          </m:sSup>
                          <m:func>
                            <m:funcPr>
                              <m:ctrlPr>
                                <a:rPr lang="en-US" altLang="zh-CN" sz="2800" b="1" i="1" dirty="0">
                                  <a:latin typeface="Cambria Math"/>
                                </a:rPr>
                              </m:ctrlPr>
                            </m:funcPr>
                            <m:fName>
                              <m:r>
                                <a:rPr lang="en-US" altLang="zh-CN" sz="2800" b="1" dirty="0">
                                  <a:latin typeface="Cambria Math" panose="02040503050406030204" pitchFamily="18" charset="0"/>
                                </a:rPr>
                                <m:t>𝐥𝐨𝐠</m:t>
                              </m:r>
                            </m:fName>
                            <m:e>
                              <m:r>
                                <a:rPr lang="en-US" altLang="zh-CN" sz="2800" b="1" i="1" dirty="0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e>
                          </m:func>
                        </m:e>
                      </m:d>
                      <m:r>
                        <a:rPr lang="en-US" altLang="zh-CN" sz="2800" b="1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l-GR" altLang="zh-CN" sz="2800" b="1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𝜣</m:t>
                      </m:r>
                      <m:d>
                        <m:dPr>
                          <m:ctrlPr>
                            <a:rPr lang="en-US" altLang="zh-CN" sz="2800" b="1" i="1" dirty="0">
                              <a:latin typeface="Cambria Math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sz="2800" b="1" i="1" dirty="0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US" altLang="zh-CN" sz="2800" b="1" i="1" dirty="0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e>
                            <m:sup>
                              <m:func>
                                <m:funcPr>
                                  <m:ctrlPr>
                                    <a:rPr lang="en-US" altLang="zh-CN" sz="2800" b="1" i="1" dirty="0">
                                      <a:latin typeface="Cambria Math"/>
                                    </a:rPr>
                                  </m:ctrlPr>
                                </m:funcPr>
                                <m:fName>
                                  <m:sSub>
                                    <m:sSubPr>
                                      <m:ctrlPr>
                                        <a:rPr lang="en-US" altLang="zh-CN" sz="2800" b="1" i="1" dirty="0">
                                          <a:latin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800" b="1" i="1" dirty="0">
                                          <a:latin typeface="Cambria Math" panose="02040503050406030204" pitchFamily="18" charset="0"/>
                                        </a:rPr>
                                        <m:t>𝒍𝒐𝒈</m:t>
                                      </m:r>
                                    </m:e>
                                    <m:sub>
                                      <m:r>
                                        <a:rPr lang="en-US" altLang="zh-CN" sz="2800" b="1" i="1" dirty="0">
                                          <a:latin typeface="Cambria Math" panose="02040503050406030204" pitchFamily="18" charset="0"/>
                                        </a:rPr>
                                        <m:t>𝒃</m:t>
                                      </m:r>
                                    </m:sub>
                                  </m:sSub>
                                </m:fName>
                                <m:e>
                                  <m:r>
                                    <a:rPr lang="en-US" altLang="zh-CN" sz="2800" b="1" i="1" dirty="0">
                                      <a:latin typeface="Cambria Math" panose="02040503050406030204" pitchFamily="18" charset="0"/>
                                    </a:rPr>
                                    <m:t>𝒂</m:t>
                                  </m:r>
                                </m:e>
                              </m:func>
                            </m:sup>
                          </m:sSup>
                          <m:func>
                            <m:funcPr>
                              <m:ctrlPr>
                                <a:rPr lang="en-US" altLang="zh-CN" sz="2800" b="1" i="1" dirty="0">
                                  <a:latin typeface="Cambria Math"/>
                                </a:rPr>
                              </m:ctrlPr>
                            </m:funcPr>
                            <m:fName>
                              <m:r>
                                <a:rPr lang="en-US" altLang="zh-CN" sz="2800" b="1" i="1" dirty="0">
                                  <a:latin typeface="Cambria Math" panose="02040503050406030204" pitchFamily="18" charset="0"/>
                                </a:rPr>
                                <m:t>𝒍𝒐𝒈</m:t>
                              </m:r>
                            </m:fName>
                            <m:e>
                              <m:r>
                                <a:rPr lang="en-US" altLang="zh-CN" sz="2800" b="1" i="1" dirty="0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e>
                          </m:func>
                        </m:e>
                      </m:d>
                    </m:oMath>
                  </m:oMathPara>
                </a14:m>
                <a:endParaRPr lang="zh-CN" altLang="en-US" sz="2400" b="1" dirty="0"/>
              </a:p>
            </p:txBody>
          </p:sp>
        </mc:Choice>
        <mc:Fallback xmlns="">
          <p:sp>
            <p:nvSpPr>
              <p:cNvPr id="10" name="文本框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6996" y="5290744"/>
                <a:ext cx="8113835" cy="571059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矩形 10"/>
          <p:cNvSpPr/>
          <p:nvPr/>
        </p:nvSpPr>
        <p:spPr>
          <a:xfrm>
            <a:off x="4579436" y="1755911"/>
            <a:ext cx="914400" cy="821253"/>
          </a:xfrm>
          <a:prstGeom prst="rect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5823516" y="2934156"/>
            <a:ext cx="1314401" cy="410627"/>
          </a:xfrm>
          <a:prstGeom prst="rect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61564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1" grpId="0" animBg="1"/>
      <p:bldP spid="12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373224" y="307687"/>
            <a:ext cx="8966719" cy="587149"/>
          </a:xfrm>
        </p:spPr>
        <p:txBody>
          <a:bodyPr>
            <a:noAutofit/>
          </a:bodyPr>
          <a:lstStyle/>
          <a:p>
            <a:pPr algn="ctr"/>
            <a:r>
              <a:rPr lang="en-US" altLang="zh-CN" sz="4400" b="1" dirty="0" smtClean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Case3</a:t>
            </a:r>
            <a:endParaRPr lang="zh-CN" altLang="en-US" sz="4400" b="1" dirty="0">
              <a:solidFill>
                <a:srgbClr val="C00000"/>
              </a:solidFill>
              <a:latin typeface="黑体" pitchFamily="49" charset="-122"/>
              <a:ea typeface="黑体" pitchFamily="49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/>
              <p:cNvSpPr txBox="1"/>
              <p:nvPr/>
            </p:nvSpPr>
            <p:spPr>
              <a:xfrm>
                <a:off x="5386625" y="932160"/>
                <a:ext cx="4164192" cy="531817"/>
              </a:xfrm>
              <a:prstGeom prst="rect">
                <a:avLst/>
              </a:prstGeom>
              <a:noFill/>
            </p:spPr>
            <p:txBody>
              <a:bodyPr wrap="square" lIns="83887" tIns="41944" rIns="83887" bIns="41944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1" i="1" dirty="0">
                          <a:latin typeface="Cambria Math" panose="02040503050406030204" pitchFamily="18" charset="0"/>
                        </a:rPr>
                        <m:t>𝒇</m:t>
                      </m:r>
                      <m:r>
                        <a:rPr lang="en-US" altLang="zh-CN" sz="2800" b="1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800" b="1" i="1" dirty="0"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US" altLang="zh-CN" sz="2800" b="1" i="1" dirty="0"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l-GR" altLang="zh-CN" sz="2800" b="1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𝜴</m:t>
                      </m:r>
                      <m:r>
                        <a:rPr lang="en-US" altLang="zh-CN" sz="2800" b="1" i="1" dirty="0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altLang="zh-CN" sz="2800" b="1" i="1" dirty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US" altLang="zh-CN" sz="2800" b="1" i="1" dirty="0"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  <m:sup>
                          <m:func>
                            <m:funcPr>
                              <m:ctrlPr>
                                <a:rPr lang="en-US" altLang="zh-CN" sz="2800" b="1" i="1" dirty="0">
                                  <a:latin typeface="Cambria Math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n-US" altLang="zh-CN" sz="2800" b="1" i="1" dirty="0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b="1" dirty="0">
                                      <a:latin typeface="Cambria Math" panose="02040503050406030204" pitchFamily="18" charset="0"/>
                                    </a:rPr>
                                    <m:t>𝐥𝐨𝐠</m:t>
                                  </m:r>
                                </m:e>
                                <m:sub>
                                  <m:r>
                                    <a:rPr lang="en-US" altLang="zh-CN" sz="2800" b="1" i="1" dirty="0">
                                      <a:latin typeface="Cambria Math" panose="02040503050406030204" pitchFamily="18" charset="0"/>
                                    </a:rPr>
                                    <m:t>𝒃</m:t>
                                  </m:r>
                                </m:sub>
                              </m:sSub>
                            </m:fName>
                            <m:e>
                              <m:r>
                                <a:rPr lang="en-US" altLang="zh-CN" sz="2800" b="1" i="1" dirty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  <m:r>
                                <a:rPr lang="en-US" altLang="zh-CN" sz="2800" b="1" i="1" dirty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zh-CN" altLang="en-US" sz="2800" b="1" i="1" dirty="0">
                                  <a:latin typeface="Cambria Math" panose="02040503050406030204" pitchFamily="18" charset="0"/>
                                </a:rPr>
                                <m:t>𝜺</m:t>
                              </m:r>
                            </m:e>
                          </m:func>
                        </m:sup>
                      </m:sSup>
                      <m:r>
                        <a:rPr lang="en-US" altLang="zh-CN" sz="2800" b="1" i="1" dirty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800" b="1" dirty="0"/>
              </a:p>
            </p:txBody>
          </p:sp>
        </mc:Choice>
        <mc:Fallback xmlns=""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86625" y="932160"/>
                <a:ext cx="4164192" cy="531817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object 21"/>
          <p:cNvSpPr/>
          <p:nvPr/>
        </p:nvSpPr>
        <p:spPr>
          <a:xfrm>
            <a:off x="5726890" y="932160"/>
            <a:ext cx="3491765" cy="1079251"/>
          </a:xfrm>
          <a:custGeom>
            <a:avLst/>
            <a:gdLst/>
            <a:ahLst/>
            <a:cxnLst/>
            <a:rect l="l" t="t" r="r" b="b"/>
            <a:pathLst>
              <a:path w="1752600" h="1447800">
                <a:moveTo>
                  <a:pt x="0" y="241300"/>
                </a:moveTo>
                <a:lnTo>
                  <a:pt x="4904" y="192682"/>
                </a:lnTo>
                <a:lnTo>
                  <a:pt x="18968" y="147393"/>
                </a:lnTo>
                <a:lnTo>
                  <a:pt x="41221" y="106405"/>
                </a:lnTo>
                <a:lnTo>
                  <a:pt x="70691" y="70691"/>
                </a:lnTo>
                <a:lnTo>
                  <a:pt x="106405" y="41221"/>
                </a:lnTo>
                <a:lnTo>
                  <a:pt x="147393" y="18968"/>
                </a:lnTo>
                <a:lnTo>
                  <a:pt x="192682" y="4904"/>
                </a:lnTo>
                <a:lnTo>
                  <a:pt x="241300" y="0"/>
                </a:lnTo>
                <a:lnTo>
                  <a:pt x="1511300" y="0"/>
                </a:lnTo>
                <a:lnTo>
                  <a:pt x="1559917" y="4904"/>
                </a:lnTo>
                <a:lnTo>
                  <a:pt x="1605206" y="18968"/>
                </a:lnTo>
                <a:lnTo>
                  <a:pt x="1646194" y="41221"/>
                </a:lnTo>
                <a:lnTo>
                  <a:pt x="1681908" y="70691"/>
                </a:lnTo>
                <a:lnTo>
                  <a:pt x="1711378" y="106405"/>
                </a:lnTo>
                <a:lnTo>
                  <a:pt x="1733631" y="147393"/>
                </a:lnTo>
                <a:lnTo>
                  <a:pt x="1747695" y="192682"/>
                </a:lnTo>
                <a:lnTo>
                  <a:pt x="1752600" y="241300"/>
                </a:lnTo>
                <a:lnTo>
                  <a:pt x="1752600" y="1206500"/>
                </a:lnTo>
                <a:lnTo>
                  <a:pt x="1747695" y="1255128"/>
                </a:lnTo>
                <a:lnTo>
                  <a:pt x="1733631" y="1300422"/>
                </a:lnTo>
                <a:lnTo>
                  <a:pt x="1711378" y="1341410"/>
                </a:lnTo>
                <a:lnTo>
                  <a:pt x="1681908" y="1377122"/>
                </a:lnTo>
                <a:lnTo>
                  <a:pt x="1646194" y="1406588"/>
                </a:lnTo>
                <a:lnTo>
                  <a:pt x="1605206" y="1428836"/>
                </a:lnTo>
                <a:lnTo>
                  <a:pt x="1559917" y="1442897"/>
                </a:lnTo>
                <a:lnTo>
                  <a:pt x="1511300" y="1447800"/>
                </a:lnTo>
                <a:lnTo>
                  <a:pt x="241300" y="1447800"/>
                </a:lnTo>
                <a:lnTo>
                  <a:pt x="192682" y="1442897"/>
                </a:lnTo>
                <a:lnTo>
                  <a:pt x="147393" y="1428836"/>
                </a:lnTo>
                <a:lnTo>
                  <a:pt x="106405" y="1406588"/>
                </a:lnTo>
                <a:lnTo>
                  <a:pt x="70691" y="1377122"/>
                </a:lnTo>
                <a:lnTo>
                  <a:pt x="41221" y="1341410"/>
                </a:lnTo>
                <a:lnTo>
                  <a:pt x="18968" y="1300422"/>
                </a:lnTo>
                <a:lnTo>
                  <a:pt x="4904" y="1255128"/>
                </a:lnTo>
                <a:lnTo>
                  <a:pt x="0" y="1206500"/>
                </a:lnTo>
                <a:lnTo>
                  <a:pt x="0" y="241300"/>
                </a:lnTo>
                <a:close/>
              </a:path>
            </a:pathLst>
          </a:custGeom>
          <a:ln w="3175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/>
              <p:cNvSpPr txBox="1"/>
              <p:nvPr/>
            </p:nvSpPr>
            <p:spPr>
              <a:xfrm>
                <a:off x="5263588" y="1471787"/>
                <a:ext cx="4164192" cy="515594"/>
              </a:xfrm>
              <a:prstGeom prst="rect">
                <a:avLst/>
              </a:prstGeom>
              <a:noFill/>
            </p:spPr>
            <p:txBody>
              <a:bodyPr wrap="square" lIns="83887" tIns="41944" rIns="83887" bIns="41944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1" i="1" dirty="0">
                          <a:latin typeface="Cambria Math" panose="02040503050406030204" pitchFamily="18" charset="0"/>
                        </a:rPr>
                        <m:t>𝒂𝒇</m:t>
                      </m:r>
                      <m:r>
                        <a:rPr lang="en-US" altLang="zh-CN" sz="2800" b="1" i="1" dirty="0">
                          <a:latin typeface="Cambria Math" panose="02040503050406030204" pitchFamily="18" charset="0"/>
                        </a:rPr>
                        <m:t>(</m:t>
                      </m:r>
                      <m:f>
                        <m:fPr>
                          <m:type m:val="lin"/>
                          <m:ctrlPr>
                            <a:rPr lang="en-US" altLang="zh-CN" sz="2800" b="1" i="1" dirty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altLang="zh-CN" sz="2800" b="1" i="1" dirty="0">
                              <a:latin typeface="Cambria Math" panose="02040503050406030204" pitchFamily="18" charset="0"/>
                            </a:rPr>
                            <m:t>𝒏</m:t>
                          </m:r>
                        </m:num>
                        <m:den>
                          <m:r>
                            <a:rPr lang="en-US" altLang="zh-CN" sz="2800" b="1" i="1" dirty="0">
                              <a:latin typeface="Cambria Math" panose="02040503050406030204" pitchFamily="18" charset="0"/>
                            </a:rPr>
                            <m:t>𝒃</m:t>
                          </m:r>
                        </m:den>
                      </m:f>
                      <m:r>
                        <a:rPr lang="en-US" altLang="zh-CN" sz="2800" b="1" i="1" dirty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altLang="zh-CN" sz="2800" b="1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altLang="zh-CN" sz="2800" b="1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𝒄𝒇</m:t>
                      </m:r>
                      <m:r>
                        <a:rPr lang="en-US" altLang="zh-CN" sz="2800" b="1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800" b="1" i="1" dirty="0"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US" altLang="zh-CN" sz="2800" b="1" i="1" dirty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400" b="1" dirty="0"/>
              </a:p>
            </p:txBody>
          </p:sp>
        </mc:Choice>
        <mc:Fallback xmlns="">
          <p:sp>
            <p:nvSpPr>
              <p:cNvPr id="6" name="文本框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63588" y="1471787"/>
                <a:ext cx="4164192" cy="515594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/>
              <p:cNvSpPr txBox="1"/>
              <p:nvPr/>
            </p:nvSpPr>
            <p:spPr>
              <a:xfrm>
                <a:off x="391886" y="2059639"/>
                <a:ext cx="8910733" cy="1368392"/>
              </a:xfrm>
              <a:prstGeom prst="rect">
                <a:avLst/>
              </a:prstGeom>
              <a:noFill/>
            </p:spPr>
            <p:txBody>
              <a:bodyPr wrap="square" lIns="83887" tIns="41944" rIns="83887" bIns="41944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800" b="1" i="1" dirty="0">
                          <a:latin typeface="Cambria Math" panose="02040503050406030204" pitchFamily="18" charset="0"/>
                        </a:rPr>
                        <m:t>𝑻</m:t>
                      </m:r>
                      <m:r>
                        <a:rPr lang="en-US" altLang="zh-CN" sz="2800" b="1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800" b="1" i="1" dirty="0"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US" altLang="zh-CN" sz="2800" b="1" i="1" dirty="0">
                          <a:latin typeface="Cambria Math" panose="02040503050406030204" pitchFamily="18" charset="0"/>
                        </a:rPr>
                        <m:t>)=</m:t>
                      </m:r>
                      <m:sSub>
                        <m:sSubPr>
                          <m:ctrlPr>
                            <a:rPr lang="en-US" altLang="zh-CN" sz="2800" b="1" i="1" dirty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altLang="zh-CN" sz="2800" b="1" i="1" dirty="0">
                              <a:latin typeface="Cambria Math" panose="02040503050406030204" pitchFamily="18" charset="0"/>
                            </a:rPr>
                            <m:t>𝒄</m:t>
                          </m:r>
                        </m:e>
                        <m:sub>
                          <m:r>
                            <a:rPr lang="en-US" altLang="zh-CN" sz="2800" b="1" i="1" dirty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sSup>
                        <m:sSupPr>
                          <m:ctrlPr>
                            <a:rPr lang="en-US" altLang="zh-CN" sz="2800" b="1" i="1" dirty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US" altLang="zh-CN" sz="2800" b="1" i="1" dirty="0"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en-US" altLang="zh-CN" sz="2800" b="1" i="1" dirty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  <m:sup>
                          <m:func>
                            <m:funcPr>
                              <m:ctrlPr>
                                <a:rPr lang="en-US" altLang="zh-CN" sz="2800" b="1" i="1" dirty="0">
                                  <a:latin typeface="Cambria Math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n-US" altLang="zh-CN" sz="2800" b="1" i="1" dirty="0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b="1" i="1" dirty="0">
                                      <a:latin typeface="Cambria Math" panose="02040503050406030204" pitchFamily="18" charset="0"/>
                                    </a:rPr>
                                    <m:t>𝒍𝒐𝒈</m:t>
                                  </m:r>
                                </m:e>
                                <m:sub>
                                  <m:r>
                                    <a:rPr lang="en-US" altLang="zh-CN" sz="2800" b="1" i="1" dirty="0">
                                      <a:latin typeface="Cambria Math" panose="02040503050406030204" pitchFamily="18" charset="0"/>
                                    </a:rPr>
                                    <m:t>𝒃</m:t>
                                  </m:r>
                                </m:sub>
                              </m:sSub>
                            </m:fName>
                            <m:e>
                              <m:r>
                                <a:rPr lang="en-US" altLang="zh-CN" sz="2800" b="1" i="1" dirty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</m:func>
                        </m:sup>
                      </m:sSup>
                      <m:r>
                        <a:rPr lang="en-US" altLang="zh-CN" sz="2800" b="1" i="1" dirty="0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ctrlPr>
                            <a:rPr lang="en-US" altLang="zh-CN" sz="2800" b="1" i="1" dirty="0">
                              <a:latin typeface="Cambria Math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800" b="1" i="1" dirty="0">
                              <a:latin typeface="Cambria Math" panose="02040503050406030204" pitchFamily="18" charset="0"/>
                            </a:rPr>
                            <m:t>𝒋</m:t>
                          </m:r>
                          <m:r>
                            <a:rPr lang="en-US" altLang="zh-CN" sz="2800" b="1" i="1" dirty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sz="2800" b="1" i="1" dirty="0"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  <m:sup>
                          <m:func>
                            <m:funcPr>
                              <m:ctrlPr>
                                <a:rPr lang="en-US" altLang="zh-CN" sz="2800" b="1" i="1" dirty="0">
                                  <a:latin typeface="Cambria Math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n-US" altLang="zh-CN" sz="2800" b="1" i="1" dirty="0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b="1" i="1" dirty="0">
                                      <a:latin typeface="Cambria Math" panose="02040503050406030204" pitchFamily="18" charset="0"/>
                                    </a:rPr>
                                    <m:t>𝒍𝒐𝒈</m:t>
                                  </m:r>
                                </m:e>
                                <m:sub>
                                  <m:r>
                                    <a:rPr lang="en-US" altLang="zh-CN" sz="2800" b="1" i="1" dirty="0">
                                      <a:latin typeface="Cambria Math" panose="02040503050406030204" pitchFamily="18" charset="0"/>
                                    </a:rPr>
                                    <m:t>𝒃</m:t>
                                  </m:r>
                                </m:sub>
                              </m:sSub>
                            </m:fName>
                            <m:e>
                              <m:r>
                                <a:rPr lang="en-US" altLang="zh-CN" sz="2800" b="1" i="1" dirty="0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e>
                          </m:func>
                          <m:r>
                            <a:rPr lang="en-US" altLang="zh-CN" sz="2800" b="1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2800" b="1" i="1" dirty="0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  <m:e>
                          <m:sSup>
                            <m:sSupPr>
                              <m:ctrlPr>
                                <a:rPr lang="en-US" altLang="zh-CN" sz="2800" b="1" i="1" dirty="0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US" altLang="zh-CN" sz="2800" b="1" i="1" dirty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  <m:sup>
                              <m:r>
                                <a:rPr lang="en-US" altLang="zh-CN" sz="2800" b="1" i="1" dirty="0">
                                  <a:latin typeface="Cambria Math" panose="02040503050406030204" pitchFamily="18" charset="0"/>
                                </a:rPr>
                                <m:t>𝒋</m:t>
                              </m:r>
                            </m:sup>
                          </m:sSup>
                          <m:r>
                            <a:rPr lang="en-US" altLang="zh-CN" sz="2800" b="1" i="1" dirty="0">
                              <a:latin typeface="Cambria Math" panose="02040503050406030204" pitchFamily="18" charset="0"/>
                            </a:rPr>
                            <m:t>𝒇</m:t>
                          </m:r>
                          <m:d>
                            <m:dPr>
                              <m:ctrlPr>
                                <a:rPr lang="en-US" altLang="zh-CN" sz="2800" b="1" i="1" dirty="0">
                                  <a:latin typeface="Cambria Math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zh-CN" sz="2800" b="1" i="1" dirty="0">
                                      <a:latin typeface="Cambria Math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800" b="1" i="1" dirty="0">
                                      <a:latin typeface="Cambria Math" panose="02040503050406030204" pitchFamily="18" charset="0"/>
                                    </a:rPr>
                                    <m:t>𝒏</m:t>
                                  </m:r>
                                </m:num>
                                <m:den>
                                  <m:sSup>
                                    <m:sSupPr>
                                      <m:ctrlPr>
                                        <a:rPr lang="en-US" altLang="zh-CN" sz="2800" b="1" i="1" dirty="0">
                                          <a:latin typeface="Cambria Math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2800" b="1" i="1" dirty="0">
                                          <a:latin typeface="Cambria Math" panose="02040503050406030204" pitchFamily="18" charset="0"/>
                                        </a:rPr>
                                        <m:t>𝒃</m:t>
                                      </m:r>
                                    </m:e>
                                    <m:sup>
                                      <m:r>
                                        <a:rPr lang="en-US" altLang="zh-CN" sz="2800" b="1" i="1" dirty="0">
                                          <a:latin typeface="Cambria Math" panose="02040503050406030204" pitchFamily="18" charset="0"/>
                                        </a:rPr>
                                        <m:t>𝒋</m:t>
                                      </m:r>
                                    </m:sup>
                                  </m:sSup>
                                </m:den>
                              </m:f>
                            </m:e>
                          </m:d>
                        </m:e>
                      </m:nary>
                    </m:oMath>
                  </m:oMathPara>
                </a14:m>
                <a:endParaRPr lang="zh-CN" altLang="en-US" sz="2400" b="1" dirty="0"/>
              </a:p>
            </p:txBody>
          </p:sp>
        </mc:Choice>
        <mc:Fallback xmlns="">
          <p:sp>
            <p:nvSpPr>
              <p:cNvPr id="7" name="文本框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1886" y="2059639"/>
                <a:ext cx="8910733" cy="1368392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/>
              <p:cNvSpPr txBox="1"/>
              <p:nvPr/>
            </p:nvSpPr>
            <p:spPr>
              <a:xfrm>
                <a:off x="1258814" y="3395545"/>
                <a:ext cx="4936713" cy="1368392"/>
              </a:xfrm>
              <a:prstGeom prst="rect">
                <a:avLst/>
              </a:prstGeom>
              <a:noFill/>
            </p:spPr>
            <p:txBody>
              <a:bodyPr wrap="square" lIns="83887" tIns="41944" rIns="83887" bIns="41944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800" b="1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en-US" altLang="zh-CN" sz="2800" b="1" i="1" dirty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altLang="zh-CN" sz="2800" b="1" i="1" dirty="0">
                              <a:latin typeface="Cambria Math" panose="02040503050406030204" pitchFamily="18" charset="0"/>
                            </a:rPr>
                            <m:t>𝒄</m:t>
                          </m:r>
                        </m:e>
                        <m:sub>
                          <m:r>
                            <a:rPr lang="en-US" altLang="zh-CN" sz="2800" b="1" i="1" dirty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sSup>
                        <m:sSupPr>
                          <m:ctrlPr>
                            <a:rPr lang="en-US" altLang="zh-CN" sz="2800" b="1" i="1" dirty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US" altLang="zh-CN" sz="2800" b="1" i="1" dirty="0"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en-US" altLang="zh-CN" sz="2800" b="1" i="1" dirty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  <m:sup>
                          <m:func>
                            <m:funcPr>
                              <m:ctrlPr>
                                <a:rPr lang="en-US" altLang="zh-CN" sz="2800" b="1" i="1" dirty="0">
                                  <a:latin typeface="Cambria Math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n-US" altLang="zh-CN" sz="2800" b="1" i="1" dirty="0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b="1" i="1" dirty="0">
                                      <a:latin typeface="Cambria Math" panose="02040503050406030204" pitchFamily="18" charset="0"/>
                                    </a:rPr>
                                    <m:t>𝒍𝒐𝒈</m:t>
                                  </m:r>
                                </m:e>
                                <m:sub>
                                  <m:r>
                                    <a:rPr lang="en-US" altLang="zh-CN" sz="2800" b="1" i="1" dirty="0">
                                      <a:latin typeface="Cambria Math" panose="02040503050406030204" pitchFamily="18" charset="0"/>
                                    </a:rPr>
                                    <m:t>𝒃</m:t>
                                  </m:r>
                                </m:sub>
                              </m:sSub>
                            </m:fName>
                            <m:e>
                              <m:r>
                                <a:rPr lang="en-US" altLang="zh-CN" sz="2800" b="1" i="1" dirty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</m:func>
                        </m:sup>
                      </m:sSup>
                      <m:r>
                        <a:rPr lang="en-US" altLang="zh-CN" sz="2800" b="1" i="1" dirty="0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ctrlPr>
                            <a:rPr lang="en-US" altLang="zh-CN" sz="2800" b="1" i="1" dirty="0">
                              <a:latin typeface="Cambria Math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800" b="1" i="1" dirty="0">
                              <a:latin typeface="Cambria Math" panose="02040503050406030204" pitchFamily="18" charset="0"/>
                            </a:rPr>
                            <m:t>𝒋</m:t>
                          </m:r>
                          <m:r>
                            <a:rPr lang="en-US" altLang="zh-CN" sz="2800" b="1" i="1" dirty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sz="2800" b="1" i="1" dirty="0"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  <m:sup>
                          <m:func>
                            <m:funcPr>
                              <m:ctrlPr>
                                <a:rPr lang="en-US" altLang="zh-CN" sz="2800" b="1" i="1" dirty="0">
                                  <a:latin typeface="Cambria Math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n-US" altLang="zh-CN" sz="2800" b="1" i="1" dirty="0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b="1" i="1" dirty="0">
                                      <a:latin typeface="Cambria Math" panose="02040503050406030204" pitchFamily="18" charset="0"/>
                                    </a:rPr>
                                    <m:t>𝒍𝒐𝒈</m:t>
                                  </m:r>
                                </m:e>
                                <m:sub>
                                  <m:r>
                                    <a:rPr lang="en-US" altLang="zh-CN" sz="2800" b="1" i="1" dirty="0">
                                      <a:latin typeface="Cambria Math" panose="02040503050406030204" pitchFamily="18" charset="0"/>
                                    </a:rPr>
                                    <m:t>𝒃</m:t>
                                  </m:r>
                                </m:sub>
                              </m:sSub>
                            </m:fName>
                            <m:e>
                              <m:r>
                                <a:rPr lang="en-US" altLang="zh-CN" sz="2800" b="1" i="1" dirty="0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e>
                          </m:func>
                          <m:r>
                            <a:rPr lang="en-US" altLang="zh-CN" sz="2800" b="1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2800" b="1" i="1" dirty="0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  <m:e>
                          <m:sSup>
                            <m:sSupPr>
                              <m:ctrlPr>
                                <a:rPr lang="en-US" altLang="zh-CN" sz="2800" b="1" i="1" dirty="0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US" altLang="zh-CN" sz="2800" b="1" i="1" dirty="0">
                                  <a:latin typeface="Cambria Math" panose="02040503050406030204" pitchFamily="18" charset="0"/>
                                </a:rPr>
                                <m:t>𝒄</m:t>
                              </m:r>
                            </m:e>
                            <m:sup>
                              <m:r>
                                <a:rPr lang="en-US" altLang="zh-CN" sz="2800" b="1" i="1" dirty="0">
                                  <a:latin typeface="Cambria Math" panose="02040503050406030204" pitchFamily="18" charset="0"/>
                                </a:rPr>
                                <m:t>𝒋</m:t>
                              </m:r>
                            </m:sup>
                          </m:sSup>
                          <m:r>
                            <a:rPr lang="en-US" altLang="zh-CN" sz="2800" b="1" i="1" dirty="0">
                              <a:latin typeface="Cambria Math" panose="02040503050406030204" pitchFamily="18" charset="0"/>
                            </a:rPr>
                            <m:t>𝒇</m:t>
                          </m:r>
                          <m:d>
                            <m:dPr>
                              <m:ctrlPr>
                                <a:rPr lang="en-US" altLang="zh-CN" sz="2800" b="1" i="1" dirty="0">
                                  <a:latin typeface="Cambria Math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zh-CN" sz="2800" b="1" i="1" dirty="0">
                                      <a:latin typeface="Cambria Math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800" b="1" i="1" dirty="0">
                                      <a:latin typeface="Cambria Math" panose="02040503050406030204" pitchFamily="18" charset="0"/>
                                    </a:rPr>
                                    <m:t>𝒏</m:t>
                                  </m:r>
                                </m:num>
                                <m:den>
                                  <m:sSup>
                                    <m:sSupPr>
                                      <m:ctrlPr>
                                        <a:rPr lang="en-US" altLang="zh-CN" sz="2800" b="1" i="1" dirty="0">
                                          <a:latin typeface="Cambria Math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2800" b="1" i="1" dirty="0">
                                          <a:latin typeface="Cambria Math" panose="02040503050406030204" pitchFamily="18" charset="0"/>
                                        </a:rPr>
                                        <m:t>𝒃</m:t>
                                      </m:r>
                                    </m:e>
                                    <m:sup>
                                      <m:r>
                                        <a:rPr lang="en-US" altLang="zh-CN" sz="2800" b="1" i="1" dirty="0">
                                          <a:latin typeface="Cambria Math" panose="02040503050406030204" pitchFamily="18" charset="0"/>
                                        </a:rPr>
                                        <m:t>𝒋</m:t>
                                      </m:r>
                                    </m:sup>
                                  </m:sSup>
                                </m:den>
                              </m:f>
                            </m:e>
                          </m:d>
                        </m:e>
                      </m:nary>
                    </m:oMath>
                  </m:oMathPara>
                </a14:m>
                <a:endParaRPr lang="zh-CN" altLang="en-US" sz="2400" b="1" dirty="0"/>
              </a:p>
            </p:txBody>
          </p:sp>
        </mc:Choice>
        <mc:Fallback xmlns=""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8814" y="3395545"/>
                <a:ext cx="4936713" cy="1368392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矩形 9"/>
              <p:cNvSpPr/>
              <p:nvPr/>
            </p:nvSpPr>
            <p:spPr>
              <a:xfrm>
                <a:off x="1181493" y="4914249"/>
                <a:ext cx="2594518" cy="846647"/>
              </a:xfrm>
              <a:prstGeom prst="rect">
                <a:avLst/>
              </a:prstGeom>
            </p:spPr>
            <p:txBody>
              <a:bodyPr wrap="square" lIns="83887" tIns="41944" rIns="83887" bIns="41944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800" b="1" i="1" dirty="0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US" altLang="zh-CN" sz="2800" b="1" i="1" dirty="0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p>
                          <m:r>
                            <a:rPr lang="en-US" altLang="zh-CN" sz="2800" b="1" i="1" dirty="0">
                              <a:latin typeface="Cambria Math" panose="02040503050406030204" pitchFamily="18" charset="0"/>
                            </a:rPr>
                            <m:t>𝒋</m:t>
                          </m:r>
                          <m:r>
                            <a:rPr lang="en-US" altLang="zh-CN" sz="2800" b="1" i="1" dirty="0" smtClean="0">
                              <a:latin typeface="Cambria Math"/>
                            </a:rPr>
                            <m:t>−</m:t>
                          </m:r>
                          <m:r>
                            <a:rPr lang="en-US" altLang="zh-CN" sz="2800" b="1" i="1" dirty="0" smtClean="0">
                              <a:latin typeface="Cambria Math"/>
                            </a:rPr>
                            <m:t>𝟏</m:t>
                          </m:r>
                        </m:sup>
                      </m:sSup>
                      <m:r>
                        <a:rPr lang="en-US" altLang="zh-CN" sz="2800" b="1" i="1" dirty="0" smtClean="0">
                          <a:latin typeface="Cambria Math"/>
                        </a:rPr>
                        <m:t>𝒂</m:t>
                      </m:r>
                      <m:r>
                        <a:rPr lang="en-US" altLang="zh-CN" sz="2800" b="1" i="1" dirty="0">
                          <a:latin typeface="Cambria Math" panose="02040503050406030204" pitchFamily="18" charset="0"/>
                        </a:rPr>
                        <m:t>𝒇</m:t>
                      </m:r>
                      <m:d>
                        <m:dPr>
                          <m:ctrlPr>
                            <a:rPr lang="en-US" altLang="zh-CN" sz="2800" b="1" i="1" dirty="0">
                              <a:latin typeface="Cambria Math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sz="2800" b="1" i="1" dirty="0">
                                  <a:latin typeface="Cambria Math"/>
                                </a:rPr>
                              </m:ctrlPr>
                            </m:fPr>
                            <m:num>
                              <m:r>
                                <a:rPr lang="en-US" altLang="zh-CN" sz="2800" b="1" i="1" dirty="0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US" altLang="zh-CN" sz="2800" b="1" i="1" dirty="0">
                                      <a:latin typeface="Cambria Math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800" b="1" i="1" dirty="0">
                                      <a:latin typeface="Cambria Math" panose="02040503050406030204" pitchFamily="18" charset="0"/>
                                    </a:rPr>
                                    <m:t>𝒃</m:t>
                                  </m:r>
                                </m:e>
                                <m:sup>
                                  <m:r>
                                    <a:rPr lang="en-US" altLang="zh-CN" sz="2800" b="1" i="1" dirty="0">
                                      <a:latin typeface="Cambria Math" panose="02040503050406030204" pitchFamily="18" charset="0"/>
                                    </a:rPr>
                                    <m:t>𝒋</m:t>
                                  </m:r>
                                </m:sup>
                              </m:sSup>
                            </m:den>
                          </m:f>
                        </m:e>
                      </m:d>
                    </m:oMath>
                  </m:oMathPara>
                </a14:m>
                <a:endParaRPr lang="zh-CN" altLang="en-US" sz="2400" b="1" dirty="0"/>
              </a:p>
            </p:txBody>
          </p:sp>
        </mc:Choice>
        <mc:Fallback xmlns="">
          <p:sp>
            <p:nvSpPr>
              <p:cNvPr id="10" name="矩形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1493" y="4914249"/>
                <a:ext cx="2594518" cy="846647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矩形 8"/>
          <p:cNvSpPr/>
          <p:nvPr/>
        </p:nvSpPr>
        <p:spPr>
          <a:xfrm>
            <a:off x="4749280" y="2333208"/>
            <a:ext cx="1343610" cy="821253"/>
          </a:xfrm>
          <a:prstGeom prst="rect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1927159" y="4914249"/>
            <a:ext cx="1193512" cy="821253"/>
          </a:xfrm>
          <a:prstGeom prst="rect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4252655" y="4901898"/>
            <a:ext cx="1468217" cy="821253"/>
          </a:xfrm>
          <a:prstGeom prst="rect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矩形 12"/>
              <p:cNvSpPr/>
              <p:nvPr/>
            </p:nvSpPr>
            <p:spPr>
              <a:xfrm>
                <a:off x="5720872" y="5074260"/>
                <a:ext cx="3706908" cy="526623"/>
              </a:xfrm>
              <a:prstGeom prst="rect">
                <a:avLst/>
              </a:prstGeom>
            </p:spPr>
            <p:txBody>
              <a:bodyPr wrap="square" lIns="83887" tIns="41944" rIns="83887" bIns="41944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800" b="1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altLang="zh-CN" sz="2800" b="1" i="1" dirty="0" smtClean="0">
                          <a:latin typeface="Cambria Math"/>
                          <a:ea typeface="Cambria Math"/>
                        </a:rPr>
                        <m:t>⋯</m:t>
                      </m:r>
                      <m:r>
                        <a:rPr lang="en-US" altLang="zh-CN" sz="2800" b="1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sSup>
                        <m:sSupPr>
                          <m:ctrlPr>
                            <a:rPr lang="en-US" altLang="zh-CN" sz="2800" b="1" i="1" dirty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US" altLang="zh-CN" sz="2800" b="1" i="1" dirty="0">
                              <a:latin typeface="Cambria Math" panose="02040503050406030204" pitchFamily="18" charset="0"/>
                            </a:rPr>
                            <m:t>𝒄</m:t>
                          </m:r>
                        </m:e>
                        <m:sup>
                          <m:r>
                            <a:rPr lang="en-US" altLang="zh-CN" sz="2800" b="1" i="1" dirty="0">
                              <a:latin typeface="Cambria Math" panose="02040503050406030204" pitchFamily="18" charset="0"/>
                            </a:rPr>
                            <m:t>𝒋</m:t>
                          </m:r>
                        </m:sup>
                      </m:sSup>
                      <m:r>
                        <a:rPr lang="en-US" altLang="zh-CN" sz="2800" b="1" i="1" dirty="0">
                          <a:latin typeface="Cambria Math" panose="02040503050406030204" pitchFamily="18" charset="0"/>
                        </a:rPr>
                        <m:t>𝒇</m:t>
                      </m:r>
                      <m:d>
                        <m:dPr>
                          <m:ctrlPr>
                            <a:rPr lang="en-US" altLang="zh-CN" sz="2800" b="1" i="1" dirty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altLang="zh-CN" sz="2800" b="1" i="1" dirty="0"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</m:d>
                    </m:oMath>
                  </m:oMathPara>
                </a14:m>
                <a:endParaRPr lang="zh-CN" altLang="en-US" sz="2400" b="1" dirty="0"/>
              </a:p>
            </p:txBody>
          </p:sp>
        </mc:Choice>
        <mc:Fallback xmlns="">
          <p:sp>
            <p:nvSpPr>
              <p:cNvPr id="13" name="矩形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20872" y="5074260"/>
                <a:ext cx="3706908" cy="526623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/>
              <p:cNvSpPr/>
              <p:nvPr/>
            </p:nvSpPr>
            <p:spPr>
              <a:xfrm>
                <a:off x="3128912" y="4894793"/>
                <a:ext cx="2822376" cy="85427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800" b="1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sSup>
                        <m:sSupPr>
                          <m:ctrlPr>
                            <a:rPr lang="en-US" altLang="zh-CN" sz="2800" b="1" i="1" dirty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US" altLang="zh-CN" sz="2800" b="1" i="1" dirty="0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p>
                          <m:r>
                            <a:rPr lang="en-US" altLang="zh-CN" sz="2800" b="1" i="1" dirty="0">
                              <a:latin typeface="Cambria Math" panose="02040503050406030204" pitchFamily="18" charset="0"/>
                            </a:rPr>
                            <m:t>𝒋</m:t>
                          </m:r>
                          <m:r>
                            <a:rPr lang="en-US" altLang="zh-CN" sz="2800" b="1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2800" b="1" i="1" dirty="0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  <m:r>
                        <a:rPr lang="en-US" altLang="zh-CN" sz="2800" b="1" i="1" dirty="0">
                          <a:latin typeface="Cambria Math" panose="02040503050406030204" pitchFamily="18" charset="0"/>
                        </a:rPr>
                        <m:t>𝒄𝒇</m:t>
                      </m:r>
                      <m:d>
                        <m:dPr>
                          <m:ctrlPr>
                            <a:rPr lang="en-US" altLang="zh-CN" sz="2800" b="1" i="1" dirty="0">
                              <a:latin typeface="Cambria Math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sz="2800" b="1" i="1" dirty="0">
                                  <a:latin typeface="Cambria Math"/>
                                </a:rPr>
                              </m:ctrlPr>
                            </m:fPr>
                            <m:num>
                              <m:r>
                                <a:rPr lang="en-US" altLang="zh-CN" sz="2800" b="1" i="1" dirty="0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US" altLang="zh-CN" sz="2800" b="1" i="1" dirty="0">
                                      <a:latin typeface="Cambria Math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800" b="1" i="1" dirty="0">
                                      <a:latin typeface="Cambria Math" panose="02040503050406030204" pitchFamily="18" charset="0"/>
                                    </a:rPr>
                                    <m:t>𝒃</m:t>
                                  </m:r>
                                </m:e>
                                <m:sup>
                                  <m:r>
                                    <a:rPr lang="en-US" altLang="zh-CN" sz="2800" b="1" i="1" dirty="0">
                                      <a:latin typeface="Cambria Math" panose="02040503050406030204" pitchFamily="18" charset="0"/>
                                    </a:rPr>
                                    <m:t>𝒋</m:t>
                                  </m:r>
                                  <m:r>
                                    <a:rPr lang="en-US" altLang="zh-CN" sz="2800" b="1" i="1" dirty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CN" sz="2800" b="1" i="1" dirty="0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p>
                              </m:sSup>
                            </m:den>
                          </m:f>
                        </m:e>
                      </m:d>
                    </m:oMath>
                  </m:oMathPara>
                </a14:m>
                <a:endParaRPr lang="zh-CN" altLang="en-US" sz="2400" b="1" dirty="0"/>
              </a:p>
            </p:txBody>
          </p:sp>
        </mc:Choice>
        <mc:Fallback xmlns="">
          <p:sp>
            <p:nvSpPr>
              <p:cNvPr id="3" name="矩形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28912" y="4894793"/>
                <a:ext cx="2822376" cy="854273"/>
              </a:xfrm>
              <a:prstGeom prst="rect">
                <a:avLst/>
              </a:prstGeom>
              <a:blipFill rotWithShape="1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52062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/>
      <p:bldP spid="9" grpId="0" animBg="1"/>
      <p:bldP spid="11" grpId="0" animBg="1"/>
      <p:bldP spid="12" grpId="0" animBg="1"/>
      <p:bldP spid="13" grpId="0"/>
      <p:bldP spid="3" grpId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354563" y="345011"/>
            <a:ext cx="8948057" cy="560058"/>
          </a:xfrm>
        </p:spPr>
        <p:txBody>
          <a:bodyPr>
            <a:noAutofit/>
          </a:bodyPr>
          <a:lstStyle/>
          <a:p>
            <a:pPr algn="ctr"/>
            <a:r>
              <a:rPr lang="en-US" altLang="zh-CN" sz="4400" b="1" dirty="0" smtClean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Case3(</a:t>
            </a:r>
            <a:r>
              <a:rPr lang="zh-CN" altLang="en-US" sz="4400" b="1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续</a:t>
            </a:r>
            <a:r>
              <a:rPr lang="en-US" altLang="zh-CN" sz="4400" b="1" dirty="0" smtClean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)</a:t>
            </a:r>
            <a:endParaRPr lang="zh-CN" altLang="en-US" sz="4400" b="1" dirty="0">
              <a:solidFill>
                <a:srgbClr val="C00000"/>
              </a:solidFill>
              <a:latin typeface="黑体" pitchFamily="49" charset="-122"/>
              <a:ea typeface="黑体" pitchFamily="49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/>
              <p:cNvSpPr txBox="1"/>
              <p:nvPr/>
            </p:nvSpPr>
            <p:spPr>
              <a:xfrm>
                <a:off x="373224" y="1482342"/>
                <a:ext cx="8910735" cy="1368392"/>
              </a:xfrm>
              <a:prstGeom prst="rect">
                <a:avLst/>
              </a:prstGeom>
              <a:noFill/>
            </p:spPr>
            <p:txBody>
              <a:bodyPr wrap="square" lIns="83887" tIns="41944" rIns="83887" bIns="41944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800" b="1" i="1" dirty="0">
                          <a:latin typeface="Cambria Math" panose="02040503050406030204" pitchFamily="18" charset="0"/>
                        </a:rPr>
                        <m:t>𝑻</m:t>
                      </m:r>
                      <m:r>
                        <a:rPr lang="en-US" altLang="zh-CN" sz="2800" b="1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800" b="1" i="1" dirty="0"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US" altLang="zh-CN" sz="2800" b="1" i="1" dirty="0">
                          <a:latin typeface="Cambria Math" panose="02040503050406030204" pitchFamily="18" charset="0"/>
                        </a:rPr>
                        <m:t>)=</m:t>
                      </m:r>
                      <m:sSub>
                        <m:sSubPr>
                          <m:ctrlPr>
                            <a:rPr lang="en-US" altLang="zh-CN" sz="2800" b="1" i="1" dirty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altLang="zh-CN" sz="2800" b="1" i="1" dirty="0">
                              <a:latin typeface="Cambria Math" panose="02040503050406030204" pitchFamily="18" charset="0"/>
                            </a:rPr>
                            <m:t>𝒄</m:t>
                          </m:r>
                        </m:e>
                        <m:sub>
                          <m:r>
                            <a:rPr lang="en-US" altLang="zh-CN" sz="2800" b="1" i="1" dirty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sSup>
                        <m:sSupPr>
                          <m:ctrlPr>
                            <a:rPr lang="en-US" altLang="zh-CN" sz="2800" b="1" i="1" dirty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US" altLang="zh-CN" sz="2800" b="1" i="1" dirty="0"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en-US" altLang="zh-CN" sz="2800" b="1" i="1" dirty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  <m:sup>
                          <m:func>
                            <m:funcPr>
                              <m:ctrlPr>
                                <a:rPr lang="en-US" altLang="zh-CN" sz="2800" b="1" i="1" dirty="0">
                                  <a:latin typeface="Cambria Math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n-US" altLang="zh-CN" sz="2800" b="1" i="1" dirty="0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b="1" i="1" dirty="0">
                                      <a:latin typeface="Cambria Math" panose="02040503050406030204" pitchFamily="18" charset="0"/>
                                    </a:rPr>
                                    <m:t>𝒍𝒐𝒈</m:t>
                                  </m:r>
                                </m:e>
                                <m:sub>
                                  <m:r>
                                    <a:rPr lang="en-US" altLang="zh-CN" sz="2800" b="1" i="1" dirty="0">
                                      <a:latin typeface="Cambria Math" panose="02040503050406030204" pitchFamily="18" charset="0"/>
                                    </a:rPr>
                                    <m:t>𝒃</m:t>
                                  </m:r>
                                </m:sub>
                              </m:sSub>
                            </m:fName>
                            <m:e>
                              <m:r>
                                <a:rPr lang="en-US" altLang="zh-CN" sz="2800" b="1" i="1" dirty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</m:func>
                        </m:sup>
                      </m:sSup>
                      <m:r>
                        <a:rPr lang="en-US" altLang="zh-CN" sz="2800" b="1" i="1" dirty="0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ctrlPr>
                            <a:rPr lang="en-US" altLang="zh-CN" sz="2800" b="1" i="1" dirty="0" smtClean="0">
                              <a:latin typeface="Cambria Math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800" b="1" i="1" dirty="0">
                              <a:latin typeface="Cambria Math" panose="02040503050406030204" pitchFamily="18" charset="0"/>
                            </a:rPr>
                            <m:t>𝒋</m:t>
                          </m:r>
                          <m:r>
                            <a:rPr lang="en-US" altLang="zh-CN" sz="2800" b="1" i="1" dirty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sz="2800" b="1" i="1" dirty="0"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  <m:sup>
                          <m:func>
                            <m:funcPr>
                              <m:ctrlPr>
                                <a:rPr lang="en-US" altLang="zh-CN" sz="2800" b="1" i="1" dirty="0">
                                  <a:latin typeface="Cambria Math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n-US" altLang="zh-CN" sz="2800" b="1" i="1" dirty="0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b="1" i="1" dirty="0">
                                      <a:latin typeface="Cambria Math" panose="02040503050406030204" pitchFamily="18" charset="0"/>
                                    </a:rPr>
                                    <m:t>𝒍𝒐𝒈</m:t>
                                  </m:r>
                                </m:e>
                                <m:sub>
                                  <m:r>
                                    <a:rPr lang="en-US" altLang="zh-CN" sz="2800" b="1" i="1" dirty="0">
                                      <a:latin typeface="Cambria Math" panose="02040503050406030204" pitchFamily="18" charset="0"/>
                                    </a:rPr>
                                    <m:t>𝒃</m:t>
                                  </m:r>
                                </m:sub>
                              </m:sSub>
                            </m:fName>
                            <m:e>
                              <m:r>
                                <a:rPr lang="en-US" altLang="zh-CN" sz="2800" b="1" i="1" dirty="0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e>
                          </m:func>
                          <m:r>
                            <a:rPr lang="en-US" altLang="zh-CN" sz="2800" b="1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2800" b="1" i="1" dirty="0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  <m:e>
                          <m:sSup>
                            <m:sSupPr>
                              <m:ctrlPr>
                                <a:rPr lang="en-US" altLang="zh-CN" sz="2800" b="1" i="1" dirty="0" smtClean="0">
                                  <a:solidFill>
                                    <a:srgbClr val="0000FF"/>
                                  </a:solidFill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US" altLang="zh-CN" sz="2800" b="1" i="1" dirty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𝒄</m:t>
                              </m:r>
                            </m:e>
                            <m:sup>
                              <m:r>
                                <a:rPr lang="en-US" altLang="zh-CN" sz="2800" b="1" i="1" dirty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𝒋</m:t>
                              </m:r>
                            </m:sup>
                          </m:sSup>
                          <m:r>
                            <a:rPr lang="en-US" altLang="zh-CN" sz="2800" b="1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𝒇</m:t>
                          </m:r>
                          <m:d>
                            <m:dPr>
                              <m:ctrlPr>
                                <a:rPr lang="en-US" altLang="zh-CN" sz="2800" b="1" i="1" dirty="0">
                                  <a:solidFill>
                                    <a:srgbClr val="C00000"/>
                                  </a:solidFill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altLang="zh-CN" sz="2800" b="1" i="1" dirty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e>
                          </m:d>
                        </m:e>
                      </m:nary>
                    </m:oMath>
                  </m:oMathPara>
                </a14:m>
                <a:endParaRPr lang="zh-CN" altLang="en-US" sz="2800" b="1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3224" y="1482342"/>
                <a:ext cx="8910735" cy="1368392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/>
              <p:cNvSpPr txBox="1"/>
              <p:nvPr/>
            </p:nvSpPr>
            <p:spPr>
              <a:xfrm>
                <a:off x="1212980" y="2789723"/>
                <a:ext cx="8070979" cy="966808"/>
              </a:xfrm>
              <a:prstGeom prst="rect">
                <a:avLst/>
              </a:prstGeom>
              <a:noFill/>
            </p:spPr>
            <p:txBody>
              <a:bodyPr wrap="square" lIns="83887" tIns="41944" rIns="83887" bIns="41944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800" b="1" i="1" dirty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800" b="1" i="1" dirty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altLang="zh-CN" sz="2800" b="1" i="1" dirty="0">
                              <a:latin typeface="Cambria Math" panose="02040503050406030204" pitchFamily="18" charset="0"/>
                            </a:rPr>
                            <m:t>𝒄</m:t>
                          </m:r>
                        </m:e>
                        <m:sub>
                          <m:r>
                            <a:rPr lang="en-US" altLang="zh-CN" sz="2800" b="1" i="1" dirty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sSup>
                        <m:sSupPr>
                          <m:ctrlPr>
                            <a:rPr lang="en-US" altLang="zh-CN" sz="2800" b="1" i="1" dirty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US" altLang="zh-CN" sz="2800" b="1" i="1" dirty="0"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en-US" altLang="zh-CN" sz="2800" b="1" i="1" dirty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  <m:sup>
                          <m:func>
                            <m:funcPr>
                              <m:ctrlPr>
                                <a:rPr lang="en-US" altLang="zh-CN" sz="2800" b="1" i="1" dirty="0">
                                  <a:latin typeface="Cambria Math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n-US" altLang="zh-CN" sz="2800" b="1" i="1" dirty="0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b="1" i="1" dirty="0">
                                      <a:latin typeface="Cambria Math" panose="02040503050406030204" pitchFamily="18" charset="0"/>
                                    </a:rPr>
                                    <m:t>𝒍𝒐𝒈</m:t>
                                  </m:r>
                                </m:e>
                                <m:sub>
                                  <m:r>
                                    <a:rPr lang="en-US" altLang="zh-CN" sz="2800" b="1" i="1" dirty="0">
                                      <a:latin typeface="Cambria Math" panose="02040503050406030204" pitchFamily="18" charset="0"/>
                                    </a:rPr>
                                    <m:t>𝒃</m:t>
                                  </m:r>
                                </m:sub>
                              </m:sSub>
                            </m:fName>
                            <m:e>
                              <m:r>
                                <a:rPr lang="en-US" altLang="zh-CN" sz="2800" b="1" i="1" dirty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</m:func>
                        </m:sup>
                      </m:sSup>
                      <m:r>
                        <a:rPr lang="en-US" altLang="zh-CN" sz="2800" b="1" i="1" dirty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800" b="1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𝒇</m:t>
                      </m:r>
                      <m:d>
                        <m:dPr>
                          <m:ctrlPr>
                            <a:rPr lang="en-US" altLang="zh-CN" sz="2800" b="1" i="1" dirty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altLang="zh-CN" sz="2800" b="1" i="1" dirty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</m:d>
                      <m:f>
                        <m:fPr>
                          <m:ctrlPr>
                            <a:rPr lang="en-US" altLang="zh-CN" sz="2800" b="1" i="1" dirty="0" smtClean="0">
                              <a:solidFill>
                                <a:srgbClr val="0000FF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CN" sz="2800" b="1" i="1" dirty="0">
                                  <a:solidFill>
                                    <a:srgbClr val="0000FF"/>
                                  </a:solidFill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US" altLang="zh-CN" sz="2800" b="1" i="1" dirty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𝒄</m:t>
                              </m:r>
                            </m:e>
                            <m:sup>
                              <m:func>
                                <m:funcPr>
                                  <m:ctrlPr>
                                    <a:rPr lang="en-US" altLang="zh-CN" sz="2800" b="1" i="1" dirty="0">
                                      <a:solidFill>
                                        <a:srgbClr val="0000FF"/>
                                      </a:solidFill>
                                      <a:latin typeface="Cambria Math"/>
                                    </a:rPr>
                                  </m:ctrlPr>
                                </m:funcPr>
                                <m:fName>
                                  <m:sSub>
                                    <m:sSubPr>
                                      <m:ctrlPr>
                                        <a:rPr lang="en-US" altLang="zh-CN" sz="2800" b="1" i="1" dirty="0">
                                          <a:solidFill>
                                            <a:srgbClr val="0000FF"/>
                                          </a:solidFill>
                                          <a:latin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800" b="1" dirty="0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𝐥𝐨𝐠</m:t>
                                      </m:r>
                                    </m:e>
                                    <m:sub>
                                      <m:r>
                                        <a:rPr lang="en-US" altLang="zh-CN" sz="2800" b="1" i="1" dirty="0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𝒃</m:t>
                                      </m:r>
                                    </m:sub>
                                  </m:sSub>
                                </m:fName>
                                <m:e>
                                  <m:r>
                                    <a:rPr lang="en-US" altLang="zh-CN" sz="2800" b="1" i="1" dirty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𝒏</m:t>
                                  </m:r>
                                </m:e>
                              </m:func>
                            </m:sup>
                          </m:sSup>
                          <m:r>
                            <a:rPr lang="en-US" altLang="zh-CN" sz="2800" b="1" i="1" dirty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2800" b="1" i="1" dirty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altLang="zh-CN" sz="2800" b="1" i="1" dirty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𝒄</m:t>
                          </m:r>
                          <m:r>
                            <a:rPr lang="en-US" altLang="zh-CN" sz="2800" b="1" i="1" dirty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2800" b="1" i="1" dirty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den>
                      </m:f>
                    </m:oMath>
                  </m:oMathPara>
                </a14:m>
                <a:endParaRPr lang="zh-CN" altLang="en-US" sz="2800" b="1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5" name="文本框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2980" y="2789723"/>
                <a:ext cx="8070979" cy="966808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/>
              <p:cNvSpPr txBox="1"/>
              <p:nvPr/>
            </p:nvSpPr>
            <p:spPr>
              <a:xfrm>
                <a:off x="1212981" y="3936161"/>
                <a:ext cx="8070978" cy="571059"/>
              </a:xfrm>
              <a:prstGeom prst="rect">
                <a:avLst/>
              </a:prstGeom>
              <a:noFill/>
            </p:spPr>
            <p:txBody>
              <a:bodyPr wrap="square" lIns="83887" tIns="41944" rIns="83887" bIns="41944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800" b="1" i="1" dirty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800" b="1" i="1" dirty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altLang="zh-CN" sz="2800" b="1" i="1" dirty="0">
                              <a:latin typeface="Cambria Math" panose="02040503050406030204" pitchFamily="18" charset="0"/>
                            </a:rPr>
                            <m:t>𝒄</m:t>
                          </m:r>
                        </m:e>
                        <m:sub>
                          <m:r>
                            <a:rPr lang="en-US" altLang="zh-CN" sz="2800" b="1" i="1" dirty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sSup>
                        <m:sSupPr>
                          <m:ctrlPr>
                            <a:rPr lang="en-US" altLang="zh-CN" sz="2800" b="1" i="1" dirty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US" altLang="zh-CN" sz="2800" b="1" i="1" dirty="0"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en-US" altLang="zh-CN" sz="2800" b="1" i="1" dirty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  <m:sup>
                          <m:func>
                            <m:funcPr>
                              <m:ctrlPr>
                                <a:rPr lang="en-US" altLang="zh-CN" sz="2800" b="1" i="1" dirty="0">
                                  <a:latin typeface="Cambria Math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n-US" altLang="zh-CN" sz="2800" b="1" i="1" dirty="0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b="1" i="1" dirty="0">
                                      <a:latin typeface="Cambria Math" panose="02040503050406030204" pitchFamily="18" charset="0"/>
                                    </a:rPr>
                                    <m:t>𝒍𝒐𝒈</m:t>
                                  </m:r>
                                </m:e>
                                <m:sub>
                                  <m:r>
                                    <a:rPr lang="en-US" altLang="zh-CN" sz="2800" b="1" i="1" dirty="0">
                                      <a:latin typeface="Cambria Math" panose="02040503050406030204" pitchFamily="18" charset="0"/>
                                    </a:rPr>
                                    <m:t>𝒃</m:t>
                                  </m:r>
                                </m:sub>
                              </m:sSub>
                            </m:fName>
                            <m:e>
                              <m:r>
                                <a:rPr lang="en-US" altLang="zh-CN" sz="2800" b="1" i="1" dirty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</m:func>
                        </m:sup>
                      </m:sSup>
                      <m:r>
                        <a:rPr lang="en-US" altLang="zh-CN" sz="2800" b="1" i="1" dirty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l-GR" altLang="zh-CN" sz="2800" b="1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𝜣</m:t>
                      </m:r>
                      <m:d>
                        <m:dPr>
                          <m:ctrlPr>
                            <a:rPr lang="el-GR" altLang="zh-CN" sz="2800" b="1" i="1" dirty="0">
                              <a:latin typeface="Cambria Math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b="1" i="1" dirty="0">
                              <a:latin typeface="Cambria Math" panose="02040503050406030204" pitchFamily="18" charset="0"/>
                            </a:rPr>
                            <m:t>𝒇</m:t>
                          </m:r>
                          <m:d>
                            <m:dPr>
                              <m:ctrlPr>
                                <a:rPr lang="en-US" altLang="zh-CN" sz="2800" b="1" i="1" dirty="0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altLang="zh-CN" sz="2800" b="1" i="1" dirty="0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zh-CN" altLang="en-US" sz="2400" b="1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6" name="文本框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2981" y="3936161"/>
                <a:ext cx="8070978" cy="571059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/>
              <p:cNvSpPr txBox="1"/>
              <p:nvPr/>
            </p:nvSpPr>
            <p:spPr>
              <a:xfrm>
                <a:off x="1212980" y="4857914"/>
                <a:ext cx="8070978" cy="571059"/>
              </a:xfrm>
              <a:prstGeom prst="rect">
                <a:avLst/>
              </a:prstGeom>
              <a:noFill/>
            </p:spPr>
            <p:txBody>
              <a:bodyPr wrap="square" lIns="83887" tIns="41944" rIns="83887" bIns="41944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800" b="1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l-GR" altLang="zh-CN" sz="2800" b="1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𝜣</m:t>
                      </m:r>
                      <m:d>
                        <m:dPr>
                          <m:ctrlPr>
                            <a:rPr lang="el-GR" altLang="zh-CN" sz="2800" b="1" i="1" dirty="0">
                              <a:latin typeface="Cambria Math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b="1" i="1" dirty="0">
                              <a:latin typeface="Cambria Math" panose="02040503050406030204" pitchFamily="18" charset="0"/>
                            </a:rPr>
                            <m:t>𝒇</m:t>
                          </m:r>
                          <m:d>
                            <m:dPr>
                              <m:ctrlPr>
                                <a:rPr lang="en-US" altLang="zh-CN" sz="2800" b="1" i="1" dirty="0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altLang="zh-CN" sz="2800" b="1" i="1" dirty="0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zh-CN" altLang="en-US" sz="2400" b="1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7" name="文本框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2980" y="4857914"/>
                <a:ext cx="8070978" cy="571059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矩形 7"/>
          <p:cNvSpPr/>
          <p:nvPr/>
        </p:nvSpPr>
        <p:spPr>
          <a:xfrm>
            <a:off x="4660608" y="1949809"/>
            <a:ext cx="405883" cy="494812"/>
          </a:xfrm>
          <a:prstGeom prst="rect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/>
              <p:cNvSpPr/>
              <p:nvPr/>
            </p:nvSpPr>
            <p:spPr>
              <a:xfrm>
                <a:off x="4652036" y="4379373"/>
                <a:ext cx="3394519" cy="578685"/>
              </a:xfrm>
              <a:prstGeom prst="rect">
                <a:avLst/>
              </a:prstGeom>
              <a:ln w="25400">
                <a:solidFill>
                  <a:srgbClr val="C00000"/>
                </a:solidFill>
              </a:ln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1" i="1" dirty="0">
                          <a:latin typeface="Cambria Math" panose="02040503050406030204" pitchFamily="18" charset="0"/>
                        </a:rPr>
                        <m:t>𝒇</m:t>
                      </m:r>
                      <m:d>
                        <m:dPr>
                          <m:ctrlPr>
                            <a:rPr lang="en-US" altLang="zh-CN" sz="2800" b="1" i="1" dirty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altLang="zh-CN" sz="2800" b="1" i="1" dirty="0"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</m:d>
                      <m:r>
                        <a:rPr lang="en-US" altLang="zh-CN" sz="2800" b="1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l-GR" altLang="zh-CN" sz="2800" b="1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𝜴</m:t>
                      </m:r>
                      <m:d>
                        <m:dPr>
                          <m:ctrlPr>
                            <a:rPr lang="en-US" altLang="zh-CN" sz="2800" b="1" i="1" dirty="0">
                              <a:latin typeface="Cambria Math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sz="2800" b="1" i="1" dirty="0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US" altLang="zh-CN" sz="2800" b="1" i="1" dirty="0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e>
                            <m:sup>
                              <m:func>
                                <m:funcPr>
                                  <m:ctrlPr>
                                    <a:rPr lang="en-US" altLang="zh-CN" sz="2800" b="1" i="1" dirty="0">
                                      <a:latin typeface="Cambria Math"/>
                                    </a:rPr>
                                  </m:ctrlPr>
                                </m:funcPr>
                                <m:fName>
                                  <m:sSub>
                                    <m:sSubPr>
                                      <m:ctrlPr>
                                        <a:rPr lang="en-US" altLang="zh-CN" sz="2800" b="1" i="1" dirty="0">
                                          <a:latin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800" b="1" i="1" dirty="0">
                                          <a:latin typeface="Cambria Math" panose="02040503050406030204" pitchFamily="18" charset="0"/>
                                        </a:rPr>
                                        <m:t>𝐥𝐨𝐠</m:t>
                                      </m:r>
                                    </m:e>
                                    <m:sub>
                                      <m:r>
                                        <a:rPr lang="en-US" altLang="zh-CN" sz="2800" b="1" i="1" dirty="0">
                                          <a:latin typeface="Cambria Math" panose="02040503050406030204" pitchFamily="18" charset="0"/>
                                        </a:rPr>
                                        <m:t>𝒃</m:t>
                                      </m:r>
                                    </m:sub>
                                  </m:sSub>
                                </m:fName>
                                <m:e>
                                  <m:r>
                                    <a:rPr lang="en-US" altLang="zh-CN" sz="2800" b="1" i="1" dirty="0">
                                      <a:latin typeface="Cambria Math" panose="02040503050406030204" pitchFamily="18" charset="0"/>
                                    </a:rPr>
                                    <m:t>𝒂</m:t>
                                  </m:r>
                                </m:e>
                              </m:func>
                              <m:r>
                                <a:rPr lang="en-US" altLang="zh-CN" sz="2800" b="1" i="1" dirty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zh-CN" altLang="en-US" sz="2800" b="1" i="1" dirty="0">
                                  <a:latin typeface="Cambria Math" panose="02040503050406030204" pitchFamily="18" charset="0"/>
                                </a:rPr>
                                <m:t>𝜺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3" name="矩形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52036" y="4379373"/>
                <a:ext cx="3394519" cy="578685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  <a:ln w="25400"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矩形 8"/>
              <p:cNvSpPr/>
              <p:nvPr/>
            </p:nvSpPr>
            <p:spPr>
              <a:xfrm>
                <a:off x="6490345" y="3083447"/>
                <a:ext cx="2504358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zh-CN" altLang="en-US" sz="2800" b="1" dirty="0"/>
                  <a:t>常数</a:t>
                </a:r>
                <a14:m>
                  <m:oMath xmlns:m="http://schemas.openxmlformats.org/officeDocument/2006/math">
                    <m:r>
                      <a:rPr lang="en-US" altLang="zh-CN" sz="2800" b="1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𝒄</m:t>
                    </m:r>
                  </m:oMath>
                </a14:m>
                <a:r>
                  <a:rPr lang="en-US" altLang="zh-CN" sz="2800" b="1" dirty="0"/>
                  <a:t>&lt;1</a:t>
                </a:r>
                <a:endParaRPr lang="zh-CN" altLang="en-US" sz="2400" dirty="0"/>
              </a:p>
            </p:txBody>
          </p:sp>
        </mc:Choice>
        <mc:Fallback xmlns="">
          <p:sp>
            <p:nvSpPr>
              <p:cNvPr id="9" name="矩形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90345" y="3083447"/>
                <a:ext cx="2504358" cy="523220"/>
              </a:xfrm>
              <a:prstGeom prst="rect">
                <a:avLst/>
              </a:prstGeom>
              <a:blipFill rotWithShape="1">
                <a:blip r:embed="rId7"/>
                <a:stretch>
                  <a:fillRect l="-5109" t="-11628" b="-3139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752815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 animBg="1"/>
      <p:bldP spid="3" grpId="0" animBg="1"/>
      <p:bldP spid="9" grpId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401216" y="186612"/>
            <a:ext cx="8892074" cy="699796"/>
          </a:xfrm>
        </p:spPr>
        <p:txBody>
          <a:bodyPr>
            <a:normAutofit/>
          </a:bodyPr>
          <a:lstStyle/>
          <a:p>
            <a:pPr algn="ctr"/>
            <a:r>
              <a:rPr lang="zh-CN" altLang="en-US" sz="4400" b="1" dirty="0" smtClean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小结</a:t>
            </a:r>
            <a:endParaRPr lang="zh-CN" altLang="en-US" sz="4400" b="1" dirty="0">
              <a:solidFill>
                <a:srgbClr val="C00000"/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407120" y="1118549"/>
            <a:ext cx="8858178" cy="4111612"/>
          </a:xfrm>
        </p:spPr>
        <p:txBody>
          <a:bodyPr/>
          <a:lstStyle/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2800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Arial"/>
              </a:rPr>
              <a:t>•</a:t>
            </a:r>
            <a:r>
              <a:rPr lang="zh-CN" altLang="en-US" sz="2800" spc="935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Times New Roman"/>
              </a:rPr>
              <a:t> </a:t>
            </a:r>
            <a:r>
              <a:rPr lang="zh-CN" altLang="en-US" sz="2800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QMCWBO+ËÎÌå"/>
              </a:rPr>
              <a:t>主定理的应用背景</a:t>
            </a:r>
          </a:p>
          <a:p>
            <a:pPr marL="0" indent="0">
              <a:lnSpc>
                <a:spcPct val="150000"/>
              </a:lnSpc>
              <a:spcBef>
                <a:spcPts val="879"/>
              </a:spcBef>
              <a:buNone/>
            </a:pPr>
            <a:r>
              <a:rPr lang="en-US" altLang="zh-CN" sz="2800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Arial"/>
              </a:rPr>
              <a:t>•</a:t>
            </a:r>
            <a:r>
              <a:rPr lang="zh-CN" altLang="en-US" sz="2800" spc="935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Times New Roman"/>
              </a:rPr>
              <a:t> </a:t>
            </a:r>
            <a:r>
              <a:rPr lang="zh-CN" altLang="en-US" sz="2800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QMCWBO+ËÎÌå"/>
              </a:rPr>
              <a:t>主定理的内容</a:t>
            </a:r>
          </a:p>
          <a:p>
            <a:pPr marL="0" indent="0">
              <a:lnSpc>
                <a:spcPct val="150000"/>
              </a:lnSpc>
              <a:spcBef>
                <a:spcPts val="835"/>
              </a:spcBef>
              <a:buNone/>
            </a:pPr>
            <a:r>
              <a:rPr lang="en-US" altLang="zh-CN" sz="2800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Arial"/>
              </a:rPr>
              <a:t>•</a:t>
            </a:r>
            <a:r>
              <a:rPr lang="zh-CN" altLang="en-US" sz="2800" spc="935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Times New Roman"/>
              </a:rPr>
              <a:t> </a:t>
            </a:r>
            <a:r>
              <a:rPr lang="zh-CN" altLang="en-US" sz="2800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QMCWBO+ËÎÌå"/>
              </a:rPr>
              <a:t>主定理的证明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560961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419878" y="2272690"/>
            <a:ext cx="8882741" cy="1031348"/>
          </a:xfrm>
          <a:prstGeom prst="rect">
            <a:avLst/>
          </a:prstGeom>
        </p:spPr>
        <p:txBody>
          <a:bodyPr vert="horz" wrap="square" lIns="0" tIns="15534" rIns="0" bIns="0" rtlCol="0" anchor="ctr">
            <a:spAutoFit/>
          </a:bodyPr>
          <a:lstStyle/>
          <a:p>
            <a:pPr marL="15534" algn="ctr">
              <a:lnSpc>
                <a:spcPct val="100000"/>
              </a:lnSpc>
              <a:spcBef>
                <a:spcPts val="122"/>
              </a:spcBef>
            </a:pPr>
            <a:r>
              <a:rPr sz="6600" spc="-25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主</a:t>
            </a:r>
            <a:r>
              <a:rPr sz="6600" spc="-6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定</a:t>
            </a:r>
            <a:r>
              <a:rPr sz="6600" spc="-25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理</a:t>
            </a:r>
            <a:r>
              <a:rPr sz="6600" spc="-6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的应</a:t>
            </a:r>
            <a:r>
              <a:rPr sz="6600" spc="-25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用</a:t>
            </a:r>
            <a:endParaRPr sz="6600" dirty="0">
              <a:solidFill>
                <a:srgbClr val="C00000"/>
              </a:solidFill>
              <a:latin typeface="黑体" pitchFamily="49" charset="-122"/>
              <a:ea typeface="黑体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221333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363895" y="216570"/>
            <a:ext cx="8948056" cy="692011"/>
          </a:xfrm>
          <a:prstGeom prst="rect">
            <a:avLst/>
          </a:prstGeom>
        </p:spPr>
        <p:txBody>
          <a:bodyPr vert="horz" wrap="square" lIns="0" tIns="14758" rIns="0" bIns="0" rtlCol="0" anchor="ctr">
            <a:spAutoFit/>
          </a:bodyPr>
          <a:lstStyle/>
          <a:p>
            <a:pPr marL="15534" algn="ctr">
              <a:lnSpc>
                <a:spcPct val="100000"/>
              </a:lnSpc>
              <a:spcBef>
                <a:spcPts val="117"/>
              </a:spcBef>
            </a:pPr>
            <a:r>
              <a:rPr sz="4400" b="1" spc="-12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求解递推方程：</a:t>
            </a:r>
            <a:r>
              <a:rPr sz="4400" b="1" spc="-25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例1</a:t>
            </a:r>
          </a:p>
        </p:txBody>
      </p:sp>
      <p:sp>
        <p:nvSpPr>
          <p:cNvPr id="20" name="object 20"/>
          <p:cNvSpPr txBox="1">
            <a:spLocks noGrp="1"/>
          </p:cNvSpPr>
          <p:nvPr>
            <p:ph idx="4294967295"/>
          </p:nvPr>
        </p:nvSpPr>
        <p:spPr>
          <a:xfrm>
            <a:off x="391886" y="1191084"/>
            <a:ext cx="8938726" cy="1081230"/>
          </a:xfrm>
          <a:prstGeom prst="rect">
            <a:avLst/>
          </a:prstGeom>
        </p:spPr>
        <p:txBody>
          <a:bodyPr vert="horz" wrap="square" lIns="0" tIns="115733" rIns="0" bIns="0" rtlCol="0">
            <a:spAutoFit/>
          </a:bodyPr>
          <a:lstStyle/>
          <a:p>
            <a:pPr marL="15534">
              <a:lnSpc>
                <a:spcPct val="100000"/>
              </a:lnSpc>
              <a:spcBef>
                <a:spcPts val="911"/>
              </a:spcBef>
              <a:tabLst>
                <a:tab pos="897103" algn="l"/>
              </a:tabLst>
            </a:pPr>
            <a:r>
              <a:rPr sz="2800" b="1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  <a:cs typeface="Times New Roman" pitchFamily="18" charset="0"/>
              </a:rPr>
              <a:t>例1	</a:t>
            </a:r>
            <a:r>
              <a:rPr sz="2800" b="1" dirty="0">
                <a:latin typeface="黑体" pitchFamily="49" charset="-122"/>
                <a:ea typeface="黑体" pitchFamily="49" charset="-122"/>
                <a:cs typeface="Times New Roman" pitchFamily="18" charset="0"/>
              </a:rPr>
              <a:t>求解递推方程</a:t>
            </a:r>
          </a:p>
          <a:p>
            <a:pPr marL="437531" indent="0">
              <a:lnSpc>
                <a:spcPct val="100000"/>
              </a:lnSpc>
              <a:spcBef>
                <a:spcPts val="795"/>
              </a:spcBef>
              <a:buNone/>
            </a:pPr>
            <a:r>
              <a:rPr lang="en-US" sz="2800" b="1" i="1" dirty="0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                            </a:t>
            </a:r>
            <a:r>
              <a:rPr sz="2800" b="1" i="1" dirty="0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T</a:t>
            </a:r>
            <a:r>
              <a:rPr sz="2800" b="1" dirty="0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(</a:t>
            </a:r>
            <a:r>
              <a:rPr sz="2800" b="1" i="1" dirty="0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n</a:t>
            </a:r>
            <a:r>
              <a:rPr sz="2800" b="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) = 9</a:t>
            </a:r>
            <a:r>
              <a:rPr sz="2800" b="1" i="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T</a:t>
            </a:r>
            <a:r>
              <a:rPr sz="2800" b="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(</a:t>
            </a:r>
            <a:r>
              <a:rPr sz="2800" b="1" i="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n</a:t>
            </a:r>
            <a:r>
              <a:rPr sz="2800" b="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/3) +</a:t>
            </a:r>
            <a:r>
              <a:rPr sz="2800" b="1" spc="-85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</a:t>
            </a:r>
            <a:r>
              <a:rPr sz="2800" b="1" i="1" dirty="0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n</a:t>
            </a:r>
            <a:endParaRPr sz="2800" b="1" i="1" dirty="0">
              <a:latin typeface="Times New Roman" pitchFamily="18" charset="0"/>
              <a:ea typeface="黑体" pitchFamily="49" charset="-122"/>
              <a:cs typeface="Times New Roman" pitchFamily="18" charset="0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200648" y="0"/>
            <a:ext cx="197677" cy="21696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200"/>
          </a:p>
        </p:txBody>
      </p:sp>
      <p:sp>
        <p:nvSpPr>
          <p:cNvPr id="4" name="object 4"/>
          <p:cNvSpPr/>
          <p:nvPr/>
        </p:nvSpPr>
        <p:spPr>
          <a:xfrm>
            <a:off x="1226572" y="0"/>
            <a:ext cx="199298" cy="24960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200"/>
          </a:p>
        </p:txBody>
      </p:sp>
      <p:sp>
        <p:nvSpPr>
          <p:cNvPr id="5" name="object 5"/>
          <p:cNvSpPr/>
          <p:nvPr/>
        </p:nvSpPr>
        <p:spPr>
          <a:xfrm>
            <a:off x="1200648" y="0"/>
            <a:ext cx="197677" cy="21696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200"/>
          </a:p>
        </p:txBody>
      </p:sp>
      <p:sp>
        <p:nvSpPr>
          <p:cNvPr id="6" name="object 6"/>
          <p:cNvSpPr/>
          <p:nvPr/>
        </p:nvSpPr>
        <p:spPr>
          <a:xfrm>
            <a:off x="1226572" y="0"/>
            <a:ext cx="199298" cy="24960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200"/>
          </a:p>
        </p:txBody>
      </p:sp>
      <p:sp>
        <p:nvSpPr>
          <p:cNvPr id="7" name="object 7"/>
          <p:cNvSpPr/>
          <p:nvPr/>
        </p:nvSpPr>
        <p:spPr>
          <a:xfrm>
            <a:off x="1200648" y="0"/>
            <a:ext cx="197677" cy="21696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200"/>
          </a:p>
        </p:txBody>
      </p:sp>
      <p:sp>
        <p:nvSpPr>
          <p:cNvPr id="8" name="object 8"/>
          <p:cNvSpPr/>
          <p:nvPr/>
        </p:nvSpPr>
        <p:spPr>
          <a:xfrm>
            <a:off x="1226572" y="0"/>
            <a:ext cx="199298" cy="24960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200"/>
          </a:p>
        </p:txBody>
      </p:sp>
      <p:sp>
        <p:nvSpPr>
          <p:cNvPr id="9" name="object 9"/>
          <p:cNvSpPr/>
          <p:nvPr/>
        </p:nvSpPr>
        <p:spPr>
          <a:xfrm>
            <a:off x="1200648" y="0"/>
            <a:ext cx="197677" cy="21696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200"/>
          </a:p>
        </p:txBody>
      </p:sp>
      <p:sp>
        <p:nvSpPr>
          <p:cNvPr id="10" name="object 10"/>
          <p:cNvSpPr/>
          <p:nvPr/>
        </p:nvSpPr>
        <p:spPr>
          <a:xfrm>
            <a:off x="1226572" y="0"/>
            <a:ext cx="199298" cy="24960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200"/>
          </a:p>
        </p:txBody>
      </p:sp>
      <p:sp>
        <p:nvSpPr>
          <p:cNvPr id="11" name="object 11"/>
          <p:cNvSpPr/>
          <p:nvPr/>
        </p:nvSpPr>
        <p:spPr>
          <a:xfrm>
            <a:off x="1200648" y="0"/>
            <a:ext cx="197677" cy="21696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200"/>
          </a:p>
        </p:txBody>
      </p:sp>
      <p:sp>
        <p:nvSpPr>
          <p:cNvPr id="12" name="object 12"/>
          <p:cNvSpPr/>
          <p:nvPr/>
        </p:nvSpPr>
        <p:spPr>
          <a:xfrm>
            <a:off x="1226572" y="0"/>
            <a:ext cx="199298" cy="24960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200"/>
          </a:p>
        </p:txBody>
      </p:sp>
      <p:sp>
        <p:nvSpPr>
          <p:cNvPr id="13" name="object 13"/>
          <p:cNvSpPr/>
          <p:nvPr/>
        </p:nvSpPr>
        <p:spPr>
          <a:xfrm>
            <a:off x="1200648" y="0"/>
            <a:ext cx="197677" cy="21696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200"/>
          </a:p>
        </p:txBody>
      </p:sp>
      <p:sp>
        <p:nvSpPr>
          <p:cNvPr id="14" name="object 14"/>
          <p:cNvSpPr/>
          <p:nvPr/>
        </p:nvSpPr>
        <p:spPr>
          <a:xfrm>
            <a:off x="1226572" y="0"/>
            <a:ext cx="199298" cy="24960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200"/>
          </a:p>
        </p:txBody>
      </p:sp>
      <p:sp>
        <p:nvSpPr>
          <p:cNvPr id="15" name="object 15"/>
          <p:cNvSpPr/>
          <p:nvPr/>
        </p:nvSpPr>
        <p:spPr>
          <a:xfrm>
            <a:off x="1200648" y="0"/>
            <a:ext cx="197677" cy="21696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200"/>
          </a:p>
        </p:txBody>
      </p:sp>
      <p:sp>
        <p:nvSpPr>
          <p:cNvPr id="16" name="object 16"/>
          <p:cNvSpPr/>
          <p:nvPr/>
        </p:nvSpPr>
        <p:spPr>
          <a:xfrm>
            <a:off x="1226572" y="0"/>
            <a:ext cx="199298" cy="24960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200"/>
          </a:p>
        </p:txBody>
      </p:sp>
      <p:sp>
        <p:nvSpPr>
          <p:cNvPr id="17" name="object 17"/>
          <p:cNvSpPr/>
          <p:nvPr/>
        </p:nvSpPr>
        <p:spPr>
          <a:xfrm>
            <a:off x="1200648" y="0"/>
            <a:ext cx="197677" cy="21696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200"/>
          </a:p>
        </p:txBody>
      </p:sp>
      <p:sp>
        <p:nvSpPr>
          <p:cNvPr id="18" name="object 18"/>
          <p:cNvSpPr/>
          <p:nvPr/>
        </p:nvSpPr>
        <p:spPr>
          <a:xfrm>
            <a:off x="1226572" y="0"/>
            <a:ext cx="199298" cy="24960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200"/>
          </a:p>
        </p:txBody>
      </p:sp>
      <p:sp>
        <p:nvSpPr>
          <p:cNvPr id="21" name="object 21"/>
          <p:cNvSpPr txBox="1"/>
          <p:nvPr/>
        </p:nvSpPr>
        <p:spPr>
          <a:xfrm>
            <a:off x="2510022" y="3652312"/>
            <a:ext cx="3228391" cy="630455"/>
          </a:xfrm>
          <a:prstGeom prst="rect">
            <a:avLst/>
          </a:prstGeom>
        </p:spPr>
        <p:txBody>
          <a:bodyPr vert="horz" wrap="square" lIns="0" tIns="14758" rIns="0" bIns="0" rtlCol="0">
            <a:spAutoFit/>
          </a:bodyPr>
          <a:lstStyle/>
          <a:p>
            <a:pPr marL="46603">
              <a:spcBef>
                <a:spcPts val="117"/>
              </a:spcBef>
            </a:pPr>
            <a:r>
              <a:rPr sz="6000" b="1" i="1" baseline="-16865" dirty="0" smtClean="0">
                <a:latin typeface="Times New Roman"/>
                <a:cs typeface="Times New Roman"/>
              </a:rPr>
              <a:t>n</a:t>
            </a:r>
            <a:r>
              <a:rPr sz="2800" b="1" spc="6" dirty="0" smtClean="0">
                <a:latin typeface="Times New Roman"/>
                <a:cs typeface="Times New Roman"/>
              </a:rPr>
              <a:t>l</a:t>
            </a:r>
            <a:r>
              <a:rPr sz="2800" b="1" dirty="0" smtClean="0">
                <a:latin typeface="Times New Roman"/>
                <a:cs typeface="Times New Roman"/>
              </a:rPr>
              <a:t>o</a:t>
            </a:r>
            <a:r>
              <a:rPr sz="2800" b="1" spc="6" dirty="0" smtClean="0">
                <a:latin typeface="Times New Roman"/>
                <a:cs typeface="Times New Roman"/>
              </a:rPr>
              <a:t>g</a:t>
            </a:r>
            <a:r>
              <a:rPr sz="2400" b="1" spc="18" baseline="-18518" dirty="0" smtClean="0">
                <a:latin typeface="Times New Roman"/>
                <a:cs typeface="Times New Roman"/>
              </a:rPr>
              <a:t>3</a:t>
            </a:r>
            <a:r>
              <a:rPr sz="2800" b="1" spc="12" dirty="0" smtClean="0">
                <a:latin typeface="Times New Roman"/>
                <a:cs typeface="Times New Roman"/>
              </a:rPr>
              <a:t>9</a:t>
            </a:r>
            <a:r>
              <a:rPr sz="2300" b="1" dirty="0" smtClean="0">
                <a:latin typeface="Times New Roman"/>
                <a:cs typeface="Times New Roman"/>
              </a:rPr>
              <a:t> </a:t>
            </a:r>
            <a:r>
              <a:rPr sz="2300" b="1" spc="-269" dirty="0" smtClean="0">
                <a:latin typeface="Times New Roman"/>
                <a:cs typeface="Times New Roman"/>
              </a:rPr>
              <a:t> </a:t>
            </a:r>
            <a:r>
              <a:rPr sz="5100" b="1" spc="-8" baseline="-16865" dirty="0" smtClean="0">
                <a:latin typeface="Times New Roman"/>
                <a:cs typeface="Times New Roman"/>
              </a:rPr>
              <a:t>= </a:t>
            </a:r>
            <a:r>
              <a:rPr sz="5100" b="1" i="1" spc="-8" baseline="-16865" dirty="0" smtClean="0">
                <a:latin typeface="Times New Roman"/>
                <a:cs typeface="Times New Roman"/>
              </a:rPr>
              <a:t>n</a:t>
            </a:r>
            <a:r>
              <a:rPr sz="2300" b="1" spc="6" dirty="0" smtClean="0">
                <a:latin typeface="Times New Roman"/>
                <a:cs typeface="Times New Roman"/>
              </a:rPr>
              <a:t>2</a:t>
            </a:r>
            <a:r>
              <a:rPr sz="5100" b="1" spc="-8" baseline="-16865" dirty="0" smtClean="0">
                <a:latin typeface="Times New Roman"/>
                <a:cs typeface="Times New Roman"/>
              </a:rPr>
              <a:t>,</a:t>
            </a:r>
            <a:endParaRPr sz="5100" baseline="-16865" dirty="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865726" y="3814709"/>
            <a:ext cx="3503906" cy="538122"/>
          </a:xfrm>
          <a:prstGeom prst="rect">
            <a:avLst/>
          </a:prstGeom>
        </p:spPr>
        <p:txBody>
          <a:bodyPr vert="horz" wrap="square" lIns="0" tIns="14758" rIns="0" bIns="0" rtlCol="0">
            <a:spAutoFit/>
          </a:bodyPr>
          <a:lstStyle/>
          <a:p>
            <a:pPr marL="46603">
              <a:spcBef>
                <a:spcPts val="117"/>
              </a:spcBef>
            </a:pPr>
            <a:r>
              <a:rPr sz="3400" b="1" i="1" spc="-6" dirty="0" smtClean="0">
                <a:latin typeface="Times New Roman"/>
                <a:cs typeface="Times New Roman"/>
              </a:rPr>
              <a:t>f</a:t>
            </a:r>
            <a:r>
              <a:rPr sz="3400" b="1" i="1" spc="12" dirty="0" smtClean="0">
                <a:latin typeface="Times New Roman"/>
                <a:cs typeface="Times New Roman"/>
              </a:rPr>
              <a:t> </a:t>
            </a:r>
            <a:r>
              <a:rPr sz="3400" b="1" dirty="0" smtClean="0">
                <a:latin typeface="Times New Roman"/>
                <a:cs typeface="Times New Roman"/>
              </a:rPr>
              <a:t>(</a:t>
            </a:r>
            <a:r>
              <a:rPr sz="3400" b="1" i="1" spc="-6" dirty="0" smtClean="0">
                <a:latin typeface="Times New Roman"/>
                <a:cs typeface="Times New Roman"/>
              </a:rPr>
              <a:t>n</a:t>
            </a:r>
            <a:r>
              <a:rPr sz="3400" b="1" spc="-6" dirty="0" smtClean="0">
                <a:latin typeface="Times New Roman"/>
                <a:cs typeface="Times New Roman"/>
              </a:rPr>
              <a:t>) =</a:t>
            </a:r>
            <a:r>
              <a:rPr sz="3400" b="1" spc="6" dirty="0" smtClean="0">
                <a:latin typeface="Times New Roman"/>
                <a:cs typeface="Times New Roman"/>
              </a:rPr>
              <a:t> </a:t>
            </a:r>
            <a:r>
              <a:rPr sz="2800" b="1" i="1" spc="-12" dirty="0" smtClean="0">
                <a:latin typeface="Times New Roman"/>
                <a:cs typeface="Times New Roman"/>
              </a:rPr>
              <a:t>O</a:t>
            </a:r>
            <a:r>
              <a:rPr sz="2800" b="1" spc="-6" dirty="0" smtClean="0">
                <a:latin typeface="Times New Roman"/>
                <a:cs typeface="Times New Roman"/>
              </a:rPr>
              <a:t>(</a:t>
            </a:r>
            <a:r>
              <a:rPr sz="2800" b="1" i="1" spc="-6" dirty="0" smtClean="0">
                <a:latin typeface="Times New Roman"/>
                <a:cs typeface="Times New Roman"/>
              </a:rPr>
              <a:t>n</a:t>
            </a:r>
            <a:r>
              <a:rPr sz="2800" b="1" spc="8" baseline="25525" dirty="0" smtClean="0">
                <a:latin typeface="Times New Roman"/>
                <a:cs typeface="Times New Roman"/>
              </a:rPr>
              <a:t>l</a:t>
            </a:r>
            <a:r>
              <a:rPr sz="2800" b="1" baseline="25525" dirty="0" smtClean="0">
                <a:latin typeface="Times New Roman"/>
                <a:cs typeface="Times New Roman"/>
              </a:rPr>
              <a:t>o</a:t>
            </a:r>
            <a:r>
              <a:rPr sz="2800" b="1" spc="8" baseline="25525" dirty="0" smtClean="0">
                <a:latin typeface="Times New Roman"/>
                <a:cs typeface="Times New Roman"/>
              </a:rPr>
              <a:t>g</a:t>
            </a:r>
            <a:r>
              <a:rPr sz="1600" b="1" spc="18" baseline="26455" dirty="0" smtClean="0">
                <a:latin typeface="Times New Roman"/>
                <a:cs typeface="Times New Roman"/>
              </a:rPr>
              <a:t>3</a:t>
            </a:r>
            <a:r>
              <a:rPr sz="2800" b="1" spc="18" baseline="25525" dirty="0" smtClean="0">
                <a:latin typeface="Times New Roman"/>
                <a:cs typeface="Times New Roman"/>
              </a:rPr>
              <a:t>9</a:t>
            </a:r>
            <a:r>
              <a:rPr lang="en-US" altLang="zh-CN" sz="2800" b="1" spc="18" baseline="30000" dirty="0" smtClean="0">
                <a:solidFill>
                  <a:srgbClr val="C00000"/>
                </a:solidFill>
                <a:latin typeface="Times New Roman"/>
                <a:cs typeface="Times New Roman"/>
              </a:rPr>
              <a:t>-1</a:t>
            </a:r>
            <a:r>
              <a:rPr sz="3400" b="1" spc="-6" dirty="0" smtClean="0">
                <a:latin typeface="Times New Roman"/>
                <a:cs typeface="Times New Roman"/>
              </a:rPr>
              <a:t>)</a:t>
            </a:r>
            <a:endParaRPr sz="3400" dirty="0">
              <a:latin typeface="Times New Roman"/>
              <a:cs typeface="Times New Roman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object 24"/>
              <p:cNvSpPr txBox="1"/>
              <p:nvPr/>
            </p:nvSpPr>
            <p:spPr>
              <a:xfrm>
                <a:off x="1082380" y="4680934"/>
                <a:ext cx="7529775" cy="507345"/>
              </a:xfrm>
              <a:prstGeom prst="rect">
                <a:avLst/>
              </a:prstGeom>
            </p:spPr>
            <p:txBody>
              <a:bodyPr vert="horz" wrap="square" lIns="0" tIns="14758" rIns="0" bIns="0" rtlCol="0">
                <a:spAutoFit/>
              </a:bodyPr>
              <a:lstStyle/>
              <a:p>
                <a:pPr marL="15534">
                  <a:spcBef>
                    <a:spcPts val="117"/>
                  </a:spcBef>
                </a:pPr>
                <a:r>
                  <a:rPr sz="2800" b="1" dirty="0">
                    <a:latin typeface="黑体" pitchFamily="49" charset="-122"/>
                    <a:ea typeface="黑体" pitchFamily="49" charset="-122"/>
                    <a:cs typeface="宋体"/>
                  </a:rPr>
                  <a:t>相当于主定理</a:t>
                </a:r>
                <a:r>
                  <a:rPr sz="2800" b="1" spc="6" dirty="0">
                    <a:latin typeface="黑体" pitchFamily="49" charset="-122"/>
                    <a:ea typeface="黑体" pitchFamily="49" charset="-122"/>
                    <a:cs typeface="宋体"/>
                  </a:rPr>
                  <a:t>的</a:t>
                </a:r>
                <a:r>
                  <a:rPr sz="2800" b="1" spc="-6" dirty="0">
                    <a:latin typeface="黑体" pitchFamily="49" charset="-122"/>
                    <a:ea typeface="黑体" pitchFamily="49" charset="-122"/>
                    <a:cs typeface="Calibri"/>
                  </a:rPr>
                  <a:t>case1</a:t>
                </a:r>
                <a:r>
                  <a:rPr sz="2800" b="1" spc="-6" dirty="0">
                    <a:latin typeface="黑体" pitchFamily="49" charset="-122"/>
                    <a:ea typeface="黑体" pitchFamily="49" charset="-122"/>
                    <a:cs typeface="宋体"/>
                  </a:rPr>
                  <a:t>，其</a:t>
                </a:r>
                <a:r>
                  <a:rPr sz="2800" b="1" dirty="0">
                    <a:latin typeface="黑体" pitchFamily="49" charset="-122"/>
                    <a:ea typeface="黑体" pitchFamily="49" charset="-122"/>
                    <a:cs typeface="宋体"/>
                  </a:rPr>
                  <a:t>中</a:t>
                </a:r>
                <a14:m>
                  <m:oMath xmlns:m="http://schemas.openxmlformats.org/officeDocument/2006/math">
                    <m:r>
                      <a:rPr lang="zh-CN" altLang="en-US" sz="2800" b="1" i="1" dirty="0">
                        <a:latin typeface="Cambria Math" panose="02040503050406030204" pitchFamily="18" charset="0"/>
                      </a:rPr>
                      <m:t>𝜺</m:t>
                    </m:r>
                  </m:oMath>
                </a14:m>
                <a:r>
                  <a:rPr sz="2800" b="1" spc="-6" dirty="0">
                    <a:latin typeface="黑体" pitchFamily="49" charset="-122"/>
                    <a:ea typeface="黑体" pitchFamily="49" charset="-122"/>
                    <a:cs typeface="Calibri"/>
                  </a:rPr>
                  <a:t>=1</a:t>
                </a:r>
                <a:r>
                  <a:rPr sz="3200" b="1" spc="-6" dirty="0">
                    <a:latin typeface="Calibri"/>
                    <a:cs typeface="Calibri"/>
                  </a:rPr>
                  <a:t>.</a:t>
                </a:r>
                <a:endParaRPr sz="3200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24" name="object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2380" y="4680934"/>
                <a:ext cx="7529775" cy="507345"/>
              </a:xfrm>
              <a:prstGeom prst="rect">
                <a:avLst/>
              </a:prstGeom>
              <a:blipFill rotWithShape="1">
                <a:blip r:embed="rId4"/>
                <a:stretch>
                  <a:fillRect l="-2672" t="-21687" b="-4819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object 25"/>
          <p:cNvSpPr txBox="1"/>
          <p:nvPr/>
        </p:nvSpPr>
        <p:spPr>
          <a:xfrm>
            <a:off x="1082379" y="5301088"/>
            <a:ext cx="8845421" cy="446573"/>
          </a:xfrm>
          <a:prstGeom prst="rect">
            <a:avLst/>
          </a:prstGeom>
        </p:spPr>
        <p:txBody>
          <a:bodyPr vert="horz" wrap="square" lIns="0" tIns="15534" rIns="0" bIns="0" rtlCol="0">
            <a:spAutoFit/>
          </a:bodyPr>
          <a:lstStyle/>
          <a:p>
            <a:pPr marL="15534">
              <a:spcBef>
                <a:spcPts val="122"/>
              </a:spcBef>
            </a:pPr>
            <a:r>
              <a:rPr sz="2800" b="1" dirty="0">
                <a:latin typeface="黑体" pitchFamily="49" charset="-122"/>
                <a:ea typeface="黑体" pitchFamily="49" charset="-122"/>
                <a:cs typeface="宋体"/>
              </a:rPr>
              <a:t>根据定理得到</a:t>
            </a:r>
            <a:endParaRPr sz="2800" dirty="0">
              <a:latin typeface="黑体" pitchFamily="49" charset="-122"/>
              <a:ea typeface="黑体" pitchFamily="49" charset="-122"/>
              <a:cs typeface="宋体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3525643" y="5250561"/>
            <a:ext cx="4442721" cy="538122"/>
          </a:xfrm>
          <a:prstGeom prst="rect">
            <a:avLst/>
          </a:prstGeom>
        </p:spPr>
        <p:txBody>
          <a:bodyPr vert="horz" wrap="square" lIns="0" tIns="14758" rIns="0" bIns="0" rtlCol="0">
            <a:spAutoFit/>
          </a:bodyPr>
          <a:lstStyle/>
          <a:p>
            <a:pPr marL="46603">
              <a:spcBef>
                <a:spcPts val="117"/>
              </a:spcBef>
            </a:pPr>
            <a:r>
              <a:rPr sz="3200" b="1" i="1" dirty="0">
                <a:latin typeface="Times New Roman"/>
                <a:cs typeface="Times New Roman"/>
              </a:rPr>
              <a:t>T</a:t>
            </a:r>
            <a:r>
              <a:rPr sz="3200" b="1" dirty="0">
                <a:latin typeface="Times New Roman"/>
                <a:cs typeface="Times New Roman"/>
              </a:rPr>
              <a:t>(</a:t>
            </a:r>
            <a:r>
              <a:rPr sz="3200" b="1" i="1" dirty="0">
                <a:latin typeface="Times New Roman"/>
                <a:cs typeface="Times New Roman"/>
              </a:rPr>
              <a:t>n</a:t>
            </a:r>
            <a:r>
              <a:rPr sz="3200" b="1" dirty="0">
                <a:latin typeface="Times New Roman"/>
                <a:cs typeface="Times New Roman"/>
              </a:rPr>
              <a:t>) = </a:t>
            </a:r>
            <a:r>
              <a:rPr sz="3400" b="1" i="1" spc="-135" dirty="0">
                <a:latin typeface="Symbol"/>
                <a:cs typeface="Symbol"/>
              </a:rPr>
              <a:t></a:t>
            </a:r>
            <a:r>
              <a:rPr sz="3400" b="1" i="1" spc="-159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(</a:t>
            </a:r>
            <a:r>
              <a:rPr sz="3200" b="1" i="1" dirty="0">
                <a:latin typeface="Times New Roman"/>
                <a:cs typeface="Times New Roman"/>
              </a:rPr>
              <a:t>n</a:t>
            </a:r>
            <a:r>
              <a:rPr sz="3100" b="1" baseline="26143" dirty="0">
                <a:latin typeface="Times New Roman"/>
                <a:cs typeface="Times New Roman"/>
              </a:rPr>
              <a:t>2</a:t>
            </a:r>
            <a:r>
              <a:rPr sz="3200" b="1" dirty="0">
                <a:latin typeface="Times New Roman"/>
                <a:cs typeface="Times New Roman"/>
              </a:rPr>
              <a:t>)</a:t>
            </a:r>
            <a:endParaRPr sz="3200" dirty="0">
              <a:latin typeface="Times New Roman"/>
              <a:cs typeface="Times New Roman"/>
            </a:endParaRPr>
          </a:p>
        </p:txBody>
      </p:sp>
      <p:sp>
        <p:nvSpPr>
          <p:cNvPr id="27" name="object 20"/>
          <p:cNvSpPr txBox="1">
            <a:spLocks/>
          </p:cNvSpPr>
          <p:nvPr/>
        </p:nvSpPr>
        <p:spPr>
          <a:xfrm>
            <a:off x="516295" y="2360495"/>
            <a:ext cx="8938726" cy="1081230"/>
          </a:xfrm>
          <a:prstGeom prst="rect">
            <a:avLst/>
          </a:prstGeom>
        </p:spPr>
        <p:txBody>
          <a:bodyPr vert="horz" wrap="square" lIns="0" tIns="115733" rIns="0" bIns="0" rtlCol="0">
            <a:spAutoFit/>
          </a:bodyPr>
          <a:lstStyle>
            <a:lvl1pPr marL="182286" indent="-182286" algn="l" defTabSz="729143" rtl="0" eaLnBrk="1" latinLnBrk="0" hangingPunct="1">
              <a:lnSpc>
                <a:spcPct val="90000"/>
              </a:lnSpc>
              <a:spcBef>
                <a:spcPts val="797"/>
              </a:spcBef>
              <a:buFont typeface="Arial" panose="020B0604020202020204" pitchFamily="34" charset="0"/>
              <a:buChar char="•"/>
              <a:defRPr sz="22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6857" indent="-182286" algn="l" defTabSz="729143" rtl="0" eaLnBrk="1" latinLnBrk="0" hangingPunct="1">
              <a:lnSpc>
                <a:spcPct val="90000"/>
              </a:lnSpc>
              <a:spcBef>
                <a:spcPts val="399"/>
              </a:spcBef>
              <a:buFont typeface="Arial" panose="020B0604020202020204" pitchFamily="34" charset="0"/>
              <a:buChar char="•"/>
              <a:defRPr sz="19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1428" indent="-182286" algn="l" defTabSz="729143" rtl="0" eaLnBrk="1" latinLnBrk="0" hangingPunct="1">
              <a:lnSpc>
                <a:spcPct val="90000"/>
              </a:lnSpc>
              <a:spcBef>
                <a:spcPts val="399"/>
              </a:spcBef>
              <a:buFont typeface="Arial" panose="020B0604020202020204" pitchFamily="34" charset="0"/>
              <a:buChar char="•"/>
              <a:defRPr sz="15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75999" indent="-182286" algn="l" defTabSz="729143" rtl="0" eaLnBrk="1" latinLnBrk="0" hangingPunct="1">
              <a:lnSpc>
                <a:spcPct val="90000"/>
              </a:lnSpc>
              <a:spcBef>
                <a:spcPts val="399"/>
              </a:spcBef>
              <a:buFont typeface="Arial" panose="020B0604020202020204" pitchFamily="34" charset="0"/>
              <a:buChar char="•"/>
              <a:defRPr sz="143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40571" indent="-182286" algn="l" defTabSz="729143" rtl="0" eaLnBrk="1" latinLnBrk="0" hangingPunct="1">
              <a:lnSpc>
                <a:spcPct val="90000"/>
              </a:lnSpc>
              <a:spcBef>
                <a:spcPts val="399"/>
              </a:spcBef>
              <a:buFont typeface="Arial" panose="020B0604020202020204" pitchFamily="34" charset="0"/>
              <a:buChar char="•"/>
              <a:defRPr sz="143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05142" indent="-182286" algn="l" defTabSz="729143" rtl="0" eaLnBrk="1" latinLnBrk="0" hangingPunct="1">
              <a:lnSpc>
                <a:spcPct val="90000"/>
              </a:lnSpc>
              <a:spcBef>
                <a:spcPts val="399"/>
              </a:spcBef>
              <a:buFont typeface="Arial" panose="020B0604020202020204" pitchFamily="34" charset="0"/>
              <a:buChar char="•"/>
              <a:defRPr sz="143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369713" indent="-182286" algn="l" defTabSz="729143" rtl="0" eaLnBrk="1" latinLnBrk="0" hangingPunct="1">
              <a:lnSpc>
                <a:spcPct val="90000"/>
              </a:lnSpc>
              <a:spcBef>
                <a:spcPts val="399"/>
              </a:spcBef>
              <a:buFont typeface="Arial" panose="020B0604020202020204" pitchFamily="34" charset="0"/>
              <a:buChar char="•"/>
              <a:defRPr sz="143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34285" indent="-182286" algn="l" defTabSz="729143" rtl="0" eaLnBrk="1" latinLnBrk="0" hangingPunct="1">
              <a:lnSpc>
                <a:spcPct val="90000"/>
              </a:lnSpc>
              <a:spcBef>
                <a:spcPts val="399"/>
              </a:spcBef>
              <a:buFont typeface="Arial" panose="020B0604020202020204" pitchFamily="34" charset="0"/>
              <a:buChar char="•"/>
              <a:defRPr sz="143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098856" indent="-182286" algn="l" defTabSz="729143" rtl="0" eaLnBrk="1" latinLnBrk="0" hangingPunct="1">
              <a:lnSpc>
                <a:spcPct val="90000"/>
              </a:lnSpc>
              <a:spcBef>
                <a:spcPts val="399"/>
              </a:spcBef>
              <a:buFont typeface="Arial" panose="020B0604020202020204" pitchFamily="34" charset="0"/>
              <a:buChar char="•"/>
              <a:defRPr sz="143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5534">
              <a:lnSpc>
                <a:spcPct val="100000"/>
              </a:lnSpc>
              <a:spcBef>
                <a:spcPts val="1883"/>
              </a:spcBef>
            </a:pPr>
            <a:r>
              <a:rPr lang="zh-CN" altLang="en-US" sz="2800" b="1" spc="-12" dirty="0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解</a:t>
            </a:r>
            <a:r>
              <a:rPr lang="zh-CN" altLang="en-US" sz="2800" b="1" spc="-183" dirty="0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</a:t>
            </a:r>
            <a:r>
              <a:rPr lang="zh-CN" altLang="en-US" sz="2800" b="1" dirty="0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上述递推方程中的</a:t>
            </a:r>
          </a:p>
          <a:p>
            <a:pPr marL="265101" indent="0">
              <a:lnSpc>
                <a:spcPct val="100000"/>
              </a:lnSpc>
              <a:spcBef>
                <a:spcPts val="795"/>
              </a:spcBef>
              <a:buFont typeface="Arial" panose="020B0604020202020204" pitchFamily="34" charset="0"/>
              <a:buNone/>
            </a:pPr>
            <a:r>
              <a:rPr lang="zh-CN" altLang="en-US" sz="2800" i="1" spc="-6" dirty="0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                           </a:t>
            </a:r>
            <a:r>
              <a:rPr lang="en-US" sz="2800" b="1" i="1" spc="-6" dirty="0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a </a:t>
            </a:r>
            <a:r>
              <a:rPr lang="en-US" sz="2800" b="1" spc="-6" dirty="0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= </a:t>
            </a:r>
            <a:r>
              <a:rPr lang="en-US" sz="2800" b="1" spc="-12" dirty="0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9，</a:t>
            </a:r>
            <a:r>
              <a:rPr lang="en-US" sz="2800" b="1" spc="-869" dirty="0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</a:t>
            </a:r>
            <a:r>
              <a:rPr lang="en-US" sz="2800" b="1" i="1" spc="-6" dirty="0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b </a:t>
            </a:r>
            <a:r>
              <a:rPr lang="en-US" sz="2800" b="1" spc="-6" dirty="0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= </a:t>
            </a:r>
            <a:r>
              <a:rPr lang="en-US" sz="2800" b="1" dirty="0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3，</a:t>
            </a:r>
            <a:r>
              <a:rPr lang="en-US" sz="2800" b="1" i="1" dirty="0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f </a:t>
            </a:r>
            <a:r>
              <a:rPr lang="en-US" sz="2800" b="1" spc="-6" dirty="0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(</a:t>
            </a:r>
            <a:r>
              <a:rPr lang="en-US" sz="2800" b="1" i="1" spc="-6" dirty="0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n</a:t>
            </a:r>
            <a:r>
              <a:rPr lang="en-US" sz="2800" b="1" spc="-6" dirty="0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) = </a:t>
            </a:r>
            <a:r>
              <a:rPr lang="en-US" sz="2800" b="1" i="1" spc="-6" dirty="0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n</a:t>
            </a:r>
            <a:endParaRPr lang="en-US" sz="2800" b="1" dirty="0">
              <a:latin typeface="Times New Roman" pitchFamily="18" charset="0"/>
              <a:ea typeface="黑体" pitchFamily="49" charset="-122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33571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2" grpId="0"/>
      <p:bldP spid="24" grpId="0"/>
      <p:bldP spid="25" grpId="0"/>
      <p:bldP spid="26" grpId="0"/>
      <p:bldP spid="27" grpId="0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200648" y="0"/>
            <a:ext cx="197677" cy="21696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200"/>
          </a:p>
        </p:txBody>
      </p:sp>
      <p:sp>
        <p:nvSpPr>
          <p:cNvPr id="3" name="object 3"/>
          <p:cNvSpPr/>
          <p:nvPr/>
        </p:nvSpPr>
        <p:spPr>
          <a:xfrm>
            <a:off x="1226572" y="0"/>
            <a:ext cx="199298" cy="24960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200"/>
          </a:p>
        </p:txBody>
      </p:sp>
      <p:sp>
        <p:nvSpPr>
          <p:cNvPr id="4" name="object 4"/>
          <p:cNvSpPr/>
          <p:nvPr/>
        </p:nvSpPr>
        <p:spPr>
          <a:xfrm>
            <a:off x="1200648" y="0"/>
            <a:ext cx="197677" cy="21696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200"/>
          </a:p>
        </p:txBody>
      </p:sp>
      <p:sp>
        <p:nvSpPr>
          <p:cNvPr id="5" name="object 5"/>
          <p:cNvSpPr/>
          <p:nvPr/>
        </p:nvSpPr>
        <p:spPr>
          <a:xfrm>
            <a:off x="1226572" y="0"/>
            <a:ext cx="199298" cy="24960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200"/>
          </a:p>
        </p:txBody>
      </p:sp>
      <p:sp>
        <p:nvSpPr>
          <p:cNvPr id="6" name="object 6"/>
          <p:cNvSpPr/>
          <p:nvPr/>
        </p:nvSpPr>
        <p:spPr>
          <a:xfrm>
            <a:off x="1200648" y="0"/>
            <a:ext cx="197677" cy="21696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200"/>
          </a:p>
        </p:txBody>
      </p:sp>
      <p:sp>
        <p:nvSpPr>
          <p:cNvPr id="7" name="object 7"/>
          <p:cNvSpPr/>
          <p:nvPr/>
        </p:nvSpPr>
        <p:spPr>
          <a:xfrm>
            <a:off x="1226572" y="0"/>
            <a:ext cx="199298" cy="24960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200"/>
          </a:p>
        </p:txBody>
      </p:sp>
      <p:sp>
        <p:nvSpPr>
          <p:cNvPr id="8" name="object 8"/>
          <p:cNvSpPr/>
          <p:nvPr/>
        </p:nvSpPr>
        <p:spPr>
          <a:xfrm>
            <a:off x="1200648" y="0"/>
            <a:ext cx="197677" cy="21696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200"/>
          </a:p>
        </p:txBody>
      </p:sp>
      <p:sp>
        <p:nvSpPr>
          <p:cNvPr id="9" name="object 9"/>
          <p:cNvSpPr/>
          <p:nvPr/>
        </p:nvSpPr>
        <p:spPr>
          <a:xfrm>
            <a:off x="1226572" y="0"/>
            <a:ext cx="199298" cy="24960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200"/>
          </a:p>
        </p:txBody>
      </p:sp>
      <p:sp>
        <p:nvSpPr>
          <p:cNvPr id="10" name="object 10"/>
          <p:cNvSpPr/>
          <p:nvPr/>
        </p:nvSpPr>
        <p:spPr>
          <a:xfrm>
            <a:off x="1200648" y="0"/>
            <a:ext cx="197677" cy="21696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200"/>
          </a:p>
        </p:txBody>
      </p:sp>
      <p:sp>
        <p:nvSpPr>
          <p:cNvPr id="11" name="object 11"/>
          <p:cNvSpPr/>
          <p:nvPr/>
        </p:nvSpPr>
        <p:spPr>
          <a:xfrm>
            <a:off x="1226572" y="0"/>
            <a:ext cx="199298" cy="24960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200"/>
          </a:p>
        </p:txBody>
      </p:sp>
      <p:sp>
        <p:nvSpPr>
          <p:cNvPr id="12" name="object 12"/>
          <p:cNvSpPr/>
          <p:nvPr/>
        </p:nvSpPr>
        <p:spPr>
          <a:xfrm>
            <a:off x="1200648" y="0"/>
            <a:ext cx="197677" cy="21696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200"/>
          </a:p>
        </p:txBody>
      </p:sp>
      <p:sp>
        <p:nvSpPr>
          <p:cNvPr id="13" name="object 13"/>
          <p:cNvSpPr/>
          <p:nvPr/>
        </p:nvSpPr>
        <p:spPr>
          <a:xfrm>
            <a:off x="1226572" y="0"/>
            <a:ext cx="199298" cy="24960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200"/>
          </a:p>
        </p:txBody>
      </p:sp>
      <p:sp>
        <p:nvSpPr>
          <p:cNvPr id="14" name="object 14"/>
          <p:cNvSpPr/>
          <p:nvPr/>
        </p:nvSpPr>
        <p:spPr>
          <a:xfrm>
            <a:off x="1200648" y="0"/>
            <a:ext cx="197677" cy="21696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200"/>
          </a:p>
        </p:txBody>
      </p:sp>
      <p:sp>
        <p:nvSpPr>
          <p:cNvPr id="15" name="object 15"/>
          <p:cNvSpPr/>
          <p:nvPr/>
        </p:nvSpPr>
        <p:spPr>
          <a:xfrm>
            <a:off x="1226572" y="0"/>
            <a:ext cx="199298" cy="24960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200"/>
          </a:p>
        </p:txBody>
      </p:sp>
      <p:sp>
        <p:nvSpPr>
          <p:cNvPr id="16" name="object 16"/>
          <p:cNvSpPr/>
          <p:nvPr/>
        </p:nvSpPr>
        <p:spPr>
          <a:xfrm>
            <a:off x="1200648" y="0"/>
            <a:ext cx="197677" cy="21696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200"/>
          </a:p>
        </p:txBody>
      </p:sp>
      <p:sp>
        <p:nvSpPr>
          <p:cNvPr id="17" name="object 17"/>
          <p:cNvSpPr/>
          <p:nvPr/>
        </p:nvSpPr>
        <p:spPr>
          <a:xfrm>
            <a:off x="1226572" y="0"/>
            <a:ext cx="199298" cy="24960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200"/>
          </a:p>
        </p:txBody>
      </p:sp>
      <p:sp>
        <p:nvSpPr>
          <p:cNvPr id="18" name="object 18"/>
          <p:cNvSpPr txBox="1">
            <a:spLocks noGrp="1"/>
          </p:cNvSpPr>
          <p:nvPr>
            <p:ph type="title" idx="4294967295"/>
          </p:nvPr>
        </p:nvSpPr>
        <p:spPr>
          <a:xfrm>
            <a:off x="438539" y="216570"/>
            <a:ext cx="8854751" cy="692011"/>
          </a:xfrm>
          <a:prstGeom prst="rect">
            <a:avLst/>
          </a:prstGeom>
        </p:spPr>
        <p:txBody>
          <a:bodyPr vert="horz" wrap="square" lIns="0" tIns="14758" rIns="0" bIns="0" rtlCol="0" anchor="ctr">
            <a:spAutoFit/>
          </a:bodyPr>
          <a:lstStyle/>
          <a:p>
            <a:pPr marL="15534" algn="ctr">
              <a:lnSpc>
                <a:spcPct val="100000"/>
              </a:lnSpc>
              <a:spcBef>
                <a:spcPts val="117"/>
              </a:spcBef>
            </a:pPr>
            <a:r>
              <a:rPr sz="4400" b="1" spc="-12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求解递推方程：</a:t>
            </a:r>
            <a:r>
              <a:rPr sz="4400" b="1" spc="-25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例2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391886" y="1193506"/>
            <a:ext cx="8901404" cy="1081230"/>
          </a:xfrm>
          <a:prstGeom prst="rect">
            <a:avLst/>
          </a:prstGeom>
        </p:spPr>
        <p:txBody>
          <a:bodyPr vert="horz" wrap="square" lIns="0" tIns="115733" rIns="0" bIns="0" rtlCol="0">
            <a:spAutoFit/>
          </a:bodyPr>
          <a:lstStyle/>
          <a:p>
            <a:pPr marL="62137">
              <a:spcBef>
                <a:spcPts val="911"/>
              </a:spcBef>
              <a:tabLst>
                <a:tab pos="852054" algn="l"/>
              </a:tabLst>
            </a:pPr>
            <a:r>
              <a:rPr sz="2800" b="1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  <a:cs typeface="宋体"/>
              </a:rPr>
              <a:t>例</a:t>
            </a:r>
            <a:r>
              <a:rPr sz="2800" b="1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  <a:cs typeface="Calibri"/>
              </a:rPr>
              <a:t>2	</a:t>
            </a:r>
            <a:r>
              <a:rPr sz="2800" b="1" dirty="0">
                <a:latin typeface="黑体" pitchFamily="49" charset="-122"/>
                <a:ea typeface="黑体" pitchFamily="49" charset="-122"/>
                <a:cs typeface="宋体"/>
              </a:rPr>
              <a:t>求解递推方程</a:t>
            </a:r>
            <a:endParaRPr sz="2800" dirty="0">
              <a:latin typeface="黑体" pitchFamily="49" charset="-122"/>
              <a:ea typeface="黑体" pitchFamily="49" charset="-122"/>
              <a:cs typeface="宋体"/>
            </a:endParaRPr>
          </a:p>
          <a:p>
            <a:pPr marL="766615">
              <a:spcBef>
                <a:spcPts val="795"/>
              </a:spcBef>
            </a:pPr>
            <a:r>
              <a:rPr lang="en-US" sz="2800" b="1" i="1" dirty="0" smtClean="0">
                <a:latin typeface="Times New Roman"/>
                <a:cs typeface="Times New Roman"/>
              </a:rPr>
              <a:t>                         </a:t>
            </a:r>
            <a:r>
              <a:rPr sz="2800" b="1" i="1" dirty="0" smtClean="0">
                <a:latin typeface="Times New Roman"/>
                <a:cs typeface="Times New Roman"/>
              </a:rPr>
              <a:t>T</a:t>
            </a:r>
            <a:r>
              <a:rPr sz="2800" b="1" dirty="0" smtClean="0">
                <a:latin typeface="Times New Roman"/>
                <a:cs typeface="Times New Roman"/>
              </a:rPr>
              <a:t>(</a:t>
            </a:r>
            <a:r>
              <a:rPr sz="2800" b="1" i="1" dirty="0" smtClean="0">
                <a:latin typeface="Times New Roman"/>
                <a:cs typeface="Times New Roman"/>
              </a:rPr>
              <a:t>n</a:t>
            </a:r>
            <a:r>
              <a:rPr sz="2800" b="1" dirty="0">
                <a:latin typeface="Times New Roman"/>
                <a:cs typeface="Times New Roman"/>
              </a:rPr>
              <a:t>) = </a:t>
            </a:r>
            <a:r>
              <a:rPr sz="2800" b="1" i="1" dirty="0">
                <a:latin typeface="Times New Roman"/>
                <a:cs typeface="Times New Roman"/>
              </a:rPr>
              <a:t>T</a:t>
            </a:r>
            <a:r>
              <a:rPr sz="2800" b="1" dirty="0">
                <a:latin typeface="Times New Roman"/>
                <a:cs typeface="Times New Roman"/>
              </a:rPr>
              <a:t>(2</a:t>
            </a:r>
            <a:r>
              <a:rPr sz="2800" b="1" i="1" dirty="0">
                <a:latin typeface="Times New Roman"/>
                <a:cs typeface="Times New Roman"/>
              </a:rPr>
              <a:t>n</a:t>
            </a:r>
            <a:r>
              <a:rPr sz="2800" b="1" dirty="0">
                <a:latin typeface="Times New Roman"/>
                <a:cs typeface="Times New Roman"/>
              </a:rPr>
              <a:t>/3) +</a:t>
            </a:r>
            <a:r>
              <a:rPr sz="2800" b="1" spc="-73" dirty="0">
                <a:latin typeface="Times New Roman"/>
                <a:cs typeface="Times New Roman"/>
              </a:rPr>
              <a:t> </a:t>
            </a:r>
            <a:r>
              <a:rPr sz="2800" b="1" dirty="0" smtClean="0">
                <a:latin typeface="Times New Roman"/>
                <a:cs typeface="Times New Roman"/>
              </a:rPr>
              <a:t>1</a:t>
            </a:r>
            <a:endParaRPr sz="2800" dirty="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017063" y="5146580"/>
            <a:ext cx="7958986" cy="507345"/>
          </a:xfrm>
          <a:prstGeom prst="rect">
            <a:avLst/>
          </a:prstGeom>
        </p:spPr>
        <p:txBody>
          <a:bodyPr vert="horz" wrap="square" lIns="0" tIns="14758" rIns="0" bIns="0" rtlCol="0">
            <a:spAutoFit/>
          </a:bodyPr>
          <a:lstStyle/>
          <a:p>
            <a:pPr marL="15534">
              <a:spcBef>
                <a:spcPts val="117"/>
              </a:spcBef>
            </a:pPr>
            <a:r>
              <a:rPr sz="2800" b="1" dirty="0">
                <a:latin typeface="黑体" pitchFamily="49" charset="-122"/>
                <a:ea typeface="黑体" pitchFamily="49" charset="-122"/>
                <a:cs typeface="宋体"/>
              </a:rPr>
              <a:t>根据定理得</a:t>
            </a:r>
            <a:r>
              <a:rPr sz="2800" b="1" spc="-12" dirty="0">
                <a:latin typeface="黑体" pitchFamily="49" charset="-122"/>
                <a:ea typeface="黑体" pitchFamily="49" charset="-122"/>
                <a:cs typeface="宋体"/>
              </a:rPr>
              <a:t>到</a:t>
            </a:r>
            <a:r>
              <a:rPr sz="3200" b="1" spc="-55" dirty="0">
                <a:latin typeface="宋体"/>
                <a:cs typeface="宋体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T</a:t>
            </a:r>
            <a:r>
              <a:rPr sz="2800" b="1" dirty="0">
                <a:latin typeface="Times New Roman"/>
                <a:cs typeface="Times New Roman"/>
              </a:rPr>
              <a:t>(</a:t>
            </a:r>
            <a:r>
              <a:rPr sz="2800" b="1" i="1" dirty="0">
                <a:latin typeface="Times New Roman"/>
                <a:cs typeface="Times New Roman"/>
              </a:rPr>
              <a:t>n</a:t>
            </a:r>
            <a:r>
              <a:rPr sz="2800" b="1" dirty="0">
                <a:latin typeface="Times New Roman"/>
                <a:cs typeface="Times New Roman"/>
              </a:rPr>
              <a:t>)</a:t>
            </a:r>
            <a:r>
              <a:rPr sz="2800" b="1" spc="-3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=</a:t>
            </a:r>
            <a:r>
              <a:rPr sz="2800" b="1" spc="-12" dirty="0">
                <a:latin typeface="Times New Roman"/>
                <a:cs typeface="Times New Roman"/>
              </a:rPr>
              <a:t> </a:t>
            </a:r>
            <a:r>
              <a:rPr sz="2800" b="1" i="1" spc="-135" dirty="0">
                <a:latin typeface="Symbol"/>
                <a:cs typeface="Symbol"/>
              </a:rPr>
              <a:t></a:t>
            </a:r>
            <a:r>
              <a:rPr sz="2800" b="1" i="1" spc="-67" dirty="0">
                <a:latin typeface="Times New Roman"/>
                <a:cs typeface="Times New Roman"/>
              </a:rPr>
              <a:t> </a:t>
            </a:r>
            <a:r>
              <a:rPr sz="2800" b="1" dirty="0" smtClean="0">
                <a:latin typeface="Times New Roman"/>
                <a:cs typeface="Times New Roman"/>
              </a:rPr>
              <a:t>(</a:t>
            </a:r>
            <a:r>
              <a:rPr sz="2800" b="1" spc="-6" dirty="0" err="1" smtClean="0">
                <a:latin typeface="Times New Roman"/>
                <a:cs typeface="Times New Roman"/>
              </a:rPr>
              <a:t>log</a:t>
            </a:r>
            <a:r>
              <a:rPr sz="2800" b="1" i="1" dirty="0" err="1" smtClean="0">
                <a:latin typeface="Times New Roman"/>
                <a:cs typeface="Times New Roman"/>
              </a:rPr>
              <a:t>n</a:t>
            </a:r>
            <a:r>
              <a:rPr sz="2800" b="1" dirty="0">
                <a:latin typeface="Times New Roman"/>
                <a:cs typeface="Times New Roman"/>
              </a:rPr>
              <a:t>)</a:t>
            </a:r>
            <a:endParaRPr sz="2800" dirty="0">
              <a:latin typeface="Times New Roman"/>
              <a:cs typeface="Times New Roman"/>
            </a:endParaRPr>
          </a:p>
        </p:txBody>
      </p:sp>
      <p:sp>
        <p:nvSpPr>
          <p:cNvPr id="22" name="object 20"/>
          <p:cNvSpPr txBox="1"/>
          <p:nvPr/>
        </p:nvSpPr>
        <p:spPr>
          <a:xfrm>
            <a:off x="428951" y="2274736"/>
            <a:ext cx="8901404" cy="1112007"/>
          </a:xfrm>
          <a:prstGeom prst="rect">
            <a:avLst/>
          </a:prstGeom>
        </p:spPr>
        <p:txBody>
          <a:bodyPr vert="horz" wrap="square" lIns="0" tIns="115733" rIns="0" bIns="0" rtlCol="0">
            <a:spAutoFit/>
          </a:bodyPr>
          <a:lstStyle/>
          <a:p>
            <a:pPr marL="62137">
              <a:spcBef>
                <a:spcPts val="2587"/>
              </a:spcBef>
            </a:pPr>
            <a:r>
              <a:rPr sz="2800" b="1" spc="-12" dirty="0" smtClean="0">
                <a:latin typeface="黑体" pitchFamily="49" charset="-122"/>
                <a:ea typeface="黑体" pitchFamily="49" charset="-122"/>
                <a:cs typeface="宋体"/>
              </a:rPr>
              <a:t>解</a:t>
            </a:r>
            <a:r>
              <a:rPr sz="2800" b="1" spc="-183" dirty="0" smtClean="0">
                <a:latin typeface="黑体" pitchFamily="49" charset="-122"/>
                <a:ea typeface="黑体" pitchFamily="49" charset="-122"/>
                <a:cs typeface="宋体"/>
              </a:rPr>
              <a:t> </a:t>
            </a:r>
            <a:r>
              <a:rPr sz="2800" b="1" dirty="0">
                <a:latin typeface="黑体" pitchFamily="49" charset="-122"/>
                <a:ea typeface="黑体" pitchFamily="49" charset="-122"/>
                <a:cs typeface="宋体"/>
              </a:rPr>
              <a:t>上述递推方程中的</a:t>
            </a:r>
            <a:endParaRPr sz="2800" dirty="0">
              <a:latin typeface="黑体" pitchFamily="49" charset="-122"/>
              <a:ea typeface="黑体" pitchFamily="49" charset="-122"/>
              <a:cs typeface="宋体"/>
            </a:endParaRPr>
          </a:p>
          <a:p>
            <a:pPr marL="587194">
              <a:lnSpc>
                <a:spcPts val="3682"/>
              </a:lnSpc>
              <a:spcBef>
                <a:spcPts val="734"/>
              </a:spcBef>
              <a:tabLst>
                <a:tab pos="3160444" algn="l"/>
              </a:tabLst>
            </a:pPr>
            <a:r>
              <a:rPr lang="en-US" sz="2800" b="1" i="1" spc="-177" dirty="0" smtClean="0">
                <a:uFill>
                  <a:solidFill>
                    <a:srgbClr val="C00000"/>
                  </a:solidFill>
                </a:uFill>
                <a:latin typeface="Times New Roman"/>
                <a:cs typeface="Times New Roman"/>
              </a:rPr>
              <a:t>                                 </a:t>
            </a:r>
            <a:r>
              <a:rPr sz="2800" b="1" i="1" spc="-177" dirty="0" smtClean="0">
                <a:uFill>
                  <a:solidFill>
                    <a:srgbClr val="C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800" b="1" i="1" dirty="0">
                <a:uFill>
                  <a:solidFill>
                    <a:srgbClr val="C00000"/>
                  </a:solidFill>
                </a:uFill>
                <a:latin typeface="Times New Roman"/>
                <a:cs typeface="Times New Roman"/>
              </a:rPr>
              <a:t>a </a:t>
            </a:r>
            <a:r>
              <a:rPr sz="2800" b="1" dirty="0">
                <a:uFill>
                  <a:solidFill>
                    <a:srgbClr val="C00000"/>
                  </a:solidFill>
                </a:uFill>
                <a:latin typeface="Times New Roman"/>
                <a:cs typeface="Times New Roman"/>
              </a:rPr>
              <a:t>= 1, </a:t>
            </a:r>
            <a:r>
              <a:rPr sz="2800" b="1" i="1" dirty="0">
                <a:uFill>
                  <a:solidFill>
                    <a:srgbClr val="C00000"/>
                  </a:solidFill>
                </a:uFill>
                <a:latin typeface="Times New Roman"/>
                <a:cs typeface="Times New Roman"/>
              </a:rPr>
              <a:t>b </a:t>
            </a:r>
            <a:r>
              <a:rPr sz="2800" b="1" dirty="0">
                <a:uFill>
                  <a:solidFill>
                    <a:srgbClr val="C00000"/>
                  </a:solidFill>
                </a:uFill>
                <a:latin typeface="Times New Roman"/>
                <a:cs typeface="Times New Roman"/>
              </a:rPr>
              <a:t>=</a:t>
            </a:r>
            <a:r>
              <a:rPr sz="2800" b="1" spc="6" dirty="0">
                <a:uFill>
                  <a:solidFill>
                    <a:srgbClr val="C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800" b="1" dirty="0">
                <a:uFill>
                  <a:solidFill>
                    <a:srgbClr val="C00000"/>
                  </a:solidFill>
                </a:uFill>
                <a:latin typeface="Times New Roman"/>
                <a:cs typeface="Times New Roman"/>
              </a:rPr>
              <a:t>3/2</a:t>
            </a:r>
            <a:r>
              <a:rPr sz="2800" b="1" dirty="0" smtClean="0">
                <a:uFill>
                  <a:solidFill>
                    <a:srgbClr val="C00000"/>
                  </a:solidFill>
                </a:uFill>
                <a:latin typeface="Times New Roman"/>
                <a:cs typeface="Times New Roman"/>
              </a:rPr>
              <a:t>, </a:t>
            </a:r>
            <a:r>
              <a:rPr sz="2800" b="1" i="1" spc="-6" dirty="0" smtClean="0">
                <a:uFill>
                  <a:solidFill>
                    <a:srgbClr val="C00000"/>
                  </a:solidFill>
                </a:uFill>
                <a:latin typeface="Times New Roman"/>
                <a:cs typeface="Times New Roman"/>
              </a:rPr>
              <a:t>f</a:t>
            </a:r>
            <a:r>
              <a:rPr sz="2800" b="1" spc="-6" dirty="0" smtClean="0">
                <a:uFill>
                  <a:solidFill>
                    <a:srgbClr val="C00000"/>
                  </a:solidFill>
                </a:uFill>
                <a:latin typeface="Times New Roman"/>
                <a:cs typeface="Times New Roman"/>
              </a:rPr>
              <a:t>(</a:t>
            </a:r>
            <a:r>
              <a:rPr sz="2800" b="1" i="1" spc="-6" dirty="0" smtClean="0">
                <a:uFill>
                  <a:solidFill>
                    <a:srgbClr val="C00000"/>
                  </a:solidFill>
                </a:uFill>
                <a:latin typeface="Times New Roman"/>
                <a:cs typeface="Times New Roman"/>
              </a:rPr>
              <a:t>n</a:t>
            </a:r>
            <a:r>
              <a:rPr sz="2800" b="1" spc="-6" dirty="0">
                <a:uFill>
                  <a:solidFill>
                    <a:srgbClr val="C00000"/>
                  </a:solidFill>
                </a:uFill>
                <a:latin typeface="Times New Roman"/>
                <a:cs typeface="Times New Roman"/>
              </a:rPr>
              <a:t>) </a:t>
            </a:r>
            <a:r>
              <a:rPr sz="2800" b="1" dirty="0">
                <a:uFill>
                  <a:solidFill>
                    <a:srgbClr val="C00000"/>
                  </a:solidFill>
                </a:uFill>
                <a:latin typeface="Times New Roman"/>
                <a:cs typeface="Times New Roman"/>
              </a:rPr>
              <a:t>=</a:t>
            </a:r>
            <a:r>
              <a:rPr sz="2800" b="1" spc="-92" dirty="0">
                <a:uFill>
                  <a:solidFill>
                    <a:srgbClr val="C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800" b="1" dirty="0">
                <a:uFill>
                  <a:solidFill>
                    <a:srgbClr val="C00000"/>
                  </a:solidFill>
                </a:uFill>
                <a:latin typeface="Times New Roman"/>
                <a:cs typeface="Times New Roman"/>
              </a:rPr>
              <a:t>1</a:t>
            </a:r>
            <a:r>
              <a:rPr sz="2800" b="1" dirty="0" smtClean="0">
                <a:latin typeface="宋体"/>
                <a:cs typeface="宋体"/>
              </a:rPr>
              <a:t>，</a:t>
            </a:r>
            <a:endParaRPr sz="2800" dirty="0">
              <a:latin typeface="宋体"/>
              <a:cs typeface="宋体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889279" y="4592996"/>
            <a:ext cx="402687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62137">
              <a:spcBef>
                <a:spcPts val="2471"/>
              </a:spcBef>
            </a:pPr>
            <a:r>
              <a:rPr lang="zh-CN" altLang="en-US" sz="2800" b="1" dirty="0">
                <a:latin typeface="黑体" pitchFamily="49" charset="-122"/>
                <a:ea typeface="黑体" pitchFamily="49" charset="-122"/>
                <a:cs typeface="宋体"/>
              </a:rPr>
              <a:t>相当于主定理</a:t>
            </a:r>
            <a:r>
              <a:rPr lang="zh-CN" altLang="en-US" sz="2800" b="1" spc="6" dirty="0">
                <a:latin typeface="黑体" pitchFamily="49" charset="-122"/>
                <a:ea typeface="黑体" pitchFamily="49" charset="-122"/>
                <a:cs typeface="宋体"/>
              </a:rPr>
              <a:t>的</a:t>
            </a:r>
            <a:r>
              <a:rPr lang="en-US" altLang="zh-CN" sz="2800" b="1" spc="-6" dirty="0">
                <a:latin typeface="黑体" pitchFamily="49" charset="-122"/>
                <a:ea typeface="黑体" pitchFamily="49" charset="-122"/>
                <a:cs typeface="Calibri"/>
              </a:rPr>
              <a:t>Case2</a:t>
            </a:r>
            <a:r>
              <a:rPr lang="en-US" altLang="zh-CN" sz="2800" b="1" spc="-80" dirty="0">
                <a:latin typeface="黑体" pitchFamily="49" charset="-122"/>
                <a:ea typeface="黑体" pitchFamily="49" charset="-122"/>
                <a:cs typeface="Calibri"/>
              </a:rPr>
              <a:t> </a:t>
            </a:r>
            <a:r>
              <a:rPr lang="en-US" altLang="zh-CN" sz="2800" b="1" dirty="0">
                <a:latin typeface="黑体" pitchFamily="49" charset="-122"/>
                <a:ea typeface="黑体" pitchFamily="49" charset="-122"/>
                <a:cs typeface="Calibri"/>
              </a:rPr>
              <a:t>.</a:t>
            </a:r>
            <a:endParaRPr lang="en-US" altLang="zh-CN" sz="2800" dirty="0">
              <a:latin typeface="黑体" pitchFamily="49" charset="-122"/>
              <a:ea typeface="黑体" pitchFamily="49" charset="-122"/>
              <a:cs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/>
              <p:cNvSpPr txBox="1"/>
              <p:nvPr/>
            </p:nvSpPr>
            <p:spPr>
              <a:xfrm>
                <a:off x="3089450" y="3702643"/>
                <a:ext cx="3137975" cy="5567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800" b="1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US" altLang="zh-CN" sz="2800" b="1" i="1" smtClean="0">
                              <a:latin typeface="Cambria Math"/>
                            </a:rPr>
                            <m:t>𝒏</m:t>
                          </m:r>
                        </m:e>
                        <m:sup>
                          <m:func>
                            <m:funcPr>
                              <m:ctrlPr>
                                <a:rPr lang="en-US" altLang="zh-CN" sz="2800" b="1" i="1" smtClean="0">
                                  <a:latin typeface="Cambria Math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n-US" altLang="zh-CN" sz="2800" b="1" i="1" smtClean="0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b="1" i="0" smtClean="0">
                                      <a:latin typeface="Cambria Math"/>
                                    </a:rPr>
                                    <m:t>𝐥𝐨𝐠</m:t>
                                  </m:r>
                                </m:e>
                                <m:sub>
                                  <m:f>
                                    <m:fPr>
                                      <m:type m:val="lin"/>
                                      <m:ctrlPr>
                                        <a:rPr lang="en-US" altLang="zh-CN" sz="2800" b="1" i="1" smtClean="0">
                                          <a:latin typeface="Cambria Math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zh-CN" sz="2800" b="1" i="1" smtClean="0">
                                          <a:latin typeface="Cambria Math"/>
                                        </a:rPr>
                                        <m:t>𝟑</m:t>
                                      </m:r>
                                    </m:num>
                                    <m:den>
                                      <m:r>
                                        <a:rPr lang="en-US" altLang="zh-CN" sz="2800" b="1" i="1" smtClean="0">
                                          <a:latin typeface="Cambria Math"/>
                                        </a:rPr>
                                        <m:t>𝟐</m:t>
                                      </m:r>
                                    </m:den>
                                  </m:f>
                                </m:sub>
                              </m:sSub>
                            </m:fName>
                            <m:e>
                              <m:r>
                                <a:rPr lang="en-US" altLang="zh-CN" sz="2800" b="1" i="1" smtClean="0">
                                  <a:latin typeface="Cambria Math"/>
                                </a:rPr>
                                <m:t>𝟏</m:t>
                              </m:r>
                            </m:e>
                          </m:func>
                        </m:sup>
                      </m:sSup>
                      <m:r>
                        <a:rPr lang="en-US" altLang="zh-CN" sz="2800" b="1" i="1" smtClean="0">
                          <a:latin typeface="Cambria Math"/>
                        </a:rPr>
                        <m:t>=</m:t>
                      </m:r>
                      <m:sSup>
                        <m:sSupPr>
                          <m:ctrlPr>
                            <a:rPr lang="en-US" altLang="zh-CN" sz="2800" b="1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US" altLang="zh-CN" sz="2800" b="1" i="1" smtClean="0">
                              <a:latin typeface="Cambria Math"/>
                            </a:rPr>
                            <m:t>𝒏</m:t>
                          </m:r>
                        </m:e>
                        <m:sup>
                          <m:r>
                            <a:rPr lang="en-US" altLang="zh-CN" sz="2800" b="1" i="1" smtClean="0">
                              <a:latin typeface="Cambria Math"/>
                            </a:rPr>
                            <m:t>𝟎</m:t>
                          </m:r>
                        </m:sup>
                      </m:sSup>
                      <m:r>
                        <a:rPr lang="en-US" altLang="zh-CN" sz="2800" b="1" i="1" smtClean="0">
                          <a:latin typeface="Cambria Math"/>
                        </a:rPr>
                        <m:t>=</m:t>
                      </m:r>
                      <m:r>
                        <a:rPr lang="en-US" altLang="zh-CN" sz="2800" b="1" i="1" smtClean="0">
                          <a:latin typeface="Cambria Math"/>
                        </a:rPr>
                        <m:t>𝟏</m:t>
                      </m:r>
                    </m:oMath>
                  </m:oMathPara>
                </a14:m>
                <a:endParaRPr lang="zh-CN" altLang="en-US" sz="2800" b="1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89450" y="3702643"/>
                <a:ext cx="3137975" cy="556755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236544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2" grpId="0"/>
      <p:bldP spid="23" grpId="0"/>
      <p:bldP spid="24" grpId="0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200648" y="0"/>
            <a:ext cx="197677" cy="21696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200"/>
          </a:p>
        </p:txBody>
      </p:sp>
      <p:sp>
        <p:nvSpPr>
          <p:cNvPr id="3" name="object 3"/>
          <p:cNvSpPr/>
          <p:nvPr/>
        </p:nvSpPr>
        <p:spPr>
          <a:xfrm>
            <a:off x="1226572" y="0"/>
            <a:ext cx="199298" cy="24960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200"/>
          </a:p>
        </p:txBody>
      </p:sp>
      <p:sp>
        <p:nvSpPr>
          <p:cNvPr id="4" name="object 4"/>
          <p:cNvSpPr/>
          <p:nvPr/>
        </p:nvSpPr>
        <p:spPr>
          <a:xfrm>
            <a:off x="1200648" y="0"/>
            <a:ext cx="197677" cy="21696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200"/>
          </a:p>
        </p:txBody>
      </p:sp>
      <p:sp>
        <p:nvSpPr>
          <p:cNvPr id="5" name="object 5"/>
          <p:cNvSpPr/>
          <p:nvPr/>
        </p:nvSpPr>
        <p:spPr>
          <a:xfrm>
            <a:off x="1226572" y="0"/>
            <a:ext cx="199298" cy="24960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200"/>
          </a:p>
        </p:txBody>
      </p:sp>
      <p:sp>
        <p:nvSpPr>
          <p:cNvPr id="6" name="object 6"/>
          <p:cNvSpPr/>
          <p:nvPr/>
        </p:nvSpPr>
        <p:spPr>
          <a:xfrm>
            <a:off x="1200648" y="0"/>
            <a:ext cx="197677" cy="21696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200"/>
          </a:p>
        </p:txBody>
      </p:sp>
      <p:sp>
        <p:nvSpPr>
          <p:cNvPr id="7" name="object 7"/>
          <p:cNvSpPr/>
          <p:nvPr/>
        </p:nvSpPr>
        <p:spPr>
          <a:xfrm>
            <a:off x="1226572" y="0"/>
            <a:ext cx="199298" cy="24960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200"/>
          </a:p>
        </p:txBody>
      </p:sp>
      <p:sp>
        <p:nvSpPr>
          <p:cNvPr id="8" name="object 8"/>
          <p:cNvSpPr/>
          <p:nvPr/>
        </p:nvSpPr>
        <p:spPr>
          <a:xfrm>
            <a:off x="1200648" y="0"/>
            <a:ext cx="197677" cy="21696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200"/>
          </a:p>
        </p:txBody>
      </p:sp>
      <p:sp>
        <p:nvSpPr>
          <p:cNvPr id="9" name="object 9"/>
          <p:cNvSpPr/>
          <p:nvPr/>
        </p:nvSpPr>
        <p:spPr>
          <a:xfrm>
            <a:off x="1226572" y="0"/>
            <a:ext cx="199298" cy="24960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200"/>
          </a:p>
        </p:txBody>
      </p:sp>
      <p:sp>
        <p:nvSpPr>
          <p:cNvPr id="10" name="object 10"/>
          <p:cNvSpPr/>
          <p:nvPr/>
        </p:nvSpPr>
        <p:spPr>
          <a:xfrm>
            <a:off x="1200648" y="0"/>
            <a:ext cx="197677" cy="21696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200"/>
          </a:p>
        </p:txBody>
      </p:sp>
      <p:sp>
        <p:nvSpPr>
          <p:cNvPr id="11" name="object 11"/>
          <p:cNvSpPr/>
          <p:nvPr/>
        </p:nvSpPr>
        <p:spPr>
          <a:xfrm>
            <a:off x="1226572" y="0"/>
            <a:ext cx="199298" cy="24960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200"/>
          </a:p>
        </p:txBody>
      </p:sp>
      <p:sp>
        <p:nvSpPr>
          <p:cNvPr id="12" name="object 12"/>
          <p:cNvSpPr txBox="1">
            <a:spLocks noGrp="1"/>
          </p:cNvSpPr>
          <p:nvPr>
            <p:ph type="title" idx="4294967295"/>
          </p:nvPr>
        </p:nvSpPr>
        <p:spPr>
          <a:xfrm>
            <a:off x="363895" y="216570"/>
            <a:ext cx="8920064" cy="692011"/>
          </a:xfrm>
          <a:prstGeom prst="rect">
            <a:avLst/>
          </a:prstGeom>
        </p:spPr>
        <p:txBody>
          <a:bodyPr vert="horz" wrap="square" lIns="0" tIns="14758" rIns="0" bIns="0" rtlCol="0" anchor="ctr">
            <a:spAutoFit/>
          </a:bodyPr>
          <a:lstStyle/>
          <a:p>
            <a:pPr marL="15534" algn="ctr">
              <a:lnSpc>
                <a:spcPct val="100000"/>
              </a:lnSpc>
              <a:spcBef>
                <a:spcPts val="117"/>
              </a:spcBef>
            </a:pPr>
            <a:r>
              <a:rPr sz="4400" b="1" spc="-12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求解递推方程：</a:t>
            </a:r>
            <a:r>
              <a:rPr sz="4400" b="1" spc="-25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例3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5860520" y="5637962"/>
            <a:ext cx="144477" cy="432132"/>
          </a:xfrm>
          <a:prstGeom prst="rect">
            <a:avLst/>
          </a:prstGeom>
        </p:spPr>
        <p:txBody>
          <a:bodyPr vert="horz" wrap="square" lIns="0" tIns="5437" rIns="0" bIns="0" rtlCol="0">
            <a:spAutoFit/>
          </a:bodyPr>
          <a:lstStyle/>
          <a:p>
            <a:pPr>
              <a:spcBef>
                <a:spcPts val="43"/>
              </a:spcBef>
            </a:pPr>
            <a:endParaRPr sz="1200" dirty="0">
              <a:latin typeface="Times New Roman"/>
              <a:cs typeface="Times New Roman"/>
            </a:endParaRPr>
          </a:p>
          <a:p>
            <a:pPr marL="31069"/>
            <a:endParaRPr sz="1500" dirty="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01216" y="1183701"/>
            <a:ext cx="8882743" cy="3555333"/>
          </a:xfrm>
          <a:prstGeom prst="rect">
            <a:avLst/>
          </a:prstGeom>
        </p:spPr>
        <p:txBody>
          <a:bodyPr vert="horz" wrap="square" lIns="0" tIns="107189" rIns="0" bIns="0" rtlCol="0">
            <a:spAutoFit/>
          </a:bodyPr>
          <a:lstStyle/>
          <a:p>
            <a:pPr marL="62137">
              <a:spcBef>
                <a:spcPts val="844"/>
              </a:spcBef>
              <a:tabLst>
                <a:tab pos="852054" algn="l"/>
              </a:tabLst>
            </a:pPr>
            <a:r>
              <a:rPr sz="2800" b="1" dirty="0">
                <a:solidFill>
                  <a:srgbClr val="C00000"/>
                </a:solidFill>
                <a:latin typeface="宋体"/>
                <a:cs typeface="宋体"/>
              </a:rPr>
              <a:t>例</a:t>
            </a:r>
            <a:r>
              <a:rPr sz="2800" b="1" dirty="0">
                <a:solidFill>
                  <a:srgbClr val="C00000"/>
                </a:solidFill>
                <a:latin typeface="Calibri"/>
                <a:cs typeface="Calibri"/>
              </a:rPr>
              <a:t>3	</a:t>
            </a:r>
            <a:r>
              <a:rPr sz="2800" b="1" dirty="0">
                <a:latin typeface="宋体"/>
                <a:cs typeface="宋体"/>
              </a:rPr>
              <a:t>求解递推方程</a:t>
            </a:r>
          </a:p>
          <a:p>
            <a:pPr marL="604282">
              <a:lnSpc>
                <a:spcPct val="200000"/>
              </a:lnSpc>
            </a:pPr>
            <a:r>
              <a:rPr lang="en-US" sz="2800" b="1" i="1" spc="-6" dirty="0" smtClean="0">
                <a:latin typeface="Times New Roman"/>
                <a:cs typeface="Times New Roman"/>
              </a:rPr>
              <a:t>                  </a:t>
            </a:r>
            <a:r>
              <a:rPr sz="2800" b="1" i="1" spc="-6" dirty="0" smtClean="0">
                <a:latin typeface="Times New Roman"/>
                <a:cs typeface="Times New Roman"/>
              </a:rPr>
              <a:t>T</a:t>
            </a:r>
            <a:r>
              <a:rPr sz="2800" b="1" spc="-6" dirty="0" smtClean="0">
                <a:latin typeface="Times New Roman"/>
                <a:cs typeface="Times New Roman"/>
              </a:rPr>
              <a:t>(</a:t>
            </a:r>
            <a:r>
              <a:rPr sz="2800" b="1" i="1" spc="-6" dirty="0" smtClean="0">
                <a:latin typeface="Times New Roman"/>
                <a:cs typeface="Times New Roman"/>
              </a:rPr>
              <a:t>n</a:t>
            </a:r>
            <a:r>
              <a:rPr sz="2800" b="1" spc="-6" dirty="0">
                <a:latin typeface="Times New Roman"/>
                <a:cs typeface="Times New Roman"/>
              </a:rPr>
              <a:t>) = </a:t>
            </a:r>
            <a:r>
              <a:rPr sz="2800" b="1" dirty="0">
                <a:latin typeface="Times New Roman"/>
                <a:cs typeface="Times New Roman"/>
              </a:rPr>
              <a:t>3</a:t>
            </a:r>
            <a:r>
              <a:rPr sz="2800" b="1" i="1" dirty="0">
                <a:latin typeface="Times New Roman"/>
                <a:cs typeface="Times New Roman"/>
              </a:rPr>
              <a:t>T</a:t>
            </a:r>
            <a:r>
              <a:rPr sz="2800" b="1" dirty="0">
                <a:latin typeface="Times New Roman"/>
                <a:cs typeface="Times New Roman"/>
              </a:rPr>
              <a:t>(</a:t>
            </a:r>
            <a:r>
              <a:rPr sz="2800" b="1" i="1" dirty="0">
                <a:latin typeface="Times New Roman"/>
                <a:cs typeface="Times New Roman"/>
              </a:rPr>
              <a:t>n</a:t>
            </a:r>
            <a:r>
              <a:rPr sz="2800" b="1" dirty="0">
                <a:latin typeface="Times New Roman"/>
                <a:cs typeface="Times New Roman"/>
              </a:rPr>
              <a:t>/4) </a:t>
            </a:r>
            <a:r>
              <a:rPr sz="2800" b="1" spc="-6" dirty="0">
                <a:latin typeface="Times New Roman"/>
                <a:cs typeface="Times New Roman"/>
              </a:rPr>
              <a:t>+</a:t>
            </a:r>
            <a:r>
              <a:rPr sz="2800" b="1" spc="18" dirty="0">
                <a:latin typeface="Times New Roman"/>
                <a:cs typeface="Times New Roman"/>
              </a:rPr>
              <a:t> </a:t>
            </a:r>
            <a:r>
              <a:rPr sz="2800" b="1" i="1" dirty="0" err="1" smtClean="0">
                <a:latin typeface="Times New Roman"/>
                <a:cs typeface="Times New Roman"/>
              </a:rPr>
              <a:t>n</a:t>
            </a:r>
            <a:r>
              <a:rPr sz="2800" b="1" dirty="0" err="1" smtClean="0">
                <a:latin typeface="Times New Roman"/>
                <a:cs typeface="Times New Roman"/>
              </a:rPr>
              <a:t>log</a:t>
            </a:r>
            <a:r>
              <a:rPr sz="2800" b="1" i="1" dirty="0" err="1" smtClean="0">
                <a:latin typeface="Times New Roman"/>
                <a:cs typeface="Times New Roman"/>
              </a:rPr>
              <a:t>n</a:t>
            </a:r>
            <a:endParaRPr lang="en-US" sz="2800" dirty="0">
              <a:latin typeface="Times New Roman"/>
              <a:cs typeface="Times New Roman"/>
            </a:endParaRPr>
          </a:p>
          <a:p>
            <a:r>
              <a:rPr sz="2800" b="1" spc="-12" dirty="0" smtClean="0">
                <a:latin typeface="黑体" pitchFamily="49" charset="-122"/>
                <a:ea typeface="黑体" pitchFamily="49" charset="-122"/>
                <a:cs typeface="宋体"/>
              </a:rPr>
              <a:t>解</a:t>
            </a:r>
            <a:r>
              <a:rPr sz="2800" b="1" spc="-172" dirty="0" smtClean="0">
                <a:latin typeface="黑体" pitchFamily="49" charset="-122"/>
                <a:ea typeface="黑体" pitchFamily="49" charset="-122"/>
                <a:cs typeface="宋体"/>
              </a:rPr>
              <a:t> </a:t>
            </a:r>
            <a:r>
              <a:rPr sz="2800" b="1" dirty="0">
                <a:latin typeface="黑体" pitchFamily="49" charset="-122"/>
                <a:ea typeface="黑体" pitchFamily="49" charset="-122"/>
                <a:cs typeface="宋体"/>
              </a:rPr>
              <a:t>上述递推方程中的</a:t>
            </a:r>
            <a:endParaRPr sz="2800" dirty="0">
              <a:latin typeface="黑体" pitchFamily="49" charset="-122"/>
              <a:ea typeface="黑体" pitchFamily="49" charset="-122"/>
              <a:cs typeface="宋体"/>
            </a:endParaRPr>
          </a:p>
          <a:p>
            <a:pPr marL="494766" marR="52817">
              <a:lnSpc>
                <a:spcPct val="200000"/>
              </a:lnSpc>
              <a:tabLst>
                <a:tab pos="1830711" algn="l"/>
                <a:tab pos="3276174" algn="l"/>
              </a:tabLst>
            </a:pPr>
            <a:r>
              <a:rPr lang="en-US" sz="2800" b="1" i="1" spc="-6" dirty="0" smtClean="0">
                <a:latin typeface="Times New Roman"/>
                <a:cs typeface="Times New Roman"/>
              </a:rPr>
              <a:t>                      </a:t>
            </a:r>
            <a:r>
              <a:rPr sz="2800" b="1" i="1" spc="-6" dirty="0" smtClean="0">
                <a:latin typeface="Times New Roman"/>
                <a:cs typeface="Times New Roman"/>
              </a:rPr>
              <a:t>a</a:t>
            </a:r>
            <a:r>
              <a:rPr sz="2800" b="1" i="1" dirty="0" smtClean="0">
                <a:latin typeface="Times New Roman"/>
                <a:cs typeface="Times New Roman"/>
              </a:rPr>
              <a:t> </a:t>
            </a:r>
            <a:r>
              <a:rPr sz="2800" b="1" spc="-6" dirty="0">
                <a:uFill>
                  <a:solidFill>
                    <a:srgbClr val="C00000"/>
                  </a:solidFill>
                </a:uFill>
                <a:latin typeface="Times New Roman"/>
                <a:cs typeface="Times New Roman"/>
              </a:rPr>
              <a:t>=</a:t>
            </a:r>
            <a:r>
              <a:rPr sz="2800" b="1" spc="12" dirty="0">
                <a:uFill>
                  <a:solidFill>
                    <a:srgbClr val="C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800" b="1" spc="-6" dirty="0">
                <a:uFill>
                  <a:solidFill>
                    <a:srgbClr val="C00000"/>
                  </a:solidFill>
                </a:uFill>
                <a:latin typeface="Times New Roman"/>
                <a:cs typeface="Times New Roman"/>
              </a:rPr>
              <a:t>3,	</a:t>
            </a:r>
            <a:r>
              <a:rPr lang="en-US" sz="2800" b="1" spc="-6" dirty="0" smtClean="0">
                <a:uFill>
                  <a:solidFill>
                    <a:srgbClr val="C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800" b="1" i="1" spc="-6" dirty="0" smtClean="0">
                <a:uFill>
                  <a:solidFill>
                    <a:srgbClr val="C00000"/>
                  </a:solidFill>
                </a:uFill>
                <a:latin typeface="Times New Roman"/>
                <a:cs typeface="Times New Roman"/>
              </a:rPr>
              <a:t>b</a:t>
            </a:r>
            <a:r>
              <a:rPr sz="2800" b="1" i="1" spc="6" dirty="0" smtClean="0">
                <a:uFill>
                  <a:solidFill>
                    <a:srgbClr val="C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800" b="1" spc="-6" dirty="0">
                <a:uFill>
                  <a:solidFill>
                    <a:srgbClr val="C00000"/>
                  </a:solidFill>
                </a:uFill>
                <a:latin typeface="Times New Roman"/>
                <a:cs typeface="Times New Roman"/>
              </a:rPr>
              <a:t>=</a:t>
            </a:r>
            <a:r>
              <a:rPr sz="2800" b="1" spc="12" dirty="0">
                <a:uFill>
                  <a:solidFill>
                    <a:srgbClr val="C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800" b="1" spc="-6" dirty="0">
                <a:uFill>
                  <a:solidFill>
                    <a:srgbClr val="C00000"/>
                  </a:solidFill>
                </a:uFill>
                <a:latin typeface="Times New Roman"/>
                <a:cs typeface="Times New Roman"/>
              </a:rPr>
              <a:t>4</a:t>
            </a:r>
            <a:r>
              <a:rPr sz="2800" b="1" spc="-6" dirty="0" smtClean="0">
                <a:uFill>
                  <a:solidFill>
                    <a:srgbClr val="C00000"/>
                  </a:solidFill>
                </a:uFill>
                <a:latin typeface="Times New Roman"/>
                <a:cs typeface="Times New Roman"/>
              </a:rPr>
              <a:t>, </a:t>
            </a:r>
            <a:r>
              <a:rPr lang="en-US" sz="2800" b="1" spc="-6" dirty="0" smtClean="0">
                <a:uFill>
                  <a:solidFill>
                    <a:srgbClr val="C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800" b="1" i="1" spc="-6" dirty="0" smtClean="0">
                <a:uFill>
                  <a:solidFill>
                    <a:srgbClr val="C00000"/>
                  </a:solidFill>
                </a:uFill>
                <a:latin typeface="Times New Roman"/>
                <a:cs typeface="Times New Roman"/>
              </a:rPr>
              <a:t>f</a:t>
            </a:r>
            <a:r>
              <a:rPr sz="2800" b="1" spc="-6" dirty="0" smtClean="0">
                <a:uFill>
                  <a:solidFill>
                    <a:srgbClr val="C00000"/>
                  </a:solidFill>
                </a:uFill>
                <a:latin typeface="Times New Roman"/>
                <a:cs typeface="Times New Roman"/>
              </a:rPr>
              <a:t>(</a:t>
            </a:r>
            <a:r>
              <a:rPr sz="2800" b="1" i="1" spc="-6" dirty="0" smtClean="0">
                <a:uFill>
                  <a:solidFill>
                    <a:srgbClr val="C00000"/>
                  </a:solidFill>
                </a:uFill>
                <a:latin typeface="Times New Roman"/>
                <a:cs typeface="Times New Roman"/>
              </a:rPr>
              <a:t>n</a:t>
            </a:r>
            <a:r>
              <a:rPr sz="2800" b="1" spc="-6" dirty="0">
                <a:uFill>
                  <a:solidFill>
                    <a:srgbClr val="C00000"/>
                  </a:solidFill>
                </a:uFill>
                <a:latin typeface="Times New Roman"/>
                <a:cs typeface="Times New Roman"/>
              </a:rPr>
              <a:t>) = </a:t>
            </a:r>
            <a:r>
              <a:rPr sz="2800" b="1" i="1" dirty="0" err="1" smtClean="0">
                <a:uFill>
                  <a:solidFill>
                    <a:srgbClr val="C00000"/>
                  </a:solidFill>
                </a:uFill>
                <a:latin typeface="Times New Roman"/>
                <a:cs typeface="Times New Roman"/>
              </a:rPr>
              <a:t>n</a:t>
            </a:r>
            <a:r>
              <a:rPr sz="2800" b="1" dirty="0" err="1" smtClean="0">
                <a:uFill>
                  <a:solidFill>
                    <a:srgbClr val="C00000"/>
                  </a:solidFill>
                </a:uFill>
                <a:latin typeface="Times New Roman"/>
                <a:cs typeface="Times New Roman"/>
              </a:rPr>
              <a:t>log</a:t>
            </a:r>
            <a:r>
              <a:rPr sz="2800" b="1" i="1" dirty="0" err="1" smtClean="0">
                <a:uFill>
                  <a:solidFill>
                    <a:srgbClr val="C00000"/>
                  </a:solidFill>
                </a:uFill>
                <a:latin typeface="Times New Roman"/>
                <a:cs typeface="Times New Roman"/>
              </a:rPr>
              <a:t>n</a:t>
            </a:r>
            <a:endParaRPr lang="en-US" sz="2800" b="1" i="1" dirty="0" smtClean="0">
              <a:uFill>
                <a:solidFill>
                  <a:srgbClr val="C00000"/>
                </a:solidFill>
              </a:uFill>
              <a:latin typeface="Times New Roman"/>
              <a:cs typeface="Times New Roman"/>
            </a:endParaRPr>
          </a:p>
          <a:p>
            <a:pPr marL="494766" marR="52817">
              <a:lnSpc>
                <a:spcPct val="200000"/>
              </a:lnSpc>
              <a:tabLst>
                <a:tab pos="1830711" algn="l"/>
                <a:tab pos="3276174" algn="l"/>
              </a:tabLst>
            </a:pPr>
            <a:r>
              <a:rPr sz="2800" b="1" i="1" dirty="0" smtClean="0">
                <a:uFill>
                  <a:solidFill>
                    <a:srgbClr val="C00000"/>
                  </a:solidFill>
                </a:uFill>
                <a:latin typeface="Times New Roman"/>
                <a:cs typeface="Times New Roman"/>
              </a:rPr>
              <a:t> </a:t>
            </a:r>
            <a:endParaRPr lang="en-US" sz="2800" b="1" i="1" dirty="0" smtClean="0">
              <a:latin typeface="Times New Roman"/>
              <a:cs typeface="Times New Roman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2255773" y="4073898"/>
                <a:ext cx="5700407" cy="53944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1" i="1" smtClean="0">
                          <a:latin typeface="Cambria Math"/>
                        </a:rPr>
                        <m:t>𝒇</m:t>
                      </m:r>
                      <m:d>
                        <m:dPr>
                          <m:ctrlPr>
                            <a:rPr lang="en-US" altLang="zh-CN" sz="2800" b="1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altLang="zh-CN" sz="2800" b="1" i="1" smtClean="0">
                              <a:latin typeface="Cambria Math"/>
                            </a:rPr>
                            <m:t>𝒏</m:t>
                          </m:r>
                        </m:e>
                      </m:d>
                      <m:r>
                        <a:rPr lang="en-US" altLang="zh-CN" sz="2800" b="1" i="1" smtClean="0">
                          <a:latin typeface="Cambria Math"/>
                        </a:rPr>
                        <m:t>=</m:t>
                      </m:r>
                      <m:r>
                        <a:rPr lang="el-GR" altLang="zh-CN" sz="2800" b="1" i="1" smtClean="0">
                          <a:latin typeface="Cambria Math"/>
                          <a:ea typeface="Cambria Math"/>
                        </a:rPr>
                        <m:t>𝜴</m:t>
                      </m:r>
                      <m:r>
                        <a:rPr lang="en-US" altLang="zh-CN" sz="2800" b="1" i="1" smtClean="0">
                          <a:latin typeface="Cambria Math"/>
                          <a:ea typeface="Cambria Math"/>
                        </a:rPr>
                        <m:t>(</m:t>
                      </m:r>
                      <m:sSup>
                        <m:sSupPr>
                          <m:ctrlPr>
                            <a:rPr lang="en-US" altLang="zh-CN" sz="2800" b="1" i="1" smtClean="0"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US" altLang="zh-CN" sz="2800" b="1" i="1" smtClean="0">
                              <a:latin typeface="Cambria Math"/>
                              <a:ea typeface="Cambria Math"/>
                            </a:rPr>
                            <m:t>𝒏</m:t>
                          </m:r>
                        </m:e>
                        <m:sup>
                          <m:func>
                            <m:funcPr>
                              <m:ctrlPr>
                                <a:rPr lang="en-US" altLang="zh-CN" sz="2800" b="1" i="1" smtClean="0">
                                  <a:latin typeface="Cambria Math"/>
                                  <a:ea typeface="Cambria Math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n-US" altLang="zh-CN" sz="2800" b="1" i="1" smtClean="0">
                                      <a:latin typeface="Cambria Math"/>
                                      <a:ea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b="1" i="0" smtClean="0">
                                      <a:latin typeface="Cambria Math"/>
                                      <a:ea typeface="Cambria Math"/>
                                    </a:rPr>
                                    <m:t>𝐥𝐨𝐠</m:t>
                                  </m:r>
                                </m:e>
                                <m:sub>
                                  <m:r>
                                    <a:rPr lang="en-US" altLang="zh-CN" sz="2800" b="1" i="1" smtClean="0">
                                      <a:latin typeface="Cambria Math"/>
                                      <a:ea typeface="Cambria Math"/>
                                    </a:rPr>
                                    <m:t>𝟒</m:t>
                                  </m:r>
                                </m:sub>
                              </m:sSub>
                            </m:fName>
                            <m:e>
                              <m:r>
                                <a:rPr lang="en-US" altLang="zh-CN" sz="2800" b="1" i="1" smtClean="0">
                                  <a:latin typeface="Cambria Math"/>
                                  <a:ea typeface="Cambria Math"/>
                                </a:rPr>
                                <m:t>𝟑</m:t>
                              </m:r>
                              <m:r>
                                <a:rPr lang="en-US" altLang="zh-CN" sz="2800" b="1" i="1" smtClean="0">
                                  <a:latin typeface="Cambria Math"/>
                                  <a:ea typeface="Cambria Math"/>
                                </a:rPr>
                                <m:t> +</m:t>
                              </m:r>
                              <m:r>
                                <a:rPr lang="zh-CN" altLang="en-US" sz="2800" b="1" i="1" smtClean="0">
                                  <a:latin typeface="Cambria Math"/>
                                  <a:ea typeface="Cambria Math"/>
                                </a:rPr>
                                <m:t>𝜺</m:t>
                              </m:r>
                            </m:e>
                          </m:func>
                        </m:sup>
                      </m:sSup>
                      <m:r>
                        <a:rPr lang="en-US" altLang="zh-CN" sz="2800" b="1" i="1" smtClean="0">
                          <a:latin typeface="Cambria Math"/>
                          <a:ea typeface="Cambria Math"/>
                        </a:rPr>
                        <m:t>)≈</m:t>
                      </m:r>
                      <m:r>
                        <a:rPr lang="el-GR" altLang="zh-CN" sz="2800" b="1" i="1" smtClean="0">
                          <a:latin typeface="Cambria Math"/>
                          <a:ea typeface="Cambria Math"/>
                        </a:rPr>
                        <m:t>𝜴</m:t>
                      </m:r>
                      <m:r>
                        <a:rPr lang="en-US" altLang="zh-CN" sz="2800" b="1" i="1" smtClean="0">
                          <a:latin typeface="Cambria Math"/>
                          <a:ea typeface="Cambria Math"/>
                        </a:rPr>
                        <m:t>(</m:t>
                      </m:r>
                      <m:sSup>
                        <m:sSupPr>
                          <m:ctrlPr>
                            <a:rPr lang="en-US" altLang="zh-CN" sz="2800" b="1" i="1" smtClean="0"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US" altLang="zh-CN" sz="2800" b="1" i="1" smtClean="0">
                              <a:latin typeface="Cambria Math"/>
                              <a:ea typeface="Cambria Math"/>
                            </a:rPr>
                            <m:t>𝒏</m:t>
                          </m:r>
                        </m:e>
                        <m:sup>
                          <m:r>
                            <a:rPr lang="en-US" altLang="zh-CN" sz="2800" b="1" i="1" smtClean="0">
                              <a:latin typeface="Cambria Math"/>
                              <a:ea typeface="Cambria Math"/>
                            </a:rPr>
                            <m:t>𝟎</m:t>
                          </m:r>
                          <m:r>
                            <a:rPr lang="en-US" altLang="zh-CN" sz="2800" b="1" i="1" smtClean="0">
                              <a:latin typeface="Cambria Math"/>
                              <a:ea typeface="Cambria Math"/>
                            </a:rPr>
                            <m:t>.</m:t>
                          </m:r>
                          <m:r>
                            <a:rPr lang="en-US" altLang="zh-CN" sz="2800" b="1" i="1" smtClean="0">
                              <a:latin typeface="Cambria Math"/>
                              <a:ea typeface="Cambria Math"/>
                            </a:rPr>
                            <m:t>𝟕𝟗𝟑</m:t>
                          </m:r>
                          <m:r>
                            <a:rPr lang="en-US" altLang="zh-CN" sz="2800" b="1" i="1" smtClean="0">
                              <a:latin typeface="Cambria Math"/>
                              <a:ea typeface="Cambria Math"/>
                            </a:rPr>
                            <m:t>+</m:t>
                          </m:r>
                          <m:r>
                            <a:rPr lang="zh-CN" altLang="en-US" sz="2800" b="1" i="1" smtClean="0">
                              <a:latin typeface="Cambria Math"/>
                              <a:ea typeface="Cambria Math"/>
                            </a:rPr>
                            <m:t>𝜺</m:t>
                          </m:r>
                        </m:sup>
                      </m:sSup>
                      <m:r>
                        <a:rPr lang="en-US" altLang="zh-CN" sz="2800" b="1" i="1" smtClean="0">
                          <a:latin typeface="Cambria Math"/>
                          <a:ea typeface="Cambria Math"/>
                        </a:rPr>
                        <m:t>)</m:t>
                      </m:r>
                    </m:oMath>
                  </m:oMathPara>
                </a14:m>
                <a:endParaRPr lang="zh-CN" altLang="en-US" sz="2800" b="1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55773" y="4073898"/>
                <a:ext cx="5700407" cy="539443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矩形 15"/>
          <p:cNvSpPr/>
          <p:nvPr/>
        </p:nvSpPr>
        <p:spPr>
          <a:xfrm>
            <a:off x="825464" y="4893553"/>
            <a:ext cx="258840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62137">
              <a:spcBef>
                <a:spcPts val="1401"/>
              </a:spcBef>
            </a:pPr>
            <a:r>
              <a:rPr lang="zh-CN" altLang="en-US" sz="2800" b="1" spc="709" dirty="0">
                <a:latin typeface="宋体"/>
                <a:cs typeface="宋体"/>
              </a:rPr>
              <a:t>取</a:t>
            </a:r>
            <a:r>
              <a:rPr lang="zh-CN" altLang="en-US" sz="2800" b="1" dirty="0">
                <a:latin typeface="Symbol"/>
                <a:cs typeface="Symbol"/>
              </a:rPr>
              <a:t></a:t>
            </a:r>
            <a:r>
              <a:rPr lang="zh-CN" altLang="en-US" sz="2800" b="1" spc="-18" dirty="0">
                <a:latin typeface="Times New Roman"/>
                <a:cs typeface="Times New Roman"/>
              </a:rPr>
              <a:t> </a:t>
            </a:r>
            <a:r>
              <a:rPr lang="en-US" altLang="zh-CN" sz="2800" b="1" dirty="0">
                <a:latin typeface="Times New Roman"/>
                <a:cs typeface="Times New Roman"/>
              </a:rPr>
              <a:t>= 0.2</a:t>
            </a:r>
            <a:r>
              <a:rPr lang="zh-CN" altLang="en-US" sz="2800" b="1" spc="-12" dirty="0">
                <a:latin typeface="Times New Roman"/>
                <a:cs typeface="Times New Roman"/>
              </a:rPr>
              <a:t> </a:t>
            </a:r>
            <a:r>
              <a:rPr lang="zh-CN" altLang="en-US" sz="2800" b="1" dirty="0">
                <a:latin typeface="宋体"/>
                <a:cs typeface="宋体"/>
              </a:rPr>
              <a:t>即可</a:t>
            </a:r>
            <a:r>
              <a:rPr lang="en-US" altLang="zh-CN" sz="2800" b="1" dirty="0">
                <a:latin typeface="Calibri"/>
                <a:cs typeface="Calibri"/>
              </a:rPr>
              <a:t>.</a:t>
            </a:r>
            <a:endParaRPr lang="zh-CN" altLang="en-US" sz="28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83959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200648" y="0"/>
            <a:ext cx="197677" cy="21696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200"/>
          </a:p>
        </p:txBody>
      </p:sp>
      <p:sp>
        <p:nvSpPr>
          <p:cNvPr id="3" name="object 3"/>
          <p:cNvSpPr/>
          <p:nvPr/>
        </p:nvSpPr>
        <p:spPr>
          <a:xfrm>
            <a:off x="1226572" y="0"/>
            <a:ext cx="199298" cy="24960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200"/>
          </a:p>
        </p:txBody>
      </p:sp>
      <p:sp>
        <p:nvSpPr>
          <p:cNvPr id="4" name="object 4"/>
          <p:cNvSpPr/>
          <p:nvPr/>
        </p:nvSpPr>
        <p:spPr>
          <a:xfrm>
            <a:off x="1200648" y="0"/>
            <a:ext cx="197677" cy="21696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200"/>
          </a:p>
        </p:txBody>
      </p:sp>
      <p:sp>
        <p:nvSpPr>
          <p:cNvPr id="5" name="object 5"/>
          <p:cNvSpPr/>
          <p:nvPr/>
        </p:nvSpPr>
        <p:spPr>
          <a:xfrm>
            <a:off x="1226572" y="0"/>
            <a:ext cx="199298" cy="24960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200"/>
          </a:p>
        </p:txBody>
      </p:sp>
      <p:sp>
        <p:nvSpPr>
          <p:cNvPr id="6" name="object 6"/>
          <p:cNvSpPr/>
          <p:nvPr/>
        </p:nvSpPr>
        <p:spPr>
          <a:xfrm>
            <a:off x="1200648" y="0"/>
            <a:ext cx="197677" cy="21696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200"/>
          </a:p>
        </p:txBody>
      </p:sp>
      <p:sp>
        <p:nvSpPr>
          <p:cNvPr id="7" name="object 7"/>
          <p:cNvSpPr/>
          <p:nvPr/>
        </p:nvSpPr>
        <p:spPr>
          <a:xfrm>
            <a:off x="1226572" y="0"/>
            <a:ext cx="199298" cy="24960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200"/>
          </a:p>
        </p:txBody>
      </p:sp>
      <p:sp>
        <p:nvSpPr>
          <p:cNvPr id="8" name="object 8"/>
          <p:cNvSpPr/>
          <p:nvPr/>
        </p:nvSpPr>
        <p:spPr>
          <a:xfrm>
            <a:off x="1200648" y="0"/>
            <a:ext cx="197677" cy="21696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200"/>
          </a:p>
        </p:txBody>
      </p:sp>
      <p:sp>
        <p:nvSpPr>
          <p:cNvPr id="9" name="object 9"/>
          <p:cNvSpPr/>
          <p:nvPr/>
        </p:nvSpPr>
        <p:spPr>
          <a:xfrm>
            <a:off x="1226572" y="0"/>
            <a:ext cx="199298" cy="24960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200"/>
          </a:p>
        </p:txBody>
      </p:sp>
      <p:sp>
        <p:nvSpPr>
          <p:cNvPr id="10" name="object 10"/>
          <p:cNvSpPr/>
          <p:nvPr/>
        </p:nvSpPr>
        <p:spPr>
          <a:xfrm>
            <a:off x="1200648" y="0"/>
            <a:ext cx="197677" cy="21696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200"/>
          </a:p>
        </p:txBody>
      </p:sp>
      <p:sp>
        <p:nvSpPr>
          <p:cNvPr id="11" name="object 11"/>
          <p:cNvSpPr/>
          <p:nvPr/>
        </p:nvSpPr>
        <p:spPr>
          <a:xfrm>
            <a:off x="1226572" y="0"/>
            <a:ext cx="199298" cy="24960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200"/>
          </a:p>
        </p:txBody>
      </p:sp>
      <p:sp>
        <p:nvSpPr>
          <p:cNvPr id="12" name="object 12"/>
          <p:cNvSpPr txBox="1">
            <a:spLocks noGrp="1"/>
          </p:cNvSpPr>
          <p:nvPr>
            <p:ph type="title" idx="4294967295"/>
          </p:nvPr>
        </p:nvSpPr>
        <p:spPr>
          <a:xfrm>
            <a:off x="382555" y="216570"/>
            <a:ext cx="8901403" cy="692011"/>
          </a:xfrm>
          <a:prstGeom prst="rect">
            <a:avLst/>
          </a:prstGeom>
        </p:spPr>
        <p:txBody>
          <a:bodyPr vert="horz" wrap="square" lIns="0" tIns="14758" rIns="0" bIns="0" rtlCol="0" anchor="ctr">
            <a:spAutoFit/>
          </a:bodyPr>
          <a:lstStyle/>
          <a:p>
            <a:pPr marL="15534" algn="ctr">
              <a:lnSpc>
                <a:spcPct val="100000"/>
              </a:lnSpc>
              <a:spcBef>
                <a:spcPts val="117"/>
              </a:spcBef>
            </a:pPr>
            <a:r>
              <a:rPr sz="4400" b="1" spc="-12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条件验证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object 14"/>
              <p:cNvSpPr txBox="1"/>
              <p:nvPr/>
            </p:nvSpPr>
            <p:spPr>
              <a:xfrm>
                <a:off x="3039293" y="2493589"/>
                <a:ext cx="6635901" cy="562139"/>
              </a:xfrm>
              <a:prstGeom prst="rect">
                <a:avLst/>
              </a:prstGeom>
            </p:spPr>
            <p:txBody>
              <a:bodyPr vert="horz" wrap="square" lIns="0" tIns="23302" rIns="0" bIns="0" rtlCol="0">
                <a:spAutoFit/>
              </a:bodyPr>
              <a:lstStyle/>
              <a:p>
                <a:pPr marL="15534" marR="1266041" algn="just">
                  <a:lnSpc>
                    <a:spcPct val="124900"/>
                  </a:lnSpc>
                  <a:spcBef>
                    <a:spcPts val="183"/>
                  </a:spcBef>
                </a:pPr>
                <a:r>
                  <a:rPr lang="en-US" sz="2800" b="1" spc="-6" dirty="0" smtClean="0">
                    <a:latin typeface="Times New Roman"/>
                    <a:cs typeface="Times New Roman"/>
                  </a:rPr>
                  <a:t>=</a:t>
                </a:r>
                <a:r>
                  <a:rPr sz="2800" b="1" spc="-6" dirty="0" smtClean="0">
                    <a:solidFill>
                      <a:srgbClr val="C00000"/>
                    </a:solidFill>
                    <a:latin typeface="Times New Roman"/>
                    <a:cs typeface="Times New Roman"/>
                  </a:rPr>
                  <a:t>3</a:t>
                </a:r>
                <a:r>
                  <a:rPr sz="2800" b="1" spc="-12" dirty="0" smtClean="0">
                    <a:latin typeface="Times New Roman"/>
                    <a:cs typeface="Times New Roman"/>
                  </a:rPr>
                  <a:t> </a:t>
                </a:r>
                <a:r>
                  <a:rPr sz="2800" b="1" dirty="0" smtClean="0">
                    <a:solidFill>
                      <a:srgbClr val="0000FF"/>
                    </a:solidFill>
                    <a:latin typeface="Times New Roman"/>
                    <a:cs typeface="Times New Roman"/>
                  </a:rPr>
                  <a:t>(</a:t>
                </a:r>
                <a:r>
                  <a:rPr sz="2800" b="1" i="1" dirty="0" smtClean="0">
                    <a:solidFill>
                      <a:srgbClr val="0000FF"/>
                    </a:solidFill>
                    <a:latin typeface="Times New Roman"/>
                    <a:cs typeface="Times New Roman"/>
                  </a:rPr>
                  <a:t>n</a:t>
                </a:r>
                <a:r>
                  <a:rPr sz="2800" b="1" dirty="0" smtClean="0">
                    <a:solidFill>
                      <a:srgbClr val="0000FF"/>
                    </a:solidFill>
                    <a:latin typeface="Times New Roman"/>
                    <a:cs typeface="Times New Roman"/>
                  </a:rPr>
                  <a:t>/4)</a:t>
                </a:r>
                <a:r>
                  <a:rPr sz="2800" b="1" spc="-12" dirty="0" smtClean="0">
                    <a:solidFill>
                      <a:srgbClr val="0000FF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sz="2800" b="1" dirty="0" smtClean="0">
                    <a:latin typeface="Times New Roman"/>
                    <a:cs typeface="Times New Roman"/>
                  </a:rPr>
                  <a:t>log</a:t>
                </a:r>
                <a:r>
                  <a:rPr sz="2800" b="1" spc="-18" dirty="0" smtClean="0">
                    <a:latin typeface="Times New Roman"/>
                    <a:cs typeface="Times New Roman"/>
                  </a:rPr>
                  <a:t> </a:t>
                </a:r>
                <a:r>
                  <a:rPr sz="2800" b="1" dirty="0" smtClean="0">
                    <a:latin typeface="Times New Roman"/>
                    <a:cs typeface="Times New Roman"/>
                  </a:rPr>
                  <a:t>(</a:t>
                </a:r>
                <a:r>
                  <a:rPr sz="2800" b="1" i="1" dirty="0" smtClean="0">
                    <a:latin typeface="Times New Roman"/>
                    <a:cs typeface="Times New Roman"/>
                  </a:rPr>
                  <a:t>n</a:t>
                </a:r>
                <a:r>
                  <a:rPr sz="2800" b="1" dirty="0" smtClean="0">
                    <a:latin typeface="Times New Roman"/>
                    <a:cs typeface="Times New Roman"/>
                  </a:rPr>
                  <a:t>/4)</a:t>
                </a:r>
                <a:r>
                  <a:rPr sz="2800" b="1" spc="-6" dirty="0" smtClean="0">
                    <a:latin typeface="Times New Roman"/>
                    <a:cs typeface="Times New Roman"/>
                  </a:rPr>
                  <a:t> </a:t>
                </a:r>
                <a:r>
                  <a:rPr sz="2800" b="1" spc="-6" dirty="0" smtClean="0">
                    <a:latin typeface="Symbol"/>
                    <a:cs typeface="Symbol"/>
                  </a:rPr>
                  <a:t></a:t>
                </a:r>
                <a:r>
                  <a:rPr lang="en-US" altLang="zh-CN" sz="2800" b="1" dirty="0">
                    <a:ea typeface="Cambria Math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800" b="1" i="1">
                        <a:latin typeface="Cambria Math"/>
                        <a:ea typeface="Cambria Math"/>
                      </a:rPr>
                      <m:t>𝒄𝒇</m:t>
                    </m:r>
                    <m:d>
                      <m:dPr>
                        <m:ctrlPr>
                          <a:rPr lang="en-US" altLang="zh-CN" sz="2800" b="1" i="1">
                            <a:latin typeface="Cambria Math"/>
                            <a:ea typeface="Cambria Math"/>
                          </a:rPr>
                        </m:ctrlPr>
                      </m:dPr>
                      <m:e>
                        <m:r>
                          <a:rPr lang="en-US" altLang="zh-CN" sz="2800" b="1" i="1">
                            <a:latin typeface="Cambria Math"/>
                            <a:ea typeface="Cambria Math"/>
                          </a:rPr>
                          <m:t>𝒏</m:t>
                        </m:r>
                      </m:e>
                    </m:d>
                    <m:r>
                      <a:rPr lang="en-US" altLang="zh-CN" sz="2800" b="1" i="1">
                        <a:latin typeface="Cambria Math"/>
                        <a:ea typeface="Cambria Math"/>
                      </a:rPr>
                      <m:t> </m:t>
                    </m:r>
                  </m:oMath>
                </a14:m>
                <a:r>
                  <a:rPr lang="en-US" sz="2800" b="1" i="1" spc="147" dirty="0" smtClean="0">
                    <a:latin typeface="Times New Roman"/>
                    <a:cs typeface="Times New Roman"/>
                  </a:rPr>
                  <a:t>=</a:t>
                </a:r>
                <a:r>
                  <a:rPr sz="2800" b="1" i="1" spc="147" dirty="0" smtClean="0">
                    <a:latin typeface="Times New Roman"/>
                    <a:cs typeface="Times New Roman"/>
                  </a:rPr>
                  <a:t>cn</a:t>
                </a:r>
                <a:r>
                  <a:rPr sz="2800" b="1" i="1" spc="-544" dirty="0" smtClean="0">
                    <a:latin typeface="Times New Roman"/>
                    <a:cs typeface="Times New Roman"/>
                  </a:rPr>
                  <a:t> </a:t>
                </a:r>
                <a:r>
                  <a:rPr sz="2800" b="1" dirty="0" smtClean="0">
                    <a:latin typeface="Times New Roman"/>
                    <a:cs typeface="Times New Roman"/>
                  </a:rPr>
                  <a:t>log</a:t>
                </a:r>
                <a:r>
                  <a:rPr sz="2800" b="1" spc="-557" dirty="0" smtClean="0">
                    <a:latin typeface="Times New Roman"/>
                    <a:cs typeface="Times New Roman"/>
                  </a:rPr>
                  <a:t> </a:t>
                </a:r>
                <a:r>
                  <a:rPr sz="2800" b="1" i="1" spc="-6" dirty="0" smtClean="0">
                    <a:latin typeface="Times New Roman"/>
                    <a:cs typeface="Times New Roman"/>
                  </a:rPr>
                  <a:t>n</a:t>
                </a:r>
                <a:endParaRPr sz="2800" dirty="0" smtClean="0">
                  <a:latin typeface="Times New Roman"/>
                  <a:cs typeface="Times New Roman"/>
                </a:endParaRPr>
              </a:p>
            </p:txBody>
          </p:sp>
        </mc:Choice>
        <mc:Fallback xmlns="">
          <p:sp>
            <p:nvSpPr>
              <p:cNvPr id="14" name="object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9293" y="2493589"/>
                <a:ext cx="6635901" cy="562139"/>
              </a:xfrm>
              <a:prstGeom prst="rect">
                <a:avLst/>
              </a:prstGeom>
              <a:blipFill rotWithShape="1">
                <a:blip r:embed="rId4"/>
                <a:stretch>
                  <a:fillRect l="-3033" t="-5435" b="-2934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1004697" y="1284048"/>
                <a:ext cx="306757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1" i="1" smtClean="0">
                          <a:latin typeface="Cambria Math"/>
                        </a:rPr>
                        <m:t>𝒂𝒇</m:t>
                      </m:r>
                      <m:r>
                        <a:rPr lang="en-US" altLang="zh-CN" sz="2800" b="1" i="1" smtClean="0">
                          <a:latin typeface="Cambria Math"/>
                        </a:rPr>
                        <m:t>(</m:t>
                      </m:r>
                      <m:f>
                        <m:fPr>
                          <m:type m:val="lin"/>
                          <m:ctrlPr>
                            <a:rPr lang="en-US" altLang="zh-CN" sz="2800" b="1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altLang="zh-CN" sz="2800" b="1" i="1" smtClean="0">
                              <a:latin typeface="Cambria Math"/>
                            </a:rPr>
                            <m:t>𝒏</m:t>
                          </m:r>
                        </m:num>
                        <m:den>
                          <m:r>
                            <a:rPr lang="en-US" altLang="zh-CN" sz="2800" b="1" i="1" smtClean="0">
                              <a:latin typeface="Cambria Math"/>
                            </a:rPr>
                            <m:t>𝒃</m:t>
                          </m:r>
                        </m:den>
                      </m:f>
                      <m:r>
                        <a:rPr lang="en-US" altLang="zh-CN" sz="2800" b="1" i="1" smtClean="0">
                          <a:latin typeface="Cambria Math"/>
                        </a:rPr>
                        <m:t>)</m:t>
                      </m:r>
                      <m:r>
                        <a:rPr lang="en-US" altLang="zh-CN" sz="2800" b="1" i="1" smtClean="0">
                          <a:latin typeface="Cambria Math"/>
                          <a:ea typeface="Cambria Math"/>
                        </a:rPr>
                        <m:t>≤</m:t>
                      </m:r>
                      <m:r>
                        <a:rPr lang="en-US" altLang="zh-CN" sz="2800" b="1" i="1" smtClean="0">
                          <a:latin typeface="Cambria Math"/>
                          <a:ea typeface="Cambria Math"/>
                        </a:rPr>
                        <m:t>𝒄</m:t>
                      </m:r>
                      <m:r>
                        <a:rPr lang="en-US" altLang="zh-CN" sz="2800" b="1" i="0" smtClean="0">
                          <a:latin typeface="Cambria Math"/>
                          <a:ea typeface="Cambria Math"/>
                        </a:rPr>
                        <m:t>𝐟</m:t>
                      </m:r>
                      <m:d>
                        <m:dPr>
                          <m:ctrlPr>
                            <a:rPr lang="en-US" altLang="zh-CN" sz="2800" b="1" i="1" smtClean="0">
                              <a:latin typeface="Cambria Math"/>
                              <a:ea typeface="Cambria Math"/>
                            </a:rPr>
                          </m:ctrlPr>
                        </m:dPr>
                        <m:e>
                          <m:r>
                            <a:rPr lang="en-US" altLang="zh-CN" sz="2800" b="1" i="1" smtClean="0">
                              <a:latin typeface="Cambria Math"/>
                              <a:ea typeface="Cambria Math"/>
                            </a:rPr>
                            <m:t>𝒏</m:t>
                          </m:r>
                        </m:e>
                      </m:d>
                    </m:oMath>
                  </m:oMathPara>
                </a14:m>
                <a:endParaRPr lang="zh-CN" altLang="en-US" sz="2000" b="1" dirty="0">
                  <a:latin typeface="黑体" pitchFamily="49" charset="-122"/>
                  <a:ea typeface="黑体" pitchFamily="49" charset="-122"/>
                </a:endParaRPr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4697" y="1284048"/>
                <a:ext cx="3067571" cy="523220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矩形 15"/>
              <p:cNvSpPr/>
              <p:nvPr/>
            </p:nvSpPr>
            <p:spPr>
              <a:xfrm>
                <a:off x="5512580" y="1284048"/>
                <a:ext cx="2733505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1" i="1" smtClean="0">
                          <a:latin typeface="Cambria Math"/>
                          <a:ea typeface="Cambria Math"/>
                        </a:rPr>
                        <m:t>𝒇</m:t>
                      </m:r>
                      <m:d>
                        <m:dPr>
                          <m:ctrlPr>
                            <a:rPr lang="en-US" altLang="zh-CN" sz="2800" b="1" i="1">
                              <a:latin typeface="Cambria Math"/>
                              <a:ea typeface="Cambria Math"/>
                            </a:rPr>
                          </m:ctrlPr>
                        </m:dPr>
                        <m:e>
                          <m:r>
                            <a:rPr lang="en-US" altLang="zh-CN" sz="2800" b="1" i="1">
                              <a:latin typeface="Cambria Math"/>
                              <a:ea typeface="Cambria Math"/>
                            </a:rPr>
                            <m:t>𝒏</m:t>
                          </m:r>
                        </m:e>
                      </m:d>
                      <m:r>
                        <a:rPr lang="en-US" altLang="zh-CN" sz="2800" b="1" i="0" smtClean="0">
                          <a:latin typeface="Cambria Math"/>
                          <a:ea typeface="Cambria Math"/>
                        </a:rPr>
                        <m:t>=</m:t>
                      </m:r>
                      <m:r>
                        <a:rPr lang="en-US" altLang="zh-CN" sz="2800" b="1" i="1" smtClean="0">
                          <a:latin typeface="Cambria Math"/>
                          <a:ea typeface="Cambria Math"/>
                        </a:rPr>
                        <m:t>𝒏</m:t>
                      </m:r>
                      <m:func>
                        <m:funcPr>
                          <m:ctrlPr>
                            <a:rPr lang="en-US" altLang="zh-CN" sz="2800" b="1" i="1" smtClean="0">
                              <a:latin typeface="Cambria Math"/>
                              <a:ea typeface="Cambria Math"/>
                            </a:rPr>
                          </m:ctrlPr>
                        </m:funcPr>
                        <m:fName>
                          <m:r>
                            <a:rPr lang="en-US" altLang="zh-CN" sz="2800" b="1" i="0" smtClean="0">
                              <a:latin typeface="Cambria Math"/>
                              <a:ea typeface="Cambria Math"/>
                            </a:rPr>
                            <m:t>𝐥𝐨𝐠</m:t>
                          </m:r>
                        </m:fName>
                        <m:e>
                          <m:r>
                            <a:rPr lang="en-US" altLang="zh-CN" sz="2800" b="1" i="1" smtClean="0">
                              <a:latin typeface="Cambria Math"/>
                              <a:ea typeface="Cambria Math"/>
                            </a:rPr>
                            <m:t>𝒏</m:t>
                          </m:r>
                        </m:e>
                      </m:func>
                    </m:oMath>
                  </m:oMathPara>
                </a14:m>
                <a:endParaRPr lang="zh-CN" altLang="en-US" sz="2400" b="1" i="1" dirty="0">
                  <a:latin typeface="黑体" pitchFamily="49" charset="-122"/>
                  <a:ea typeface="黑体" pitchFamily="49" charset="-122"/>
                </a:endParaRPr>
              </a:p>
            </p:txBody>
          </p:sp>
        </mc:Choice>
        <mc:Fallback xmlns="">
          <p:sp>
            <p:nvSpPr>
              <p:cNvPr id="16" name="矩形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2580" y="1284048"/>
                <a:ext cx="2733505" cy="523220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矩形 17"/>
          <p:cNvSpPr/>
          <p:nvPr/>
        </p:nvSpPr>
        <p:spPr>
          <a:xfrm>
            <a:off x="345281" y="1293379"/>
            <a:ext cx="108484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spc="-6" dirty="0">
                <a:latin typeface="黑体" pitchFamily="49" charset="-122"/>
                <a:ea typeface="黑体" pitchFamily="49" charset="-122"/>
                <a:cs typeface="Times New Roman" pitchFamily="18" charset="0"/>
              </a:rPr>
              <a:t>要使 </a:t>
            </a:r>
            <a:endParaRPr lang="zh-CN" altLang="en-US" sz="3200" dirty="0">
              <a:latin typeface="黑体" pitchFamily="49" charset="-122"/>
              <a:ea typeface="黑体" pitchFamily="49" charset="-122"/>
              <a:cs typeface="Times New Roman" pitchFamily="18" charset="0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3809995" y="1284048"/>
            <a:ext cx="216456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spc="-6" dirty="0">
                <a:latin typeface="黑体" pitchFamily="49" charset="-122"/>
                <a:ea typeface="黑体" pitchFamily="49" charset="-122"/>
                <a:cs typeface="Times New Roman"/>
              </a:rPr>
              <a:t>成立，代入 </a:t>
            </a:r>
            <a:endParaRPr lang="zh-CN" altLang="en-US" sz="2800" dirty="0"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7907395" y="1253733"/>
            <a:ext cx="2412262" cy="6309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5534" marR="1266041">
              <a:lnSpc>
                <a:spcPct val="124900"/>
              </a:lnSpc>
              <a:spcBef>
                <a:spcPts val="183"/>
              </a:spcBef>
            </a:pPr>
            <a:r>
              <a:rPr lang="en-US" altLang="zh-CN" sz="2800" b="1" spc="-6" dirty="0">
                <a:latin typeface="黑体" pitchFamily="49" charset="-122"/>
                <a:ea typeface="黑体" pitchFamily="49" charset="-122"/>
                <a:cs typeface="Times New Roman"/>
              </a:rPr>
              <a:t>,</a:t>
            </a:r>
            <a:r>
              <a:rPr lang="zh-CN" altLang="en-US" sz="2800" b="1" spc="-6" dirty="0">
                <a:latin typeface="黑体" pitchFamily="49" charset="-122"/>
                <a:ea typeface="黑体" pitchFamily="49" charset="-122"/>
                <a:cs typeface="Times New Roman"/>
              </a:rPr>
              <a:t>得到</a:t>
            </a:r>
          </a:p>
        </p:txBody>
      </p:sp>
      <p:sp>
        <p:nvSpPr>
          <p:cNvPr id="21" name="object 14"/>
          <p:cNvSpPr txBox="1"/>
          <p:nvPr/>
        </p:nvSpPr>
        <p:spPr>
          <a:xfrm>
            <a:off x="385589" y="3242348"/>
            <a:ext cx="8882743" cy="2118911"/>
          </a:xfrm>
          <a:prstGeom prst="rect">
            <a:avLst/>
          </a:prstGeom>
        </p:spPr>
        <p:txBody>
          <a:bodyPr vert="horz" wrap="square" lIns="0" tIns="23302" rIns="0" bIns="0" rtlCol="0">
            <a:spAutoFit/>
          </a:bodyPr>
          <a:lstStyle/>
          <a:p>
            <a:pPr marL="15534" marR="6214">
              <a:lnSpc>
                <a:spcPct val="99200"/>
              </a:lnSpc>
              <a:spcBef>
                <a:spcPts val="2263"/>
              </a:spcBef>
              <a:tabLst>
                <a:tab pos="3067238" algn="l"/>
              </a:tabLst>
            </a:pPr>
            <a:r>
              <a:rPr sz="2800" b="1" spc="6" dirty="0" err="1" smtClean="0">
                <a:latin typeface="宋体"/>
                <a:cs typeface="宋体"/>
              </a:rPr>
              <a:t>只</a:t>
            </a:r>
            <a:r>
              <a:rPr sz="2800" b="1" spc="-6" dirty="0" err="1" smtClean="0">
                <a:latin typeface="宋体"/>
                <a:cs typeface="宋体"/>
              </a:rPr>
              <a:t>要</a:t>
            </a:r>
            <a:r>
              <a:rPr sz="2800" b="1" spc="-929" dirty="0" smtClean="0">
                <a:latin typeface="宋体"/>
                <a:cs typeface="宋体"/>
              </a:rPr>
              <a:t> </a:t>
            </a:r>
            <a:r>
              <a:rPr sz="2800" b="1" i="1" u="sng" dirty="0">
                <a:uFill>
                  <a:solidFill>
                    <a:srgbClr val="C00000"/>
                  </a:solidFill>
                </a:uFill>
                <a:latin typeface="Times New Roman"/>
                <a:cs typeface="Times New Roman"/>
              </a:rPr>
              <a:t>c</a:t>
            </a:r>
            <a:r>
              <a:rPr sz="2800" b="1" i="1" u="sng" spc="-37" dirty="0">
                <a:uFill>
                  <a:solidFill>
                    <a:srgbClr val="C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800" b="1" u="sng" dirty="0">
                <a:uFill>
                  <a:solidFill>
                    <a:srgbClr val="C00000"/>
                  </a:solidFill>
                </a:uFill>
                <a:latin typeface="Symbol"/>
                <a:cs typeface="Symbol"/>
              </a:rPr>
              <a:t></a:t>
            </a:r>
            <a:r>
              <a:rPr sz="2800" b="1" u="sng" spc="-30" dirty="0">
                <a:uFill>
                  <a:solidFill>
                    <a:srgbClr val="C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800" b="1" u="sng" dirty="0">
                <a:uFill>
                  <a:solidFill>
                    <a:srgbClr val="C00000"/>
                  </a:solidFill>
                </a:uFill>
                <a:latin typeface="Times New Roman"/>
                <a:cs typeface="Times New Roman"/>
              </a:rPr>
              <a:t>3/4</a:t>
            </a:r>
            <a:r>
              <a:rPr sz="2800" b="1" dirty="0">
                <a:latin typeface="宋体"/>
                <a:cs typeface="宋体"/>
              </a:rPr>
              <a:t>，</a:t>
            </a:r>
            <a:r>
              <a:rPr sz="2800" b="1" spc="6" dirty="0" smtClean="0">
                <a:latin typeface="宋体"/>
                <a:cs typeface="宋体"/>
              </a:rPr>
              <a:t>上述不等式可以</a:t>
            </a:r>
            <a:r>
              <a:rPr sz="2800" b="1" spc="-12" dirty="0" smtClean="0">
                <a:latin typeface="宋体"/>
                <a:cs typeface="宋体"/>
              </a:rPr>
              <a:t>对所</a:t>
            </a:r>
            <a:r>
              <a:rPr sz="2800" b="1" spc="-6" dirty="0" smtClean="0">
                <a:latin typeface="宋体"/>
                <a:cs typeface="宋体"/>
              </a:rPr>
              <a:t>有</a:t>
            </a:r>
            <a:r>
              <a:rPr sz="2800" b="1" dirty="0" smtClean="0">
                <a:latin typeface="宋体"/>
                <a:cs typeface="宋体"/>
              </a:rPr>
              <a:t>充分大</a:t>
            </a:r>
            <a:r>
              <a:rPr sz="2800" b="1" spc="-6" dirty="0" smtClean="0">
                <a:latin typeface="宋体"/>
                <a:cs typeface="宋体"/>
              </a:rPr>
              <a:t>的</a:t>
            </a:r>
            <a:r>
              <a:rPr sz="2800" b="1" i="1" dirty="0">
                <a:latin typeface="Times New Roman"/>
                <a:cs typeface="Times New Roman"/>
              </a:rPr>
              <a:t>n</a:t>
            </a:r>
            <a:r>
              <a:rPr sz="2800" b="1" i="1" spc="-2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宋体"/>
                <a:cs typeface="宋体"/>
              </a:rPr>
              <a:t>成立</a:t>
            </a:r>
            <a:r>
              <a:rPr sz="2800" b="1" dirty="0">
                <a:latin typeface="Calibri"/>
                <a:cs typeface="Calibri"/>
              </a:rPr>
              <a:t>.	</a:t>
            </a:r>
            <a:endParaRPr lang="en-US" sz="2800" b="1" dirty="0" smtClean="0">
              <a:latin typeface="Calibri"/>
              <a:cs typeface="Calibri"/>
            </a:endParaRPr>
          </a:p>
          <a:p>
            <a:pPr marL="15534" marR="6214">
              <a:lnSpc>
                <a:spcPct val="99200"/>
              </a:lnSpc>
              <a:spcBef>
                <a:spcPts val="2263"/>
              </a:spcBef>
              <a:tabLst>
                <a:tab pos="3067238" algn="l"/>
              </a:tabLst>
            </a:pPr>
            <a:r>
              <a:rPr sz="2800" b="1" dirty="0" err="1" smtClean="0">
                <a:latin typeface="宋体"/>
                <a:cs typeface="宋体"/>
              </a:rPr>
              <a:t>相当于主定理的</a:t>
            </a:r>
            <a:r>
              <a:rPr sz="2800" b="1" dirty="0" smtClean="0">
                <a:latin typeface="宋体"/>
                <a:cs typeface="宋体"/>
              </a:rPr>
              <a:t> </a:t>
            </a:r>
            <a:r>
              <a:rPr sz="2800" b="1" spc="-6" dirty="0">
                <a:latin typeface="Calibri"/>
                <a:cs typeface="Calibri"/>
              </a:rPr>
              <a:t>Case3.</a:t>
            </a:r>
            <a:endParaRPr sz="2800" dirty="0">
              <a:latin typeface="Calibri"/>
              <a:cs typeface="Calibri"/>
            </a:endParaRPr>
          </a:p>
          <a:p>
            <a:pPr marL="15534">
              <a:spcBef>
                <a:spcPts val="704"/>
              </a:spcBef>
            </a:pPr>
            <a:r>
              <a:rPr sz="2800" b="1" spc="6" dirty="0" err="1" smtClean="0">
                <a:latin typeface="宋体"/>
                <a:cs typeface="宋体"/>
              </a:rPr>
              <a:t>因此</a:t>
            </a:r>
            <a:r>
              <a:rPr sz="2800" b="1" spc="-6" dirty="0" err="1" smtClean="0">
                <a:latin typeface="宋体"/>
                <a:cs typeface="宋体"/>
              </a:rPr>
              <a:t>有</a:t>
            </a:r>
            <a:r>
              <a:rPr sz="2800" b="1" spc="514" dirty="0" smtClean="0">
                <a:latin typeface="宋体"/>
                <a:cs typeface="宋体"/>
              </a:rPr>
              <a:t> </a:t>
            </a:r>
            <a:r>
              <a:rPr sz="2800" b="1" i="1" spc="-30" dirty="0">
                <a:latin typeface="Times New Roman"/>
                <a:cs typeface="Times New Roman"/>
              </a:rPr>
              <a:t>T</a:t>
            </a:r>
            <a:r>
              <a:rPr sz="2800" b="1" spc="-30" dirty="0">
                <a:latin typeface="Times New Roman"/>
                <a:cs typeface="Times New Roman"/>
              </a:rPr>
              <a:t>(</a:t>
            </a:r>
            <a:r>
              <a:rPr sz="2800" b="1" i="1" spc="-30" dirty="0">
                <a:latin typeface="Times New Roman"/>
                <a:cs typeface="Times New Roman"/>
              </a:rPr>
              <a:t>n</a:t>
            </a:r>
            <a:r>
              <a:rPr sz="2800" b="1" spc="-30" dirty="0">
                <a:latin typeface="Times New Roman"/>
                <a:cs typeface="Times New Roman"/>
              </a:rPr>
              <a:t>)=</a:t>
            </a:r>
            <a:r>
              <a:rPr sz="2800" b="1" i="1" spc="-30" dirty="0">
                <a:latin typeface="Symbol"/>
                <a:cs typeface="Symbol"/>
              </a:rPr>
              <a:t></a:t>
            </a:r>
            <a:r>
              <a:rPr sz="2800" b="1" i="1" spc="-25" dirty="0">
                <a:latin typeface="Times New Roman"/>
                <a:cs typeface="Times New Roman"/>
              </a:rPr>
              <a:t> </a:t>
            </a:r>
            <a:r>
              <a:rPr sz="2800" b="1" spc="-6" dirty="0">
                <a:latin typeface="Times New Roman"/>
                <a:cs typeface="Times New Roman"/>
              </a:rPr>
              <a:t>(</a:t>
            </a:r>
            <a:r>
              <a:rPr sz="2800" b="1" i="1" spc="-6" dirty="0">
                <a:latin typeface="Times New Roman"/>
                <a:cs typeface="Times New Roman"/>
              </a:rPr>
              <a:t>f </a:t>
            </a:r>
            <a:r>
              <a:rPr sz="2800" b="1" spc="-25" dirty="0">
                <a:latin typeface="Times New Roman"/>
                <a:cs typeface="Times New Roman"/>
              </a:rPr>
              <a:t>(</a:t>
            </a:r>
            <a:r>
              <a:rPr sz="2800" b="1" i="1" spc="-25" dirty="0">
                <a:latin typeface="Times New Roman"/>
                <a:cs typeface="Times New Roman"/>
              </a:rPr>
              <a:t>n</a:t>
            </a:r>
            <a:r>
              <a:rPr sz="2800" b="1" spc="-25" dirty="0">
                <a:latin typeface="Times New Roman"/>
                <a:cs typeface="Times New Roman"/>
              </a:rPr>
              <a:t>))=</a:t>
            </a:r>
            <a:r>
              <a:rPr sz="2800" b="1" i="1" spc="-25" dirty="0">
                <a:latin typeface="Symbol"/>
                <a:cs typeface="Symbol"/>
              </a:rPr>
              <a:t></a:t>
            </a:r>
            <a:r>
              <a:rPr sz="2800" b="1" i="1" spc="-37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(</a:t>
            </a:r>
            <a:r>
              <a:rPr sz="2800" b="1" i="1" dirty="0">
                <a:latin typeface="Times New Roman"/>
                <a:cs typeface="Times New Roman"/>
              </a:rPr>
              <a:t>n</a:t>
            </a:r>
            <a:r>
              <a:rPr sz="2800" b="1" dirty="0">
                <a:latin typeface="Times New Roman"/>
                <a:cs typeface="Times New Roman"/>
              </a:rPr>
              <a:t>log</a:t>
            </a:r>
            <a:r>
              <a:rPr sz="2800" b="1" i="1" dirty="0">
                <a:latin typeface="Times New Roman"/>
                <a:cs typeface="Times New Roman"/>
              </a:rPr>
              <a:t>n</a:t>
            </a:r>
            <a:r>
              <a:rPr sz="2800" b="1" dirty="0">
                <a:latin typeface="Times New Roman"/>
                <a:cs typeface="Times New Roman"/>
              </a:rPr>
              <a:t>)</a:t>
            </a:r>
            <a:endParaRPr sz="2800" dirty="0">
              <a:latin typeface="Times New Roman"/>
              <a:cs typeface="Times New Roman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矩形 21"/>
              <p:cNvSpPr/>
              <p:nvPr/>
            </p:nvSpPr>
            <p:spPr>
              <a:xfrm>
                <a:off x="587830" y="1826169"/>
                <a:ext cx="6253832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1" i="1" smtClean="0">
                          <a:solidFill>
                            <a:srgbClr val="C00000"/>
                          </a:solidFill>
                          <a:latin typeface="Cambria Math"/>
                        </a:rPr>
                        <m:t>𝒂</m:t>
                      </m:r>
                      <m:r>
                        <a:rPr lang="en-US" altLang="zh-CN" sz="2800" b="1" i="1" smtClean="0">
                          <a:latin typeface="Cambria Math"/>
                          <a:ea typeface="Cambria Math"/>
                        </a:rPr>
                        <m:t>𝒇</m:t>
                      </m:r>
                      <m:d>
                        <m:dPr>
                          <m:ctrlPr>
                            <a:rPr lang="en-US" altLang="zh-CN" sz="2800" b="1" i="1">
                              <a:latin typeface="Cambria Math"/>
                              <a:ea typeface="Cambria Math"/>
                            </a:rPr>
                          </m:ctrlPr>
                        </m:dPr>
                        <m:e>
                          <m:f>
                            <m:fPr>
                              <m:type m:val="lin"/>
                              <m:ctrlPr>
                                <a:rPr lang="en-US" altLang="zh-CN" sz="2800" b="1" i="1" smtClean="0">
                                  <a:latin typeface="Cambria Math"/>
                                  <a:ea typeface="Cambria Math"/>
                                </a:rPr>
                              </m:ctrlPr>
                            </m:fPr>
                            <m:num>
                              <m:r>
                                <a:rPr lang="en-US" altLang="zh-CN" sz="2800" b="1" i="1" smtClean="0">
                                  <a:latin typeface="Cambria Math"/>
                                  <a:ea typeface="Cambria Math"/>
                                </a:rPr>
                                <m:t>𝒏</m:t>
                              </m:r>
                            </m:num>
                            <m:den>
                              <m:r>
                                <a:rPr lang="en-US" altLang="zh-CN" sz="2800" b="1" i="1" smtClean="0">
                                  <a:latin typeface="Cambria Math"/>
                                  <a:ea typeface="Cambria Math"/>
                                </a:rPr>
                                <m:t>𝒃</m:t>
                              </m:r>
                            </m:den>
                          </m:f>
                        </m:e>
                      </m:d>
                      <m:r>
                        <a:rPr lang="en-US" altLang="zh-CN" sz="2800" b="1" i="0" smtClean="0">
                          <a:latin typeface="Cambria Math"/>
                          <a:ea typeface="Cambria Math"/>
                        </a:rPr>
                        <m:t>=</m:t>
                      </m:r>
                      <m:r>
                        <a:rPr lang="en-US" altLang="zh-CN" sz="2800" b="1" i="1" smtClean="0">
                          <a:solidFill>
                            <a:srgbClr val="C00000"/>
                          </a:solidFill>
                          <a:latin typeface="Cambria Math"/>
                          <a:ea typeface="Cambria Math"/>
                        </a:rPr>
                        <m:t>𝒂</m:t>
                      </m:r>
                      <m:d>
                        <m:dPr>
                          <m:ctrlPr>
                            <a:rPr lang="en-US" altLang="zh-CN" sz="2800" b="1" i="1" smtClean="0">
                              <a:latin typeface="Cambria Math"/>
                              <a:ea typeface="Cambria Math"/>
                            </a:rPr>
                          </m:ctrlPr>
                        </m:dPr>
                        <m:e>
                          <m:f>
                            <m:fPr>
                              <m:type m:val="lin"/>
                              <m:ctrlPr>
                                <a:rPr lang="en-US" altLang="zh-CN" sz="2800" b="1" i="1" smtClean="0">
                                  <a:latin typeface="Cambria Math"/>
                                  <a:ea typeface="Cambria Math"/>
                                </a:rPr>
                              </m:ctrlPr>
                            </m:fPr>
                            <m:num>
                              <m:r>
                                <a:rPr lang="en-US" altLang="zh-CN" sz="2800" b="1" i="1" smtClean="0">
                                  <a:latin typeface="Cambria Math"/>
                                  <a:ea typeface="Cambria Math"/>
                                </a:rPr>
                                <m:t>𝒏</m:t>
                              </m:r>
                            </m:num>
                            <m:den>
                              <m:r>
                                <a:rPr lang="en-US" altLang="zh-CN" sz="2800" b="1" i="1" smtClean="0">
                                  <a:latin typeface="Cambria Math"/>
                                  <a:ea typeface="Cambria Math"/>
                                </a:rPr>
                                <m:t>𝒃</m:t>
                              </m:r>
                            </m:den>
                          </m:f>
                        </m:e>
                      </m:d>
                      <m:func>
                        <m:funcPr>
                          <m:ctrlPr>
                            <a:rPr lang="en-US" altLang="zh-CN" sz="2800" b="1" i="1" smtClean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</a:rPr>
                          </m:ctrlPr>
                        </m:funcPr>
                        <m:fName>
                          <m:r>
                            <a:rPr lang="en-US" altLang="zh-CN" sz="2800" b="1" i="0" smtClean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</a:rPr>
                            <m:t>𝐥𝐨𝐠</m:t>
                          </m:r>
                        </m:fName>
                        <m:e>
                          <m:f>
                            <m:fPr>
                              <m:type m:val="lin"/>
                              <m:ctrlPr>
                                <a:rPr lang="en-US" altLang="zh-CN" sz="2800" b="1" i="1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</a:rPr>
                              </m:ctrlPr>
                            </m:fPr>
                            <m:num>
                              <m:r>
                                <a:rPr lang="en-US" altLang="zh-CN" sz="2800" b="1" i="1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</a:rPr>
                                <m:t>𝒏</m:t>
                              </m:r>
                            </m:num>
                            <m:den>
                              <m:r>
                                <a:rPr lang="en-US" altLang="zh-CN" sz="2800" b="1" i="1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</a:rPr>
                                <m:t>𝒃</m:t>
                              </m:r>
                            </m:den>
                          </m:f>
                        </m:e>
                      </m:func>
                    </m:oMath>
                  </m:oMathPara>
                </a14:m>
                <a:endParaRPr lang="zh-CN" altLang="en-US" sz="2400" b="1" dirty="0">
                  <a:latin typeface="黑体" pitchFamily="49" charset="-122"/>
                  <a:ea typeface="黑体" pitchFamily="49" charset="-122"/>
                </a:endParaRPr>
              </a:p>
            </p:txBody>
          </p:sp>
        </mc:Choice>
        <mc:Fallback xmlns="">
          <p:sp>
            <p:nvSpPr>
              <p:cNvPr id="22" name="矩形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7830" y="1826169"/>
                <a:ext cx="6253832" cy="523220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216505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21" grpId="0"/>
      <p:bldP spid="22" grpId="0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448287" y="169363"/>
            <a:ext cx="8854334" cy="692011"/>
          </a:xfrm>
          <a:prstGeom prst="rect">
            <a:avLst/>
          </a:prstGeom>
        </p:spPr>
        <p:txBody>
          <a:bodyPr vert="horz" wrap="square" lIns="0" tIns="14758" rIns="0" bIns="0" rtlCol="0" anchor="ctr">
            <a:spAutoFit/>
          </a:bodyPr>
          <a:lstStyle/>
          <a:p>
            <a:pPr marL="15534" algn="ctr">
              <a:lnSpc>
                <a:spcPct val="100000"/>
              </a:lnSpc>
              <a:spcBef>
                <a:spcPts val="117"/>
              </a:spcBef>
            </a:pPr>
            <a:r>
              <a:rPr sz="4400" b="1" spc="-12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递归算法分析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410961" y="1134019"/>
            <a:ext cx="8900989" cy="554025"/>
          </a:xfrm>
          <a:prstGeom prst="rect">
            <a:avLst/>
          </a:prstGeom>
        </p:spPr>
        <p:txBody>
          <a:bodyPr vert="horz" wrap="square" lIns="0" tIns="121947" rIns="0" bIns="0" rtlCol="0">
            <a:spAutoFit/>
          </a:bodyPr>
          <a:lstStyle/>
          <a:p>
            <a:pPr algn="just">
              <a:spcBef>
                <a:spcPts val="961"/>
              </a:spcBef>
            </a:pPr>
            <a:r>
              <a:rPr sz="2800" b="1" spc="-6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  <a:cs typeface="宋体"/>
              </a:rPr>
              <a:t>二分检</a:t>
            </a:r>
            <a:r>
              <a:rPr sz="2800" b="1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  <a:cs typeface="宋体"/>
              </a:rPr>
              <a:t>索</a:t>
            </a:r>
            <a:r>
              <a:rPr sz="2800" b="1" dirty="0">
                <a:latin typeface="宋体"/>
                <a:cs typeface="宋体"/>
              </a:rPr>
              <a:t>：</a:t>
            </a:r>
            <a:r>
              <a:rPr sz="2800" b="1" i="1" dirty="0">
                <a:latin typeface="Times New Roman"/>
                <a:cs typeface="Times New Roman"/>
              </a:rPr>
              <a:t>W</a:t>
            </a:r>
            <a:r>
              <a:rPr sz="2800" b="1" dirty="0">
                <a:latin typeface="Times New Roman"/>
                <a:cs typeface="Times New Roman"/>
              </a:rPr>
              <a:t>(</a:t>
            </a:r>
            <a:r>
              <a:rPr sz="2800" b="1" i="1" dirty="0">
                <a:latin typeface="Times New Roman"/>
                <a:cs typeface="Times New Roman"/>
              </a:rPr>
              <a:t>n</a:t>
            </a:r>
            <a:r>
              <a:rPr sz="2800" b="1" dirty="0">
                <a:latin typeface="Times New Roman"/>
                <a:cs typeface="Times New Roman"/>
              </a:rPr>
              <a:t>)=</a:t>
            </a:r>
            <a:r>
              <a:rPr sz="2800" b="1" i="1" dirty="0">
                <a:latin typeface="Times New Roman"/>
                <a:cs typeface="Times New Roman"/>
              </a:rPr>
              <a:t>W</a:t>
            </a:r>
            <a:r>
              <a:rPr sz="2800" b="1" dirty="0">
                <a:latin typeface="Times New Roman"/>
                <a:cs typeface="Times New Roman"/>
              </a:rPr>
              <a:t>(</a:t>
            </a:r>
            <a:r>
              <a:rPr sz="2800" b="1" i="1" dirty="0">
                <a:latin typeface="Times New Roman"/>
                <a:cs typeface="Times New Roman"/>
              </a:rPr>
              <a:t>n</a:t>
            </a:r>
            <a:r>
              <a:rPr sz="2800" b="1" dirty="0">
                <a:latin typeface="Times New Roman"/>
                <a:cs typeface="Times New Roman"/>
              </a:rPr>
              <a:t>/2)+1,</a:t>
            </a:r>
            <a:r>
              <a:rPr sz="2800" b="1" spc="-104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W</a:t>
            </a:r>
            <a:r>
              <a:rPr sz="2800" b="1" dirty="0">
                <a:latin typeface="Times New Roman"/>
                <a:cs typeface="Times New Roman"/>
              </a:rPr>
              <a:t>(1)=</a:t>
            </a:r>
            <a:r>
              <a:rPr sz="2800" b="1" dirty="0" smtClean="0">
                <a:latin typeface="Times New Roman"/>
                <a:cs typeface="Times New Roman"/>
              </a:rPr>
              <a:t>1</a:t>
            </a:r>
            <a:endParaRPr sz="2800" dirty="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10962" y="5192421"/>
            <a:ext cx="8900988" cy="509320"/>
          </a:xfrm>
          <a:prstGeom prst="rect">
            <a:avLst/>
          </a:prstGeom>
        </p:spPr>
        <p:txBody>
          <a:bodyPr vert="horz" wrap="square" lIns="0" tIns="77674" rIns="0" bIns="0" rtlCol="0">
            <a:spAutoFit/>
          </a:bodyPr>
          <a:lstStyle/>
          <a:p>
            <a:pPr marL="15534">
              <a:spcBef>
                <a:spcPts val="612"/>
              </a:spcBef>
            </a:pPr>
            <a:r>
              <a:rPr sz="2800" b="1" dirty="0">
                <a:latin typeface="黑体" pitchFamily="49" charset="-122"/>
                <a:ea typeface="黑体" pitchFamily="49" charset="-122"/>
                <a:cs typeface="宋体"/>
              </a:rPr>
              <a:t>属于</a:t>
            </a:r>
            <a:r>
              <a:rPr sz="2800" b="1" spc="-6" dirty="0" smtClean="0">
                <a:latin typeface="Times New Roman"/>
                <a:cs typeface="Times New Roman"/>
              </a:rPr>
              <a:t>Case2</a:t>
            </a:r>
            <a:r>
              <a:rPr sz="2800" b="1" spc="-6" dirty="0" smtClean="0">
                <a:latin typeface="宋体"/>
                <a:cs typeface="宋体"/>
              </a:rPr>
              <a:t>，</a:t>
            </a:r>
            <a:r>
              <a:rPr sz="2800" b="1" i="1" spc="-12" dirty="0" smtClean="0">
                <a:latin typeface="Times New Roman"/>
                <a:cs typeface="Times New Roman"/>
              </a:rPr>
              <a:t>W</a:t>
            </a:r>
            <a:r>
              <a:rPr sz="2800" b="1" spc="-12" dirty="0" smtClean="0">
                <a:latin typeface="Times New Roman"/>
                <a:cs typeface="Times New Roman"/>
              </a:rPr>
              <a:t>(</a:t>
            </a:r>
            <a:r>
              <a:rPr sz="2800" b="1" i="1" spc="-12" dirty="0" smtClean="0">
                <a:latin typeface="Times New Roman"/>
                <a:cs typeface="Times New Roman"/>
              </a:rPr>
              <a:t>n</a:t>
            </a:r>
            <a:r>
              <a:rPr sz="2800" b="1" spc="-12" dirty="0">
                <a:latin typeface="Times New Roman"/>
                <a:cs typeface="Times New Roman"/>
              </a:rPr>
              <a:t>)=</a:t>
            </a:r>
            <a:r>
              <a:rPr sz="2800" b="1" i="1" spc="-12" dirty="0">
                <a:latin typeface="Symbol"/>
                <a:cs typeface="Symbol"/>
              </a:rPr>
              <a:t></a:t>
            </a:r>
            <a:r>
              <a:rPr sz="2800" b="1" spc="-12" dirty="0">
                <a:latin typeface="Times New Roman"/>
                <a:cs typeface="Times New Roman"/>
              </a:rPr>
              <a:t>(</a:t>
            </a:r>
            <a:r>
              <a:rPr sz="2800" b="1" i="1" spc="-12" dirty="0">
                <a:latin typeface="Times New Roman"/>
                <a:cs typeface="Times New Roman"/>
              </a:rPr>
              <a:t>n</a:t>
            </a:r>
            <a:r>
              <a:rPr sz="2800" b="1" spc="-12" dirty="0">
                <a:latin typeface="Times New Roman"/>
                <a:cs typeface="Times New Roman"/>
              </a:rPr>
              <a:t>log</a:t>
            </a:r>
            <a:r>
              <a:rPr sz="2800" b="1" i="1" spc="-12" dirty="0">
                <a:latin typeface="Times New Roman"/>
                <a:cs typeface="Times New Roman"/>
              </a:rPr>
              <a:t>n</a:t>
            </a:r>
            <a:r>
              <a:rPr sz="2800" b="1" spc="-12" dirty="0">
                <a:latin typeface="Times New Roman"/>
                <a:cs typeface="Times New Roman"/>
              </a:rPr>
              <a:t>)</a:t>
            </a:r>
            <a:endParaRPr sz="2800" dirty="0">
              <a:latin typeface="Times New Roman"/>
              <a:cs typeface="Times New Roman"/>
            </a:endParaRPr>
          </a:p>
        </p:txBody>
      </p:sp>
      <p:sp>
        <p:nvSpPr>
          <p:cNvPr id="9" name="object 6"/>
          <p:cNvSpPr txBox="1"/>
          <p:nvPr/>
        </p:nvSpPr>
        <p:spPr>
          <a:xfrm>
            <a:off x="372050" y="2478390"/>
            <a:ext cx="8900989" cy="1061856"/>
          </a:xfrm>
          <a:prstGeom prst="rect">
            <a:avLst/>
          </a:prstGeom>
        </p:spPr>
        <p:txBody>
          <a:bodyPr vert="horz" wrap="square" lIns="0" tIns="121947" rIns="0" bIns="0" rtlCol="0">
            <a:spAutoFit/>
          </a:bodyPr>
          <a:lstStyle/>
          <a:p>
            <a:pPr marR="3600063">
              <a:spcBef>
                <a:spcPts val="924"/>
              </a:spcBef>
            </a:pPr>
            <a:r>
              <a:rPr sz="2800" b="1" spc="-6" dirty="0" smtClean="0">
                <a:latin typeface="黑体" pitchFamily="49" charset="-122"/>
                <a:ea typeface="黑体" pitchFamily="49" charset="-122"/>
                <a:cs typeface="宋体"/>
              </a:rPr>
              <a:t>属</a:t>
            </a:r>
            <a:r>
              <a:rPr sz="2800" b="1" dirty="0" smtClean="0">
                <a:latin typeface="黑体" pitchFamily="49" charset="-122"/>
                <a:ea typeface="黑体" pitchFamily="49" charset="-122"/>
                <a:cs typeface="宋体"/>
              </a:rPr>
              <a:t>于</a:t>
            </a:r>
            <a:r>
              <a:rPr sz="2800" b="1" spc="-6" dirty="0">
                <a:latin typeface="黑体" pitchFamily="49" charset="-122"/>
                <a:ea typeface="黑体" pitchFamily="49" charset="-122"/>
                <a:cs typeface="Times New Roman"/>
              </a:rPr>
              <a:t>Case2</a:t>
            </a:r>
            <a:r>
              <a:rPr sz="2800" b="1" spc="-6" dirty="0">
                <a:latin typeface="宋体"/>
                <a:cs typeface="宋体"/>
              </a:rPr>
              <a:t>，</a:t>
            </a:r>
            <a:endParaRPr sz="2800" dirty="0">
              <a:latin typeface="宋体"/>
              <a:cs typeface="宋体"/>
            </a:endParaRPr>
          </a:p>
          <a:p>
            <a:pPr marR="1042347" algn="ctr">
              <a:spcBef>
                <a:spcPts val="557"/>
              </a:spcBef>
            </a:pPr>
            <a:r>
              <a:rPr sz="2800" b="1" i="1" spc="-12" dirty="0">
                <a:latin typeface="Times New Roman"/>
                <a:cs typeface="Times New Roman"/>
              </a:rPr>
              <a:t>W</a:t>
            </a:r>
            <a:r>
              <a:rPr sz="2800" b="1" spc="-12" dirty="0">
                <a:latin typeface="Times New Roman"/>
                <a:cs typeface="Times New Roman"/>
              </a:rPr>
              <a:t>(</a:t>
            </a:r>
            <a:r>
              <a:rPr sz="2800" b="1" i="1" spc="-12" dirty="0">
                <a:latin typeface="Times New Roman"/>
                <a:cs typeface="Times New Roman"/>
              </a:rPr>
              <a:t>n</a:t>
            </a:r>
            <a:r>
              <a:rPr sz="2800" b="1" spc="-12" dirty="0">
                <a:latin typeface="Times New Roman"/>
                <a:cs typeface="Times New Roman"/>
              </a:rPr>
              <a:t>)=</a:t>
            </a:r>
            <a:r>
              <a:rPr sz="2800" b="1" i="1" spc="-12" dirty="0">
                <a:latin typeface="Symbol"/>
                <a:cs typeface="Symbol"/>
              </a:rPr>
              <a:t></a:t>
            </a:r>
            <a:r>
              <a:rPr sz="2800" b="1" spc="-12" dirty="0">
                <a:latin typeface="Times New Roman"/>
                <a:cs typeface="Times New Roman"/>
              </a:rPr>
              <a:t>(</a:t>
            </a:r>
            <a:r>
              <a:rPr sz="2800" b="1" spc="-12" dirty="0" err="1">
                <a:latin typeface="Times New Roman"/>
                <a:cs typeface="Times New Roman"/>
              </a:rPr>
              <a:t>log</a:t>
            </a:r>
            <a:r>
              <a:rPr sz="2800" b="1" i="1" spc="-12" dirty="0" err="1">
                <a:latin typeface="Times New Roman"/>
                <a:cs typeface="Times New Roman"/>
              </a:rPr>
              <a:t>n</a:t>
            </a:r>
            <a:r>
              <a:rPr sz="2800" b="1" spc="-12" dirty="0" smtClean="0">
                <a:latin typeface="Times New Roman"/>
                <a:cs typeface="Times New Roman"/>
              </a:rPr>
              <a:t>)</a:t>
            </a:r>
            <a:endParaRPr lang="en-US" sz="2800" dirty="0">
              <a:latin typeface="Times New Roman"/>
              <a:cs typeface="Times New Roman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1775942" y="1926105"/>
                <a:ext cx="5578002" cy="53944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1" i="1" smtClean="0">
                          <a:latin typeface="Cambria Math"/>
                        </a:rPr>
                        <m:t>𝒂</m:t>
                      </m:r>
                      <m:r>
                        <a:rPr lang="en-US" altLang="zh-CN" sz="2800" b="1" i="1" smtClean="0">
                          <a:latin typeface="Cambria Math"/>
                        </a:rPr>
                        <m:t>=</m:t>
                      </m:r>
                      <m:r>
                        <a:rPr lang="en-US" altLang="zh-CN" sz="2800" b="1" i="1" smtClean="0">
                          <a:latin typeface="Cambria Math"/>
                        </a:rPr>
                        <m:t>𝟏</m:t>
                      </m:r>
                      <m:r>
                        <a:rPr lang="en-US" altLang="zh-CN" sz="2800" b="1" i="1" smtClean="0">
                          <a:latin typeface="Cambria Math"/>
                        </a:rPr>
                        <m:t>, </m:t>
                      </m:r>
                      <m:r>
                        <a:rPr lang="en-US" altLang="zh-CN" sz="2800" b="1" i="1" smtClean="0">
                          <a:latin typeface="Cambria Math"/>
                        </a:rPr>
                        <m:t>𝒃</m:t>
                      </m:r>
                      <m:r>
                        <a:rPr lang="en-US" altLang="zh-CN" sz="2800" b="1" i="1" smtClean="0">
                          <a:latin typeface="Cambria Math"/>
                        </a:rPr>
                        <m:t>=</m:t>
                      </m:r>
                      <m:r>
                        <a:rPr lang="en-US" altLang="zh-CN" sz="2800" b="1" i="1" smtClean="0">
                          <a:latin typeface="Cambria Math"/>
                        </a:rPr>
                        <m:t>𝟐</m:t>
                      </m:r>
                      <m:r>
                        <a:rPr lang="en-US" altLang="zh-CN" sz="2800" b="1" i="1" smtClean="0">
                          <a:latin typeface="Cambria Math"/>
                        </a:rPr>
                        <m:t>, </m:t>
                      </m:r>
                      <m:sSup>
                        <m:sSupPr>
                          <m:ctrlPr>
                            <a:rPr lang="en-US" altLang="zh-CN" sz="2800" b="1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US" altLang="zh-CN" sz="2800" b="1" i="1" smtClean="0">
                              <a:latin typeface="Cambria Math"/>
                            </a:rPr>
                            <m:t>𝒏</m:t>
                          </m:r>
                        </m:e>
                        <m:sup>
                          <m:func>
                            <m:funcPr>
                              <m:ctrlPr>
                                <a:rPr lang="en-US" altLang="zh-CN" sz="2800" b="1" i="1" smtClean="0">
                                  <a:latin typeface="Cambria Math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n-US" altLang="zh-CN" sz="2800" b="1" i="1" smtClean="0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b="1" i="0" smtClean="0">
                                      <a:latin typeface="Cambria Math"/>
                                    </a:rPr>
                                    <m:t>𝐥𝐨𝐠</m:t>
                                  </m:r>
                                </m:e>
                                <m:sub>
                                  <m:r>
                                    <a:rPr lang="en-US" altLang="zh-CN" sz="2800" b="1" i="1" smtClean="0">
                                      <a:latin typeface="Cambria Math"/>
                                    </a:rPr>
                                    <m:t>𝟐</m:t>
                                  </m:r>
                                </m:sub>
                              </m:sSub>
                            </m:fName>
                            <m:e>
                              <m:r>
                                <a:rPr lang="en-US" altLang="zh-CN" sz="2800" b="1" i="1" smtClean="0">
                                  <a:latin typeface="Cambria Math"/>
                                </a:rPr>
                                <m:t>𝟏</m:t>
                              </m:r>
                            </m:e>
                          </m:func>
                        </m:sup>
                      </m:sSup>
                      <m:r>
                        <a:rPr lang="en-US" altLang="zh-CN" sz="2800" b="1" i="1" smtClean="0">
                          <a:latin typeface="Cambria Math"/>
                        </a:rPr>
                        <m:t>=</m:t>
                      </m:r>
                      <m:r>
                        <a:rPr lang="en-US" altLang="zh-CN" sz="2800" b="1" i="1" smtClean="0">
                          <a:latin typeface="Cambria Math"/>
                        </a:rPr>
                        <m:t>𝟏</m:t>
                      </m:r>
                      <m:r>
                        <a:rPr lang="en-US" altLang="zh-CN" sz="2800" b="1" i="1" smtClean="0">
                          <a:latin typeface="Cambria Math"/>
                        </a:rPr>
                        <m:t>, </m:t>
                      </m:r>
                      <m:r>
                        <a:rPr lang="en-US" altLang="zh-CN" sz="2800" b="1" i="1" smtClean="0">
                          <a:latin typeface="Cambria Math"/>
                        </a:rPr>
                        <m:t>𝒇</m:t>
                      </m:r>
                      <m:d>
                        <m:dPr>
                          <m:ctrlPr>
                            <a:rPr lang="en-US" altLang="zh-CN" sz="2800" b="1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altLang="zh-CN" sz="2800" b="1" i="1" smtClean="0">
                              <a:latin typeface="Cambria Math"/>
                            </a:rPr>
                            <m:t>𝒏</m:t>
                          </m:r>
                        </m:e>
                      </m:d>
                      <m:r>
                        <a:rPr lang="en-US" altLang="zh-CN" sz="2800" b="1" i="1" smtClean="0">
                          <a:latin typeface="Cambria Math"/>
                        </a:rPr>
                        <m:t>=</m:t>
                      </m:r>
                      <m:r>
                        <a:rPr lang="en-US" altLang="zh-CN" sz="2800" b="1" i="1" smtClean="0">
                          <a:latin typeface="Cambria Math"/>
                        </a:rPr>
                        <m:t>𝟏</m:t>
                      </m:r>
                    </m:oMath>
                  </m:oMathPara>
                </a14:m>
                <a:endParaRPr lang="zh-CN" altLang="en-US" sz="2800" b="1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5942" y="1926105"/>
                <a:ext cx="5578002" cy="539443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object 6"/>
          <p:cNvSpPr txBox="1"/>
          <p:nvPr/>
        </p:nvSpPr>
        <p:spPr>
          <a:xfrm>
            <a:off x="356303" y="3494021"/>
            <a:ext cx="8900989" cy="1087504"/>
          </a:xfrm>
          <a:prstGeom prst="rect">
            <a:avLst/>
          </a:prstGeom>
        </p:spPr>
        <p:txBody>
          <a:bodyPr vert="horz" wrap="square" lIns="0" tIns="121947" rIns="0" bIns="0" rtlCol="0">
            <a:spAutoFit/>
          </a:bodyPr>
          <a:lstStyle/>
          <a:p>
            <a:pPr marR="1042347" algn="just">
              <a:spcBef>
                <a:spcPts val="557"/>
              </a:spcBef>
            </a:pPr>
            <a:r>
              <a:rPr sz="2800" b="1" dirty="0" err="1" smtClean="0">
                <a:solidFill>
                  <a:srgbClr val="C00000"/>
                </a:solidFill>
                <a:latin typeface="黑体" pitchFamily="49" charset="-122"/>
                <a:ea typeface="黑体" pitchFamily="49" charset="-122"/>
                <a:cs typeface="宋体"/>
              </a:rPr>
              <a:t>二分归并排序</a:t>
            </a:r>
            <a:r>
              <a:rPr sz="2800" b="1" spc="-12" dirty="0">
                <a:latin typeface="宋体"/>
                <a:cs typeface="宋体"/>
              </a:rPr>
              <a:t>：</a:t>
            </a:r>
            <a:endParaRPr sz="2800" dirty="0">
              <a:latin typeface="宋体"/>
              <a:cs typeface="宋体"/>
            </a:endParaRPr>
          </a:p>
          <a:p>
            <a:pPr marL="619817">
              <a:spcBef>
                <a:spcPts val="752"/>
              </a:spcBef>
            </a:pPr>
            <a:r>
              <a:rPr lang="en-US" sz="2800" b="1" i="1" dirty="0" smtClean="0">
                <a:latin typeface="Times New Roman"/>
                <a:cs typeface="Times New Roman"/>
              </a:rPr>
              <a:t>              </a:t>
            </a:r>
            <a:r>
              <a:rPr sz="2800" b="1" i="1" dirty="0" smtClean="0">
                <a:latin typeface="Times New Roman"/>
                <a:cs typeface="Times New Roman"/>
              </a:rPr>
              <a:t>W</a:t>
            </a:r>
            <a:r>
              <a:rPr sz="2800" b="1" dirty="0" smtClean="0">
                <a:latin typeface="Times New Roman"/>
                <a:cs typeface="Times New Roman"/>
              </a:rPr>
              <a:t>(</a:t>
            </a:r>
            <a:r>
              <a:rPr sz="2800" b="1" i="1" dirty="0" smtClean="0">
                <a:latin typeface="Times New Roman"/>
                <a:cs typeface="Times New Roman"/>
              </a:rPr>
              <a:t>n</a:t>
            </a:r>
            <a:r>
              <a:rPr sz="2800" b="1" dirty="0">
                <a:latin typeface="Times New Roman"/>
                <a:cs typeface="Times New Roman"/>
              </a:rPr>
              <a:t>)=2</a:t>
            </a:r>
            <a:r>
              <a:rPr sz="2800" b="1" i="1" dirty="0">
                <a:latin typeface="Times New Roman"/>
                <a:cs typeface="Times New Roman"/>
              </a:rPr>
              <a:t>W</a:t>
            </a:r>
            <a:r>
              <a:rPr sz="2800" b="1" dirty="0">
                <a:latin typeface="Times New Roman"/>
                <a:cs typeface="Times New Roman"/>
              </a:rPr>
              <a:t>(</a:t>
            </a:r>
            <a:r>
              <a:rPr sz="2800" b="1" i="1" dirty="0">
                <a:latin typeface="Times New Roman"/>
                <a:cs typeface="Times New Roman"/>
              </a:rPr>
              <a:t>n</a:t>
            </a:r>
            <a:r>
              <a:rPr sz="2800" b="1" dirty="0">
                <a:latin typeface="Times New Roman"/>
                <a:cs typeface="Times New Roman"/>
              </a:rPr>
              <a:t>/2)+</a:t>
            </a:r>
            <a:r>
              <a:rPr sz="2800" b="1" i="1" dirty="0">
                <a:latin typeface="Times New Roman"/>
                <a:cs typeface="Times New Roman"/>
              </a:rPr>
              <a:t>n</a:t>
            </a:r>
            <a:r>
              <a:rPr sz="2800" b="1" dirty="0">
                <a:latin typeface="Symbol"/>
                <a:cs typeface="Symbol"/>
              </a:rPr>
              <a:t></a:t>
            </a:r>
            <a:r>
              <a:rPr sz="2800" b="1" dirty="0">
                <a:latin typeface="Times New Roman"/>
                <a:cs typeface="Times New Roman"/>
              </a:rPr>
              <a:t>1,</a:t>
            </a:r>
            <a:r>
              <a:rPr sz="2800" b="1" spc="-159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W</a:t>
            </a:r>
            <a:r>
              <a:rPr sz="2800" b="1" dirty="0">
                <a:latin typeface="Times New Roman"/>
                <a:cs typeface="Times New Roman"/>
              </a:rPr>
              <a:t>(1)=</a:t>
            </a:r>
            <a:r>
              <a:rPr sz="2800" b="1" dirty="0" smtClean="0">
                <a:latin typeface="Times New Roman"/>
                <a:cs typeface="Times New Roman"/>
              </a:rPr>
              <a:t>0</a:t>
            </a:r>
            <a:endParaRPr sz="2800" dirty="0">
              <a:latin typeface="Times New Roman"/>
              <a:cs typeface="Times New Roman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1657728" y="4653715"/>
                <a:ext cx="6255302" cy="53944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1" i="1" smtClean="0">
                          <a:latin typeface="Cambria Math"/>
                        </a:rPr>
                        <m:t>𝒂</m:t>
                      </m:r>
                      <m:r>
                        <a:rPr lang="en-US" altLang="zh-CN" sz="2800" b="1" i="1" smtClean="0">
                          <a:latin typeface="Cambria Math"/>
                        </a:rPr>
                        <m:t>=</m:t>
                      </m:r>
                      <m:r>
                        <a:rPr lang="en-US" altLang="zh-CN" sz="2800" b="1" i="1" smtClean="0">
                          <a:latin typeface="Cambria Math"/>
                        </a:rPr>
                        <m:t>𝟐</m:t>
                      </m:r>
                      <m:r>
                        <a:rPr lang="en-US" altLang="zh-CN" sz="2800" b="1" i="1" smtClean="0">
                          <a:latin typeface="Cambria Math"/>
                        </a:rPr>
                        <m:t>, </m:t>
                      </m:r>
                      <m:r>
                        <a:rPr lang="en-US" altLang="zh-CN" sz="2800" b="1" i="1" smtClean="0">
                          <a:latin typeface="Cambria Math"/>
                        </a:rPr>
                        <m:t>𝒃</m:t>
                      </m:r>
                      <m:r>
                        <a:rPr lang="en-US" altLang="zh-CN" sz="2800" b="1" i="1" smtClean="0">
                          <a:latin typeface="Cambria Math"/>
                        </a:rPr>
                        <m:t>=</m:t>
                      </m:r>
                      <m:r>
                        <a:rPr lang="en-US" altLang="zh-CN" sz="2800" b="1" i="1" smtClean="0">
                          <a:latin typeface="Cambria Math"/>
                        </a:rPr>
                        <m:t>𝟐</m:t>
                      </m:r>
                      <m:r>
                        <a:rPr lang="en-US" altLang="zh-CN" sz="2800" b="1" i="1" smtClean="0">
                          <a:latin typeface="Cambria Math"/>
                        </a:rPr>
                        <m:t>, </m:t>
                      </m:r>
                      <m:sSup>
                        <m:sSupPr>
                          <m:ctrlPr>
                            <a:rPr lang="en-US" altLang="zh-CN" sz="2800" b="1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US" altLang="zh-CN" sz="2800" b="1" i="1" smtClean="0">
                              <a:latin typeface="Cambria Math"/>
                            </a:rPr>
                            <m:t>𝒏</m:t>
                          </m:r>
                        </m:e>
                        <m:sup>
                          <m:func>
                            <m:funcPr>
                              <m:ctrlPr>
                                <a:rPr lang="en-US" altLang="zh-CN" sz="2800" b="1" i="1" smtClean="0">
                                  <a:latin typeface="Cambria Math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n-US" altLang="zh-CN" sz="2800" b="1" i="1" smtClean="0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b="1" i="0" smtClean="0">
                                      <a:latin typeface="Cambria Math"/>
                                    </a:rPr>
                                    <m:t>𝐥𝐨𝐠</m:t>
                                  </m:r>
                                </m:e>
                                <m:sub>
                                  <m:r>
                                    <a:rPr lang="en-US" altLang="zh-CN" sz="2800" b="1" i="1" smtClean="0">
                                      <a:latin typeface="Cambria Math"/>
                                    </a:rPr>
                                    <m:t>𝟐</m:t>
                                  </m:r>
                                </m:sub>
                              </m:sSub>
                            </m:fName>
                            <m:e>
                              <m:r>
                                <a:rPr lang="en-US" altLang="zh-CN" sz="2800" b="1" i="1" smtClean="0">
                                  <a:latin typeface="Cambria Math"/>
                                </a:rPr>
                                <m:t>𝟐</m:t>
                              </m:r>
                            </m:e>
                          </m:func>
                        </m:sup>
                      </m:sSup>
                      <m:r>
                        <a:rPr lang="en-US" altLang="zh-CN" sz="2800" b="1" i="1" smtClean="0">
                          <a:latin typeface="Cambria Math"/>
                        </a:rPr>
                        <m:t>=</m:t>
                      </m:r>
                      <m:r>
                        <a:rPr lang="en-US" altLang="zh-CN" sz="2800" b="1" i="1" smtClean="0">
                          <a:latin typeface="Cambria Math"/>
                        </a:rPr>
                        <m:t>𝒏</m:t>
                      </m:r>
                      <m:r>
                        <a:rPr lang="en-US" altLang="zh-CN" sz="2800" b="1" i="1" smtClean="0">
                          <a:latin typeface="Cambria Math"/>
                        </a:rPr>
                        <m:t>, </m:t>
                      </m:r>
                      <m:r>
                        <a:rPr lang="en-US" altLang="zh-CN" sz="2800" b="1" i="1" smtClean="0">
                          <a:latin typeface="Cambria Math"/>
                        </a:rPr>
                        <m:t>𝒇</m:t>
                      </m:r>
                      <m:d>
                        <m:dPr>
                          <m:ctrlPr>
                            <a:rPr lang="en-US" altLang="zh-CN" sz="2800" b="1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altLang="zh-CN" sz="2800" b="1" i="1" smtClean="0">
                              <a:latin typeface="Cambria Math"/>
                            </a:rPr>
                            <m:t>𝒏</m:t>
                          </m:r>
                        </m:e>
                      </m:d>
                      <m:r>
                        <a:rPr lang="en-US" altLang="zh-CN" sz="2800" b="1" i="1" smtClean="0">
                          <a:latin typeface="Cambria Math"/>
                        </a:rPr>
                        <m:t>=</m:t>
                      </m:r>
                      <m:r>
                        <a:rPr lang="en-US" altLang="zh-CN" sz="2800" b="1" i="1" smtClean="0">
                          <a:latin typeface="Cambria Math"/>
                        </a:rPr>
                        <m:t>𝒏</m:t>
                      </m:r>
                      <m:r>
                        <a:rPr lang="en-US" altLang="zh-CN" sz="2800" b="1" i="1" smtClean="0">
                          <a:latin typeface="Cambria Math"/>
                        </a:rPr>
                        <m:t>−</m:t>
                      </m:r>
                      <m:r>
                        <a:rPr lang="en-US" altLang="zh-CN" sz="2800" b="1" i="1" smtClean="0">
                          <a:latin typeface="Cambria Math"/>
                        </a:rPr>
                        <m:t>𝟏</m:t>
                      </m:r>
                    </m:oMath>
                  </m:oMathPara>
                </a14:m>
                <a:endParaRPr lang="zh-CN" altLang="en-US" sz="2800" b="1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7728" y="4653715"/>
                <a:ext cx="6255302" cy="539443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540079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3" grpId="0"/>
      <p:bldP spid="11" grpId="0"/>
      <p:bldP spid="13" grpId="0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382556" y="197213"/>
            <a:ext cx="8938726" cy="692011"/>
          </a:xfrm>
          <a:prstGeom prst="rect">
            <a:avLst/>
          </a:prstGeom>
        </p:spPr>
        <p:txBody>
          <a:bodyPr vert="horz" wrap="square" lIns="0" tIns="14758" rIns="0" bIns="0" rtlCol="0" anchor="ctr">
            <a:spAutoFit/>
          </a:bodyPr>
          <a:lstStyle/>
          <a:p>
            <a:pPr marL="15534" algn="ctr">
              <a:lnSpc>
                <a:spcPct val="100000"/>
              </a:lnSpc>
              <a:spcBef>
                <a:spcPts val="117"/>
              </a:spcBef>
            </a:pPr>
            <a:r>
              <a:rPr sz="4400" b="1" spc="-12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不能使用主定理的例子</a:t>
            </a:r>
          </a:p>
        </p:txBody>
      </p:sp>
      <p:sp>
        <p:nvSpPr>
          <p:cNvPr id="3" name="object 3"/>
          <p:cNvSpPr/>
          <p:nvPr/>
        </p:nvSpPr>
        <p:spPr>
          <a:xfrm>
            <a:off x="1200648" y="0"/>
            <a:ext cx="197677" cy="21696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200"/>
          </a:p>
        </p:txBody>
      </p:sp>
      <p:sp>
        <p:nvSpPr>
          <p:cNvPr id="4" name="object 4"/>
          <p:cNvSpPr/>
          <p:nvPr/>
        </p:nvSpPr>
        <p:spPr>
          <a:xfrm>
            <a:off x="1226572" y="0"/>
            <a:ext cx="199298" cy="24960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200"/>
          </a:p>
        </p:txBody>
      </p:sp>
      <p:sp>
        <p:nvSpPr>
          <p:cNvPr id="5" name="object 5"/>
          <p:cNvSpPr/>
          <p:nvPr/>
        </p:nvSpPr>
        <p:spPr>
          <a:xfrm>
            <a:off x="1200648" y="0"/>
            <a:ext cx="197677" cy="21696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200"/>
          </a:p>
        </p:txBody>
      </p:sp>
      <p:sp>
        <p:nvSpPr>
          <p:cNvPr id="6" name="object 6"/>
          <p:cNvSpPr/>
          <p:nvPr/>
        </p:nvSpPr>
        <p:spPr>
          <a:xfrm>
            <a:off x="1226572" y="0"/>
            <a:ext cx="199298" cy="24960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200"/>
          </a:p>
        </p:txBody>
      </p:sp>
      <p:sp>
        <p:nvSpPr>
          <p:cNvPr id="7" name="object 7"/>
          <p:cNvSpPr/>
          <p:nvPr/>
        </p:nvSpPr>
        <p:spPr>
          <a:xfrm>
            <a:off x="1200648" y="0"/>
            <a:ext cx="197677" cy="21696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200"/>
          </a:p>
        </p:txBody>
      </p:sp>
      <p:sp>
        <p:nvSpPr>
          <p:cNvPr id="8" name="object 8"/>
          <p:cNvSpPr/>
          <p:nvPr/>
        </p:nvSpPr>
        <p:spPr>
          <a:xfrm>
            <a:off x="1226572" y="0"/>
            <a:ext cx="199298" cy="24960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200"/>
          </a:p>
        </p:txBody>
      </p:sp>
      <p:sp>
        <p:nvSpPr>
          <p:cNvPr id="10" name="object 10"/>
          <p:cNvSpPr txBox="1"/>
          <p:nvPr/>
        </p:nvSpPr>
        <p:spPr>
          <a:xfrm>
            <a:off x="363894" y="1114785"/>
            <a:ext cx="8938726" cy="625397"/>
          </a:xfrm>
          <a:prstGeom prst="rect">
            <a:avLst/>
          </a:prstGeom>
        </p:spPr>
        <p:txBody>
          <a:bodyPr vert="horz" wrap="square" lIns="0" tIns="192629" rIns="0" bIns="0" rtlCol="0">
            <a:spAutoFit/>
          </a:bodyPr>
          <a:lstStyle/>
          <a:p>
            <a:pPr>
              <a:spcBef>
                <a:spcPts val="1516"/>
              </a:spcBef>
              <a:tabLst>
                <a:tab pos="929725" algn="l"/>
              </a:tabLst>
            </a:pPr>
            <a:r>
              <a:rPr sz="2800" b="1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  <a:cs typeface="宋体"/>
              </a:rPr>
              <a:t>例</a:t>
            </a:r>
            <a:r>
              <a:rPr sz="2800" b="1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  <a:cs typeface="Calibri"/>
              </a:rPr>
              <a:t>4	</a:t>
            </a:r>
            <a:r>
              <a:rPr sz="2800" b="1" dirty="0">
                <a:latin typeface="黑体" pitchFamily="49" charset="-122"/>
                <a:ea typeface="黑体" pitchFamily="49" charset="-122"/>
                <a:cs typeface="宋体"/>
              </a:rPr>
              <a:t>求</a:t>
            </a:r>
            <a:r>
              <a:rPr sz="2800" b="1" spc="-12" dirty="0">
                <a:latin typeface="黑体" pitchFamily="49" charset="-122"/>
                <a:ea typeface="黑体" pitchFamily="49" charset="-122"/>
                <a:cs typeface="宋体"/>
              </a:rPr>
              <a:t>解</a:t>
            </a:r>
            <a:r>
              <a:rPr sz="2800" b="1" spc="539" dirty="0">
                <a:latin typeface="黑体" pitchFamily="49" charset="-122"/>
                <a:ea typeface="黑体" pitchFamily="49" charset="-122"/>
                <a:cs typeface="宋体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T</a:t>
            </a:r>
            <a:r>
              <a:rPr sz="2800" b="1" dirty="0">
                <a:latin typeface="Times New Roman"/>
                <a:cs typeface="Times New Roman"/>
              </a:rPr>
              <a:t>(</a:t>
            </a:r>
            <a:r>
              <a:rPr sz="2800" b="1" i="1" dirty="0">
                <a:latin typeface="Times New Roman"/>
                <a:cs typeface="Times New Roman"/>
              </a:rPr>
              <a:t>n</a:t>
            </a:r>
            <a:r>
              <a:rPr sz="2800" b="1" dirty="0">
                <a:latin typeface="Times New Roman"/>
                <a:cs typeface="Times New Roman"/>
              </a:rPr>
              <a:t>)=2</a:t>
            </a:r>
            <a:r>
              <a:rPr sz="2800" b="1" i="1" dirty="0">
                <a:latin typeface="Times New Roman"/>
                <a:cs typeface="Times New Roman"/>
              </a:rPr>
              <a:t>T</a:t>
            </a:r>
            <a:r>
              <a:rPr sz="2800" b="1" dirty="0">
                <a:latin typeface="Times New Roman"/>
                <a:cs typeface="Times New Roman"/>
              </a:rPr>
              <a:t>(</a:t>
            </a:r>
            <a:r>
              <a:rPr sz="2800" b="1" i="1" dirty="0">
                <a:latin typeface="Times New Roman"/>
                <a:cs typeface="Times New Roman"/>
              </a:rPr>
              <a:t>n</a:t>
            </a:r>
            <a:r>
              <a:rPr sz="2800" b="1" dirty="0">
                <a:latin typeface="Times New Roman"/>
                <a:cs typeface="Times New Roman"/>
              </a:rPr>
              <a:t>/2)+</a:t>
            </a:r>
            <a:r>
              <a:rPr sz="2800" b="1" i="1" dirty="0" err="1" smtClean="0">
                <a:latin typeface="Times New Roman"/>
                <a:cs typeface="Times New Roman"/>
              </a:rPr>
              <a:t>n</a:t>
            </a:r>
            <a:r>
              <a:rPr sz="2800" b="1" dirty="0" err="1" smtClean="0">
                <a:latin typeface="Times New Roman"/>
                <a:cs typeface="Times New Roman"/>
              </a:rPr>
              <a:t>log</a:t>
            </a:r>
            <a:r>
              <a:rPr sz="2800" b="1" i="1" dirty="0" err="1" smtClean="0">
                <a:latin typeface="Times New Roman"/>
                <a:cs typeface="Times New Roman"/>
              </a:rPr>
              <a:t>n</a:t>
            </a:r>
            <a:endParaRPr sz="2800" dirty="0">
              <a:latin typeface="Times New Roman"/>
              <a:cs typeface="Times New Roman"/>
            </a:endParaRPr>
          </a:p>
        </p:txBody>
      </p:sp>
      <p:sp>
        <p:nvSpPr>
          <p:cNvPr id="12" name="object 10"/>
          <p:cNvSpPr txBox="1"/>
          <p:nvPr/>
        </p:nvSpPr>
        <p:spPr>
          <a:xfrm>
            <a:off x="481782" y="2850623"/>
            <a:ext cx="8938726" cy="1133229"/>
          </a:xfrm>
          <a:prstGeom prst="rect">
            <a:avLst/>
          </a:prstGeom>
        </p:spPr>
        <p:txBody>
          <a:bodyPr vert="horz" wrap="square" lIns="0" tIns="192629" rIns="0" bIns="0" rtlCol="0">
            <a:spAutoFit/>
          </a:bodyPr>
          <a:lstStyle/>
          <a:p>
            <a:pPr>
              <a:spcBef>
                <a:spcPts val="2006"/>
              </a:spcBef>
            </a:pPr>
            <a:r>
              <a:rPr sz="2800" b="1" dirty="0" err="1" smtClean="0">
                <a:latin typeface="黑体" pitchFamily="49" charset="-122"/>
                <a:ea typeface="黑体" pitchFamily="49" charset="-122"/>
                <a:cs typeface="宋体"/>
              </a:rPr>
              <a:t>不存在</a:t>
            </a:r>
            <a:r>
              <a:rPr sz="2800" b="1" i="1" spc="-61" dirty="0">
                <a:latin typeface="Symbol"/>
                <a:cs typeface="Symbol"/>
              </a:rPr>
              <a:t></a:t>
            </a:r>
            <a:r>
              <a:rPr sz="2800" b="1" i="1" spc="-49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&gt;0</a:t>
            </a:r>
            <a:r>
              <a:rPr sz="2800" b="1" spc="-2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黑体" pitchFamily="49" charset="-122"/>
                <a:ea typeface="黑体" pitchFamily="49" charset="-122"/>
                <a:cs typeface="宋体"/>
              </a:rPr>
              <a:t>使下式成立</a:t>
            </a:r>
            <a:endParaRPr sz="2800" dirty="0">
              <a:latin typeface="黑体" pitchFamily="49" charset="-122"/>
              <a:ea typeface="黑体" pitchFamily="49" charset="-122"/>
              <a:cs typeface="宋体"/>
            </a:endParaRPr>
          </a:p>
          <a:p>
            <a:pPr marL="1255943">
              <a:spcBef>
                <a:spcPts val="557"/>
              </a:spcBef>
            </a:pPr>
            <a:endParaRPr lang="en-US" sz="2800" b="1" i="1" spc="-6" dirty="0" smtClean="0">
              <a:latin typeface="Times New Roman"/>
              <a:cs typeface="Times New Roman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140150" y="2014562"/>
            <a:ext cx="68326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39808">
              <a:spcBef>
                <a:spcPts val="1394"/>
              </a:spcBef>
              <a:tabLst>
                <a:tab pos="946813" algn="l"/>
                <a:tab pos="2318487" algn="l"/>
                <a:tab pos="3864922" algn="l"/>
              </a:tabLst>
            </a:pPr>
            <a:r>
              <a:rPr lang="zh-CN" altLang="en-US" sz="2800" b="1" spc="-12" dirty="0">
                <a:latin typeface="黑体" pitchFamily="49" charset="-122"/>
                <a:ea typeface="黑体" pitchFamily="49" charset="-122"/>
                <a:cs typeface="宋体"/>
              </a:rPr>
              <a:t>解</a:t>
            </a:r>
            <a:endParaRPr lang="zh-CN" altLang="en-US" sz="2800" dirty="0">
              <a:latin typeface="黑体" pitchFamily="49" charset="-122"/>
              <a:ea typeface="黑体" pitchFamily="49" charset="-122"/>
              <a:cs typeface="Times New Roman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1398325" y="2030963"/>
                <a:ext cx="6529608" cy="53944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1" i="1" smtClean="0">
                          <a:latin typeface="Cambria Math"/>
                        </a:rPr>
                        <m:t>𝒂</m:t>
                      </m:r>
                      <m:r>
                        <a:rPr lang="en-US" altLang="zh-CN" sz="2800" b="1" i="1" smtClean="0">
                          <a:latin typeface="Cambria Math"/>
                        </a:rPr>
                        <m:t>=</m:t>
                      </m:r>
                      <m:r>
                        <a:rPr lang="en-US" altLang="zh-CN" sz="2800" b="1" i="1" smtClean="0">
                          <a:latin typeface="Cambria Math"/>
                        </a:rPr>
                        <m:t>𝟐</m:t>
                      </m:r>
                      <m:r>
                        <a:rPr lang="en-US" altLang="zh-CN" sz="2800" b="1" i="1" smtClean="0">
                          <a:latin typeface="Cambria Math"/>
                        </a:rPr>
                        <m:t>, </m:t>
                      </m:r>
                      <m:r>
                        <a:rPr lang="en-US" altLang="zh-CN" sz="2800" b="1" i="1" smtClean="0">
                          <a:latin typeface="Cambria Math"/>
                        </a:rPr>
                        <m:t>𝒃</m:t>
                      </m:r>
                      <m:r>
                        <a:rPr lang="en-US" altLang="zh-CN" sz="2800" b="1" i="1" smtClean="0">
                          <a:latin typeface="Cambria Math"/>
                        </a:rPr>
                        <m:t>=</m:t>
                      </m:r>
                      <m:r>
                        <a:rPr lang="en-US" altLang="zh-CN" sz="2800" b="1" i="1" smtClean="0">
                          <a:latin typeface="Cambria Math"/>
                        </a:rPr>
                        <m:t>𝟐</m:t>
                      </m:r>
                      <m:r>
                        <a:rPr lang="en-US" altLang="zh-CN" sz="2800" b="1" i="1" smtClean="0">
                          <a:latin typeface="Cambria Math"/>
                        </a:rPr>
                        <m:t>, </m:t>
                      </m:r>
                      <m:sSup>
                        <m:sSupPr>
                          <m:ctrlPr>
                            <a:rPr lang="en-US" altLang="zh-CN" sz="2800" b="1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US" altLang="zh-CN" sz="2800" b="1" i="1" smtClean="0">
                              <a:latin typeface="Cambria Math"/>
                            </a:rPr>
                            <m:t>𝒏</m:t>
                          </m:r>
                        </m:e>
                        <m:sup>
                          <m:func>
                            <m:funcPr>
                              <m:ctrlPr>
                                <a:rPr lang="en-US" altLang="zh-CN" sz="2800" b="1" i="1" smtClean="0">
                                  <a:latin typeface="Cambria Math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n-US" altLang="zh-CN" sz="2800" b="1" i="1" smtClean="0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b="1" i="0" smtClean="0">
                                      <a:latin typeface="Cambria Math"/>
                                    </a:rPr>
                                    <m:t>𝐥𝐨𝐠</m:t>
                                  </m:r>
                                </m:e>
                                <m:sub>
                                  <m:r>
                                    <a:rPr lang="en-US" altLang="zh-CN" sz="2800" b="1" i="1" smtClean="0">
                                      <a:latin typeface="Cambria Math"/>
                                    </a:rPr>
                                    <m:t>𝟐</m:t>
                                  </m:r>
                                </m:sub>
                              </m:sSub>
                            </m:fName>
                            <m:e>
                              <m:r>
                                <a:rPr lang="en-US" altLang="zh-CN" sz="2800" b="1" i="1" smtClean="0">
                                  <a:latin typeface="Cambria Math"/>
                                </a:rPr>
                                <m:t>𝟐</m:t>
                              </m:r>
                            </m:e>
                          </m:func>
                        </m:sup>
                      </m:sSup>
                      <m:r>
                        <a:rPr lang="en-US" altLang="zh-CN" sz="2800" b="1" i="1" smtClean="0">
                          <a:latin typeface="Cambria Math"/>
                        </a:rPr>
                        <m:t>=</m:t>
                      </m:r>
                      <m:r>
                        <a:rPr lang="en-US" altLang="zh-CN" sz="2800" b="1" i="1" smtClean="0">
                          <a:latin typeface="Cambria Math"/>
                        </a:rPr>
                        <m:t>𝒏</m:t>
                      </m:r>
                      <m:r>
                        <a:rPr lang="en-US" altLang="zh-CN" sz="2800" b="1" i="1" smtClean="0">
                          <a:latin typeface="Cambria Math"/>
                        </a:rPr>
                        <m:t>, </m:t>
                      </m:r>
                      <m:r>
                        <a:rPr lang="en-US" altLang="zh-CN" sz="2800" b="1" i="1" smtClean="0">
                          <a:latin typeface="Cambria Math"/>
                        </a:rPr>
                        <m:t>𝒇</m:t>
                      </m:r>
                      <m:d>
                        <m:dPr>
                          <m:ctrlPr>
                            <a:rPr lang="en-US" altLang="zh-CN" sz="2800" b="1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altLang="zh-CN" sz="2800" b="1" i="1" smtClean="0">
                              <a:latin typeface="Cambria Math"/>
                            </a:rPr>
                            <m:t>𝒏</m:t>
                          </m:r>
                        </m:e>
                      </m:d>
                      <m:r>
                        <a:rPr lang="en-US" altLang="zh-CN" sz="2800" b="1" i="1" smtClean="0">
                          <a:latin typeface="Cambria Math"/>
                        </a:rPr>
                        <m:t>=</m:t>
                      </m:r>
                      <m:r>
                        <a:rPr lang="en-US" altLang="zh-CN" sz="2800" b="1" i="1" smtClean="0">
                          <a:latin typeface="Cambria Math"/>
                        </a:rPr>
                        <m:t>𝒏</m:t>
                      </m:r>
                      <m:func>
                        <m:funcPr>
                          <m:ctrlPr>
                            <a:rPr lang="en-US" altLang="zh-CN" sz="2800" b="1" i="1" smtClean="0">
                              <a:latin typeface="Cambria Math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2800" b="0" i="0" smtClean="0">
                              <a:latin typeface="Cambria Math"/>
                            </a:rPr>
                            <m:t>log</m:t>
                          </m:r>
                        </m:fName>
                        <m:e>
                          <m:r>
                            <a:rPr lang="en-US" altLang="zh-CN" sz="2800" b="1" i="1" smtClean="0">
                              <a:latin typeface="Cambria Math"/>
                            </a:rPr>
                            <m:t>𝒏</m:t>
                          </m:r>
                        </m:e>
                      </m:func>
                    </m:oMath>
                  </m:oMathPara>
                </a14:m>
                <a:endParaRPr lang="zh-CN" altLang="en-US" sz="2800" b="1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8325" y="2030963"/>
                <a:ext cx="6529608" cy="539443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矩形 14"/>
              <p:cNvSpPr/>
              <p:nvPr/>
            </p:nvSpPr>
            <p:spPr>
              <a:xfrm>
                <a:off x="2274713" y="3536786"/>
                <a:ext cx="4370235" cy="5786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1" i="1" smtClean="0">
                          <a:latin typeface="Cambria Math"/>
                        </a:rPr>
                        <m:t>𝒇</m:t>
                      </m:r>
                      <m:d>
                        <m:dPr>
                          <m:ctrlPr>
                            <a:rPr lang="en-US" altLang="zh-CN" sz="2800" b="1" i="1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altLang="zh-CN" sz="2800" b="1" i="1">
                              <a:latin typeface="Cambria Math"/>
                            </a:rPr>
                            <m:t>𝒏</m:t>
                          </m:r>
                        </m:e>
                      </m:d>
                      <m:r>
                        <a:rPr lang="en-US" altLang="zh-CN" sz="2800" b="1" i="1" smtClean="0">
                          <a:latin typeface="Cambria Math"/>
                        </a:rPr>
                        <m:t>=</m:t>
                      </m:r>
                      <m:r>
                        <a:rPr lang="en-US" altLang="zh-CN" sz="2800" b="1" i="1" smtClean="0">
                          <a:latin typeface="Cambria Math"/>
                        </a:rPr>
                        <m:t>𝒏</m:t>
                      </m:r>
                      <m:func>
                        <m:funcPr>
                          <m:ctrlPr>
                            <a:rPr lang="en-US" altLang="zh-CN" sz="2800" b="1" i="1" smtClean="0">
                              <a:latin typeface="Cambria Math"/>
                            </a:rPr>
                          </m:ctrlPr>
                        </m:funcPr>
                        <m:fName>
                          <m:r>
                            <a:rPr lang="en-US" altLang="zh-CN" sz="2800" b="1" i="0" smtClean="0">
                              <a:latin typeface="Cambria Math"/>
                            </a:rPr>
                            <m:t>𝐥𝐨𝐠</m:t>
                          </m:r>
                        </m:fName>
                        <m:e>
                          <m:r>
                            <a:rPr lang="en-US" altLang="zh-CN" sz="2800" b="1" i="1" smtClean="0">
                              <a:latin typeface="Cambria Math"/>
                            </a:rPr>
                            <m:t>𝒏</m:t>
                          </m:r>
                        </m:e>
                      </m:func>
                      <m:r>
                        <a:rPr lang="en-US" altLang="zh-CN" sz="2800" b="1" i="1">
                          <a:latin typeface="Cambria Math"/>
                        </a:rPr>
                        <m:t>=</m:t>
                      </m:r>
                      <m:r>
                        <a:rPr lang="zh-CN" altLang="en-US" sz="2800" b="1" i="1" smtClean="0">
                          <a:latin typeface="Cambria Math"/>
                        </a:rPr>
                        <m:t>𝜴</m:t>
                      </m:r>
                      <m:d>
                        <m:dPr>
                          <m:ctrlPr>
                            <a:rPr lang="en-US" altLang="zh-CN" sz="2800" b="1" i="1" smtClean="0">
                              <a:latin typeface="Cambria Math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sz="2800" b="1" i="1" smtClean="0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US" altLang="zh-CN" sz="2800" b="1" i="1" smtClean="0">
                                  <a:latin typeface="Cambria Math"/>
                                </a:rPr>
                                <m:t>𝒏</m:t>
                              </m:r>
                            </m:e>
                            <m:sup>
                              <m:r>
                                <a:rPr lang="en-US" altLang="zh-CN" sz="2800" b="1" i="1" smtClean="0">
                                  <a:latin typeface="Cambria Math"/>
                                </a:rPr>
                                <m:t>𝟏</m:t>
                              </m:r>
                              <m:r>
                                <a:rPr lang="en-US" altLang="zh-CN" sz="2800" b="1" i="1" smtClean="0">
                                  <a:latin typeface="Cambria Math"/>
                                </a:rPr>
                                <m:t>+</m:t>
                              </m:r>
                              <m:r>
                                <a:rPr lang="zh-CN" altLang="en-US" sz="2800" b="1" i="1" smtClean="0">
                                  <a:latin typeface="Cambria Math"/>
                                </a:rPr>
                                <m:t>𝜺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zh-CN" altLang="en-US" sz="2400" b="1" dirty="0"/>
              </a:p>
            </p:txBody>
          </p:sp>
        </mc:Choice>
        <mc:Fallback xmlns="">
          <p:sp>
            <p:nvSpPr>
              <p:cNvPr id="15" name="矩形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74713" y="3536786"/>
                <a:ext cx="4370235" cy="578685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矩形 15"/>
              <p:cNvSpPr/>
              <p:nvPr/>
            </p:nvSpPr>
            <p:spPr>
              <a:xfrm>
                <a:off x="6318091" y="3026856"/>
                <a:ext cx="1946495" cy="523220"/>
              </a:xfrm>
              <a:prstGeom prst="rect">
                <a:avLst/>
              </a:prstGeom>
              <a:ln w="25400">
                <a:solidFill>
                  <a:srgbClr val="C00000"/>
                </a:solidFill>
              </a:ln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zh-CN" sz="2800" b="1" i="1" smtClean="0">
                              <a:latin typeface="Cambria Math"/>
                              <a:ea typeface="Cambria Math"/>
                            </a:rPr>
                          </m:ctrlPr>
                        </m:funcPr>
                        <m:fName>
                          <m:r>
                            <a:rPr lang="en-US" altLang="zh-CN" sz="2800" b="1" i="0" smtClean="0">
                              <a:latin typeface="Cambria Math"/>
                              <a:ea typeface="Cambria Math"/>
                            </a:rPr>
                            <m:t>𝐥𝐨𝐠</m:t>
                          </m:r>
                        </m:fName>
                        <m:e>
                          <m:r>
                            <a:rPr lang="en-US" altLang="zh-CN" sz="2800" b="1" i="1" smtClean="0">
                              <a:latin typeface="Cambria Math"/>
                              <a:ea typeface="Cambria Math"/>
                            </a:rPr>
                            <m:t>𝒏</m:t>
                          </m:r>
                        </m:e>
                      </m:func>
                      <m:r>
                        <a:rPr lang="en-US" altLang="zh-CN" sz="2800" b="1" i="1" smtClean="0">
                          <a:latin typeface="Cambria Math"/>
                          <a:ea typeface="Cambria Math"/>
                        </a:rPr>
                        <m:t>&lt;</m:t>
                      </m:r>
                      <m:sSup>
                        <m:sSupPr>
                          <m:ctrlPr>
                            <a:rPr lang="en-US" altLang="zh-CN" sz="2800" b="1" i="1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US" altLang="zh-CN" sz="2800" b="1" i="1">
                              <a:latin typeface="Cambria Math"/>
                            </a:rPr>
                            <m:t>𝒏</m:t>
                          </m:r>
                        </m:e>
                        <m:sup>
                          <m:r>
                            <a:rPr lang="zh-CN" altLang="en-US" sz="2800" b="1" i="1">
                              <a:latin typeface="Cambria Math"/>
                            </a:rPr>
                            <m:t>𝜺</m:t>
                          </m:r>
                        </m:sup>
                      </m:sSup>
                    </m:oMath>
                  </m:oMathPara>
                </a14:m>
                <a:endParaRPr lang="zh-CN" altLang="en-US" b="1" dirty="0"/>
              </a:p>
            </p:txBody>
          </p:sp>
        </mc:Choice>
        <mc:Fallback xmlns="">
          <p:sp>
            <p:nvSpPr>
              <p:cNvPr id="16" name="矩形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18091" y="3026856"/>
                <a:ext cx="1946495" cy="523220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  <a:ln w="25400"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矩形 17"/>
          <p:cNvSpPr/>
          <p:nvPr/>
        </p:nvSpPr>
        <p:spPr>
          <a:xfrm>
            <a:off x="295162" y="4290993"/>
            <a:ext cx="8820838" cy="12375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6603" marR="37282" algn="just">
              <a:lnSpc>
                <a:spcPct val="117500"/>
              </a:lnSpc>
              <a:spcBef>
                <a:spcPts val="966"/>
              </a:spcBef>
            </a:pPr>
            <a:r>
              <a:rPr lang="zh-CN" altLang="en-US" sz="2800" b="1" dirty="0">
                <a:latin typeface="宋体"/>
                <a:cs typeface="宋体"/>
              </a:rPr>
              <a:t>不存</a:t>
            </a:r>
            <a:r>
              <a:rPr lang="zh-CN" altLang="en-US" sz="2800" b="1" spc="-12" dirty="0">
                <a:latin typeface="宋体"/>
                <a:cs typeface="宋体"/>
              </a:rPr>
              <a:t>在</a:t>
            </a:r>
            <a:r>
              <a:rPr lang="zh-CN" altLang="en-US" sz="2800" b="1" spc="-850" dirty="0">
                <a:latin typeface="宋体"/>
                <a:cs typeface="宋体"/>
              </a:rPr>
              <a:t> </a:t>
            </a:r>
            <a:r>
              <a:rPr lang="en-US" altLang="zh-CN" sz="2800" b="1" i="1" dirty="0">
                <a:latin typeface="Times New Roman"/>
                <a:cs typeface="Times New Roman"/>
              </a:rPr>
              <a:t>c</a:t>
            </a:r>
            <a:r>
              <a:rPr lang="en-US" altLang="zh-CN" sz="2800" b="1" i="1" spc="-30" dirty="0">
                <a:latin typeface="Times New Roman"/>
                <a:cs typeface="Times New Roman"/>
              </a:rPr>
              <a:t> </a:t>
            </a:r>
            <a:r>
              <a:rPr lang="en-US" altLang="zh-CN" sz="2800" b="1" dirty="0">
                <a:latin typeface="Times New Roman"/>
                <a:cs typeface="Times New Roman"/>
              </a:rPr>
              <a:t>&lt;1</a:t>
            </a:r>
            <a:r>
              <a:rPr lang="en-US" altLang="zh-CN" sz="2800" b="1" spc="-18" dirty="0">
                <a:latin typeface="Times New Roman"/>
                <a:cs typeface="Times New Roman"/>
              </a:rPr>
              <a:t> </a:t>
            </a:r>
            <a:r>
              <a:rPr lang="zh-CN" altLang="en-US" sz="2800" b="1" spc="-12" dirty="0">
                <a:latin typeface="宋体"/>
                <a:cs typeface="宋体"/>
              </a:rPr>
              <a:t>使</a:t>
            </a:r>
            <a:r>
              <a:rPr lang="zh-CN" altLang="en-US" sz="2800" b="1" spc="-764" dirty="0">
                <a:latin typeface="宋体"/>
                <a:cs typeface="宋体"/>
              </a:rPr>
              <a:t> </a:t>
            </a:r>
            <a:r>
              <a:rPr lang="en-US" altLang="zh-CN" sz="2800" b="1" i="1" dirty="0" err="1">
                <a:latin typeface="Times New Roman"/>
                <a:cs typeface="Times New Roman"/>
              </a:rPr>
              <a:t>af</a:t>
            </a:r>
            <a:r>
              <a:rPr lang="en-US" altLang="zh-CN" sz="2800" b="1" dirty="0">
                <a:latin typeface="Times New Roman"/>
                <a:cs typeface="Times New Roman"/>
              </a:rPr>
              <a:t>(</a:t>
            </a:r>
            <a:r>
              <a:rPr lang="en-US" altLang="zh-CN" sz="2800" b="1" i="1" dirty="0">
                <a:latin typeface="Times New Roman"/>
                <a:cs typeface="Times New Roman"/>
              </a:rPr>
              <a:t>n</a:t>
            </a:r>
            <a:r>
              <a:rPr lang="en-US" altLang="zh-CN" sz="2800" b="1" dirty="0">
                <a:latin typeface="Times New Roman"/>
                <a:cs typeface="Times New Roman"/>
              </a:rPr>
              <a:t>/</a:t>
            </a:r>
            <a:r>
              <a:rPr lang="en-US" altLang="zh-CN" sz="2800" b="1" i="1" dirty="0">
                <a:latin typeface="Times New Roman"/>
                <a:cs typeface="Times New Roman"/>
              </a:rPr>
              <a:t>b</a:t>
            </a:r>
            <a:r>
              <a:rPr lang="en-US" altLang="zh-CN" sz="2800" b="1" dirty="0">
                <a:latin typeface="Times New Roman"/>
                <a:cs typeface="Times New Roman"/>
              </a:rPr>
              <a:t>)</a:t>
            </a:r>
            <a:r>
              <a:rPr lang="en-US" altLang="zh-CN" sz="2800" b="1" dirty="0">
                <a:latin typeface="Symbol"/>
                <a:cs typeface="Symbol"/>
              </a:rPr>
              <a:t></a:t>
            </a:r>
            <a:r>
              <a:rPr lang="en-US" altLang="zh-CN" sz="2800" b="1" i="1" dirty="0" err="1">
                <a:latin typeface="Times New Roman"/>
                <a:cs typeface="Times New Roman"/>
              </a:rPr>
              <a:t>cf</a:t>
            </a:r>
            <a:r>
              <a:rPr lang="en-US" altLang="zh-CN" sz="2800" b="1" dirty="0">
                <a:latin typeface="Times New Roman"/>
                <a:cs typeface="Times New Roman"/>
              </a:rPr>
              <a:t>(</a:t>
            </a:r>
            <a:r>
              <a:rPr lang="en-US" altLang="zh-CN" sz="2800" b="1" i="1" dirty="0">
                <a:latin typeface="Times New Roman"/>
                <a:cs typeface="Times New Roman"/>
              </a:rPr>
              <a:t>n</a:t>
            </a:r>
            <a:r>
              <a:rPr lang="en-US" altLang="zh-CN" sz="2800" b="1" dirty="0">
                <a:latin typeface="Times New Roman"/>
                <a:cs typeface="Times New Roman"/>
              </a:rPr>
              <a:t>)</a:t>
            </a:r>
            <a:r>
              <a:rPr lang="zh-CN" altLang="en-US" sz="2800" b="1" spc="-6" dirty="0">
                <a:latin typeface="宋体"/>
                <a:cs typeface="宋体"/>
              </a:rPr>
              <a:t>对所有充分大</a:t>
            </a:r>
            <a:r>
              <a:rPr lang="zh-CN" altLang="en-US" sz="2800" b="1" spc="-18" dirty="0">
                <a:latin typeface="宋体"/>
                <a:cs typeface="宋体"/>
              </a:rPr>
              <a:t>的</a:t>
            </a:r>
            <a:r>
              <a:rPr lang="zh-CN" altLang="en-US" sz="2800" b="1" spc="-850" dirty="0">
                <a:latin typeface="宋体"/>
                <a:cs typeface="宋体"/>
              </a:rPr>
              <a:t> </a:t>
            </a:r>
            <a:r>
              <a:rPr lang="en-US" altLang="zh-CN" sz="2800" b="1" i="1" spc="-6" dirty="0">
                <a:latin typeface="Times New Roman"/>
                <a:cs typeface="Times New Roman"/>
              </a:rPr>
              <a:t>n </a:t>
            </a:r>
            <a:r>
              <a:rPr lang="zh-CN" altLang="en-US" sz="2800" b="1" spc="-6" dirty="0" smtClean="0">
                <a:latin typeface="宋体"/>
                <a:cs typeface="宋体"/>
              </a:rPr>
              <a:t>成立</a:t>
            </a:r>
          </a:p>
          <a:p>
            <a:pPr marL="46603" marR="37282">
              <a:lnSpc>
                <a:spcPct val="117500"/>
              </a:lnSpc>
              <a:spcBef>
                <a:spcPts val="966"/>
              </a:spcBef>
            </a:pPr>
            <a:r>
              <a:rPr lang="zh-CN" altLang="en-US" sz="2800" b="1" spc="-6" dirty="0" smtClean="0">
                <a:latin typeface="宋体"/>
                <a:cs typeface="宋体"/>
              </a:rPr>
              <a:t> </a:t>
            </a:r>
            <a:r>
              <a:rPr lang="en-US" altLang="zh-CN" sz="2800" b="1" i="1" dirty="0" err="1" smtClean="0">
                <a:latin typeface="Times New Roman"/>
                <a:cs typeface="Times New Roman"/>
              </a:rPr>
              <a:t>af</a:t>
            </a:r>
            <a:r>
              <a:rPr lang="en-US" altLang="zh-CN" sz="2800" b="1" dirty="0" smtClean="0">
                <a:latin typeface="Times New Roman"/>
                <a:cs typeface="Times New Roman"/>
              </a:rPr>
              <a:t>(</a:t>
            </a:r>
            <a:r>
              <a:rPr lang="en-US" altLang="zh-CN" sz="2800" b="1" i="1" dirty="0" smtClean="0">
                <a:latin typeface="Times New Roman"/>
                <a:cs typeface="Times New Roman"/>
              </a:rPr>
              <a:t>n</a:t>
            </a:r>
            <a:r>
              <a:rPr lang="en-US" altLang="zh-CN" sz="2800" b="1" dirty="0" smtClean="0">
                <a:latin typeface="Times New Roman"/>
                <a:cs typeface="Times New Roman"/>
              </a:rPr>
              <a:t>/</a:t>
            </a:r>
            <a:r>
              <a:rPr lang="en-US" altLang="zh-CN" sz="2800" b="1" i="1" dirty="0" smtClean="0">
                <a:latin typeface="Times New Roman"/>
                <a:cs typeface="Times New Roman"/>
              </a:rPr>
              <a:t>b</a:t>
            </a:r>
            <a:r>
              <a:rPr lang="en-US" altLang="zh-CN" sz="2800" b="1" dirty="0" smtClean="0">
                <a:latin typeface="Times New Roman"/>
                <a:cs typeface="Times New Roman"/>
              </a:rPr>
              <a:t>) =2(</a:t>
            </a:r>
            <a:r>
              <a:rPr lang="en-US" altLang="zh-CN" sz="2800" b="1" i="1" dirty="0" smtClean="0">
                <a:latin typeface="Times New Roman"/>
                <a:cs typeface="Times New Roman"/>
              </a:rPr>
              <a:t>n</a:t>
            </a:r>
            <a:r>
              <a:rPr lang="en-US" altLang="zh-CN" sz="2800" b="1" dirty="0" smtClean="0">
                <a:latin typeface="Times New Roman"/>
                <a:cs typeface="Times New Roman"/>
              </a:rPr>
              <a:t>/2)log(</a:t>
            </a:r>
            <a:r>
              <a:rPr lang="en-US" altLang="zh-CN" sz="2800" b="1" i="1" dirty="0" smtClean="0">
                <a:latin typeface="Times New Roman"/>
                <a:cs typeface="Times New Roman"/>
              </a:rPr>
              <a:t>n/</a:t>
            </a:r>
            <a:r>
              <a:rPr lang="en-US" altLang="zh-CN" sz="2800" b="1" dirty="0">
                <a:latin typeface="Times New Roman"/>
                <a:cs typeface="Times New Roman"/>
              </a:rPr>
              <a:t>2)</a:t>
            </a:r>
            <a:endParaRPr lang="en-US" altLang="zh-CN" sz="2800" dirty="0">
              <a:latin typeface="Times New Roman"/>
              <a:cs typeface="Times New Roman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6058025" y="4967967"/>
            <a:ext cx="147553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b="1" spc="-6" dirty="0" smtClean="0">
                <a:uFill>
                  <a:solidFill>
                    <a:srgbClr val="C00000"/>
                  </a:solidFill>
                </a:uFill>
                <a:latin typeface="Symbol"/>
                <a:cs typeface="Symbol"/>
              </a:rPr>
              <a:t></a:t>
            </a:r>
            <a:r>
              <a:rPr lang="en-US" altLang="zh-CN" sz="2800" b="1" spc="-67" dirty="0" smtClean="0">
                <a:uFill>
                  <a:solidFill>
                    <a:srgbClr val="C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2800" b="1" i="1" spc="-6" dirty="0" err="1">
                <a:uFill>
                  <a:solidFill>
                    <a:srgbClr val="C00000"/>
                  </a:solidFill>
                </a:uFill>
                <a:latin typeface="Times New Roman"/>
                <a:cs typeface="Times New Roman"/>
              </a:rPr>
              <a:t>cn</a:t>
            </a:r>
            <a:r>
              <a:rPr lang="en-US" altLang="zh-CN" sz="2800" b="1" spc="-6" dirty="0" err="1">
                <a:uFill>
                  <a:solidFill>
                    <a:srgbClr val="C00000"/>
                  </a:solidFill>
                </a:uFill>
                <a:latin typeface="Times New Roman"/>
                <a:cs typeface="Times New Roman"/>
              </a:rPr>
              <a:t>log</a:t>
            </a:r>
            <a:r>
              <a:rPr lang="en-US" altLang="zh-CN" sz="2800" b="1" i="1" spc="-6" dirty="0" err="1">
                <a:uFill>
                  <a:solidFill>
                    <a:srgbClr val="C00000"/>
                  </a:solidFill>
                </a:uFill>
                <a:latin typeface="Times New Roman"/>
                <a:cs typeface="Times New Roman"/>
              </a:rPr>
              <a:t>n</a:t>
            </a:r>
            <a:endParaRPr lang="zh-CN" altLang="en-US" sz="2400" dirty="0"/>
          </a:p>
        </p:txBody>
      </p:sp>
      <p:sp>
        <p:nvSpPr>
          <p:cNvPr id="20" name="矩形 19"/>
          <p:cNvSpPr/>
          <p:nvPr/>
        </p:nvSpPr>
        <p:spPr>
          <a:xfrm>
            <a:off x="3914713" y="4969009"/>
            <a:ext cx="235833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b="1" dirty="0" smtClean="0">
                <a:latin typeface="Times New Roman"/>
                <a:cs typeface="Times New Roman"/>
              </a:rPr>
              <a:t>=</a:t>
            </a:r>
            <a:r>
              <a:rPr lang="en-US" altLang="zh-CN" sz="2800" b="1" i="1" dirty="0" smtClean="0">
                <a:uFill>
                  <a:solidFill>
                    <a:srgbClr val="C00000"/>
                  </a:solidFill>
                </a:uFill>
                <a:latin typeface="Times New Roman"/>
                <a:cs typeface="Times New Roman"/>
              </a:rPr>
              <a:t>n</a:t>
            </a:r>
            <a:r>
              <a:rPr lang="en-US" altLang="zh-CN" sz="2800" b="1" dirty="0" smtClean="0">
                <a:uFill>
                  <a:solidFill>
                    <a:srgbClr val="C00000"/>
                  </a:solidFill>
                </a:uFill>
                <a:latin typeface="Times New Roman"/>
                <a:cs typeface="Times New Roman"/>
              </a:rPr>
              <a:t>(log</a:t>
            </a:r>
            <a:r>
              <a:rPr lang="en-US" altLang="zh-CN" sz="2800" b="1" i="1" dirty="0" smtClean="0">
                <a:uFill>
                  <a:solidFill>
                    <a:srgbClr val="C00000"/>
                  </a:solidFill>
                </a:uFill>
                <a:latin typeface="Times New Roman"/>
                <a:cs typeface="Times New Roman"/>
              </a:rPr>
              <a:t>n</a:t>
            </a:r>
            <a:r>
              <a:rPr lang="en-US" altLang="zh-CN" sz="2800" b="1" dirty="0" smtClean="0">
                <a:uFill>
                  <a:solidFill>
                    <a:srgbClr val="C00000"/>
                  </a:solidFill>
                </a:uFill>
                <a:latin typeface="Times New Roman"/>
                <a:cs typeface="Times New Roman"/>
              </a:rPr>
              <a:t>-log</a:t>
            </a:r>
            <a:r>
              <a:rPr lang="en-US" altLang="zh-CN" sz="2800" b="1" i="1" dirty="0" smtClean="0">
                <a:uFill>
                  <a:solidFill>
                    <a:srgbClr val="C00000"/>
                  </a:solidFill>
                </a:uFill>
                <a:latin typeface="Times New Roman"/>
                <a:cs typeface="Times New Roman"/>
              </a:rPr>
              <a:t>2</a:t>
            </a:r>
            <a:r>
              <a:rPr lang="en-US" altLang="zh-CN" sz="2800" b="1" dirty="0" smtClean="0">
                <a:uFill>
                  <a:solidFill>
                    <a:srgbClr val="C00000"/>
                  </a:solidFill>
                </a:uFill>
                <a:latin typeface="Times New Roman"/>
                <a:cs typeface="Times New Roman"/>
              </a:rPr>
              <a:t>) </a:t>
            </a: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2558012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  <p:bldP spid="15" grpId="0"/>
      <p:bldP spid="16" grpId="0" animBg="1"/>
      <p:bldP spid="18" grpId="0"/>
      <p:bldP spid="19" grpId="0"/>
      <p:bldP spid="20" grpId="0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402954" y="187692"/>
            <a:ext cx="8890336" cy="692011"/>
          </a:xfrm>
          <a:prstGeom prst="rect">
            <a:avLst/>
          </a:prstGeom>
        </p:spPr>
        <p:txBody>
          <a:bodyPr vert="horz" wrap="square" lIns="0" tIns="14758" rIns="0" bIns="0" rtlCol="0" anchor="ctr">
            <a:spAutoFit/>
          </a:bodyPr>
          <a:lstStyle/>
          <a:p>
            <a:pPr marL="15534" algn="ctr">
              <a:lnSpc>
                <a:spcPct val="100000"/>
              </a:lnSpc>
              <a:spcBef>
                <a:spcPts val="117"/>
              </a:spcBef>
            </a:pPr>
            <a:r>
              <a:rPr sz="4400" b="1" spc="-12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递归树求解</a:t>
            </a:r>
          </a:p>
        </p:txBody>
      </p:sp>
      <p:sp>
        <p:nvSpPr>
          <p:cNvPr id="3" name="object 3"/>
          <p:cNvSpPr/>
          <p:nvPr/>
        </p:nvSpPr>
        <p:spPr>
          <a:xfrm>
            <a:off x="1" y="2"/>
            <a:ext cx="183094" cy="45121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200"/>
          </a:p>
        </p:txBody>
      </p:sp>
      <p:sp>
        <p:nvSpPr>
          <p:cNvPr id="4" name="object 4"/>
          <p:cNvSpPr/>
          <p:nvPr/>
        </p:nvSpPr>
        <p:spPr>
          <a:xfrm>
            <a:off x="11342" y="13441"/>
            <a:ext cx="199298" cy="47041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200"/>
          </a:p>
        </p:txBody>
      </p:sp>
      <p:sp>
        <p:nvSpPr>
          <p:cNvPr id="5" name="object 5"/>
          <p:cNvSpPr/>
          <p:nvPr/>
        </p:nvSpPr>
        <p:spPr>
          <a:xfrm>
            <a:off x="1" y="2"/>
            <a:ext cx="183094" cy="45121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200"/>
          </a:p>
        </p:txBody>
      </p:sp>
      <p:sp>
        <p:nvSpPr>
          <p:cNvPr id="6" name="object 6"/>
          <p:cNvSpPr/>
          <p:nvPr/>
        </p:nvSpPr>
        <p:spPr>
          <a:xfrm>
            <a:off x="11342" y="13441"/>
            <a:ext cx="199298" cy="47041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200"/>
          </a:p>
        </p:txBody>
      </p:sp>
      <p:sp>
        <p:nvSpPr>
          <p:cNvPr id="7" name="object 7"/>
          <p:cNvSpPr/>
          <p:nvPr/>
        </p:nvSpPr>
        <p:spPr>
          <a:xfrm>
            <a:off x="1" y="2"/>
            <a:ext cx="183094" cy="45121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200"/>
          </a:p>
        </p:txBody>
      </p:sp>
      <p:sp>
        <p:nvSpPr>
          <p:cNvPr id="8" name="object 8"/>
          <p:cNvSpPr/>
          <p:nvPr/>
        </p:nvSpPr>
        <p:spPr>
          <a:xfrm>
            <a:off x="11342" y="13441"/>
            <a:ext cx="199298" cy="47041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200"/>
          </a:p>
        </p:txBody>
      </p:sp>
      <p:sp>
        <p:nvSpPr>
          <p:cNvPr id="13" name="object 13"/>
          <p:cNvSpPr/>
          <p:nvPr/>
        </p:nvSpPr>
        <p:spPr>
          <a:xfrm>
            <a:off x="1667767" y="1978090"/>
            <a:ext cx="1952511" cy="468237"/>
          </a:xfrm>
          <a:custGeom>
            <a:avLst/>
            <a:gdLst/>
            <a:ahLst/>
            <a:cxnLst/>
            <a:rect l="l" t="t" r="r" b="b"/>
            <a:pathLst>
              <a:path w="259080" h="220980">
                <a:moveTo>
                  <a:pt x="258699" y="0"/>
                </a:moveTo>
                <a:lnTo>
                  <a:pt x="0" y="220599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4" name="object 14"/>
          <p:cNvSpPr/>
          <p:nvPr/>
        </p:nvSpPr>
        <p:spPr>
          <a:xfrm>
            <a:off x="3993499" y="1978090"/>
            <a:ext cx="1838131" cy="449575"/>
          </a:xfrm>
          <a:custGeom>
            <a:avLst/>
            <a:gdLst/>
            <a:ahLst/>
            <a:cxnLst/>
            <a:rect l="l" t="t" r="r" b="b"/>
            <a:pathLst>
              <a:path w="260350" h="220980">
                <a:moveTo>
                  <a:pt x="0" y="0"/>
                </a:moveTo>
                <a:lnTo>
                  <a:pt x="260350" y="220599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1" name="object 31"/>
          <p:cNvSpPr txBox="1"/>
          <p:nvPr/>
        </p:nvSpPr>
        <p:spPr>
          <a:xfrm>
            <a:off x="8098156" y="4279665"/>
            <a:ext cx="999190" cy="908238"/>
          </a:xfrm>
          <a:prstGeom prst="rect">
            <a:avLst/>
          </a:prstGeom>
        </p:spPr>
        <p:txBody>
          <a:bodyPr vert="horz" wrap="square" lIns="0" tIns="15534" rIns="0" bIns="0" rtlCol="0">
            <a:spAutoFit/>
          </a:bodyPr>
          <a:lstStyle/>
          <a:p>
            <a:pPr marL="15534">
              <a:spcBef>
                <a:spcPts val="122"/>
              </a:spcBef>
            </a:pPr>
            <a:r>
              <a:rPr sz="2900" spc="-6" dirty="0">
                <a:latin typeface="Arial"/>
                <a:cs typeface="Arial"/>
              </a:rPr>
              <a:t>………</a:t>
            </a:r>
            <a:endParaRPr sz="2900" dirty="0">
              <a:latin typeface="Arial"/>
              <a:cs typeface="Arial"/>
            </a:endParaRPr>
          </a:p>
        </p:txBody>
      </p:sp>
      <p:sp>
        <p:nvSpPr>
          <p:cNvPr id="36" name="object 10"/>
          <p:cNvSpPr txBox="1"/>
          <p:nvPr/>
        </p:nvSpPr>
        <p:spPr>
          <a:xfrm>
            <a:off x="363894" y="916055"/>
            <a:ext cx="8938726" cy="625397"/>
          </a:xfrm>
          <a:prstGeom prst="rect">
            <a:avLst/>
          </a:prstGeom>
        </p:spPr>
        <p:txBody>
          <a:bodyPr vert="horz" wrap="square" lIns="0" tIns="192629" rIns="0" bIns="0" rtlCol="0">
            <a:spAutoFit/>
          </a:bodyPr>
          <a:lstStyle/>
          <a:p>
            <a:pPr>
              <a:spcBef>
                <a:spcPts val="1516"/>
              </a:spcBef>
              <a:tabLst>
                <a:tab pos="929725" algn="l"/>
              </a:tabLst>
            </a:pPr>
            <a:r>
              <a:rPr sz="2800" b="1" dirty="0" err="1" smtClean="0">
                <a:latin typeface="黑体" pitchFamily="49" charset="-122"/>
                <a:ea typeface="黑体" pitchFamily="49" charset="-122"/>
                <a:cs typeface="宋体"/>
              </a:rPr>
              <a:t>求</a:t>
            </a:r>
            <a:r>
              <a:rPr sz="2800" b="1" spc="-12" dirty="0" err="1" smtClean="0">
                <a:latin typeface="黑体" pitchFamily="49" charset="-122"/>
                <a:ea typeface="黑体" pitchFamily="49" charset="-122"/>
                <a:cs typeface="宋体"/>
              </a:rPr>
              <a:t>解</a:t>
            </a:r>
            <a:r>
              <a:rPr sz="2800" b="1" spc="539" dirty="0" smtClean="0">
                <a:latin typeface="黑体" pitchFamily="49" charset="-122"/>
                <a:ea typeface="黑体" pitchFamily="49" charset="-122"/>
                <a:cs typeface="宋体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T</a:t>
            </a:r>
            <a:r>
              <a:rPr sz="2800" b="1" dirty="0">
                <a:latin typeface="Times New Roman"/>
                <a:cs typeface="Times New Roman"/>
              </a:rPr>
              <a:t>(</a:t>
            </a:r>
            <a:r>
              <a:rPr sz="2800" b="1" i="1" dirty="0">
                <a:latin typeface="Times New Roman"/>
                <a:cs typeface="Times New Roman"/>
              </a:rPr>
              <a:t>n</a:t>
            </a:r>
            <a:r>
              <a:rPr sz="2800" b="1" dirty="0">
                <a:latin typeface="Times New Roman"/>
                <a:cs typeface="Times New Roman"/>
              </a:rPr>
              <a:t>)=2</a:t>
            </a:r>
            <a:r>
              <a:rPr sz="2800" b="1" i="1" dirty="0">
                <a:latin typeface="Times New Roman"/>
                <a:cs typeface="Times New Roman"/>
              </a:rPr>
              <a:t>T</a:t>
            </a:r>
            <a:r>
              <a:rPr sz="2800" b="1" dirty="0">
                <a:latin typeface="Times New Roman"/>
                <a:cs typeface="Times New Roman"/>
              </a:rPr>
              <a:t>(</a:t>
            </a:r>
            <a:r>
              <a:rPr sz="2800" b="1" i="1" dirty="0">
                <a:latin typeface="Times New Roman"/>
                <a:cs typeface="Times New Roman"/>
              </a:rPr>
              <a:t>n</a:t>
            </a:r>
            <a:r>
              <a:rPr sz="2800" b="1" dirty="0">
                <a:latin typeface="Times New Roman"/>
                <a:cs typeface="Times New Roman"/>
              </a:rPr>
              <a:t>/2)+</a:t>
            </a:r>
            <a:r>
              <a:rPr sz="2800" b="1" i="1" dirty="0" err="1" smtClean="0">
                <a:latin typeface="Times New Roman"/>
                <a:cs typeface="Times New Roman"/>
              </a:rPr>
              <a:t>n</a:t>
            </a:r>
            <a:r>
              <a:rPr sz="2800" b="1" dirty="0" err="1" smtClean="0">
                <a:latin typeface="Times New Roman"/>
                <a:cs typeface="Times New Roman"/>
              </a:rPr>
              <a:t>log</a:t>
            </a:r>
            <a:r>
              <a:rPr sz="2800" b="1" i="1" dirty="0" err="1" smtClean="0">
                <a:latin typeface="Times New Roman"/>
                <a:cs typeface="Times New Roman"/>
              </a:rPr>
              <a:t>n</a:t>
            </a:r>
            <a:endParaRPr sz="2800" dirty="0">
              <a:latin typeface="Times New Roman"/>
              <a:cs typeface="Times New Roman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/>
              <p:cNvSpPr txBox="1"/>
              <p:nvPr/>
            </p:nvSpPr>
            <p:spPr>
              <a:xfrm>
                <a:off x="3175725" y="1613590"/>
                <a:ext cx="121539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1" i="1" smtClean="0">
                          <a:latin typeface="Cambria Math"/>
                        </a:rPr>
                        <m:t>𝒏</m:t>
                      </m:r>
                      <m:func>
                        <m:funcPr>
                          <m:ctrlPr>
                            <a:rPr lang="en-US" altLang="zh-CN" sz="2400" b="1" i="1" smtClean="0">
                              <a:latin typeface="Cambria Math"/>
                            </a:rPr>
                          </m:ctrlPr>
                        </m:funcPr>
                        <m:fName>
                          <m:r>
                            <a:rPr lang="en-US" altLang="zh-CN" sz="2400" b="1" i="0" smtClean="0">
                              <a:latin typeface="Cambria Math"/>
                            </a:rPr>
                            <m:t>𝐥𝐨𝐠</m:t>
                          </m:r>
                        </m:fName>
                        <m:e>
                          <m:r>
                            <a:rPr lang="en-US" altLang="zh-CN" sz="2400" b="1" i="1" smtClean="0">
                              <a:latin typeface="Cambria Math"/>
                            </a:rPr>
                            <m:t>𝒏</m:t>
                          </m:r>
                        </m:e>
                      </m:func>
                    </m:oMath>
                  </m:oMathPara>
                </a14:m>
                <a:endParaRPr lang="zh-CN" altLang="en-US" sz="2400" b="1" i="1" dirty="0"/>
              </a:p>
            </p:txBody>
          </p:sp>
        </mc:Choice>
        <mc:Fallback xmlns="">
          <p:sp>
            <p:nvSpPr>
              <p:cNvPr id="33" name="TextBox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75725" y="1613590"/>
                <a:ext cx="1215397" cy="461665"/>
              </a:xfrm>
              <a:prstGeom prst="rect">
                <a:avLst/>
              </a:prstGeom>
              <a:blipFill rotWithShape="1">
                <a:blip r:embed="rId5"/>
                <a:stretch>
                  <a:fillRect b="-18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/>
              <p:cNvSpPr txBox="1"/>
              <p:nvPr/>
            </p:nvSpPr>
            <p:spPr>
              <a:xfrm>
                <a:off x="696340" y="2315532"/>
                <a:ext cx="1923475" cy="80669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2400" b="1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altLang="zh-CN" sz="2400" b="1" i="1">
                              <a:latin typeface="Cambria Math"/>
                            </a:rPr>
                            <m:t>𝒏</m:t>
                          </m:r>
                          <m:d>
                            <m:dPr>
                              <m:ctrlPr>
                                <a:rPr lang="en-US" altLang="zh-CN" sz="2400" b="1" i="1" smtClean="0">
                                  <a:latin typeface="Cambria Math"/>
                                </a:rPr>
                              </m:ctrlPr>
                            </m:dPr>
                            <m:e>
                              <m:func>
                                <m:funcPr>
                                  <m:ctrlPr>
                                    <a:rPr lang="en-US" altLang="zh-CN" sz="2400" b="1" i="1" smtClean="0">
                                      <a:latin typeface="Cambria Math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zh-CN" sz="2400" b="0" i="0" smtClean="0">
                                      <a:latin typeface="Cambria Math"/>
                                    </a:rPr>
                                    <m:t>log</m:t>
                                  </m:r>
                                </m:fName>
                                <m:e>
                                  <m:r>
                                    <a:rPr lang="en-US" altLang="zh-CN" sz="2400" b="1" i="1" smtClean="0">
                                      <a:latin typeface="Cambria Math"/>
                                    </a:rPr>
                                    <m:t>𝒏</m:t>
                                  </m:r>
                                </m:e>
                              </m:func>
                              <m:r>
                                <a:rPr lang="en-US" altLang="zh-CN" sz="2400" b="1" i="1" smtClean="0"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altLang="zh-CN" sz="2400" b="1" i="1" smtClean="0">
                                  <a:latin typeface="Cambria Math"/>
                                </a:rPr>
                                <m:t>𝟏</m:t>
                              </m:r>
                            </m:e>
                          </m:d>
                        </m:num>
                        <m:den>
                          <m:r>
                            <a:rPr lang="en-US" altLang="zh-CN" sz="2400" b="1" i="1" smtClean="0">
                              <a:latin typeface="Cambria Math"/>
                            </a:rPr>
                            <m:t>𝟐</m:t>
                          </m:r>
                        </m:den>
                      </m:f>
                    </m:oMath>
                  </m:oMathPara>
                </a14:m>
                <a:endParaRPr lang="zh-CN" altLang="en-US" sz="2400" b="1" i="1" dirty="0"/>
              </a:p>
            </p:txBody>
          </p:sp>
        </mc:Choice>
        <mc:Fallback xmlns="">
          <p:sp>
            <p:nvSpPr>
              <p:cNvPr id="37" name="TextBox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6340" y="2315532"/>
                <a:ext cx="1923475" cy="806696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/>
              <p:cNvSpPr txBox="1"/>
              <p:nvPr/>
            </p:nvSpPr>
            <p:spPr>
              <a:xfrm>
                <a:off x="4591206" y="2312985"/>
                <a:ext cx="1923475" cy="80669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2400" b="1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altLang="zh-CN" sz="2400" b="1" i="1">
                              <a:latin typeface="Cambria Math"/>
                            </a:rPr>
                            <m:t>𝒏</m:t>
                          </m:r>
                          <m:d>
                            <m:dPr>
                              <m:ctrlPr>
                                <a:rPr lang="en-US" altLang="zh-CN" sz="2400" b="1" i="1" smtClean="0">
                                  <a:latin typeface="Cambria Math"/>
                                </a:rPr>
                              </m:ctrlPr>
                            </m:dPr>
                            <m:e>
                              <m:func>
                                <m:funcPr>
                                  <m:ctrlPr>
                                    <a:rPr lang="en-US" altLang="zh-CN" sz="2400" b="1" i="1" smtClean="0">
                                      <a:latin typeface="Cambria Math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zh-CN" sz="2400" b="0" i="0" smtClean="0">
                                      <a:latin typeface="Cambria Math"/>
                                    </a:rPr>
                                    <m:t>log</m:t>
                                  </m:r>
                                </m:fName>
                                <m:e>
                                  <m:r>
                                    <a:rPr lang="en-US" altLang="zh-CN" sz="2400" b="1" i="1" smtClean="0">
                                      <a:latin typeface="Cambria Math"/>
                                    </a:rPr>
                                    <m:t>𝒏</m:t>
                                  </m:r>
                                </m:e>
                              </m:func>
                              <m:r>
                                <a:rPr lang="en-US" altLang="zh-CN" sz="2400" b="1" i="1" smtClean="0"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altLang="zh-CN" sz="2400" b="1" i="1" smtClean="0">
                                  <a:latin typeface="Cambria Math"/>
                                </a:rPr>
                                <m:t>𝟏</m:t>
                              </m:r>
                            </m:e>
                          </m:d>
                        </m:num>
                        <m:den>
                          <m:r>
                            <a:rPr lang="en-US" altLang="zh-CN" sz="2400" b="1" i="1" smtClean="0">
                              <a:latin typeface="Cambria Math"/>
                            </a:rPr>
                            <m:t>𝟐</m:t>
                          </m:r>
                        </m:den>
                      </m:f>
                    </m:oMath>
                  </m:oMathPara>
                </a14:m>
                <a:endParaRPr lang="zh-CN" altLang="en-US" sz="2400" b="1" i="1" dirty="0"/>
              </a:p>
            </p:txBody>
          </p:sp>
        </mc:Choice>
        <mc:Fallback xmlns="">
          <p:sp>
            <p:nvSpPr>
              <p:cNvPr id="38" name="TextBox 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91206" y="2312985"/>
                <a:ext cx="1923475" cy="806696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object 13"/>
          <p:cNvSpPr/>
          <p:nvPr/>
        </p:nvSpPr>
        <p:spPr>
          <a:xfrm>
            <a:off x="752326" y="3139022"/>
            <a:ext cx="712217" cy="509247"/>
          </a:xfrm>
          <a:custGeom>
            <a:avLst/>
            <a:gdLst/>
            <a:ahLst/>
            <a:cxnLst/>
            <a:rect l="l" t="t" r="r" b="b"/>
            <a:pathLst>
              <a:path w="259080" h="220980">
                <a:moveTo>
                  <a:pt x="258699" y="0"/>
                </a:moveTo>
                <a:lnTo>
                  <a:pt x="0" y="220599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0" name="object 14"/>
          <p:cNvSpPr/>
          <p:nvPr/>
        </p:nvSpPr>
        <p:spPr>
          <a:xfrm>
            <a:off x="1828628" y="3133267"/>
            <a:ext cx="847173" cy="515001"/>
          </a:xfrm>
          <a:custGeom>
            <a:avLst/>
            <a:gdLst/>
            <a:ahLst/>
            <a:cxnLst/>
            <a:rect l="l" t="t" r="r" b="b"/>
            <a:pathLst>
              <a:path w="260350" h="220980">
                <a:moveTo>
                  <a:pt x="0" y="0"/>
                </a:moveTo>
                <a:lnTo>
                  <a:pt x="260350" y="220599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/>
              <p:cNvSpPr txBox="1"/>
              <p:nvPr/>
            </p:nvSpPr>
            <p:spPr>
              <a:xfrm>
                <a:off x="-56745" y="3657183"/>
                <a:ext cx="1923475" cy="80669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2400" b="1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altLang="zh-CN" sz="2400" b="1" i="1">
                              <a:latin typeface="Cambria Math"/>
                            </a:rPr>
                            <m:t>𝒏</m:t>
                          </m:r>
                          <m:d>
                            <m:dPr>
                              <m:ctrlPr>
                                <a:rPr lang="en-US" altLang="zh-CN" sz="2400" b="1" i="1" smtClean="0">
                                  <a:latin typeface="Cambria Math"/>
                                </a:rPr>
                              </m:ctrlPr>
                            </m:dPr>
                            <m:e>
                              <m:func>
                                <m:funcPr>
                                  <m:ctrlPr>
                                    <a:rPr lang="en-US" altLang="zh-CN" sz="2400" b="1" i="1" smtClean="0">
                                      <a:latin typeface="Cambria Math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zh-CN" sz="2400" b="0" i="0" smtClean="0">
                                      <a:latin typeface="Cambria Math"/>
                                    </a:rPr>
                                    <m:t>log</m:t>
                                  </m:r>
                                </m:fName>
                                <m:e>
                                  <m:r>
                                    <a:rPr lang="en-US" altLang="zh-CN" sz="2400" b="1" i="1" smtClean="0">
                                      <a:latin typeface="Cambria Math"/>
                                    </a:rPr>
                                    <m:t>𝒏</m:t>
                                  </m:r>
                                </m:e>
                              </m:func>
                              <m:r>
                                <a:rPr lang="en-US" altLang="zh-CN" sz="2400" b="1" i="1" smtClean="0"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altLang="zh-CN" sz="2400" b="1" i="1" smtClean="0">
                                  <a:latin typeface="Cambria Math"/>
                                </a:rPr>
                                <m:t>𝟐</m:t>
                              </m:r>
                            </m:e>
                          </m:d>
                        </m:num>
                        <m:den>
                          <m:r>
                            <a:rPr lang="en-US" altLang="zh-CN" sz="2400" b="1" i="1" smtClean="0">
                              <a:latin typeface="Cambria Math"/>
                            </a:rPr>
                            <m:t>𝟒</m:t>
                          </m:r>
                        </m:den>
                      </m:f>
                    </m:oMath>
                  </m:oMathPara>
                </a14:m>
                <a:endParaRPr lang="zh-CN" altLang="en-US" sz="2400" b="1" i="1" dirty="0"/>
              </a:p>
            </p:txBody>
          </p:sp>
        </mc:Choice>
        <mc:Fallback xmlns="">
          <p:sp>
            <p:nvSpPr>
              <p:cNvPr id="41" name="TextBox 4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56745" y="3657183"/>
                <a:ext cx="1923475" cy="806696"/>
              </a:xfrm>
              <a:prstGeom prst="rect">
                <a:avLst/>
              </a:prstGeom>
              <a:blipFill rotWithShape="1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/>
              <p:cNvSpPr txBox="1"/>
              <p:nvPr/>
            </p:nvSpPr>
            <p:spPr>
              <a:xfrm>
                <a:off x="1859949" y="3654636"/>
                <a:ext cx="1923475" cy="80669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2400" b="1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altLang="zh-CN" sz="2400" b="1" i="1">
                              <a:latin typeface="Cambria Math"/>
                            </a:rPr>
                            <m:t>𝒏</m:t>
                          </m:r>
                          <m:d>
                            <m:dPr>
                              <m:ctrlPr>
                                <a:rPr lang="en-US" altLang="zh-CN" sz="2400" b="1" i="1" smtClean="0">
                                  <a:latin typeface="Cambria Math"/>
                                </a:rPr>
                              </m:ctrlPr>
                            </m:dPr>
                            <m:e>
                              <m:func>
                                <m:funcPr>
                                  <m:ctrlPr>
                                    <a:rPr lang="en-US" altLang="zh-CN" sz="2400" b="1" i="1" smtClean="0">
                                      <a:latin typeface="Cambria Math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zh-CN" sz="2400" b="0" i="0" smtClean="0">
                                      <a:latin typeface="Cambria Math"/>
                                    </a:rPr>
                                    <m:t>log</m:t>
                                  </m:r>
                                </m:fName>
                                <m:e>
                                  <m:r>
                                    <a:rPr lang="en-US" altLang="zh-CN" sz="2400" b="1" i="1" smtClean="0">
                                      <a:latin typeface="Cambria Math"/>
                                    </a:rPr>
                                    <m:t>𝒏</m:t>
                                  </m:r>
                                </m:e>
                              </m:func>
                              <m:r>
                                <a:rPr lang="en-US" altLang="zh-CN" sz="2400" b="1" i="1" smtClean="0"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altLang="zh-CN" sz="2400" b="1" i="1" smtClean="0">
                                  <a:latin typeface="Cambria Math"/>
                                </a:rPr>
                                <m:t>𝟐</m:t>
                              </m:r>
                            </m:e>
                          </m:d>
                        </m:num>
                        <m:den>
                          <m:r>
                            <a:rPr lang="en-US" altLang="zh-CN" sz="2400" b="1" i="1" smtClean="0">
                              <a:latin typeface="Cambria Math"/>
                            </a:rPr>
                            <m:t>𝟒</m:t>
                          </m:r>
                        </m:den>
                      </m:f>
                    </m:oMath>
                  </m:oMathPara>
                </a14:m>
                <a:endParaRPr lang="zh-CN" altLang="en-US" sz="2400" b="1" i="1" dirty="0"/>
              </a:p>
            </p:txBody>
          </p:sp>
        </mc:Choice>
        <mc:Fallback xmlns="">
          <p:sp>
            <p:nvSpPr>
              <p:cNvPr id="42" name="Text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9949" y="3654636"/>
                <a:ext cx="1923475" cy="806696"/>
              </a:xfrm>
              <a:prstGeom prst="rect">
                <a:avLst/>
              </a:prstGeom>
              <a:blipFill rotWithShape="1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" name="object 13"/>
          <p:cNvSpPr/>
          <p:nvPr/>
        </p:nvSpPr>
        <p:spPr>
          <a:xfrm>
            <a:off x="4670081" y="3129871"/>
            <a:ext cx="712217" cy="509247"/>
          </a:xfrm>
          <a:custGeom>
            <a:avLst/>
            <a:gdLst/>
            <a:ahLst/>
            <a:cxnLst/>
            <a:rect l="l" t="t" r="r" b="b"/>
            <a:pathLst>
              <a:path w="259080" h="220980">
                <a:moveTo>
                  <a:pt x="258699" y="0"/>
                </a:moveTo>
                <a:lnTo>
                  <a:pt x="0" y="220599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6" name="object 14"/>
          <p:cNvSpPr/>
          <p:nvPr/>
        </p:nvSpPr>
        <p:spPr>
          <a:xfrm>
            <a:off x="5746383" y="3124116"/>
            <a:ext cx="847173" cy="515001"/>
          </a:xfrm>
          <a:custGeom>
            <a:avLst/>
            <a:gdLst/>
            <a:ahLst/>
            <a:cxnLst/>
            <a:rect l="l" t="t" r="r" b="b"/>
            <a:pathLst>
              <a:path w="260350" h="220980">
                <a:moveTo>
                  <a:pt x="0" y="0"/>
                </a:moveTo>
                <a:lnTo>
                  <a:pt x="260350" y="220599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/>
              <p:cNvSpPr txBox="1"/>
              <p:nvPr/>
            </p:nvSpPr>
            <p:spPr>
              <a:xfrm>
                <a:off x="3926327" y="3648032"/>
                <a:ext cx="1923475" cy="80669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2400" b="1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altLang="zh-CN" sz="2400" b="1" i="1">
                              <a:latin typeface="Cambria Math"/>
                            </a:rPr>
                            <m:t>𝒏</m:t>
                          </m:r>
                          <m:d>
                            <m:dPr>
                              <m:ctrlPr>
                                <a:rPr lang="en-US" altLang="zh-CN" sz="2400" b="1" i="1" smtClean="0">
                                  <a:latin typeface="Cambria Math"/>
                                </a:rPr>
                              </m:ctrlPr>
                            </m:dPr>
                            <m:e>
                              <m:func>
                                <m:funcPr>
                                  <m:ctrlPr>
                                    <a:rPr lang="en-US" altLang="zh-CN" sz="2400" b="1" i="1" smtClean="0">
                                      <a:latin typeface="Cambria Math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zh-CN" sz="2400" b="0" i="0" smtClean="0">
                                      <a:latin typeface="Cambria Math"/>
                                    </a:rPr>
                                    <m:t>log</m:t>
                                  </m:r>
                                </m:fName>
                                <m:e>
                                  <m:r>
                                    <a:rPr lang="en-US" altLang="zh-CN" sz="2400" b="1" i="1" smtClean="0">
                                      <a:latin typeface="Cambria Math"/>
                                    </a:rPr>
                                    <m:t>𝒏</m:t>
                                  </m:r>
                                </m:e>
                              </m:func>
                              <m:r>
                                <a:rPr lang="en-US" altLang="zh-CN" sz="2400" b="1" i="1" smtClean="0"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altLang="zh-CN" sz="2400" b="1" i="1" smtClean="0">
                                  <a:latin typeface="Cambria Math"/>
                                </a:rPr>
                                <m:t>𝟐</m:t>
                              </m:r>
                            </m:e>
                          </m:d>
                        </m:num>
                        <m:den>
                          <m:r>
                            <a:rPr lang="en-US" altLang="zh-CN" sz="2400" b="1" i="1" smtClean="0">
                              <a:latin typeface="Cambria Math"/>
                            </a:rPr>
                            <m:t>𝟒</m:t>
                          </m:r>
                        </m:den>
                      </m:f>
                    </m:oMath>
                  </m:oMathPara>
                </a14:m>
                <a:endParaRPr lang="zh-CN" altLang="en-US" sz="2400" b="1" i="1" dirty="0"/>
              </a:p>
            </p:txBody>
          </p:sp>
        </mc:Choice>
        <mc:Fallback xmlns="">
          <p:sp>
            <p:nvSpPr>
              <p:cNvPr id="47" name="TextBox 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26327" y="3648032"/>
                <a:ext cx="1923475" cy="806696"/>
              </a:xfrm>
              <a:prstGeom prst="rect">
                <a:avLst/>
              </a:prstGeom>
              <a:blipFill rotWithShape="1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/>
              <p:cNvSpPr txBox="1"/>
              <p:nvPr/>
            </p:nvSpPr>
            <p:spPr>
              <a:xfrm>
                <a:off x="5777704" y="3645485"/>
                <a:ext cx="1923475" cy="80669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2400" b="1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altLang="zh-CN" sz="2400" b="1" i="1">
                              <a:latin typeface="Cambria Math"/>
                            </a:rPr>
                            <m:t>𝒏</m:t>
                          </m:r>
                          <m:d>
                            <m:dPr>
                              <m:ctrlPr>
                                <a:rPr lang="en-US" altLang="zh-CN" sz="2400" b="1" i="1" smtClean="0">
                                  <a:latin typeface="Cambria Math"/>
                                </a:rPr>
                              </m:ctrlPr>
                            </m:dPr>
                            <m:e>
                              <m:func>
                                <m:funcPr>
                                  <m:ctrlPr>
                                    <a:rPr lang="en-US" altLang="zh-CN" sz="2400" b="1" i="1" smtClean="0">
                                      <a:latin typeface="Cambria Math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zh-CN" sz="2400" b="0" i="0" smtClean="0">
                                      <a:latin typeface="Cambria Math"/>
                                    </a:rPr>
                                    <m:t>log</m:t>
                                  </m:r>
                                </m:fName>
                                <m:e>
                                  <m:r>
                                    <a:rPr lang="en-US" altLang="zh-CN" sz="2400" b="1" i="1" smtClean="0">
                                      <a:latin typeface="Cambria Math"/>
                                    </a:rPr>
                                    <m:t>𝒏</m:t>
                                  </m:r>
                                </m:e>
                              </m:func>
                              <m:r>
                                <a:rPr lang="en-US" altLang="zh-CN" sz="2400" b="1" i="1" smtClean="0"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altLang="zh-CN" sz="2400" b="1" i="1" smtClean="0">
                                  <a:latin typeface="Cambria Math"/>
                                </a:rPr>
                                <m:t>𝟐</m:t>
                              </m:r>
                            </m:e>
                          </m:d>
                        </m:num>
                        <m:den>
                          <m:r>
                            <a:rPr lang="en-US" altLang="zh-CN" sz="2400" b="1" i="1" smtClean="0">
                              <a:latin typeface="Cambria Math"/>
                            </a:rPr>
                            <m:t>𝟒</m:t>
                          </m:r>
                        </m:den>
                      </m:f>
                    </m:oMath>
                  </m:oMathPara>
                </a14:m>
                <a:endParaRPr lang="zh-CN" altLang="en-US" sz="2400" b="1" i="1" dirty="0"/>
              </a:p>
            </p:txBody>
          </p:sp>
        </mc:Choice>
        <mc:Fallback xmlns="">
          <p:sp>
            <p:nvSpPr>
              <p:cNvPr id="48" name="TextBox 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77704" y="3645485"/>
                <a:ext cx="1923475" cy="806696"/>
              </a:xfrm>
              <a:prstGeom prst="rect">
                <a:avLst/>
              </a:prstGeom>
              <a:blipFill rotWithShape="1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/>
              <p:cNvSpPr txBox="1"/>
              <p:nvPr/>
            </p:nvSpPr>
            <p:spPr>
              <a:xfrm>
                <a:off x="7596562" y="1609146"/>
                <a:ext cx="121539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1" i="1" smtClean="0">
                          <a:latin typeface="Cambria Math"/>
                        </a:rPr>
                        <m:t>𝒏</m:t>
                      </m:r>
                      <m:func>
                        <m:funcPr>
                          <m:ctrlPr>
                            <a:rPr lang="en-US" altLang="zh-CN" sz="2400" b="1" i="1" smtClean="0">
                              <a:latin typeface="Cambria Math"/>
                            </a:rPr>
                          </m:ctrlPr>
                        </m:funcPr>
                        <m:fName>
                          <m:r>
                            <a:rPr lang="en-US" altLang="zh-CN" sz="2400" b="1" i="0" smtClean="0">
                              <a:latin typeface="Cambria Math"/>
                            </a:rPr>
                            <m:t>𝐥𝐨𝐠</m:t>
                          </m:r>
                        </m:fName>
                        <m:e>
                          <m:r>
                            <a:rPr lang="en-US" altLang="zh-CN" sz="2400" b="1" i="1" smtClean="0">
                              <a:latin typeface="Cambria Math"/>
                            </a:rPr>
                            <m:t>𝒏</m:t>
                          </m:r>
                        </m:e>
                      </m:func>
                    </m:oMath>
                  </m:oMathPara>
                </a14:m>
                <a:endParaRPr lang="zh-CN" altLang="en-US" sz="2400" b="1" i="1" dirty="0"/>
              </a:p>
            </p:txBody>
          </p:sp>
        </mc:Choice>
        <mc:Fallback xmlns="">
          <p:sp>
            <p:nvSpPr>
              <p:cNvPr id="49" name="TextBox 4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96562" y="1609146"/>
                <a:ext cx="1215397" cy="461665"/>
              </a:xfrm>
              <a:prstGeom prst="rect">
                <a:avLst/>
              </a:prstGeom>
              <a:blipFill rotWithShape="1">
                <a:blip r:embed="rId12"/>
                <a:stretch>
                  <a:fillRect b="-1710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/>
              <p:cNvSpPr txBox="1"/>
              <p:nvPr/>
            </p:nvSpPr>
            <p:spPr>
              <a:xfrm>
                <a:off x="7596562" y="2485500"/>
                <a:ext cx="196996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1" i="1" smtClean="0">
                          <a:latin typeface="Cambria Math"/>
                        </a:rPr>
                        <m:t>𝒏</m:t>
                      </m:r>
                      <m:d>
                        <m:dPr>
                          <m:ctrlPr>
                            <a:rPr lang="en-US" altLang="zh-CN" sz="2400" b="1" i="1" smtClean="0">
                              <a:latin typeface="Cambria Math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altLang="zh-CN" sz="2400" b="1" i="1">
                                  <a:latin typeface="Cambria Math"/>
                                </a:rPr>
                              </m:ctrlPr>
                            </m:funcPr>
                            <m:fName>
                              <m:r>
                                <a:rPr lang="en-US" altLang="zh-CN" sz="2400" b="1">
                                  <a:latin typeface="Cambria Math"/>
                                </a:rPr>
                                <m:t>𝐥𝐨𝐠</m:t>
                              </m:r>
                            </m:fName>
                            <m:e>
                              <m:r>
                                <a:rPr lang="en-US" altLang="zh-CN" sz="2400" b="1" i="1">
                                  <a:latin typeface="Cambria Math"/>
                                </a:rPr>
                                <m:t>𝒏</m:t>
                              </m:r>
                            </m:e>
                          </m:func>
                          <m:r>
                            <a:rPr lang="en-US" altLang="zh-CN" sz="2400" b="1" i="1" smtClean="0">
                              <a:latin typeface="Cambria Math"/>
                            </a:rPr>
                            <m:t>−</m:t>
                          </m:r>
                          <m:r>
                            <a:rPr lang="en-US" altLang="zh-CN" sz="2400" b="1" i="1" smtClean="0">
                              <a:latin typeface="Cambria Math"/>
                            </a:rPr>
                            <m:t>𝟏</m:t>
                          </m:r>
                        </m:e>
                      </m:d>
                    </m:oMath>
                  </m:oMathPara>
                </a14:m>
                <a:endParaRPr lang="zh-CN" altLang="en-US" sz="2400" b="1" i="1" dirty="0"/>
              </a:p>
            </p:txBody>
          </p:sp>
        </mc:Choice>
        <mc:Fallback xmlns="">
          <p:sp>
            <p:nvSpPr>
              <p:cNvPr id="51" name="TextBox 5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96562" y="2485500"/>
                <a:ext cx="1969963" cy="461665"/>
              </a:xfrm>
              <a:prstGeom prst="rect">
                <a:avLst/>
              </a:prstGeom>
              <a:blipFill rotWithShape="1">
                <a:blip r:embed="rId13"/>
                <a:stretch>
                  <a:fillRect b="-18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/>
              <p:cNvSpPr txBox="1"/>
              <p:nvPr/>
            </p:nvSpPr>
            <p:spPr>
              <a:xfrm>
                <a:off x="7612770" y="3818000"/>
                <a:ext cx="196996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1" i="1" smtClean="0">
                          <a:latin typeface="Cambria Math"/>
                        </a:rPr>
                        <m:t>𝒏</m:t>
                      </m:r>
                      <m:d>
                        <m:dPr>
                          <m:ctrlPr>
                            <a:rPr lang="en-US" altLang="zh-CN" sz="2400" b="1" i="1" smtClean="0">
                              <a:latin typeface="Cambria Math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altLang="zh-CN" sz="2400" b="1" i="1">
                                  <a:latin typeface="Cambria Math"/>
                                </a:rPr>
                              </m:ctrlPr>
                            </m:funcPr>
                            <m:fName>
                              <m:r>
                                <a:rPr lang="en-US" altLang="zh-CN" sz="2400" b="1">
                                  <a:latin typeface="Cambria Math"/>
                                </a:rPr>
                                <m:t>𝐥𝐨𝐠</m:t>
                              </m:r>
                            </m:fName>
                            <m:e>
                              <m:r>
                                <a:rPr lang="en-US" altLang="zh-CN" sz="2400" b="1" i="1">
                                  <a:latin typeface="Cambria Math"/>
                                </a:rPr>
                                <m:t>𝒏</m:t>
                              </m:r>
                            </m:e>
                          </m:func>
                          <m:r>
                            <a:rPr lang="en-US" altLang="zh-CN" sz="2400" b="1" i="1" smtClean="0">
                              <a:latin typeface="Cambria Math"/>
                            </a:rPr>
                            <m:t>−</m:t>
                          </m:r>
                          <m:r>
                            <a:rPr lang="en-US" altLang="zh-CN" sz="2400" b="1" i="1" smtClean="0">
                              <a:latin typeface="Cambria Math"/>
                            </a:rPr>
                            <m:t>𝟐</m:t>
                          </m:r>
                        </m:e>
                      </m:d>
                    </m:oMath>
                  </m:oMathPara>
                </a14:m>
                <a:endParaRPr lang="zh-CN" altLang="en-US" sz="2400" b="1" i="1" dirty="0"/>
              </a:p>
            </p:txBody>
          </p:sp>
        </mc:Choice>
        <mc:Fallback xmlns="">
          <p:sp>
            <p:nvSpPr>
              <p:cNvPr id="52" name="TextBox 5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12770" y="3818000"/>
                <a:ext cx="1969963" cy="461665"/>
              </a:xfrm>
              <a:prstGeom prst="rect">
                <a:avLst/>
              </a:prstGeom>
              <a:blipFill rotWithShape="1">
                <a:blip r:embed="rId14"/>
                <a:stretch>
                  <a:fillRect b="-1710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/>
              <p:cNvSpPr txBox="1"/>
              <p:nvPr/>
            </p:nvSpPr>
            <p:spPr>
              <a:xfrm>
                <a:off x="7117525" y="5207536"/>
                <a:ext cx="252357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1" i="1" smtClean="0">
                          <a:latin typeface="Cambria Math"/>
                        </a:rPr>
                        <m:t>𝒏</m:t>
                      </m:r>
                      <m:d>
                        <m:dPr>
                          <m:ctrlPr>
                            <a:rPr lang="en-US" altLang="zh-CN" sz="2400" b="1" i="1" smtClean="0">
                              <a:latin typeface="Cambria Math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altLang="zh-CN" sz="2400" b="1" i="1">
                                  <a:latin typeface="Cambria Math"/>
                                </a:rPr>
                              </m:ctrlPr>
                            </m:funcPr>
                            <m:fName>
                              <m:r>
                                <a:rPr lang="en-US" altLang="zh-CN" sz="2400" b="1">
                                  <a:latin typeface="Cambria Math"/>
                                </a:rPr>
                                <m:t>𝐥𝐨𝐠</m:t>
                              </m:r>
                            </m:fName>
                            <m:e>
                              <m:r>
                                <a:rPr lang="en-US" altLang="zh-CN" sz="2400" b="1" i="1">
                                  <a:latin typeface="Cambria Math"/>
                                </a:rPr>
                                <m:t>𝒏</m:t>
                              </m:r>
                            </m:e>
                          </m:func>
                          <m:r>
                            <a:rPr lang="en-US" altLang="zh-CN" sz="2400" b="1" i="1" smtClean="0">
                              <a:latin typeface="Cambria Math"/>
                            </a:rPr>
                            <m:t>−</m:t>
                          </m:r>
                          <m:r>
                            <a:rPr lang="en-US" altLang="zh-CN" sz="2400" b="1" i="1" smtClean="0">
                              <a:latin typeface="Cambria Math"/>
                            </a:rPr>
                            <m:t>𝒌</m:t>
                          </m:r>
                          <m:r>
                            <a:rPr lang="en-US" altLang="zh-CN" sz="2400" b="1" i="1" smtClean="0">
                              <a:latin typeface="Cambria Math"/>
                            </a:rPr>
                            <m:t>+</m:t>
                          </m:r>
                          <m:r>
                            <a:rPr lang="en-US" altLang="zh-CN" sz="2400" b="1" i="1" smtClean="0">
                              <a:latin typeface="Cambria Math"/>
                            </a:rPr>
                            <m:t>𝟏</m:t>
                          </m:r>
                        </m:e>
                      </m:d>
                    </m:oMath>
                  </m:oMathPara>
                </a14:m>
                <a:endParaRPr lang="zh-CN" altLang="en-US" sz="2400" b="1" i="1" dirty="0"/>
              </a:p>
            </p:txBody>
          </p:sp>
        </mc:Choice>
        <mc:Fallback xmlns="">
          <p:sp>
            <p:nvSpPr>
              <p:cNvPr id="53" name="TextBox 5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17525" y="5207536"/>
                <a:ext cx="2523576" cy="461665"/>
              </a:xfrm>
              <a:prstGeom prst="rect">
                <a:avLst/>
              </a:prstGeom>
              <a:blipFill rotWithShape="1">
                <a:blip r:embed="rId15"/>
                <a:stretch>
                  <a:fillRect b="-1710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4" name="object 31"/>
          <p:cNvSpPr txBox="1"/>
          <p:nvPr/>
        </p:nvSpPr>
        <p:spPr>
          <a:xfrm>
            <a:off x="1475771" y="4555727"/>
            <a:ext cx="999190" cy="908238"/>
          </a:xfrm>
          <a:prstGeom prst="rect">
            <a:avLst/>
          </a:prstGeom>
        </p:spPr>
        <p:txBody>
          <a:bodyPr vert="horz" wrap="square" lIns="0" tIns="15534" rIns="0" bIns="0" rtlCol="0">
            <a:spAutoFit/>
          </a:bodyPr>
          <a:lstStyle/>
          <a:p>
            <a:pPr marL="15534" algn="ctr">
              <a:spcBef>
                <a:spcPts val="122"/>
              </a:spcBef>
            </a:pPr>
            <a:r>
              <a:rPr sz="2900" spc="-6" dirty="0">
                <a:latin typeface="Arial"/>
                <a:cs typeface="Arial"/>
              </a:rPr>
              <a:t>………</a:t>
            </a:r>
            <a:endParaRPr sz="2900" dirty="0">
              <a:latin typeface="Arial"/>
              <a:cs typeface="Arial"/>
            </a:endParaRPr>
          </a:p>
        </p:txBody>
      </p:sp>
      <p:sp>
        <p:nvSpPr>
          <p:cNvPr id="55" name="object 31"/>
          <p:cNvSpPr txBox="1"/>
          <p:nvPr/>
        </p:nvSpPr>
        <p:spPr>
          <a:xfrm>
            <a:off x="5246788" y="4539066"/>
            <a:ext cx="999190" cy="908238"/>
          </a:xfrm>
          <a:prstGeom prst="rect">
            <a:avLst/>
          </a:prstGeom>
        </p:spPr>
        <p:txBody>
          <a:bodyPr vert="horz" wrap="square" lIns="0" tIns="15534" rIns="0" bIns="0" rtlCol="0">
            <a:spAutoFit/>
          </a:bodyPr>
          <a:lstStyle/>
          <a:p>
            <a:pPr marL="15534" algn="ctr">
              <a:spcBef>
                <a:spcPts val="122"/>
              </a:spcBef>
            </a:pPr>
            <a:r>
              <a:rPr sz="2900" spc="-6" dirty="0">
                <a:latin typeface="Arial"/>
                <a:cs typeface="Arial"/>
              </a:rPr>
              <a:t>………</a:t>
            </a:r>
            <a:endParaRPr sz="29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413669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31" grpId="0"/>
      <p:bldP spid="33" grpId="0"/>
      <p:bldP spid="37" grpId="0"/>
      <p:bldP spid="38" grpId="0"/>
      <p:bldP spid="39" grpId="0" animBg="1"/>
      <p:bldP spid="40" grpId="0" animBg="1"/>
      <p:bldP spid="41" grpId="0"/>
      <p:bldP spid="42" grpId="0"/>
      <p:bldP spid="45" grpId="0" animBg="1"/>
      <p:bldP spid="46" grpId="0" animBg="1"/>
      <p:bldP spid="47" grpId="0"/>
      <p:bldP spid="48" grpId="0"/>
      <p:bldP spid="49" grpId="0"/>
      <p:bldP spid="51" grpId="0"/>
      <p:bldP spid="52" grpId="0"/>
      <p:bldP spid="53" grpId="0"/>
      <p:bldP spid="54" grpId="0"/>
      <p:bldP spid="55" grpId="0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410547" y="180932"/>
            <a:ext cx="8920065" cy="692011"/>
          </a:xfrm>
          <a:prstGeom prst="rect">
            <a:avLst/>
          </a:prstGeom>
        </p:spPr>
        <p:txBody>
          <a:bodyPr vert="horz" wrap="square" lIns="0" tIns="14758" rIns="0" bIns="0" rtlCol="0" anchor="ctr">
            <a:spAutoFit/>
          </a:bodyPr>
          <a:lstStyle/>
          <a:p>
            <a:pPr marL="15534" algn="ctr">
              <a:lnSpc>
                <a:spcPct val="100000"/>
              </a:lnSpc>
              <a:spcBef>
                <a:spcPts val="117"/>
              </a:spcBef>
            </a:pPr>
            <a:r>
              <a:rPr sz="4400" b="1" spc="-12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求</a:t>
            </a:r>
            <a:r>
              <a:rPr lang="en-US" sz="4400" b="1" spc="-12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 </a:t>
            </a:r>
            <a:r>
              <a:rPr sz="4400" b="1" spc="-12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和</a:t>
            </a:r>
          </a:p>
        </p:txBody>
      </p:sp>
      <p:sp>
        <p:nvSpPr>
          <p:cNvPr id="3" name="object 3"/>
          <p:cNvSpPr/>
          <p:nvPr/>
        </p:nvSpPr>
        <p:spPr>
          <a:xfrm>
            <a:off x="1" y="2"/>
            <a:ext cx="183094" cy="45121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200"/>
          </a:p>
        </p:txBody>
      </p:sp>
      <p:sp>
        <p:nvSpPr>
          <p:cNvPr id="4" name="object 4"/>
          <p:cNvSpPr/>
          <p:nvPr/>
        </p:nvSpPr>
        <p:spPr>
          <a:xfrm>
            <a:off x="11342" y="13441"/>
            <a:ext cx="199298" cy="47041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200"/>
          </a:p>
        </p:txBody>
      </p:sp>
      <p:sp>
        <p:nvSpPr>
          <p:cNvPr id="5" name="object 5"/>
          <p:cNvSpPr/>
          <p:nvPr/>
        </p:nvSpPr>
        <p:spPr>
          <a:xfrm>
            <a:off x="1" y="2"/>
            <a:ext cx="183094" cy="45121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200"/>
          </a:p>
        </p:txBody>
      </p:sp>
      <p:sp>
        <p:nvSpPr>
          <p:cNvPr id="6" name="object 6"/>
          <p:cNvSpPr/>
          <p:nvPr/>
        </p:nvSpPr>
        <p:spPr>
          <a:xfrm>
            <a:off x="11342" y="13441"/>
            <a:ext cx="199298" cy="47041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200"/>
          </a:p>
        </p:txBody>
      </p:sp>
      <p:sp>
        <p:nvSpPr>
          <p:cNvPr id="7" name="object 7"/>
          <p:cNvSpPr/>
          <p:nvPr/>
        </p:nvSpPr>
        <p:spPr>
          <a:xfrm>
            <a:off x="1" y="2"/>
            <a:ext cx="183094" cy="45121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200"/>
          </a:p>
        </p:txBody>
      </p:sp>
      <p:sp>
        <p:nvSpPr>
          <p:cNvPr id="9" name="object 9"/>
          <p:cNvSpPr txBox="1"/>
          <p:nvPr/>
        </p:nvSpPr>
        <p:spPr>
          <a:xfrm>
            <a:off x="401217" y="1333044"/>
            <a:ext cx="8882742" cy="4449264"/>
          </a:xfrm>
          <a:prstGeom prst="rect">
            <a:avLst/>
          </a:prstGeom>
        </p:spPr>
        <p:txBody>
          <a:bodyPr vert="horz" wrap="square" lIns="0" tIns="139034" rIns="0" bIns="0" rtlCol="0">
            <a:spAutoFit/>
          </a:bodyPr>
          <a:lstStyle/>
          <a:p>
            <a:pPr marL="46603">
              <a:lnSpc>
                <a:spcPct val="150000"/>
              </a:lnSpc>
              <a:spcBef>
                <a:spcPts val="1094"/>
              </a:spcBef>
            </a:pPr>
            <a:r>
              <a:rPr sz="3200" b="1" i="1" spc="-147" dirty="0">
                <a:latin typeface="Times New Roman"/>
                <a:cs typeface="Times New Roman"/>
              </a:rPr>
              <a:t>T</a:t>
            </a:r>
            <a:r>
              <a:rPr sz="3200" b="1" i="1" spc="-520" dirty="0">
                <a:latin typeface="Times New Roman"/>
                <a:cs typeface="Times New Roman"/>
              </a:rPr>
              <a:t> </a:t>
            </a:r>
            <a:r>
              <a:rPr sz="3200" b="1" spc="-49" dirty="0">
                <a:latin typeface="Times New Roman"/>
                <a:cs typeface="Times New Roman"/>
              </a:rPr>
              <a:t>(</a:t>
            </a:r>
            <a:r>
              <a:rPr sz="3200" b="1" i="1" spc="-49" dirty="0">
                <a:latin typeface="Times New Roman"/>
                <a:cs typeface="Times New Roman"/>
              </a:rPr>
              <a:t>n</a:t>
            </a:r>
            <a:r>
              <a:rPr sz="3200" b="1" spc="-49" dirty="0" smtClean="0">
                <a:latin typeface="Times New Roman"/>
                <a:cs typeface="Times New Roman"/>
              </a:rPr>
              <a:t>)</a:t>
            </a:r>
            <a:r>
              <a:rPr sz="3200" spc="-135" dirty="0" smtClean="0">
                <a:latin typeface="Symbol"/>
                <a:cs typeface="Symbol"/>
              </a:rPr>
              <a:t></a:t>
            </a:r>
            <a:r>
              <a:rPr sz="3200" spc="-55" dirty="0" smtClean="0">
                <a:latin typeface="Times New Roman"/>
                <a:cs typeface="Times New Roman"/>
              </a:rPr>
              <a:t> </a:t>
            </a:r>
            <a:r>
              <a:rPr sz="3200" b="1" i="1" spc="-135" dirty="0">
                <a:latin typeface="Times New Roman"/>
                <a:cs typeface="Times New Roman"/>
              </a:rPr>
              <a:t>n</a:t>
            </a:r>
            <a:r>
              <a:rPr sz="3200" b="1" i="1" spc="-489" dirty="0">
                <a:latin typeface="Times New Roman"/>
                <a:cs typeface="Times New Roman"/>
              </a:rPr>
              <a:t> </a:t>
            </a:r>
            <a:r>
              <a:rPr sz="3200" b="1" spc="-80" dirty="0">
                <a:latin typeface="Times New Roman"/>
                <a:cs typeface="Times New Roman"/>
              </a:rPr>
              <a:t>log</a:t>
            </a:r>
            <a:r>
              <a:rPr sz="3200" b="1" spc="-471" dirty="0">
                <a:latin typeface="Times New Roman"/>
                <a:cs typeface="Times New Roman"/>
              </a:rPr>
              <a:t> </a:t>
            </a:r>
            <a:r>
              <a:rPr sz="3200" b="1" i="1" spc="-135" dirty="0">
                <a:latin typeface="Times New Roman"/>
                <a:cs typeface="Times New Roman"/>
              </a:rPr>
              <a:t>n</a:t>
            </a:r>
            <a:r>
              <a:rPr sz="3200" b="1" i="1" spc="-361" dirty="0">
                <a:latin typeface="Times New Roman"/>
                <a:cs typeface="Times New Roman"/>
              </a:rPr>
              <a:t> </a:t>
            </a:r>
            <a:r>
              <a:rPr sz="3200" spc="-135" dirty="0">
                <a:latin typeface="Symbol"/>
                <a:cs typeface="Symbol"/>
              </a:rPr>
              <a:t></a:t>
            </a:r>
            <a:r>
              <a:rPr sz="3200" spc="-190" dirty="0">
                <a:latin typeface="Times New Roman"/>
                <a:cs typeface="Times New Roman"/>
              </a:rPr>
              <a:t> </a:t>
            </a:r>
            <a:r>
              <a:rPr sz="3200" b="1" i="1" spc="-55" dirty="0">
                <a:latin typeface="Times New Roman"/>
                <a:cs typeface="Times New Roman"/>
              </a:rPr>
              <a:t>n</a:t>
            </a:r>
            <a:r>
              <a:rPr sz="3200" b="1" spc="-55" dirty="0">
                <a:latin typeface="Times New Roman"/>
                <a:cs typeface="Times New Roman"/>
              </a:rPr>
              <a:t>(log</a:t>
            </a:r>
            <a:r>
              <a:rPr sz="3200" b="1" i="1" spc="-55" dirty="0">
                <a:latin typeface="Times New Roman"/>
                <a:cs typeface="Times New Roman"/>
              </a:rPr>
              <a:t>n</a:t>
            </a:r>
            <a:r>
              <a:rPr sz="3200" b="1" i="1" spc="-355" dirty="0">
                <a:latin typeface="Times New Roman"/>
                <a:cs typeface="Times New Roman"/>
              </a:rPr>
              <a:t> </a:t>
            </a:r>
            <a:r>
              <a:rPr sz="3200" spc="-135" dirty="0">
                <a:latin typeface="Symbol"/>
                <a:cs typeface="Symbol"/>
              </a:rPr>
              <a:t></a:t>
            </a:r>
            <a:r>
              <a:rPr sz="3200" spc="-428" dirty="0">
                <a:latin typeface="Times New Roman"/>
                <a:cs typeface="Times New Roman"/>
              </a:rPr>
              <a:t> </a:t>
            </a:r>
            <a:r>
              <a:rPr sz="3200" b="1" spc="-135" dirty="0">
                <a:solidFill>
                  <a:srgbClr val="0000FF"/>
                </a:solidFill>
                <a:latin typeface="Times New Roman"/>
                <a:cs typeface="Times New Roman"/>
              </a:rPr>
              <a:t>1</a:t>
            </a:r>
            <a:r>
              <a:rPr sz="3200" b="1" spc="-135" dirty="0">
                <a:latin typeface="Times New Roman"/>
                <a:cs typeface="Times New Roman"/>
              </a:rPr>
              <a:t>)</a:t>
            </a:r>
            <a:r>
              <a:rPr sz="3200" b="1" spc="-379" dirty="0">
                <a:latin typeface="Times New Roman"/>
                <a:cs typeface="Times New Roman"/>
              </a:rPr>
              <a:t> </a:t>
            </a:r>
            <a:r>
              <a:rPr sz="3200" spc="-135" dirty="0">
                <a:latin typeface="Symbol"/>
                <a:cs typeface="Symbol"/>
              </a:rPr>
              <a:t></a:t>
            </a:r>
            <a:r>
              <a:rPr sz="3200" spc="-190" dirty="0">
                <a:latin typeface="Times New Roman"/>
                <a:cs typeface="Times New Roman"/>
              </a:rPr>
              <a:t> </a:t>
            </a:r>
            <a:r>
              <a:rPr sz="3200" b="1" i="1" spc="-55" dirty="0">
                <a:latin typeface="Times New Roman"/>
                <a:cs typeface="Times New Roman"/>
              </a:rPr>
              <a:t>n</a:t>
            </a:r>
            <a:r>
              <a:rPr sz="3200" b="1" spc="-55" dirty="0">
                <a:latin typeface="Times New Roman"/>
                <a:cs typeface="Times New Roman"/>
              </a:rPr>
              <a:t>(log</a:t>
            </a:r>
            <a:r>
              <a:rPr sz="3200" b="1" i="1" spc="-55" dirty="0">
                <a:latin typeface="Times New Roman"/>
                <a:cs typeface="Times New Roman"/>
              </a:rPr>
              <a:t>n</a:t>
            </a:r>
            <a:r>
              <a:rPr sz="3200" b="1" i="1" spc="-355" dirty="0">
                <a:latin typeface="Times New Roman"/>
                <a:cs typeface="Times New Roman"/>
              </a:rPr>
              <a:t> </a:t>
            </a:r>
            <a:r>
              <a:rPr sz="3200" spc="-135" dirty="0">
                <a:latin typeface="Symbol"/>
                <a:cs typeface="Symbol"/>
              </a:rPr>
              <a:t></a:t>
            </a:r>
            <a:r>
              <a:rPr sz="3200" spc="-245" dirty="0">
                <a:latin typeface="Times New Roman"/>
                <a:cs typeface="Times New Roman"/>
              </a:rPr>
              <a:t> </a:t>
            </a:r>
            <a:r>
              <a:rPr sz="3200" b="1" spc="-85" dirty="0">
                <a:solidFill>
                  <a:srgbClr val="0000FF"/>
                </a:solidFill>
                <a:latin typeface="Times New Roman"/>
                <a:cs typeface="Times New Roman"/>
              </a:rPr>
              <a:t>2</a:t>
            </a:r>
            <a:r>
              <a:rPr sz="3200" b="1" spc="-85" dirty="0">
                <a:latin typeface="Times New Roman"/>
                <a:cs typeface="Times New Roman"/>
              </a:rPr>
              <a:t>)</a:t>
            </a:r>
            <a:endParaRPr sz="3200" dirty="0">
              <a:latin typeface="Times New Roman"/>
              <a:cs typeface="Times New Roman"/>
            </a:endParaRPr>
          </a:p>
          <a:p>
            <a:pPr marL="352627">
              <a:lnSpc>
                <a:spcPct val="150000"/>
              </a:lnSpc>
              <a:spcBef>
                <a:spcPts val="972"/>
              </a:spcBef>
            </a:pPr>
            <a:r>
              <a:rPr lang="en-US" sz="3200" spc="-135" dirty="0" smtClean="0">
                <a:latin typeface="Symbol"/>
                <a:cs typeface="Symbol"/>
              </a:rPr>
              <a:t>                       </a:t>
            </a:r>
            <a:r>
              <a:rPr sz="3200" spc="-135" dirty="0" smtClean="0">
                <a:latin typeface="Symbol"/>
                <a:cs typeface="Symbol"/>
              </a:rPr>
              <a:t></a:t>
            </a:r>
            <a:r>
              <a:rPr sz="3200" spc="-245" dirty="0" smtClean="0">
                <a:latin typeface="Times New Roman"/>
                <a:cs typeface="Times New Roman"/>
              </a:rPr>
              <a:t> </a:t>
            </a:r>
            <a:r>
              <a:rPr sz="3200" b="1" spc="18" dirty="0">
                <a:latin typeface="Times New Roman"/>
                <a:cs typeface="Times New Roman"/>
              </a:rPr>
              <a:t>...</a:t>
            </a:r>
            <a:r>
              <a:rPr sz="3200" spc="18" dirty="0">
                <a:latin typeface="Symbol"/>
                <a:cs typeface="Symbol"/>
              </a:rPr>
              <a:t></a:t>
            </a:r>
            <a:r>
              <a:rPr sz="3200" spc="-190" dirty="0">
                <a:latin typeface="Times New Roman"/>
                <a:cs typeface="Times New Roman"/>
              </a:rPr>
              <a:t> </a:t>
            </a:r>
            <a:r>
              <a:rPr sz="3200" b="1" i="1" spc="-55" dirty="0">
                <a:latin typeface="Times New Roman"/>
                <a:cs typeface="Times New Roman"/>
              </a:rPr>
              <a:t>n</a:t>
            </a:r>
            <a:r>
              <a:rPr sz="3200" b="1" spc="-55" dirty="0">
                <a:latin typeface="Times New Roman"/>
                <a:cs typeface="Times New Roman"/>
              </a:rPr>
              <a:t>(log</a:t>
            </a:r>
            <a:r>
              <a:rPr sz="3200" b="1" i="1" spc="-55" dirty="0">
                <a:latin typeface="Times New Roman"/>
                <a:cs typeface="Times New Roman"/>
              </a:rPr>
              <a:t>n</a:t>
            </a:r>
            <a:r>
              <a:rPr sz="3200" b="1" i="1" spc="-355" dirty="0">
                <a:latin typeface="Times New Roman"/>
                <a:cs typeface="Times New Roman"/>
              </a:rPr>
              <a:t> </a:t>
            </a:r>
            <a:r>
              <a:rPr sz="3200" spc="-135" dirty="0">
                <a:latin typeface="Symbol"/>
                <a:cs typeface="Symbol"/>
              </a:rPr>
              <a:t></a:t>
            </a:r>
            <a:r>
              <a:rPr sz="3200" spc="-245" dirty="0">
                <a:latin typeface="Times New Roman"/>
                <a:cs typeface="Times New Roman"/>
              </a:rPr>
              <a:t> </a:t>
            </a:r>
            <a:r>
              <a:rPr sz="3200" b="1" i="1" spc="-122" dirty="0">
                <a:solidFill>
                  <a:srgbClr val="0000FF"/>
                </a:solidFill>
                <a:latin typeface="Times New Roman"/>
                <a:cs typeface="Times New Roman"/>
              </a:rPr>
              <a:t>k</a:t>
            </a:r>
            <a:r>
              <a:rPr sz="3200" b="1" i="1" spc="-13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3200" spc="-135" dirty="0">
                <a:solidFill>
                  <a:srgbClr val="0000FF"/>
                </a:solidFill>
                <a:latin typeface="Symbol"/>
                <a:cs typeface="Symbol"/>
              </a:rPr>
              <a:t></a:t>
            </a:r>
            <a:r>
              <a:rPr sz="3200" spc="-379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3200" b="1" spc="-135" dirty="0">
                <a:solidFill>
                  <a:srgbClr val="0000FF"/>
                </a:solidFill>
                <a:latin typeface="Times New Roman"/>
                <a:cs typeface="Times New Roman"/>
              </a:rPr>
              <a:t>1</a:t>
            </a:r>
            <a:r>
              <a:rPr sz="3200" b="1" spc="-135" dirty="0">
                <a:latin typeface="Times New Roman"/>
                <a:cs typeface="Times New Roman"/>
              </a:rPr>
              <a:t>)</a:t>
            </a:r>
            <a:endParaRPr sz="3200" dirty="0">
              <a:latin typeface="Times New Roman"/>
              <a:cs typeface="Times New Roman"/>
            </a:endParaRPr>
          </a:p>
          <a:p>
            <a:pPr marL="69904">
              <a:lnSpc>
                <a:spcPct val="150000"/>
              </a:lnSpc>
              <a:spcBef>
                <a:spcPts val="972"/>
              </a:spcBef>
            </a:pPr>
            <a:r>
              <a:rPr lang="en-US" sz="3200" spc="-135" dirty="0" smtClean="0">
                <a:latin typeface="Symbol"/>
                <a:cs typeface="Symbol"/>
              </a:rPr>
              <a:t>        </a:t>
            </a:r>
            <a:r>
              <a:rPr sz="3200" spc="-135" dirty="0" smtClean="0">
                <a:latin typeface="Symbol"/>
                <a:cs typeface="Symbol"/>
              </a:rPr>
              <a:t></a:t>
            </a:r>
            <a:r>
              <a:rPr sz="3200" spc="-153" dirty="0" smtClean="0">
                <a:latin typeface="Times New Roman"/>
                <a:cs typeface="Times New Roman"/>
              </a:rPr>
              <a:t> </a:t>
            </a:r>
            <a:r>
              <a:rPr sz="3200" b="1" spc="-55" dirty="0">
                <a:latin typeface="Times New Roman"/>
                <a:cs typeface="Times New Roman"/>
              </a:rPr>
              <a:t>(</a:t>
            </a:r>
            <a:r>
              <a:rPr sz="3200" b="1" i="1" spc="-55" dirty="0">
                <a:latin typeface="Times New Roman"/>
                <a:cs typeface="Times New Roman"/>
              </a:rPr>
              <a:t>n</a:t>
            </a:r>
            <a:r>
              <a:rPr sz="3200" b="1" i="1" spc="-489" dirty="0">
                <a:latin typeface="Times New Roman"/>
                <a:cs typeface="Times New Roman"/>
              </a:rPr>
              <a:t> </a:t>
            </a:r>
            <a:r>
              <a:rPr sz="3200" b="1" spc="-80" dirty="0">
                <a:latin typeface="Times New Roman"/>
                <a:cs typeface="Times New Roman"/>
              </a:rPr>
              <a:t>log</a:t>
            </a:r>
            <a:r>
              <a:rPr sz="3200" b="1" spc="-465" dirty="0">
                <a:latin typeface="Times New Roman"/>
                <a:cs typeface="Times New Roman"/>
              </a:rPr>
              <a:t> </a:t>
            </a:r>
            <a:r>
              <a:rPr sz="3200" b="1" i="1" spc="-85" dirty="0">
                <a:latin typeface="Times New Roman"/>
                <a:cs typeface="Times New Roman"/>
              </a:rPr>
              <a:t>n</a:t>
            </a:r>
            <a:r>
              <a:rPr sz="3200" b="1" spc="-85" dirty="0">
                <a:latin typeface="Times New Roman"/>
                <a:cs typeface="Times New Roman"/>
              </a:rPr>
              <a:t>)</a:t>
            </a:r>
            <a:r>
              <a:rPr sz="3200" b="1" spc="-520" dirty="0">
                <a:latin typeface="Times New Roman"/>
                <a:cs typeface="Times New Roman"/>
              </a:rPr>
              <a:t> </a:t>
            </a:r>
            <a:r>
              <a:rPr sz="3200" b="1" spc="-80" dirty="0">
                <a:solidFill>
                  <a:srgbClr val="C00000"/>
                </a:solidFill>
                <a:latin typeface="Times New Roman"/>
                <a:cs typeface="Times New Roman"/>
              </a:rPr>
              <a:t>log</a:t>
            </a:r>
            <a:r>
              <a:rPr sz="3200" b="1" spc="-46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200" b="1" i="1" spc="-135" dirty="0">
                <a:solidFill>
                  <a:srgbClr val="C00000"/>
                </a:solidFill>
                <a:latin typeface="Times New Roman"/>
                <a:cs typeface="Times New Roman"/>
              </a:rPr>
              <a:t>n</a:t>
            </a:r>
            <a:r>
              <a:rPr sz="3200" b="1" i="1" spc="-361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200" spc="-135" dirty="0">
                <a:latin typeface="Symbol"/>
                <a:cs typeface="Symbol"/>
              </a:rPr>
              <a:t></a:t>
            </a:r>
            <a:r>
              <a:rPr sz="3200" spc="-239" dirty="0">
                <a:latin typeface="Times New Roman"/>
                <a:cs typeface="Times New Roman"/>
              </a:rPr>
              <a:t> </a:t>
            </a:r>
            <a:r>
              <a:rPr sz="3200" b="1" i="1" spc="-153" dirty="0">
                <a:latin typeface="Times New Roman"/>
                <a:cs typeface="Times New Roman"/>
              </a:rPr>
              <a:t>n</a:t>
            </a:r>
            <a:r>
              <a:rPr sz="3200" b="1" spc="-153" dirty="0">
                <a:latin typeface="Times New Roman"/>
                <a:cs typeface="Times New Roman"/>
              </a:rPr>
              <a:t>(</a:t>
            </a:r>
            <a:r>
              <a:rPr sz="3200" b="1" u="heavy" spc="-153" dirty="0">
                <a:solidFill>
                  <a:srgbClr val="0000FF"/>
                </a:solidFill>
                <a:uFill>
                  <a:solidFill>
                    <a:srgbClr val="C00000"/>
                  </a:solidFill>
                </a:uFill>
                <a:latin typeface="Times New Roman"/>
                <a:cs typeface="Times New Roman"/>
              </a:rPr>
              <a:t>1</a:t>
            </a:r>
            <a:r>
              <a:rPr sz="3200" b="1" u="heavy" spc="-465" dirty="0">
                <a:uFill>
                  <a:solidFill>
                    <a:srgbClr val="C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200" u="heavy" spc="-135" dirty="0">
                <a:solidFill>
                  <a:srgbClr val="0000FF"/>
                </a:solidFill>
                <a:uFill>
                  <a:solidFill>
                    <a:srgbClr val="C00000"/>
                  </a:solidFill>
                </a:uFill>
                <a:latin typeface="Symbol"/>
                <a:cs typeface="Symbol"/>
              </a:rPr>
              <a:t></a:t>
            </a:r>
            <a:r>
              <a:rPr sz="3200" u="heavy" spc="-195" dirty="0">
                <a:solidFill>
                  <a:srgbClr val="0000FF"/>
                </a:solidFill>
                <a:uFill>
                  <a:solidFill>
                    <a:srgbClr val="C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200" b="1" u="heavy" spc="-122" dirty="0">
                <a:solidFill>
                  <a:srgbClr val="0000FF"/>
                </a:solidFill>
                <a:uFill>
                  <a:solidFill>
                    <a:srgbClr val="C00000"/>
                  </a:solidFill>
                </a:uFill>
                <a:latin typeface="Times New Roman"/>
                <a:cs typeface="Times New Roman"/>
              </a:rPr>
              <a:t>2</a:t>
            </a:r>
            <a:r>
              <a:rPr sz="3200" b="1" u="heavy" spc="-367" dirty="0">
                <a:solidFill>
                  <a:srgbClr val="0000FF"/>
                </a:solidFill>
                <a:uFill>
                  <a:solidFill>
                    <a:srgbClr val="C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200" u="heavy" spc="-135" dirty="0">
                <a:solidFill>
                  <a:srgbClr val="0000FF"/>
                </a:solidFill>
                <a:uFill>
                  <a:solidFill>
                    <a:srgbClr val="C00000"/>
                  </a:solidFill>
                </a:uFill>
                <a:latin typeface="Symbol"/>
                <a:cs typeface="Symbol"/>
              </a:rPr>
              <a:t></a:t>
            </a:r>
            <a:r>
              <a:rPr sz="3200" u="heavy" spc="-239" dirty="0">
                <a:solidFill>
                  <a:srgbClr val="0000FF"/>
                </a:solidFill>
                <a:uFill>
                  <a:solidFill>
                    <a:srgbClr val="C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200" b="1" u="heavy" spc="12" dirty="0">
                <a:solidFill>
                  <a:srgbClr val="0000FF"/>
                </a:solidFill>
                <a:uFill>
                  <a:solidFill>
                    <a:srgbClr val="C00000"/>
                  </a:solidFill>
                </a:uFill>
                <a:latin typeface="Times New Roman"/>
                <a:cs typeface="Times New Roman"/>
              </a:rPr>
              <a:t>...</a:t>
            </a:r>
            <a:r>
              <a:rPr sz="3200" u="heavy" spc="12" dirty="0">
                <a:solidFill>
                  <a:srgbClr val="0000FF"/>
                </a:solidFill>
                <a:uFill>
                  <a:solidFill>
                    <a:srgbClr val="C00000"/>
                  </a:solidFill>
                </a:uFill>
                <a:latin typeface="Symbol"/>
                <a:cs typeface="Symbol"/>
              </a:rPr>
              <a:t></a:t>
            </a:r>
            <a:r>
              <a:rPr sz="3200" u="heavy" spc="-190" dirty="0">
                <a:solidFill>
                  <a:srgbClr val="0000FF"/>
                </a:solidFill>
                <a:uFill>
                  <a:solidFill>
                    <a:srgbClr val="C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200" b="1" i="1" u="heavy" spc="-122" dirty="0">
                <a:solidFill>
                  <a:srgbClr val="0000FF"/>
                </a:solidFill>
                <a:uFill>
                  <a:solidFill>
                    <a:srgbClr val="C00000"/>
                  </a:solidFill>
                </a:uFill>
                <a:latin typeface="Times New Roman"/>
                <a:cs typeface="Times New Roman"/>
              </a:rPr>
              <a:t>k</a:t>
            </a:r>
            <a:r>
              <a:rPr sz="3200" b="1" i="1" u="heavy" spc="-147" dirty="0">
                <a:solidFill>
                  <a:srgbClr val="0000FF"/>
                </a:solidFill>
                <a:uFill>
                  <a:solidFill>
                    <a:srgbClr val="C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200" u="heavy" spc="-135" dirty="0">
                <a:solidFill>
                  <a:srgbClr val="0000FF"/>
                </a:solidFill>
                <a:uFill>
                  <a:solidFill>
                    <a:srgbClr val="C00000"/>
                  </a:solidFill>
                </a:uFill>
                <a:latin typeface="Symbol"/>
                <a:cs typeface="Symbol"/>
              </a:rPr>
              <a:t></a:t>
            </a:r>
            <a:r>
              <a:rPr sz="3200" u="heavy" spc="-422" dirty="0">
                <a:solidFill>
                  <a:srgbClr val="0000FF"/>
                </a:solidFill>
                <a:uFill>
                  <a:solidFill>
                    <a:srgbClr val="C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200" b="1" u="heavy" spc="-135" dirty="0">
                <a:solidFill>
                  <a:srgbClr val="0000FF"/>
                </a:solidFill>
                <a:uFill>
                  <a:solidFill>
                    <a:srgbClr val="C00000"/>
                  </a:solidFill>
                </a:uFill>
                <a:latin typeface="Times New Roman"/>
                <a:cs typeface="Times New Roman"/>
              </a:rPr>
              <a:t>1</a:t>
            </a:r>
            <a:r>
              <a:rPr sz="3200" b="1" u="heavy" spc="-135" dirty="0">
                <a:uFill>
                  <a:solidFill>
                    <a:srgbClr val="C00000"/>
                  </a:solidFill>
                </a:uFill>
                <a:latin typeface="Times New Roman"/>
                <a:cs typeface="Times New Roman"/>
              </a:rPr>
              <a:t>)</a:t>
            </a:r>
            <a:endParaRPr sz="3200" dirty="0">
              <a:latin typeface="Times New Roman"/>
              <a:cs typeface="Times New Roman"/>
            </a:endParaRPr>
          </a:p>
          <a:p>
            <a:pPr marL="69904">
              <a:lnSpc>
                <a:spcPct val="150000"/>
              </a:lnSpc>
              <a:spcBef>
                <a:spcPts val="1370"/>
              </a:spcBef>
            </a:pPr>
            <a:r>
              <a:rPr lang="en-US" sz="3200" spc="-135" dirty="0" smtClean="0">
                <a:latin typeface="Symbol"/>
                <a:cs typeface="Symbol"/>
              </a:rPr>
              <a:t>        </a:t>
            </a:r>
            <a:r>
              <a:rPr sz="3200" spc="-135" dirty="0" smtClean="0">
                <a:latin typeface="Symbol"/>
                <a:cs typeface="Symbol"/>
              </a:rPr>
              <a:t></a:t>
            </a:r>
            <a:r>
              <a:rPr sz="3200" spc="-55" dirty="0" smtClean="0">
                <a:latin typeface="Times New Roman"/>
                <a:cs typeface="Times New Roman"/>
              </a:rPr>
              <a:t> </a:t>
            </a:r>
            <a:r>
              <a:rPr sz="3200" b="1" i="1" spc="-135" dirty="0">
                <a:latin typeface="Times New Roman"/>
                <a:cs typeface="Times New Roman"/>
              </a:rPr>
              <a:t>n</a:t>
            </a:r>
            <a:r>
              <a:rPr sz="3200" b="1" i="1" spc="-489" dirty="0">
                <a:latin typeface="Times New Roman"/>
                <a:cs typeface="Times New Roman"/>
              </a:rPr>
              <a:t> </a:t>
            </a:r>
            <a:r>
              <a:rPr sz="3200" b="1" spc="-55" dirty="0">
                <a:latin typeface="Times New Roman"/>
                <a:cs typeface="Times New Roman"/>
              </a:rPr>
              <a:t>log</a:t>
            </a:r>
            <a:r>
              <a:rPr sz="2800" b="1" spc="-82" baseline="43010" dirty="0">
                <a:latin typeface="Times New Roman"/>
                <a:cs typeface="Times New Roman"/>
              </a:rPr>
              <a:t>2</a:t>
            </a:r>
            <a:r>
              <a:rPr sz="2800" b="1" spc="320" baseline="43010" dirty="0">
                <a:latin typeface="Times New Roman"/>
                <a:cs typeface="Times New Roman"/>
              </a:rPr>
              <a:t> </a:t>
            </a:r>
            <a:r>
              <a:rPr sz="3200" b="1" i="1" spc="-135" dirty="0">
                <a:latin typeface="Times New Roman"/>
                <a:cs typeface="Times New Roman"/>
              </a:rPr>
              <a:t>n</a:t>
            </a:r>
            <a:r>
              <a:rPr sz="3200" b="1" i="1" spc="-355" dirty="0">
                <a:latin typeface="Times New Roman"/>
                <a:cs typeface="Times New Roman"/>
              </a:rPr>
              <a:t> </a:t>
            </a:r>
            <a:r>
              <a:rPr sz="3200" spc="-135" dirty="0">
                <a:latin typeface="Symbol"/>
                <a:cs typeface="Symbol"/>
              </a:rPr>
              <a:t></a:t>
            </a:r>
            <a:r>
              <a:rPr sz="3200" spc="-239" dirty="0">
                <a:latin typeface="Times New Roman"/>
                <a:cs typeface="Times New Roman"/>
              </a:rPr>
              <a:t> </a:t>
            </a:r>
            <a:r>
              <a:rPr sz="3200" b="1" i="1" spc="-49" dirty="0">
                <a:latin typeface="Times New Roman"/>
                <a:cs typeface="Times New Roman"/>
              </a:rPr>
              <a:t>n</a:t>
            </a:r>
            <a:r>
              <a:rPr sz="3200" b="1" i="1" u="heavy" spc="-49" dirty="0">
                <a:uFill>
                  <a:solidFill>
                    <a:srgbClr val="C00000"/>
                  </a:solidFill>
                </a:uFill>
                <a:latin typeface="Times New Roman"/>
                <a:cs typeface="Times New Roman"/>
              </a:rPr>
              <a:t>k</a:t>
            </a:r>
            <a:r>
              <a:rPr sz="3200" b="1" u="heavy" spc="-49" dirty="0">
                <a:uFill>
                  <a:solidFill>
                    <a:srgbClr val="C00000"/>
                  </a:solidFill>
                </a:uFill>
                <a:latin typeface="Times New Roman"/>
                <a:cs typeface="Times New Roman"/>
              </a:rPr>
              <a:t>(</a:t>
            </a:r>
            <a:r>
              <a:rPr sz="3200" b="1" i="1" u="heavy" spc="-49" dirty="0">
                <a:uFill>
                  <a:solidFill>
                    <a:srgbClr val="C00000"/>
                  </a:solidFill>
                </a:uFill>
                <a:latin typeface="Times New Roman"/>
                <a:cs typeface="Times New Roman"/>
              </a:rPr>
              <a:t>k</a:t>
            </a:r>
            <a:r>
              <a:rPr sz="3200" b="1" i="1" u="heavy" spc="-139" dirty="0">
                <a:uFill>
                  <a:solidFill>
                    <a:srgbClr val="C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200" u="heavy" spc="-135" dirty="0">
                <a:uFill>
                  <a:solidFill>
                    <a:srgbClr val="C00000"/>
                  </a:solidFill>
                </a:uFill>
                <a:latin typeface="Symbol"/>
                <a:cs typeface="Symbol"/>
              </a:rPr>
              <a:t></a:t>
            </a:r>
            <a:r>
              <a:rPr sz="3200" u="heavy" spc="-428" dirty="0">
                <a:uFill>
                  <a:solidFill>
                    <a:srgbClr val="C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200" b="1" u="heavy" spc="12" dirty="0">
                <a:uFill>
                  <a:solidFill>
                    <a:srgbClr val="C00000"/>
                  </a:solidFill>
                </a:uFill>
                <a:latin typeface="Times New Roman"/>
                <a:cs typeface="Times New Roman"/>
              </a:rPr>
              <a:t>1)/</a:t>
            </a:r>
            <a:r>
              <a:rPr sz="3200" b="1" u="heavy" spc="-257" dirty="0">
                <a:uFill>
                  <a:solidFill>
                    <a:srgbClr val="C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200" b="1" u="heavy" spc="-122" dirty="0">
                <a:uFill>
                  <a:solidFill>
                    <a:srgbClr val="C00000"/>
                  </a:solidFill>
                </a:uFill>
                <a:latin typeface="Times New Roman"/>
                <a:cs typeface="Times New Roman"/>
              </a:rPr>
              <a:t>2</a:t>
            </a:r>
            <a:r>
              <a:rPr sz="3200" b="1" spc="-183" dirty="0">
                <a:latin typeface="Times New Roman"/>
                <a:cs typeface="Times New Roman"/>
              </a:rPr>
              <a:t> </a:t>
            </a:r>
            <a:endParaRPr lang="en-US" sz="3200" b="1" spc="-183" dirty="0" smtClean="0">
              <a:latin typeface="Times New Roman"/>
              <a:cs typeface="Times New Roman"/>
            </a:endParaRPr>
          </a:p>
          <a:p>
            <a:pPr marL="69904">
              <a:lnSpc>
                <a:spcPct val="150000"/>
              </a:lnSpc>
              <a:spcBef>
                <a:spcPts val="1370"/>
              </a:spcBef>
            </a:pPr>
            <a:r>
              <a:rPr lang="en-US" sz="3200" spc="-135" dirty="0" smtClean="0">
                <a:latin typeface="Symbol"/>
                <a:cs typeface="Symbol"/>
              </a:rPr>
              <a:t>        </a:t>
            </a:r>
            <a:r>
              <a:rPr sz="3200" spc="-135" dirty="0" smtClean="0">
                <a:latin typeface="Symbol"/>
                <a:cs typeface="Symbol"/>
              </a:rPr>
              <a:t></a:t>
            </a:r>
            <a:r>
              <a:rPr sz="3200" spc="-153" dirty="0" smtClean="0">
                <a:latin typeface="Times New Roman"/>
                <a:cs typeface="Times New Roman"/>
              </a:rPr>
              <a:t> </a:t>
            </a:r>
            <a:r>
              <a:rPr sz="3200" b="1" i="1" spc="-80" dirty="0">
                <a:latin typeface="Times New Roman"/>
                <a:cs typeface="Times New Roman"/>
              </a:rPr>
              <a:t>O</a:t>
            </a:r>
            <a:r>
              <a:rPr sz="3200" b="1" spc="-80" dirty="0">
                <a:latin typeface="Times New Roman"/>
                <a:cs typeface="Times New Roman"/>
              </a:rPr>
              <a:t>(</a:t>
            </a:r>
            <a:r>
              <a:rPr sz="3200" b="1" i="1" spc="-80" dirty="0">
                <a:latin typeface="Times New Roman"/>
                <a:cs typeface="Times New Roman"/>
              </a:rPr>
              <a:t>n</a:t>
            </a:r>
            <a:r>
              <a:rPr sz="3200" b="1" i="1" spc="-489" dirty="0">
                <a:latin typeface="Times New Roman"/>
                <a:cs typeface="Times New Roman"/>
              </a:rPr>
              <a:t> </a:t>
            </a:r>
            <a:r>
              <a:rPr sz="3200" b="1" spc="-55" dirty="0">
                <a:latin typeface="Times New Roman"/>
                <a:cs typeface="Times New Roman"/>
              </a:rPr>
              <a:t>log</a:t>
            </a:r>
            <a:r>
              <a:rPr sz="2800" b="1" spc="-82" baseline="43010" dirty="0">
                <a:latin typeface="Times New Roman"/>
                <a:cs typeface="Times New Roman"/>
              </a:rPr>
              <a:t>2</a:t>
            </a:r>
            <a:r>
              <a:rPr sz="2800" b="1" spc="320" baseline="43010" dirty="0">
                <a:latin typeface="Times New Roman"/>
                <a:cs typeface="Times New Roman"/>
              </a:rPr>
              <a:t> </a:t>
            </a:r>
            <a:r>
              <a:rPr sz="3200" b="1" i="1" spc="-85" dirty="0">
                <a:latin typeface="Times New Roman"/>
                <a:cs typeface="Times New Roman"/>
              </a:rPr>
              <a:t>n</a:t>
            </a:r>
            <a:r>
              <a:rPr sz="3200" b="1" spc="-85" dirty="0">
                <a:latin typeface="Times New Roman"/>
                <a:cs typeface="Times New Roman"/>
              </a:rPr>
              <a:t>)</a:t>
            </a:r>
            <a:endParaRPr sz="3200" dirty="0">
              <a:latin typeface="Times New Roman"/>
              <a:cs typeface="Times New Roman"/>
            </a:endParaRPr>
          </a:p>
        </p:txBody>
      </p:sp>
      <p:grpSp>
        <p:nvGrpSpPr>
          <p:cNvPr id="15" name="组合 14"/>
          <p:cNvGrpSpPr/>
          <p:nvPr/>
        </p:nvGrpSpPr>
        <p:grpSpPr>
          <a:xfrm>
            <a:off x="7143381" y="2950740"/>
            <a:ext cx="2300181" cy="1850052"/>
            <a:chOff x="7464393" y="2853463"/>
            <a:chExt cx="2300181" cy="185005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/>
                <p:cNvSpPr txBox="1"/>
                <p:nvPr/>
              </p:nvSpPr>
              <p:spPr>
                <a:xfrm>
                  <a:off x="7464393" y="2853463"/>
                  <a:ext cx="2300181" cy="53944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1" i="1" smtClean="0">
                            <a:solidFill>
                              <a:srgbClr val="C00000"/>
                            </a:solidFill>
                            <a:latin typeface="Cambria Math"/>
                          </a:rPr>
                          <m:t>𝒏</m:t>
                        </m:r>
                        <m:sSup>
                          <m:sSupPr>
                            <m:ctrlPr>
                              <a:rPr lang="en-US" altLang="zh-CN" sz="2800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zh-CN" sz="2800" b="1" i="1" smtClean="0">
                                    <a:solidFill>
                                      <a:srgbClr val="C00000"/>
                                    </a:solidFill>
                                    <a:latin typeface="Cambria Math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type m:val="lin"/>
                                    <m:ctrlPr>
                                      <a:rPr lang="en-US" altLang="zh-CN" sz="2800" b="1" i="1" smtClean="0">
                                        <a:solidFill>
                                          <a:srgbClr val="C00000"/>
                                        </a:solidFill>
                                        <a:latin typeface="Cambria Math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sz="2800" b="1" i="1" smtClean="0">
                                        <a:solidFill>
                                          <a:srgbClr val="C00000"/>
                                        </a:solidFill>
                                        <a:latin typeface="Cambria Math"/>
                                      </a:rPr>
                                      <m:t>𝟏</m:t>
                                    </m:r>
                                  </m:num>
                                  <m:den>
                                    <m:r>
                                      <a:rPr lang="en-US" altLang="zh-CN" sz="2800" b="1" i="1" smtClean="0">
                                        <a:solidFill>
                                          <a:srgbClr val="C00000"/>
                                        </a:solidFill>
                                        <a:latin typeface="Cambria Math"/>
                                      </a:rPr>
                                      <m:t>𝟐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US" altLang="zh-CN" sz="2800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𝒌</m:t>
                            </m:r>
                          </m:sup>
                        </m:sSup>
                        <m:r>
                          <a:rPr lang="en-US" altLang="zh-CN" sz="2800" b="1" i="1" smtClean="0">
                            <a:solidFill>
                              <a:srgbClr val="C00000"/>
                            </a:solidFill>
                            <a:latin typeface="Cambria Math"/>
                          </a:rPr>
                          <m:t>=</m:t>
                        </m:r>
                        <m:r>
                          <a:rPr lang="en-US" altLang="zh-CN" sz="2800" b="1" i="1" smtClean="0">
                            <a:solidFill>
                              <a:srgbClr val="C00000"/>
                            </a:solidFill>
                            <a:latin typeface="Cambria Math"/>
                          </a:rPr>
                          <m:t>𝟏</m:t>
                        </m:r>
                      </m:oMath>
                    </m:oMathPara>
                  </a14:m>
                  <a:endParaRPr lang="zh-CN" altLang="en-US" sz="1800" b="1" dirty="0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8" name="TextBox 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64393" y="2853463"/>
                  <a:ext cx="2300181" cy="539443"/>
                </a:xfrm>
                <a:prstGeom prst="rect">
                  <a:avLst/>
                </a:prstGeom>
                <a:blipFill rotWithShape="1"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/>
                <p:cNvSpPr txBox="1"/>
                <p:nvPr/>
              </p:nvSpPr>
              <p:spPr>
                <a:xfrm>
                  <a:off x="7474121" y="3517530"/>
                  <a:ext cx="1373709" cy="53944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1" i="1" smtClean="0">
                            <a:solidFill>
                              <a:srgbClr val="C00000"/>
                            </a:solidFill>
                            <a:latin typeface="Cambria Math"/>
                          </a:rPr>
                          <m:t>𝒏</m:t>
                        </m:r>
                        <m:r>
                          <a:rPr lang="en-US" altLang="zh-CN" sz="2800" b="1" i="1" smtClean="0">
                            <a:solidFill>
                              <a:srgbClr val="C00000"/>
                            </a:solidFill>
                            <a:latin typeface="Cambria Math"/>
                          </a:rPr>
                          <m:t>=</m:t>
                        </m:r>
                        <m:sSup>
                          <m:sSupPr>
                            <m:ctrlPr>
                              <a:rPr lang="en-US" altLang="zh-CN" sz="2800" b="1" i="1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a:rPr lang="en-US" altLang="zh-CN" sz="2800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𝟐</m:t>
                            </m:r>
                          </m:e>
                          <m:sup>
                            <m:r>
                              <a:rPr lang="en-US" altLang="zh-CN" sz="2800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𝒌</m:t>
                            </m:r>
                          </m:sup>
                        </m:sSup>
                      </m:oMath>
                    </m:oMathPara>
                  </a14:m>
                  <a:endParaRPr lang="zh-CN" altLang="en-US" sz="1800" b="1" dirty="0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11" name="TextBox 1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74121" y="3517530"/>
                  <a:ext cx="1373709" cy="539443"/>
                </a:xfrm>
                <a:prstGeom prst="rect">
                  <a:avLst/>
                </a:prstGeom>
                <a:blipFill rotWithShape="1"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/>
                <p:cNvSpPr txBox="1"/>
                <p:nvPr/>
              </p:nvSpPr>
              <p:spPr>
                <a:xfrm>
                  <a:off x="7509788" y="4180295"/>
                  <a:ext cx="1782539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unc>
                          <m:funcPr>
                            <m:ctrlPr>
                              <a:rPr lang="en-US" altLang="zh-CN" sz="2800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</m:ctrlPr>
                          </m:funcPr>
                          <m:fName>
                            <m:r>
                              <a:rPr lang="en-US" altLang="zh-CN" sz="2800" b="1" i="0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𝐥𝐨𝐠</m:t>
                            </m:r>
                          </m:fName>
                          <m:e>
                            <m:r>
                              <a:rPr lang="en-US" altLang="zh-CN" sz="2800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𝒏</m:t>
                            </m:r>
                          </m:e>
                        </m:func>
                        <m:r>
                          <a:rPr lang="en-US" altLang="zh-CN" sz="2800" b="1" i="1" smtClean="0">
                            <a:solidFill>
                              <a:srgbClr val="C00000"/>
                            </a:solidFill>
                            <a:latin typeface="Cambria Math"/>
                          </a:rPr>
                          <m:t>=</m:t>
                        </m:r>
                        <m:r>
                          <a:rPr lang="en-US" altLang="zh-CN" sz="2800" b="1" i="1" smtClean="0">
                            <a:solidFill>
                              <a:srgbClr val="C00000"/>
                            </a:solidFill>
                            <a:latin typeface="Cambria Math"/>
                          </a:rPr>
                          <m:t>𝒌</m:t>
                        </m:r>
                      </m:oMath>
                    </m:oMathPara>
                  </a14:m>
                  <a:endParaRPr lang="zh-CN" altLang="en-US" sz="1800" b="1" dirty="0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12" name="TextBox 1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09788" y="4180295"/>
                  <a:ext cx="1782539" cy="523220"/>
                </a:xfrm>
                <a:prstGeom prst="rect">
                  <a:avLst/>
                </a:prstGeom>
                <a:blipFill rotWithShape="1"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" name="下箭头 12"/>
            <p:cNvSpPr/>
            <p:nvPr/>
          </p:nvSpPr>
          <p:spPr>
            <a:xfrm>
              <a:off x="8015591" y="3364922"/>
              <a:ext cx="204114" cy="263494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C00000"/>
                </a:solidFill>
              </a:endParaRPr>
            </a:p>
          </p:txBody>
        </p:sp>
        <p:sp>
          <p:nvSpPr>
            <p:cNvPr id="14" name="下箭头 13"/>
            <p:cNvSpPr/>
            <p:nvPr/>
          </p:nvSpPr>
          <p:spPr>
            <a:xfrm>
              <a:off x="8027022" y="3975168"/>
              <a:ext cx="204114" cy="263494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C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338381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01216" y="1473640"/>
            <a:ext cx="8882743" cy="1601056"/>
          </a:xfrm>
          <a:prstGeom prst="rect">
            <a:avLst/>
          </a:prstGeom>
        </p:spPr>
        <p:txBody>
          <a:bodyPr vert="horz" wrap="square" lIns="0" tIns="59032" rIns="0" bIns="0" rtlCol="0">
            <a:spAutoFit/>
          </a:bodyPr>
          <a:lstStyle/>
          <a:p>
            <a:pPr marR="6214" indent="-419425">
              <a:lnSpc>
                <a:spcPct val="150000"/>
              </a:lnSpc>
              <a:spcBef>
                <a:spcPts val="465"/>
              </a:spcBef>
              <a:buFont typeface="Arial"/>
              <a:buChar char="•"/>
              <a:tabLst>
                <a:tab pos="434182" algn="l"/>
                <a:tab pos="434959" algn="l"/>
              </a:tabLst>
            </a:pPr>
            <a:r>
              <a:rPr sz="3200" b="1" spc="-6" dirty="0" err="1" smtClean="0">
                <a:latin typeface="黑体" pitchFamily="49" charset="-122"/>
                <a:ea typeface="黑体" pitchFamily="49" charset="-122"/>
                <a:cs typeface="宋体"/>
              </a:rPr>
              <a:t>使用主定理求解递推方程需要满足什么条件</a:t>
            </a:r>
            <a:r>
              <a:rPr sz="3200" b="1" spc="-6" dirty="0">
                <a:latin typeface="黑体" pitchFamily="49" charset="-122"/>
                <a:ea typeface="黑体" pitchFamily="49" charset="-122"/>
                <a:cs typeface="宋体"/>
              </a:rPr>
              <a:t>？</a:t>
            </a:r>
            <a:endParaRPr sz="3200" dirty="0">
              <a:latin typeface="黑体" pitchFamily="49" charset="-122"/>
              <a:ea typeface="黑体" pitchFamily="49" charset="-122"/>
              <a:cs typeface="宋体"/>
            </a:endParaRPr>
          </a:p>
          <a:p>
            <a:pPr marR="6214" indent="-419425">
              <a:lnSpc>
                <a:spcPct val="150000"/>
              </a:lnSpc>
              <a:spcBef>
                <a:spcPts val="1364"/>
              </a:spcBef>
              <a:buFont typeface="Arial"/>
              <a:buChar char="•"/>
              <a:tabLst>
                <a:tab pos="434182" algn="l"/>
                <a:tab pos="434959" algn="l"/>
              </a:tabLst>
            </a:pPr>
            <a:r>
              <a:rPr sz="3200" b="1" spc="-6" dirty="0" err="1" smtClean="0">
                <a:latin typeface="黑体" pitchFamily="49" charset="-122"/>
                <a:ea typeface="黑体" pitchFamily="49" charset="-122"/>
                <a:cs typeface="宋体"/>
              </a:rPr>
              <a:t>主定理怎样用于算法复杂度分析</a:t>
            </a:r>
            <a:r>
              <a:rPr sz="3200" b="1" spc="-6" dirty="0">
                <a:latin typeface="黑体" pitchFamily="49" charset="-122"/>
                <a:ea typeface="黑体" pitchFamily="49" charset="-122"/>
                <a:cs typeface="宋体"/>
              </a:rPr>
              <a:t>？</a:t>
            </a:r>
            <a:endParaRPr sz="3200" dirty="0">
              <a:latin typeface="黑体" pitchFamily="49" charset="-122"/>
              <a:ea typeface="黑体" pitchFamily="49" charset="-122"/>
              <a:cs typeface="宋体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 idx="4294967295"/>
          </p:nvPr>
        </p:nvSpPr>
        <p:spPr>
          <a:xfrm>
            <a:off x="391885" y="210998"/>
            <a:ext cx="8901405" cy="692011"/>
          </a:xfrm>
          <a:prstGeom prst="rect">
            <a:avLst/>
          </a:prstGeom>
        </p:spPr>
        <p:txBody>
          <a:bodyPr vert="horz" wrap="square" lIns="0" tIns="14758" rIns="0" bIns="0" rtlCol="0" anchor="ctr">
            <a:spAutoFit/>
          </a:bodyPr>
          <a:lstStyle/>
          <a:p>
            <a:pPr marL="15534" algn="ctr">
              <a:lnSpc>
                <a:spcPct val="100000"/>
              </a:lnSpc>
              <a:spcBef>
                <a:spcPts val="117"/>
              </a:spcBef>
            </a:pPr>
            <a:r>
              <a:rPr sz="4400" b="1" spc="-12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小</a:t>
            </a:r>
            <a:r>
              <a:rPr lang="en-US" sz="4400" b="1" spc="-12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 </a:t>
            </a:r>
            <a:r>
              <a:rPr sz="4400" b="1" spc="-12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结</a:t>
            </a:r>
          </a:p>
        </p:txBody>
      </p:sp>
    </p:spTree>
    <p:extLst>
      <p:ext uri="{BB962C8B-B14F-4D97-AF65-F5344CB8AC3E}">
        <p14:creationId xmlns:p14="http://schemas.microsoft.com/office/powerpoint/2010/main" val="16329804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1392</TotalTime>
  <Words>4837</Words>
  <Application>Microsoft Office PowerPoint</Application>
  <PresentationFormat>自定义</PresentationFormat>
  <Paragraphs>578</Paragraphs>
  <Slides>77</Slides>
  <Notes>3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77</vt:i4>
      </vt:variant>
    </vt:vector>
  </HeadingPairs>
  <TitlesOfParts>
    <vt:vector size="78" baseType="lpstr">
      <vt:lpstr>Office 主题​​</vt:lpstr>
      <vt:lpstr>本周教学内容</vt:lpstr>
      <vt:lpstr>. 算法的数学基础</vt:lpstr>
      <vt:lpstr>序列求和的方法</vt:lpstr>
      <vt:lpstr>数列求和公式</vt:lpstr>
      <vt:lpstr>数列求和的例子</vt:lpstr>
      <vt:lpstr>PowerPoint 演示文稿</vt:lpstr>
      <vt:lpstr>二分检索运行实例</vt:lpstr>
      <vt:lpstr>2n+1个输入</vt:lpstr>
      <vt:lpstr>比较t次的输入个数</vt:lpstr>
      <vt:lpstr>二分检索平均时间复杂度</vt:lpstr>
      <vt:lpstr>估计和式上界的放大法</vt:lpstr>
      <vt:lpstr>放大法的例子</vt:lpstr>
      <vt:lpstr>估计和式渐近的界</vt:lpstr>
      <vt:lpstr>估计和式渐近的界</vt:lpstr>
      <vt:lpstr>小结</vt:lpstr>
      <vt:lpstr>递归方程与算法分析</vt:lpstr>
      <vt:lpstr>递推方程</vt:lpstr>
      <vt:lpstr>递推方程的例子</vt:lpstr>
      <vt:lpstr>Fibonacci数的存在</vt:lpstr>
      <vt:lpstr>Hanoi塔问题</vt:lpstr>
      <vt:lpstr>递归算法</vt:lpstr>
      <vt:lpstr>分析算法</vt:lpstr>
      <vt:lpstr>插入排序</vt:lpstr>
      <vt:lpstr>PowerPoint 演示文稿</vt:lpstr>
      <vt:lpstr>小 结</vt:lpstr>
      <vt:lpstr>迭代法求解  递推方程</vt:lpstr>
      <vt:lpstr>迭代法</vt:lpstr>
      <vt:lpstr>Hanoi 塔算法</vt:lpstr>
      <vt:lpstr>插入排序算法</vt:lpstr>
      <vt:lpstr>换元迭代</vt:lpstr>
      <vt:lpstr>二分归并排序</vt:lpstr>
      <vt:lpstr>换 元</vt:lpstr>
      <vt:lpstr>迭代求解</vt:lpstr>
      <vt:lpstr>解的正确性-归纳验证</vt:lpstr>
      <vt:lpstr>小 结</vt:lpstr>
      <vt:lpstr>差消法化简  高阶递推方程</vt:lpstr>
      <vt:lpstr>快速排序</vt:lpstr>
      <vt:lpstr>输入情况</vt:lpstr>
      <vt:lpstr>工作量总和</vt:lpstr>
      <vt:lpstr>快速排序平均工作量</vt:lpstr>
      <vt:lpstr>PowerPoint 演示文稿</vt:lpstr>
      <vt:lpstr>差消化简</vt:lpstr>
      <vt:lpstr>迭代求解</vt:lpstr>
      <vt:lpstr>小结</vt:lpstr>
      <vt:lpstr>递归树</vt:lpstr>
      <vt:lpstr>递归树的概念</vt:lpstr>
      <vt:lpstr>迭代在递归树中的表示</vt:lpstr>
      <vt:lpstr>二层子树的例子</vt:lpstr>
      <vt:lpstr>递归树的生成规则</vt:lpstr>
      <vt:lpstr>递归树生成实例</vt:lpstr>
      <vt:lpstr>递归树生成实例</vt:lpstr>
      <vt:lpstr>递归树</vt:lpstr>
      <vt:lpstr>对递归树上的量求和</vt:lpstr>
      <vt:lpstr>递归树应用实例</vt:lpstr>
      <vt:lpstr>求和</vt:lpstr>
      <vt:lpstr>小结</vt:lpstr>
      <vt:lpstr>主定理及其证明</vt:lpstr>
      <vt:lpstr>主定理的应用背景</vt:lpstr>
      <vt:lpstr>主定理</vt:lpstr>
      <vt:lpstr>迭代</vt:lpstr>
      <vt:lpstr>迭代结果</vt:lpstr>
      <vt:lpstr>Case1</vt:lpstr>
      <vt:lpstr>Case1(续)</vt:lpstr>
      <vt:lpstr>Case2</vt:lpstr>
      <vt:lpstr>Case3</vt:lpstr>
      <vt:lpstr>Case3(续)</vt:lpstr>
      <vt:lpstr>小结</vt:lpstr>
      <vt:lpstr>主定理的应用</vt:lpstr>
      <vt:lpstr>求解递推方程：例1</vt:lpstr>
      <vt:lpstr>求解递推方程：例2</vt:lpstr>
      <vt:lpstr>求解递推方程：例3</vt:lpstr>
      <vt:lpstr>条件验证</vt:lpstr>
      <vt:lpstr>递归算法分析</vt:lpstr>
      <vt:lpstr>不能使用主定理的例子</vt:lpstr>
      <vt:lpstr>递归树求解</vt:lpstr>
      <vt:lpstr>求 和</vt:lpstr>
      <vt:lpstr>小 结</vt:lpstr>
    </vt:vector>
  </TitlesOfParts>
  <Company>Microsoft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插入排序</dc:title>
  <dc:creator>wenbo</dc:creator>
  <cp:lastModifiedBy>ks</cp:lastModifiedBy>
  <cp:revision>161</cp:revision>
  <dcterms:created xsi:type="dcterms:W3CDTF">2019-03-10T07:03:00Z</dcterms:created>
  <dcterms:modified xsi:type="dcterms:W3CDTF">2019-05-07T07:55:25Z</dcterms:modified>
</cp:coreProperties>
</file>