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76" r:id="rId11"/>
    <p:sldId id="277" r:id="rId12"/>
    <p:sldId id="278" r:id="rId13"/>
    <p:sldId id="288" r:id="rId14"/>
    <p:sldId id="280" r:id="rId15"/>
    <p:sldId id="281" r:id="rId16"/>
    <p:sldId id="282" r:id="rId17"/>
    <p:sldId id="283" r:id="rId18"/>
    <p:sldId id="285" r:id="rId19"/>
    <p:sldId id="286" r:id="rId20"/>
    <p:sldId id="290" r:id="rId21"/>
    <p:sldId id="291" r:id="rId22"/>
    <p:sldId id="292" r:id="rId23"/>
    <p:sldId id="324" r:id="rId24"/>
    <p:sldId id="300" r:id="rId25"/>
    <p:sldId id="301" r:id="rId26"/>
    <p:sldId id="302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8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6BEB1-4440-4AF9-B991-0A17E01D58B6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11EFF-ACCA-41C7-8200-F3EB22469C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79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A08E5-8769-484F-A1C1-FF7F58C4BC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898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8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19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40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02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46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526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2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61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14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601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511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1BD687D1-D925-45FB-BD11-1A15B22470BE}" type="datetime1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38B6C1F8-11CD-4249-A6B6-D494F50702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96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33866">
              <a:spcBef>
                <a:spcPts val="707"/>
              </a:spcBef>
            </a:pPr>
            <a:fld id="{81D60167-4931-47E6-BA6A-407CBD079E47}" type="slidenum">
              <a:rPr lang="en-US" altLang="zh-CN" spc="-7" smtClean="0"/>
              <a:pPr marL="33866">
                <a:spcBef>
                  <a:spcPts val="707"/>
                </a:spcBef>
              </a:pPr>
              <a:t>‹#›</a:t>
            </a:fld>
            <a:endParaRPr lang="en-US" altLang="zh-CN" spc="-7" dirty="0"/>
          </a:p>
        </p:txBody>
      </p:sp>
    </p:spTree>
    <p:extLst>
      <p:ext uri="{BB962C8B-B14F-4D97-AF65-F5344CB8AC3E}">
        <p14:creationId xmlns:p14="http://schemas.microsoft.com/office/powerpoint/2010/main" val="72211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A33C8-A9C2-4424-9299-B6E5CF399728}" type="datetimeFigureOut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7E430-D9BF-4300-904F-3038BC664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13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microsoft.com/office/2007/relationships/hdphoto" Target="../media/hdphoto1.wd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_淘宝网chenying0907出品 21"/>
          <p:cNvSpPr txBox="1"/>
          <p:nvPr>
            <p:custDataLst>
              <p:tags r:id="rId1"/>
            </p:custDataLst>
          </p:nvPr>
        </p:nvSpPr>
        <p:spPr>
          <a:xfrm>
            <a:off x="551383" y="2087837"/>
            <a:ext cx="6893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算法分析与设计</a:t>
            </a:r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贪心算法的重要应用</a:t>
            </a:r>
            <a:endParaRPr lang="en-US" altLang="zh-CN" sz="40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PA_淘宝网chenying0907出品 3"/>
          <p:cNvSpPr/>
          <p:nvPr>
            <p:custDataLst>
              <p:tags r:id="rId2"/>
            </p:custDataLst>
          </p:nvPr>
        </p:nvSpPr>
        <p:spPr>
          <a:xfrm>
            <a:off x="551384" y="1772817"/>
            <a:ext cx="311085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_淘宝网chenying0907出品 4"/>
          <p:cNvSpPr/>
          <p:nvPr>
            <p:custDataLst>
              <p:tags r:id="rId3"/>
            </p:custDataLst>
          </p:nvPr>
        </p:nvSpPr>
        <p:spPr>
          <a:xfrm>
            <a:off x="7170741" y="1772817"/>
            <a:ext cx="311085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A_淘宝网chenying0907出品 7"/>
          <p:cNvSpPr/>
          <p:nvPr>
            <p:custDataLst>
              <p:tags r:id="rId4"/>
            </p:custDataLst>
          </p:nvPr>
        </p:nvSpPr>
        <p:spPr>
          <a:xfrm>
            <a:off x="7464154" y="2319198"/>
            <a:ext cx="386499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9"/>
          <p:cNvCxnSpPr/>
          <p:nvPr>
            <p:custDataLst>
              <p:tags r:id="rId5"/>
            </p:custDataLst>
          </p:nvPr>
        </p:nvCxnSpPr>
        <p:spPr>
          <a:xfrm>
            <a:off x="7170741" y="4318053"/>
            <a:ext cx="4397867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_淘宝网chenying0907出品 10"/>
          <p:cNvSpPr/>
          <p:nvPr>
            <p:custDataLst>
              <p:tags r:id="rId6"/>
            </p:custDataLst>
          </p:nvPr>
        </p:nvSpPr>
        <p:spPr>
          <a:xfrm>
            <a:off x="7869503" y="2391198"/>
            <a:ext cx="386499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_淘宝网chenying0907出品 11"/>
          <p:cNvSpPr/>
          <p:nvPr>
            <p:custDataLst>
              <p:tags r:id="rId7"/>
            </p:custDataLst>
          </p:nvPr>
        </p:nvSpPr>
        <p:spPr>
          <a:xfrm>
            <a:off x="8282862" y="2391198"/>
            <a:ext cx="386499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淘宝网chenying0907出品 12"/>
          <p:cNvSpPr/>
          <p:nvPr>
            <p:custDataLst>
              <p:tags r:id="rId8"/>
            </p:custDataLst>
          </p:nvPr>
        </p:nvSpPr>
        <p:spPr>
          <a:xfrm>
            <a:off x="8688946" y="2427198"/>
            <a:ext cx="386499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_淘宝网chenying0907出品 13"/>
          <p:cNvSpPr/>
          <p:nvPr>
            <p:custDataLst>
              <p:tags r:id="rId9"/>
            </p:custDataLst>
          </p:nvPr>
        </p:nvSpPr>
        <p:spPr>
          <a:xfrm>
            <a:off x="9114615" y="2463198"/>
            <a:ext cx="386499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_淘宝网chenying0907出品 14"/>
          <p:cNvSpPr/>
          <p:nvPr>
            <p:custDataLst>
              <p:tags r:id="rId10"/>
            </p:custDataLst>
          </p:nvPr>
        </p:nvSpPr>
        <p:spPr>
          <a:xfrm>
            <a:off x="9537208" y="2499198"/>
            <a:ext cx="386499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_淘宝网chenying0907出品 15"/>
          <p:cNvSpPr/>
          <p:nvPr>
            <p:custDataLst>
              <p:tags r:id="rId11"/>
            </p:custDataLst>
          </p:nvPr>
        </p:nvSpPr>
        <p:spPr>
          <a:xfrm rot="20959521">
            <a:off x="10080404" y="2550354"/>
            <a:ext cx="386499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PA_淘宝网chenying0907出品 16"/>
          <p:cNvSpPr/>
          <p:nvPr>
            <p:custDataLst>
              <p:tags r:id="rId12"/>
            </p:custDataLst>
          </p:nvPr>
        </p:nvSpPr>
        <p:spPr>
          <a:xfrm rot="19779136">
            <a:off x="10760962" y="2591950"/>
            <a:ext cx="386499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PA_直接连接符 17"/>
          <p:cNvCxnSpPr/>
          <p:nvPr>
            <p:custDataLst>
              <p:tags r:id="rId13"/>
            </p:custDataLst>
          </p:nvPr>
        </p:nvCxnSpPr>
        <p:spPr>
          <a:xfrm>
            <a:off x="898724" y="4305353"/>
            <a:ext cx="6264696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9"/>
          <p:cNvCxnSpPr/>
          <p:nvPr>
            <p:custDataLst>
              <p:tags r:id="rId14"/>
            </p:custDataLst>
          </p:nvPr>
        </p:nvCxnSpPr>
        <p:spPr>
          <a:xfrm>
            <a:off x="839416" y="1772817"/>
            <a:ext cx="64202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_直接连接符 20"/>
          <p:cNvCxnSpPr/>
          <p:nvPr>
            <p:custDataLst>
              <p:tags r:id="rId15"/>
            </p:custDataLst>
          </p:nvPr>
        </p:nvCxnSpPr>
        <p:spPr>
          <a:xfrm flipV="1">
            <a:off x="767408" y="3573016"/>
            <a:ext cx="6446139" cy="11318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_淘宝网chenying0907出品 22"/>
          <p:cNvSpPr txBox="1"/>
          <p:nvPr>
            <p:custDataLst>
              <p:tags r:id="rId16"/>
            </p:custDataLst>
          </p:nvPr>
        </p:nvSpPr>
        <p:spPr>
          <a:xfrm>
            <a:off x="1146298" y="3762400"/>
            <a:ext cx="5093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试讲人：李志勇</a:t>
            </a:r>
          </a:p>
        </p:txBody>
      </p:sp>
      <p:pic>
        <p:nvPicPr>
          <p:cNvPr id="28" name="Picture 2" descr="https://xxgc.sicau.edu.cn/dfiles/14355/wp-content/uploads/2017/04/logo.png"/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06" y="10099"/>
            <a:ext cx="4286250" cy="8191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551384" y="5003884"/>
            <a:ext cx="10916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算法设计与分析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》(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，屈婉玲、刘田、张立昂、王捍贫，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清华大学出版社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765-BE6E-4593-A223-F2D7034B6D81}" type="datetime1">
              <a:rPr lang="zh-CN" altLang="en-US" smtClean="0"/>
              <a:t>2019/5/28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5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45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 animBg="1"/>
      <p:bldP spid="5" grpId="1" animBg="1"/>
      <p:bldP spid="6" grpId="0" animBg="1"/>
      <p:bldP spid="7" grpId="0" animBg="1"/>
      <p:bldP spid="9" grpId="0" animBg="1"/>
      <p:bldP spid="10" grpId="0" bldLvl="0" animBg="1"/>
      <p:bldP spid="11" grpId="0" bldLvl="0" animBg="1"/>
      <p:bldP spid="12" grpId="0" animBg="1"/>
      <p:bldP spid="13" grpId="0" animBg="1"/>
      <p:bldP spid="14" grpId="0" animBg="1"/>
      <p:bldP spid="15" grpId="0" animBg="1"/>
      <p:bldP spid="2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5648526" y="1937576"/>
            <a:ext cx="438912" cy="210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5" name="object 4"/>
          <p:cNvSpPr/>
          <p:nvPr/>
        </p:nvSpPr>
        <p:spPr>
          <a:xfrm>
            <a:off x="5674434" y="1961961"/>
            <a:ext cx="437388" cy="211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6" name="object 5"/>
          <p:cNvSpPr txBox="1"/>
          <p:nvPr/>
        </p:nvSpPr>
        <p:spPr>
          <a:xfrm>
            <a:off x="5941897" y="1981265"/>
            <a:ext cx="4953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8"/>
          <p:cNvSpPr/>
          <p:nvPr/>
        </p:nvSpPr>
        <p:spPr>
          <a:xfrm>
            <a:off x="2530367" y="3140698"/>
            <a:ext cx="2137226" cy="927906"/>
          </a:xfrm>
          <a:custGeom>
            <a:avLst/>
            <a:gdLst/>
            <a:ahLst/>
            <a:cxnLst/>
            <a:rect l="l" t="t" r="r" b="b"/>
            <a:pathLst>
              <a:path w="1066800" h="1470025">
                <a:moveTo>
                  <a:pt x="0" y="177800"/>
                </a:moveTo>
                <a:lnTo>
                  <a:pt x="6351" y="130542"/>
                </a:lnTo>
                <a:lnTo>
                  <a:pt x="24274" y="88072"/>
                </a:lnTo>
                <a:lnTo>
                  <a:pt x="52076" y="52085"/>
                </a:lnTo>
                <a:lnTo>
                  <a:pt x="88060" y="24280"/>
                </a:lnTo>
                <a:lnTo>
                  <a:pt x="130533" y="6352"/>
                </a:lnTo>
                <a:lnTo>
                  <a:pt x="177800" y="0"/>
                </a:lnTo>
                <a:lnTo>
                  <a:pt x="889000" y="0"/>
                </a:lnTo>
                <a:lnTo>
                  <a:pt x="936257" y="6352"/>
                </a:lnTo>
                <a:lnTo>
                  <a:pt x="978727" y="24280"/>
                </a:lnTo>
                <a:lnTo>
                  <a:pt x="1014714" y="52085"/>
                </a:lnTo>
                <a:lnTo>
                  <a:pt x="1042519" y="88072"/>
                </a:lnTo>
                <a:lnTo>
                  <a:pt x="1060447" y="130542"/>
                </a:lnTo>
                <a:lnTo>
                  <a:pt x="1066800" y="177800"/>
                </a:lnTo>
                <a:lnTo>
                  <a:pt x="1066800" y="1292225"/>
                </a:lnTo>
                <a:lnTo>
                  <a:pt x="1060447" y="1339491"/>
                </a:lnTo>
                <a:lnTo>
                  <a:pt x="1042519" y="1381964"/>
                </a:lnTo>
                <a:lnTo>
                  <a:pt x="1014714" y="1417948"/>
                </a:lnTo>
                <a:lnTo>
                  <a:pt x="978727" y="1445750"/>
                </a:lnTo>
                <a:lnTo>
                  <a:pt x="936257" y="1463673"/>
                </a:lnTo>
                <a:lnTo>
                  <a:pt x="889000" y="1470025"/>
                </a:lnTo>
                <a:lnTo>
                  <a:pt x="177800" y="1470025"/>
                </a:lnTo>
                <a:lnTo>
                  <a:pt x="130533" y="1463673"/>
                </a:lnTo>
                <a:lnTo>
                  <a:pt x="88060" y="1445750"/>
                </a:lnTo>
                <a:lnTo>
                  <a:pt x="52076" y="1417948"/>
                </a:lnTo>
                <a:lnTo>
                  <a:pt x="24274" y="1381964"/>
                </a:lnTo>
                <a:lnTo>
                  <a:pt x="6351" y="1339491"/>
                </a:lnTo>
                <a:lnTo>
                  <a:pt x="0" y="1292225"/>
                </a:lnTo>
                <a:lnTo>
                  <a:pt x="0" y="1778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8" name="object 9"/>
          <p:cNvSpPr txBox="1"/>
          <p:nvPr/>
        </p:nvSpPr>
        <p:spPr>
          <a:xfrm>
            <a:off x="2501001" y="3167522"/>
            <a:ext cx="2166592" cy="86446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ctr">
              <a:lnSpc>
                <a:spcPct val="97900"/>
              </a:lnSpc>
              <a:spcBef>
                <a:spcPts val="155"/>
              </a:spcBef>
            </a:pPr>
            <a:r>
              <a:rPr sz="2800" b="1" spc="5" dirty="0" err="1" smtClean="0">
                <a:latin typeface="宋体"/>
                <a:cs typeface="宋体"/>
              </a:rPr>
              <a:t>最优前缀码及哈夫曼算法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9" name="object 10"/>
          <p:cNvSpPr txBox="1">
            <a:spLocks/>
          </p:cNvSpPr>
          <p:nvPr/>
        </p:nvSpPr>
        <p:spPr>
          <a:xfrm>
            <a:off x="2910091" y="287130"/>
            <a:ext cx="6306207" cy="935513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重要的贪心算法</a:t>
            </a:r>
            <a:endParaRPr lang="zh-CN" altLang="en-US" b="1" spc="-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5209562" y="4462186"/>
            <a:ext cx="1855076" cy="805220"/>
          </a:xfrm>
          <a:custGeom>
            <a:avLst/>
            <a:gdLst/>
            <a:ahLst/>
            <a:cxnLst/>
            <a:rect l="l" t="t" r="r" b="b"/>
            <a:pathLst>
              <a:path w="1066800" h="1012825">
                <a:moveTo>
                  <a:pt x="0" y="168783"/>
                </a:moveTo>
                <a:lnTo>
                  <a:pt x="6028" y="123913"/>
                </a:lnTo>
                <a:lnTo>
                  <a:pt x="23043" y="83594"/>
                </a:lnTo>
                <a:lnTo>
                  <a:pt x="49434" y="49434"/>
                </a:lnTo>
                <a:lnTo>
                  <a:pt x="83594" y="23043"/>
                </a:lnTo>
                <a:lnTo>
                  <a:pt x="123913" y="6028"/>
                </a:lnTo>
                <a:lnTo>
                  <a:pt x="168782" y="0"/>
                </a:lnTo>
                <a:lnTo>
                  <a:pt x="898017" y="0"/>
                </a:lnTo>
                <a:lnTo>
                  <a:pt x="942886" y="6028"/>
                </a:lnTo>
                <a:lnTo>
                  <a:pt x="983205" y="23043"/>
                </a:lnTo>
                <a:lnTo>
                  <a:pt x="1017365" y="49434"/>
                </a:lnTo>
                <a:lnTo>
                  <a:pt x="1043756" y="83594"/>
                </a:lnTo>
                <a:lnTo>
                  <a:pt x="1060771" y="123913"/>
                </a:lnTo>
                <a:lnTo>
                  <a:pt x="1066800" y="168783"/>
                </a:lnTo>
                <a:lnTo>
                  <a:pt x="1066800" y="844016"/>
                </a:lnTo>
                <a:lnTo>
                  <a:pt x="1060771" y="888892"/>
                </a:lnTo>
                <a:lnTo>
                  <a:pt x="1043756" y="929217"/>
                </a:lnTo>
                <a:lnTo>
                  <a:pt x="1017365" y="963382"/>
                </a:lnTo>
                <a:lnTo>
                  <a:pt x="983205" y="989777"/>
                </a:lnTo>
                <a:lnTo>
                  <a:pt x="942886" y="1006795"/>
                </a:lnTo>
                <a:lnTo>
                  <a:pt x="898017" y="1012825"/>
                </a:lnTo>
                <a:lnTo>
                  <a:pt x="168782" y="1012825"/>
                </a:lnTo>
                <a:lnTo>
                  <a:pt x="123913" y="1006795"/>
                </a:lnTo>
                <a:lnTo>
                  <a:pt x="83594" y="989777"/>
                </a:lnTo>
                <a:lnTo>
                  <a:pt x="49434" y="963382"/>
                </a:lnTo>
                <a:lnTo>
                  <a:pt x="23043" y="929217"/>
                </a:lnTo>
                <a:lnTo>
                  <a:pt x="6028" y="888892"/>
                </a:lnTo>
                <a:lnTo>
                  <a:pt x="0" y="844016"/>
                </a:lnTo>
                <a:lnTo>
                  <a:pt x="0" y="168783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3" name="object 14"/>
          <p:cNvSpPr txBox="1"/>
          <p:nvPr/>
        </p:nvSpPr>
        <p:spPr>
          <a:xfrm>
            <a:off x="5474484" y="4406039"/>
            <a:ext cx="1460938" cy="90152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R="5080" indent="-128270" algn="ctr"/>
            <a:r>
              <a:rPr sz="2800" b="1" spc="5" dirty="0">
                <a:latin typeface="宋体"/>
                <a:cs typeface="宋体"/>
              </a:rPr>
              <a:t>最小生 成树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5197166" y="3253180"/>
            <a:ext cx="1855076" cy="810443"/>
          </a:xfrm>
          <a:custGeom>
            <a:avLst/>
            <a:gdLst/>
            <a:ahLst/>
            <a:cxnLst/>
            <a:rect l="l" t="t" r="r" b="b"/>
            <a:pathLst>
              <a:path w="1066800" h="838200">
                <a:moveTo>
                  <a:pt x="0" y="139700"/>
                </a:moveTo>
                <a:lnTo>
                  <a:pt x="7116" y="95520"/>
                </a:lnTo>
                <a:lnTo>
                  <a:pt x="26936" y="57168"/>
                </a:lnTo>
                <a:lnTo>
                  <a:pt x="57168" y="26936"/>
                </a:lnTo>
                <a:lnTo>
                  <a:pt x="95520" y="7116"/>
                </a:lnTo>
                <a:lnTo>
                  <a:pt x="139700" y="0"/>
                </a:lnTo>
                <a:lnTo>
                  <a:pt x="927100" y="0"/>
                </a:lnTo>
                <a:lnTo>
                  <a:pt x="971279" y="7116"/>
                </a:lnTo>
                <a:lnTo>
                  <a:pt x="1009631" y="26936"/>
                </a:lnTo>
                <a:lnTo>
                  <a:pt x="1039863" y="57168"/>
                </a:lnTo>
                <a:lnTo>
                  <a:pt x="1059683" y="95520"/>
                </a:lnTo>
                <a:lnTo>
                  <a:pt x="1066800" y="139700"/>
                </a:lnTo>
                <a:lnTo>
                  <a:pt x="1066800" y="698500"/>
                </a:lnTo>
                <a:lnTo>
                  <a:pt x="1059683" y="742679"/>
                </a:lnTo>
                <a:lnTo>
                  <a:pt x="1039863" y="781031"/>
                </a:lnTo>
                <a:lnTo>
                  <a:pt x="1009631" y="811263"/>
                </a:lnTo>
                <a:lnTo>
                  <a:pt x="971279" y="831083"/>
                </a:lnTo>
                <a:lnTo>
                  <a:pt x="927100" y="838200"/>
                </a:lnTo>
                <a:lnTo>
                  <a:pt x="139700" y="838200"/>
                </a:lnTo>
                <a:lnTo>
                  <a:pt x="95520" y="831083"/>
                </a:lnTo>
                <a:lnTo>
                  <a:pt x="57168" y="811263"/>
                </a:lnTo>
                <a:lnTo>
                  <a:pt x="26936" y="781031"/>
                </a:lnTo>
                <a:lnTo>
                  <a:pt x="7116" y="742679"/>
                </a:lnTo>
                <a:lnTo>
                  <a:pt x="0" y="698500"/>
                </a:lnTo>
                <a:lnTo>
                  <a:pt x="0" y="1397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5" name="object 16"/>
          <p:cNvSpPr txBox="1"/>
          <p:nvPr/>
        </p:nvSpPr>
        <p:spPr>
          <a:xfrm>
            <a:off x="5445488" y="3221102"/>
            <a:ext cx="1332667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Prim</a:t>
            </a:r>
            <a:endParaRPr sz="28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40"/>
              </a:spcBef>
            </a:pPr>
            <a:r>
              <a:rPr sz="2800" b="1" dirty="0">
                <a:latin typeface="宋体"/>
                <a:cs typeface="宋体"/>
              </a:rPr>
              <a:t>算法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5209561" y="1981265"/>
            <a:ext cx="1855077" cy="828372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914400" y="0"/>
                </a:lnTo>
                <a:lnTo>
                  <a:pt x="962582" y="7766"/>
                </a:lnTo>
                <a:lnTo>
                  <a:pt x="1004419" y="29394"/>
                </a:lnTo>
                <a:lnTo>
                  <a:pt x="1037405" y="62380"/>
                </a:lnTo>
                <a:lnTo>
                  <a:pt x="1059033" y="104217"/>
                </a:lnTo>
                <a:lnTo>
                  <a:pt x="1066800" y="152400"/>
                </a:lnTo>
                <a:lnTo>
                  <a:pt x="1066800" y="762000"/>
                </a:lnTo>
                <a:lnTo>
                  <a:pt x="1059033" y="810182"/>
                </a:lnTo>
                <a:lnTo>
                  <a:pt x="1037405" y="852019"/>
                </a:lnTo>
                <a:lnTo>
                  <a:pt x="1004419" y="885005"/>
                </a:lnTo>
                <a:lnTo>
                  <a:pt x="962582" y="906633"/>
                </a:lnTo>
                <a:lnTo>
                  <a:pt x="914400" y="914400"/>
                </a:lnTo>
                <a:lnTo>
                  <a:pt x="152400" y="914400"/>
                </a:lnTo>
                <a:lnTo>
                  <a:pt x="104217" y="906633"/>
                </a:lnTo>
                <a:lnTo>
                  <a:pt x="62380" y="885005"/>
                </a:lnTo>
                <a:lnTo>
                  <a:pt x="29394" y="852019"/>
                </a:lnTo>
                <a:lnTo>
                  <a:pt x="7766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7" name="object 18"/>
          <p:cNvSpPr txBox="1"/>
          <p:nvPr/>
        </p:nvSpPr>
        <p:spPr>
          <a:xfrm>
            <a:off x="5344435" y="1934397"/>
            <a:ext cx="1441679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800" b="1" spc="-30" dirty="0">
                <a:latin typeface="Calibri"/>
                <a:cs typeface="Calibri"/>
              </a:rPr>
              <a:t>K</a:t>
            </a:r>
            <a:r>
              <a:rPr sz="2800" b="1" spc="-5" dirty="0">
                <a:latin typeface="Calibri"/>
                <a:cs typeface="Calibri"/>
              </a:rPr>
              <a:t>rus</a:t>
            </a:r>
            <a:r>
              <a:rPr sz="2800" b="1" spc="-25" dirty="0">
                <a:latin typeface="Calibri"/>
                <a:cs typeface="Calibri"/>
              </a:rPr>
              <a:t>k</a:t>
            </a:r>
            <a:r>
              <a:rPr sz="2800" b="1" dirty="0">
                <a:latin typeface="Calibri"/>
                <a:cs typeface="Calibri"/>
              </a:rPr>
              <a:t>al</a:t>
            </a:r>
            <a:endParaRPr sz="2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800" b="1" spc="5" dirty="0">
                <a:latin typeface="宋体"/>
                <a:cs typeface="宋体"/>
              </a:rPr>
              <a:t>算法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7583033" y="3071818"/>
            <a:ext cx="2239233" cy="1113308"/>
          </a:xfrm>
          <a:custGeom>
            <a:avLst/>
            <a:gdLst/>
            <a:ahLst/>
            <a:cxnLst/>
            <a:rect l="l" t="t" r="r" b="b"/>
            <a:pathLst>
              <a:path w="1219200" h="1447800">
                <a:moveTo>
                  <a:pt x="0" y="203200"/>
                </a:moveTo>
                <a:lnTo>
                  <a:pt x="5364" y="156594"/>
                </a:lnTo>
                <a:lnTo>
                  <a:pt x="20645" y="113818"/>
                </a:lnTo>
                <a:lnTo>
                  <a:pt x="44626" y="76090"/>
                </a:lnTo>
                <a:lnTo>
                  <a:pt x="76090" y="44626"/>
                </a:lnTo>
                <a:lnTo>
                  <a:pt x="113818" y="20645"/>
                </a:lnTo>
                <a:lnTo>
                  <a:pt x="156594" y="5364"/>
                </a:lnTo>
                <a:lnTo>
                  <a:pt x="203200" y="0"/>
                </a:lnTo>
                <a:lnTo>
                  <a:pt x="1016000" y="0"/>
                </a:lnTo>
                <a:lnTo>
                  <a:pt x="1062605" y="5364"/>
                </a:lnTo>
                <a:lnTo>
                  <a:pt x="1105381" y="20645"/>
                </a:lnTo>
                <a:lnTo>
                  <a:pt x="1143109" y="44626"/>
                </a:lnTo>
                <a:lnTo>
                  <a:pt x="1174573" y="76090"/>
                </a:lnTo>
                <a:lnTo>
                  <a:pt x="1198554" y="113818"/>
                </a:lnTo>
                <a:lnTo>
                  <a:pt x="1213835" y="156594"/>
                </a:lnTo>
                <a:lnTo>
                  <a:pt x="1219200" y="203200"/>
                </a:lnTo>
                <a:lnTo>
                  <a:pt x="1219200" y="1244600"/>
                </a:lnTo>
                <a:lnTo>
                  <a:pt x="1213835" y="1291189"/>
                </a:lnTo>
                <a:lnTo>
                  <a:pt x="1198554" y="1333959"/>
                </a:lnTo>
                <a:lnTo>
                  <a:pt x="1174573" y="1371688"/>
                </a:lnTo>
                <a:lnTo>
                  <a:pt x="1143109" y="1403157"/>
                </a:lnTo>
                <a:lnTo>
                  <a:pt x="1105381" y="1427145"/>
                </a:lnTo>
                <a:lnTo>
                  <a:pt x="1062605" y="1442432"/>
                </a:lnTo>
                <a:lnTo>
                  <a:pt x="1016000" y="1447800"/>
                </a:lnTo>
                <a:lnTo>
                  <a:pt x="203200" y="1447800"/>
                </a:lnTo>
                <a:lnTo>
                  <a:pt x="156594" y="1442432"/>
                </a:lnTo>
                <a:lnTo>
                  <a:pt x="113818" y="1427145"/>
                </a:lnTo>
                <a:lnTo>
                  <a:pt x="76090" y="1403157"/>
                </a:lnTo>
                <a:lnTo>
                  <a:pt x="44626" y="1371688"/>
                </a:lnTo>
                <a:lnTo>
                  <a:pt x="20645" y="1333959"/>
                </a:lnTo>
                <a:lnTo>
                  <a:pt x="5364" y="1291189"/>
                </a:lnTo>
                <a:lnTo>
                  <a:pt x="0" y="1244600"/>
                </a:lnTo>
                <a:lnTo>
                  <a:pt x="0" y="2032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7538825" y="3151648"/>
            <a:ext cx="2219311" cy="89011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7780" algn="ctr">
              <a:lnSpc>
                <a:spcPct val="97900"/>
              </a:lnSpc>
              <a:spcBef>
                <a:spcPts val="155"/>
              </a:spcBef>
            </a:pPr>
            <a:r>
              <a:rPr sz="2800" b="1" spc="5" dirty="0" err="1" smtClean="0">
                <a:latin typeface="宋体"/>
                <a:cs typeface="宋体"/>
              </a:rPr>
              <a:t>单源最短路径</a:t>
            </a:r>
            <a:endParaRPr lang="en-US" sz="2800" b="1" spc="5" dirty="0" smtClean="0">
              <a:latin typeface="宋体"/>
              <a:cs typeface="宋体"/>
            </a:endParaRPr>
          </a:p>
          <a:p>
            <a:pPr marL="12700" marR="5080" indent="17780" algn="ctr">
              <a:lnSpc>
                <a:spcPct val="97900"/>
              </a:lnSpc>
              <a:spcBef>
                <a:spcPts val="155"/>
              </a:spcBef>
            </a:pPr>
            <a:r>
              <a:rPr sz="2800" b="1" spc="-5" dirty="0" err="1" smtClean="0">
                <a:latin typeface="Calibri"/>
                <a:cs typeface="Calibri"/>
              </a:rPr>
              <a:t>Dij</a:t>
            </a:r>
            <a:r>
              <a:rPr sz="2800" b="1" spc="-15" dirty="0" err="1" smtClean="0">
                <a:latin typeface="Calibri"/>
                <a:cs typeface="Calibri"/>
              </a:rPr>
              <a:t>k</a:t>
            </a:r>
            <a:r>
              <a:rPr sz="2800" b="1" spc="-20" dirty="0" err="1" smtClean="0">
                <a:latin typeface="Calibri"/>
                <a:cs typeface="Calibri"/>
              </a:rPr>
              <a:t>s</a:t>
            </a:r>
            <a:r>
              <a:rPr sz="2800" b="1" dirty="0" err="1" smtClean="0">
                <a:latin typeface="Calibri"/>
                <a:cs typeface="Calibri"/>
              </a:rPr>
              <a:t>t</a:t>
            </a:r>
            <a:r>
              <a:rPr sz="2800" b="1" spc="-50" dirty="0" err="1" smtClean="0">
                <a:latin typeface="Calibri"/>
                <a:cs typeface="Calibri"/>
              </a:rPr>
              <a:t>r</a:t>
            </a:r>
            <a:r>
              <a:rPr sz="2800" b="1" dirty="0" err="1" smtClean="0">
                <a:latin typeface="Calibri"/>
                <a:cs typeface="Calibri"/>
              </a:rPr>
              <a:t>a</a:t>
            </a:r>
            <a:r>
              <a:rPr sz="2800" b="1" spc="5" dirty="0" err="1" smtClean="0">
                <a:latin typeface="宋体"/>
                <a:cs typeface="宋体"/>
              </a:rPr>
              <a:t>算法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45488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659" y="2233357"/>
            <a:ext cx="6091517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lang="zh-CN" altLang="en-US" sz="6600" spc="-20" dirty="0">
                <a:latin typeface="黑体" panose="02010609060101010101" pitchFamily="49" charset="-122"/>
                <a:ea typeface="黑体" panose="02010609060101010101" pitchFamily="49" charset="-122"/>
              </a:rPr>
              <a:t>最优前缀码</a:t>
            </a:r>
            <a:r>
              <a:rPr lang="zh-CN" altLang="en-US" sz="6600" spc="-2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r>
              <a:rPr lang="en-US" altLang="zh-CN" sz="6600" spc="-20" dirty="0" smtClean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6600" spc="-20" dirty="0" smtClean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6600" spc="-2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哈夫曼</a:t>
            </a:r>
            <a:r>
              <a:rPr lang="zh-CN" altLang="en-US" sz="6600" spc="-20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sz="7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45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3107" y="198981"/>
            <a:ext cx="342646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二元前缀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endParaRPr b="1" spc="-2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787" y="1025483"/>
            <a:ext cx="11225165" cy="2743486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474121" indent="-457189" algn="just">
              <a:lnSpc>
                <a:spcPts val="4500"/>
              </a:lnSpc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2800" b="1" spc="-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二元前缀</a:t>
            </a:r>
            <a:r>
              <a:rPr sz="2800" b="1" spc="-13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0-1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字符串作为代码表示字符，要求任何字符的代码都不能作为其它字符代码的前缀</a:t>
            </a:r>
          </a:p>
          <a:p>
            <a:pPr marL="468000" marR="6773" algn="just">
              <a:spcBef>
                <a:spcPts val="3600"/>
              </a:spcBef>
            </a:pPr>
            <a:r>
              <a:rPr sz="2800" b="1" spc="-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非前缀码</a:t>
            </a:r>
            <a:r>
              <a:rPr sz="28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sz="2800" b="1" spc="-13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  <a:endParaRPr sz="2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36102" algn="just">
              <a:lnSpc>
                <a:spcPts val="4500"/>
              </a:lnSpc>
              <a:tabLst>
                <a:tab pos="2691485" algn="l"/>
                <a:tab pos="4148563" algn="l"/>
                <a:tab pos="5682685" algn="l"/>
              </a:tabLst>
            </a:pPr>
            <a:r>
              <a:rPr 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001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00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010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-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01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065374"/>
              </p:ext>
            </p:extLst>
          </p:nvPr>
        </p:nvGraphicFramePr>
        <p:xfrm>
          <a:off x="872358" y="4778136"/>
          <a:ext cx="8576442" cy="9377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58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807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398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8868">
                <a:tc>
                  <a:txBody>
                    <a:bodyPr/>
                    <a:lstStyle/>
                    <a:p>
                      <a:pPr marL="31750" algn="l">
                        <a:lnSpc>
                          <a:spcPts val="2620"/>
                        </a:lnSpc>
                      </a:pPr>
                      <a:r>
                        <a:rPr sz="2800" b="1" spc="-5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解码</a:t>
                      </a:r>
                      <a:r>
                        <a:rPr sz="2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1:</a:t>
                      </a:r>
                      <a:endParaRPr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2620"/>
                        </a:lnSpc>
                      </a:pPr>
                      <a:r>
                        <a:rPr sz="2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01, 00,</a:t>
                      </a:r>
                      <a:r>
                        <a:rPr sz="2800" b="1" spc="-4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001</a:t>
                      </a:r>
                      <a:endParaRPr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l">
                        <a:lnSpc>
                          <a:spcPts val="2620"/>
                        </a:lnSpc>
                      </a:pPr>
                      <a:r>
                        <a:rPr sz="2800" b="1" i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d, b,</a:t>
                      </a:r>
                      <a:r>
                        <a:rPr sz="2800" b="1" i="1" spc="-1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1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endParaRPr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8868">
                <a:tc>
                  <a:txBody>
                    <a:bodyPr/>
                    <a:lstStyle/>
                    <a:p>
                      <a:pPr marL="31750" algn="l">
                        <a:lnSpc>
                          <a:spcPts val="2670"/>
                        </a:lnSpc>
                      </a:pPr>
                      <a:r>
                        <a:rPr sz="2800" b="1" spc="-5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解码</a:t>
                      </a:r>
                      <a:r>
                        <a:rPr sz="2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2:</a:t>
                      </a:r>
                      <a:endParaRPr sz="28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935" algn="l">
                        <a:lnSpc>
                          <a:spcPts val="2670"/>
                        </a:lnSpc>
                      </a:pPr>
                      <a:r>
                        <a:rPr sz="2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010, 00,</a:t>
                      </a:r>
                      <a:r>
                        <a:rPr sz="2800" b="1" spc="-4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01</a:t>
                      </a:r>
                      <a:endParaRPr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275" algn="l">
                        <a:lnSpc>
                          <a:spcPts val="2670"/>
                        </a:lnSpc>
                      </a:pPr>
                      <a:r>
                        <a:rPr sz="2800" b="1" i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c, b,</a:t>
                      </a:r>
                      <a:r>
                        <a:rPr sz="2800" b="1" i="1" spc="-11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07150" y="3980711"/>
            <a:ext cx="5883470" cy="6049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74121" indent="-457189" algn="just">
              <a:lnSpc>
                <a:spcPts val="4500"/>
              </a:lnSpc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解码的歧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义</a:t>
            </a:r>
            <a:r>
              <a:rPr lang="zh-CN" altLang="en-US"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例如字符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lang="zh-CN" altLang="en-US" sz="2800" b="1" spc="-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0100001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70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187" y="1431881"/>
            <a:ext cx="10619068" cy="2276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3820"/>
              </a:lnSpc>
              <a:spcBef>
                <a:spcPts val="133"/>
              </a:spcBef>
            </a:pP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前缀码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00000, 00001, 0001, 001,</a:t>
            </a:r>
            <a:r>
              <a:rPr sz="2800" b="1" spc="-1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01,100,101,11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en-US" sz="2800" b="1" spc="-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lnSpc>
                <a:spcPts val="3820"/>
              </a:lnSpc>
              <a:spcBef>
                <a:spcPts val="133"/>
              </a:spcBef>
            </a:pP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spcBef>
                <a:spcPts val="2440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构造树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spcBef>
                <a:spcPts val="800"/>
              </a:spcBef>
            </a:pP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sz="2800" b="1" spc="-13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-左子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86" y="3789001"/>
            <a:ext cx="4049274" cy="1901076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1800"/>
              </a:spcBef>
              <a:spcAft>
                <a:spcPts val="2400"/>
              </a:spcAft>
            </a:pP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1-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右子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6773">
              <a:lnSpc>
                <a:spcPct val="120800"/>
              </a:lnSpc>
            </a:pP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sz="2800" b="1" spc="-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对应一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片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叶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sz="2800" b="1" spc="-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6773">
              <a:lnSpc>
                <a:spcPct val="120800"/>
              </a:lnSpc>
            </a:pP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最大位数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spc="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spc="-13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深</a:t>
            </a:r>
            <a:endParaRPr sz="2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05694" y="4652601"/>
            <a:ext cx="101600" cy="3048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0"/>
                </a:moveTo>
                <a:lnTo>
                  <a:pt x="76200" y="228600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8909832" y="3504523"/>
            <a:ext cx="334433" cy="436033"/>
          </a:xfrm>
          <a:custGeom>
            <a:avLst/>
            <a:gdLst/>
            <a:ahLst/>
            <a:cxnLst/>
            <a:rect l="l" t="t" r="r" b="b"/>
            <a:pathLst>
              <a:path w="250825" h="327025">
                <a:moveTo>
                  <a:pt x="0" y="0"/>
                </a:moveTo>
                <a:lnTo>
                  <a:pt x="250825" y="327025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93427" y="276933"/>
            <a:ext cx="1002651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前缀码的二叉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树表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</a:t>
            </a:r>
            <a:endParaRPr b="1" spc="-2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34494" y="3026999"/>
            <a:ext cx="275167" cy="914400"/>
          </a:xfrm>
          <a:custGeom>
            <a:avLst/>
            <a:gdLst/>
            <a:ahLst/>
            <a:cxnLst/>
            <a:rect l="l" t="t" r="r" b="b"/>
            <a:pathLst>
              <a:path w="206375" h="685800">
                <a:moveTo>
                  <a:pt x="206375" y="0"/>
                </a:moveTo>
                <a:lnTo>
                  <a:pt x="0" y="685800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7284231" y="4114122"/>
            <a:ext cx="160867" cy="465667"/>
          </a:xfrm>
          <a:custGeom>
            <a:avLst/>
            <a:gdLst/>
            <a:ahLst/>
            <a:cxnLst/>
            <a:rect l="l" t="t" r="r" b="b"/>
            <a:pathLst>
              <a:path w="120650" h="349250">
                <a:moveTo>
                  <a:pt x="0" y="0"/>
                </a:moveTo>
                <a:lnTo>
                  <a:pt x="120650" y="349250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7647958" y="3361265"/>
            <a:ext cx="275167" cy="579967"/>
          </a:xfrm>
          <a:custGeom>
            <a:avLst/>
            <a:gdLst/>
            <a:ahLst/>
            <a:cxnLst/>
            <a:rect l="l" t="t" r="r" b="b"/>
            <a:pathLst>
              <a:path w="206375" h="434975">
                <a:moveTo>
                  <a:pt x="0" y="0"/>
                </a:moveTo>
                <a:lnTo>
                  <a:pt x="206375" y="434975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8126494" y="2925401"/>
            <a:ext cx="304800" cy="508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0"/>
                </a:moveTo>
                <a:lnTo>
                  <a:pt x="228600" y="381000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532894" y="2620601"/>
            <a:ext cx="914400" cy="887307"/>
          </a:xfrm>
          <a:custGeom>
            <a:avLst/>
            <a:gdLst/>
            <a:ahLst/>
            <a:cxnLst/>
            <a:rect l="l" t="t" r="r" b="b"/>
            <a:pathLst>
              <a:path w="685800" h="665480">
                <a:moveTo>
                  <a:pt x="0" y="0"/>
                </a:moveTo>
                <a:lnTo>
                  <a:pt x="685800" y="665162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6399294" y="2519001"/>
            <a:ext cx="2032000" cy="2540000"/>
          </a:xfrm>
          <a:custGeom>
            <a:avLst/>
            <a:gdLst/>
            <a:ahLst/>
            <a:cxnLst/>
            <a:rect l="l" t="t" r="r" b="b"/>
            <a:pathLst>
              <a:path w="1524000" h="1905000">
                <a:moveTo>
                  <a:pt x="1524000" y="0"/>
                </a:moveTo>
                <a:lnTo>
                  <a:pt x="0" y="1905000"/>
                </a:lnTo>
              </a:path>
            </a:pathLst>
          </a:custGeom>
          <a:ln w="25146">
            <a:solidFill>
              <a:srgbClr val="4F622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8312931" y="2400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8008131" y="28070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8820931" y="2908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7601731" y="33150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9328931" y="3416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8719331" y="33150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8312931" y="33150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9125731" y="3924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7093731" y="3924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6280931" y="4940639"/>
            <a:ext cx="236728" cy="236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87331" y="4432639"/>
            <a:ext cx="236728" cy="236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7804931" y="3924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7398531" y="4534239"/>
            <a:ext cx="236728" cy="236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6788931" y="4940639"/>
            <a:ext cx="236728" cy="236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8516131" y="3924638"/>
            <a:ext cx="236728" cy="23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 txBox="1"/>
          <p:nvPr/>
        </p:nvSpPr>
        <p:spPr>
          <a:xfrm>
            <a:off x="5792572" y="4177657"/>
            <a:ext cx="2421467" cy="14072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 algn="r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001</a:t>
            </a:r>
            <a:endParaRPr sz="2400" dirty="0">
              <a:latin typeface="Times New Roman"/>
              <a:cs typeface="Times New Roman"/>
            </a:endParaRPr>
          </a:p>
          <a:p>
            <a:pPr marL="1490943">
              <a:spcBef>
                <a:spcPts val="2040"/>
              </a:spcBef>
            </a:pPr>
            <a:r>
              <a:rPr sz="2400" b="1" dirty="0">
                <a:latin typeface="Times New Roman"/>
                <a:cs typeface="Times New Roman"/>
              </a:rPr>
              <a:t>0001</a:t>
            </a:r>
            <a:endParaRPr sz="2400" dirty="0">
              <a:latin typeface="Times New Roman"/>
              <a:cs typeface="Times New Roman"/>
            </a:endParaRPr>
          </a:p>
          <a:p>
            <a:pPr marL="16933">
              <a:spcBef>
                <a:spcPts val="200"/>
              </a:spcBef>
            </a:pPr>
            <a:r>
              <a:rPr sz="2400" b="1" dirty="0">
                <a:latin typeface="Times New Roman"/>
                <a:cs typeface="Times New Roman"/>
              </a:rPr>
              <a:t>00000</a:t>
            </a:r>
            <a:r>
              <a:rPr sz="2400" b="1" spc="57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00001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30668" y="3466254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01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33970" y="4193202"/>
            <a:ext cx="4910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100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5068" y="3568057"/>
            <a:ext cx="609600" cy="9994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1725">
              <a:spcBef>
                <a:spcPts val="133"/>
              </a:spcBef>
            </a:pPr>
            <a:r>
              <a:rPr sz="2400" b="1" spc="-140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  <a:p>
            <a:pPr marL="16933">
              <a:spcBef>
                <a:spcPts val="1920"/>
              </a:spcBef>
            </a:pPr>
            <a:r>
              <a:rPr sz="2400" b="1" dirty="0"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713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760219" y="1039708"/>
            <a:ext cx="5551946" cy="3216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1634" y="291750"/>
            <a:ext cx="10464945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平均传输位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7521" y="4255035"/>
            <a:ext cx="11136410" cy="1781684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1" i="1" spc="-7" dirty="0">
                <a:latin typeface="Times New Roman"/>
                <a:cs typeface="Times New Roman"/>
              </a:rPr>
              <a:t>B</a:t>
            </a:r>
            <a:r>
              <a:rPr sz="2800" b="1" spc="-7" dirty="0">
                <a:latin typeface="Times New Roman"/>
                <a:cs typeface="Times New Roman"/>
              </a:rPr>
              <a:t>=[(5+5)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5+10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4+(15+10+10)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 smtClean="0">
                <a:latin typeface="Times New Roman"/>
                <a:cs typeface="Times New Roman"/>
              </a:rPr>
              <a:t>3+(</a:t>
            </a:r>
            <a:r>
              <a:rPr sz="2800" b="1" spc="-7" dirty="0">
                <a:latin typeface="Times New Roman"/>
                <a:cs typeface="Times New Roman"/>
              </a:rPr>
              <a:t>25+20)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2]/</a:t>
            </a:r>
            <a:r>
              <a:rPr sz="2800" b="1" spc="-7" dirty="0" smtClean="0">
                <a:latin typeface="Times New Roman"/>
                <a:cs typeface="Times New Roman"/>
              </a:rPr>
              <a:t>100=2.85</a:t>
            </a:r>
            <a:endParaRPr sz="2800" dirty="0">
              <a:latin typeface="Times New Roman"/>
              <a:cs typeface="Times New Roman"/>
            </a:endParaRPr>
          </a:p>
          <a:p>
            <a:pPr marR="40639"/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9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9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,...,</a:t>
            </a:r>
            <a:r>
              <a:rPr sz="2800" b="1" i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9" baseline="-2083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字符的频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率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9" baseline="-2083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)，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=1,2,...,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sz="2800" b="1" spc="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40639"/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求关于</a:t>
            </a:r>
            <a:r>
              <a:rPr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lang="zh-CN" altLang="en-US" sz="2800" b="1" spc="-7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zh-CN" altLang="en-US" sz="2800" b="1" spc="7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缀</a:t>
            </a:r>
            <a:r>
              <a:rPr lang="zh-CN" altLang="en-US" sz="2800" b="1" spc="-7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平均传输位数</a:t>
            </a:r>
            <a:r>
              <a:rPr lang="zh-CN" altLang="en-US" sz="2800" b="1" spc="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).</a:t>
            </a:r>
            <a:endParaRPr lang="zh-CN" altLang="en-US" sz="280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7096" y="1393963"/>
            <a:ext cx="150707" cy="26759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600" b="1" i="1" spc="27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393" y="1377706"/>
            <a:ext cx="2828713" cy="99770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0799">
              <a:spcBef>
                <a:spcPts val="620"/>
              </a:spcBef>
            </a:pPr>
            <a:r>
              <a:rPr sz="2800" b="1" i="1" spc="13" dirty="0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spc="13" dirty="0">
                <a:latin typeface="Symbol"/>
                <a:cs typeface="Symbol"/>
              </a:rPr>
              <a:t>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6300" b="1" spc="40" baseline="-8818" dirty="0">
                <a:latin typeface="Symbol"/>
                <a:cs typeface="Symbol"/>
              </a:rPr>
              <a:t></a:t>
            </a:r>
            <a:r>
              <a:rPr sz="6300" b="1" spc="-80" baseline="-8818" dirty="0">
                <a:latin typeface="Times New Roman"/>
                <a:cs typeface="Times New Roman"/>
              </a:rPr>
              <a:t> </a:t>
            </a:r>
            <a:r>
              <a:rPr sz="2800" b="1" i="1" spc="7" dirty="0">
                <a:latin typeface="Times New Roman"/>
                <a:cs typeface="Times New Roman"/>
              </a:rPr>
              <a:t>f</a:t>
            </a:r>
            <a:r>
              <a:rPr sz="2800" b="1" i="1" spc="-113" dirty="0">
                <a:latin typeface="Times New Roman"/>
                <a:cs typeface="Times New Roman"/>
              </a:rPr>
              <a:t> </a:t>
            </a:r>
            <a:r>
              <a:rPr sz="2800" b="1" spc="7" dirty="0">
                <a:latin typeface="Times New Roman"/>
                <a:cs typeface="Times New Roman"/>
              </a:rPr>
              <a:t>(</a:t>
            </a:r>
            <a:r>
              <a:rPr sz="2800" b="1" spc="-367" dirty="0">
                <a:latin typeface="Times New Roman"/>
                <a:cs typeface="Times New Roman"/>
              </a:rPr>
              <a:t> </a:t>
            </a:r>
            <a:r>
              <a:rPr sz="2800" b="1" i="1" spc="60" dirty="0">
                <a:latin typeface="Times New Roman"/>
                <a:cs typeface="Times New Roman"/>
              </a:rPr>
              <a:t>x</a:t>
            </a:r>
            <a:r>
              <a:rPr sz="2400" b="1" i="1" spc="89" baseline="-25462" dirty="0">
                <a:latin typeface="Times New Roman"/>
                <a:cs typeface="Times New Roman"/>
              </a:rPr>
              <a:t>i</a:t>
            </a:r>
            <a:r>
              <a:rPr sz="2400" b="1" i="1" spc="80" baseline="-2546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spc="-447" dirty="0">
                <a:latin typeface="Times New Roman"/>
                <a:cs typeface="Times New Roman"/>
              </a:rPr>
              <a:t> </a:t>
            </a:r>
            <a:r>
              <a:rPr sz="2800" b="1" spc="7" dirty="0">
                <a:latin typeface="Times New Roman"/>
                <a:cs typeface="Times New Roman"/>
              </a:rPr>
              <a:t>(</a:t>
            </a:r>
            <a:r>
              <a:rPr sz="2800" b="1" spc="-373" dirty="0">
                <a:latin typeface="Times New Roman"/>
                <a:cs typeface="Times New Roman"/>
              </a:rPr>
              <a:t> </a:t>
            </a:r>
            <a:r>
              <a:rPr sz="2800" b="1" i="1" spc="60" dirty="0">
                <a:latin typeface="Times New Roman"/>
                <a:cs typeface="Times New Roman"/>
              </a:rPr>
              <a:t>x</a:t>
            </a:r>
            <a:r>
              <a:rPr sz="2400" b="1" i="1" spc="89" baseline="-25462" dirty="0">
                <a:latin typeface="Times New Roman"/>
                <a:cs typeface="Times New Roman"/>
              </a:rPr>
              <a:t>i </a:t>
            </a:r>
            <a:r>
              <a:rPr sz="2800" b="1" spc="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718802">
              <a:spcBef>
                <a:spcPts val="220"/>
              </a:spcBef>
            </a:pPr>
            <a:r>
              <a:rPr sz="1600" b="1" i="1" spc="13" dirty="0">
                <a:latin typeface="Times New Roman"/>
                <a:cs typeface="Times New Roman"/>
              </a:rPr>
              <a:t>i</a:t>
            </a:r>
            <a:r>
              <a:rPr sz="1600" b="1" i="1" spc="-227" dirty="0">
                <a:latin typeface="Times New Roman"/>
                <a:cs typeface="Times New Roman"/>
              </a:rPr>
              <a:t> </a:t>
            </a:r>
            <a:r>
              <a:rPr sz="1600" b="1" spc="40" dirty="0">
                <a:latin typeface="Symbol"/>
                <a:cs typeface="Symbol"/>
              </a:rPr>
              <a:t></a:t>
            </a:r>
            <a:r>
              <a:rPr sz="1600" b="1" spc="40" dirty="0">
                <a:latin typeface="Times New Roman"/>
                <a:cs typeface="Times New Roman"/>
              </a:rPr>
              <a:t>1</a:t>
            </a:r>
            <a:endParaRPr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69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1129" y="149933"/>
            <a:ext cx="9326361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哈夫曼树算法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20" y="950299"/>
            <a:ext cx="11019045" cy="54388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01597">
              <a:spcBef>
                <a:spcPts val="133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sz="2933" b="1" dirty="0">
                <a:latin typeface="宋体"/>
                <a:cs typeface="宋体"/>
              </a:rPr>
              <a:t> </a:t>
            </a:r>
            <a:r>
              <a:rPr sz="2933" b="1" spc="-7" dirty="0">
                <a:latin typeface="Times New Roman"/>
                <a:cs typeface="Times New Roman"/>
              </a:rPr>
              <a:t>Huffman(</a:t>
            </a:r>
            <a:r>
              <a:rPr sz="2933" b="1" i="1" spc="-7" dirty="0">
                <a:latin typeface="Times New Roman"/>
                <a:cs typeface="Times New Roman"/>
              </a:rPr>
              <a:t>C</a:t>
            </a:r>
            <a:r>
              <a:rPr sz="2933" b="1" i="1" spc="13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)</a:t>
            </a:r>
            <a:endParaRPr sz="2933" dirty="0">
              <a:latin typeface="Times New Roman"/>
              <a:cs typeface="Times New Roman"/>
            </a:endParaRPr>
          </a:p>
          <a:p>
            <a:pPr marL="101597"/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</a:t>
            </a:r>
            <a:r>
              <a:rPr sz="2933" b="1" spc="-7" dirty="0">
                <a:latin typeface="宋体"/>
                <a:cs typeface="宋体"/>
              </a:rPr>
              <a:t>：</a:t>
            </a:r>
            <a:r>
              <a:rPr sz="2933" b="1" i="1" spc="-7" dirty="0">
                <a:latin typeface="Times New Roman"/>
                <a:cs typeface="Times New Roman"/>
              </a:rPr>
              <a:t>C</a:t>
            </a:r>
            <a:r>
              <a:rPr sz="2933" b="1" i="1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={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baseline="-21072" dirty="0">
                <a:latin typeface="Times New Roman"/>
                <a:cs typeface="Times New Roman"/>
              </a:rPr>
              <a:t>1</a:t>
            </a:r>
            <a:r>
              <a:rPr sz="2933" b="1" dirty="0">
                <a:latin typeface="Times New Roman"/>
                <a:cs typeface="Times New Roman"/>
              </a:rPr>
              <a:t>,</a:t>
            </a:r>
            <a:r>
              <a:rPr sz="2933" b="1" spc="-27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baseline="-21072" dirty="0">
                <a:latin typeface="Times New Roman"/>
                <a:cs typeface="Times New Roman"/>
              </a:rPr>
              <a:t>2</a:t>
            </a:r>
            <a:r>
              <a:rPr sz="2933" b="1" dirty="0">
                <a:latin typeface="Times New Roman"/>
                <a:cs typeface="Times New Roman"/>
              </a:rPr>
              <a:t>,…,</a:t>
            </a:r>
            <a:r>
              <a:rPr sz="2933" b="1" spc="-7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i="1" baseline="-21072" dirty="0">
                <a:latin typeface="Times New Roman"/>
                <a:cs typeface="Times New Roman"/>
              </a:rPr>
              <a:t>n</a:t>
            </a:r>
            <a:r>
              <a:rPr sz="2933" b="1" dirty="0">
                <a:latin typeface="Times New Roman"/>
                <a:cs typeface="Times New Roman"/>
              </a:rPr>
              <a:t>},</a:t>
            </a:r>
            <a:r>
              <a:rPr sz="2933" b="1" spc="-27" dirty="0">
                <a:latin typeface="Times New Roman"/>
                <a:cs typeface="Times New Roman"/>
              </a:rPr>
              <a:t> </a:t>
            </a:r>
            <a:r>
              <a:rPr sz="2933" b="1" i="1" spc="-7" dirty="0">
                <a:latin typeface="Times New Roman"/>
                <a:cs typeface="Times New Roman"/>
              </a:rPr>
              <a:t>f</a:t>
            </a:r>
            <a:r>
              <a:rPr sz="2933" b="1" spc="-7" dirty="0">
                <a:latin typeface="Times New Roman"/>
                <a:cs typeface="Times New Roman"/>
              </a:rPr>
              <a:t>(</a:t>
            </a:r>
            <a:r>
              <a:rPr sz="2933" b="1" i="1" spc="-7" dirty="0">
                <a:latin typeface="Times New Roman"/>
                <a:cs typeface="Times New Roman"/>
              </a:rPr>
              <a:t>x</a:t>
            </a:r>
            <a:r>
              <a:rPr sz="2900" b="1" i="1" spc="-9" baseline="-21072" dirty="0">
                <a:latin typeface="Times New Roman"/>
                <a:cs typeface="Times New Roman"/>
              </a:rPr>
              <a:t>i</a:t>
            </a:r>
            <a:r>
              <a:rPr sz="2933" b="1" spc="-7" dirty="0">
                <a:latin typeface="Times New Roman"/>
                <a:cs typeface="Times New Roman"/>
              </a:rPr>
              <a:t>),</a:t>
            </a:r>
            <a:r>
              <a:rPr sz="2933" b="1" spc="20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i</a:t>
            </a:r>
            <a:r>
              <a:rPr sz="2933" b="1" dirty="0">
                <a:latin typeface="Times New Roman"/>
                <a:cs typeface="Times New Roman"/>
              </a:rPr>
              <a:t>=1,2,…,</a:t>
            </a:r>
            <a:r>
              <a:rPr sz="2933" b="1" i="1" dirty="0">
                <a:latin typeface="Times New Roman"/>
                <a:cs typeface="Times New Roman"/>
              </a:rPr>
              <a:t>n</a:t>
            </a:r>
            <a:r>
              <a:rPr sz="2933" b="1" dirty="0">
                <a:latin typeface="Times New Roman"/>
                <a:cs typeface="Times New Roman"/>
              </a:rPr>
              <a:t>.</a:t>
            </a:r>
            <a:endParaRPr sz="2933" dirty="0">
              <a:latin typeface="Times New Roman"/>
              <a:cs typeface="Times New Roman"/>
            </a:endParaRPr>
          </a:p>
          <a:p>
            <a:pPr marL="474121" marR="3964841" indent="-373371">
              <a:lnSpc>
                <a:spcPts val="3493"/>
              </a:lnSpc>
              <a:spcBef>
                <a:spcPts val="140"/>
              </a:spcBef>
              <a:tabLst>
                <a:tab pos="2146246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sz="2933" b="1" spc="-7" dirty="0">
                <a:latin typeface="宋体"/>
                <a:cs typeface="宋体"/>
              </a:rPr>
              <a:t>：</a:t>
            </a:r>
            <a:r>
              <a:rPr sz="2933" b="1" i="1" spc="-7" dirty="0">
                <a:latin typeface="Times New Roman"/>
                <a:cs typeface="Times New Roman"/>
              </a:rPr>
              <a:t>Q	</a:t>
            </a:r>
            <a:r>
              <a:rPr sz="2933" b="1" dirty="0">
                <a:latin typeface="Times New Roman"/>
                <a:cs typeface="Times New Roman"/>
              </a:rPr>
              <a:t>/</a:t>
            </a:r>
            <a:r>
              <a:rPr sz="2933" b="1" spc="-127" dirty="0">
                <a:latin typeface="Times New Roman"/>
                <a:cs typeface="Times New Roman"/>
              </a:rPr>
              <a:t> </a:t>
            </a:r>
            <a:r>
              <a:rPr sz="2933" b="1" spc="-7" dirty="0">
                <a:latin typeface="Times New Roman"/>
                <a:cs typeface="Times New Roman"/>
              </a:rPr>
              <a:t>/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队列</a:t>
            </a:r>
            <a:r>
              <a:rPr sz="2933" b="1" spc="-7" dirty="0">
                <a:latin typeface="宋体"/>
                <a:cs typeface="宋体"/>
              </a:rPr>
              <a:t> </a:t>
            </a:r>
            <a:endParaRPr lang="en-US" sz="2933" b="1" spc="-7" dirty="0" smtClean="0">
              <a:latin typeface="宋体"/>
              <a:cs typeface="宋体"/>
            </a:endParaRPr>
          </a:p>
          <a:p>
            <a:pPr marL="474121" marR="3964841" indent="-373371">
              <a:lnSpc>
                <a:spcPts val="3493"/>
              </a:lnSpc>
              <a:spcBef>
                <a:spcPts val="140"/>
              </a:spcBef>
              <a:tabLst>
                <a:tab pos="2146246" algn="l"/>
              </a:tabLst>
            </a:pPr>
            <a:r>
              <a:rPr lang="en-US" sz="2933" b="1" spc="-7" dirty="0">
                <a:latin typeface="宋体"/>
                <a:cs typeface="Times New Roman"/>
              </a:rPr>
              <a:t> </a:t>
            </a:r>
            <a:r>
              <a:rPr lang="en-US" sz="2933" b="1" spc="-7" dirty="0" smtClean="0">
                <a:latin typeface="宋体"/>
                <a:cs typeface="Times New Roman"/>
              </a:rPr>
              <a:t> </a:t>
            </a:r>
            <a:r>
              <a:rPr sz="2933" b="1" dirty="0" smtClean="0">
                <a:latin typeface="Times New Roman"/>
                <a:cs typeface="Times New Roman"/>
              </a:rPr>
              <a:t>1</a:t>
            </a:r>
            <a:r>
              <a:rPr sz="2933" b="1" dirty="0">
                <a:latin typeface="Times New Roman"/>
                <a:cs typeface="Times New Roman"/>
              </a:rPr>
              <a:t>. </a:t>
            </a:r>
            <a:r>
              <a:rPr sz="2933" b="1" i="1" dirty="0">
                <a:latin typeface="Times New Roman"/>
                <a:cs typeface="Times New Roman"/>
              </a:rPr>
              <a:t>n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dirty="0">
                <a:latin typeface="Times New Roman"/>
                <a:cs typeface="Times New Roman"/>
              </a:rPr>
              <a:t>|</a:t>
            </a:r>
            <a:r>
              <a:rPr sz="2933" b="1" i="1" dirty="0">
                <a:latin typeface="Times New Roman"/>
                <a:cs typeface="Times New Roman"/>
              </a:rPr>
              <a:t>C</a:t>
            </a:r>
            <a:r>
              <a:rPr sz="2933" b="1" i="1" spc="-40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|</a:t>
            </a:r>
            <a:endParaRPr sz="2933" dirty="0">
              <a:latin typeface="Times New Roman"/>
              <a:cs typeface="Times New Roman"/>
            </a:endParaRPr>
          </a:p>
          <a:p>
            <a:pPr marL="845799" indent="-372524">
              <a:lnSpc>
                <a:spcPts val="3420"/>
              </a:lnSpc>
              <a:buFont typeface="Times New Roman"/>
              <a:buAutoNum type="arabicPeriod" startAt="2"/>
              <a:tabLst>
                <a:tab pos="846646" algn="l"/>
                <a:tab pos="2289328" algn="l"/>
              </a:tabLst>
            </a:pPr>
            <a:r>
              <a:rPr sz="2933" b="1" i="1" dirty="0">
                <a:latin typeface="Times New Roman"/>
                <a:cs typeface="Times New Roman"/>
              </a:rPr>
              <a:t>Q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i="1" dirty="0">
                <a:latin typeface="Times New Roman"/>
                <a:cs typeface="Times New Roman"/>
              </a:rPr>
              <a:t>C	</a:t>
            </a:r>
            <a:r>
              <a:rPr lang="en-US" sz="2933" b="1" i="1" dirty="0" smtClean="0">
                <a:latin typeface="Times New Roman"/>
                <a:cs typeface="Times New Roman"/>
              </a:rPr>
              <a:t>                        </a:t>
            </a:r>
            <a:r>
              <a:rPr sz="2933" b="1" spc="-7" dirty="0" smtClean="0">
                <a:latin typeface="Times New Roman"/>
                <a:cs typeface="Times New Roman"/>
              </a:rPr>
              <a:t>//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频率递增队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</a:t>
            </a:r>
            <a:r>
              <a:rPr sz="2933" b="1" i="1" dirty="0">
                <a:latin typeface="Times New Roman"/>
                <a:cs typeface="Times New Roman"/>
              </a:rPr>
              <a:t>Q</a:t>
            </a:r>
            <a:endParaRPr sz="2933" dirty="0">
              <a:latin typeface="Times New Roman"/>
              <a:cs typeface="Times New Roman"/>
            </a:endParaRPr>
          </a:p>
          <a:p>
            <a:pPr marL="845799" indent="-372524">
              <a:lnSpc>
                <a:spcPts val="3507"/>
              </a:lnSpc>
              <a:buAutoNum type="arabicPeriod" startAt="2"/>
              <a:tabLst>
                <a:tab pos="846646" algn="l"/>
                <a:tab pos="1501949" algn="l"/>
                <a:tab pos="2346055" algn="l"/>
                <a:tab pos="2843882" algn="l"/>
              </a:tabLst>
            </a:pPr>
            <a:r>
              <a:rPr sz="2933" b="1" spc="-7" dirty="0">
                <a:latin typeface="Times New Roman"/>
                <a:cs typeface="Times New Roman"/>
              </a:rPr>
              <a:t>for	</a:t>
            </a:r>
            <a:r>
              <a:rPr sz="2933" b="1" i="1" dirty="0">
                <a:latin typeface="Times New Roman"/>
                <a:cs typeface="Times New Roman"/>
              </a:rPr>
              <a:t>i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dirty="0">
                <a:latin typeface="Times New Roman"/>
                <a:cs typeface="Times New Roman"/>
              </a:rPr>
              <a:t>1	</a:t>
            </a:r>
            <a:r>
              <a:rPr sz="2933" b="1" spc="-7" dirty="0">
                <a:latin typeface="Times New Roman"/>
                <a:cs typeface="Times New Roman"/>
              </a:rPr>
              <a:t>to	</a:t>
            </a:r>
            <a:r>
              <a:rPr sz="2933" b="1" i="1" spc="-7" dirty="0">
                <a:latin typeface="Times New Roman"/>
                <a:cs typeface="Times New Roman"/>
              </a:rPr>
              <a:t>n</a:t>
            </a:r>
            <a:r>
              <a:rPr sz="2933" b="1" spc="-7" dirty="0">
                <a:latin typeface="Symbol"/>
                <a:cs typeface="Symbol"/>
              </a:rPr>
              <a:t></a:t>
            </a:r>
            <a:r>
              <a:rPr sz="2933" b="1" spc="-7" dirty="0">
                <a:latin typeface="Times New Roman"/>
                <a:cs typeface="Times New Roman"/>
              </a:rPr>
              <a:t>1</a:t>
            </a:r>
            <a:r>
              <a:rPr sz="2933" b="1" spc="-13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do</a:t>
            </a:r>
            <a:endParaRPr sz="2933" dirty="0">
              <a:latin typeface="Times New Roman"/>
              <a:cs typeface="Times New Roman"/>
            </a:endParaRPr>
          </a:p>
          <a:p>
            <a:pPr marL="1218323" indent="-745048">
              <a:spcBef>
                <a:spcPts val="33"/>
              </a:spcBef>
              <a:buFont typeface="Times New Roman"/>
              <a:buAutoNum type="arabicPeriod" startAt="2"/>
              <a:tabLst>
                <a:tab pos="1218323" algn="l"/>
                <a:tab pos="1219170" algn="l"/>
                <a:tab pos="4423723" algn="l"/>
              </a:tabLst>
            </a:pPr>
            <a:r>
              <a:rPr sz="2933" b="1" i="1" spc="-7" dirty="0">
                <a:latin typeface="Times New Roman"/>
                <a:cs typeface="Times New Roman"/>
              </a:rPr>
              <a:t>z</a:t>
            </a:r>
            <a:r>
              <a:rPr sz="2933" b="1" spc="-7" dirty="0">
                <a:latin typeface="Symbol"/>
                <a:cs typeface="Symbol"/>
              </a:rPr>
              <a:t></a:t>
            </a:r>
            <a:r>
              <a:rPr sz="2933" b="1" spc="-7" dirty="0">
                <a:latin typeface="Times New Roman"/>
                <a:cs typeface="Times New Roman"/>
              </a:rPr>
              <a:t>Allocate-Node()	</a:t>
            </a:r>
            <a:r>
              <a:rPr lang="en-US" sz="2933" b="1" spc="-7" dirty="0" smtClean="0">
                <a:latin typeface="Times New Roman"/>
                <a:cs typeface="Times New Roman"/>
              </a:rPr>
              <a:t> </a:t>
            </a:r>
            <a:r>
              <a:rPr sz="2933" b="1" dirty="0" smtClean="0">
                <a:latin typeface="Times New Roman"/>
                <a:cs typeface="Times New Roman"/>
              </a:rPr>
              <a:t>//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生成结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sz="2800" b="1" spc="-7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19170" indent="-745895">
              <a:buFont typeface="Times New Roman"/>
              <a:buAutoNum type="arabicPeriod" startAt="2"/>
              <a:tabLst>
                <a:tab pos="1219170" algn="l"/>
                <a:tab pos="1220016" algn="l"/>
                <a:tab pos="4461822" algn="l"/>
              </a:tabLst>
            </a:pPr>
            <a:r>
              <a:rPr sz="2933" b="1" i="1" spc="-7" dirty="0">
                <a:latin typeface="Times New Roman"/>
                <a:cs typeface="Times New Roman"/>
              </a:rPr>
              <a:t>z</a:t>
            </a:r>
            <a:r>
              <a:rPr sz="2933" b="1" spc="-7" dirty="0">
                <a:latin typeface="Times New Roman"/>
                <a:cs typeface="Times New Roman"/>
              </a:rPr>
              <a:t>.</a:t>
            </a:r>
            <a:r>
              <a:rPr sz="2933" b="1" i="1" spc="-7" dirty="0">
                <a:latin typeface="Times New Roman"/>
                <a:cs typeface="Times New Roman"/>
              </a:rPr>
              <a:t>left</a:t>
            </a:r>
            <a:r>
              <a:rPr sz="2933" b="1" spc="-7" dirty="0">
                <a:latin typeface="Symbol"/>
                <a:cs typeface="Symbol"/>
              </a:rPr>
              <a:t></a:t>
            </a:r>
            <a:r>
              <a:rPr sz="2933" b="1" i="1" spc="-7" dirty="0">
                <a:latin typeface="Times New Roman"/>
                <a:cs typeface="Times New Roman"/>
              </a:rPr>
              <a:t>Q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中最小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sz="2933" b="1" spc="-13" dirty="0">
                <a:latin typeface="宋体"/>
                <a:cs typeface="宋体"/>
              </a:rPr>
              <a:t>	</a:t>
            </a:r>
            <a:r>
              <a:rPr sz="2933" b="1" dirty="0">
                <a:latin typeface="Times New Roman"/>
                <a:cs typeface="Times New Roman"/>
              </a:rPr>
              <a:t>//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左儿子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74121" marR="40639">
              <a:lnSpc>
                <a:spcPts val="3493"/>
              </a:lnSpc>
              <a:spcBef>
                <a:spcPts val="133"/>
              </a:spcBef>
              <a:buFont typeface="Times New Roman"/>
              <a:buAutoNum type="arabicPeriod" startAt="2"/>
              <a:tabLst>
                <a:tab pos="1219170" algn="l"/>
                <a:tab pos="1220016" algn="l"/>
              </a:tabLst>
            </a:pPr>
            <a:r>
              <a:rPr lang="en-US" sz="2933" b="1" i="1" spc="-7" dirty="0" smtClean="0">
                <a:latin typeface="Times New Roman"/>
                <a:cs typeface="Times New Roman"/>
              </a:rPr>
              <a:t>     </a:t>
            </a:r>
            <a:r>
              <a:rPr sz="2933" b="1" i="1" spc="-7" dirty="0" err="1" smtClean="0">
                <a:latin typeface="Times New Roman"/>
                <a:cs typeface="Times New Roman"/>
              </a:rPr>
              <a:t>z</a:t>
            </a:r>
            <a:r>
              <a:rPr sz="2933" b="1" spc="-7" dirty="0" err="1" smtClean="0">
                <a:latin typeface="Times New Roman"/>
                <a:cs typeface="Times New Roman"/>
              </a:rPr>
              <a:t>.</a:t>
            </a:r>
            <a:r>
              <a:rPr sz="2933" b="1" i="1" spc="-7" dirty="0" err="1" smtClean="0">
                <a:latin typeface="Times New Roman"/>
                <a:cs typeface="Times New Roman"/>
              </a:rPr>
              <a:t>right</a:t>
            </a:r>
            <a:r>
              <a:rPr sz="2933" b="1" spc="-7" dirty="0" err="1">
                <a:latin typeface="Symbol"/>
                <a:cs typeface="Symbol"/>
              </a:rPr>
              <a:t></a:t>
            </a:r>
            <a:r>
              <a:rPr sz="2933" b="1" i="1" spc="-7" dirty="0" err="1">
                <a:latin typeface="Times New Roman"/>
                <a:cs typeface="Times New Roman"/>
              </a:rPr>
              <a:t>Q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中最小</a:t>
            </a:r>
            <a:r>
              <a:rPr sz="2800" b="1" spc="-1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sz="2933" b="1" spc="-47" dirty="0">
                <a:latin typeface="宋体"/>
                <a:cs typeface="宋体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//</a:t>
            </a: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最小</a:t>
            </a:r>
            <a:r>
              <a:rPr sz="28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作</a:t>
            </a:r>
            <a:r>
              <a:rPr sz="28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z</a:t>
            </a: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右儿子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endParaRPr lang="en-US" sz="2933" b="1" spc="-7" dirty="0" smtClean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74121" marR="40639">
              <a:lnSpc>
                <a:spcPts val="3493"/>
              </a:lnSpc>
              <a:spcBef>
                <a:spcPts val="133"/>
              </a:spcBef>
              <a:buFont typeface="Times New Roman"/>
              <a:buAutoNum type="arabicPeriod" startAt="2"/>
              <a:tabLst>
                <a:tab pos="1219170" algn="l"/>
                <a:tab pos="1220016" algn="l"/>
              </a:tabLst>
            </a:pPr>
            <a:r>
              <a:rPr sz="2933" b="1" dirty="0">
                <a:latin typeface="Times New Roman"/>
                <a:cs typeface="Times New Roman"/>
              </a:rPr>
              <a:t>	</a:t>
            </a:r>
            <a:r>
              <a:rPr sz="2933" b="1" i="1" spc="-7" dirty="0">
                <a:latin typeface="Times New Roman"/>
                <a:cs typeface="Times New Roman"/>
              </a:rPr>
              <a:t>f</a:t>
            </a:r>
            <a:r>
              <a:rPr sz="2933" b="1" spc="-7" dirty="0">
                <a:latin typeface="Times New Roman"/>
                <a:cs typeface="Times New Roman"/>
              </a:rPr>
              <a:t>(</a:t>
            </a:r>
            <a:r>
              <a:rPr sz="2933" b="1" i="1" spc="-7" dirty="0">
                <a:latin typeface="Times New Roman"/>
                <a:cs typeface="Times New Roman"/>
              </a:rPr>
              <a:t>z</a:t>
            </a:r>
            <a:r>
              <a:rPr sz="2933" b="1" spc="-7" dirty="0">
                <a:latin typeface="Times New Roman"/>
                <a:cs typeface="Times New Roman"/>
              </a:rPr>
              <a:t>)</a:t>
            </a:r>
            <a:r>
              <a:rPr sz="2933" b="1" spc="-7" dirty="0">
                <a:latin typeface="Symbol"/>
                <a:cs typeface="Symbol"/>
              </a:rPr>
              <a:t></a:t>
            </a:r>
            <a:r>
              <a:rPr sz="2933" b="1" i="1" spc="-7" dirty="0">
                <a:latin typeface="Times New Roman"/>
                <a:cs typeface="Times New Roman"/>
              </a:rPr>
              <a:t>f</a:t>
            </a:r>
            <a:r>
              <a:rPr sz="2933" b="1" spc="-7" dirty="0">
                <a:latin typeface="Times New Roman"/>
                <a:cs typeface="Times New Roman"/>
              </a:rPr>
              <a:t>(</a:t>
            </a:r>
            <a:r>
              <a:rPr sz="2933" b="1" i="1" spc="-7" dirty="0">
                <a:latin typeface="Times New Roman"/>
                <a:cs typeface="Times New Roman"/>
              </a:rPr>
              <a:t>x</a:t>
            </a:r>
            <a:r>
              <a:rPr sz="2933" b="1" spc="-7" dirty="0">
                <a:latin typeface="Times New Roman"/>
                <a:cs typeface="Times New Roman"/>
              </a:rPr>
              <a:t>)+</a:t>
            </a:r>
            <a:r>
              <a:rPr sz="2933" b="1" i="1" spc="-7" dirty="0">
                <a:latin typeface="Times New Roman"/>
                <a:cs typeface="Times New Roman"/>
              </a:rPr>
              <a:t>f</a:t>
            </a:r>
            <a:r>
              <a:rPr sz="2933" b="1" spc="-7" dirty="0">
                <a:latin typeface="Times New Roman"/>
                <a:cs typeface="Times New Roman"/>
              </a:rPr>
              <a:t>(</a:t>
            </a:r>
            <a:r>
              <a:rPr sz="2933" b="1" i="1" spc="-7" dirty="0">
                <a:latin typeface="Times New Roman"/>
                <a:cs typeface="Times New Roman"/>
              </a:rPr>
              <a:t>y</a:t>
            </a:r>
            <a:r>
              <a:rPr sz="2933" b="1" spc="-7" dirty="0">
                <a:latin typeface="Times New Roman"/>
                <a:cs typeface="Times New Roman"/>
              </a:rPr>
              <a:t>)</a:t>
            </a:r>
            <a:endParaRPr sz="2933" dirty="0">
              <a:latin typeface="Times New Roman"/>
              <a:cs typeface="Times New Roman"/>
            </a:endParaRPr>
          </a:p>
          <a:p>
            <a:pPr marL="1219170" indent="-745895">
              <a:lnSpc>
                <a:spcPts val="3413"/>
              </a:lnSpc>
              <a:buAutoNum type="arabicPeriod" startAt="8"/>
              <a:tabLst>
                <a:tab pos="1219170" algn="l"/>
                <a:tab pos="1220016" algn="l"/>
                <a:tab pos="4416103" algn="l"/>
              </a:tabLst>
            </a:pPr>
            <a:r>
              <a:rPr sz="2933" b="1" spc="-7" dirty="0">
                <a:latin typeface="Times New Roman"/>
                <a:cs typeface="Times New Roman"/>
              </a:rPr>
              <a:t>Insert(</a:t>
            </a:r>
            <a:r>
              <a:rPr sz="2933" b="1" i="1" spc="-7" dirty="0">
                <a:latin typeface="Times New Roman"/>
                <a:cs typeface="Times New Roman"/>
              </a:rPr>
              <a:t>Q</a:t>
            </a:r>
            <a:r>
              <a:rPr sz="2933" b="1" spc="-7" dirty="0">
                <a:latin typeface="Times New Roman"/>
                <a:cs typeface="Times New Roman"/>
              </a:rPr>
              <a:t>,</a:t>
            </a:r>
            <a:r>
              <a:rPr sz="2933" b="1" i="1" spc="-7" dirty="0">
                <a:latin typeface="Times New Roman"/>
                <a:cs typeface="Times New Roman"/>
              </a:rPr>
              <a:t>z</a:t>
            </a:r>
            <a:r>
              <a:rPr sz="2933" b="1" spc="-7" dirty="0">
                <a:latin typeface="Times New Roman"/>
                <a:cs typeface="Times New Roman"/>
              </a:rPr>
              <a:t>)	</a:t>
            </a:r>
            <a:r>
              <a:rPr lang="en-US" sz="2933" b="1" spc="-7" dirty="0" smtClean="0">
                <a:latin typeface="Times New Roman"/>
                <a:cs typeface="Times New Roman"/>
              </a:rPr>
              <a:t> </a:t>
            </a:r>
            <a:r>
              <a:rPr sz="2933" b="1" dirty="0" smtClean="0">
                <a:latin typeface="Times New Roman"/>
                <a:cs typeface="Times New Roman"/>
              </a:rPr>
              <a:t>//</a:t>
            </a:r>
            <a:r>
              <a:rPr sz="2933" b="1" spc="-27" dirty="0" smtClean="0">
                <a:latin typeface="Times New Roman"/>
                <a:cs typeface="Times New Roman"/>
              </a:rPr>
              <a:t> 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sz="2800" b="1" spc="-75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sz="2800" b="1" i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插入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45799" indent="-372524">
              <a:lnSpc>
                <a:spcPts val="3500"/>
              </a:lnSpc>
              <a:buAutoNum type="arabicPeriod" startAt="8"/>
              <a:tabLst>
                <a:tab pos="846646" algn="l"/>
              </a:tabLst>
            </a:pPr>
            <a:r>
              <a:rPr sz="2933" b="1" spc="-13" dirty="0">
                <a:latin typeface="Times New Roman"/>
                <a:cs typeface="Times New Roman"/>
              </a:rPr>
              <a:t>return</a:t>
            </a:r>
            <a:r>
              <a:rPr sz="2933" b="1" spc="-7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Q</a:t>
            </a:r>
            <a:endParaRPr sz="2933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406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7" y="1002114"/>
            <a:ext cx="107802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</a:t>
            </a:r>
            <a:r>
              <a:rPr sz="32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sz="3200" b="1" spc="-33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dirty="0">
                <a:latin typeface="Times New Roman"/>
                <a:cs typeface="Times New Roman"/>
              </a:rPr>
              <a:t>:45;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dirty="0">
                <a:latin typeface="Times New Roman"/>
                <a:cs typeface="Times New Roman"/>
              </a:rPr>
              <a:t>:13;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c</a:t>
            </a:r>
            <a:r>
              <a:rPr sz="3200" b="1" dirty="0">
                <a:latin typeface="Times New Roman"/>
                <a:cs typeface="Times New Roman"/>
              </a:rPr>
              <a:t>:12;</a:t>
            </a:r>
            <a:r>
              <a:rPr sz="3200" b="1" spc="-33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d</a:t>
            </a:r>
            <a:r>
              <a:rPr sz="3200" b="1" dirty="0">
                <a:latin typeface="Times New Roman"/>
                <a:cs typeface="Times New Roman"/>
              </a:rPr>
              <a:t>:16;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e</a:t>
            </a:r>
            <a:r>
              <a:rPr sz="3200" b="1" dirty="0">
                <a:latin typeface="Times New Roman"/>
                <a:cs typeface="Times New Roman"/>
              </a:rPr>
              <a:t>:9;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f</a:t>
            </a:r>
            <a:r>
              <a:rPr sz="3200" b="1" dirty="0">
                <a:latin typeface="Times New Roman"/>
                <a:cs typeface="Times New Roman"/>
              </a:rPr>
              <a:t>:5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14006" y="5524039"/>
            <a:ext cx="7545493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933" b="1" spc="-7" dirty="0">
                <a:latin typeface="Times New Roman"/>
                <a:cs typeface="Times New Roman"/>
              </a:rPr>
              <a:t>4</a:t>
            </a:r>
            <a:r>
              <a:rPr sz="2933" b="1" spc="-7" dirty="0">
                <a:latin typeface="Symbol"/>
                <a:cs typeface="Symbol"/>
              </a:rPr>
              <a:t></a:t>
            </a:r>
            <a:r>
              <a:rPr sz="2933" b="1" spc="-7" dirty="0">
                <a:latin typeface="Times New Roman"/>
                <a:cs typeface="Times New Roman"/>
              </a:rPr>
              <a:t>(0.05+0.09)+3</a:t>
            </a:r>
            <a:r>
              <a:rPr sz="2933" b="1" spc="-7" dirty="0">
                <a:latin typeface="Symbol"/>
                <a:cs typeface="Symbol"/>
              </a:rPr>
              <a:t></a:t>
            </a:r>
            <a:r>
              <a:rPr sz="2933" b="1" spc="-7" dirty="0">
                <a:latin typeface="Times New Roman"/>
                <a:cs typeface="Times New Roman"/>
              </a:rPr>
              <a:t>(0.16+0.12+0.13)+1</a:t>
            </a:r>
            <a:r>
              <a:rPr sz="2933" b="1" spc="-7" dirty="0">
                <a:latin typeface="Symbol"/>
                <a:cs typeface="Symbol"/>
              </a:rPr>
              <a:t></a:t>
            </a:r>
            <a:r>
              <a:rPr sz="2933" b="1" spc="-7" dirty="0">
                <a:latin typeface="Times New Roman"/>
                <a:cs typeface="Times New Roman"/>
              </a:rPr>
              <a:t>0.45=2.24</a:t>
            </a:r>
            <a:endParaRPr sz="2933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5548" y="1593854"/>
            <a:ext cx="2330705" cy="39463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ts val="3813"/>
              </a:lnSpc>
            </a:pPr>
            <a:r>
              <a:rPr sz="32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>
              <a:lnSpc>
                <a:spcPts val="3813"/>
              </a:lnSpc>
            </a:pP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spc="-7" dirty="0">
                <a:latin typeface="Times New Roman"/>
                <a:cs typeface="Times New Roman"/>
              </a:rPr>
              <a:t>--0000,</a:t>
            </a:r>
            <a:endParaRPr sz="3200" dirty="0">
              <a:latin typeface="Times New Roman"/>
              <a:cs typeface="Times New Roman"/>
            </a:endParaRPr>
          </a:p>
          <a:p>
            <a:r>
              <a:rPr sz="3200" b="1" i="1" spc="-7" dirty="0">
                <a:latin typeface="Times New Roman"/>
                <a:cs typeface="Times New Roman"/>
              </a:rPr>
              <a:t>e</a:t>
            </a:r>
            <a:r>
              <a:rPr sz="3200" b="1" spc="-7" dirty="0">
                <a:latin typeface="Times New Roman"/>
                <a:cs typeface="Times New Roman"/>
              </a:rPr>
              <a:t>--0001,</a:t>
            </a:r>
            <a:endParaRPr sz="3200" dirty="0">
              <a:latin typeface="Times New Roman"/>
              <a:cs typeface="Times New Roman"/>
            </a:endParaRPr>
          </a:p>
          <a:p>
            <a:r>
              <a:rPr sz="3200" b="1" i="1" spc="-7" dirty="0">
                <a:latin typeface="Times New Roman"/>
                <a:cs typeface="Times New Roman"/>
              </a:rPr>
              <a:t>d</a:t>
            </a:r>
            <a:r>
              <a:rPr sz="3200" b="1" spc="-7" dirty="0">
                <a:latin typeface="Times New Roman"/>
                <a:cs typeface="Times New Roman"/>
              </a:rPr>
              <a:t>--001,</a:t>
            </a:r>
            <a:endParaRPr sz="3200" dirty="0">
              <a:latin typeface="Times New Roman"/>
              <a:cs typeface="Times New Roman"/>
            </a:endParaRPr>
          </a:p>
          <a:p>
            <a:pPr marR="502907"/>
            <a:r>
              <a:rPr sz="3200" b="1" i="1" spc="-7" dirty="0">
                <a:latin typeface="Times New Roman"/>
                <a:cs typeface="Times New Roman"/>
              </a:rPr>
              <a:t>c</a:t>
            </a:r>
            <a:r>
              <a:rPr sz="3200" b="1" spc="-7" dirty="0">
                <a:latin typeface="Times New Roman"/>
                <a:cs typeface="Times New Roman"/>
              </a:rPr>
              <a:t>--010,  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dirty="0">
                <a:latin typeface="Times New Roman"/>
                <a:cs typeface="Times New Roman"/>
              </a:rPr>
              <a:t>—0</a:t>
            </a:r>
            <a:r>
              <a:rPr sz="3200" b="1" spc="-180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Times New Roman"/>
                <a:cs typeface="Times New Roman"/>
              </a:rPr>
              <a:t>1,</a:t>
            </a:r>
            <a:endParaRPr sz="3200" dirty="0">
              <a:latin typeface="Times New Roman"/>
              <a:cs typeface="Times New Roman"/>
            </a:endParaRPr>
          </a:p>
          <a:p>
            <a:r>
              <a:rPr sz="3200" b="1" i="1" spc="-7" dirty="0" smtClean="0">
                <a:latin typeface="Times New Roman"/>
                <a:cs typeface="Times New Roman"/>
              </a:rPr>
              <a:t>a</a:t>
            </a:r>
            <a:r>
              <a:rPr lang="en-US" altLang="zh-CN" sz="3200" b="1" spc="-7" dirty="0" smtClean="0">
                <a:latin typeface="Times New Roman"/>
                <a:cs typeface="Times New Roman"/>
              </a:rPr>
              <a:t>—</a:t>
            </a:r>
            <a:r>
              <a:rPr sz="3200" b="1" spc="-7" dirty="0" smtClean="0">
                <a:latin typeface="Times New Roman"/>
                <a:cs typeface="Times New Roman"/>
              </a:rPr>
              <a:t>1</a:t>
            </a:r>
            <a:endParaRPr lang="en-US" sz="3200" b="1" spc="-7" dirty="0" smtClean="0">
              <a:latin typeface="Times New Roman"/>
              <a:cs typeface="Times New Roman"/>
            </a:endParaRPr>
          </a:p>
          <a:p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2484" y="4600770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5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26139" y="4600770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9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58710" y="124533"/>
            <a:ext cx="5679883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08855" y="4574271"/>
            <a:ext cx="480060" cy="487313"/>
          </a:xfrm>
          <a:prstGeom prst="rect">
            <a:avLst/>
          </a:prstGeom>
          <a:solidFill>
            <a:srgbClr val="99CC00">
              <a:alpha val="58824"/>
            </a:srgbClr>
          </a:solidFill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9169">
              <a:lnSpc>
                <a:spcPts val="3787"/>
              </a:lnSpc>
            </a:pPr>
            <a:r>
              <a:rPr sz="3733" b="1" i="1" dirty="0">
                <a:latin typeface="Times New Roman"/>
                <a:cs typeface="Times New Roman"/>
              </a:rPr>
              <a:t>f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8055" y="4574271"/>
            <a:ext cx="480060" cy="487313"/>
          </a:xfrm>
          <a:prstGeom prst="rect">
            <a:avLst/>
          </a:prstGeom>
          <a:solidFill>
            <a:srgbClr val="99CC00">
              <a:alpha val="58039"/>
            </a:srgbClr>
          </a:solidFill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3770">
              <a:lnSpc>
                <a:spcPts val="3787"/>
              </a:lnSpc>
            </a:pPr>
            <a:r>
              <a:rPr sz="3733" b="1" i="1" dirty="0">
                <a:latin typeface="Times New Roman"/>
                <a:cs typeface="Times New Roman"/>
              </a:rPr>
              <a:t>e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91608" y="3742167"/>
            <a:ext cx="624840" cy="527473"/>
          </a:xfrm>
          <a:custGeom>
            <a:avLst/>
            <a:gdLst/>
            <a:ahLst/>
            <a:cxnLst/>
            <a:rect l="l" t="t" r="r" b="b"/>
            <a:pathLst>
              <a:path w="468629" h="395604">
                <a:moveTo>
                  <a:pt x="234315" y="0"/>
                </a:moveTo>
                <a:lnTo>
                  <a:pt x="180587" y="5222"/>
                </a:lnTo>
                <a:lnTo>
                  <a:pt x="131267" y="20098"/>
                </a:lnTo>
                <a:lnTo>
                  <a:pt x="87761" y="43441"/>
                </a:lnTo>
                <a:lnTo>
                  <a:pt x="51474" y="74063"/>
                </a:lnTo>
                <a:lnTo>
                  <a:pt x="23815" y="110778"/>
                </a:lnTo>
                <a:lnTo>
                  <a:pt x="6188" y="152399"/>
                </a:lnTo>
                <a:lnTo>
                  <a:pt x="0" y="197738"/>
                </a:lnTo>
                <a:lnTo>
                  <a:pt x="6188" y="243078"/>
                </a:lnTo>
                <a:lnTo>
                  <a:pt x="23815" y="284699"/>
                </a:lnTo>
                <a:lnTo>
                  <a:pt x="51474" y="321414"/>
                </a:lnTo>
                <a:lnTo>
                  <a:pt x="87761" y="352036"/>
                </a:lnTo>
                <a:lnTo>
                  <a:pt x="131267" y="375379"/>
                </a:lnTo>
                <a:lnTo>
                  <a:pt x="180587" y="390255"/>
                </a:lnTo>
                <a:lnTo>
                  <a:pt x="234315" y="395477"/>
                </a:lnTo>
                <a:lnTo>
                  <a:pt x="288042" y="390255"/>
                </a:lnTo>
                <a:lnTo>
                  <a:pt x="337362" y="375379"/>
                </a:lnTo>
                <a:lnTo>
                  <a:pt x="380868" y="352036"/>
                </a:lnTo>
                <a:lnTo>
                  <a:pt x="417155" y="321414"/>
                </a:lnTo>
                <a:lnTo>
                  <a:pt x="444814" y="284699"/>
                </a:lnTo>
                <a:lnTo>
                  <a:pt x="462441" y="243078"/>
                </a:lnTo>
                <a:lnTo>
                  <a:pt x="468630" y="197738"/>
                </a:lnTo>
                <a:lnTo>
                  <a:pt x="462441" y="152399"/>
                </a:lnTo>
                <a:lnTo>
                  <a:pt x="444814" y="110778"/>
                </a:lnTo>
                <a:lnTo>
                  <a:pt x="417155" y="74063"/>
                </a:lnTo>
                <a:lnTo>
                  <a:pt x="380868" y="43441"/>
                </a:lnTo>
                <a:lnTo>
                  <a:pt x="337362" y="20098"/>
                </a:lnTo>
                <a:lnTo>
                  <a:pt x="288042" y="5222"/>
                </a:lnTo>
                <a:lnTo>
                  <a:pt x="23431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291608" y="3742167"/>
            <a:ext cx="624840" cy="527473"/>
          </a:xfrm>
          <a:custGeom>
            <a:avLst/>
            <a:gdLst/>
            <a:ahLst/>
            <a:cxnLst/>
            <a:rect l="l" t="t" r="r" b="b"/>
            <a:pathLst>
              <a:path w="468629" h="395604">
                <a:moveTo>
                  <a:pt x="0" y="197738"/>
                </a:moveTo>
                <a:lnTo>
                  <a:pt x="6188" y="152399"/>
                </a:lnTo>
                <a:lnTo>
                  <a:pt x="23815" y="110778"/>
                </a:lnTo>
                <a:lnTo>
                  <a:pt x="51474" y="74063"/>
                </a:lnTo>
                <a:lnTo>
                  <a:pt x="87761" y="43441"/>
                </a:lnTo>
                <a:lnTo>
                  <a:pt x="131267" y="20098"/>
                </a:lnTo>
                <a:lnTo>
                  <a:pt x="180587" y="5222"/>
                </a:lnTo>
                <a:lnTo>
                  <a:pt x="234315" y="0"/>
                </a:lnTo>
                <a:lnTo>
                  <a:pt x="288042" y="5222"/>
                </a:lnTo>
                <a:lnTo>
                  <a:pt x="337362" y="20098"/>
                </a:lnTo>
                <a:lnTo>
                  <a:pt x="380868" y="43441"/>
                </a:lnTo>
                <a:lnTo>
                  <a:pt x="417155" y="74063"/>
                </a:lnTo>
                <a:lnTo>
                  <a:pt x="444814" y="110778"/>
                </a:lnTo>
                <a:lnTo>
                  <a:pt x="462441" y="152399"/>
                </a:lnTo>
                <a:lnTo>
                  <a:pt x="468630" y="197738"/>
                </a:lnTo>
                <a:lnTo>
                  <a:pt x="462441" y="243078"/>
                </a:lnTo>
                <a:lnTo>
                  <a:pt x="444814" y="284699"/>
                </a:lnTo>
                <a:lnTo>
                  <a:pt x="417155" y="321414"/>
                </a:lnTo>
                <a:lnTo>
                  <a:pt x="380868" y="352036"/>
                </a:lnTo>
                <a:lnTo>
                  <a:pt x="337362" y="375379"/>
                </a:lnTo>
                <a:lnTo>
                  <a:pt x="288042" y="390255"/>
                </a:lnTo>
                <a:lnTo>
                  <a:pt x="234315" y="395477"/>
                </a:lnTo>
                <a:lnTo>
                  <a:pt x="180587" y="390255"/>
                </a:lnTo>
                <a:lnTo>
                  <a:pt x="131267" y="375379"/>
                </a:lnTo>
                <a:lnTo>
                  <a:pt x="87761" y="352036"/>
                </a:lnTo>
                <a:lnTo>
                  <a:pt x="51474" y="321414"/>
                </a:lnTo>
                <a:lnTo>
                  <a:pt x="23815" y="284699"/>
                </a:lnTo>
                <a:lnTo>
                  <a:pt x="6188" y="243078"/>
                </a:lnTo>
                <a:lnTo>
                  <a:pt x="0" y="197738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5417721" y="3774636"/>
            <a:ext cx="37338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14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16855" y="4228831"/>
            <a:ext cx="272627" cy="345439"/>
          </a:xfrm>
          <a:custGeom>
            <a:avLst/>
            <a:gdLst/>
            <a:ahLst/>
            <a:cxnLst/>
            <a:rect l="l" t="t" r="r" b="b"/>
            <a:pathLst>
              <a:path w="204469" h="259079">
                <a:moveTo>
                  <a:pt x="204215" y="0"/>
                </a:moveTo>
                <a:lnTo>
                  <a:pt x="0" y="259079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772175" y="4269471"/>
            <a:ext cx="157480" cy="248073"/>
          </a:xfrm>
          <a:custGeom>
            <a:avLst/>
            <a:gdLst/>
            <a:ahLst/>
            <a:cxnLst/>
            <a:rect l="l" t="t" r="r" b="b"/>
            <a:pathLst>
              <a:path w="118110" h="186054">
                <a:moveTo>
                  <a:pt x="0" y="0"/>
                </a:moveTo>
                <a:lnTo>
                  <a:pt x="118110" y="1859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6465087" y="3788901"/>
            <a:ext cx="480907" cy="487313"/>
          </a:xfrm>
          <a:prstGeom prst="rect">
            <a:avLst/>
          </a:prstGeom>
          <a:solidFill>
            <a:srgbClr val="99CC00">
              <a:alpha val="54901"/>
            </a:srgbClr>
          </a:solidFill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1070">
              <a:lnSpc>
                <a:spcPts val="3787"/>
              </a:lnSpc>
            </a:pPr>
            <a:r>
              <a:rPr sz="3733" b="1" i="1" dirty="0">
                <a:latin typeface="Times New Roman"/>
                <a:cs typeface="Times New Roman"/>
              </a:rPr>
              <a:t>d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8855" y="3784839"/>
            <a:ext cx="480060" cy="487313"/>
          </a:xfrm>
          <a:prstGeom prst="rect">
            <a:avLst/>
          </a:prstGeom>
          <a:solidFill>
            <a:srgbClr val="99CC00">
              <a:alpha val="54116"/>
            </a:srgbClr>
          </a:solidFill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3770">
              <a:lnSpc>
                <a:spcPts val="3787"/>
              </a:lnSpc>
            </a:pPr>
            <a:r>
              <a:rPr sz="3733" b="1" i="1" dirty="0">
                <a:latin typeface="Times New Roman"/>
                <a:cs typeface="Times New Roman"/>
              </a:rPr>
              <a:t>c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61655" y="3784839"/>
            <a:ext cx="480060" cy="487313"/>
          </a:xfrm>
          <a:prstGeom prst="rect">
            <a:avLst/>
          </a:prstGeom>
          <a:solidFill>
            <a:srgbClr val="99CC00">
              <a:alpha val="58039"/>
            </a:srgbClr>
          </a:solidFill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1070">
              <a:lnSpc>
                <a:spcPts val="3787"/>
              </a:lnSpc>
            </a:pPr>
            <a:r>
              <a:rPr sz="3733" b="1" i="1" dirty="0">
                <a:latin typeface="Times New Roman"/>
                <a:cs typeface="Times New Roman"/>
              </a:rPr>
              <a:t>b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52056" y="2929367"/>
            <a:ext cx="623993" cy="527473"/>
          </a:xfrm>
          <a:custGeom>
            <a:avLst/>
            <a:gdLst/>
            <a:ahLst/>
            <a:cxnLst/>
            <a:rect l="l" t="t" r="r" b="b"/>
            <a:pathLst>
              <a:path w="467995" h="395605">
                <a:moveTo>
                  <a:pt x="233934" y="0"/>
                </a:moveTo>
                <a:lnTo>
                  <a:pt x="180295" y="5222"/>
                </a:lnTo>
                <a:lnTo>
                  <a:pt x="131056" y="20098"/>
                </a:lnTo>
                <a:lnTo>
                  <a:pt x="87620" y="43441"/>
                </a:lnTo>
                <a:lnTo>
                  <a:pt x="51393" y="74063"/>
                </a:lnTo>
                <a:lnTo>
                  <a:pt x="23777" y="110778"/>
                </a:lnTo>
                <a:lnTo>
                  <a:pt x="6178" y="152399"/>
                </a:lnTo>
                <a:lnTo>
                  <a:pt x="0" y="197738"/>
                </a:lnTo>
                <a:lnTo>
                  <a:pt x="6178" y="243078"/>
                </a:lnTo>
                <a:lnTo>
                  <a:pt x="23777" y="284699"/>
                </a:lnTo>
                <a:lnTo>
                  <a:pt x="51393" y="321414"/>
                </a:lnTo>
                <a:lnTo>
                  <a:pt x="87620" y="352036"/>
                </a:lnTo>
                <a:lnTo>
                  <a:pt x="131056" y="375379"/>
                </a:lnTo>
                <a:lnTo>
                  <a:pt x="180295" y="390255"/>
                </a:lnTo>
                <a:lnTo>
                  <a:pt x="233934" y="395477"/>
                </a:lnTo>
                <a:lnTo>
                  <a:pt x="287572" y="390255"/>
                </a:lnTo>
                <a:lnTo>
                  <a:pt x="336811" y="375379"/>
                </a:lnTo>
                <a:lnTo>
                  <a:pt x="380247" y="352036"/>
                </a:lnTo>
                <a:lnTo>
                  <a:pt x="416474" y="321414"/>
                </a:lnTo>
                <a:lnTo>
                  <a:pt x="444090" y="284699"/>
                </a:lnTo>
                <a:lnTo>
                  <a:pt x="461689" y="243078"/>
                </a:lnTo>
                <a:lnTo>
                  <a:pt x="467868" y="197738"/>
                </a:lnTo>
                <a:lnTo>
                  <a:pt x="461689" y="152399"/>
                </a:lnTo>
                <a:lnTo>
                  <a:pt x="444090" y="110778"/>
                </a:lnTo>
                <a:lnTo>
                  <a:pt x="416474" y="74063"/>
                </a:lnTo>
                <a:lnTo>
                  <a:pt x="380247" y="43441"/>
                </a:lnTo>
                <a:lnTo>
                  <a:pt x="336811" y="20098"/>
                </a:lnTo>
                <a:lnTo>
                  <a:pt x="287572" y="5222"/>
                </a:lnTo>
                <a:lnTo>
                  <a:pt x="23393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352056" y="2929367"/>
            <a:ext cx="623993" cy="527473"/>
          </a:xfrm>
          <a:custGeom>
            <a:avLst/>
            <a:gdLst/>
            <a:ahLst/>
            <a:cxnLst/>
            <a:rect l="l" t="t" r="r" b="b"/>
            <a:pathLst>
              <a:path w="467995" h="395605">
                <a:moveTo>
                  <a:pt x="0" y="197738"/>
                </a:moveTo>
                <a:lnTo>
                  <a:pt x="6178" y="152399"/>
                </a:lnTo>
                <a:lnTo>
                  <a:pt x="23777" y="110778"/>
                </a:lnTo>
                <a:lnTo>
                  <a:pt x="51393" y="74063"/>
                </a:lnTo>
                <a:lnTo>
                  <a:pt x="87620" y="43441"/>
                </a:lnTo>
                <a:lnTo>
                  <a:pt x="131056" y="20098"/>
                </a:lnTo>
                <a:lnTo>
                  <a:pt x="180295" y="5222"/>
                </a:lnTo>
                <a:lnTo>
                  <a:pt x="233934" y="0"/>
                </a:lnTo>
                <a:lnTo>
                  <a:pt x="287572" y="5222"/>
                </a:lnTo>
                <a:lnTo>
                  <a:pt x="336811" y="20098"/>
                </a:lnTo>
                <a:lnTo>
                  <a:pt x="380247" y="43441"/>
                </a:lnTo>
                <a:lnTo>
                  <a:pt x="416474" y="74063"/>
                </a:lnTo>
                <a:lnTo>
                  <a:pt x="444090" y="110778"/>
                </a:lnTo>
                <a:lnTo>
                  <a:pt x="461689" y="152399"/>
                </a:lnTo>
                <a:lnTo>
                  <a:pt x="467868" y="197738"/>
                </a:lnTo>
                <a:lnTo>
                  <a:pt x="461689" y="243078"/>
                </a:lnTo>
                <a:lnTo>
                  <a:pt x="444090" y="284699"/>
                </a:lnTo>
                <a:lnTo>
                  <a:pt x="416474" y="321414"/>
                </a:lnTo>
                <a:lnTo>
                  <a:pt x="380247" y="352036"/>
                </a:lnTo>
                <a:lnTo>
                  <a:pt x="336811" y="375379"/>
                </a:lnTo>
                <a:lnTo>
                  <a:pt x="287572" y="390255"/>
                </a:lnTo>
                <a:lnTo>
                  <a:pt x="233934" y="395477"/>
                </a:lnTo>
                <a:lnTo>
                  <a:pt x="180295" y="390255"/>
                </a:lnTo>
                <a:lnTo>
                  <a:pt x="131056" y="375379"/>
                </a:lnTo>
                <a:lnTo>
                  <a:pt x="87620" y="352036"/>
                </a:lnTo>
                <a:lnTo>
                  <a:pt x="51393" y="321414"/>
                </a:lnTo>
                <a:lnTo>
                  <a:pt x="23777" y="284699"/>
                </a:lnTo>
                <a:lnTo>
                  <a:pt x="6178" y="243078"/>
                </a:lnTo>
                <a:lnTo>
                  <a:pt x="0" y="197738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7477235" y="2961836"/>
            <a:ext cx="37338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25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53655" y="3411967"/>
            <a:ext cx="180340" cy="349673"/>
          </a:xfrm>
          <a:custGeom>
            <a:avLst/>
            <a:gdLst/>
            <a:ahLst/>
            <a:cxnLst/>
            <a:rect l="l" t="t" r="r" b="b"/>
            <a:pathLst>
              <a:path w="135254" h="262255">
                <a:moveTo>
                  <a:pt x="134874" y="0"/>
                </a:moveTo>
                <a:lnTo>
                  <a:pt x="0" y="2621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7860055" y="3456670"/>
            <a:ext cx="203200" cy="3048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0"/>
                </a:moveTo>
                <a:lnTo>
                  <a:pt x="15240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914416" y="2948671"/>
            <a:ext cx="624840" cy="527473"/>
          </a:xfrm>
          <a:custGeom>
            <a:avLst/>
            <a:gdLst/>
            <a:ahLst/>
            <a:cxnLst/>
            <a:rect l="l" t="t" r="r" b="b"/>
            <a:pathLst>
              <a:path w="468629" h="395605">
                <a:moveTo>
                  <a:pt x="234315" y="0"/>
                </a:moveTo>
                <a:lnTo>
                  <a:pt x="180587" y="5222"/>
                </a:lnTo>
                <a:lnTo>
                  <a:pt x="131267" y="20098"/>
                </a:lnTo>
                <a:lnTo>
                  <a:pt x="87761" y="43441"/>
                </a:lnTo>
                <a:lnTo>
                  <a:pt x="51474" y="74063"/>
                </a:lnTo>
                <a:lnTo>
                  <a:pt x="23815" y="110778"/>
                </a:lnTo>
                <a:lnTo>
                  <a:pt x="6188" y="152399"/>
                </a:lnTo>
                <a:lnTo>
                  <a:pt x="0" y="197738"/>
                </a:lnTo>
                <a:lnTo>
                  <a:pt x="6188" y="243078"/>
                </a:lnTo>
                <a:lnTo>
                  <a:pt x="23815" y="284699"/>
                </a:lnTo>
                <a:lnTo>
                  <a:pt x="51474" y="321414"/>
                </a:lnTo>
                <a:lnTo>
                  <a:pt x="87761" y="352036"/>
                </a:lnTo>
                <a:lnTo>
                  <a:pt x="131267" y="375379"/>
                </a:lnTo>
                <a:lnTo>
                  <a:pt x="180587" y="390255"/>
                </a:lnTo>
                <a:lnTo>
                  <a:pt x="234315" y="395477"/>
                </a:lnTo>
                <a:lnTo>
                  <a:pt x="288042" y="390255"/>
                </a:lnTo>
                <a:lnTo>
                  <a:pt x="337362" y="375379"/>
                </a:lnTo>
                <a:lnTo>
                  <a:pt x="380868" y="352036"/>
                </a:lnTo>
                <a:lnTo>
                  <a:pt x="417155" y="321414"/>
                </a:lnTo>
                <a:lnTo>
                  <a:pt x="444814" y="284699"/>
                </a:lnTo>
                <a:lnTo>
                  <a:pt x="462441" y="243078"/>
                </a:lnTo>
                <a:lnTo>
                  <a:pt x="468630" y="197738"/>
                </a:lnTo>
                <a:lnTo>
                  <a:pt x="462441" y="152399"/>
                </a:lnTo>
                <a:lnTo>
                  <a:pt x="444814" y="110778"/>
                </a:lnTo>
                <a:lnTo>
                  <a:pt x="417155" y="74063"/>
                </a:lnTo>
                <a:lnTo>
                  <a:pt x="380868" y="43441"/>
                </a:lnTo>
                <a:lnTo>
                  <a:pt x="337362" y="20098"/>
                </a:lnTo>
                <a:lnTo>
                  <a:pt x="288042" y="5222"/>
                </a:lnTo>
                <a:lnTo>
                  <a:pt x="23431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914416" y="2948671"/>
            <a:ext cx="624840" cy="527473"/>
          </a:xfrm>
          <a:custGeom>
            <a:avLst/>
            <a:gdLst/>
            <a:ahLst/>
            <a:cxnLst/>
            <a:rect l="l" t="t" r="r" b="b"/>
            <a:pathLst>
              <a:path w="468629" h="395605">
                <a:moveTo>
                  <a:pt x="0" y="197738"/>
                </a:moveTo>
                <a:lnTo>
                  <a:pt x="6188" y="152399"/>
                </a:lnTo>
                <a:lnTo>
                  <a:pt x="23815" y="110778"/>
                </a:lnTo>
                <a:lnTo>
                  <a:pt x="51474" y="74063"/>
                </a:lnTo>
                <a:lnTo>
                  <a:pt x="87761" y="43441"/>
                </a:lnTo>
                <a:lnTo>
                  <a:pt x="131267" y="20098"/>
                </a:lnTo>
                <a:lnTo>
                  <a:pt x="180587" y="5222"/>
                </a:lnTo>
                <a:lnTo>
                  <a:pt x="234315" y="0"/>
                </a:lnTo>
                <a:lnTo>
                  <a:pt x="288042" y="5222"/>
                </a:lnTo>
                <a:lnTo>
                  <a:pt x="337362" y="20098"/>
                </a:lnTo>
                <a:lnTo>
                  <a:pt x="380868" y="43441"/>
                </a:lnTo>
                <a:lnTo>
                  <a:pt x="417155" y="74063"/>
                </a:lnTo>
                <a:lnTo>
                  <a:pt x="444814" y="110778"/>
                </a:lnTo>
                <a:lnTo>
                  <a:pt x="462441" y="152399"/>
                </a:lnTo>
                <a:lnTo>
                  <a:pt x="468630" y="197738"/>
                </a:lnTo>
                <a:lnTo>
                  <a:pt x="462441" y="243078"/>
                </a:lnTo>
                <a:lnTo>
                  <a:pt x="444814" y="284699"/>
                </a:lnTo>
                <a:lnTo>
                  <a:pt x="417155" y="321414"/>
                </a:lnTo>
                <a:lnTo>
                  <a:pt x="380868" y="352036"/>
                </a:lnTo>
                <a:lnTo>
                  <a:pt x="337362" y="375379"/>
                </a:lnTo>
                <a:lnTo>
                  <a:pt x="288042" y="390255"/>
                </a:lnTo>
                <a:lnTo>
                  <a:pt x="234315" y="395477"/>
                </a:lnTo>
                <a:lnTo>
                  <a:pt x="180587" y="390255"/>
                </a:lnTo>
                <a:lnTo>
                  <a:pt x="131267" y="375379"/>
                </a:lnTo>
                <a:lnTo>
                  <a:pt x="87761" y="352036"/>
                </a:lnTo>
                <a:lnTo>
                  <a:pt x="51474" y="321414"/>
                </a:lnTo>
                <a:lnTo>
                  <a:pt x="23815" y="284699"/>
                </a:lnTo>
                <a:lnTo>
                  <a:pt x="6188" y="243078"/>
                </a:lnTo>
                <a:lnTo>
                  <a:pt x="0" y="197738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6040019" y="2980885"/>
            <a:ext cx="37338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30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26455" y="3456670"/>
            <a:ext cx="276860" cy="304800"/>
          </a:xfrm>
          <a:custGeom>
            <a:avLst/>
            <a:gdLst/>
            <a:ahLst/>
            <a:cxnLst/>
            <a:rect l="l" t="t" r="r" b="b"/>
            <a:pathLst>
              <a:path w="207645" h="228600">
                <a:moveTo>
                  <a:pt x="207263" y="0"/>
                </a:moveTo>
                <a:lnTo>
                  <a:pt x="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6336055" y="3456670"/>
            <a:ext cx="203200" cy="3048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0"/>
                </a:moveTo>
                <a:lnTo>
                  <a:pt x="15240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6640856" y="2218167"/>
            <a:ext cx="623993" cy="527473"/>
          </a:xfrm>
          <a:custGeom>
            <a:avLst/>
            <a:gdLst/>
            <a:ahLst/>
            <a:cxnLst/>
            <a:rect l="l" t="t" r="r" b="b"/>
            <a:pathLst>
              <a:path w="467995" h="395605">
                <a:moveTo>
                  <a:pt x="233934" y="0"/>
                </a:moveTo>
                <a:lnTo>
                  <a:pt x="180295" y="5222"/>
                </a:lnTo>
                <a:lnTo>
                  <a:pt x="131056" y="20098"/>
                </a:lnTo>
                <a:lnTo>
                  <a:pt x="87620" y="43441"/>
                </a:lnTo>
                <a:lnTo>
                  <a:pt x="51393" y="74063"/>
                </a:lnTo>
                <a:lnTo>
                  <a:pt x="23777" y="110778"/>
                </a:lnTo>
                <a:lnTo>
                  <a:pt x="6178" y="152399"/>
                </a:lnTo>
                <a:lnTo>
                  <a:pt x="0" y="197738"/>
                </a:lnTo>
                <a:lnTo>
                  <a:pt x="6178" y="243078"/>
                </a:lnTo>
                <a:lnTo>
                  <a:pt x="23777" y="284699"/>
                </a:lnTo>
                <a:lnTo>
                  <a:pt x="51393" y="321414"/>
                </a:lnTo>
                <a:lnTo>
                  <a:pt x="87620" y="352036"/>
                </a:lnTo>
                <a:lnTo>
                  <a:pt x="131056" y="375379"/>
                </a:lnTo>
                <a:lnTo>
                  <a:pt x="180295" y="390255"/>
                </a:lnTo>
                <a:lnTo>
                  <a:pt x="233934" y="395477"/>
                </a:lnTo>
                <a:lnTo>
                  <a:pt x="287572" y="390255"/>
                </a:lnTo>
                <a:lnTo>
                  <a:pt x="336811" y="375379"/>
                </a:lnTo>
                <a:lnTo>
                  <a:pt x="380247" y="352036"/>
                </a:lnTo>
                <a:lnTo>
                  <a:pt x="416474" y="321414"/>
                </a:lnTo>
                <a:lnTo>
                  <a:pt x="444090" y="284699"/>
                </a:lnTo>
                <a:lnTo>
                  <a:pt x="461689" y="243078"/>
                </a:lnTo>
                <a:lnTo>
                  <a:pt x="467868" y="197738"/>
                </a:lnTo>
                <a:lnTo>
                  <a:pt x="461689" y="152399"/>
                </a:lnTo>
                <a:lnTo>
                  <a:pt x="444090" y="110778"/>
                </a:lnTo>
                <a:lnTo>
                  <a:pt x="416474" y="74063"/>
                </a:lnTo>
                <a:lnTo>
                  <a:pt x="380247" y="43441"/>
                </a:lnTo>
                <a:lnTo>
                  <a:pt x="336811" y="20098"/>
                </a:lnTo>
                <a:lnTo>
                  <a:pt x="287572" y="5222"/>
                </a:lnTo>
                <a:lnTo>
                  <a:pt x="23393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6640856" y="2218167"/>
            <a:ext cx="623993" cy="527473"/>
          </a:xfrm>
          <a:custGeom>
            <a:avLst/>
            <a:gdLst/>
            <a:ahLst/>
            <a:cxnLst/>
            <a:rect l="l" t="t" r="r" b="b"/>
            <a:pathLst>
              <a:path w="467995" h="395605">
                <a:moveTo>
                  <a:pt x="0" y="197738"/>
                </a:moveTo>
                <a:lnTo>
                  <a:pt x="6178" y="152399"/>
                </a:lnTo>
                <a:lnTo>
                  <a:pt x="23777" y="110778"/>
                </a:lnTo>
                <a:lnTo>
                  <a:pt x="51393" y="74063"/>
                </a:lnTo>
                <a:lnTo>
                  <a:pt x="87620" y="43441"/>
                </a:lnTo>
                <a:lnTo>
                  <a:pt x="131056" y="20098"/>
                </a:lnTo>
                <a:lnTo>
                  <a:pt x="180295" y="5222"/>
                </a:lnTo>
                <a:lnTo>
                  <a:pt x="233934" y="0"/>
                </a:lnTo>
                <a:lnTo>
                  <a:pt x="287572" y="5222"/>
                </a:lnTo>
                <a:lnTo>
                  <a:pt x="336811" y="20098"/>
                </a:lnTo>
                <a:lnTo>
                  <a:pt x="380247" y="43441"/>
                </a:lnTo>
                <a:lnTo>
                  <a:pt x="416474" y="74063"/>
                </a:lnTo>
                <a:lnTo>
                  <a:pt x="444090" y="110778"/>
                </a:lnTo>
                <a:lnTo>
                  <a:pt x="461689" y="152399"/>
                </a:lnTo>
                <a:lnTo>
                  <a:pt x="467868" y="197738"/>
                </a:lnTo>
                <a:lnTo>
                  <a:pt x="461689" y="243078"/>
                </a:lnTo>
                <a:lnTo>
                  <a:pt x="444090" y="284699"/>
                </a:lnTo>
                <a:lnTo>
                  <a:pt x="416474" y="321414"/>
                </a:lnTo>
                <a:lnTo>
                  <a:pt x="380247" y="352036"/>
                </a:lnTo>
                <a:lnTo>
                  <a:pt x="336811" y="375379"/>
                </a:lnTo>
                <a:lnTo>
                  <a:pt x="287572" y="390255"/>
                </a:lnTo>
                <a:lnTo>
                  <a:pt x="233934" y="395477"/>
                </a:lnTo>
                <a:lnTo>
                  <a:pt x="180295" y="390255"/>
                </a:lnTo>
                <a:lnTo>
                  <a:pt x="131056" y="375379"/>
                </a:lnTo>
                <a:lnTo>
                  <a:pt x="87620" y="352036"/>
                </a:lnTo>
                <a:lnTo>
                  <a:pt x="51393" y="321414"/>
                </a:lnTo>
                <a:lnTo>
                  <a:pt x="23777" y="284699"/>
                </a:lnTo>
                <a:lnTo>
                  <a:pt x="6178" y="243078"/>
                </a:lnTo>
                <a:lnTo>
                  <a:pt x="0" y="197738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 txBox="1"/>
          <p:nvPr/>
        </p:nvSpPr>
        <p:spPr>
          <a:xfrm>
            <a:off x="6766035" y="2250636"/>
            <a:ext cx="37338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55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37655" y="2643871"/>
            <a:ext cx="304800" cy="373380"/>
          </a:xfrm>
          <a:custGeom>
            <a:avLst/>
            <a:gdLst/>
            <a:ahLst/>
            <a:cxnLst/>
            <a:rect l="l" t="t" r="r" b="b"/>
            <a:pathLst>
              <a:path w="228600" h="280035">
                <a:moveTo>
                  <a:pt x="228600" y="0"/>
                </a:moveTo>
                <a:lnTo>
                  <a:pt x="0" y="2796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7250455" y="254227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7352055" y="1506967"/>
            <a:ext cx="670560" cy="527473"/>
          </a:xfrm>
          <a:custGeom>
            <a:avLst/>
            <a:gdLst/>
            <a:ahLst/>
            <a:cxnLst/>
            <a:rect l="l" t="t" r="r" b="b"/>
            <a:pathLst>
              <a:path w="502920" h="395605">
                <a:moveTo>
                  <a:pt x="251460" y="0"/>
                </a:moveTo>
                <a:lnTo>
                  <a:pt x="200782" y="4017"/>
                </a:lnTo>
                <a:lnTo>
                  <a:pt x="153581" y="15539"/>
                </a:lnTo>
                <a:lnTo>
                  <a:pt x="110867" y="33770"/>
                </a:lnTo>
                <a:lnTo>
                  <a:pt x="73652" y="57916"/>
                </a:lnTo>
                <a:lnTo>
                  <a:pt x="42946" y="87181"/>
                </a:lnTo>
                <a:lnTo>
                  <a:pt x="19761" y="120770"/>
                </a:lnTo>
                <a:lnTo>
                  <a:pt x="5108" y="157887"/>
                </a:lnTo>
                <a:lnTo>
                  <a:pt x="0" y="197738"/>
                </a:lnTo>
                <a:lnTo>
                  <a:pt x="5108" y="237590"/>
                </a:lnTo>
                <a:lnTo>
                  <a:pt x="19761" y="274707"/>
                </a:lnTo>
                <a:lnTo>
                  <a:pt x="42946" y="308296"/>
                </a:lnTo>
                <a:lnTo>
                  <a:pt x="73652" y="337561"/>
                </a:lnTo>
                <a:lnTo>
                  <a:pt x="110867" y="361707"/>
                </a:lnTo>
                <a:lnTo>
                  <a:pt x="153581" y="379938"/>
                </a:lnTo>
                <a:lnTo>
                  <a:pt x="200782" y="391460"/>
                </a:lnTo>
                <a:lnTo>
                  <a:pt x="251460" y="395477"/>
                </a:lnTo>
                <a:lnTo>
                  <a:pt x="302137" y="391460"/>
                </a:lnTo>
                <a:lnTo>
                  <a:pt x="349338" y="379938"/>
                </a:lnTo>
                <a:lnTo>
                  <a:pt x="392052" y="361707"/>
                </a:lnTo>
                <a:lnTo>
                  <a:pt x="429267" y="337561"/>
                </a:lnTo>
                <a:lnTo>
                  <a:pt x="459973" y="308296"/>
                </a:lnTo>
                <a:lnTo>
                  <a:pt x="483158" y="274707"/>
                </a:lnTo>
                <a:lnTo>
                  <a:pt x="497811" y="237590"/>
                </a:lnTo>
                <a:lnTo>
                  <a:pt x="502920" y="197738"/>
                </a:lnTo>
                <a:lnTo>
                  <a:pt x="497811" y="157887"/>
                </a:lnTo>
                <a:lnTo>
                  <a:pt x="483158" y="120770"/>
                </a:lnTo>
                <a:lnTo>
                  <a:pt x="459973" y="87181"/>
                </a:lnTo>
                <a:lnTo>
                  <a:pt x="429267" y="57916"/>
                </a:lnTo>
                <a:lnTo>
                  <a:pt x="392052" y="33770"/>
                </a:lnTo>
                <a:lnTo>
                  <a:pt x="349338" y="15539"/>
                </a:lnTo>
                <a:lnTo>
                  <a:pt x="302137" y="4017"/>
                </a:lnTo>
                <a:lnTo>
                  <a:pt x="25146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7352055" y="1506967"/>
            <a:ext cx="670560" cy="527473"/>
          </a:xfrm>
          <a:custGeom>
            <a:avLst/>
            <a:gdLst/>
            <a:ahLst/>
            <a:cxnLst/>
            <a:rect l="l" t="t" r="r" b="b"/>
            <a:pathLst>
              <a:path w="502920" h="395605">
                <a:moveTo>
                  <a:pt x="0" y="197738"/>
                </a:moveTo>
                <a:lnTo>
                  <a:pt x="5108" y="157887"/>
                </a:lnTo>
                <a:lnTo>
                  <a:pt x="19761" y="120770"/>
                </a:lnTo>
                <a:lnTo>
                  <a:pt x="42946" y="87181"/>
                </a:lnTo>
                <a:lnTo>
                  <a:pt x="73652" y="57916"/>
                </a:lnTo>
                <a:lnTo>
                  <a:pt x="110867" y="33770"/>
                </a:lnTo>
                <a:lnTo>
                  <a:pt x="153581" y="15539"/>
                </a:lnTo>
                <a:lnTo>
                  <a:pt x="200782" y="4017"/>
                </a:lnTo>
                <a:lnTo>
                  <a:pt x="251460" y="0"/>
                </a:lnTo>
                <a:lnTo>
                  <a:pt x="302137" y="4017"/>
                </a:lnTo>
                <a:lnTo>
                  <a:pt x="349338" y="15539"/>
                </a:lnTo>
                <a:lnTo>
                  <a:pt x="392052" y="33770"/>
                </a:lnTo>
                <a:lnTo>
                  <a:pt x="429267" y="57916"/>
                </a:lnTo>
                <a:lnTo>
                  <a:pt x="459973" y="87181"/>
                </a:lnTo>
                <a:lnTo>
                  <a:pt x="483158" y="120770"/>
                </a:lnTo>
                <a:lnTo>
                  <a:pt x="497811" y="157887"/>
                </a:lnTo>
                <a:lnTo>
                  <a:pt x="502920" y="197738"/>
                </a:lnTo>
                <a:lnTo>
                  <a:pt x="497811" y="237590"/>
                </a:lnTo>
                <a:lnTo>
                  <a:pt x="483158" y="274707"/>
                </a:lnTo>
                <a:lnTo>
                  <a:pt x="459973" y="308296"/>
                </a:lnTo>
                <a:lnTo>
                  <a:pt x="429267" y="337561"/>
                </a:lnTo>
                <a:lnTo>
                  <a:pt x="392052" y="361707"/>
                </a:lnTo>
                <a:lnTo>
                  <a:pt x="349338" y="379938"/>
                </a:lnTo>
                <a:lnTo>
                  <a:pt x="302137" y="391460"/>
                </a:lnTo>
                <a:lnTo>
                  <a:pt x="251460" y="395477"/>
                </a:lnTo>
                <a:lnTo>
                  <a:pt x="200782" y="391460"/>
                </a:lnTo>
                <a:lnTo>
                  <a:pt x="153581" y="379938"/>
                </a:lnTo>
                <a:lnTo>
                  <a:pt x="110867" y="361707"/>
                </a:lnTo>
                <a:lnTo>
                  <a:pt x="73652" y="337561"/>
                </a:lnTo>
                <a:lnTo>
                  <a:pt x="42946" y="308296"/>
                </a:lnTo>
                <a:lnTo>
                  <a:pt x="19761" y="274707"/>
                </a:lnTo>
                <a:lnTo>
                  <a:pt x="5108" y="237590"/>
                </a:lnTo>
                <a:lnTo>
                  <a:pt x="0" y="197738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 txBox="1"/>
          <p:nvPr/>
        </p:nvSpPr>
        <p:spPr>
          <a:xfrm>
            <a:off x="7415597" y="1539436"/>
            <a:ext cx="542712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100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48855" y="1932670"/>
            <a:ext cx="276860" cy="343747"/>
          </a:xfrm>
          <a:custGeom>
            <a:avLst/>
            <a:gdLst/>
            <a:ahLst/>
            <a:cxnLst/>
            <a:rect l="l" t="t" r="r" b="b"/>
            <a:pathLst>
              <a:path w="207645" h="257810">
                <a:moveTo>
                  <a:pt x="207263" y="0"/>
                </a:moveTo>
                <a:lnTo>
                  <a:pt x="0" y="2575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7961655" y="1932670"/>
            <a:ext cx="264160" cy="343747"/>
          </a:xfrm>
          <a:custGeom>
            <a:avLst/>
            <a:gdLst/>
            <a:ahLst/>
            <a:cxnLst/>
            <a:rect l="l" t="t" r="r" b="b"/>
            <a:pathLst>
              <a:path w="198120" h="257810">
                <a:moveTo>
                  <a:pt x="0" y="0"/>
                </a:moveTo>
                <a:lnTo>
                  <a:pt x="198120" y="2575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 txBox="1"/>
          <p:nvPr/>
        </p:nvSpPr>
        <p:spPr>
          <a:xfrm>
            <a:off x="8063255" y="2264901"/>
            <a:ext cx="480060" cy="487313"/>
          </a:xfrm>
          <a:prstGeom prst="rect">
            <a:avLst/>
          </a:prstGeom>
          <a:solidFill>
            <a:srgbClr val="99CC00">
              <a:alpha val="54116"/>
            </a:srgbClr>
          </a:solidFill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1070">
              <a:lnSpc>
                <a:spcPts val="3787"/>
              </a:lnSpc>
            </a:pPr>
            <a:r>
              <a:rPr sz="3733" b="1" i="1" dirty="0">
                <a:latin typeface="Times New Roman"/>
                <a:cs typeface="Times New Roman"/>
              </a:rPr>
              <a:t>a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42135" y="4200721"/>
            <a:ext cx="1896533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tabLst>
                <a:tab pos="727268" algn="l"/>
                <a:tab pos="1540048" algn="l"/>
              </a:tabLst>
            </a:pPr>
            <a:r>
              <a:rPr sz="2667" b="1" spc="-7" dirty="0">
                <a:latin typeface="Times New Roman"/>
                <a:cs typeface="Times New Roman"/>
              </a:rPr>
              <a:t>16	12	13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86651" y="2270221"/>
            <a:ext cx="37338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45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335548" y="5504746"/>
            <a:ext cx="19811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平均位数</a:t>
            </a:r>
            <a:r>
              <a:rPr lang="zh-CN" altLang="en-US" sz="2800" b="1" spc="-13" dirty="0">
                <a:latin typeface="宋体"/>
                <a:cs typeface="宋体"/>
              </a:rPr>
              <a:t>：</a:t>
            </a:r>
            <a:endParaRPr lang="zh-CN" altLang="en-US"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16389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 animBg="1"/>
      <p:bldP spid="11" grpId="0" animBg="1"/>
      <p:bldP spid="12" grpId="0"/>
      <p:bldP spid="13" grpId="0" animBg="1"/>
      <p:bldP spid="14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2834" y="277992"/>
            <a:ext cx="895495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应用:文件归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653" y="1442212"/>
            <a:ext cx="11107216" cy="391051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84665" marR="349665" algn="just">
              <a:lnSpc>
                <a:spcPct val="111100"/>
              </a:lnSpc>
              <a:spcBef>
                <a:spcPts val="127"/>
              </a:spcBef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给定一组不同长度的排好序文件构成的集合 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= { </a:t>
            </a:r>
            <a:r>
              <a:rPr lang="en-US" altLang="zh-CN"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spc="-7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… , </a:t>
            </a:r>
            <a:r>
              <a:rPr lang="en-US" altLang="zh-CN" sz="2800" b="1" i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spc="-7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，其中 </a:t>
            </a:r>
            <a:r>
              <a:rPr lang="en-US" altLang="zh-CN"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i="1" spc="-7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表示第 </a:t>
            </a:r>
            <a:r>
              <a:rPr lang="en-US" altLang="zh-CN" sz="2800" b="1" i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个文件含有的项数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使用二分归并将这些文件归并成一个有序文件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84665" marR="349665" algn="just">
              <a:lnSpc>
                <a:spcPct val="111100"/>
              </a:lnSpc>
              <a:spcBef>
                <a:spcPts val="127"/>
              </a:spcBef>
            </a:pPr>
            <a:endParaRPr sz="3933" dirty="0">
              <a:latin typeface="Times New Roman"/>
              <a:cs typeface="Times New Roman"/>
            </a:endParaRPr>
          </a:p>
          <a:p>
            <a:pPr marL="135463" algn="just"/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归并过程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spc="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于二叉树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35463" marR="260767" algn="just">
              <a:lnSpc>
                <a:spcPts val="4267"/>
              </a:lnSpc>
              <a:spcBef>
                <a:spcPts val="213"/>
              </a:spcBef>
              <a:tabLst>
                <a:tab pos="2481518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文件为树叶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	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sz="2800" b="1" i="1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40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i="1" spc="-40" baseline="-2083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spc="-84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sz="2800" b="1" i="1" spc="-9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sz="2800" b="1" i="1" spc="-40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i="1" spc="-40" baseline="-2083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归并的文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件是它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们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的父结点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R="23706" algn="r">
              <a:spcBef>
                <a:spcPts val="3113"/>
              </a:spcBef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74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234" y="307625"/>
            <a:ext cx="859235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两两顺序归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</a:t>
            </a:r>
          </a:p>
        </p:txBody>
      </p:sp>
      <p:sp>
        <p:nvSpPr>
          <p:cNvPr id="3" name="object 3"/>
          <p:cNvSpPr/>
          <p:nvPr/>
        </p:nvSpPr>
        <p:spPr>
          <a:xfrm>
            <a:off x="6233388" y="3328634"/>
            <a:ext cx="257387" cy="832273"/>
          </a:xfrm>
          <a:custGeom>
            <a:avLst/>
            <a:gdLst/>
            <a:ahLst/>
            <a:cxnLst/>
            <a:rect l="l" t="t" r="r" b="b"/>
            <a:pathLst>
              <a:path w="193039" h="624205">
                <a:moveTo>
                  <a:pt x="192786" y="0"/>
                </a:moveTo>
                <a:lnTo>
                  <a:pt x="0" y="624078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412971" y="2420329"/>
            <a:ext cx="2308860" cy="2496819"/>
          </a:xfrm>
          <a:custGeom>
            <a:avLst/>
            <a:gdLst/>
            <a:ahLst/>
            <a:cxnLst/>
            <a:rect l="l" t="t" r="r" b="b"/>
            <a:pathLst>
              <a:path w="1731645" h="1872614">
                <a:moveTo>
                  <a:pt x="1731264" y="0"/>
                </a:moveTo>
                <a:lnTo>
                  <a:pt x="0" y="1872233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4182083" y="4292818"/>
            <a:ext cx="0" cy="623993"/>
          </a:xfrm>
          <a:custGeom>
            <a:avLst/>
            <a:gdLst/>
            <a:ahLst/>
            <a:cxnLst/>
            <a:rect l="l" t="t" r="r" b="b"/>
            <a:pathLst>
              <a:path h="467995">
                <a:moveTo>
                  <a:pt x="0" y="0"/>
                </a:moveTo>
                <a:lnTo>
                  <a:pt x="0" y="467868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951195" y="3459697"/>
            <a:ext cx="770467" cy="1457113"/>
          </a:xfrm>
          <a:custGeom>
            <a:avLst/>
            <a:gdLst/>
            <a:ahLst/>
            <a:cxnLst/>
            <a:rect l="l" t="t" r="r" b="b"/>
            <a:pathLst>
              <a:path w="577850" h="1092835">
                <a:moveTo>
                  <a:pt x="0" y="0"/>
                </a:moveTo>
                <a:lnTo>
                  <a:pt x="577596" y="1092708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951195" y="4084538"/>
            <a:ext cx="257387" cy="832273"/>
          </a:xfrm>
          <a:custGeom>
            <a:avLst/>
            <a:gdLst/>
            <a:ahLst/>
            <a:cxnLst/>
            <a:rect l="l" t="t" r="r" b="b"/>
            <a:pathLst>
              <a:path w="193039" h="624204">
                <a:moveTo>
                  <a:pt x="192786" y="0"/>
                </a:moveTo>
                <a:lnTo>
                  <a:pt x="0" y="624078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721325" y="2420329"/>
            <a:ext cx="1538393" cy="1664547"/>
          </a:xfrm>
          <a:custGeom>
            <a:avLst/>
            <a:gdLst/>
            <a:ahLst/>
            <a:cxnLst/>
            <a:rect l="l" t="t" r="r" b="b"/>
            <a:pathLst>
              <a:path w="1153795" h="1248410">
                <a:moveTo>
                  <a:pt x="0" y="0"/>
                </a:moveTo>
                <a:lnTo>
                  <a:pt x="1153668" y="1248156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695163" y="4708361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254127" y="0"/>
                </a:moveTo>
                <a:lnTo>
                  <a:pt x="202912" y="3746"/>
                </a:lnTo>
                <a:lnTo>
                  <a:pt x="155210" y="14491"/>
                </a:lnTo>
                <a:lnTo>
                  <a:pt x="112043" y="31493"/>
                </a:lnTo>
                <a:lnTo>
                  <a:pt x="74433" y="54011"/>
                </a:lnTo>
                <a:lnTo>
                  <a:pt x="43401" y="81302"/>
                </a:lnTo>
                <a:lnTo>
                  <a:pt x="19970" y="112626"/>
                </a:lnTo>
                <a:lnTo>
                  <a:pt x="0" y="184404"/>
                </a:lnTo>
                <a:lnTo>
                  <a:pt x="5163" y="221567"/>
                </a:lnTo>
                <a:lnTo>
                  <a:pt x="43401" y="287505"/>
                </a:lnTo>
                <a:lnTo>
                  <a:pt x="74433" y="314796"/>
                </a:lnTo>
                <a:lnTo>
                  <a:pt x="112043" y="337314"/>
                </a:lnTo>
                <a:lnTo>
                  <a:pt x="155210" y="354316"/>
                </a:lnTo>
                <a:lnTo>
                  <a:pt x="202912" y="365061"/>
                </a:lnTo>
                <a:lnTo>
                  <a:pt x="254127" y="368808"/>
                </a:lnTo>
                <a:lnTo>
                  <a:pt x="305341" y="365061"/>
                </a:lnTo>
                <a:lnTo>
                  <a:pt x="353043" y="354316"/>
                </a:lnTo>
                <a:lnTo>
                  <a:pt x="396210" y="337314"/>
                </a:lnTo>
                <a:lnTo>
                  <a:pt x="433820" y="314796"/>
                </a:lnTo>
                <a:lnTo>
                  <a:pt x="464852" y="287505"/>
                </a:lnTo>
                <a:lnTo>
                  <a:pt x="488283" y="256181"/>
                </a:lnTo>
                <a:lnTo>
                  <a:pt x="508254" y="184404"/>
                </a:lnTo>
                <a:lnTo>
                  <a:pt x="503090" y="147240"/>
                </a:lnTo>
                <a:lnTo>
                  <a:pt x="464852" y="81302"/>
                </a:lnTo>
                <a:lnTo>
                  <a:pt x="433820" y="54011"/>
                </a:lnTo>
                <a:lnTo>
                  <a:pt x="396210" y="31493"/>
                </a:lnTo>
                <a:lnTo>
                  <a:pt x="353043" y="14491"/>
                </a:lnTo>
                <a:lnTo>
                  <a:pt x="305341" y="3746"/>
                </a:lnTo>
                <a:lnTo>
                  <a:pt x="25412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695163" y="4708361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0" y="184404"/>
                </a:moveTo>
                <a:lnTo>
                  <a:pt x="19970" y="112626"/>
                </a:lnTo>
                <a:lnTo>
                  <a:pt x="43401" y="81302"/>
                </a:lnTo>
                <a:lnTo>
                  <a:pt x="74433" y="54011"/>
                </a:lnTo>
                <a:lnTo>
                  <a:pt x="112043" y="31493"/>
                </a:lnTo>
                <a:lnTo>
                  <a:pt x="155210" y="14491"/>
                </a:lnTo>
                <a:lnTo>
                  <a:pt x="202912" y="3746"/>
                </a:lnTo>
                <a:lnTo>
                  <a:pt x="254127" y="0"/>
                </a:lnTo>
                <a:lnTo>
                  <a:pt x="305341" y="3746"/>
                </a:lnTo>
                <a:lnTo>
                  <a:pt x="353043" y="14491"/>
                </a:lnTo>
                <a:lnTo>
                  <a:pt x="396210" y="31493"/>
                </a:lnTo>
                <a:lnTo>
                  <a:pt x="433820" y="54011"/>
                </a:lnTo>
                <a:lnTo>
                  <a:pt x="464852" y="81302"/>
                </a:lnTo>
                <a:lnTo>
                  <a:pt x="488283" y="112626"/>
                </a:lnTo>
                <a:lnTo>
                  <a:pt x="508254" y="184404"/>
                </a:lnTo>
                <a:lnTo>
                  <a:pt x="503090" y="221567"/>
                </a:lnTo>
                <a:lnTo>
                  <a:pt x="464852" y="287505"/>
                </a:lnTo>
                <a:lnTo>
                  <a:pt x="433820" y="314796"/>
                </a:lnTo>
                <a:lnTo>
                  <a:pt x="396210" y="337314"/>
                </a:lnTo>
                <a:lnTo>
                  <a:pt x="353043" y="354316"/>
                </a:lnTo>
                <a:lnTo>
                  <a:pt x="305341" y="365061"/>
                </a:lnTo>
                <a:lnTo>
                  <a:pt x="254127" y="368808"/>
                </a:lnTo>
                <a:lnTo>
                  <a:pt x="202912" y="365061"/>
                </a:lnTo>
                <a:lnTo>
                  <a:pt x="155210" y="354316"/>
                </a:lnTo>
                <a:lnTo>
                  <a:pt x="112043" y="337314"/>
                </a:lnTo>
                <a:lnTo>
                  <a:pt x="74433" y="314796"/>
                </a:lnTo>
                <a:lnTo>
                  <a:pt x="43401" y="287505"/>
                </a:lnTo>
                <a:lnTo>
                  <a:pt x="19970" y="256181"/>
                </a:lnTo>
                <a:lnTo>
                  <a:pt x="0" y="184404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926052" y="3876258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254127" y="0"/>
                </a:moveTo>
                <a:lnTo>
                  <a:pt x="202912" y="3746"/>
                </a:lnTo>
                <a:lnTo>
                  <a:pt x="155210" y="14491"/>
                </a:lnTo>
                <a:lnTo>
                  <a:pt x="112043" y="31493"/>
                </a:lnTo>
                <a:lnTo>
                  <a:pt x="74433" y="54011"/>
                </a:lnTo>
                <a:lnTo>
                  <a:pt x="43401" y="81302"/>
                </a:lnTo>
                <a:lnTo>
                  <a:pt x="19970" y="112626"/>
                </a:lnTo>
                <a:lnTo>
                  <a:pt x="0" y="184404"/>
                </a:lnTo>
                <a:lnTo>
                  <a:pt x="5163" y="221567"/>
                </a:lnTo>
                <a:lnTo>
                  <a:pt x="43401" y="287505"/>
                </a:lnTo>
                <a:lnTo>
                  <a:pt x="74433" y="314796"/>
                </a:lnTo>
                <a:lnTo>
                  <a:pt x="112043" y="337314"/>
                </a:lnTo>
                <a:lnTo>
                  <a:pt x="155210" y="354316"/>
                </a:lnTo>
                <a:lnTo>
                  <a:pt x="202912" y="365061"/>
                </a:lnTo>
                <a:lnTo>
                  <a:pt x="254127" y="368808"/>
                </a:lnTo>
                <a:lnTo>
                  <a:pt x="305341" y="365061"/>
                </a:lnTo>
                <a:lnTo>
                  <a:pt x="353043" y="354316"/>
                </a:lnTo>
                <a:lnTo>
                  <a:pt x="396210" y="337314"/>
                </a:lnTo>
                <a:lnTo>
                  <a:pt x="433820" y="314796"/>
                </a:lnTo>
                <a:lnTo>
                  <a:pt x="464852" y="287505"/>
                </a:lnTo>
                <a:lnTo>
                  <a:pt x="488283" y="256181"/>
                </a:lnTo>
                <a:lnTo>
                  <a:pt x="508254" y="184404"/>
                </a:lnTo>
                <a:lnTo>
                  <a:pt x="503090" y="147240"/>
                </a:lnTo>
                <a:lnTo>
                  <a:pt x="464852" y="81302"/>
                </a:lnTo>
                <a:lnTo>
                  <a:pt x="433820" y="54011"/>
                </a:lnTo>
                <a:lnTo>
                  <a:pt x="396210" y="31493"/>
                </a:lnTo>
                <a:lnTo>
                  <a:pt x="353043" y="14491"/>
                </a:lnTo>
                <a:lnTo>
                  <a:pt x="305341" y="3746"/>
                </a:lnTo>
                <a:lnTo>
                  <a:pt x="2541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926052" y="3876258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0" y="184404"/>
                </a:moveTo>
                <a:lnTo>
                  <a:pt x="19970" y="112626"/>
                </a:lnTo>
                <a:lnTo>
                  <a:pt x="43401" y="81302"/>
                </a:lnTo>
                <a:lnTo>
                  <a:pt x="74433" y="54011"/>
                </a:lnTo>
                <a:lnTo>
                  <a:pt x="112043" y="31493"/>
                </a:lnTo>
                <a:lnTo>
                  <a:pt x="155210" y="14491"/>
                </a:lnTo>
                <a:lnTo>
                  <a:pt x="202912" y="3746"/>
                </a:lnTo>
                <a:lnTo>
                  <a:pt x="254127" y="0"/>
                </a:lnTo>
                <a:lnTo>
                  <a:pt x="305341" y="3746"/>
                </a:lnTo>
                <a:lnTo>
                  <a:pt x="353043" y="14491"/>
                </a:lnTo>
                <a:lnTo>
                  <a:pt x="396210" y="31493"/>
                </a:lnTo>
                <a:lnTo>
                  <a:pt x="433820" y="54011"/>
                </a:lnTo>
                <a:lnTo>
                  <a:pt x="464852" y="81302"/>
                </a:lnTo>
                <a:lnTo>
                  <a:pt x="488283" y="112626"/>
                </a:lnTo>
                <a:lnTo>
                  <a:pt x="508254" y="184404"/>
                </a:lnTo>
                <a:lnTo>
                  <a:pt x="503090" y="221567"/>
                </a:lnTo>
                <a:lnTo>
                  <a:pt x="464852" y="287505"/>
                </a:lnTo>
                <a:lnTo>
                  <a:pt x="433820" y="314796"/>
                </a:lnTo>
                <a:lnTo>
                  <a:pt x="396210" y="337314"/>
                </a:lnTo>
                <a:lnTo>
                  <a:pt x="353043" y="354316"/>
                </a:lnTo>
                <a:lnTo>
                  <a:pt x="305341" y="365061"/>
                </a:lnTo>
                <a:lnTo>
                  <a:pt x="254127" y="368808"/>
                </a:lnTo>
                <a:lnTo>
                  <a:pt x="202912" y="365061"/>
                </a:lnTo>
                <a:lnTo>
                  <a:pt x="155210" y="354316"/>
                </a:lnTo>
                <a:lnTo>
                  <a:pt x="112043" y="337314"/>
                </a:lnTo>
                <a:lnTo>
                  <a:pt x="74433" y="314796"/>
                </a:lnTo>
                <a:lnTo>
                  <a:pt x="43401" y="287505"/>
                </a:lnTo>
                <a:lnTo>
                  <a:pt x="19970" y="256181"/>
                </a:lnTo>
                <a:lnTo>
                  <a:pt x="0" y="184404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4007816" y="3920740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31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26052" y="4708361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254127" y="0"/>
                </a:moveTo>
                <a:lnTo>
                  <a:pt x="202912" y="3746"/>
                </a:lnTo>
                <a:lnTo>
                  <a:pt x="155210" y="14491"/>
                </a:lnTo>
                <a:lnTo>
                  <a:pt x="112043" y="31493"/>
                </a:lnTo>
                <a:lnTo>
                  <a:pt x="74433" y="54011"/>
                </a:lnTo>
                <a:lnTo>
                  <a:pt x="43401" y="81302"/>
                </a:lnTo>
                <a:lnTo>
                  <a:pt x="19970" y="112626"/>
                </a:lnTo>
                <a:lnTo>
                  <a:pt x="0" y="184404"/>
                </a:lnTo>
                <a:lnTo>
                  <a:pt x="5163" y="221567"/>
                </a:lnTo>
                <a:lnTo>
                  <a:pt x="43401" y="287505"/>
                </a:lnTo>
                <a:lnTo>
                  <a:pt x="74433" y="314796"/>
                </a:lnTo>
                <a:lnTo>
                  <a:pt x="112043" y="337314"/>
                </a:lnTo>
                <a:lnTo>
                  <a:pt x="155210" y="354316"/>
                </a:lnTo>
                <a:lnTo>
                  <a:pt x="202912" y="365061"/>
                </a:lnTo>
                <a:lnTo>
                  <a:pt x="254127" y="368808"/>
                </a:lnTo>
                <a:lnTo>
                  <a:pt x="305341" y="365061"/>
                </a:lnTo>
                <a:lnTo>
                  <a:pt x="353043" y="354316"/>
                </a:lnTo>
                <a:lnTo>
                  <a:pt x="396210" y="337314"/>
                </a:lnTo>
                <a:lnTo>
                  <a:pt x="433820" y="314796"/>
                </a:lnTo>
                <a:lnTo>
                  <a:pt x="464852" y="287505"/>
                </a:lnTo>
                <a:lnTo>
                  <a:pt x="488283" y="256181"/>
                </a:lnTo>
                <a:lnTo>
                  <a:pt x="508254" y="184404"/>
                </a:lnTo>
                <a:lnTo>
                  <a:pt x="503090" y="147240"/>
                </a:lnTo>
                <a:lnTo>
                  <a:pt x="464852" y="81302"/>
                </a:lnTo>
                <a:lnTo>
                  <a:pt x="433820" y="54011"/>
                </a:lnTo>
                <a:lnTo>
                  <a:pt x="396210" y="31493"/>
                </a:lnTo>
                <a:lnTo>
                  <a:pt x="353043" y="14491"/>
                </a:lnTo>
                <a:lnTo>
                  <a:pt x="305341" y="3746"/>
                </a:lnTo>
                <a:lnTo>
                  <a:pt x="25412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3926052" y="4708361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0" y="184404"/>
                </a:moveTo>
                <a:lnTo>
                  <a:pt x="19970" y="112626"/>
                </a:lnTo>
                <a:lnTo>
                  <a:pt x="43401" y="81302"/>
                </a:lnTo>
                <a:lnTo>
                  <a:pt x="74433" y="54011"/>
                </a:lnTo>
                <a:lnTo>
                  <a:pt x="112043" y="31493"/>
                </a:lnTo>
                <a:lnTo>
                  <a:pt x="155210" y="14491"/>
                </a:lnTo>
                <a:lnTo>
                  <a:pt x="202912" y="3746"/>
                </a:lnTo>
                <a:lnTo>
                  <a:pt x="254127" y="0"/>
                </a:lnTo>
                <a:lnTo>
                  <a:pt x="305341" y="3746"/>
                </a:lnTo>
                <a:lnTo>
                  <a:pt x="353043" y="14491"/>
                </a:lnTo>
                <a:lnTo>
                  <a:pt x="396210" y="31493"/>
                </a:lnTo>
                <a:lnTo>
                  <a:pt x="433820" y="54011"/>
                </a:lnTo>
                <a:lnTo>
                  <a:pt x="464852" y="81302"/>
                </a:lnTo>
                <a:lnTo>
                  <a:pt x="488283" y="112626"/>
                </a:lnTo>
                <a:lnTo>
                  <a:pt x="508254" y="184404"/>
                </a:lnTo>
                <a:lnTo>
                  <a:pt x="503090" y="221567"/>
                </a:lnTo>
                <a:lnTo>
                  <a:pt x="464852" y="287505"/>
                </a:lnTo>
                <a:lnTo>
                  <a:pt x="433820" y="314796"/>
                </a:lnTo>
                <a:lnTo>
                  <a:pt x="396210" y="337314"/>
                </a:lnTo>
                <a:lnTo>
                  <a:pt x="353043" y="354316"/>
                </a:lnTo>
                <a:lnTo>
                  <a:pt x="305341" y="365061"/>
                </a:lnTo>
                <a:lnTo>
                  <a:pt x="254127" y="368808"/>
                </a:lnTo>
                <a:lnTo>
                  <a:pt x="202912" y="365061"/>
                </a:lnTo>
                <a:lnTo>
                  <a:pt x="155210" y="354316"/>
                </a:lnTo>
                <a:lnTo>
                  <a:pt x="112043" y="337314"/>
                </a:lnTo>
                <a:lnTo>
                  <a:pt x="74433" y="314796"/>
                </a:lnTo>
                <a:lnTo>
                  <a:pt x="43401" y="287505"/>
                </a:lnTo>
                <a:lnTo>
                  <a:pt x="19970" y="256181"/>
                </a:lnTo>
                <a:lnTo>
                  <a:pt x="0" y="184404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7002499" y="3876258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70" h="368935">
                <a:moveTo>
                  <a:pt x="254508" y="0"/>
                </a:moveTo>
                <a:lnTo>
                  <a:pt x="203214" y="3746"/>
                </a:lnTo>
                <a:lnTo>
                  <a:pt x="155440" y="14491"/>
                </a:lnTo>
                <a:lnTo>
                  <a:pt x="112208" y="31493"/>
                </a:lnTo>
                <a:lnTo>
                  <a:pt x="74542" y="54011"/>
                </a:lnTo>
                <a:lnTo>
                  <a:pt x="43465" y="81302"/>
                </a:lnTo>
                <a:lnTo>
                  <a:pt x="20000" y="112626"/>
                </a:lnTo>
                <a:lnTo>
                  <a:pt x="0" y="184404"/>
                </a:lnTo>
                <a:lnTo>
                  <a:pt x="5170" y="221567"/>
                </a:lnTo>
                <a:lnTo>
                  <a:pt x="43465" y="287505"/>
                </a:lnTo>
                <a:lnTo>
                  <a:pt x="74542" y="314796"/>
                </a:lnTo>
                <a:lnTo>
                  <a:pt x="112208" y="337314"/>
                </a:lnTo>
                <a:lnTo>
                  <a:pt x="155440" y="354316"/>
                </a:lnTo>
                <a:lnTo>
                  <a:pt x="203214" y="365061"/>
                </a:lnTo>
                <a:lnTo>
                  <a:pt x="254508" y="368808"/>
                </a:lnTo>
                <a:lnTo>
                  <a:pt x="305801" y="365061"/>
                </a:lnTo>
                <a:lnTo>
                  <a:pt x="353575" y="354316"/>
                </a:lnTo>
                <a:lnTo>
                  <a:pt x="396807" y="337314"/>
                </a:lnTo>
                <a:lnTo>
                  <a:pt x="434473" y="314796"/>
                </a:lnTo>
                <a:lnTo>
                  <a:pt x="465550" y="287505"/>
                </a:lnTo>
                <a:lnTo>
                  <a:pt x="489015" y="256181"/>
                </a:lnTo>
                <a:lnTo>
                  <a:pt x="509016" y="184404"/>
                </a:lnTo>
                <a:lnTo>
                  <a:pt x="503845" y="147240"/>
                </a:lnTo>
                <a:lnTo>
                  <a:pt x="465550" y="81302"/>
                </a:lnTo>
                <a:lnTo>
                  <a:pt x="434473" y="54011"/>
                </a:lnTo>
                <a:lnTo>
                  <a:pt x="396807" y="31493"/>
                </a:lnTo>
                <a:lnTo>
                  <a:pt x="353575" y="14491"/>
                </a:lnTo>
                <a:lnTo>
                  <a:pt x="305801" y="3746"/>
                </a:lnTo>
                <a:lnTo>
                  <a:pt x="25450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002499" y="3876258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70" h="368935">
                <a:moveTo>
                  <a:pt x="0" y="184404"/>
                </a:moveTo>
                <a:lnTo>
                  <a:pt x="20000" y="112626"/>
                </a:lnTo>
                <a:lnTo>
                  <a:pt x="43465" y="81302"/>
                </a:lnTo>
                <a:lnTo>
                  <a:pt x="74542" y="54011"/>
                </a:lnTo>
                <a:lnTo>
                  <a:pt x="112208" y="31493"/>
                </a:lnTo>
                <a:lnTo>
                  <a:pt x="155440" y="14491"/>
                </a:lnTo>
                <a:lnTo>
                  <a:pt x="203214" y="3746"/>
                </a:lnTo>
                <a:lnTo>
                  <a:pt x="254508" y="0"/>
                </a:lnTo>
                <a:lnTo>
                  <a:pt x="305801" y="3746"/>
                </a:lnTo>
                <a:lnTo>
                  <a:pt x="353575" y="14491"/>
                </a:lnTo>
                <a:lnTo>
                  <a:pt x="396807" y="31493"/>
                </a:lnTo>
                <a:lnTo>
                  <a:pt x="434473" y="54011"/>
                </a:lnTo>
                <a:lnTo>
                  <a:pt x="465550" y="81302"/>
                </a:lnTo>
                <a:lnTo>
                  <a:pt x="489015" y="112626"/>
                </a:lnTo>
                <a:lnTo>
                  <a:pt x="509016" y="184404"/>
                </a:lnTo>
                <a:lnTo>
                  <a:pt x="503845" y="221567"/>
                </a:lnTo>
                <a:lnTo>
                  <a:pt x="465550" y="287505"/>
                </a:lnTo>
                <a:lnTo>
                  <a:pt x="434473" y="314796"/>
                </a:lnTo>
                <a:lnTo>
                  <a:pt x="396807" y="337314"/>
                </a:lnTo>
                <a:lnTo>
                  <a:pt x="353575" y="354316"/>
                </a:lnTo>
                <a:lnTo>
                  <a:pt x="305801" y="365061"/>
                </a:lnTo>
                <a:lnTo>
                  <a:pt x="254508" y="368808"/>
                </a:lnTo>
                <a:lnTo>
                  <a:pt x="203214" y="365061"/>
                </a:lnTo>
                <a:lnTo>
                  <a:pt x="155440" y="354316"/>
                </a:lnTo>
                <a:lnTo>
                  <a:pt x="112208" y="337314"/>
                </a:lnTo>
                <a:lnTo>
                  <a:pt x="74542" y="314796"/>
                </a:lnTo>
                <a:lnTo>
                  <a:pt x="43465" y="287505"/>
                </a:lnTo>
                <a:lnTo>
                  <a:pt x="20000" y="256181"/>
                </a:lnTo>
                <a:lnTo>
                  <a:pt x="0" y="184404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7147904" y="3920740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70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56940" y="4708361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4" h="368935">
                <a:moveTo>
                  <a:pt x="254127" y="0"/>
                </a:moveTo>
                <a:lnTo>
                  <a:pt x="202912" y="3746"/>
                </a:lnTo>
                <a:lnTo>
                  <a:pt x="155210" y="14491"/>
                </a:lnTo>
                <a:lnTo>
                  <a:pt x="112043" y="31493"/>
                </a:lnTo>
                <a:lnTo>
                  <a:pt x="74433" y="54011"/>
                </a:lnTo>
                <a:lnTo>
                  <a:pt x="43401" y="81302"/>
                </a:lnTo>
                <a:lnTo>
                  <a:pt x="19970" y="112626"/>
                </a:lnTo>
                <a:lnTo>
                  <a:pt x="0" y="184404"/>
                </a:lnTo>
                <a:lnTo>
                  <a:pt x="5163" y="221567"/>
                </a:lnTo>
                <a:lnTo>
                  <a:pt x="43401" y="287505"/>
                </a:lnTo>
                <a:lnTo>
                  <a:pt x="74433" y="314796"/>
                </a:lnTo>
                <a:lnTo>
                  <a:pt x="112043" y="337314"/>
                </a:lnTo>
                <a:lnTo>
                  <a:pt x="155210" y="354316"/>
                </a:lnTo>
                <a:lnTo>
                  <a:pt x="202912" y="365061"/>
                </a:lnTo>
                <a:lnTo>
                  <a:pt x="254127" y="368808"/>
                </a:lnTo>
                <a:lnTo>
                  <a:pt x="305341" y="365061"/>
                </a:lnTo>
                <a:lnTo>
                  <a:pt x="353043" y="354316"/>
                </a:lnTo>
                <a:lnTo>
                  <a:pt x="396210" y="337314"/>
                </a:lnTo>
                <a:lnTo>
                  <a:pt x="433820" y="314796"/>
                </a:lnTo>
                <a:lnTo>
                  <a:pt x="464852" y="287505"/>
                </a:lnTo>
                <a:lnTo>
                  <a:pt x="488283" y="256181"/>
                </a:lnTo>
                <a:lnTo>
                  <a:pt x="508254" y="184404"/>
                </a:lnTo>
                <a:lnTo>
                  <a:pt x="503090" y="147240"/>
                </a:lnTo>
                <a:lnTo>
                  <a:pt x="464852" y="81302"/>
                </a:lnTo>
                <a:lnTo>
                  <a:pt x="433820" y="54011"/>
                </a:lnTo>
                <a:lnTo>
                  <a:pt x="396210" y="31493"/>
                </a:lnTo>
                <a:lnTo>
                  <a:pt x="353043" y="14491"/>
                </a:lnTo>
                <a:lnTo>
                  <a:pt x="305341" y="3746"/>
                </a:lnTo>
                <a:lnTo>
                  <a:pt x="25412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156940" y="4708361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4" h="368935">
                <a:moveTo>
                  <a:pt x="0" y="184404"/>
                </a:moveTo>
                <a:lnTo>
                  <a:pt x="19970" y="112626"/>
                </a:lnTo>
                <a:lnTo>
                  <a:pt x="43401" y="81302"/>
                </a:lnTo>
                <a:lnTo>
                  <a:pt x="74433" y="54011"/>
                </a:lnTo>
                <a:lnTo>
                  <a:pt x="112043" y="31493"/>
                </a:lnTo>
                <a:lnTo>
                  <a:pt x="155210" y="14491"/>
                </a:lnTo>
                <a:lnTo>
                  <a:pt x="202912" y="3746"/>
                </a:lnTo>
                <a:lnTo>
                  <a:pt x="254127" y="0"/>
                </a:lnTo>
                <a:lnTo>
                  <a:pt x="305341" y="3746"/>
                </a:lnTo>
                <a:lnTo>
                  <a:pt x="353043" y="14491"/>
                </a:lnTo>
                <a:lnTo>
                  <a:pt x="396210" y="31493"/>
                </a:lnTo>
                <a:lnTo>
                  <a:pt x="433820" y="54011"/>
                </a:lnTo>
                <a:lnTo>
                  <a:pt x="464852" y="81302"/>
                </a:lnTo>
                <a:lnTo>
                  <a:pt x="488283" y="112626"/>
                </a:lnTo>
                <a:lnTo>
                  <a:pt x="508254" y="184404"/>
                </a:lnTo>
                <a:lnTo>
                  <a:pt x="503090" y="221567"/>
                </a:lnTo>
                <a:lnTo>
                  <a:pt x="464852" y="287505"/>
                </a:lnTo>
                <a:lnTo>
                  <a:pt x="433820" y="314796"/>
                </a:lnTo>
                <a:lnTo>
                  <a:pt x="396210" y="337314"/>
                </a:lnTo>
                <a:lnTo>
                  <a:pt x="353043" y="354316"/>
                </a:lnTo>
                <a:lnTo>
                  <a:pt x="305341" y="365061"/>
                </a:lnTo>
                <a:lnTo>
                  <a:pt x="254127" y="368808"/>
                </a:lnTo>
                <a:lnTo>
                  <a:pt x="202912" y="365061"/>
                </a:lnTo>
                <a:lnTo>
                  <a:pt x="155210" y="354316"/>
                </a:lnTo>
                <a:lnTo>
                  <a:pt x="112043" y="337314"/>
                </a:lnTo>
                <a:lnTo>
                  <a:pt x="74433" y="314796"/>
                </a:lnTo>
                <a:lnTo>
                  <a:pt x="43401" y="287505"/>
                </a:lnTo>
                <a:lnTo>
                  <a:pt x="19970" y="256181"/>
                </a:lnTo>
                <a:lnTo>
                  <a:pt x="0" y="184404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464275" y="4708361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69" h="368935">
                <a:moveTo>
                  <a:pt x="254508" y="0"/>
                </a:moveTo>
                <a:lnTo>
                  <a:pt x="203214" y="3746"/>
                </a:lnTo>
                <a:lnTo>
                  <a:pt x="155440" y="14491"/>
                </a:lnTo>
                <a:lnTo>
                  <a:pt x="112208" y="31493"/>
                </a:lnTo>
                <a:lnTo>
                  <a:pt x="74542" y="54011"/>
                </a:lnTo>
                <a:lnTo>
                  <a:pt x="43465" y="81302"/>
                </a:lnTo>
                <a:lnTo>
                  <a:pt x="20000" y="112626"/>
                </a:lnTo>
                <a:lnTo>
                  <a:pt x="0" y="184404"/>
                </a:lnTo>
                <a:lnTo>
                  <a:pt x="5170" y="221567"/>
                </a:lnTo>
                <a:lnTo>
                  <a:pt x="43465" y="287505"/>
                </a:lnTo>
                <a:lnTo>
                  <a:pt x="74542" y="314796"/>
                </a:lnTo>
                <a:lnTo>
                  <a:pt x="112208" y="337314"/>
                </a:lnTo>
                <a:lnTo>
                  <a:pt x="155440" y="354316"/>
                </a:lnTo>
                <a:lnTo>
                  <a:pt x="203214" y="365061"/>
                </a:lnTo>
                <a:lnTo>
                  <a:pt x="254508" y="368808"/>
                </a:lnTo>
                <a:lnTo>
                  <a:pt x="305801" y="365061"/>
                </a:lnTo>
                <a:lnTo>
                  <a:pt x="353575" y="354316"/>
                </a:lnTo>
                <a:lnTo>
                  <a:pt x="396807" y="337314"/>
                </a:lnTo>
                <a:lnTo>
                  <a:pt x="434473" y="314796"/>
                </a:lnTo>
                <a:lnTo>
                  <a:pt x="465550" y="287505"/>
                </a:lnTo>
                <a:lnTo>
                  <a:pt x="489015" y="256181"/>
                </a:lnTo>
                <a:lnTo>
                  <a:pt x="509016" y="184404"/>
                </a:lnTo>
                <a:lnTo>
                  <a:pt x="503845" y="147240"/>
                </a:lnTo>
                <a:lnTo>
                  <a:pt x="465550" y="81302"/>
                </a:lnTo>
                <a:lnTo>
                  <a:pt x="434473" y="54011"/>
                </a:lnTo>
                <a:lnTo>
                  <a:pt x="396807" y="31493"/>
                </a:lnTo>
                <a:lnTo>
                  <a:pt x="353575" y="14491"/>
                </a:lnTo>
                <a:lnTo>
                  <a:pt x="305801" y="3746"/>
                </a:lnTo>
                <a:lnTo>
                  <a:pt x="25450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464275" y="4708361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69" h="368935">
                <a:moveTo>
                  <a:pt x="0" y="184404"/>
                </a:moveTo>
                <a:lnTo>
                  <a:pt x="20000" y="112626"/>
                </a:lnTo>
                <a:lnTo>
                  <a:pt x="43465" y="81302"/>
                </a:lnTo>
                <a:lnTo>
                  <a:pt x="74542" y="54011"/>
                </a:lnTo>
                <a:lnTo>
                  <a:pt x="112208" y="31493"/>
                </a:lnTo>
                <a:lnTo>
                  <a:pt x="155440" y="14491"/>
                </a:lnTo>
                <a:lnTo>
                  <a:pt x="203214" y="3746"/>
                </a:lnTo>
                <a:lnTo>
                  <a:pt x="254508" y="0"/>
                </a:lnTo>
                <a:lnTo>
                  <a:pt x="305801" y="3746"/>
                </a:lnTo>
                <a:lnTo>
                  <a:pt x="353575" y="14491"/>
                </a:lnTo>
                <a:lnTo>
                  <a:pt x="396807" y="31493"/>
                </a:lnTo>
                <a:lnTo>
                  <a:pt x="434473" y="54011"/>
                </a:lnTo>
                <a:lnTo>
                  <a:pt x="465550" y="81302"/>
                </a:lnTo>
                <a:lnTo>
                  <a:pt x="489015" y="112626"/>
                </a:lnTo>
                <a:lnTo>
                  <a:pt x="509016" y="184404"/>
                </a:lnTo>
                <a:lnTo>
                  <a:pt x="503845" y="221567"/>
                </a:lnTo>
                <a:lnTo>
                  <a:pt x="465550" y="287505"/>
                </a:lnTo>
                <a:lnTo>
                  <a:pt x="434473" y="314796"/>
                </a:lnTo>
                <a:lnTo>
                  <a:pt x="396807" y="337314"/>
                </a:lnTo>
                <a:lnTo>
                  <a:pt x="353575" y="354316"/>
                </a:lnTo>
                <a:lnTo>
                  <a:pt x="305801" y="365061"/>
                </a:lnTo>
                <a:lnTo>
                  <a:pt x="254508" y="368808"/>
                </a:lnTo>
                <a:lnTo>
                  <a:pt x="203214" y="365061"/>
                </a:lnTo>
                <a:lnTo>
                  <a:pt x="155440" y="354316"/>
                </a:lnTo>
                <a:lnTo>
                  <a:pt x="112208" y="337314"/>
                </a:lnTo>
                <a:lnTo>
                  <a:pt x="74542" y="314796"/>
                </a:lnTo>
                <a:lnTo>
                  <a:pt x="43465" y="287505"/>
                </a:lnTo>
                <a:lnTo>
                  <a:pt x="20000" y="256181"/>
                </a:lnTo>
                <a:lnTo>
                  <a:pt x="0" y="184404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3238559" y="4752892"/>
            <a:ext cx="273879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785687" algn="l"/>
                <a:tab pos="1555288" algn="l"/>
                <a:tab pos="2324042" algn="l"/>
              </a:tabLst>
            </a:pP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21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10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32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41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77355" y="3876258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254127" y="0"/>
                </a:moveTo>
                <a:lnTo>
                  <a:pt x="202912" y="3746"/>
                </a:lnTo>
                <a:lnTo>
                  <a:pt x="155210" y="14491"/>
                </a:lnTo>
                <a:lnTo>
                  <a:pt x="112043" y="31493"/>
                </a:lnTo>
                <a:lnTo>
                  <a:pt x="74433" y="54011"/>
                </a:lnTo>
                <a:lnTo>
                  <a:pt x="43401" y="81302"/>
                </a:lnTo>
                <a:lnTo>
                  <a:pt x="19970" y="112626"/>
                </a:lnTo>
                <a:lnTo>
                  <a:pt x="0" y="184404"/>
                </a:lnTo>
                <a:lnTo>
                  <a:pt x="5163" y="221567"/>
                </a:lnTo>
                <a:lnTo>
                  <a:pt x="43401" y="287505"/>
                </a:lnTo>
                <a:lnTo>
                  <a:pt x="74433" y="314796"/>
                </a:lnTo>
                <a:lnTo>
                  <a:pt x="112043" y="337314"/>
                </a:lnTo>
                <a:lnTo>
                  <a:pt x="155210" y="354316"/>
                </a:lnTo>
                <a:lnTo>
                  <a:pt x="202912" y="365061"/>
                </a:lnTo>
                <a:lnTo>
                  <a:pt x="254127" y="368808"/>
                </a:lnTo>
                <a:lnTo>
                  <a:pt x="305341" y="365061"/>
                </a:lnTo>
                <a:lnTo>
                  <a:pt x="353043" y="354316"/>
                </a:lnTo>
                <a:lnTo>
                  <a:pt x="396210" y="337314"/>
                </a:lnTo>
                <a:lnTo>
                  <a:pt x="433820" y="314796"/>
                </a:lnTo>
                <a:lnTo>
                  <a:pt x="464852" y="287505"/>
                </a:lnTo>
                <a:lnTo>
                  <a:pt x="488283" y="256181"/>
                </a:lnTo>
                <a:lnTo>
                  <a:pt x="508254" y="184404"/>
                </a:lnTo>
                <a:lnTo>
                  <a:pt x="503090" y="147240"/>
                </a:lnTo>
                <a:lnTo>
                  <a:pt x="464852" y="81302"/>
                </a:lnTo>
                <a:lnTo>
                  <a:pt x="433820" y="54011"/>
                </a:lnTo>
                <a:lnTo>
                  <a:pt x="396210" y="31493"/>
                </a:lnTo>
                <a:lnTo>
                  <a:pt x="353043" y="14491"/>
                </a:lnTo>
                <a:lnTo>
                  <a:pt x="305341" y="3746"/>
                </a:lnTo>
                <a:lnTo>
                  <a:pt x="25412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977355" y="3876258"/>
            <a:ext cx="678179" cy="491913"/>
          </a:xfrm>
          <a:custGeom>
            <a:avLst/>
            <a:gdLst/>
            <a:ahLst/>
            <a:cxnLst/>
            <a:rect l="l" t="t" r="r" b="b"/>
            <a:pathLst>
              <a:path w="508635" h="368935">
                <a:moveTo>
                  <a:pt x="0" y="184404"/>
                </a:moveTo>
                <a:lnTo>
                  <a:pt x="19970" y="112626"/>
                </a:lnTo>
                <a:lnTo>
                  <a:pt x="43401" y="81302"/>
                </a:lnTo>
                <a:lnTo>
                  <a:pt x="74433" y="54011"/>
                </a:lnTo>
                <a:lnTo>
                  <a:pt x="112043" y="31493"/>
                </a:lnTo>
                <a:lnTo>
                  <a:pt x="155210" y="14491"/>
                </a:lnTo>
                <a:lnTo>
                  <a:pt x="202912" y="3746"/>
                </a:lnTo>
                <a:lnTo>
                  <a:pt x="254127" y="0"/>
                </a:lnTo>
                <a:lnTo>
                  <a:pt x="305341" y="3746"/>
                </a:lnTo>
                <a:lnTo>
                  <a:pt x="353043" y="14491"/>
                </a:lnTo>
                <a:lnTo>
                  <a:pt x="396210" y="31493"/>
                </a:lnTo>
                <a:lnTo>
                  <a:pt x="433820" y="54011"/>
                </a:lnTo>
                <a:lnTo>
                  <a:pt x="464852" y="81302"/>
                </a:lnTo>
                <a:lnTo>
                  <a:pt x="488283" y="112626"/>
                </a:lnTo>
                <a:lnTo>
                  <a:pt x="508254" y="184404"/>
                </a:lnTo>
                <a:lnTo>
                  <a:pt x="503090" y="221567"/>
                </a:lnTo>
                <a:lnTo>
                  <a:pt x="464852" y="287505"/>
                </a:lnTo>
                <a:lnTo>
                  <a:pt x="433820" y="314796"/>
                </a:lnTo>
                <a:lnTo>
                  <a:pt x="396210" y="337314"/>
                </a:lnTo>
                <a:lnTo>
                  <a:pt x="353043" y="354316"/>
                </a:lnTo>
                <a:lnTo>
                  <a:pt x="305341" y="365061"/>
                </a:lnTo>
                <a:lnTo>
                  <a:pt x="254127" y="368808"/>
                </a:lnTo>
                <a:lnTo>
                  <a:pt x="202912" y="365061"/>
                </a:lnTo>
                <a:lnTo>
                  <a:pt x="155210" y="354316"/>
                </a:lnTo>
                <a:lnTo>
                  <a:pt x="112043" y="337314"/>
                </a:lnTo>
                <a:lnTo>
                  <a:pt x="74433" y="314796"/>
                </a:lnTo>
                <a:lnTo>
                  <a:pt x="43401" y="287505"/>
                </a:lnTo>
                <a:lnTo>
                  <a:pt x="19970" y="256181"/>
                </a:lnTo>
                <a:lnTo>
                  <a:pt x="0" y="184404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6111719" y="3920740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18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34508" y="3873208"/>
            <a:ext cx="678179" cy="492760"/>
          </a:xfrm>
          <a:custGeom>
            <a:avLst/>
            <a:gdLst/>
            <a:ahLst/>
            <a:cxnLst/>
            <a:rect l="l" t="t" r="r" b="b"/>
            <a:pathLst>
              <a:path w="508635" h="369570">
                <a:moveTo>
                  <a:pt x="254127" y="0"/>
                </a:moveTo>
                <a:lnTo>
                  <a:pt x="202912" y="3754"/>
                </a:lnTo>
                <a:lnTo>
                  <a:pt x="155210" y="14520"/>
                </a:lnTo>
                <a:lnTo>
                  <a:pt x="112043" y="31557"/>
                </a:lnTo>
                <a:lnTo>
                  <a:pt x="74433" y="54121"/>
                </a:lnTo>
                <a:lnTo>
                  <a:pt x="43401" y="81468"/>
                </a:lnTo>
                <a:lnTo>
                  <a:pt x="19970" y="112856"/>
                </a:lnTo>
                <a:lnTo>
                  <a:pt x="0" y="184785"/>
                </a:lnTo>
                <a:lnTo>
                  <a:pt x="5163" y="222026"/>
                </a:lnTo>
                <a:lnTo>
                  <a:pt x="43401" y="288101"/>
                </a:lnTo>
                <a:lnTo>
                  <a:pt x="74433" y="315448"/>
                </a:lnTo>
                <a:lnTo>
                  <a:pt x="112043" y="338012"/>
                </a:lnTo>
                <a:lnTo>
                  <a:pt x="155210" y="355049"/>
                </a:lnTo>
                <a:lnTo>
                  <a:pt x="202912" y="365815"/>
                </a:lnTo>
                <a:lnTo>
                  <a:pt x="254127" y="369570"/>
                </a:lnTo>
                <a:lnTo>
                  <a:pt x="305341" y="365815"/>
                </a:lnTo>
                <a:lnTo>
                  <a:pt x="353043" y="355049"/>
                </a:lnTo>
                <a:lnTo>
                  <a:pt x="396210" y="338012"/>
                </a:lnTo>
                <a:lnTo>
                  <a:pt x="433820" y="315448"/>
                </a:lnTo>
                <a:lnTo>
                  <a:pt x="464852" y="288101"/>
                </a:lnTo>
                <a:lnTo>
                  <a:pt x="488283" y="256713"/>
                </a:lnTo>
                <a:lnTo>
                  <a:pt x="508254" y="184785"/>
                </a:lnTo>
                <a:lnTo>
                  <a:pt x="503090" y="147543"/>
                </a:lnTo>
                <a:lnTo>
                  <a:pt x="464852" y="81468"/>
                </a:lnTo>
                <a:lnTo>
                  <a:pt x="433820" y="54121"/>
                </a:lnTo>
                <a:lnTo>
                  <a:pt x="396210" y="31557"/>
                </a:lnTo>
                <a:lnTo>
                  <a:pt x="353043" y="14520"/>
                </a:lnTo>
                <a:lnTo>
                  <a:pt x="305341" y="3754"/>
                </a:lnTo>
                <a:lnTo>
                  <a:pt x="2541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5034508" y="3873208"/>
            <a:ext cx="678179" cy="492760"/>
          </a:xfrm>
          <a:custGeom>
            <a:avLst/>
            <a:gdLst/>
            <a:ahLst/>
            <a:cxnLst/>
            <a:rect l="l" t="t" r="r" b="b"/>
            <a:pathLst>
              <a:path w="508635" h="369570">
                <a:moveTo>
                  <a:pt x="0" y="184785"/>
                </a:moveTo>
                <a:lnTo>
                  <a:pt x="19970" y="112856"/>
                </a:lnTo>
                <a:lnTo>
                  <a:pt x="43401" y="81468"/>
                </a:lnTo>
                <a:lnTo>
                  <a:pt x="74433" y="54121"/>
                </a:lnTo>
                <a:lnTo>
                  <a:pt x="112043" y="31557"/>
                </a:lnTo>
                <a:lnTo>
                  <a:pt x="155210" y="14520"/>
                </a:lnTo>
                <a:lnTo>
                  <a:pt x="202912" y="3754"/>
                </a:lnTo>
                <a:lnTo>
                  <a:pt x="254127" y="0"/>
                </a:lnTo>
                <a:lnTo>
                  <a:pt x="305341" y="3754"/>
                </a:lnTo>
                <a:lnTo>
                  <a:pt x="353043" y="14520"/>
                </a:lnTo>
                <a:lnTo>
                  <a:pt x="396210" y="31557"/>
                </a:lnTo>
                <a:lnTo>
                  <a:pt x="433820" y="54121"/>
                </a:lnTo>
                <a:lnTo>
                  <a:pt x="464852" y="81468"/>
                </a:lnTo>
                <a:lnTo>
                  <a:pt x="488283" y="112856"/>
                </a:lnTo>
                <a:lnTo>
                  <a:pt x="508254" y="184785"/>
                </a:lnTo>
                <a:lnTo>
                  <a:pt x="503090" y="222026"/>
                </a:lnTo>
                <a:lnTo>
                  <a:pt x="464852" y="288101"/>
                </a:lnTo>
                <a:lnTo>
                  <a:pt x="433820" y="315448"/>
                </a:lnTo>
                <a:lnTo>
                  <a:pt x="396210" y="338012"/>
                </a:lnTo>
                <a:lnTo>
                  <a:pt x="353043" y="355049"/>
                </a:lnTo>
                <a:lnTo>
                  <a:pt x="305341" y="365815"/>
                </a:lnTo>
                <a:lnTo>
                  <a:pt x="254127" y="369570"/>
                </a:lnTo>
                <a:lnTo>
                  <a:pt x="202912" y="365815"/>
                </a:lnTo>
                <a:lnTo>
                  <a:pt x="155210" y="355049"/>
                </a:lnTo>
                <a:lnTo>
                  <a:pt x="112043" y="338012"/>
                </a:lnTo>
                <a:lnTo>
                  <a:pt x="74433" y="315448"/>
                </a:lnTo>
                <a:lnTo>
                  <a:pt x="43401" y="288101"/>
                </a:lnTo>
                <a:lnTo>
                  <a:pt x="19970" y="256713"/>
                </a:lnTo>
                <a:lnTo>
                  <a:pt x="0" y="184785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 txBox="1"/>
          <p:nvPr/>
        </p:nvSpPr>
        <p:spPr>
          <a:xfrm>
            <a:off x="5168666" y="3918073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73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33388" y="3044154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70" h="368935">
                <a:moveTo>
                  <a:pt x="254508" y="0"/>
                </a:moveTo>
                <a:lnTo>
                  <a:pt x="203214" y="3746"/>
                </a:lnTo>
                <a:lnTo>
                  <a:pt x="155440" y="14491"/>
                </a:lnTo>
                <a:lnTo>
                  <a:pt x="112208" y="31493"/>
                </a:lnTo>
                <a:lnTo>
                  <a:pt x="74542" y="54011"/>
                </a:lnTo>
                <a:lnTo>
                  <a:pt x="43465" y="81302"/>
                </a:lnTo>
                <a:lnTo>
                  <a:pt x="20000" y="112626"/>
                </a:lnTo>
                <a:lnTo>
                  <a:pt x="0" y="184404"/>
                </a:lnTo>
                <a:lnTo>
                  <a:pt x="5170" y="221567"/>
                </a:lnTo>
                <a:lnTo>
                  <a:pt x="43465" y="287505"/>
                </a:lnTo>
                <a:lnTo>
                  <a:pt x="74542" y="314796"/>
                </a:lnTo>
                <a:lnTo>
                  <a:pt x="112208" y="337314"/>
                </a:lnTo>
                <a:lnTo>
                  <a:pt x="155440" y="354316"/>
                </a:lnTo>
                <a:lnTo>
                  <a:pt x="203214" y="365061"/>
                </a:lnTo>
                <a:lnTo>
                  <a:pt x="254508" y="368808"/>
                </a:lnTo>
                <a:lnTo>
                  <a:pt x="305801" y="365061"/>
                </a:lnTo>
                <a:lnTo>
                  <a:pt x="353575" y="354316"/>
                </a:lnTo>
                <a:lnTo>
                  <a:pt x="396807" y="337314"/>
                </a:lnTo>
                <a:lnTo>
                  <a:pt x="434473" y="314796"/>
                </a:lnTo>
                <a:lnTo>
                  <a:pt x="465550" y="287505"/>
                </a:lnTo>
                <a:lnTo>
                  <a:pt x="489015" y="256181"/>
                </a:lnTo>
                <a:lnTo>
                  <a:pt x="509016" y="184404"/>
                </a:lnTo>
                <a:lnTo>
                  <a:pt x="503845" y="147240"/>
                </a:lnTo>
                <a:lnTo>
                  <a:pt x="465550" y="81302"/>
                </a:lnTo>
                <a:lnTo>
                  <a:pt x="434473" y="54011"/>
                </a:lnTo>
                <a:lnTo>
                  <a:pt x="396807" y="31493"/>
                </a:lnTo>
                <a:lnTo>
                  <a:pt x="353575" y="14491"/>
                </a:lnTo>
                <a:lnTo>
                  <a:pt x="305801" y="3746"/>
                </a:lnTo>
                <a:lnTo>
                  <a:pt x="254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6233388" y="3044154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70" h="368935">
                <a:moveTo>
                  <a:pt x="0" y="184404"/>
                </a:moveTo>
                <a:lnTo>
                  <a:pt x="20000" y="112626"/>
                </a:lnTo>
                <a:lnTo>
                  <a:pt x="43465" y="81302"/>
                </a:lnTo>
                <a:lnTo>
                  <a:pt x="74542" y="54011"/>
                </a:lnTo>
                <a:lnTo>
                  <a:pt x="112208" y="31493"/>
                </a:lnTo>
                <a:lnTo>
                  <a:pt x="155440" y="14491"/>
                </a:lnTo>
                <a:lnTo>
                  <a:pt x="203214" y="3746"/>
                </a:lnTo>
                <a:lnTo>
                  <a:pt x="254508" y="0"/>
                </a:lnTo>
                <a:lnTo>
                  <a:pt x="305801" y="3746"/>
                </a:lnTo>
                <a:lnTo>
                  <a:pt x="353575" y="14491"/>
                </a:lnTo>
                <a:lnTo>
                  <a:pt x="396807" y="31493"/>
                </a:lnTo>
                <a:lnTo>
                  <a:pt x="434473" y="54011"/>
                </a:lnTo>
                <a:lnTo>
                  <a:pt x="465550" y="81302"/>
                </a:lnTo>
                <a:lnTo>
                  <a:pt x="489015" y="112626"/>
                </a:lnTo>
                <a:lnTo>
                  <a:pt x="509016" y="184404"/>
                </a:lnTo>
                <a:lnTo>
                  <a:pt x="503845" y="221567"/>
                </a:lnTo>
                <a:lnTo>
                  <a:pt x="465550" y="287505"/>
                </a:lnTo>
                <a:lnTo>
                  <a:pt x="434473" y="314796"/>
                </a:lnTo>
                <a:lnTo>
                  <a:pt x="396807" y="337314"/>
                </a:lnTo>
                <a:lnTo>
                  <a:pt x="353575" y="354316"/>
                </a:lnTo>
                <a:lnTo>
                  <a:pt x="305801" y="365061"/>
                </a:lnTo>
                <a:lnTo>
                  <a:pt x="254508" y="368808"/>
                </a:lnTo>
                <a:lnTo>
                  <a:pt x="203214" y="365061"/>
                </a:lnTo>
                <a:lnTo>
                  <a:pt x="155440" y="354316"/>
                </a:lnTo>
                <a:lnTo>
                  <a:pt x="112208" y="337314"/>
                </a:lnTo>
                <a:lnTo>
                  <a:pt x="74542" y="314796"/>
                </a:lnTo>
                <a:lnTo>
                  <a:pt x="43465" y="287505"/>
                </a:lnTo>
                <a:lnTo>
                  <a:pt x="20000" y="256181"/>
                </a:lnTo>
                <a:lnTo>
                  <a:pt x="0" y="184404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 txBox="1"/>
          <p:nvPr/>
        </p:nvSpPr>
        <p:spPr>
          <a:xfrm>
            <a:off x="6357627" y="3088589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88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28541" y="3107146"/>
            <a:ext cx="679873" cy="491913"/>
          </a:xfrm>
          <a:custGeom>
            <a:avLst/>
            <a:gdLst/>
            <a:ahLst/>
            <a:cxnLst/>
            <a:rect l="l" t="t" r="r" b="b"/>
            <a:pathLst>
              <a:path w="509905" h="368935">
                <a:moveTo>
                  <a:pt x="254889" y="0"/>
                </a:moveTo>
                <a:lnTo>
                  <a:pt x="203521" y="3746"/>
                </a:lnTo>
                <a:lnTo>
                  <a:pt x="155676" y="14491"/>
                </a:lnTo>
                <a:lnTo>
                  <a:pt x="112380" y="31493"/>
                </a:lnTo>
                <a:lnTo>
                  <a:pt x="74656" y="54011"/>
                </a:lnTo>
                <a:lnTo>
                  <a:pt x="43532" y="81302"/>
                </a:lnTo>
                <a:lnTo>
                  <a:pt x="20031" y="112626"/>
                </a:lnTo>
                <a:lnTo>
                  <a:pt x="0" y="184404"/>
                </a:lnTo>
                <a:lnTo>
                  <a:pt x="5178" y="221567"/>
                </a:lnTo>
                <a:lnTo>
                  <a:pt x="43532" y="287505"/>
                </a:lnTo>
                <a:lnTo>
                  <a:pt x="74656" y="314796"/>
                </a:lnTo>
                <a:lnTo>
                  <a:pt x="112380" y="337314"/>
                </a:lnTo>
                <a:lnTo>
                  <a:pt x="155676" y="354316"/>
                </a:lnTo>
                <a:lnTo>
                  <a:pt x="203521" y="365061"/>
                </a:lnTo>
                <a:lnTo>
                  <a:pt x="254889" y="368808"/>
                </a:lnTo>
                <a:lnTo>
                  <a:pt x="306256" y="365061"/>
                </a:lnTo>
                <a:lnTo>
                  <a:pt x="354101" y="354316"/>
                </a:lnTo>
                <a:lnTo>
                  <a:pt x="397397" y="337314"/>
                </a:lnTo>
                <a:lnTo>
                  <a:pt x="435121" y="314796"/>
                </a:lnTo>
                <a:lnTo>
                  <a:pt x="466245" y="287505"/>
                </a:lnTo>
                <a:lnTo>
                  <a:pt x="489746" y="256181"/>
                </a:lnTo>
                <a:lnTo>
                  <a:pt x="509778" y="184404"/>
                </a:lnTo>
                <a:lnTo>
                  <a:pt x="504599" y="147240"/>
                </a:lnTo>
                <a:lnTo>
                  <a:pt x="466245" y="81302"/>
                </a:lnTo>
                <a:lnTo>
                  <a:pt x="435121" y="54011"/>
                </a:lnTo>
                <a:lnTo>
                  <a:pt x="397397" y="31493"/>
                </a:lnTo>
                <a:lnTo>
                  <a:pt x="354101" y="14491"/>
                </a:lnTo>
                <a:lnTo>
                  <a:pt x="306256" y="3746"/>
                </a:lnTo>
                <a:lnTo>
                  <a:pt x="2548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4528541" y="3107146"/>
            <a:ext cx="679873" cy="491913"/>
          </a:xfrm>
          <a:custGeom>
            <a:avLst/>
            <a:gdLst/>
            <a:ahLst/>
            <a:cxnLst/>
            <a:rect l="l" t="t" r="r" b="b"/>
            <a:pathLst>
              <a:path w="509905" h="368935">
                <a:moveTo>
                  <a:pt x="0" y="184404"/>
                </a:moveTo>
                <a:lnTo>
                  <a:pt x="20031" y="112626"/>
                </a:lnTo>
                <a:lnTo>
                  <a:pt x="43532" y="81302"/>
                </a:lnTo>
                <a:lnTo>
                  <a:pt x="74656" y="54011"/>
                </a:lnTo>
                <a:lnTo>
                  <a:pt x="112380" y="31493"/>
                </a:lnTo>
                <a:lnTo>
                  <a:pt x="155676" y="14491"/>
                </a:lnTo>
                <a:lnTo>
                  <a:pt x="203521" y="3746"/>
                </a:lnTo>
                <a:lnTo>
                  <a:pt x="254889" y="0"/>
                </a:lnTo>
                <a:lnTo>
                  <a:pt x="306256" y="3746"/>
                </a:lnTo>
                <a:lnTo>
                  <a:pt x="354101" y="14491"/>
                </a:lnTo>
                <a:lnTo>
                  <a:pt x="397397" y="31493"/>
                </a:lnTo>
                <a:lnTo>
                  <a:pt x="435121" y="54011"/>
                </a:lnTo>
                <a:lnTo>
                  <a:pt x="466245" y="81302"/>
                </a:lnTo>
                <a:lnTo>
                  <a:pt x="489746" y="112626"/>
                </a:lnTo>
                <a:lnTo>
                  <a:pt x="509778" y="184404"/>
                </a:lnTo>
                <a:lnTo>
                  <a:pt x="504599" y="221567"/>
                </a:lnTo>
                <a:lnTo>
                  <a:pt x="466245" y="287505"/>
                </a:lnTo>
                <a:lnTo>
                  <a:pt x="435121" y="314796"/>
                </a:lnTo>
                <a:lnTo>
                  <a:pt x="397397" y="337314"/>
                </a:lnTo>
                <a:lnTo>
                  <a:pt x="354101" y="354316"/>
                </a:lnTo>
                <a:lnTo>
                  <a:pt x="306256" y="365061"/>
                </a:lnTo>
                <a:lnTo>
                  <a:pt x="254889" y="368808"/>
                </a:lnTo>
                <a:lnTo>
                  <a:pt x="203521" y="365061"/>
                </a:lnTo>
                <a:lnTo>
                  <a:pt x="155676" y="354316"/>
                </a:lnTo>
                <a:lnTo>
                  <a:pt x="112380" y="337314"/>
                </a:lnTo>
                <a:lnTo>
                  <a:pt x="74656" y="314796"/>
                </a:lnTo>
                <a:lnTo>
                  <a:pt x="43532" y="287505"/>
                </a:lnTo>
                <a:lnTo>
                  <a:pt x="20031" y="256181"/>
                </a:lnTo>
                <a:lnTo>
                  <a:pt x="0" y="184404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 txBox="1"/>
          <p:nvPr/>
        </p:nvSpPr>
        <p:spPr>
          <a:xfrm>
            <a:off x="4610611" y="3151266"/>
            <a:ext cx="4910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104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527335" y="2254091"/>
            <a:ext cx="679027" cy="330130"/>
          </a:xfrm>
          <a:custGeom>
            <a:avLst/>
            <a:gdLst/>
            <a:ahLst/>
            <a:cxnLst/>
            <a:rect l="l" t="t" r="r" b="b"/>
            <a:pathLst>
              <a:path w="509269" h="368935">
                <a:moveTo>
                  <a:pt x="254508" y="0"/>
                </a:moveTo>
                <a:lnTo>
                  <a:pt x="203214" y="3746"/>
                </a:lnTo>
                <a:lnTo>
                  <a:pt x="155440" y="14491"/>
                </a:lnTo>
                <a:lnTo>
                  <a:pt x="112208" y="31493"/>
                </a:lnTo>
                <a:lnTo>
                  <a:pt x="74542" y="54011"/>
                </a:lnTo>
                <a:lnTo>
                  <a:pt x="43465" y="81302"/>
                </a:lnTo>
                <a:lnTo>
                  <a:pt x="20000" y="112626"/>
                </a:lnTo>
                <a:lnTo>
                  <a:pt x="0" y="184403"/>
                </a:lnTo>
                <a:lnTo>
                  <a:pt x="5170" y="221567"/>
                </a:lnTo>
                <a:lnTo>
                  <a:pt x="43465" y="287505"/>
                </a:lnTo>
                <a:lnTo>
                  <a:pt x="74542" y="314796"/>
                </a:lnTo>
                <a:lnTo>
                  <a:pt x="112208" y="337314"/>
                </a:lnTo>
                <a:lnTo>
                  <a:pt x="155440" y="354316"/>
                </a:lnTo>
                <a:lnTo>
                  <a:pt x="203214" y="365061"/>
                </a:lnTo>
                <a:lnTo>
                  <a:pt x="254508" y="368807"/>
                </a:lnTo>
                <a:lnTo>
                  <a:pt x="305801" y="365061"/>
                </a:lnTo>
                <a:lnTo>
                  <a:pt x="353575" y="354316"/>
                </a:lnTo>
                <a:lnTo>
                  <a:pt x="396807" y="337314"/>
                </a:lnTo>
                <a:lnTo>
                  <a:pt x="434473" y="314796"/>
                </a:lnTo>
                <a:lnTo>
                  <a:pt x="465550" y="287505"/>
                </a:lnTo>
                <a:lnTo>
                  <a:pt x="489015" y="256181"/>
                </a:lnTo>
                <a:lnTo>
                  <a:pt x="509016" y="184403"/>
                </a:lnTo>
                <a:lnTo>
                  <a:pt x="503845" y="147240"/>
                </a:lnTo>
                <a:lnTo>
                  <a:pt x="465550" y="81302"/>
                </a:lnTo>
                <a:lnTo>
                  <a:pt x="434473" y="54011"/>
                </a:lnTo>
                <a:lnTo>
                  <a:pt x="396807" y="31493"/>
                </a:lnTo>
                <a:lnTo>
                  <a:pt x="353575" y="14491"/>
                </a:lnTo>
                <a:lnTo>
                  <a:pt x="305801" y="3746"/>
                </a:lnTo>
                <a:lnTo>
                  <a:pt x="254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464275" y="2212050"/>
            <a:ext cx="679027" cy="491913"/>
          </a:xfrm>
          <a:custGeom>
            <a:avLst/>
            <a:gdLst/>
            <a:ahLst/>
            <a:cxnLst/>
            <a:rect l="l" t="t" r="r" b="b"/>
            <a:pathLst>
              <a:path w="509269" h="368935">
                <a:moveTo>
                  <a:pt x="0" y="184403"/>
                </a:moveTo>
                <a:lnTo>
                  <a:pt x="20000" y="112626"/>
                </a:lnTo>
                <a:lnTo>
                  <a:pt x="43465" y="81302"/>
                </a:lnTo>
                <a:lnTo>
                  <a:pt x="74542" y="54011"/>
                </a:lnTo>
                <a:lnTo>
                  <a:pt x="112208" y="31493"/>
                </a:lnTo>
                <a:lnTo>
                  <a:pt x="155440" y="14491"/>
                </a:lnTo>
                <a:lnTo>
                  <a:pt x="203214" y="3746"/>
                </a:lnTo>
                <a:lnTo>
                  <a:pt x="254508" y="0"/>
                </a:lnTo>
                <a:lnTo>
                  <a:pt x="305801" y="3746"/>
                </a:lnTo>
                <a:lnTo>
                  <a:pt x="353575" y="14491"/>
                </a:lnTo>
                <a:lnTo>
                  <a:pt x="396807" y="31493"/>
                </a:lnTo>
                <a:lnTo>
                  <a:pt x="434473" y="54011"/>
                </a:lnTo>
                <a:lnTo>
                  <a:pt x="465550" y="81302"/>
                </a:lnTo>
                <a:lnTo>
                  <a:pt x="489015" y="112626"/>
                </a:lnTo>
                <a:lnTo>
                  <a:pt x="509016" y="184403"/>
                </a:lnTo>
                <a:lnTo>
                  <a:pt x="503845" y="221567"/>
                </a:lnTo>
                <a:lnTo>
                  <a:pt x="465550" y="287505"/>
                </a:lnTo>
                <a:lnTo>
                  <a:pt x="434473" y="314796"/>
                </a:lnTo>
                <a:lnTo>
                  <a:pt x="396807" y="337314"/>
                </a:lnTo>
                <a:lnTo>
                  <a:pt x="353575" y="354316"/>
                </a:lnTo>
                <a:lnTo>
                  <a:pt x="305801" y="365061"/>
                </a:lnTo>
                <a:lnTo>
                  <a:pt x="254508" y="368807"/>
                </a:lnTo>
                <a:lnTo>
                  <a:pt x="203214" y="365061"/>
                </a:lnTo>
                <a:lnTo>
                  <a:pt x="155440" y="354316"/>
                </a:lnTo>
                <a:lnTo>
                  <a:pt x="112208" y="337314"/>
                </a:lnTo>
                <a:lnTo>
                  <a:pt x="74542" y="314796"/>
                </a:lnTo>
                <a:lnTo>
                  <a:pt x="43465" y="287505"/>
                </a:lnTo>
                <a:lnTo>
                  <a:pt x="20000" y="256181"/>
                </a:lnTo>
                <a:lnTo>
                  <a:pt x="0" y="184403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 txBox="1"/>
          <p:nvPr/>
        </p:nvSpPr>
        <p:spPr>
          <a:xfrm>
            <a:off x="816187" y="1425532"/>
            <a:ext cx="53907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实例</a:t>
            </a:r>
            <a:r>
              <a:rPr sz="3200" b="1" spc="-7" dirty="0">
                <a:latin typeface="宋体"/>
                <a:cs typeface="宋体"/>
              </a:rPr>
              <a:t>：</a:t>
            </a:r>
            <a:r>
              <a:rPr sz="3200" b="1" i="1" spc="-7" dirty="0">
                <a:latin typeface="Times New Roman"/>
                <a:cs typeface="Times New Roman"/>
              </a:rPr>
              <a:t>S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{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21,10,32,41,18,70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}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174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3920" y="170042"/>
            <a:ext cx="7787541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归并代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924" y="3822276"/>
            <a:ext cx="11361683" cy="1086622"/>
          </a:xfrm>
          <a:prstGeom prst="rect">
            <a:avLst/>
          </a:prstGeom>
        </p:spPr>
        <p:txBody>
          <a:bodyPr vert="horz" wrap="square" lIns="0" tIns="121073" rIns="0" bIns="0" rtlCol="0">
            <a:spAutoFit/>
          </a:bodyPr>
          <a:lstStyle/>
          <a:p>
            <a:pPr marL="16933">
              <a:spcBef>
                <a:spcPts val="953"/>
              </a:spcBef>
              <a:tabLst>
                <a:tab pos="694249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(1)	(21+10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1)+(32+41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1)+(18+70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 smtClean="0">
                <a:latin typeface="Times New Roman"/>
                <a:cs typeface="Times New Roman"/>
              </a:rPr>
              <a:t>)+(</a:t>
            </a:r>
            <a:r>
              <a:rPr sz="2800" b="1" spc="-7" dirty="0">
                <a:latin typeface="Times New Roman"/>
                <a:cs typeface="Times New Roman"/>
              </a:rPr>
              <a:t>31+73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1)+(104+88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483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827"/>
              </a:spcBef>
              <a:tabLst>
                <a:tab pos="694249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(2)	(21+10+32+41)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3+(18+70)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5=483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7576" y="1939033"/>
            <a:ext cx="243840" cy="739987"/>
          </a:xfrm>
          <a:custGeom>
            <a:avLst/>
            <a:gdLst/>
            <a:ahLst/>
            <a:cxnLst/>
            <a:rect l="l" t="t" r="r" b="b"/>
            <a:pathLst>
              <a:path w="182879" h="554989">
                <a:moveTo>
                  <a:pt x="182879" y="0"/>
                </a:moveTo>
                <a:lnTo>
                  <a:pt x="0" y="554736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4117369" y="1131315"/>
            <a:ext cx="2193713" cy="2219113"/>
          </a:xfrm>
          <a:custGeom>
            <a:avLst/>
            <a:gdLst/>
            <a:ahLst/>
            <a:cxnLst/>
            <a:rect l="l" t="t" r="r" b="b"/>
            <a:pathLst>
              <a:path w="1645285" h="1664335">
                <a:moveTo>
                  <a:pt x="1645158" y="0"/>
                </a:moveTo>
                <a:lnTo>
                  <a:pt x="0" y="1664208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847871" y="2795523"/>
            <a:ext cx="0" cy="555412"/>
          </a:xfrm>
          <a:custGeom>
            <a:avLst/>
            <a:gdLst/>
            <a:ahLst/>
            <a:cxnLst/>
            <a:rect l="l" t="t" r="r" b="b"/>
            <a:pathLst>
              <a:path h="416560">
                <a:moveTo>
                  <a:pt x="0" y="0"/>
                </a:moveTo>
                <a:lnTo>
                  <a:pt x="0" y="41605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5579392" y="2055875"/>
            <a:ext cx="731520" cy="1294553"/>
          </a:xfrm>
          <a:custGeom>
            <a:avLst/>
            <a:gdLst/>
            <a:ahLst/>
            <a:cxnLst/>
            <a:rect l="l" t="t" r="r" b="b"/>
            <a:pathLst>
              <a:path w="548639" h="970914">
                <a:moveTo>
                  <a:pt x="0" y="0"/>
                </a:moveTo>
                <a:lnTo>
                  <a:pt x="548640" y="970788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579392" y="2610610"/>
            <a:ext cx="243840" cy="739987"/>
          </a:xfrm>
          <a:custGeom>
            <a:avLst/>
            <a:gdLst/>
            <a:ahLst/>
            <a:cxnLst/>
            <a:rect l="l" t="t" r="r" b="b"/>
            <a:pathLst>
              <a:path w="182880" h="554989">
                <a:moveTo>
                  <a:pt x="182880" y="0"/>
                </a:moveTo>
                <a:lnTo>
                  <a:pt x="0" y="554736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310913" y="1131314"/>
            <a:ext cx="1462193" cy="1479973"/>
          </a:xfrm>
          <a:custGeom>
            <a:avLst/>
            <a:gdLst/>
            <a:ahLst/>
            <a:cxnLst/>
            <a:rect l="l" t="t" r="r" b="b"/>
            <a:pathLst>
              <a:path w="1096645" h="1109980">
                <a:moveTo>
                  <a:pt x="0" y="0"/>
                </a:moveTo>
                <a:lnTo>
                  <a:pt x="1096518" y="110947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335551" y="3165345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241554" y="0"/>
                </a:moveTo>
                <a:lnTo>
                  <a:pt x="186169" y="4336"/>
                </a:lnTo>
                <a:lnTo>
                  <a:pt x="135327" y="16690"/>
                </a:lnTo>
                <a:lnTo>
                  <a:pt x="90476" y="36075"/>
                </a:lnTo>
                <a:lnTo>
                  <a:pt x="53068" y="61505"/>
                </a:lnTo>
                <a:lnTo>
                  <a:pt x="24552" y="91995"/>
                </a:lnTo>
                <a:lnTo>
                  <a:pt x="6379" y="126559"/>
                </a:lnTo>
                <a:lnTo>
                  <a:pt x="0" y="164211"/>
                </a:lnTo>
                <a:lnTo>
                  <a:pt x="6379" y="201862"/>
                </a:lnTo>
                <a:lnTo>
                  <a:pt x="24552" y="236426"/>
                </a:lnTo>
                <a:lnTo>
                  <a:pt x="53068" y="266916"/>
                </a:lnTo>
                <a:lnTo>
                  <a:pt x="90476" y="292346"/>
                </a:lnTo>
                <a:lnTo>
                  <a:pt x="135327" y="311731"/>
                </a:lnTo>
                <a:lnTo>
                  <a:pt x="186169" y="324085"/>
                </a:lnTo>
                <a:lnTo>
                  <a:pt x="241554" y="328422"/>
                </a:lnTo>
                <a:lnTo>
                  <a:pt x="296938" y="324085"/>
                </a:lnTo>
                <a:lnTo>
                  <a:pt x="347780" y="311731"/>
                </a:lnTo>
                <a:lnTo>
                  <a:pt x="392631" y="292346"/>
                </a:lnTo>
                <a:lnTo>
                  <a:pt x="430039" y="266916"/>
                </a:lnTo>
                <a:lnTo>
                  <a:pt x="458555" y="236426"/>
                </a:lnTo>
                <a:lnTo>
                  <a:pt x="476728" y="201862"/>
                </a:lnTo>
                <a:lnTo>
                  <a:pt x="483108" y="164211"/>
                </a:lnTo>
                <a:lnTo>
                  <a:pt x="476728" y="126559"/>
                </a:lnTo>
                <a:lnTo>
                  <a:pt x="458555" y="91995"/>
                </a:lnTo>
                <a:lnTo>
                  <a:pt x="430039" y="61505"/>
                </a:lnTo>
                <a:lnTo>
                  <a:pt x="392631" y="36075"/>
                </a:lnTo>
                <a:lnTo>
                  <a:pt x="347780" y="16690"/>
                </a:lnTo>
                <a:lnTo>
                  <a:pt x="296938" y="4336"/>
                </a:lnTo>
                <a:lnTo>
                  <a:pt x="24155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335551" y="3165345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0" y="164211"/>
                </a:moveTo>
                <a:lnTo>
                  <a:pt x="6379" y="126559"/>
                </a:lnTo>
                <a:lnTo>
                  <a:pt x="24552" y="91995"/>
                </a:lnTo>
                <a:lnTo>
                  <a:pt x="53068" y="61505"/>
                </a:lnTo>
                <a:lnTo>
                  <a:pt x="90476" y="36075"/>
                </a:lnTo>
                <a:lnTo>
                  <a:pt x="135327" y="16690"/>
                </a:lnTo>
                <a:lnTo>
                  <a:pt x="186169" y="4336"/>
                </a:lnTo>
                <a:lnTo>
                  <a:pt x="241554" y="0"/>
                </a:lnTo>
                <a:lnTo>
                  <a:pt x="296938" y="4336"/>
                </a:lnTo>
                <a:lnTo>
                  <a:pt x="347780" y="16690"/>
                </a:lnTo>
                <a:lnTo>
                  <a:pt x="392631" y="36075"/>
                </a:lnTo>
                <a:lnTo>
                  <a:pt x="430039" y="61505"/>
                </a:lnTo>
                <a:lnTo>
                  <a:pt x="458555" y="91995"/>
                </a:lnTo>
                <a:lnTo>
                  <a:pt x="476728" y="126559"/>
                </a:lnTo>
                <a:lnTo>
                  <a:pt x="483108" y="164211"/>
                </a:lnTo>
                <a:lnTo>
                  <a:pt x="476728" y="201862"/>
                </a:lnTo>
                <a:lnTo>
                  <a:pt x="458555" y="236426"/>
                </a:lnTo>
                <a:lnTo>
                  <a:pt x="430039" y="266916"/>
                </a:lnTo>
                <a:lnTo>
                  <a:pt x="392631" y="292346"/>
                </a:lnTo>
                <a:lnTo>
                  <a:pt x="347780" y="311731"/>
                </a:lnTo>
                <a:lnTo>
                  <a:pt x="296938" y="324085"/>
                </a:lnTo>
                <a:lnTo>
                  <a:pt x="241554" y="328422"/>
                </a:lnTo>
                <a:lnTo>
                  <a:pt x="186169" y="324085"/>
                </a:lnTo>
                <a:lnTo>
                  <a:pt x="135327" y="311731"/>
                </a:lnTo>
                <a:lnTo>
                  <a:pt x="90476" y="292346"/>
                </a:lnTo>
                <a:lnTo>
                  <a:pt x="53068" y="266916"/>
                </a:lnTo>
                <a:lnTo>
                  <a:pt x="24552" y="236426"/>
                </a:lnTo>
                <a:lnTo>
                  <a:pt x="637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4604032" y="2425698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69" h="328930">
                <a:moveTo>
                  <a:pt x="241935" y="0"/>
                </a:moveTo>
                <a:lnTo>
                  <a:pt x="186461" y="4336"/>
                </a:lnTo>
                <a:lnTo>
                  <a:pt x="135538" y="16690"/>
                </a:lnTo>
                <a:lnTo>
                  <a:pt x="90617" y="36075"/>
                </a:lnTo>
                <a:lnTo>
                  <a:pt x="53150" y="61505"/>
                </a:lnTo>
                <a:lnTo>
                  <a:pt x="24590" y="91995"/>
                </a:lnTo>
                <a:lnTo>
                  <a:pt x="6389" y="126559"/>
                </a:lnTo>
                <a:lnTo>
                  <a:pt x="0" y="164211"/>
                </a:lnTo>
                <a:lnTo>
                  <a:pt x="6389" y="201862"/>
                </a:lnTo>
                <a:lnTo>
                  <a:pt x="24590" y="236426"/>
                </a:lnTo>
                <a:lnTo>
                  <a:pt x="53150" y="266916"/>
                </a:lnTo>
                <a:lnTo>
                  <a:pt x="90617" y="292346"/>
                </a:lnTo>
                <a:lnTo>
                  <a:pt x="135538" y="311731"/>
                </a:lnTo>
                <a:lnTo>
                  <a:pt x="186461" y="324085"/>
                </a:lnTo>
                <a:lnTo>
                  <a:pt x="241935" y="328422"/>
                </a:lnTo>
                <a:lnTo>
                  <a:pt x="297408" y="324085"/>
                </a:lnTo>
                <a:lnTo>
                  <a:pt x="348331" y="311731"/>
                </a:lnTo>
                <a:lnTo>
                  <a:pt x="393252" y="292346"/>
                </a:lnTo>
                <a:lnTo>
                  <a:pt x="430719" y="266916"/>
                </a:lnTo>
                <a:lnTo>
                  <a:pt x="459279" y="236426"/>
                </a:lnTo>
                <a:lnTo>
                  <a:pt x="477480" y="201862"/>
                </a:lnTo>
                <a:lnTo>
                  <a:pt x="483870" y="164211"/>
                </a:lnTo>
                <a:lnTo>
                  <a:pt x="477480" y="126559"/>
                </a:lnTo>
                <a:lnTo>
                  <a:pt x="459279" y="91995"/>
                </a:lnTo>
                <a:lnTo>
                  <a:pt x="430719" y="61505"/>
                </a:lnTo>
                <a:lnTo>
                  <a:pt x="393252" y="36075"/>
                </a:lnTo>
                <a:lnTo>
                  <a:pt x="348331" y="16690"/>
                </a:lnTo>
                <a:lnTo>
                  <a:pt x="297408" y="4336"/>
                </a:lnTo>
                <a:lnTo>
                  <a:pt x="241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604032" y="2425698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69" h="328930">
                <a:moveTo>
                  <a:pt x="0" y="164211"/>
                </a:moveTo>
                <a:lnTo>
                  <a:pt x="6389" y="126559"/>
                </a:lnTo>
                <a:lnTo>
                  <a:pt x="24590" y="91995"/>
                </a:lnTo>
                <a:lnTo>
                  <a:pt x="53150" y="61505"/>
                </a:lnTo>
                <a:lnTo>
                  <a:pt x="90617" y="36075"/>
                </a:lnTo>
                <a:lnTo>
                  <a:pt x="135538" y="16690"/>
                </a:lnTo>
                <a:lnTo>
                  <a:pt x="186461" y="4336"/>
                </a:lnTo>
                <a:lnTo>
                  <a:pt x="241935" y="0"/>
                </a:lnTo>
                <a:lnTo>
                  <a:pt x="297408" y="4336"/>
                </a:lnTo>
                <a:lnTo>
                  <a:pt x="348331" y="16690"/>
                </a:lnTo>
                <a:lnTo>
                  <a:pt x="393252" y="36075"/>
                </a:lnTo>
                <a:lnTo>
                  <a:pt x="430719" y="61505"/>
                </a:lnTo>
                <a:lnTo>
                  <a:pt x="459279" y="91995"/>
                </a:lnTo>
                <a:lnTo>
                  <a:pt x="477480" y="126559"/>
                </a:lnTo>
                <a:lnTo>
                  <a:pt x="483870" y="164211"/>
                </a:lnTo>
                <a:lnTo>
                  <a:pt x="477480" y="201862"/>
                </a:lnTo>
                <a:lnTo>
                  <a:pt x="459279" y="236426"/>
                </a:lnTo>
                <a:lnTo>
                  <a:pt x="430719" y="266916"/>
                </a:lnTo>
                <a:lnTo>
                  <a:pt x="393252" y="292346"/>
                </a:lnTo>
                <a:lnTo>
                  <a:pt x="348331" y="311731"/>
                </a:lnTo>
                <a:lnTo>
                  <a:pt x="297408" y="324085"/>
                </a:lnTo>
                <a:lnTo>
                  <a:pt x="241935" y="328422"/>
                </a:lnTo>
                <a:lnTo>
                  <a:pt x="186461" y="324085"/>
                </a:lnTo>
                <a:lnTo>
                  <a:pt x="135538" y="311731"/>
                </a:lnTo>
                <a:lnTo>
                  <a:pt x="90617" y="292346"/>
                </a:lnTo>
                <a:lnTo>
                  <a:pt x="53150" y="266916"/>
                </a:lnTo>
                <a:lnTo>
                  <a:pt x="24590" y="236426"/>
                </a:lnTo>
                <a:lnTo>
                  <a:pt x="638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604032" y="3165345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69" h="328930">
                <a:moveTo>
                  <a:pt x="241935" y="0"/>
                </a:moveTo>
                <a:lnTo>
                  <a:pt x="186461" y="4336"/>
                </a:lnTo>
                <a:lnTo>
                  <a:pt x="135538" y="16690"/>
                </a:lnTo>
                <a:lnTo>
                  <a:pt x="90617" y="36075"/>
                </a:lnTo>
                <a:lnTo>
                  <a:pt x="53150" y="61505"/>
                </a:lnTo>
                <a:lnTo>
                  <a:pt x="24590" y="91995"/>
                </a:lnTo>
                <a:lnTo>
                  <a:pt x="6389" y="126559"/>
                </a:lnTo>
                <a:lnTo>
                  <a:pt x="0" y="164211"/>
                </a:lnTo>
                <a:lnTo>
                  <a:pt x="6389" y="201862"/>
                </a:lnTo>
                <a:lnTo>
                  <a:pt x="24590" y="236426"/>
                </a:lnTo>
                <a:lnTo>
                  <a:pt x="53150" y="266916"/>
                </a:lnTo>
                <a:lnTo>
                  <a:pt x="90617" y="292346"/>
                </a:lnTo>
                <a:lnTo>
                  <a:pt x="135538" y="311731"/>
                </a:lnTo>
                <a:lnTo>
                  <a:pt x="186461" y="324085"/>
                </a:lnTo>
                <a:lnTo>
                  <a:pt x="241935" y="328422"/>
                </a:lnTo>
                <a:lnTo>
                  <a:pt x="297408" y="324085"/>
                </a:lnTo>
                <a:lnTo>
                  <a:pt x="348331" y="311731"/>
                </a:lnTo>
                <a:lnTo>
                  <a:pt x="393252" y="292346"/>
                </a:lnTo>
                <a:lnTo>
                  <a:pt x="430719" y="266916"/>
                </a:lnTo>
                <a:lnTo>
                  <a:pt x="459279" y="236426"/>
                </a:lnTo>
                <a:lnTo>
                  <a:pt x="477480" y="201862"/>
                </a:lnTo>
                <a:lnTo>
                  <a:pt x="483870" y="164211"/>
                </a:lnTo>
                <a:lnTo>
                  <a:pt x="477480" y="126559"/>
                </a:lnTo>
                <a:lnTo>
                  <a:pt x="459279" y="91995"/>
                </a:lnTo>
                <a:lnTo>
                  <a:pt x="430719" y="61505"/>
                </a:lnTo>
                <a:lnTo>
                  <a:pt x="393252" y="36075"/>
                </a:lnTo>
                <a:lnTo>
                  <a:pt x="348331" y="16690"/>
                </a:lnTo>
                <a:lnTo>
                  <a:pt x="297408" y="4336"/>
                </a:lnTo>
                <a:lnTo>
                  <a:pt x="24193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4604032" y="3165345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69" h="328930">
                <a:moveTo>
                  <a:pt x="0" y="164211"/>
                </a:moveTo>
                <a:lnTo>
                  <a:pt x="6389" y="126559"/>
                </a:lnTo>
                <a:lnTo>
                  <a:pt x="24590" y="91995"/>
                </a:lnTo>
                <a:lnTo>
                  <a:pt x="53150" y="61505"/>
                </a:lnTo>
                <a:lnTo>
                  <a:pt x="90617" y="36075"/>
                </a:lnTo>
                <a:lnTo>
                  <a:pt x="135538" y="16690"/>
                </a:lnTo>
                <a:lnTo>
                  <a:pt x="186461" y="4336"/>
                </a:lnTo>
                <a:lnTo>
                  <a:pt x="241935" y="0"/>
                </a:lnTo>
                <a:lnTo>
                  <a:pt x="297408" y="4336"/>
                </a:lnTo>
                <a:lnTo>
                  <a:pt x="348331" y="16690"/>
                </a:lnTo>
                <a:lnTo>
                  <a:pt x="393252" y="36075"/>
                </a:lnTo>
                <a:lnTo>
                  <a:pt x="430719" y="61505"/>
                </a:lnTo>
                <a:lnTo>
                  <a:pt x="459279" y="91995"/>
                </a:lnTo>
                <a:lnTo>
                  <a:pt x="477480" y="126559"/>
                </a:lnTo>
                <a:lnTo>
                  <a:pt x="483870" y="164211"/>
                </a:lnTo>
                <a:lnTo>
                  <a:pt x="477480" y="201862"/>
                </a:lnTo>
                <a:lnTo>
                  <a:pt x="459279" y="236426"/>
                </a:lnTo>
                <a:lnTo>
                  <a:pt x="430719" y="266916"/>
                </a:lnTo>
                <a:lnTo>
                  <a:pt x="393252" y="292346"/>
                </a:lnTo>
                <a:lnTo>
                  <a:pt x="348331" y="311731"/>
                </a:lnTo>
                <a:lnTo>
                  <a:pt x="297408" y="324085"/>
                </a:lnTo>
                <a:lnTo>
                  <a:pt x="241935" y="328422"/>
                </a:lnTo>
                <a:lnTo>
                  <a:pt x="186461" y="324085"/>
                </a:lnTo>
                <a:lnTo>
                  <a:pt x="135538" y="311731"/>
                </a:lnTo>
                <a:lnTo>
                  <a:pt x="90617" y="292346"/>
                </a:lnTo>
                <a:lnTo>
                  <a:pt x="53150" y="266916"/>
                </a:lnTo>
                <a:lnTo>
                  <a:pt x="24590" y="236426"/>
                </a:lnTo>
                <a:lnTo>
                  <a:pt x="638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7529095" y="2425698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241554" y="0"/>
                </a:moveTo>
                <a:lnTo>
                  <a:pt x="186169" y="4336"/>
                </a:lnTo>
                <a:lnTo>
                  <a:pt x="135327" y="16690"/>
                </a:lnTo>
                <a:lnTo>
                  <a:pt x="90476" y="36075"/>
                </a:lnTo>
                <a:lnTo>
                  <a:pt x="53068" y="61505"/>
                </a:lnTo>
                <a:lnTo>
                  <a:pt x="24552" y="91995"/>
                </a:lnTo>
                <a:lnTo>
                  <a:pt x="6379" y="126559"/>
                </a:lnTo>
                <a:lnTo>
                  <a:pt x="0" y="164211"/>
                </a:lnTo>
                <a:lnTo>
                  <a:pt x="6379" y="201862"/>
                </a:lnTo>
                <a:lnTo>
                  <a:pt x="24552" y="236426"/>
                </a:lnTo>
                <a:lnTo>
                  <a:pt x="53068" y="266916"/>
                </a:lnTo>
                <a:lnTo>
                  <a:pt x="90476" y="292346"/>
                </a:lnTo>
                <a:lnTo>
                  <a:pt x="135327" y="311731"/>
                </a:lnTo>
                <a:lnTo>
                  <a:pt x="186169" y="324085"/>
                </a:lnTo>
                <a:lnTo>
                  <a:pt x="241554" y="328422"/>
                </a:lnTo>
                <a:lnTo>
                  <a:pt x="296938" y="324085"/>
                </a:lnTo>
                <a:lnTo>
                  <a:pt x="347780" y="311731"/>
                </a:lnTo>
                <a:lnTo>
                  <a:pt x="392631" y="292346"/>
                </a:lnTo>
                <a:lnTo>
                  <a:pt x="430039" y="266916"/>
                </a:lnTo>
                <a:lnTo>
                  <a:pt x="458555" y="236426"/>
                </a:lnTo>
                <a:lnTo>
                  <a:pt x="476728" y="201862"/>
                </a:lnTo>
                <a:lnTo>
                  <a:pt x="483108" y="164211"/>
                </a:lnTo>
                <a:lnTo>
                  <a:pt x="476728" y="126559"/>
                </a:lnTo>
                <a:lnTo>
                  <a:pt x="458555" y="91995"/>
                </a:lnTo>
                <a:lnTo>
                  <a:pt x="430039" y="61505"/>
                </a:lnTo>
                <a:lnTo>
                  <a:pt x="392631" y="36075"/>
                </a:lnTo>
                <a:lnTo>
                  <a:pt x="347780" y="16690"/>
                </a:lnTo>
                <a:lnTo>
                  <a:pt x="296938" y="4336"/>
                </a:lnTo>
                <a:lnTo>
                  <a:pt x="24155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529095" y="2425698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0" y="164211"/>
                </a:moveTo>
                <a:lnTo>
                  <a:pt x="6379" y="126559"/>
                </a:lnTo>
                <a:lnTo>
                  <a:pt x="24552" y="91995"/>
                </a:lnTo>
                <a:lnTo>
                  <a:pt x="53068" y="61505"/>
                </a:lnTo>
                <a:lnTo>
                  <a:pt x="90476" y="36075"/>
                </a:lnTo>
                <a:lnTo>
                  <a:pt x="135327" y="16690"/>
                </a:lnTo>
                <a:lnTo>
                  <a:pt x="186169" y="4336"/>
                </a:lnTo>
                <a:lnTo>
                  <a:pt x="241554" y="0"/>
                </a:lnTo>
                <a:lnTo>
                  <a:pt x="296938" y="4336"/>
                </a:lnTo>
                <a:lnTo>
                  <a:pt x="347780" y="16690"/>
                </a:lnTo>
                <a:lnTo>
                  <a:pt x="392631" y="36075"/>
                </a:lnTo>
                <a:lnTo>
                  <a:pt x="430039" y="61505"/>
                </a:lnTo>
                <a:lnTo>
                  <a:pt x="458555" y="91995"/>
                </a:lnTo>
                <a:lnTo>
                  <a:pt x="476728" y="126559"/>
                </a:lnTo>
                <a:lnTo>
                  <a:pt x="483108" y="164211"/>
                </a:lnTo>
                <a:lnTo>
                  <a:pt x="476728" y="201862"/>
                </a:lnTo>
                <a:lnTo>
                  <a:pt x="458555" y="236426"/>
                </a:lnTo>
                <a:lnTo>
                  <a:pt x="430039" y="266916"/>
                </a:lnTo>
                <a:lnTo>
                  <a:pt x="392631" y="292346"/>
                </a:lnTo>
                <a:lnTo>
                  <a:pt x="347780" y="311731"/>
                </a:lnTo>
                <a:lnTo>
                  <a:pt x="296938" y="324085"/>
                </a:lnTo>
                <a:lnTo>
                  <a:pt x="241554" y="328422"/>
                </a:lnTo>
                <a:lnTo>
                  <a:pt x="186169" y="324085"/>
                </a:lnTo>
                <a:lnTo>
                  <a:pt x="135327" y="311731"/>
                </a:lnTo>
                <a:lnTo>
                  <a:pt x="90476" y="292346"/>
                </a:lnTo>
                <a:lnTo>
                  <a:pt x="53068" y="266916"/>
                </a:lnTo>
                <a:lnTo>
                  <a:pt x="24552" y="236426"/>
                </a:lnTo>
                <a:lnTo>
                  <a:pt x="637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7606015" y="2462365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70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73528" y="3165345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241554" y="0"/>
                </a:moveTo>
                <a:lnTo>
                  <a:pt x="186169" y="4336"/>
                </a:lnTo>
                <a:lnTo>
                  <a:pt x="135327" y="16690"/>
                </a:lnTo>
                <a:lnTo>
                  <a:pt x="90476" y="36075"/>
                </a:lnTo>
                <a:lnTo>
                  <a:pt x="53068" y="61505"/>
                </a:lnTo>
                <a:lnTo>
                  <a:pt x="24552" y="91995"/>
                </a:lnTo>
                <a:lnTo>
                  <a:pt x="6379" y="126559"/>
                </a:lnTo>
                <a:lnTo>
                  <a:pt x="0" y="164211"/>
                </a:lnTo>
                <a:lnTo>
                  <a:pt x="6379" y="201862"/>
                </a:lnTo>
                <a:lnTo>
                  <a:pt x="24552" y="236426"/>
                </a:lnTo>
                <a:lnTo>
                  <a:pt x="53068" y="266916"/>
                </a:lnTo>
                <a:lnTo>
                  <a:pt x="90476" y="292346"/>
                </a:lnTo>
                <a:lnTo>
                  <a:pt x="135327" y="311731"/>
                </a:lnTo>
                <a:lnTo>
                  <a:pt x="186169" y="324085"/>
                </a:lnTo>
                <a:lnTo>
                  <a:pt x="241554" y="328422"/>
                </a:lnTo>
                <a:lnTo>
                  <a:pt x="296938" y="324085"/>
                </a:lnTo>
                <a:lnTo>
                  <a:pt x="347780" y="311731"/>
                </a:lnTo>
                <a:lnTo>
                  <a:pt x="392631" y="292346"/>
                </a:lnTo>
                <a:lnTo>
                  <a:pt x="430039" y="266916"/>
                </a:lnTo>
                <a:lnTo>
                  <a:pt x="458555" y="236426"/>
                </a:lnTo>
                <a:lnTo>
                  <a:pt x="476728" y="201862"/>
                </a:lnTo>
                <a:lnTo>
                  <a:pt x="483108" y="164211"/>
                </a:lnTo>
                <a:lnTo>
                  <a:pt x="476728" y="126559"/>
                </a:lnTo>
                <a:lnTo>
                  <a:pt x="458555" y="91995"/>
                </a:lnTo>
                <a:lnTo>
                  <a:pt x="430039" y="61505"/>
                </a:lnTo>
                <a:lnTo>
                  <a:pt x="392631" y="36075"/>
                </a:lnTo>
                <a:lnTo>
                  <a:pt x="347780" y="16690"/>
                </a:lnTo>
                <a:lnTo>
                  <a:pt x="296938" y="4336"/>
                </a:lnTo>
                <a:lnTo>
                  <a:pt x="24155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873528" y="3165345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0" y="164211"/>
                </a:moveTo>
                <a:lnTo>
                  <a:pt x="6379" y="126559"/>
                </a:lnTo>
                <a:lnTo>
                  <a:pt x="24552" y="91995"/>
                </a:lnTo>
                <a:lnTo>
                  <a:pt x="53068" y="61505"/>
                </a:lnTo>
                <a:lnTo>
                  <a:pt x="90476" y="36075"/>
                </a:lnTo>
                <a:lnTo>
                  <a:pt x="135327" y="16690"/>
                </a:lnTo>
                <a:lnTo>
                  <a:pt x="186169" y="4336"/>
                </a:lnTo>
                <a:lnTo>
                  <a:pt x="241554" y="0"/>
                </a:lnTo>
                <a:lnTo>
                  <a:pt x="296938" y="4336"/>
                </a:lnTo>
                <a:lnTo>
                  <a:pt x="347780" y="16690"/>
                </a:lnTo>
                <a:lnTo>
                  <a:pt x="392631" y="36075"/>
                </a:lnTo>
                <a:lnTo>
                  <a:pt x="430039" y="61505"/>
                </a:lnTo>
                <a:lnTo>
                  <a:pt x="458555" y="91995"/>
                </a:lnTo>
                <a:lnTo>
                  <a:pt x="476728" y="126559"/>
                </a:lnTo>
                <a:lnTo>
                  <a:pt x="483108" y="164211"/>
                </a:lnTo>
                <a:lnTo>
                  <a:pt x="476728" y="201862"/>
                </a:lnTo>
                <a:lnTo>
                  <a:pt x="458555" y="236426"/>
                </a:lnTo>
                <a:lnTo>
                  <a:pt x="430039" y="266916"/>
                </a:lnTo>
                <a:lnTo>
                  <a:pt x="392631" y="292346"/>
                </a:lnTo>
                <a:lnTo>
                  <a:pt x="347780" y="311731"/>
                </a:lnTo>
                <a:lnTo>
                  <a:pt x="296938" y="324085"/>
                </a:lnTo>
                <a:lnTo>
                  <a:pt x="241554" y="328422"/>
                </a:lnTo>
                <a:lnTo>
                  <a:pt x="186169" y="324085"/>
                </a:lnTo>
                <a:lnTo>
                  <a:pt x="135327" y="311731"/>
                </a:lnTo>
                <a:lnTo>
                  <a:pt x="90476" y="292346"/>
                </a:lnTo>
                <a:lnTo>
                  <a:pt x="53068" y="266916"/>
                </a:lnTo>
                <a:lnTo>
                  <a:pt x="24552" y="236426"/>
                </a:lnTo>
                <a:lnTo>
                  <a:pt x="637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067071" y="3165345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241554" y="0"/>
                </a:moveTo>
                <a:lnTo>
                  <a:pt x="186169" y="4336"/>
                </a:lnTo>
                <a:lnTo>
                  <a:pt x="135327" y="16690"/>
                </a:lnTo>
                <a:lnTo>
                  <a:pt x="90476" y="36075"/>
                </a:lnTo>
                <a:lnTo>
                  <a:pt x="53068" y="61505"/>
                </a:lnTo>
                <a:lnTo>
                  <a:pt x="24552" y="91995"/>
                </a:lnTo>
                <a:lnTo>
                  <a:pt x="6379" y="126559"/>
                </a:lnTo>
                <a:lnTo>
                  <a:pt x="0" y="164211"/>
                </a:lnTo>
                <a:lnTo>
                  <a:pt x="6379" y="201862"/>
                </a:lnTo>
                <a:lnTo>
                  <a:pt x="24552" y="236426"/>
                </a:lnTo>
                <a:lnTo>
                  <a:pt x="53068" y="266916"/>
                </a:lnTo>
                <a:lnTo>
                  <a:pt x="90476" y="292346"/>
                </a:lnTo>
                <a:lnTo>
                  <a:pt x="135327" y="311731"/>
                </a:lnTo>
                <a:lnTo>
                  <a:pt x="186169" y="324085"/>
                </a:lnTo>
                <a:lnTo>
                  <a:pt x="241554" y="328422"/>
                </a:lnTo>
                <a:lnTo>
                  <a:pt x="296938" y="324085"/>
                </a:lnTo>
                <a:lnTo>
                  <a:pt x="347780" y="311731"/>
                </a:lnTo>
                <a:lnTo>
                  <a:pt x="392631" y="292346"/>
                </a:lnTo>
                <a:lnTo>
                  <a:pt x="430039" y="266916"/>
                </a:lnTo>
                <a:lnTo>
                  <a:pt x="458555" y="236426"/>
                </a:lnTo>
                <a:lnTo>
                  <a:pt x="476728" y="201862"/>
                </a:lnTo>
                <a:lnTo>
                  <a:pt x="483108" y="164211"/>
                </a:lnTo>
                <a:lnTo>
                  <a:pt x="476728" y="126559"/>
                </a:lnTo>
                <a:lnTo>
                  <a:pt x="458555" y="91995"/>
                </a:lnTo>
                <a:lnTo>
                  <a:pt x="430039" y="61505"/>
                </a:lnTo>
                <a:lnTo>
                  <a:pt x="392631" y="36075"/>
                </a:lnTo>
                <a:lnTo>
                  <a:pt x="347780" y="16690"/>
                </a:lnTo>
                <a:lnTo>
                  <a:pt x="296938" y="4336"/>
                </a:lnTo>
                <a:lnTo>
                  <a:pt x="24155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6067071" y="3165345"/>
            <a:ext cx="644312" cy="438573"/>
          </a:xfrm>
          <a:custGeom>
            <a:avLst/>
            <a:gdLst/>
            <a:ahLst/>
            <a:cxnLst/>
            <a:rect l="l" t="t" r="r" b="b"/>
            <a:pathLst>
              <a:path w="483235" h="328930">
                <a:moveTo>
                  <a:pt x="0" y="164211"/>
                </a:moveTo>
                <a:lnTo>
                  <a:pt x="6379" y="126559"/>
                </a:lnTo>
                <a:lnTo>
                  <a:pt x="24552" y="91995"/>
                </a:lnTo>
                <a:lnTo>
                  <a:pt x="53068" y="61505"/>
                </a:lnTo>
                <a:lnTo>
                  <a:pt x="90476" y="36075"/>
                </a:lnTo>
                <a:lnTo>
                  <a:pt x="135327" y="16690"/>
                </a:lnTo>
                <a:lnTo>
                  <a:pt x="186169" y="4336"/>
                </a:lnTo>
                <a:lnTo>
                  <a:pt x="241554" y="0"/>
                </a:lnTo>
                <a:lnTo>
                  <a:pt x="296938" y="4336"/>
                </a:lnTo>
                <a:lnTo>
                  <a:pt x="347780" y="16690"/>
                </a:lnTo>
                <a:lnTo>
                  <a:pt x="392631" y="36075"/>
                </a:lnTo>
                <a:lnTo>
                  <a:pt x="430039" y="61505"/>
                </a:lnTo>
                <a:lnTo>
                  <a:pt x="458555" y="91995"/>
                </a:lnTo>
                <a:lnTo>
                  <a:pt x="476728" y="126559"/>
                </a:lnTo>
                <a:lnTo>
                  <a:pt x="483108" y="164211"/>
                </a:lnTo>
                <a:lnTo>
                  <a:pt x="476728" y="201862"/>
                </a:lnTo>
                <a:lnTo>
                  <a:pt x="458555" y="236426"/>
                </a:lnTo>
                <a:lnTo>
                  <a:pt x="430039" y="266916"/>
                </a:lnTo>
                <a:lnTo>
                  <a:pt x="392631" y="292346"/>
                </a:lnTo>
                <a:lnTo>
                  <a:pt x="347780" y="311731"/>
                </a:lnTo>
                <a:lnTo>
                  <a:pt x="296938" y="324085"/>
                </a:lnTo>
                <a:lnTo>
                  <a:pt x="241554" y="328422"/>
                </a:lnTo>
                <a:lnTo>
                  <a:pt x="186169" y="324085"/>
                </a:lnTo>
                <a:lnTo>
                  <a:pt x="135327" y="311731"/>
                </a:lnTo>
                <a:lnTo>
                  <a:pt x="90476" y="292346"/>
                </a:lnTo>
                <a:lnTo>
                  <a:pt x="53068" y="266916"/>
                </a:lnTo>
                <a:lnTo>
                  <a:pt x="24552" y="236426"/>
                </a:lnTo>
                <a:lnTo>
                  <a:pt x="637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6553736" y="2425698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70" h="328930">
                <a:moveTo>
                  <a:pt x="241935" y="0"/>
                </a:moveTo>
                <a:lnTo>
                  <a:pt x="186461" y="4336"/>
                </a:lnTo>
                <a:lnTo>
                  <a:pt x="135538" y="16690"/>
                </a:lnTo>
                <a:lnTo>
                  <a:pt x="90617" y="36075"/>
                </a:lnTo>
                <a:lnTo>
                  <a:pt x="53150" y="61505"/>
                </a:lnTo>
                <a:lnTo>
                  <a:pt x="24590" y="91995"/>
                </a:lnTo>
                <a:lnTo>
                  <a:pt x="6389" y="126559"/>
                </a:lnTo>
                <a:lnTo>
                  <a:pt x="0" y="164211"/>
                </a:lnTo>
                <a:lnTo>
                  <a:pt x="6389" y="201862"/>
                </a:lnTo>
                <a:lnTo>
                  <a:pt x="24590" y="236426"/>
                </a:lnTo>
                <a:lnTo>
                  <a:pt x="53150" y="266916"/>
                </a:lnTo>
                <a:lnTo>
                  <a:pt x="90617" y="292346"/>
                </a:lnTo>
                <a:lnTo>
                  <a:pt x="135538" y="311731"/>
                </a:lnTo>
                <a:lnTo>
                  <a:pt x="186461" y="324085"/>
                </a:lnTo>
                <a:lnTo>
                  <a:pt x="241935" y="328422"/>
                </a:lnTo>
                <a:lnTo>
                  <a:pt x="297408" y="324085"/>
                </a:lnTo>
                <a:lnTo>
                  <a:pt x="348331" y="311731"/>
                </a:lnTo>
                <a:lnTo>
                  <a:pt x="393252" y="292346"/>
                </a:lnTo>
                <a:lnTo>
                  <a:pt x="430719" y="266916"/>
                </a:lnTo>
                <a:lnTo>
                  <a:pt x="459279" y="236426"/>
                </a:lnTo>
                <a:lnTo>
                  <a:pt x="477480" y="201862"/>
                </a:lnTo>
                <a:lnTo>
                  <a:pt x="483870" y="164211"/>
                </a:lnTo>
                <a:lnTo>
                  <a:pt x="477480" y="126559"/>
                </a:lnTo>
                <a:lnTo>
                  <a:pt x="459279" y="91995"/>
                </a:lnTo>
                <a:lnTo>
                  <a:pt x="430719" y="61505"/>
                </a:lnTo>
                <a:lnTo>
                  <a:pt x="393252" y="36075"/>
                </a:lnTo>
                <a:lnTo>
                  <a:pt x="348331" y="16690"/>
                </a:lnTo>
                <a:lnTo>
                  <a:pt x="297408" y="4336"/>
                </a:lnTo>
                <a:lnTo>
                  <a:pt x="24193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6553736" y="2425698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70" h="328930">
                <a:moveTo>
                  <a:pt x="0" y="164211"/>
                </a:moveTo>
                <a:lnTo>
                  <a:pt x="6389" y="126559"/>
                </a:lnTo>
                <a:lnTo>
                  <a:pt x="24590" y="91995"/>
                </a:lnTo>
                <a:lnTo>
                  <a:pt x="53150" y="61505"/>
                </a:lnTo>
                <a:lnTo>
                  <a:pt x="90617" y="36075"/>
                </a:lnTo>
                <a:lnTo>
                  <a:pt x="135538" y="16690"/>
                </a:lnTo>
                <a:lnTo>
                  <a:pt x="186461" y="4336"/>
                </a:lnTo>
                <a:lnTo>
                  <a:pt x="241935" y="0"/>
                </a:lnTo>
                <a:lnTo>
                  <a:pt x="297408" y="4336"/>
                </a:lnTo>
                <a:lnTo>
                  <a:pt x="348331" y="16690"/>
                </a:lnTo>
                <a:lnTo>
                  <a:pt x="393252" y="36075"/>
                </a:lnTo>
                <a:lnTo>
                  <a:pt x="430719" y="61505"/>
                </a:lnTo>
                <a:lnTo>
                  <a:pt x="459279" y="91995"/>
                </a:lnTo>
                <a:lnTo>
                  <a:pt x="477480" y="126559"/>
                </a:lnTo>
                <a:lnTo>
                  <a:pt x="483870" y="164211"/>
                </a:lnTo>
                <a:lnTo>
                  <a:pt x="477480" y="201862"/>
                </a:lnTo>
                <a:lnTo>
                  <a:pt x="459279" y="236426"/>
                </a:lnTo>
                <a:lnTo>
                  <a:pt x="430719" y="266916"/>
                </a:lnTo>
                <a:lnTo>
                  <a:pt x="393252" y="292346"/>
                </a:lnTo>
                <a:lnTo>
                  <a:pt x="348331" y="311731"/>
                </a:lnTo>
                <a:lnTo>
                  <a:pt x="297408" y="324085"/>
                </a:lnTo>
                <a:lnTo>
                  <a:pt x="241935" y="328422"/>
                </a:lnTo>
                <a:lnTo>
                  <a:pt x="186461" y="324085"/>
                </a:lnTo>
                <a:lnTo>
                  <a:pt x="135538" y="311731"/>
                </a:lnTo>
                <a:lnTo>
                  <a:pt x="90617" y="292346"/>
                </a:lnTo>
                <a:lnTo>
                  <a:pt x="53150" y="266916"/>
                </a:lnTo>
                <a:lnTo>
                  <a:pt x="24590" y="236426"/>
                </a:lnTo>
                <a:lnTo>
                  <a:pt x="638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657624" y="2423665"/>
            <a:ext cx="645160" cy="436880"/>
          </a:xfrm>
          <a:custGeom>
            <a:avLst/>
            <a:gdLst/>
            <a:ahLst/>
            <a:cxnLst/>
            <a:rect l="l" t="t" r="r" b="b"/>
            <a:pathLst>
              <a:path w="483869" h="327660">
                <a:moveTo>
                  <a:pt x="241935" y="0"/>
                </a:moveTo>
                <a:lnTo>
                  <a:pt x="186461" y="4327"/>
                </a:lnTo>
                <a:lnTo>
                  <a:pt x="135538" y="16652"/>
                </a:lnTo>
                <a:lnTo>
                  <a:pt x="90617" y="35993"/>
                </a:lnTo>
                <a:lnTo>
                  <a:pt x="53150" y="61365"/>
                </a:lnTo>
                <a:lnTo>
                  <a:pt x="24590" y="91784"/>
                </a:lnTo>
                <a:lnTo>
                  <a:pt x="6389" y="126267"/>
                </a:lnTo>
                <a:lnTo>
                  <a:pt x="0" y="163830"/>
                </a:lnTo>
                <a:lnTo>
                  <a:pt x="6389" y="201392"/>
                </a:lnTo>
                <a:lnTo>
                  <a:pt x="24590" y="235875"/>
                </a:lnTo>
                <a:lnTo>
                  <a:pt x="53150" y="266294"/>
                </a:lnTo>
                <a:lnTo>
                  <a:pt x="90617" y="291666"/>
                </a:lnTo>
                <a:lnTo>
                  <a:pt x="135538" y="311007"/>
                </a:lnTo>
                <a:lnTo>
                  <a:pt x="186461" y="323332"/>
                </a:lnTo>
                <a:lnTo>
                  <a:pt x="241935" y="327660"/>
                </a:lnTo>
                <a:lnTo>
                  <a:pt x="297408" y="323332"/>
                </a:lnTo>
                <a:lnTo>
                  <a:pt x="348331" y="311007"/>
                </a:lnTo>
                <a:lnTo>
                  <a:pt x="393252" y="291666"/>
                </a:lnTo>
                <a:lnTo>
                  <a:pt x="430719" y="266294"/>
                </a:lnTo>
                <a:lnTo>
                  <a:pt x="459279" y="235875"/>
                </a:lnTo>
                <a:lnTo>
                  <a:pt x="477480" y="201392"/>
                </a:lnTo>
                <a:lnTo>
                  <a:pt x="483870" y="163830"/>
                </a:lnTo>
                <a:lnTo>
                  <a:pt x="477480" y="126267"/>
                </a:lnTo>
                <a:lnTo>
                  <a:pt x="459279" y="91784"/>
                </a:lnTo>
                <a:lnTo>
                  <a:pt x="430719" y="61365"/>
                </a:lnTo>
                <a:lnTo>
                  <a:pt x="393252" y="35993"/>
                </a:lnTo>
                <a:lnTo>
                  <a:pt x="348331" y="16652"/>
                </a:lnTo>
                <a:lnTo>
                  <a:pt x="297408" y="4327"/>
                </a:lnTo>
                <a:lnTo>
                  <a:pt x="241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5657624" y="2423665"/>
            <a:ext cx="645160" cy="436880"/>
          </a:xfrm>
          <a:custGeom>
            <a:avLst/>
            <a:gdLst/>
            <a:ahLst/>
            <a:cxnLst/>
            <a:rect l="l" t="t" r="r" b="b"/>
            <a:pathLst>
              <a:path w="483869" h="327660">
                <a:moveTo>
                  <a:pt x="0" y="163830"/>
                </a:moveTo>
                <a:lnTo>
                  <a:pt x="6389" y="126267"/>
                </a:lnTo>
                <a:lnTo>
                  <a:pt x="24590" y="91784"/>
                </a:lnTo>
                <a:lnTo>
                  <a:pt x="53150" y="61365"/>
                </a:lnTo>
                <a:lnTo>
                  <a:pt x="90617" y="35993"/>
                </a:lnTo>
                <a:lnTo>
                  <a:pt x="135538" y="16652"/>
                </a:lnTo>
                <a:lnTo>
                  <a:pt x="186461" y="4327"/>
                </a:lnTo>
                <a:lnTo>
                  <a:pt x="241935" y="0"/>
                </a:lnTo>
                <a:lnTo>
                  <a:pt x="297408" y="4327"/>
                </a:lnTo>
                <a:lnTo>
                  <a:pt x="348331" y="16652"/>
                </a:lnTo>
                <a:lnTo>
                  <a:pt x="393252" y="35993"/>
                </a:lnTo>
                <a:lnTo>
                  <a:pt x="430719" y="61365"/>
                </a:lnTo>
                <a:lnTo>
                  <a:pt x="459279" y="91784"/>
                </a:lnTo>
                <a:lnTo>
                  <a:pt x="477480" y="126267"/>
                </a:lnTo>
                <a:lnTo>
                  <a:pt x="483870" y="163830"/>
                </a:lnTo>
                <a:lnTo>
                  <a:pt x="477480" y="201392"/>
                </a:lnTo>
                <a:lnTo>
                  <a:pt x="459279" y="235875"/>
                </a:lnTo>
                <a:lnTo>
                  <a:pt x="430719" y="266294"/>
                </a:lnTo>
                <a:lnTo>
                  <a:pt x="393252" y="291666"/>
                </a:lnTo>
                <a:lnTo>
                  <a:pt x="348331" y="311007"/>
                </a:lnTo>
                <a:lnTo>
                  <a:pt x="297408" y="323332"/>
                </a:lnTo>
                <a:lnTo>
                  <a:pt x="241935" y="327660"/>
                </a:lnTo>
                <a:lnTo>
                  <a:pt x="186461" y="323332"/>
                </a:lnTo>
                <a:lnTo>
                  <a:pt x="135538" y="311007"/>
                </a:lnTo>
                <a:lnTo>
                  <a:pt x="90617" y="291666"/>
                </a:lnTo>
                <a:lnTo>
                  <a:pt x="53150" y="266294"/>
                </a:lnTo>
                <a:lnTo>
                  <a:pt x="24590" y="235875"/>
                </a:lnTo>
                <a:lnTo>
                  <a:pt x="6389" y="201392"/>
                </a:lnTo>
                <a:lnTo>
                  <a:pt x="0" y="16383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3950231" y="2462365"/>
            <a:ext cx="3020060" cy="11455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47588">
              <a:spcBef>
                <a:spcPts val="133"/>
              </a:spcBef>
              <a:tabLst>
                <a:tab pos="1800815" algn="l"/>
                <a:tab pos="2697413" algn="l"/>
              </a:tabLst>
            </a:pPr>
            <a:r>
              <a:rPr sz="2400" b="1" dirty="0">
                <a:latin typeface="Times New Roman"/>
                <a:cs typeface="Times New Roman"/>
              </a:rPr>
              <a:t>31	73	18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2533">
              <a:latin typeface="Times New Roman"/>
              <a:cs typeface="Times New Roman"/>
            </a:endParaRPr>
          </a:p>
          <a:p>
            <a:pPr marL="16933">
              <a:spcBef>
                <a:spcPts val="7"/>
              </a:spcBef>
              <a:tabLst>
                <a:tab pos="747588" algn="l"/>
                <a:tab pos="1479090" algn="l"/>
                <a:tab pos="2209745" algn="l"/>
              </a:tabLst>
            </a:pPr>
            <a:r>
              <a:rPr sz="2400" b="1" dirty="0">
                <a:latin typeface="Times New Roman"/>
                <a:cs typeface="Times New Roman"/>
              </a:rPr>
              <a:t>21	10	32	41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797576" y="1686049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70" h="328930">
                <a:moveTo>
                  <a:pt x="241935" y="0"/>
                </a:moveTo>
                <a:lnTo>
                  <a:pt x="186461" y="4336"/>
                </a:lnTo>
                <a:lnTo>
                  <a:pt x="135538" y="16690"/>
                </a:lnTo>
                <a:lnTo>
                  <a:pt x="90617" y="36075"/>
                </a:lnTo>
                <a:lnTo>
                  <a:pt x="53150" y="61505"/>
                </a:lnTo>
                <a:lnTo>
                  <a:pt x="24590" y="91995"/>
                </a:lnTo>
                <a:lnTo>
                  <a:pt x="6389" y="126559"/>
                </a:lnTo>
                <a:lnTo>
                  <a:pt x="0" y="164211"/>
                </a:lnTo>
                <a:lnTo>
                  <a:pt x="6389" y="201862"/>
                </a:lnTo>
                <a:lnTo>
                  <a:pt x="24590" y="236426"/>
                </a:lnTo>
                <a:lnTo>
                  <a:pt x="53150" y="266916"/>
                </a:lnTo>
                <a:lnTo>
                  <a:pt x="90617" y="292346"/>
                </a:lnTo>
                <a:lnTo>
                  <a:pt x="135538" y="311731"/>
                </a:lnTo>
                <a:lnTo>
                  <a:pt x="186461" y="324085"/>
                </a:lnTo>
                <a:lnTo>
                  <a:pt x="241935" y="328422"/>
                </a:lnTo>
                <a:lnTo>
                  <a:pt x="297408" y="324085"/>
                </a:lnTo>
                <a:lnTo>
                  <a:pt x="348331" y="311731"/>
                </a:lnTo>
                <a:lnTo>
                  <a:pt x="393252" y="292346"/>
                </a:lnTo>
                <a:lnTo>
                  <a:pt x="430719" y="266916"/>
                </a:lnTo>
                <a:lnTo>
                  <a:pt x="459279" y="236426"/>
                </a:lnTo>
                <a:lnTo>
                  <a:pt x="477480" y="201862"/>
                </a:lnTo>
                <a:lnTo>
                  <a:pt x="483870" y="164211"/>
                </a:lnTo>
                <a:lnTo>
                  <a:pt x="477480" y="126559"/>
                </a:lnTo>
                <a:lnTo>
                  <a:pt x="459279" y="91995"/>
                </a:lnTo>
                <a:lnTo>
                  <a:pt x="430719" y="61505"/>
                </a:lnTo>
                <a:lnTo>
                  <a:pt x="393252" y="36075"/>
                </a:lnTo>
                <a:lnTo>
                  <a:pt x="348331" y="16690"/>
                </a:lnTo>
                <a:lnTo>
                  <a:pt x="297408" y="4336"/>
                </a:lnTo>
                <a:lnTo>
                  <a:pt x="241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6797576" y="1686049"/>
            <a:ext cx="645160" cy="438573"/>
          </a:xfrm>
          <a:custGeom>
            <a:avLst/>
            <a:gdLst/>
            <a:ahLst/>
            <a:cxnLst/>
            <a:rect l="l" t="t" r="r" b="b"/>
            <a:pathLst>
              <a:path w="483870" h="328930">
                <a:moveTo>
                  <a:pt x="0" y="164211"/>
                </a:moveTo>
                <a:lnTo>
                  <a:pt x="6389" y="126559"/>
                </a:lnTo>
                <a:lnTo>
                  <a:pt x="24590" y="91995"/>
                </a:lnTo>
                <a:lnTo>
                  <a:pt x="53150" y="61505"/>
                </a:lnTo>
                <a:lnTo>
                  <a:pt x="90617" y="36075"/>
                </a:lnTo>
                <a:lnTo>
                  <a:pt x="135538" y="16690"/>
                </a:lnTo>
                <a:lnTo>
                  <a:pt x="186461" y="4336"/>
                </a:lnTo>
                <a:lnTo>
                  <a:pt x="241935" y="0"/>
                </a:lnTo>
                <a:lnTo>
                  <a:pt x="297408" y="4336"/>
                </a:lnTo>
                <a:lnTo>
                  <a:pt x="348331" y="16690"/>
                </a:lnTo>
                <a:lnTo>
                  <a:pt x="393252" y="36075"/>
                </a:lnTo>
                <a:lnTo>
                  <a:pt x="430719" y="61505"/>
                </a:lnTo>
                <a:lnTo>
                  <a:pt x="459279" y="91995"/>
                </a:lnTo>
                <a:lnTo>
                  <a:pt x="477480" y="126559"/>
                </a:lnTo>
                <a:lnTo>
                  <a:pt x="483870" y="164211"/>
                </a:lnTo>
                <a:lnTo>
                  <a:pt x="477480" y="201862"/>
                </a:lnTo>
                <a:lnTo>
                  <a:pt x="459279" y="236426"/>
                </a:lnTo>
                <a:lnTo>
                  <a:pt x="430719" y="266916"/>
                </a:lnTo>
                <a:lnTo>
                  <a:pt x="393252" y="292346"/>
                </a:lnTo>
                <a:lnTo>
                  <a:pt x="348331" y="311731"/>
                </a:lnTo>
                <a:lnTo>
                  <a:pt x="297408" y="324085"/>
                </a:lnTo>
                <a:lnTo>
                  <a:pt x="241935" y="328422"/>
                </a:lnTo>
                <a:lnTo>
                  <a:pt x="186461" y="324085"/>
                </a:lnTo>
                <a:lnTo>
                  <a:pt x="135538" y="311731"/>
                </a:lnTo>
                <a:lnTo>
                  <a:pt x="90617" y="292346"/>
                </a:lnTo>
                <a:lnTo>
                  <a:pt x="53150" y="266916"/>
                </a:lnTo>
                <a:lnTo>
                  <a:pt x="24590" y="236426"/>
                </a:lnTo>
                <a:lnTo>
                  <a:pt x="6389" y="201862"/>
                </a:lnTo>
                <a:lnTo>
                  <a:pt x="0" y="1642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 txBox="1"/>
          <p:nvPr/>
        </p:nvSpPr>
        <p:spPr>
          <a:xfrm>
            <a:off x="6874857" y="1722541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88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91712" y="1709419"/>
            <a:ext cx="731520" cy="469900"/>
          </a:xfrm>
          <a:custGeom>
            <a:avLst/>
            <a:gdLst/>
            <a:ahLst/>
            <a:cxnLst/>
            <a:rect l="l" t="t" r="r" b="b"/>
            <a:pathLst>
              <a:path w="548639" h="352425">
                <a:moveTo>
                  <a:pt x="274320" y="0"/>
                </a:moveTo>
                <a:lnTo>
                  <a:pt x="219036" y="3575"/>
                </a:lnTo>
                <a:lnTo>
                  <a:pt x="167544" y="13832"/>
                </a:lnTo>
                <a:lnTo>
                  <a:pt x="120947" y="30060"/>
                </a:lnTo>
                <a:lnTo>
                  <a:pt x="80348" y="51554"/>
                </a:lnTo>
                <a:lnTo>
                  <a:pt x="46850" y="77604"/>
                </a:lnTo>
                <a:lnTo>
                  <a:pt x="21558" y="107504"/>
                </a:lnTo>
                <a:lnTo>
                  <a:pt x="0" y="176022"/>
                </a:lnTo>
                <a:lnTo>
                  <a:pt x="5573" y="211497"/>
                </a:lnTo>
                <a:lnTo>
                  <a:pt x="46850" y="274439"/>
                </a:lnTo>
                <a:lnTo>
                  <a:pt x="80348" y="300489"/>
                </a:lnTo>
                <a:lnTo>
                  <a:pt x="120947" y="321983"/>
                </a:lnTo>
                <a:lnTo>
                  <a:pt x="167544" y="338211"/>
                </a:lnTo>
                <a:lnTo>
                  <a:pt x="219036" y="348468"/>
                </a:lnTo>
                <a:lnTo>
                  <a:pt x="274320" y="352044"/>
                </a:lnTo>
                <a:lnTo>
                  <a:pt x="329603" y="348468"/>
                </a:lnTo>
                <a:lnTo>
                  <a:pt x="381095" y="338211"/>
                </a:lnTo>
                <a:lnTo>
                  <a:pt x="427692" y="321983"/>
                </a:lnTo>
                <a:lnTo>
                  <a:pt x="468291" y="300489"/>
                </a:lnTo>
                <a:lnTo>
                  <a:pt x="501789" y="274439"/>
                </a:lnTo>
                <a:lnTo>
                  <a:pt x="527081" y="244539"/>
                </a:lnTo>
                <a:lnTo>
                  <a:pt x="548640" y="176022"/>
                </a:lnTo>
                <a:lnTo>
                  <a:pt x="543066" y="140546"/>
                </a:lnTo>
                <a:lnTo>
                  <a:pt x="501789" y="77604"/>
                </a:lnTo>
                <a:lnTo>
                  <a:pt x="468291" y="51554"/>
                </a:lnTo>
                <a:lnTo>
                  <a:pt x="427692" y="30060"/>
                </a:lnTo>
                <a:lnTo>
                  <a:pt x="381095" y="13832"/>
                </a:lnTo>
                <a:lnTo>
                  <a:pt x="329603" y="3575"/>
                </a:lnTo>
                <a:lnTo>
                  <a:pt x="274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5091712" y="1709419"/>
            <a:ext cx="731520" cy="469900"/>
          </a:xfrm>
          <a:custGeom>
            <a:avLst/>
            <a:gdLst/>
            <a:ahLst/>
            <a:cxnLst/>
            <a:rect l="l" t="t" r="r" b="b"/>
            <a:pathLst>
              <a:path w="548639" h="352425">
                <a:moveTo>
                  <a:pt x="0" y="176022"/>
                </a:moveTo>
                <a:lnTo>
                  <a:pt x="21558" y="107504"/>
                </a:lnTo>
                <a:lnTo>
                  <a:pt x="46850" y="77604"/>
                </a:lnTo>
                <a:lnTo>
                  <a:pt x="80348" y="51554"/>
                </a:lnTo>
                <a:lnTo>
                  <a:pt x="120947" y="30060"/>
                </a:lnTo>
                <a:lnTo>
                  <a:pt x="167544" y="13832"/>
                </a:lnTo>
                <a:lnTo>
                  <a:pt x="219036" y="3575"/>
                </a:lnTo>
                <a:lnTo>
                  <a:pt x="274320" y="0"/>
                </a:lnTo>
                <a:lnTo>
                  <a:pt x="329603" y="3575"/>
                </a:lnTo>
                <a:lnTo>
                  <a:pt x="381095" y="13832"/>
                </a:lnTo>
                <a:lnTo>
                  <a:pt x="427692" y="30060"/>
                </a:lnTo>
                <a:lnTo>
                  <a:pt x="468291" y="51554"/>
                </a:lnTo>
                <a:lnTo>
                  <a:pt x="501789" y="77604"/>
                </a:lnTo>
                <a:lnTo>
                  <a:pt x="527081" y="107504"/>
                </a:lnTo>
                <a:lnTo>
                  <a:pt x="548640" y="176022"/>
                </a:lnTo>
                <a:lnTo>
                  <a:pt x="543066" y="211497"/>
                </a:lnTo>
                <a:lnTo>
                  <a:pt x="501789" y="274439"/>
                </a:lnTo>
                <a:lnTo>
                  <a:pt x="468291" y="300489"/>
                </a:lnTo>
                <a:lnTo>
                  <a:pt x="427692" y="321983"/>
                </a:lnTo>
                <a:lnTo>
                  <a:pt x="381095" y="338211"/>
                </a:lnTo>
                <a:lnTo>
                  <a:pt x="329603" y="348468"/>
                </a:lnTo>
                <a:lnTo>
                  <a:pt x="274320" y="352044"/>
                </a:lnTo>
                <a:lnTo>
                  <a:pt x="219036" y="348468"/>
                </a:lnTo>
                <a:lnTo>
                  <a:pt x="167544" y="338211"/>
                </a:lnTo>
                <a:lnTo>
                  <a:pt x="120947" y="321983"/>
                </a:lnTo>
                <a:lnTo>
                  <a:pt x="80348" y="300489"/>
                </a:lnTo>
                <a:lnTo>
                  <a:pt x="46850" y="274439"/>
                </a:lnTo>
                <a:lnTo>
                  <a:pt x="21558" y="244539"/>
                </a:lnTo>
                <a:lnTo>
                  <a:pt x="0" y="17602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 txBox="1"/>
          <p:nvPr/>
        </p:nvSpPr>
        <p:spPr>
          <a:xfrm>
            <a:off x="5181516" y="1750939"/>
            <a:ext cx="4910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104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79696" y="946402"/>
            <a:ext cx="731520" cy="436880"/>
          </a:xfrm>
          <a:custGeom>
            <a:avLst/>
            <a:gdLst/>
            <a:ahLst/>
            <a:cxnLst/>
            <a:rect l="l" t="t" r="r" b="b"/>
            <a:pathLst>
              <a:path w="548639" h="327659">
                <a:moveTo>
                  <a:pt x="274320" y="0"/>
                </a:moveTo>
                <a:lnTo>
                  <a:pt x="219036" y="3328"/>
                </a:lnTo>
                <a:lnTo>
                  <a:pt x="167544" y="12875"/>
                </a:lnTo>
                <a:lnTo>
                  <a:pt x="120947" y="27981"/>
                </a:lnTo>
                <a:lnTo>
                  <a:pt x="80348" y="47986"/>
                </a:lnTo>
                <a:lnTo>
                  <a:pt x="46850" y="72233"/>
                </a:lnTo>
                <a:lnTo>
                  <a:pt x="5573" y="130814"/>
                </a:lnTo>
                <a:lnTo>
                  <a:pt x="0" y="163829"/>
                </a:lnTo>
                <a:lnTo>
                  <a:pt x="5573" y="196845"/>
                </a:lnTo>
                <a:lnTo>
                  <a:pt x="46850" y="255426"/>
                </a:lnTo>
                <a:lnTo>
                  <a:pt x="80348" y="279673"/>
                </a:lnTo>
                <a:lnTo>
                  <a:pt x="120947" y="299678"/>
                </a:lnTo>
                <a:lnTo>
                  <a:pt x="167544" y="314784"/>
                </a:lnTo>
                <a:lnTo>
                  <a:pt x="219036" y="324331"/>
                </a:lnTo>
                <a:lnTo>
                  <a:pt x="274320" y="327659"/>
                </a:lnTo>
                <a:lnTo>
                  <a:pt x="329603" y="324331"/>
                </a:lnTo>
                <a:lnTo>
                  <a:pt x="381095" y="314784"/>
                </a:lnTo>
                <a:lnTo>
                  <a:pt x="427692" y="299678"/>
                </a:lnTo>
                <a:lnTo>
                  <a:pt x="468291" y="279673"/>
                </a:lnTo>
                <a:lnTo>
                  <a:pt x="501789" y="255426"/>
                </a:lnTo>
                <a:lnTo>
                  <a:pt x="543066" y="196845"/>
                </a:lnTo>
                <a:lnTo>
                  <a:pt x="548640" y="163829"/>
                </a:lnTo>
                <a:lnTo>
                  <a:pt x="543066" y="130814"/>
                </a:lnTo>
                <a:lnTo>
                  <a:pt x="501789" y="72233"/>
                </a:lnTo>
                <a:lnTo>
                  <a:pt x="468291" y="47986"/>
                </a:lnTo>
                <a:lnTo>
                  <a:pt x="427692" y="27981"/>
                </a:lnTo>
                <a:lnTo>
                  <a:pt x="381095" y="12875"/>
                </a:lnTo>
                <a:lnTo>
                  <a:pt x="329603" y="3328"/>
                </a:lnTo>
                <a:lnTo>
                  <a:pt x="274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5979696" y="946402"/>
            <a:ext cx="731520" cy="436880"/>
          </a:xfrm>
          <a:custGeom>
            <a:avLst/>
            <a:gdLst/>
            <a:ahLst/>
            <a:cxnLst/>
            <a:rect l="l" t="t" r="r" b="b"/>
            <a:pathLst>
              <a:path w="548639" h="327659">
                <a:moveTo>
                  <a:pt x="0" y="163829"/>
                </a:moveTo>
                <a:lnTo>
                  <a:pt x="21558" y="100062"/>
                </a:lnTo>
                <a:lnTo>
                  <a:pt x="80348" y="47986"/>
                </a:lnTo>
                <a:lnTo>
                  <a:pt x="120947" y="27981"/>
                </a:lnTo>
                <a:lnTo>
                  <a:pt x="167544" y="12875"/>
                </a:lnTo>
                <a:lnTo>
                  <a:pt x="219036" y="3328"/>
                </a:lnTo>
                <a:lnTo>
                  <a:pt x="274320" y="0"/>
                </a:lnTo>
                <a:lnTo>
                  <a:pt x="329603" y="3328"/>
                </a:lnTo>
                <a:lnTo>
                  <a:pt x="381095" y="12875"/>
                </a:lnTo>
                <a:lnTo>
                  <a:pt x="427692" y="27981"/>
                </a:lnTo>
                <a:lnTo>
                  <a:pt x="468291" y="47986"/>
                </a:lnTo>
                <a:lnTo>
                  <a:pt x="501789" y="72233"/>
                </a:lnTo>
                <a:lnTo>
                  <a:pt x="543066" y="130814"/>
                </a:lnTo>
                <a:lnTo>
                  <a:pt x="548640" y="163829"/>
                </a:lnTo>
                <a:lnTo>
                  <a:pt x="543066" y="196845"/>
                </a:lnTo>
                <a:lnTo>
                  <a:pt x="501789" y="255426"/>
                </a:lnTo>
                <a:lnTo>
                  <a:pt x="468291" y="279673"/>
                </a:lnTo>
                <a:lnTo>
                  <a:pt x="427692" y="299678"/>
                </a:lnTo>
                <a:lnTo>
                  <a:pt x="381095" y="314784"/>
                </a:lnTo>
                <a:lnTo>
                  <a:pt x="329603" y="324331"/>
                </a:lnTo>
                <a:lnTo>
                  <a:pt x="274320" y="327659"/>
                </a:lnTo>
                <a:lnTo>
                  <a:pt x="219036" y="324331"/>
                </a:lnTo>
                <a:lnTo>
                  <a:pt x="167544" y="314784"/>
                </a:lnTo>
                <a:lnTo>
                  <a:pt x="120947" y="299678"/>
                </a:lnTo>
                <a:lnTo>
                  <a:pt x="80348" y="279673"/>
                </a:lnTo>
                <a:lnTo>
                  <a:pt x="46850" y="255426"/>
                </a:lnTo>
                <a:lnTo>
                  <a:pt x="5573" y="196845"/>
                </a:lnTo>
                <a:lnTo>
                  <a:pt x="0" y="163829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 txBox="1"/>
          <p:nvPr/>
        </p:nvSpPr>
        <p:spPr>
          <a:xfrm>
            <a:off x="6069735" y="982715"/>
            <a:ext cx="4910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192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13675" y="4930492"/>
            <a:ext cx="2952327" cy="1107140"/>
          </a:xfrm>
          <a:prstGeom prst="rect">
            <a:avLst/>
          </a:prstGeom>
        </p:spPr>
        <p:txBody>
          <a:bodyPr vert="horz" wrap="square" lIns="0" tIns="85513" rIns="0" bIns="0" rtlCol="0">
            <a:spAutoFit/>
          </a:bodyPr>
          <a:lstStyle/>
          <a:p>
            <a:pPr marL="50799">
              <a:spcBef>
                <a:spcPts val="673"/>
              </a:spcBef>
            </a:pPr>
            <a:r>
              <a:rPr sz="7000" b="1" spc="9" baseline="-8730" dirty="0">
                <a:latin typeface="Symbol"/>
                <a:cs typeface="Symbol"/>
              </a:rPr>
              <a:t></a:t>
            </a:r>
            <a:r>
              <a:rPr sz="7000" b="1" spc="-1109" baseline="-8730" dirty="0">
                <a:latin typeface="Times New Roman"/>
                <a:cs typeface="Times New Roman"/>
              </a:rPr>
              <a:t> </a:t>
            </a:r>
            <a:r>
              <a:rPr sz="3067" b="1" i="1" spc="27" dirty="0">
                <a:latin typeface="Times New Roman"/>
                <a:cs typeface="Times New Roman"/>
              </a:rPr>
              <a:t>d</a:t>
            </a:r>
            <a:r>
              <a:rPr sz="3067" b="1" i="1" spc="-487" dirty="0">
                <a:latin typeface="Times New Roman"/>
                <a:cs typeface="Times New Roman"/>
              </a:rPr>
              <a:t> </a:t>
            </a:r>
            <a:r>
              <a:rPr sz="3067" b="1" spc="140" dirty="0">
                <a:latin typeface="Times New Roman"/>
                <a:cs typeface="Times New Roman"/>
              </a:rPr>
              <a:t>(</a:t>
            </a:r>
            <a:r>
              <a:rPr sz="3067" b="1" i="1" spc="140" dirty="0">
                <a:latin typeface="Times New Roman"/>
                <a:cs typeface="Times New Roman"/>
              </a:rPr>
              <a:t>i</a:t>
            </a:r>
            <a:r>
              <a:rPr sz="3067" b="1" spc="140" dirty="0">
                <a:latin typeface="Times New Roman"/>
                <a:cs typeface="Times New Roman"/>
              </a:rPr>
              <a:t>)</a:t>
            </a:r>
            <a:r>
              <a:rPr sz="3067" b="1" spc="-360" dirty="0">
                <a:latin typeface="Times New Roman"/>
                <a:cs typeface="Times New Roman"/>
              </a:rPr>
              <a:t> </a:t>
            </a:r>
            <a:r>
              <a:rPr sz="3067" b="1" i="1" spc="107" dirty="0">
                <a:latin typeface="Times New Roman"/>
                <a:cs typeface="Times New Roman"/>
              </a:rPr>
              <a:t>f</a:t>
            </a:r>
            <a:r>
              <a:rPr sz="2700" b="1" i="1" spc="160" baseline="-24691" dirty="0">
                <a:latin typeface="Times New Roman"/>
                <a:cs typeface="Times New Roman"/>
              </a:rPr>
              <a:t>i</a:t>
            </a:r>
            <a:r>
              <a:rPr sz="2700" b="1" i="1" spc="720" baseline="-24691" dirty="0">
                <a:latin typeface="Times New Roman"/>
                <a:cs typeface="Times New Roman"/>
              </a:rPr>
              <a:t> </a:t>
            </a:r>
            <a:r>
              <a:rPr sz="3067" b="1" spc="27" dirty="0">
                <a:latin typeface="Symbol"/>
                <a:cs typeface="Symbol"/>
              </a:rPr>
              <a:t></a:t>
            </a:r>
            <a:r>
              <a:rPr sz="3067" b="1" spc="-253" dirty="0">
                <a:latin typeface="Times New Roman"/>
                <a:cs typeface="Times New Roman"/>
              </a:rPr>
              <a:t> </a:t>
            </a:r>
            <a:r>
              <a:rPr sz="3067" b="1" spc="87" dirty="0">
                <a:latin typeface="Times New Roman"/>
                <a:cs typeface="Times New Roman"/>
              </a:rPr>
              <a:t>(</a:t>
            </a:r>
            <a:r>
              <a:rPr sz="3067" b="1" i="1" spc="87" dirty="0">
                <a:latin typeface="Times New Roman"/>
                <a:cs typeface="Times New Roman"/>
              </a:rPr>
              <a:t>n</a:t>
            </a:r>
            <a:r>
              <a:rPr sz="3067" b="1" i="1" spc="-272" dirty="0">
                <a:latin typeface="Times New Roman"/>
                <a:cs typeface="Times New Roman"/>
              </a:rPr>
              <a:t> </a:t>
            </a:r>
            <a:r>
              <a:rPr sz="3067" b="1" spc="27" dirty="0">
                <a:latin typeface="Symbol"/>
                <a:cs typeface="Symbol"/>
              </a:rPr>
              <a:t></a:t>
            </a:r>
            <a:r>
              <a:rPr sz="3067" b="1" spc="-353" dirty="0">
                <a:latin typeface="Times New Roman"/>
                <a:cs typeface="Times New Roman"/>
              </a:rPr>
              <a:t> </a:t>
            </a:r>
            <a:r>
              <a:rPr sz="3067" b="1" spc="-7" dirty="0">
                <a:latin typeface="Times New Roman"/>
                <a:cs typeface="Times New Roman"/>
              </a:rPr>
              <a:t>1)</a:t>
            </a:r>
            <a:endParaRPr sz="3067">
              <a:latin typeface="Times New Roman"/>
              <a:cs typeface="Times New Roman"/>
            </a:endParaRPr>
          </a:p>
          <a:p>
            <a:pPr marL="76198">
              <a:spcBef>
                <a:spcPts val="227"/>
              </a:spcBef>
            </a:pPr>
            <a:r>
              <a:rPr b="1" i="1" spc="20" dirty="0">
                <a:latin typeface="Times New Roman"/>
                <a:cs typeface="Times New Roman"/>
              </a:rPr>
              <a:t>i</a:t>
            </a:r>
            <a:r>
              <a:rPr b="1" spc="20" dirty="0">
                <a:latin typeface="Symbol"/>
                <a:cs typeface="Symbol"/>
              </a:rPr>
              <a:t></a:t>
            </a:r>
            <a:r>
              <a:rPr b="1" i="1" spc="20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34472" y="5288078"/>
            <a:ext cx="247904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代价计算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公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式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22731" y="5144521"/>
            <a:ext cx="3537373" cy="880533"/>
          </a:xfrm>
          <a:custGeom>
            <a:avLst/>
            <a:gdLst/>
            <a:ahLst/>
            <a:cxnLst/>
            <a:rect l="l" t="t" r="r" b="b"/>
            <a:pathLst>
              <a:path w="2653029" h="660400">
                <a:moveTo>
                  <a:pt x="0" y="109982"/>
                </a:moveTo>
                <a:lnTo>
                  <a:pt x="8642" y="67170"/>
                </a:lnTo>
                <a:lnTo>
                  <a:pt x="32211" y="32211"/>
                </a:lnTo>
                <a:lnTo>
                  <a:pt x="67170" y="8642"/>
                </a:lnTo>
                <a:lnTo>
                  <a:pt x="109982" y="0"/>
                </a:lnTo>
                <a:lnTo>
                  <a:pt x="2542540" y="0"/>
                </a:lnTo>
                <a:lnTo>
                  <a:pt x="2585351" y="8642"/>
                </a:lnTo>
                <a:lnTo>
                  <a:pt x="2620310" y="32211"/>
                </a:lnTo>
                <a:lnTo>
                  <a:pt x="2643879" y="67170"/>
                </a:lnTo>
                <a:lnTo>
                  <a:pt x="2652522" y="109982"/>
                </a:lnTo>
                <a:lnTo>
                  <a:pt x="2652522" y="549897"/>
                </a:lnTo>
                <a:lnTo>
                  <a:pt x="2643879" y="592710"/>
                </a:lnTo>
                <a:lnTo>
                  <a:pt x="2620310" y="627673"/>
                </a:lnTo>
                <a:lnTo>
                  <a:pt x="2585351" y="651247"/>
                </a:lnTo>
                <a:lnTo>
                  <a:pt x="2542540" y="659892"/>
                </a:lnTo>
                <a:lnTo>
                  <a:pt x="109982" y="659892"/>
                </a:lnTo>
                <a:lnTo>
                  <a:pt x="67170" y="651247"/>
                </a:lnTo>
                <a:lnTo>
                  <a:pt x="32211" y="627673"/>
                </a:lnTo>
                <a:lnTo>
                  <a:pt x="8642" y="592710"/>
                </a:lnTo>
                <a:lnTo>
                  <a:pt x="0" y="549897"/>
                </a:lnTo>
                <a:lnTo>
                  <a:pt x="0" y="109982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4218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465" y="336666"/>
            <a:ext cx="1072917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：Huffman</a:t>
            </a: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树归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</a:t>
            </a:r>
          </a:p>
        </p:txBody>
      </p:sp>
      <p:sp>
        <p:nvSpPr>
          <p:cNvPr id="3" name="object 3"/>
          <p:cNvSpPr/>
          <p:nvPr/>
        </p:nvSpPr>
        <p:spPr>
          <a:xfrm>
            <a:off x="4726939" y="3137915"/>
            <a:ext cx="247227" cy="826347"/>
          </a:xfrm>
          <a:custGeom>
            <a:avLst/>
            <a:gdLst/>
            <a:ahLst/>
            <a:cxnLst/>
            <a:rect l="l" t="t" r="r" b="b"/>
            <a:pathLst>
              <a:path w="185420" h="619760">
                <a:moveTo>
                  <a:pt x="185165" y="0"/>
                </a:moveTo>
                <a:lnTo>
                  <a:pt x="0" y="619506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519429" y="2236723"/>
            <a:ext cx="2715260" cy="3097107"/>
          </a:xfrm>
          <a:custGeom>
            <a:avLst/>
            <a:gdLst/>
            <a:ahLst/>
            <a:cxnLst/>
            <a:rect l="l" t="t" r="r" b="b"/>
            <a:pathLst>
              <a:path w="2036445" h="2322829">
                <a:moveTo>
                  <a:pt x="2036064" y="0"/>
                </a:moveTo>
                <a:lnTo>
                  <a:pt x="0" y="2322576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259076" y="4714747"/>
            <a:ext cx="247227" cy="826347"/>
          </a:xfrm>
          <a:custGeom>
            <a:avLst/>
            <a:gdLst/>
            <a:ahLst/>
            <a:cxnLst/>
            <a:rect l="l" t="t" r="r" b="b"/>
            <a:pathLst>
              <a:path w="185419" h="619760">
                <a:moveTo>
                  <a:pt x="0" y="0"/>
                </a:moveTo>
                <a:lnTo>
                  <a:pt x="185166" y="619506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492500" y="2855469"/>
            <a:ext cx="494453" cy="1033780"/>
          </a:xfrm>
          <a:custGeom>
            <a:avLst/>
            <a:gdLst/>
            <a:ahLst/>
            <a:cxnLst/>
            <a:rect l="l" t="t" r="r" b="b"/>
            <a:pathLst>
              <a:path w="370839" h="775335">
                <a:moveTo>
                  <a:pt x="0" y="0"/>
                </a:moveTo>
                <a:lnTo>
                  <a:pt x="370332" y="774954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752852" y="3888739"/>
            <a:ext cx="492760" cy="826347"/>
          </a:xfrm>
          <a:custGeom>
            <a:avLst/>
            <a:gdLst/>
            <a:ahLst/>
            <a:cxnLst/>
            <a:rect l="l" t="t" r="r" b="b"/>
            <a:pathLst>
              <a:path w="369569" h="619760">
                <a:moveTo>
                  <a:pt x="0" y="0"/>
                </a:moveTo>
                <a:lnTo>
                  <a:pt x="369570" y="619506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234181" y="2236723"/>
            <a:ext cx="1480820" cy="1652693"/>
          </a:xfrm>
          <a:custGeom>
            <a:avLst/>
            <a:gdLst/>
            <a:ahLst/>
            <a:cxnLst/>
            <a:rect l="l" t="t" r="r" b="b"/>
            <a:pathLst>
              <a:path w="1110614" h="1239520">
                <a:moveTo>
                  <a:pt x="0" y="0"/>
                </a:moveTo>
                <a:lnTo>
                  <a:pt x="1110234" y="12390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752852" y="4302252"/>
            <a:ext cx="652779" cy="487680"/>
          </a:xfrm>
          <a:custGeom>
            <a:avLst/>
            <a:gdLst/>
            <a:ahLst/>
            <a:cxnLst/>
            <a:rect l="l" t="t" r="r" b="b"/>
            <a:pathLst>
              <a:path w="489585" h="365760">
                <a:moveTo>
                  <a:pt x="244602" y="0"/>
                </a:moveTo>
                <a:lnTo>
                  <a:pt x="188517" y="4829"/>
                </a:lnTo>
                <a:lnTo>
                  <a:pt x="137032" y="18587"/>
                </a:lnTo>
                <a:lnTo>
                  <a:pt x="91615" y="40176"/>
                </a:lnTo>
                <a:lnTo>
                  <a:pt x="53736" y="68497"/>
                </a:lnTo>
                <a:lnTo>
                  <a:pt x="24861" y="102453"/>
                </a:lnTo>
                <a:lnTo>
                  <a:pt x="6460" y="140946"/>
                </a:lnTo>
                <a:lnTo>
                  <a:pt x="0" y="182880"/>
                </a:lnTo>
                <a:lnTo>
                  <a:pt x="6460" y="224813"/>
                </a:lnTo>
                <a:lnTo>
                  <a:pt x="24861" y="263306"/>
                </a:lnTo>
                <a:lnTo>
                  <a:pt x="53736" y="297262"/>
                </a:lnTo>
                <a:lnTo>
                  <a:pt x="91615" y="325583"/>
                </a:lnTo>
                <a:lnTo>
                  <a:pt x="137032" y="347172"/>
                </a:lnTo>
                <a:lnTo>
                  <a:pt x="188517" y="360930"/>
                </a:lnTo>
                <a:lnTo>
                  <a:pt x="244602" y="365760"/>
                </a:lnTo>
                <a:lnTo>
                  <a:pt x="300686" y="360930"/>
                </a:lnTo>
                <a:lnTo>
                  <a:pt x="352171" y="347172"/>
                </a:lnTo>
                <a:lnTo>
                  <a:pt x="397588" y="325583"/>
                </a:lnTo>
                <a:lnTo>
                  <a:pt x="435467" y="297262"/>
                </a:lnTo>
                <a:lnTo>
                  <a:pt x="464342" y="263306"/>
                </a:lnTo>
                <a:lnTo>
                  <a:pt x="482743" y="224813"/>
                </a:lnTo>
                <a:lnTo>
                  <a:pt x="489204" y="182880"/>
                </a:lnTo>
                <a:lnTo>
                  <a:pt x="482743" y="140946"/>
                </a:lnTo>
                <a:lnTo>
                  <a:pt x="464342" y="102453"/>
                </a:lnTo>
                <a:lnTo>
                  <a:pt x="435467" y="68497"/>
                </a:lnTo>
                <a:lnTo>
                  <a:pt x="397588" y="40176"/>
                </a:lnTo>
                <a:lnTo>
                  <a:pt x="352171" y="18587"/>
                </a:lnTo>
                <a:lnTo>
                  <a:pt x="300686" y="4829"/>
                </a:lnTo>
                <a:lnTo>
                  <a:pt x="24460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752852" y="4302252"/>
            <a:ext cx="652779" cy="487680"/>
          </a:xfrm>
          <a:custGeom>
            <a:avLst/>
            <a:gdLst/>
            <a:ahLst/>
            <a:cxnLst/>
            <a:rect l="l" t="t" r="r" b="b"/>
            <a:pathLst>
              <a:path w="489585" h="365760">
                <a:moveTo>
                  <a:pt x="0" y="182880"/>
                </a:moveTo>
                <a:lnTo>
                  <a:pt x="6460" y="140946"/>
                </a:lnTo>
                <a:lnTo>
                  <a:pt x="24861" y="102453"/>
                </a:lnTo>
                <a:lnTo>
                  <a:pt x="53736" y="68497"/>
                </a:lnTo>
                <a:lnTo>
                  <a:pt x="91615" y="40176"/>
                </a:lnTo>
                <a:lnTo>
                  <a:pt x="137032" y="18587"/>
                </a:lnTo>
                <a:lnTo>
                  <a:pt x="188517" y="4829"/>
                </a:lnTo>
                <a:lnTo>
                  <a:pt x="244602" y="0"/>
                </a:lnTo>
                <a:lnTo>
                  <a:pt x="300686" y="4829"/>
                </a:lnTo>
                <a:lnTo>
                  <a:pt x="352171" y="18587"/>
                </a:lnTo>
                <a:lnTo>
                  <a:pt x="397588" y="40176"/>
                </a:lnTo>
                <a:lnTo>
                  <a:pt x="435467" y="68497"/>
                </a:lnTo>
                <a:lnTo>
                  <a:pt x="464342" y="102453"/>
                </a:lnTo>
                <a:lnTo>
                  <a:pt x="482743" y="140946"/>
                </a:lnTo>
                <a:lnTo>
                  <a:pt x="489204" y="182880"/>
                </a:lnTo>
                <a:lnTo>
                  <a:pt x="482743" y="224813"/>
                </a:lnTo>
                <a:lnTo>
                  <a:pt x="464342" y="263306"/>
                </a:lnTo>
                <a:lnTo>
                  <a:pt x="435467" y="297262"/>
                </a:lnTo>
                <a:lnTo>
                  <a:pt x="397588" y="325583"/>
                </a:lnTo>
                <a:lnTo>
                  <a:pt x="352171" y="347172"/>
                </a:lnTo>
                <a:lnTo>
                  <a:pt x="300686" y="360930"/>
                </a:lnTo>
                <a:lnTo>
                  <a:pt x="244602" y="365760"/>
                </a:lnTo>
                <a:lnTo>
                  <a:pt x="188517" y="360930"/>
                </a:lnTo>
                <a:lnTo>
                  <a:pt x="137032" y="347172"/>
                </a:lnTo>
                <a:lnTo>
                  <a:pt x="91615" y="325583"/>
                </a:lnTo>
                <a:lnTo>
                  <a:pt x="53736" y="297262"/>
                </a:lnTo>
                <a:lnTo>
                  <a:pt x="24861" y="263306"/>
                </a:lnTo>
                <a:lnTo>
                  <a:pt x="6460" y="224813"/>
                </a:lnTo>
                <a:lnTo>
                  <a:pt x="0" y="182880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765300" y="4302252"/>
            <a:ext cx="653627" cy="487680"/>
          </a:xfrm>
          <a:custGeom>
            <a:avLst/>
            <a:gdLst/>
            <a:ahLst/>
            <a:cxnLst/>
            <a:rect l="l" t="t" r="r" b="b"/>
            <a:pathLst>
              <a:path w="490219" h="365760">
                <a:moveTo>
                  <a:pt x="244983" y="0"/>
                </a:moveTo>
                <a:lnTo>
                  <a:pt x="188808" y="4829"/>
                </a:lnTo>
                <a:lnTo>
                  <a:pt x="137243" y="18587"/>
                </a:lnTo>
                <a:lnTo>
                  <a:pt x="91756" y="40176"/>
                </a:lnTo>
                <a:lnTo>
                  <a:pt x="53818" y="68497"/>
                </a:lnTo>
                <a:lnTo>
                  <a:pt x="24899" y="102453"/>
                </a:lnTo>
                <a:lnTo>
                  <a:pt x="6469" y="140946"/>
                </a:lnTo>
                <a:lnTo>
                  <a:pt x="0" y="182880"/>
                </a:lnTo>
                <a:lnTo>
                  <a:pt x="6469" y="224813"/>
                </a:lnTo>
                <a:lnTo>
                  <a:pt x="24899" y="263306"/>
                </a:lnTo>
                <a:lnTo>
                  <a:pt x="53818" y="297262"/>
                </a:lnTo>
                <a:lnTo>
                  <a:pt x="91756" y="325583"/>
                </a:lnTo>
                <a:lnTo>
                  <a:pt x="137243" y="347172"/>
                </a:lnTo>
                <a:lnTo>
                  <a:pt x="188808" y="360930"/>
                </a:lnTo>
                <a:lnTo>
                  <a:pt x="244983" y="365760"/>
                </a:lnTo>
                <a:lnTo>
                  <a:pt x="301157" y="360930"/>
                </a:lnTo>
                <a:lnTo>
                  <a:pt x="352722" y="347172"/>
                </a:lnTo>
                <a:lnTo>
                  <a:pt x="398209" y="325583"/>
                </a:lnTo>
                <a:lnTo>
                  <a:pt x="436147" y="297262"/>
                </a:lnTo>
                <a:lnTo>
                  <a:pt x="465066" y="263306"/>
                </a:lnTo>
                <a:lnTo>
                  <a:pt x="483496" y="224813"/>
                </a:lnTo>
                <a:lnTo>
                  <a:pt x="489966" y="182880"/>
                </a:lnTo>
                <a:lnTo>
                  <a:pt x="483496" y="140946"/>
                </a:lnTo>
                <a:lnTo>
                  <a:pt x="465066" y="102453"/>
                </a:lnTo>
                <a:lnTo>
                  <a:pt x="436147" y="68497"/>
                </a:lnTo>
                <a:lnTo>
                  <a:pt x="398209" y="40176"/>
                </a:lnTo>
                <a:lnTo>
                  <a:pt x="352722" y="18587"/>
                </a:lnTo>
                <a:lnTo>
                  <a:pt x="301157" y="4829"/>
                </a:lnTo>
                <a:lnTo>
                  <a:pt x="244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765300" y="4302252"/>
            <a:ext cx="653627" cy="487680"/>
          </a:xfrm>
          <a:custGeom>
            <a:avLst/>
            <a:gdLst/>
            <a:ahLst/>
            <a:cxnLst/>
            <a:rect l="l" t="t" r="r" b="b"/>
            <a:pathLst>
              <a:path w="490219" h="365760">
                <a:moveTo>
                  <a:pt x="0" y="182880"/>
                </a:moveTo>
                <a:lnTo>
                  <a:pt x="6469" y="140946"/>
                </a:lnTo>
                <a:lnTo>
                  <a:pt x="24899" y="102453"/>
                </a:lnTo>
                <a:lnTo>
                  <a:pt x="53818" y="68497"/>
                </a:lnTo>
                <a:lnTo>
                  <a:pt x="91756" y="40176"/>
                </a:lnTo>
                <a:lnTo>
                  <a:pt x="137243" y="18587"/>
                </a:lnTo>
                <a:lnTo>
                  <a:pt x="188808" y="4829"/>
                </a:lnTo>
                <a:lnTo>
                  <a:pt x="244983" y="0"/>
                </a:lnTo>
                <a:lnTo>
                  <a:pt x="301157" y="4829"/>
                </a:lnTo>
                <a:lnTo>
                  <a:pt x="352722" y="18587"/>
                </a:lnTo>
                <a:lnTo>
                  <a:pt x="398209" y="40176"/>
                </a:lnTo>
                <a:lnTo>
                  <a:pt x="436147" y="68497"/>
                </a:lnTo>
                <a:lnTo>
                  <a:pt x="465066" y="102453"/>
                </a:lnTo>
                <a:lnTo>
                  <a:pt x="483496" y="140946"/>
                </a:lnTo>
                <a:lnTo>
                  <a:pt x="489966" y="182880"/>
                </a:lnTo>
                <a:lnTo>
                  <a:pt x="483496" y="224813"/>
                </a:lnTo>
                <a:lnTo>
                  <a:pt x="465066" y="263306"/>
                </a:lnTo>
                <a:lnTo>
                  <a:pt x="436147" y="297262"/>
                </a:lnTo>
                <a:lnTo>
                  <a:pt x="398209" y="325583"/>
                </a:lnTo>
                <a:lnTo>
                  <a:pt x="352722" y="347172"/>
                </a:lnTo>
                <a:lnTo>
                  <a:pt x="301157" y="360930"/>
                </a:lnTo>
                <a:lnTo>
                  <a:pt x="244983" y="365760"/>
                </a:lnTo>
                <a:lnTo>
                  <a:pt x="188808" y="360930"/>
                </a:lnTo>
                <a:lnTo>
                  <a:pt x="137243" y="347172"/>
                </a:lnTo>
                <a:lnTo>
                  <a:pt x="91756" y="325583"/>
                </a:lnTo>
                <a:lnTo>
                  <a:pt x="53818" y="297262"/>
                </a:lnTo>
                <a:lnTo>
                  <a:pt x="24899" y="263306"/>
                </a:lnTo>
                <a:lnTo>
                  <a:pt x="6469" y="224813"/>
                </a:lnTo>
                <a:lnTo>
                  <a:pt x="0" y="18288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1843076" y="4345763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28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99563" y="5127245"/>
            <a:ext cx="653627" cy="490220"/>
          </a:xfrm>
          <a:custGeom>
            <a:avLst/>
            <a:gdLst/>
            <a:ahLst/>
            <a:cxnLst/>
            <a:rect l="l" t="t" r="r" b="b"/>
            <a:pathLst>
              <a:path w="490219" h="367664">
                <a:moveTo>
                  <a:pt x="244983" y="0"/>
                </a:moveTo>
                <a:lnTo>
                  <a:pt x="188808" y="4850"/>
                </a:lnTo>
                <a:lnTo>
                  <a:pt x="137243" y="18665"/>
                </a:lnTo>
                <a:lnTo>
                  <a:pt x="91756" y="40344"/>
                </a:lnTo>
                <a:lnTo>
                  <a:pt x="53818" y="68783"/>
                </a:lnTo>
                <a:lnTo>
                  <a:pt x="24899" y="102881"/>
                </a:lnTo>
                <a:lnTo>
                  <a:pt x="6469" y="141534"/>
                </a:lnTo>
                <a:lnTo>
                  <a:pt x="0" y="183642"/>
                </a:lnTo>
                <a:lnTo>
                  <a:pt x="6469" y="225749"/>
                </a:lnTo>
                <a:lnTo>
                  <a:pt x="24899" y="264402"/>
                </a:lnTo>
                <a:lnTo>
                  <a:pt x="53818" y="298500"/>
                </a:lnTo>
                <a:lnTo>
                  <a:pt x="91756" y="326939"/>
                </a:lnTo>
                <a:lnTo>
                  <a:pt x="137243" y="348618"/>
                </a:lnTo>
                <a:lnTo>
                  <a:pt x="188808" y="362433"/>
                </a:lnTo>
                <a:lnTo>
                  <a:pt x="244983" y="367284"/>
                </a:lnTo>
                <a:lnTo>
                  <a:pt x="301157" y="362433"/>
                </a:lnTo>
                <a:lnTo>
                  <a:pt x="352722" y="348618"/>
                </a:lnTo>
                <a:lnTo>
                  <a:pt x="398209" y="326939"/>
                </a:lnTo>
                <a:lnTo>
                  <a:pt x="436147" y="298500"/>
                </a:lnTo>
                <a:lnTo>
                  <a:pt x="465066" y="264402"/>
                </a:lnTo>
                <a:lnTo>
                  <a:pt x="483496" y="225749"/>
                </a:lnTo>
                <a:lnTo>
                  <a:pt x="489966" y="183642"/>
                </a:lnTo>
                <a:lnTo>
                  <a:pt x="483496" y="141534"/>
                </a:lnTo>
                <a:lnTo>
                  <a:pt x="465066" y="102881"/>
                </a:lnTo>
                <a:lnTo>
                  <a:pt x="436147" y="68783"/>
                </a:lnTo>
                <a:lnTo>
                  <a:pt x="398209" y="40344"/>
                </a:lnTo>
                <a:lnTo>
                  <a:pt x="352722" y="18665"/>
                </a:lnTo>
                <a:lnTo>
                  <a:pt x="301157" y="4850"/>
                </a:lnTo>
                <a:lnTo>
                  <a:pt x="24498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99563" y="5127245"/>
            <a:ext cx="653627" cy="490220"/>
          </a:xfrm>
          <a:custGeom>
            <a:avLst/>
            <a:gdLst/>
            <a:ahLst/>
            <a:cxnLst/>
            <a:rect l="l" t="t" r="r" b="b"/>
            <a:pathLst>
              <a:path w="490219" h="367664">
                <a:moveTo>
                  <a:pt x="0" y="183642"/>
                </a:moveTo>
                <a:lnTo>
                  <a:pt x="6469" y="141534"/>
                </a:lnTo>
                <a:lnTo>
                  <a:pt x="24899" y="102881"/>
                </a:lnTo>
                <a:lnTo>
                  <a:pt x="53818" y="68783"/>
                </a:lnTo>
                <a:lnTo>
                  <a:pt x="91756" y="40344"/>
                </a:lnTo>
                <a:lnTo>
                  <a:pt x="137243" y="18665"/>
                </a:lnTo>
                <a:lnTo>
                  <a:pt x="188808" y="4850"/>
                </a:lnTo>
                <a:lnTo>
                  <a:pt x="244983" y="0"/>
                </a:lnTo>
                <a:lnTo>
                  <a:pt x="301157" y="4850"/>
                </a:lnTo>
                <a:lnTo>
                  <a:pt x="352722" y="18665"/>
                </a:lnTo>
                <a:lnTo>
                  <a:pt x="398209" y="40344"/>
                </a:lnTo>
                <a:lnTo>
                  <a:pt x="436147" y="68783"/>
                </a:lnTo>
                <a:lnTo>
                  <a:pt x="465066" y="102881"/>
                </a:lnTo>
                <a:lnTo>
                  <a:pt x="483496" y="141534"/>
                </a:lnTo>
                <a:lnTo>
                  <a:pt x="489966" y="183642"/>
                </a:lnTo>
                <a:lnTo>
                  <a:pt x="483496" y="225749"/>
                </a:lnTo>
                <a:lnTo>
                  <a:pt x="465066" y="264402"/>
                </a:lnTo>
                <a:lnTo>
                  <a:pt x="436147" y="298500"/>
                </a:lnTo>
                <a:lnTo>
                  <a:pt x="398209" y="326939"/>
                </a:lnTo>
                <a:lnTo>
                  <a:pt x="352722" y="348618"/>
                </a:lnTo>
                <a:lnTo>
                  <a:pt x="301157" y="362433"/>
                </a:lnTo>
                <a:lnTo>
                  <a:pt x="244983" y="367284"/>
                </a:lnTo>
                <a:lnTo>
                  <a:pt x="188808" y="362433"/>
                </a:lnTo>
                <a:lnTo>
                  <a:pt x="137243" y="348618"/>
                </a:lnTo>
                <a:lnTo>
                  <a:pt x="91756" y="326939"/>
                </a:lnTo>
                <a:lnTo>
                  <a:pt x="53818" y="298500"/>
                </a:lnTo>
                <a:lnTo>
                  <a:pt x="24899" y="264402"/>
                </a:lnTo>
                <a:lnTo>
                  <a:pt x="6469" y="225749"/>
                </a:lnTo>
                <a:lnTo>
                  <a:pt x="0" y="18364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492500" y="3607307"/>
            <a:ext cx="653627" cy="487680"/>
          </a:xfrm>
          <a:custGeom>
            <a:avLst/>
            <a:gdLst/>
            <a:ahLst/>
            <a:cxnLst/>
            <a:rect l="l" t="t" r="r" b="b"/>
            <a:pathLst>
              <a:path w="490219" h="365760">
                <a:moveTo>
                  <a:pt x="244983" y="0"/>
                </a:moveTo>
                <a:lnTo>
                  <a:pt x="188808" y="4829"/>
                </a:lnTo>
                <a:lnTo>
                  <a:pt x="137243" y="18587"/>
                </a:lnTo>
                <a:lnTo>
                  <a:pt x="91756" y="40176"/>
                </a:lnTo>
                <a:lnTo>
                  <a:pt x="53818" y="68497"/>
                </a:lnTo>
                <a:lnTo>
                  <a:pt x="24899" y="102453"/>
                </a:lnTo>
                <a:lnTo>
                  <a:pt x="6469" y="140946"/>
                </a:lnTo>
                <a:lnTo>
                  <a:pt x="0" y="182880"/>
                </a:lnTo>
                <a:lnTo>
                  <a:pt x="6469" y="224813"/>
                </a:lnTo>
                <a:lnTo>
                  <a:pt x="24899" y="263306"/>
                </a:lnTo>
                <a:lnTo>
                  <a:pt x="53818" y="297262"/>
                </a:lnTo>
                <a:lnTo>
                  <a:pt x="91756" y="325583"/>
                </a:lnTo>
                <a:lnTo>
                  <a:pt x="137243" y="347172"/>
                </a:lnTo>
                <a:lnTo>
                  <a:pt x="188808" y="360930"/>
                </a:lnTo>
                <a:lnTo>
                  <a:pt x="244983" y="365760"/>
                </a:lnTo>
                <a:lnTo>
                  <a:pt x="301157" y="360930"/>
                </a:lnTo>
                <a:lnTo>
                  <a:pt x="352722" y="347172"/>
                </a:lnTo>
                <a:lnTo>
                  <a:pt x="398209" y="325583"/>
                </a:lnTo>
                <a:lnTo>
                  <a:pt x="436147" y="297262"/>
                </a:lnTo>
                <a:lnTo>
                  <a:pt x="465066" y="263306"/>
                </a:lnTo>
                <a:lnTo>
                  <a:pt x="483496" y="224813"/>
                </a:lnTo>
                <a:lnTo>
                  <a:pt x="489966" y="182880"/>
                </a:lnTo>
                <a:lnTo>
                  <a:pt x="483496" y="140946"/>
                </a:lnTo>
                <a:lnTo>
                  <a:pt x="465066" y="102453"/>
                </a:lnTo>
                <a:lnTo>
                  <a:pt x="436147" y="68497"/>
                </a:lnTo>
                <a:lnTo>
                  <a:pt x="398209" y="40176"/>
                </a:lnTo>
                <a:lnTo>
                  <a:pt x="352722" y="18587"/>
                </a:lnTo>
                <a:lnTo>
                  <a:pt x="301157" y="4829"/>
                </a:lnTo>
                <a:lnTo>
                  <a:pt x="24498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492500" y="3607307"/>
            <a:ext cx="653627" cy="487680"/>
          </a:xfrm>
          <a:custGeom>
            <a:avLst/>
            <a:gdLst/>
            <a:ahLst/>
            <a:cxnLst/>
            <a:rect l="l" t="t" r="r" b="b"/>
            <a:pathLst>
              <a:path w="490219" h="365760">
                <a:moveTo>
                  <a:pt x="0" y="182880"/>
                </a:moveTo>
                <a:lnTo>
                  <a:pt x="6469" y="140946"/>
                </a:lnTo>
                <a:lnTo>
                  <a:pt x="24899" y="102453"/>
                </a:lnTo>
                <a:lnTo>
                  <a:pt x="53818" y="68497"/>
                </a:lnTo>
                <a:lnTo>
                  <a:pt x="91756" y="40176"/>
                </a:lnTo>
                <a:lnTo>
                  <a:pt x="137243" y="18587"/>
                </a:lnTo>
                <a:lnTo>
                  <a:pt x="188808" y="4829"/>
                </a:lnTo>
                <a:lnTo>
                  <a:pt x="244983" y="0"/>
                </a:lnTo>
                <a:lnTo>
                  <a:pt x="301157" y="4829"/>
                </a:lnTo>
                <a:lnTo>
                  <a:pt x="352722" y="18587"/>
                </a:lnTo>
                <a:lnTo>
                  <a:pt x="398209" y="40176"/>
                </a:lnTo>
                <a:lnTo>
                  <a:pt x="436147" y="68497"/>
                </a:lnTo>
                <a:lnTo>
                  <a:pt x="465066" y="102453"/>
                </a:lnTo>
                <a:lnTo>
                  <a:pt x="483496" y="140946"/>
                </a:lnTo>
                <a:lnTo>
                  <a:pt x="489966" y="182880"/>
                </a:lnTo>
                <a:lnTo>
                  <a:pt x="483496" y="224813"/>
                </a:lnTo>
                <a:lnTo>
                  <a:pt x="465066" y="263306"/>
                </a:lnTo>
                <a:lnTo>
                  <a:pt x="436147" y="297262"/>
                </a:lnTo>
                <a:lnTo>
                  <a:pt x="398209" y="325583"/>
                </a:lnTo>
                <a:lnTo>
                  <a:pt x="352722" y="347172"/>
                </a:lnTo>
                <a:lnTo>
                  <a:pt x="301157" y="360930"/>
                </a:lnTo>
                <a:lnTo>
                  <a:pt x="244983" y="365760"/>
                </a:lnTo>
                <a:lnTo>
                  <a:pt x="188808" y="360930"/>
                </a:lnTo>
                <a:lnTo>
                  <a:pt x="137243" y="347172"/>
                </a:lnTo>
                <a:lnTo>
                  <a:pt x="91756" y="325583"/>
                </a:lnTo>
                <a:lnTo>
                  <a:pt x="53818" y="297262"/>
                </a:lnTo>
                <a:lnTo>
                  <a:pt x="24899" y="263306"/>
                </a:lnTo>
                <a:lnTo>
                  <a:pt x="6469" y="224813"/>
                </a:lnTo>
                <a:lnTo>
                  <a:pt x="0" y="18288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272540" y="5127245"/>
            <a:ext cx="651933" cy="490220"/>
          </a:xfrm>
          <a:custGeom>
            <a:avLst/>
            <a:gdLst/>
            <a:ahLst/>
            <a:cxnLst/>
            <a:rect l="l" t="t" r="r" b="b"/>
            <a:pathLst>
              <a:path w="488950" h="367664">
                <a:moveTo>
                  <a:pt x="244221" y="0"/>
                </a:moveTo>
                <a:lnTo>
                  <a:pt x="188225" y="4850"/>
                </a:lnTo>
                <a:lnTo>
                  <a:pt x="136821" y="18665"/>
                </a:lnTo>
                <a:lnTo>
                  <a:pt x="91475" y="40344"/>
                </a:lnTo>
                <a:lnTo>
                  <a:pt x="53654" y="68783"/>
                </a:lnTo>
                <a:lnTo>
                  <a:pt x="24823" y="102881"/>
                </a:lnTo>
                <a:lnTo>
                  <a:pt x="6450" y="141534"/>
                </a:lnTo>
                <a:lnTo>
                  <a:pt x="0" y="183642"/>
                </a:lnTo>
                <a:lnTo>
                  <a:pt x="6450" y="225749"/>
                </a:lnTo>
                <a:lnTo>
                  <a:pt x="24823" y="264402"/>
                </a:lnTo>
                <a:lnTo>
                  <a:pt x="53654" y="298500"/>
                </a:lnTo>
                <a:lnTo>
                  <a:pt x="91475" y="326939"/>
                </a:lnTo>
                <a:lnTo>
                  <a:pt x="136821" y="348618"/>
                </a:lnTo>
                <a:lnTo>
                  <a:pt x="188225" y="362433"/>
                </a:lnTo>
                <a:lnTo>
                  <a:pt x="244221" y="367284"/>
                </a:lnTo>
                <a:lnTo>
                  <a:pt x="300216" y="362433"/>
                </a:lnTo>
                <a:lnTo>
                  <a:pt x="351620" y="348618"/>
                </a:lnTo>
                <a:lnTo>
                  <a:pt x="396966" y="326939"/>
                </a:lnTo>
                <a:lnTo>
                  <a:pt x="434787" y="298500"/>
                </a:lnTo>
                <a:lnTo>
                  <a:pt x="463618" y="264402"/>
                </a:lnTo>
                <a:lnTo>
                  <a:pt x="481991" y="225749"/>
                </a:lnTo>
                <a:lnTo>
                  <a:pt x="488442" y="183642"/>
                </a:lnTo>
                <a:lnTo>
                  <a:pt x="481991" y="141534"/>
                </a:lnTo>
                <a:lnTo>
                  <a:pt x="463618" y="102881"/>
                </a:lnTo>
                <a:lnTo>
                  <a:pt x="434787" y="68783"/>
                </a:lnTo>
                <a:lnTo>
                  <a:pt x="396966" y="40344"/>
                </a:lnTo>
                <a:lnTo>
                  <a:pt x="351620" y="18665"/>
                </a:lnTo>
                <a:lnTo>
                  <a:pt x="300216" y="4850"/>
                </a:lnTo>
                <a:lnTo>
                  <a:pt x="24422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272540" y="5127245"/>
            <a:ext cx="651933" cy="490220"/>
          </a:xfrm>
          <a:custGeom>
            <a:avLst/>
            <a:gdLst/>
            <a:ahLst/>
            <a:cxnLst/>
            <a:rect l="l" t="t" r="r" b="b"/>
            <a:pathLst>
              <a:path w="488950" h="367664">
                <a:moveTo>
                  <a:pt x="0" y="183642"/>
                </a:moveTo>
                <a:lnTo>
                  <a:pt x="6450" y="141534"/>
                </a:lnTo>
                <a:lnTo>
                  <a:pt x="24823" y="102881"/>
                </a:lnTo>
                <a:lnTo>
                  <a:pt x="53654" y="68783"/>
                </a:lnTo>
                <a:lnTo>
                  <a:pt x="91475" y="40344"/>
                </a:lnTo>
                <a:lnTo>
                  <a:pt x="136821" y="18665"/>
                </a:lnTo>
                <a:lnTo>
                  <a:pt x="188225" y="4850"/>
                </a:lnTo>
                <a:lnTo>
                  <a:pt x="244221" y="0"/>
                </a:lnTo>
                <a:lnTo>
                  <a:pt x="300216" y="4850"/>
                </a:lnTo>
                <a:lnTo>
                  <a:pt x="351620" y="18665"/>
                </a:lnTo>
                <a:lnTo>
                  <a:pt x="396966" y="40344"/>
                </a:lnTo>
                <a:lnTo>
                  <a:pt x="434787" y="68783"/>
                </a:lnTo>
                <a:lnTo>
                  <a:pt x="463618" y="102881"/>
                </a:lnTo>
                <a:lnTo>
                  <a:pt x="481991" y="141534"/>
                </a:lnTo>
                <a:lnTo>
                  <a:pt x="488442" y="183642"/>
                </a:lnTo>
                <a:lnTo>
                  <a:pt x="481991" y="225749"/>
                </a:lnTo>
                <a:lnTo>
                  <a:pt x="463618" y="264402"/>
                </a:lnTo>
                <a:lnTo>
                  <a:pt x="434787" y="298500"/>
                </a:lnTo>
                <a:lnTo>
                  <a:pt x="396966" y="326939"/>
                </a:lnTo>
                <a:lnTo>
                  <a:pt x="351620" y="348618"/>
                </a:lnTo>
                <a:lnTo>
                  <a:pt x="300216" y="362433"/>
                </a:lnTo>
                <a:lnTo>
                  <a:pt x="244221" y="367284"/>
                </a:lnTo>
                <a:lnTo>
                  <a:pt x="188225" y="362433"/>
                </a:lnTo>
                <a:lnTo>
                  <a:pt x="136821" y="348618"/>
                </a:lnTo>
                <a:lnTo>
                  <a:pt x="91475" y="326939"/>
                </a:lnTo>
                <a:lnTo>
                  <a:pt x="53654" y="298500"/>
                </a:lnTo>
                <a:lnTo>
                  <a:pt x="24823" y="264402"/>
                </a:lnTo>
                <a:lnTo>
                  <a:pt x="6450" y="225749"/>
                </a:lnTo>
                <a:lnTo>
                  <a:pt x="0" y="18364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220715" y="3681476"/>
            <a:ext cx="652779" cy="489373"/>
          </a:xfrm>
          <a:custGeom>
            <a:avLst/>
            <a:gdLst/>
            <a:ahLst/>
            <a:cxnLst/>
            <a:rect l="l" t="t" r="r" b="b"/>
            <a:pathLst>
              <a:path w="489585" h="367030">
                <a:moveTo>
                  <a:pt x="244602" y="0"/>
                </a:moveTo>
                <a:lnTo>
                  <a:pt x="188517" y="4840"/>
                </a:lnTo>
                <a:lnTo>
                  <a:pt x="137032" y="18627"/>
                </a:lnTo>
                <a:lnTo>
                  <a:pt x="91615" y="40262"/>
                </a:lnTo>
                <a:lnTo>
                  <a:pt x="53736" y="68643"/>
                </a:lnTo>
                <a:lnTo>
                  <a:pt x="24861" y="102670"/>
                </a:lnTo>
                <a:lnTo>
                  <a:pt x="6460" y="141242"/>
                </a:lnTo>
                <a:lnTo>
                  <a:pt x="0" y="183261"/>
                </a:lnTo>
                <a:lnTo>
                  <a:pt x="6460" y="225279"/>
                </a:lnTo>
                <a:lnTo>
                  <a:pt x="24861" y="263851"/>
                </a:lnTo>
                <a:lnTo>
                  <a:pt x="53736" y="297878"/>
                </a:lnTo>
                <a:lnTo>
                  <a:pt x="91615" y="326259"/>
                </a:lnTo>
                <a:lnTo>
                  <a:pt x="137032" y="347894"/>
                </a:lnTo>
                <a:lnTo>
                  <a:pt x="188517" y="361681"/>
                </a:lnTo>
                <a:lnTo>
                  <a:pt x="244602" y="366522"/>
                </a:lnTo>
                <a:lnTo>
                  <a:pt x="300686" y="361681"/>
                </a:lnTo>
                <a:lnTo>
                  <a:pt x="352171" y="347894"/>
                </a:lnTo>
                <a:lnTo>
                  <a:pt x="397588" y="326259"/>
                </a:lnTo>
                <a:lnTo>
                  <a:pt x="435467" y="297878"/>
                </a:lnTo>
                <a:lnTo>
                  <a:pt x="464342" y="263851"/>
                </a:lnTo>
                <a:lnTo>
                  <a:pt x="482743" y="225279"/>
                </a:lnTo>
                <a:lnTo>
                  <a:pt x="489204" y="183261"/>
                </a:lnTo>
                <a:lnTo>
                  <a:pt x="482743" y="141242"/>
                </a:lnTo>
                <a:lnTo>
                  <a:pt x="464342" y="102670"/>
                </a:lnTo>
                <a:lnTo>
                  <a:pt x="435467" y="68643"/>
                </a:lnTo>
                <a:lnTo>
                  <a:pt x="397588" y="40262"/>
                </a:lnTo>
                <a:lnTo>
                  <a:pt x="352171" y="18627"/>
                </a:lnTo>
                <a:lnTo>
                  <a:pt x="300686" y="4840"/>
                </a:lnTo>
                <a:lnTo>
                  <a:pt x="24460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220715" y="3681476"/>
            <a:ext cx="652779" cy="489373"/>
          </a:xfrm>
          <a:custGeom>
            <a:avLst/>
            <a:gdLst/>
            <a:ahLst/>
            <a:cxnLst/>
            <a:rect l="l" t="t" r="r" b="b"/>
            <a:pathLst>
              <a:path w="489585" h="367030">
                <a:moveTo>
                  <a:pt x="0" y="183261"/>
                </a:moveTo>
                <a:lnTo>
                  <a:pt x="6460" y="141242"/>
                </a:lnTo>
                <a:lnTo>
                  <a:pt x="24861" y="102670"/>
                </a:lnTo>
                <a:lnTo>
                  <a:pt x="53736" y="68643"/>
                </a:lnTo>
                <a:lnTo>
                  <a:pt x="91615" y="40262"/>
                </a:lnTo>
                <a:lnTo>
                  <a:pt x="137032" y="18627"/>
                </a:lnTo>
                <a:lnTo>
                  <a:pt x="188517" y="4840"/>
                </a:lnTo>
                <a:lnTo>
                  <a:pt x="244602" y="0"/>
                </a:lnTo>
                <a:lnTo>
                  <a:pt x="300686" y="4840"/>
                </a:lnTo>
                <a:lnTo>
                  <a:pt x="352171" y="18627"/>
                </a:lnTo>
                <a:lnTo>
                  <a:pt x="397588" y="40262"/>
                </a:lnTo>
                <a:lnTo>
                  <a:pt x="435467" y="68643"/>
                </a:lnTo>
                <a:lnTo>
                  <a:pt x="464342" y="102670"/>
                </a:lnTo>
                <a:lnTo>
                  <a:pt x="482743" y="141242"/>
                </a:lnTo>
                <a:lnTo>
                  <a:pt x="489204" y="183261"/>
                </a:lnTo>
                <a:lnTo>
                  <a:pt x="482743" y="225279"/>
                </a:lnTo>
                <a:lnTo>
                  <a:pt x="464342" y="263851"/>
                </a:lnTo>
                <a:lnTo>
                  <a:pt x="435467" y="297878"/>
                </a:lnTo>
                <a:lnTo>
                  <a:pt x="397588" y="326259"/>
                </a:lnTo>
                <a:lnTo>
                  <a:pt x="352171" y="347894"/>
                </a:lnTo>
                <a:lnTo>
                  <a:pt x="300686" y="361681"/>
                </a:lnTo>
                <a:lnTo>
                  <a:pt x="244602" y="366522"/>
                </a:lnTo>
                <a:lnTo>
                  <a:pt x="188517" y="361681"/>
                </a:lnTo>
                <a:lnTo>
                  <a:pt x="137032" y="347894"/>
                </a:lnTo>
                <a:lnTo>
                  <a:pt x="91615" y="326259"/>
                </a:lnTo>
                <a:lnTo>
                  <a:pt x="53736" y="297878"/>
                </a:lnTo>
                <a:lnTo>
                  <a:pt x="24861" y="263851"/>
                </a:lnTo>
                <a:lnTo>
                  <a:pt x="6460" y="225279"/>
                </a:lnTo>
                <a:lnTo>
                  <a:pt x="0" y="183261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479037" y="3681476"/>
            <a:ext cx="654473" cy="489373"/>
          </a:xfrm>
          <a:custGeom>
            <a:avLst/>
            <a:gdLst/>
            <a:ahLst/>
            <a:cxnLst/>
            <a:rect l="l" t="t" r="r" b="b"/>
            <a:pathLst>
              <a:path w="490854" h="367030">
                <a:moveTo>
                  <a:pt x="245364" y="0"/>
                </a:moveTo>
                <a:lnTo>
                  <a:pt x="189104" y="4840"/>
                </a:lnTo>
                <a:lnTo>
                  <a:pt x="137459" y="18627"/>
                </a:lnTo>
                <a:lnTo>
                  <a:pt x="91902" y="40262"/>
                </a:lnTo>
                <a:lnTo>
                  <a:pt x="53904" y="68643"/>
                </a:lnTo>
                <a:lnTo>
                  <a:pt x="24939" y="102670"/>
                </a:lnTo>
                <a:lnTo>
                  <a:pt x="6480" y="141242"/>
                </a:lnTo>
                <a:lnTo>
                  <a:pt x="0" y="183261"/>
                </a:lnTo>
                <a:lnTo>
                  <a:pt x="6480" y="225279"/>
                </a:lnTo>
                <a:lnTo>
                  <a:pt x="24939" y="263851"/>
                </a:lnTo>
                <a:lnTo>
                  <a:pt x="53904" y="297878"/>
                </a:lnTo>
                <a:lnTo>
                  <a:pt x="91902" y="326259"/>
                </a:lnTo>
                <a:lnTo>
                  <a:pt x="137459" y="347894"/>
                </a:lnTo>
                <a:lnTo>
                  <a:pt x="189104" y="361681"/>
                </a:lnTo>
                <a:lnTo>
                  <a:pt x="245364" y="366522"/>
                </a:lnTo>
                <a:lnTo>
                  <a:pt x="301623" y="361681"/>
                </a:lnTo>
                <a:lnTo>
                  <a:pt x="353268" y="347894"/>
                </a:lnTo>
                <a:lnTo>
                  <a:pt x="398825" y="326259"/>
                </a:lnTo>
                <a:lnTo>
                  <a:pt x="436823" y="297878"/>
                </a:lnTo>
                <a:lnTo>
                  <a:pt x="465788" y="263851"/>
                </a:lnTo>
                <a:lnTo>
                  <a:pt x="484247" y="225279"/>
                </a:lnTo>
                <a:lnTo>
                  <a:pt x="490728" y="183261"/>
                </a:lnTo>
                <a:lnTo>
                  <a:pt x="484247" y="141242"/>
                </a:lnTo>
                <a:lnTo>
                  <a:pt x="465788" y="102670"/>
                </a:lnTo>
                <a:lnTo>
                  <a:pt x="436823" y="68643"/>
                </a:lnTo>
                <a:lnTo>
                  <a:pt x="398825" y="40262"/>
                </a:lnTo>
                <a:lnTo>
                  <a:pt x="353268" y="18627"/>
                </a:lnTo>
                <a:lnTo>
                  <a:pt x="301623" y="4840"/>
                </a:lnTo>
                <a:lnTo>
                  <a:pt x="24536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4479037" y="3681476"/>
            <a:ext cx="654473" cy="489373"/>
          </a:xfrm>
          <a:custGeom>
            <a:avLst/>
            <a:gdLst/>
            <a:ahLst/>
            <a:cxnLst/>
            <a:rect l="l" t="t" r="r" b="b"/>
            <a:pathLst>
              <a:path w="490854" h="367030">
                <a:moveTo>
                  <a:pt x="0" y="183261"/>
                </a:moveTo>
                <a:lnTo>
                  <a:pt x="6480" y="141242"/>
                </a:lnTo>
                <a:lnTo>
                  <a:pt x="24939" y="102670"/>
                </a:lnTo>
                <a:lnTo>
                  <a:pt x="53904" y="68643"/>
                </a:lnTo>
                <a:lnTo>
                  <a:pt x="91902" y="40262"/>
                </a:lnTo>
                <a:lnTo>
                  <a:pt x="137459" y="18627"/>
                </a:lnTo>
                <a:lnTo>
                  <a:pt x="189104" y="4840"/>
                </a:lnTo>
                <a:lnTo>
                  <a:pt x="245364" y="0"/>
                </a:lnTo>
                <a:lnTo>
                  <a:pt x="301623" y="4840"/>
                </a:lnTo>
                <a:lnTo>
                  <a:pt x="353268" y="18627"/>
                </a:lnTo>
                <a:lnTo>
                  <a:pt x="398825" y="40262"/>
                </a:lnTo>
                <a:lnTo>
                  <a:pt x="436823" y="68643"/>
                </a:lnTo>
                <a:lnTo>
                  <a:pt x="465788" y="102670"/>
                </a:lnTo>
                <a:lnTo>
                  <a:pt x="484247" y="141242"/>
                </a:lnTo>
                <a:lnTo>
                  <a:pt x="490728" y="183261"/>
                </a:lnTo>
                <a:lnTo>
                  <a:pt x="484247" y="225279"/>
                </a:lnTo>
                <a:lnTo>
                  <a:pt x="465788" y="263851"/>
                </a:lnTo>
                <a:lnTo>
                  <a:pt x="436823" y="297878"/>
                </a:lnTo>
                <a:lnTo>
                  <a:pt x="398825" y="326259"/>
                </a:lnTo>
                <a:lnTo>
                  <a:pt x="353268" y="347894"/>
                </a:lnTo>
                <a:lnTo>
                  <a:pt x="301623" y="361681"/>
                </a:lnTo>
                <a:lnTo>
                  <a:pt x="245364" y="366522"/>
                </a:lnTo>
                <a:lnTo>
                  <a:pt x="189104" y="361681"/>
                </a:lnTo>
                <a:lnTo>
                  <a:pt x="137459" y="347894"/>
                </a:lnTo>
                <a:lnTo>
                  <a:pt x="91902" y="326259"/>
                </a:lnTo>
                <a:lnTo>
                  <a:pt x="53904" y="297878"/>
                </a:lnTo>
                <a:lnTo>
                  <a:pt x="24939" y="263851"/>
                </a:lnTo>
                <a:lnTo>
                  <a:pt x="6480" y="225279"/>
                </a:lnTo>
                <a:lnTo>
                  <a:pt x="0" y="18326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4557661" y="3725851"/>
            <a:ext cx="10803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757748" algn="l"/>
              </a:tabLst>
            </a:pPr>
            <a:r>
              <a:rPr sz="2400" b="1" dirty="0">
                <a:latin typeface="Times New Roman"/>
                <a:cs typeface="Times New Roman"/>
              </a:rPr>
              <a:t>41	32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05964" y="3607307"/>
            <a:ext cx="652779" cy="487680"/>
          </a:xfrm>
          <a:custGeom>
            <a:avLst/>
            <a:gdLst/>
            <a:ahLst/>
            <a:cxnLst/>
            <a:rect l="l" t="t" r="r" b="b"/>
            <a:pathLst>
              <a:path w="489585" h="365760">
                <a:moveTo>
                  <a:pt x="244602" y="0"/>
                </a:moveTo>
                <a:lnTo>
                  <a:pt x="188517" y="4829"/>
                </a:lnTo>
                <a:lnTo>
                  <a:pt x="137032" y="18587"/>
                </a:lnTo>
                <a:lnTo>
                  <a:pt x="91615" y="40176"/>
                </a:lnTo>
                <a:lnTo>
                  <a:pt x="53736" y="68497"/>
                </a:lnTo>
                <a:lnTo>
                  <a:pt x="24861" y="102453"/>
                </a:lnTo>
                <a:lnTo>
                  <a:pt x="6460" y="140946"/>
                </a:lnTo>
                <a:lnTo>
                  <a:pt x="0" y="182880"/>
                </a:lnTo>
                <a:lnTo>
                  <a:pt x="6460" y="224813"/>
                </a:lnTo>
                <a:lnTo>
                  <a:pt x="24861" y="263306"/>
                </a:lnTo>
                <a:lnTo>
                  <a:pt x="53736" y="297262"/>
                </a:lnTo>
                <a:lnTo>
                  <a:pt x="91615" y="325583"/>
                </a:lnTo>
                <a:lnTo>
                  <a:pt x="137032" y="347172"/>
                </a:lnTo>
                <a:lnTo>
                  <a:pt x="188517" y="360930"/>
                </a:lnTo>
                <a:lnTo>
                  <a:pt x="244602" y="365760"/>
                </a:lnTo>
                <a:lnTo>
                  <a:pt x="300686" y="360930"/>
                </a:lnTo>
                <a:lnTo>
                  <a:pt x="352171" y="347172"/>
                </a:lnTo>
                <a:lnTo>
                  <a:pt x="397588" y="325583"/>
                </a:lnTo>
                <a:lnTo>
                  <a:pt x="435467" y="297262"/>
                </a:lnTo>
                <a:lnTo>
                  <a:pt x="464342" y="263306"/>
                </a:lnTo>
                <a:lnTo>
                  <a:pt x="482743" y="224813"/>
                </a:lnTo>
                <a:lnTo>
                  <a:pt x="489204" y="182880"/>
                </a:lnTo>
                <a:lnTo>
                  <a:pt x="482743" y="140946"/>
                </a:lnTo>
                <a:lnTo>
                  <a:pt x="464342" y="102453"/>
                </a:lnTo>
                <a:lnTo>
                  <a:pt x="435467" y="68497"/>
                </a:lnTo>
                <a:lnTo>
                  <a:pt x="397588" y="40176"/>
                </a:lnTo>
                <a:lnTo>
                  <a:pt x="352171" y="18587"/>
                </a:lnTo>
                <a:lnTo>
                  <a:pt x="300686" y="4829"/>
                </a:lnTo>
                <a:lnTo>
                  <a:pt x="244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2505964" y="3607307"/>
            <a:ext cx="652779" cy="487680"/>
          </a:xfrm>
          <a:custGeom>
            <a:avLst/>
            <a:gdLst/>
            <a:ahLst/>
            <a:cxnLst/>
            <a:rect l="l" t="t" r="r" b="b"/>
            <a:pathLst>
              <a:path w="489585" h="365760">
                <a:moveTo>
                  <a:pt x="0" y="182880"/>
                </a:moveTo>
                <a:lnTo>
                  <a:pt x="6460" y="140946"/>
                </a:lnTo>
                <a:lnTo>
                  <a:pt x="24861" y="102453"/>
                </a:lnTo>
                <a:lnTo>
                  <a:pt x="53736" y="68497"/>
                </a:lnTo>
                <a:lnTo>
                  <a:pt x="91615" y="40176"/>
                </a:lnTo>
                <a:lnTo>
                  <a:pt x="137032" y="18587"/>
                </a:lnTo>
                <a:lnTo>
                  <a:pt x="188517" y="4829"/>
                </a:lnTo>
                <a:lnTo>
                  <a:pt x="244602" y="0"/>
                </a:lnTo>
                <a:lnTo>
                  <a:pt x="300686" y="4829"/>
                </a:lnTo>
                <a:lnTo>
                  <a:pt x="352171" y="18587"/>
                </a:lnTo>
                <a:lnTo>
                  <a:pt x="397588" y="40176"/>
                </a:lnTo>
                <a:lnTo>
                  <a:pt x="435467" y="68497"/>
                </a:lnTo>
                <a:lnTo>
                  <a:pt x="464342" y="102453"/>
                </a:lnTo>
                <a:lnTo>
                  <a:pt x="482743" y="140946"/>
                </a:lnTo>
                <a:lnTo>
                  <a:pt x="489204" y="182880"/>
                </a:lnTo>
                <a:lnTo>
                  <a:pt x="482743" y="224813"/>
                </a:lnTo>
                <a:lnTo>
                  <a:pt x="464342" y="263306"/>
                </a:lnTo>
                <a:lnTo>
                  <a:pt x="435467" y="297262"/>
                </a:lnTo>
                <a:lnTo>
                  <a:pt x="397588" y="325583"/>
                </a:lnTo>
                <a:lnTo>
                  <a:pt x="352171" y="347172"/>
                </a:lnTo>
                <a:lnTo>
                  <a:pt x="300686" y="360930"/>
                </a:lnTo>
                <a:lnTo>
                  <a:pt x="244602" y="365760"/>
                </a:lnTo>
                <a:lnTo>
                  <a:pt x="188517" y="360930"/>
                </a:lnTo>
                <a:lnTo>
                  <a:pt x="137032" y="347172"/>
                </a:lnTo>
                <a:lnTo>
                  <a:pt x="91615" y="325583"/>
                </a:lnTo>
                <a:lnTo>
                  <a:pt x="53736" y="297262"/>
                </a:lnTo>
                <a:lnTo>
                  <a:pt x="24861" y="263306"/>
                </a:lnTo>
                <a:lnTo>
                  <a:pt x="6460" y="224813"/>
                </a:lnTo>
                <a:lnTo>
                  <a:pt x="0" y="182880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2583991" y="3650963"/>
            <a:ext cx="1325880" cy="11071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003275" algn="l"/>
              </a:tabLst>
            </a:pPr>
            <a:r>
              <a:rPr sz="2400" b="1" dirty="0">
                <a:latin typeface="Times New Roman"/>
                <a:cs typeface="Times New Roman"/>
              </a:rPr>
              <a:t>49	70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</a:pPr>
            <a:endParaRPr sz="2200">
              <a:latin typeface="Times New Roman"/>
              <a:cs typeface="Times New Roman"/>
            </a:endParaRPr>
          </a:p>
          <a:p>
            <a:pPr marL="263307"/>
            <a:r>
              <a:rPr sz="2400" b="1" dirty="0">
                <a:latin typeface="Times New Roman"/>
                <a:cs typeface="Times New Roman"/>
              </a:rPr>
              <a:t>21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26939" y="2855469"/>
            <a:ext cx="653627" cy="490220"/>
          </a:xfrm>
          <a:custGeom>
            <a:avLst/>
            <a:gdLst/>
            <a:ahLst/>
            <a:cxnLst/>
            <a:rect l="l" t="t" r="r" b="b"/>
            <a:pathLst>
              <a:path w="490220" h="367664">
                <a:moveTo>
                  <a:pt x="244983" y="0"/>
                </a:moveTo>
                <a:lnTo>
                  <a:pt x="188808" y="4850"/>
                </a:lnTo>
                <a:lnTo>
                  <a:pt x="137243" y="18665"/>
                </a:lnTo>
                <a:lnTo>
                  <a:pt x="91756" y="40344"/>
                </a:lnTo>
                <a:lnTo>
                  <a:pt x="53818" y="68783"/>
                </a:lnTo>
                <a:lnTo>
                  <a:pt x="24899" y="102881"/>
                </a:lnTo>
                <a:lnTo>
                  <a:pt x="6469" y="141534"/>
                </a:lnTo>
                <a:lnTo>
                  <a:pt x="0" y="183642"/>
                </a:lnTo>
                <a:lnTo>
                  <a:pt x="6469" y="225749"/>
                </a:lnTo>
                <a:lnTo>
                  <a:pt x="24899" y="264402"/>
                </a:lnTo>
                <a:lnTo>
                  <a:pt x="53818" y="298500"/>
                </a:lnTo>
                <a:lnTo>
                  <a:pt x="91756" y="326939"/>
                </a:lnTo>
                <a:lnTo>
                  <a:pt x="137243" y="348618"/>
                </a:lnTo>
                <a:lnTo>
                  <a:pt x="188808" y="362433"/>
                </a:lnTo>
                <a:lnTo>
                  <a:pt x="244983" y="367284"/>
                </a:lnTo>
                <a:lnTo>
                  <a:pt x="301157" y="362433"/>
                </a:lnTo>
                <a:lnTo>
                  <a:pt x="352722" y="348618"/>
                </a:lnTo>
                <a:lnTo>
                  <a:pt x="398209" y="326939"/>
                </a:lnTo>
                <a:lnTo>
                  <a:pt x="436147" y="298500"/>
                </a:lnTo>
                <a:lnTo>
                  <a:pt x="465066" y="264402"/>
                </a:lnTo>
                <a:lnTo>
                  <a:pt x="483496" y="225749"/>
                </a:lnTo>
                <a:lnTo>
                  <a:pt x="489966" y="183642"/>
                </a:lnTo>
                <a:lnTo>
                  <a:pt x="483496" y="141534"/>
                </a:lnTo>
                <a:lnTo>
                  <a:pt x="465066" y="102881"/>
                </a:lnTo>
                <a:lnTo>
                  <a:pt x="436147" y="68783"/>
                </a:lnTo>
                <a:lnTo>
                  <a:pt x="398209" y="40344"/>
                </a:lnTo>
                <a:lnTo>
                  <a:pt x="352722" y="18665"/>
                </a:lnTo>
                <a:lnTo>
                  <a:pt x="301157" y="4850"/>
                </a:lnTo>
                <a:lnTo>
                  <a:pt x="244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4726939" y="2855469"/>
            <a:ext cx="653627" cy="490220"/>
          </a:xfrm>
          <a:custGeom>
            <a:avLst/>
            <a:gdLst/>
            <a:ahLst/>
            <a:cxnLst/>
            <a:rect l="l" t="t" r="r" b="b"/>
            <a:pathLst>
              <a:path w="490220" h="367664">
                <a:moveTo>
                  <a:pt x="0" y="183642"/>
                </a:moveTo>
                <a:lnTo>
                  <a:pt x="6469" y="141534"/>
                </a:lnTo>
                <a:lnTo>
                  <a:pt x="24899" y="102881"/>
                </a:lnTo>
                <a:lnTo>
                  <a:pt x="53818" y="68783"/>
                </a:lnTo>
                <a:lnTo>
                  <a:pt x="91756" y="40344"/>
                </a:lnTo>
                <a:lnTo>
                  <a:pt x="137243" y="18665"/>
                </a:lnTo>
                <a:lnTo>
                  <a:pt x="188808" y="4850"/>
                </a:lnTo>
                <a:lnTo>
                  <a:pt x="244983" y="0"/>
                </a:lnTo>
                <a:lnTo>
                  <a:pt x="301157" y="4850"/>
                </a:lnTo>
                <a:lnTo>
                  <a:pt x="352722" y="18665"/>
                </a:lnTo>
                <a:lnTo>
                  <a:pt x="398209" y="40344"/>
                </a:lnTo>
                <a:lnTo>
                  <a:pt x="436147" y="68783"/>
                </a:lnTo>
                <a:lnTo>
                  <a:pt x="465066" y="102881"/>
                </a:lnTo>
                <a:lnTo>
                  <a:pt x="483496" y="141534"/>
                </a:lnTo>
                <a:lnTo>
                  <a:pt x="489966" y="183642"/>
                </a:lnTo>
                <a:lnTo>
                  <a:pt x="483496" y="225749"/>
                </a:lnTo>
                <a:lnTo>
                  <a:pt x="465066" y="264402"/>
                </a:lnTo>
                <a:lnTo>
                  <a:pt x="436147" y="298500"/>
                </a:lnTo>
                <a:lnTo>
                  <a:pt x="398209" y="326939"/>
                </a:lnTo>
                <a:lnTo>
                  <a:pt x="352722" y="348618"/>
                </a:lnTo>
                <a:lnTo>
                  <a:pt x="301157" y="362433"/>
                </a:lnTo>
                <a:lnTo>
                  <a:pt x="244983" y="367284"/>
                </a:lnTo>
                <a:lnTo>
                  <a:pt x="188808" y="362433"/>
                </a:lnTo>
                <a:lnTo>
                  <a:pt x="137243" y="348618"/>
                </a:lnTo>
                <a:lnTo>
                  <a:pt x="91756" y="326939"/>
                </a:lnTo>
                <a:lnTo>
                  <a:pt x="53818" y="298500"/>
                </a:lnTo>
                <a:lnTo>
                  <a:pt x="24899" y="264402"/>
                </a:lnTo>
                <a:lnTo>
                  <a:pt x="6469" y="225749"/>
                </a:lnTo>
                <a:lnTo>
                  <a:pt x="0" y="18364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178556" y="2855469"/>
            <a:ext cx="653627" cy="490220"/>
          </a:xfrm>
          <a:custGeom>
            <a:avLst/>
            <a:gdLst/>
            <a:ahLst/>
            <a:cxnLst/>
            <a:rect l="l" t="t" r="r" b="b"/>
            <a:pathLst>
              <a:path w="490219" h="367664">
                <a:moveTo>
                  <a:pt x="244983" y="0"/>
                </a:moveTo>
                <a:lnTo>
                  <a:pt x="188808" y="4850"/>
                </a:lnTo>
                <a:lnTo>
                  <a:pt x="137243" y="18665"/>
                </a:lnTo>
                <a:lnTo>
                  <a:pt x="91756" y="40344"/>
                </a:lnTo>
                <a:lnTo>
                  <a:pt x="53818" y="68783"/>
                </a:lnTo>
                <a:lnTo>
                  <a:pt x="24899" y="102881"/>
                </a:lnTo>
                <a:lnTo>
                  <a:pt x="6469" y="141534"/>
                </a:lnTo>
                <a:lnTo>
                  <a:pt x="0" y="183642"/>
                </a:lnTo>
                <a:lnTo>
                  <a:pt x="6469" y="225749"/>
                </a:lnTo>
                <a:lnTo>
                  <a:pt x="24899" y="264402"/>
                </a:lnTo>
                <a:lnTo>
                  <a:pt x="53818" y="298500"/>
                </a:lnTo>
                <a:lnTo>
                  <a:pt x="91756" y="326939"/>
                </a:lnTo>
                <a:lnTo>
                  <a:pt x="137243" y="348618"/>
                </a:lnTo>
                <a:lnTo>
                  <a:pt x="188808" y="362433"/>
                </a:lnTo>
                <a:lnTo>
                  <a:pt x="244983" y="367284"/>
                </a:lnTo>
                <a:lnTo>
                  <a:pt x="301157" y="362433"/>
                </a:lnTo>
                <a:lnTo>
                  <a:pt x="352722" y="348618"/>
                </a:lnTo>
                <a:lnTo>
                  <a:pt x="398209" y="326939"/>
                </a:lnTo>
                <a:lnTo>
                  <a:pt x="436147" y="298500"/>
                </a:lnTo>
                <a:lnTo>
                  <a:pt x="465066" y="264402"/>
                </a:lnTo>
                <a:lnTo>
                  <a:pt x="483496" y="225749"/>
                </a:lnTo>
                <a:lnTo>
                  <a:pt x="489966" y="183642"/>
                </a:lnTo>
                <a:lnTo>
                  <a:pt x="483496" y="141534"/>
                </a:lnTo>
                <a:lnTo>
                  <a:pt x="465066" y="102881"/>
                </a:lnTo>
                <a:lnTo>
                  <a:pt x="436147" y="68783"/>
                </a:lnTo>
                <a:lnTo>
                  <a:pt x="398209" y="40344"/>
                </a:lnTo>
                <a:lnTo>
                  <a:pt x="352722" y="18665"/>
                </a:lnTo>
                <a:lnTo>
                  <a:pt x="301157" y="4850"/>
                </a:lnTo>
                <a:lnTo>
                  <a:pt x="244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178556" y="2855469"/>
            <a:ext cx="653627" cy="490220"/>
          </a:xfrm>
          <a:custGeom>
            <a:avLst/>
            <a:gdLst/>
            <a:ahLst/>
            <a:cxnLst/>
            <a:rect l="l" t="t" r="r" b="b"/>
            <a:pathLst>
              <a:path w="490219" h="367664">
                <a:moveTo>
                  <a:pt x="0" y="183642"/>
                </a:moveTo>
                <a:lnTo>
                  <a:pt x="6469" y="141534"/>
                </a:lnTo>
                <a:lnTo>
                  <a:pt x="24899" y="102881"/>
                </a:lnTo>
                <a:lnTo>
                  <a:pt x="53818" y="68783"/>
                </a:lnTo>
                <a:lnTo>
                  <a:pt x="91756" y="40344"/>
                </a:lnTo>
                <a:lnTo>
                  <a:pt x="137243" y="18665"/>
                </a:lnTo>
                <a:lnTo>
                  <a:pt x="188808" y="4850"/>
                </a:lnTo>
                <a:lnTo>
                  <a:pt x="244983" y="0"/>
                </a:lnTo>
                <a:lnTo>
                  <a:pt x="301157" y="4850"/>
                </a:lnTo>
                <a:lnTo>
                  <a:pt x="352722" y="18665"/>
                </a:lnTo>
                <a:lnTo>
                  <a:pt x="398209" y="40344"/>
                </a:lnTo>
                <a:lnTo>
                  <a:pt x="436147" y="68783"/>
                </a:lnTo>
                <a:lnTo>
                  <a:pt x="465066" y="102881"/>
                </a:lnTo>
                <a:lnTo>
                  <a:pt x="483496" y="141534"/>
                </a:lnTo>
                <a:lnTo>
                  <a:pt x="489966" y="183642"/>
                </a:lnTo>
                <a:lnTo>
                  <a:pt x="483496" y="225749"/>
                </a:lnTo>
                <a:lnTo>
                  <a:pt x="465066" y="264402"/>
                </a:lnTo>
                <a:lnTo>
                  <a:pt x="436147" y="298500"/>
                </a:lnTo>
                <a:lnTo>
                  <a:pt x="398209" y="326939"/>
                </a:lnTo>
                <a:lnTo>
                  <a:pt x="352722" y="348618"/>
                </a:lnTo>
                <a:lnTo>
                  <a:pt x="301157" y="362433"/>
                </a:lnTo>
                <a:lnTo>
                  <a:pt x="244983" y="367284"/>
                </a:lnTo>
                <a:lnTo>
                  <a:pt x="188808" y="362433"/>
                </a:lnTo>
                <a:lnTo>
                  <a:pt x="137243" y="348618"/>
                </a:lnTo>
                <a:lnTo>
                  <a:pt x="91756" y="326939"/>
                </a:lnTo>
                <a:lnTo>
                  <a:pt x="53818" y="298500"/>
                </a:lnTo>
                <a:lnTo>
                  <a:pt x="24899" y="264402"/>
                </a:lnTo>
                <a:lnTo>
                  <a:pt x="6469" y="225749"/>
                </a:lnTo>
                <a:lnTo>
                  <a:pt x="0" y="18364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3978147" y="1947163"/>
            <a:ext cx="652779" cy="584200"/>
          </a:xfrm>
          <a:custGeom>
            <a:avLst/>
            <a:gdLst/>
            <a:ahLst/>
            <a:cxnLst/>
            <a:rect l="l" t="t" r="r" b="b"/>
            <a:pathLst>
              <a:path w="489585" h="438150">
                <a:moveTo>
                  <a:pt x="244602" y="0"/>
                </a:moveTo>
                <a:lnTo>
                  <a:pt x="195306" y="4450"/>
                </a:lnTo>
                <a:lnTo>
                  <a:pt x="149391" y="17215"/>
                </a:lnTo>
                <a:lnTo>
                  <a:pt x="107842" y="37414"/>
                </a:lnTo>
                <a:lnTo>
                  <a:pt x="71642" y="64165"/>
                </a:lnTo>
                <a:lnTo>
                  <a:pt x="41774" y="96587"/>
                </a:lnTo>
                <a:lnTo>
                  <a:pt x="19222" y="133800"/>
                </a:lnTo>
                <a:lnTo>
                  <a:pt x="4969" y="174923"/>
                </a:lnTo>
                <a:lnTo>
                  <a:pt x="0" y="219075"/>
                </a:lnTo>
                <a:lnTo>
                  <a:pt x="4969" y="263226"/>
                </a:lnTo>
                <a:lnTo>
                  <a:pt x="19222" y="304349"/>
                </a:lnTo>
                <a:lnTo>
                  <a:pt x="41774" y="341562"/>
                </a:lnTo>
                <a:lnTo>
                  <a:pt x="71642" y="373984"/>
                </a:lnTo>
                <a:lnTo>
                  <a:pt x="107842" y="400735"/>
                </a:lnTo>
                <a:lnTo>
                  <a:pt x="149391" y="420934"/>
                </a:lnTo>
                <a:lnTo>
                  <a:pt x="195306" y="433699"/>
                </a:lnTo>
                <a:lnTo>
                  <a:pt x="244602" y="438150"/>
                </a:lnTo>
                <a:lnTo>
                  <a:pt x="293897" y="433699"/>
                </a:lnTo>
                <a:lnTo>
                  <a:pt x="339812" y="420934"/>
                </a:lnTo>
                <a:lnTo>
                  <a:pt x="381361" y="400735"/>
                </a:lnTo>
                <a:lnTo>
                  <a:pt x="417561" y="373984"/>
                </a:lnTo>
                <a:lnTo>
                  <a:pt x="447429" y="341562"/>
                </a:lnTo>
                <a:lnTo>
                  <a:pt x="469981" y="304349"/>
                </a:lnTo>
                <a:lnTo>
                  <a:pt x="484234" y="263226"/>
                </a:lnTo>
                <a:lnTo>
                  <a:pt x="489204" y="219075"/>
                </a:lnTo>
                <a:lnTo>
                  <a:pt x="484234" y="174923"/>
                </a:lnTo>
                <a:lnTo>
                  <a:pt x="469981" y="133800"/>
                </a:lnTo>
                <a:lnTo>
                  <a:pt x="447429" y="96587"/>
                </a:lnTo>
                <a:lnTo>
                  <a:pt x="417561" y="64165"/>
                </a:lnTo>
                <a:lnTo>
                  <a:pt x="381361" y="37414"/>
                </a:lnTo>
                <a:lnTo>
                  <a:pt x="339812" y="17215"/>
                </a:lnTo>
                <a:lnTo>
                  <a:pt x="293897" y="4450"/>
                </a:lnTo>
                <a:lnTo>
                  <a:pt x="244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3978147" y="1947163"/>
            <a:ext cx="652779" cy="584200"/>
          </a:xfrm>
          <a:custGeom>
            <a:avLst/>
            <a:gdLst/>
            <a:ahLst/>
            <a:cxnLst/>
            <a:rect l="l" t="t" r="r" b="b"/>
            <a:pathLst>
              <a:path w="489585" h="438150">
                <a:moveTo>
                  <a:pt x="0" y="219075"/>
                </a:moveTo>
                <a:lnTo>
                  <a:pt x="4969" y="174923"/>
                </a:lnTo>
                <a:lnTo>
                  <a:pt x="19222" y="133800"/>
                </a:lnTo>
                <a:lnTo>
                  <a:pt x="41774" y="96587"/>
                </a:lnTo>
                <a:lnTo>
                  <a:pt x="71642" y="64165"/>
                </a:lnTo>
                <a:lnTo>
                  <a:pt x="107842" y="37414"/>
                </a:lnTo>
                <a:lnTo>
                  <a:pt x="149391" y="17215"/>
                </a:lnTo>
                <a:lnTo>
                  <a:pt x="195306" y="4450"/>
                </a:lnTo>
                <a:lnTo>
                  <a:pt x="244602" y="0"/>
                </a:lnTo>
                <a:lnTo>
                  <a:pt x="293897" y="4450"/>
                </a:lnTo>
                <a:lnTo>
                  <a:pt x="339812" y="17215"/>
                </a:lnTo>
                <a:lnTo>
                  <a:pt x="381361" y="37414"/>
                </a:lnTo>
                <a:lnTo>
                  <a:pt x="417561" y="64165"/>
                </a:lnTo>
                <a:lnTo>
                  <a:pt x="447429" y="96587"/>
                </a:lnTo>
                <a:lnTo>
                  <a:pt x="469981" y="133800"/>
                </a:lnTo>
                <a:lnTo>
                  <a:pt x="484234" y="174923"/>
                </a:lnTo>
                <a:lnTo>
                  <a:pt x="489204" y="219075"/>
                </a:lnTo>
                <a:lnTo>
                  <a:pt x="484234" y="263226"/>
                </a:lnTo>
                <a:lnTo>
                  <a:pt x="469981" y="304349"/>
                </a:lnTo>
                <a:lnTo>
                  <a:pt x="447429" y="341562"/>
                </a:lnTo>
                <a:lnTo>
                  <a:pt x="417561" y="373984"/>
                </a:lnTo>
                <a:lnTo>
                  <a:pt x="381361" y="400735"/>
                </a:lnTo>
                <a:lnTo>
                  <a:pt x="339812" y="420934"/>
                </a:lnTo>
                <a:lnTo>
                  <a:pt x="293897" y="433699"/>
                </a:lnTo>
                <a:lnTo>
                  <a:pt x="244602" y="438150"/>
                </a:lnTo>
                <a:lnTo>
                  <a:pt x="195306" y="433699"/>
                </a:lnTo>
                <a:lnTo>
                  <a:pt x="149391" y="420934"/>
                </a:lnTo>
                <a:lnTo>
                  <a:pt x="107842" y="400735"/>
                </a:lnTo>
                <a:lnTo>
                  <a:pt x="71642" y="373984"/>
                </a:lnTo>
                <a:lnTo>
                  <a:pt x="41774" y="341562"/>
                </a:lnTo>
                <a:lnTo>
                  <a:pt x="19222" y="304349"/>
                </a:lnTo>
                <a:lnTo>
                  <a:pt x="4969" y="263226"/>
                </a:lnTo>
                <a:lnTo>
                  <a:pt x="0" y="219075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 txBox="1"/>
          <p:nvPr/>
        </p:nvSpPr>
        <p:spPr>
          <a:xfrm>
            <a:off x="393254" y="4940677"/>
            <a:ext cx="10594608" cy="1329424"/>
          </a:xfrm>
          <a:prstGeom prst="rect">
            <a:avLst/>
          </a:prstGeom>
        </p:spPr>
        <p:txBody>
          <a:bodyPr vert="horz" wrap="square" lIns="0" tIns="209127" rIns="0" bIns="0" rtlCol="0">
            <a:spAutoFit/>
          </a:bodyPr>
          <a:lstStyle/>
          <a:p>
            <a:pPr marL="1051534">
              <a:spcBef>
                <a:spcPts val="1647"/>
              </a:spcBef>
              <a:tabLst>
                <a:tab pos="1878706" algn="l"/>
              </a:tabLst>
            </a:pPr>
            <a:r>
              <a:rPr sz="2400" b="1" dirty="0">
                <a:latin typeface="Times New Roman"/>
                <a:cs typeface="Times New Roman"/>
              </a:rPr>
              <a:t>10	18</a:t>
            </a:r>
            <a:endParaRPr sz="2400" dirty="0">
              <a:latin typeface="Times New Roman"/>
              <a:cs typeface="Times New Roman"/>
            </a:endParaRPr>
          </a:p>
          <a:p>
            <a:pPr marL="16933">
              <a:spcBef>
                <a:spcPts val="2020"/>
              </a:spcBef>
            </a:pPr>
            <a:r>
              <a:rPr lang="en-US" sz="3200" b="1" spc="-7" dirty="0" smtClean="0">
                <a:latin typeface="宋体"/>
                <a:cs typeface="宋体"/>
              </a:rPr>
              <a:t>          </a:t>
            </a:r>
            <a:r>
              <a:rPr lang="en-US" sz="32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32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代价</a:t>
            </a:r>
            <a:r>
              <a:rPr sz="3200" b="1" dirty="0">
                <a:latin typeface="Times New Roman"/>
                <a:cs typeface="Times New Roman"/>
              </a:rPr>
              <a:t>:</a:t>
            </a:r>
            <a:r>
              <a:rPr sz="3200" b="1" spc="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2933" b="1" spc="-7" dirty="0">
                <a:latin typeface="Times New Roman"/>
                <a:cs typeface="Times New Roman"/>
              </a:rPr>
              <a:t>10+18)</a:t>
            </a:r>
            <a:r>
              <a:rPr sz="2933" b="1" spc="-7" dirty="0">
                <a:latin typeface="Symbol"/>
                <a:cs typeface="Symbol"/>
              </a:rPr>
              <a:t></a:t>
            </a:r>
            <a:r>
              <a:rPr sz="2933" b="1" spc="-7" dirty="0">
                <a:latin typeface="Times New Roman"/>
                <a:cs typeface="Times New Roman"/>
              </a:rPr>
              <a:t>4+21</a:t>
            </a:r>
            <a:r>
              <a:rPr sz="2933" b="1" spc="-7" dirty="0">
                <a:latin typeface="Symbol"/>
                <a:cs typeface="Symbol"/>
              </a:rPr>
              <a:t></a:t>
            </a:r>
            <a:r>
              <a:rPr sz="2933" b="1" spc="-7" dirty="0">
                <a:latin typeface="Times New Roman"/>
                <a:cs typeface="Times New Roman"/>
              </a:rPr>
              <a:t>3+(70+41+32)</a:t>
            </a:r>
            <a:r>
              <a:rPr sz="2933" b="1" spc="-7" dirty="0">
                <a:latin typeface="Symbol"/>
                <a:cs typeface="Symbol"/>
              </a:rPr>
              <a:t></a:t>
            </a:r>
            <a:r>
              <a:rPr sz="2933" b="1" spc="-7" dirty="0">
                <a:latin typeface="Times New Roman"/>
                <a:cs typeface="Times New Roman"/>
              </a:rPr>
              <a:t>2</a:t>
            </a:r>
            <a:r>
              <a:rPr sz="2933" b="1" spc="-7" dirty="0">
                <a:latin typeface="Symbol"/>
                <a:cs typeface="Symbol"/>
              </a:rPr>
              <a:t></a:t>
            </a:r>
            <a:r>
              <a:rPr sz="2933" b="1" spc="-7" dirty="0" smtClean="0">
                <a:latin typeface="Times New Roman"/>
                <a:cs typeface="Times New Roman"/>
              </a:rPr>
              <a:t>5=456</a:t>
            </a:r>
            <a:endParaRPr sz="2933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6187" y="1228682"/>
            <a:ext cx="10808254" cy="20971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sz="32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32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={21,10,32,41,18,70}</a:t>
            </a:r>
            <a:endParaRPr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56199">
              <a:spcBef>
                <a:spcPts val="2273"/>
              </a:spcBef>
            </a:pPr>
            <a:r>
              <a:rPr sz="2400" b="1" dirty="0">
                <a:latin typeface="Times New Roman"/>
                <a:cs typeface="Times New Roman"/>
              </a:rPr>
              <a:t>192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56965">
              <a:tabLst>
                <a:tab pos="4004633" algn="l"/>
              </a:tabLst>
            </a:pPr>
            <a:r>
              <a:rPr sz="2400" b="1" spc="-47" dirty="0">
                <a:latin typeface="Times New Roman"/>
                <a:cs typeface="Times New Roman"/>
              </a:rPr>
              <a:t>119	</a:t>
            </a:r>
            <a:r>
              <a:rPr sz="2400" b="1" dirty="0">
                <a:latin typeface="Times New Roman"/>
                <a:cs typeface="Times New Roman"/>
              </a:rPr>
              <a:t>73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362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6080" y="247392"/>
            <a:ext cx="617728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77731" y="1272342"/>
            <a:ext cx="10768035" cy="3982286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362364" indent="-345430">
              <a:lnSpc>
                <a:spcPct val="100000"/>
              </a:lnSpc>
              <a:spcBef>
                <a:spcPts val="1893"/>
              </a:spcBef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二元前缀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其二叉树表示</a:t>
            </a:r>
          </a:p>
          <a:p>
            <a:pPr marL="362364" indent="-345430">
              <a:lnSpc>
                <a:spcPct val="100000"/>
              </a:lnSpc>
              <a:spcBef>
                <a:spcPts val="1760"/>
              </a:spcBef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给定频率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平均传输位数计算公式</a:t>
            </a:r>
          </a:p>
          <a:p>
            <a:pPr marL="362364" indent="-345430">
              <a:lnSpc>
                <a:spcPct val="100000"/>
              </a:lnSpc>
              <a:spcBef>
                <a:spcPts val="1760"/>
              </a:spcBef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最优前缀码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均传输位数最少</a:t>
            </a:r>
          </a:p>
          <a:p>
            <a:pPr marL="353051" indent="-288706">
              <a:lnSpc>
                <a:spcPct val="100000"/>
              </a:lnSpc>
              <a:spcBef>
                <a:spcPts val="1760"/>
              </a:spcBef>
              <a:buFont typeface="Arial"/>
              <a:buChar char="•"/>
              <a:tabLst>
                <a:tab pos="353898" algn="l"/>
              </a:tabLst>
            </a:pP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哈夫曼算</a:t>
            </a:r>
            <a:r>
              <a:rPr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</a:p>
          <a:p>
            <a:pPr marL="353051" indent="-336964">
              <a:lnSpc>
                <a:spcPct val="100000"/>
              </a:lnSpc>
              <a:spcBef>
                <a:spcPts val="1760"/>
              </a:spcBef>
              <a:buFont typeface="Arial"/>
              <a:buChar char="•"/>
              <a:tabLst>
                <a:tab pos="353051" algn="l"/>
                <a:tab pos="353898" algn="l"/>
              </a:tabLst>
            </a:pPr>
            <a:r>
              <a:rPr lang="zh-CN" altLang="en-US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哈夫曼</a:t>
            </a:r>
            <a:r>
              <a:rPr lang="zh-CN" altLang="en-US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lang="zh-CN" altLang="en-US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</a:t>
            </a:r>
            <a:r>
              <a:rPr lang="zh-CN" altLang="en-US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zh-CN" altLang="en-US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文件归</a:t>
            </a:r>
            <a:r>
              <a:rPr lang="zh-CN" altLang="en-US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087" indent="0">
              <a:lnSpc>
                <a:spcPct val="100000"/>
              </a:lnSpc>
              <a:spcBef>
                <a:spcPts val="1760"/>
              </a:spcBef>
              <a:buNone/>
              <a:tabLst>
                <a:tab pos="353051" algn="l"/>
                <a:tab pos="353898" algn="l"/>
              </a:tabLst>
            </a:pPr>
            <a:endParaRPr b="1" spc="-13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82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170" y="2457409"/>
            <a:ext cx="8407230" cy="103276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6600" spc="-20" dirty="0">
                <a:latin typeface="黑体" panose="02010609060101010101" pitchFamily="49" charset="-122"/>
                <a:ea typeface="黑体" panose="02010609060101010101" pitchFamily="49" charset="-122"/>
              </a:rPr>
              <a:t>最小</a:t>
            </a:r>
            <a:r>
              <a:rPr sz="6600" spc="7" dirty="0">
                <a:latin typeface="黑体" panose="02010609060101010101" pitchFamily="49" charset="-122"/>
                <a:ea typeface="黑体" panose="02010609060101010101" pitchFamily="49" charset="-122"/>
              </a:rPr>
              <a:t>生</a:t>
            </a:r>
            <a:r>
              <a:rPr sz="6600" spc="-7" dirty="0">
                <a:latin typeface="黑体" panose="02010609060101010101" pitchFamily="49" charset="-122"/>
                <a:ea typeface="黑体" panose="02010609060101010101" pitchFamily="49" charset="-122"/>
              </a:rPr>
              <a:t>成</a:t>
            </a:r>
            <a:r>
              <a:rPr sz="6600" spc="-33" dirty="0"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13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819" y="327733"/>
            <a:ext cx="790262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最小生成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7" y="1368383"/>
            <a:ext cx="10890225" cy="3789926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无向连通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带</a:t>
            </a:r>
            <a:r>
              <a:rPr sz="2800" b="1" spc="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权</a:t>
            </a:r>
            <a:r>
              <a:rPr sz="28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42492">
              <a:spcBef>
                <a:spcPts val="800"/>
              </a:spcBef>
            </a:pPr>
            <a:r>
              <a:rPr lang="en-US"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)，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spcBef>
                <a:spcPts val="800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sz="2800" b="1" spc="-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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i="1" spc="-6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的权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7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R="6773" algn="just">
              <a:spcBef>
                <a:spcPts val="17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的一棵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生成树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是包含了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的所有顶点的树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zh-CN" altLang="en-US" sz="2800" b="1" u="sng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树中各边的权之和 </a:t>
            </a:r>
            <a:r>
              <a:rPr lang="en-US" altLang="zh-CN" sz="2800" b="1" u="sng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W(T) </a:t>
            </a:r>
            <a:r>
              <a:rPr lang="zh-CN" altLang="en-US" sz="2800" b="1" u="sng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称为树的</a:t>
            </a:r>
            <a:r>
              <a:rPr lang="zh-CN" altLang="en-US" sz="28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权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，具有最小权的生成树称为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最小生成树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R="6773" algn="just">
              <a:spcBef>
                <a:spcPts val="1700"/>
              </a:spcBef>
            </a:pP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29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2729" y="251533"/>
            <a:ext cx="8709754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最小生成树的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6" y="1228175"/>
            <a:ext cx="10615565" cy="1709868"/>
          </a:xfrm>
          <a:prstGeom prst="rect">
            <a:avLst/>
          </a:prstGeom>
        </p:spPr>
        <p:txBody>
          <a:bodyPr vert="horz" wrap="square" lIns="0" tIns="77892" rIns="0" bIns="0" rtlCol="0">
            <a:spAutoFit/>
          </a:bodyPr>
          <a:lstStyle/>
          <a:p>
            <a:pPr marL="16933">
              <a:spcBef>
                <a:spcPts val="612"/>
              </a:spcBef>
            </a:pPr>
            <a:r>
              <a:rPr sz="3200" b="1" i="1" spc="-7" dirty="0">
                <a:latin typeface="Times New Roman"/>
                <a:cs typeface="Times New Roman"/>
              </a:rPr>
              <a:t>G</a:t>
            </a:r>
            <a:r>
              <a:rPr sz="3200" b="1" spc="-7" dirty="0">
                <a:latin typeface="Times New Roman"/>
                <a:cs typeface="Times New Roman"/>
              </a:rPr>
              <a:t>=(</a:t>
            </a:r>
            <a:r>
              <a:rPr sz="3200" b="1" i="1" spc="-7" dirty="0">
                <a:latin typeface="Times New Roman"/>
                <a:cs typeface="Times New Roman"/>
              </a:rPr>
              <a:t>V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i="1" spc="-7" dirty="0">
                <a:latin typeface="Times New Roman"/>
                <a:cs typeface="Times New Roman"/>
              </a:rPr>
              <a:t>E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),</a:t>
            </a:r>
            <a:r>
              <a:rPr sz="3200" b="1" i="1" spc="-7" dirty="0">
                <a:latin typeface="Times New Roman"/>
                <a:cs typeface="Times New Roman"/>
              </a:rPr>
              <a:t>V</a:t>
            </a:r>
            <a:r>
              <a:rPr sz="3200" b="1" spc="-7" dirty="0">
                <a:latin typeface="Times New Roman"/>
                <a:cs typeface="Times New Roman"/>
              </a:rPr>
              <a:t>={1,2,3,4,5,6</a:t>
            </a:r>
            <a:r>
              <a:rPr sz="3200" b="1" spc="-7" dirty="0" smtClean="0">
                <a:latin typeface="Times New Roman"/>
                <a:cs typeface="Times New Roman"/>
              </a:rPr>
              <a:t>},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i="1" spc="-2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sz="3200" b="1" dirty="0" smtClean="0">
                <a:latin typeface="Times New Roman"/>
                <a:cs typeface="Times New Roman"/>
              </a:rPr>
              <a:t>.</a:t>
            </a:r>
            <a:endParaRPr lang="en-US" sz="3200" dirty="0">
              <a:latin typeface="Times New Roman"/>
              <a:cs typeface="Times New Roman"/>
            </a:endParaRPr>
          </a:p>
          <a:p>
            <a:pPr marL="16933">
              <a:spcBef>
                <a:spcPts val="612"/>
              </a:spcBef>
            </a:pPr>
            <a:r>
              <a:rPr sz="3200" b="1" i="1" dirty="0" smtClean="0">
                <a:latin typeface="Times New Roman"/>
                <a:cs typeface="Times New Roman"/>
              </a:rPr>
              <a:t>E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5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{{1,2},{1,3},{1,4},{2,3},{2,5</a:t>
            </a:r>
            <a:r>
              <a:rPr sz="3200" b="1" spc="-7" dirty="0" smtClean="0">
                <a:latin typeface="Times New Roman"/>
                <a:cs typeface="Times New Roman"/>
              </a:rPr>
              <a:t>},</a:t>
            </a:r>
            <a:endParaRPr lang="en-US" sz="3200" dirty="0">
              <a:latin typeface="Times New Roman"/>
              <a:cs typeface="Times New Roman"/>
            </a:endParaRPr>
          </a:p>
          <a:p>
            <a:pPr marL="16933">
              <a:spcBef>
                <a:spcPts val="612"/>
              </a:spcBef>
            </a:pPr>
            <a:r>
              <a:rPr lang="en-US" sz="3200" b="1" spc="-7" dirty="0">
                <a:latin typeface="Times New Roman"/>
                <a:cs typeface="Times New Roman"/>
              </a:rPr>
              <a:t> </a:t>
            </a:r>
            <a:r>
              <a:rPr lang="en-US" sz="3200" b="1" spc="-7" dirty="0" smtClean="0">
                <a:latin typeface="Times New Roman"/>
                <a:cs typeface="Times New Roman"/>
              </a:rPr>
              <a:t>      </a:t>
            </a:r>
            <a:r>
              <a:rPr sz="3200" b="1" spc="-7" dirty="0" smtClean="0">
                <a:latin typeface="Times New Roman"/>
                <a:cs typeface="Times New Roman"/>
              </a:rPr>
              <a:t>{</a:t>
            </a:r>
            <a:r>
              <a:rPr sz="3200" b="1" spc="-7" dirty="0">
                <a:latin typeface="Times New Roman"/>
                <a:cs typeface="Times New Roman"/>
              </a:rPr>
              <a:t>3,4},{3,5},{3,6},{4,6},{5,6}}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20653" y="4555219"/>
            <a:ext cx="509693" cy="811953"/>
          </a:xfrm>
          <a:custGeom>
            <a:avLst/>
            <a:gdLst/>
            <a:ahLst/>
            <a:cxnLst/>
            <a:rect l="l" t="t" r="r" b="b"/>
            <a:pathLst>
              <a:path w="382270" h="608964">
                <a:moveTo>
                  <a:pt x="0" y="0"/>
                </a:moveTo>
                <a:lnTo>
                  <a:pt x="381762" y="608838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8238838" y="3234418"/>
            <a:ext cx="60113" cy="1422400"/>
          </a:xfrm>
          <a:custGeom>
            <a:avLst/>
            <a:gdLst/>
            <a:ahLst/>
            <a:cxnLst/>
            <a:rect l="l" t="t" r="r" b="b"/>
            <a:pathLst>
              <a:path w="45085" h="1066800">
                <a:moveTo>
                  <a:pt x="0" y="0"/>
                </a:moveTo>
                <a:lnTo>
                  <a:pt x="44958" y="106680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8440006" y="4555218"/>
            <a:ext cx="509693" cy="711200"/>
          </a:xfrm>
          <a:custGeom>
            <a:avLst/>
            <a:gdLst/>
            <a:ahLst/>
            <a:cxnLst/>
            <a:rect l="l" t="t" r="r" b="b"/>
            <a:pathLst>
              <a:path w="382270" h="533400">
                <a:moveTo>
                  <a:pt x="0" y="0"/>
                </a:moveTo>
                <a:lnTo>
                  <a:pt x="381762" y="53340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9187782" y="4588747"/>
            <a:ext cx="204893" cy="608753"/>
          </a:xfrm>
          <a:custGeom>
            <a:avLst/>
            <a:gdLst/>
            <a:ahLst/>
            <a:cxnLst/>
            <a:rect l="l" t="t" r="r" b="b"/>
            <a:pathLst>
              <a:path w="153670" h="456564">
                <a:moveTo>
                  <a:pt x="153162" y="0"/>
                </a:moveTo>
                <a:lnTo>
                  <a:pt x="0" y="456437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7962485" y="3063731"/>
            <a:ext cx="480907" cy="480060"/>
          </a:xfrm>
          <a:custGeom>
            <a:avLst/>
            <a:gdLst/>
            <a:ahLst/>
            <a:cxnLst/>
            <a:rect l="l" t="t" r="r" b="b"/>
            <a:pathLst>
              <a:path w="360679" h="360044">
                <a:moveTo>
                  <a:pt x="180213" y="0"/>
                </a:moveTo>
                <a:lnTo>
                  <a:pt x="132304" y="6424"/>
                </a:lnTo>
                <a:lnTo>
                  <a:pt x="89255" y="24553"/>
                </a:lnTo>
                <a:lnTo>
                  <a:pt x="52782" y="52673"/>
                </a:lnTo>
                <a:lnTo>
                  <a:pt x="24604" y="89069"/>
                </a:lnTo>
                <a:lnTo>
                  <a:pt x="6437" y="132027"/>
                </a:lnTo>
                <a:lnTo>
                  <a:pt x="0" y="179831"/>
                </a:lnTo>
                <a:lnTo>
                  <a:pt x="6437" y="227636"/>
                </a:lnTo>
                <a:lnTo>
                  <a:pt x="24604" y="270594"/>
                </a:lnTo>
                <a:lnTo>
                  <a:pt x="52782" y="306990"/>
                </a:lnTo>
                <a:lnTo>
                  <a:pt x="89255" y="335110"/>
                </a:lnTo>
                <a:lnTo>
                  <a:pt x="132304" y="353239"/>
                </a:lnTo>
                <a:lnTo>
                  <a:pt x="180213" y="359663"/>
                </a:lnTo>
                <a:lnTo>
                  <a:pt x="228121" y="353239"/>
                </a:lnTo>
                <a:lnTo>
                  <a:pt x="271170" y="335110"/>
                </a:lnTo>
                <a:lnTo>
                  <a:pt x="307643" y="306990"/>
                </a:lnTo>
                <a:lnTo>
                  <a:pt x="335821" y="270594"/>
                </a:lnTo>
                <a:lnTo>
                  <a:pt x="353988" y="227636"/>
                </a:lnTo>
                <a:lnTo>
                  <a:pt x="360426" y="179831"/>
                </a:lnTo>
                <a:lnTo>
                  <a:pt x="353988" y="132027"/>
                </a:lnTo>
                <a:lnTo>
                  <a:pt x="335821" y="89069"/>
                </a:lnTo>
                <a:lnTo>
                  <a:pt x="307643" y="52673"/>
                </a:lnTo>
                <a:lnTo>
                  <a:pt x="271170" y="24553"/>
                </a:lnTo>
                <a:lnTo>
                  <a:pt x="228121" y="6424"/>
                </a:lnTo>
                <a:lnTo>
                  <a:pt x="180213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7962485" y="3063731"/>
            <a:ext cx="480907" cy="480060"/>
          </a:xfrm>
          <a:custGeom>
            <a:avLst/>
            <a:gdLst/>
            <a:ahLst/>
            <a:cxnLst/>
            <a:rect l="l" t="t" r="r" b="b"/>
            <a:pathLst>
              <a:path w="360679" h="360044">
                <a:moveTo>
                  <a:pt x="0" y="179831"/>
                </a:moveTo>
                <a:lnTo>
                  <a:pt x="6437" y="132027"/>
                </a:lnTo>
                <a:lnTo>
                  <a:pt x="24604" y="89069"/>
                </a:lnTo>
                <a:lnTo>
                  <a:pt x="52782" y="52673"/>
                </a:lnTo>
                <a:lnTo>
                  <a:pt x="89255" y="24553"/>
                </a:lnTo>
                <a:lnTo>
                  <a:pt x="132304" y="6424"/>
                </a:lnTo>
                <a:lnTo>
                  <a:pt x="180213" y="0"/>
                </a:lnTo>
                <a:lnTo>
                  <a:pt x="228121" y="6424"/>
                </a:lnTo>
                <a:lnTo>
                  <a:pt x="271170" y="24553"/>
                </a:lnTo>
                <a:lnTo>
                  <a:pt x="307643" y="52673"/>
                </a:lnTo>
                <a:lnTo>
                  <a:pt x="335821" y="89069"/>
                </a:lnTo>
                <a:lnTo>
                  <a:pt x="353988" y="132027"/>
                </a:lnTo>
                <a:lnTo>
                  <a:pt x="360426" y="179831"/>
                </a:lnTo>
                <a:lnTo>
                  <a:pt x="353988" y="227636"/>
                </a:lnTo>
                <a:lnTo>
                  <a:pt x="335821" y="270594"/>
                </a:lnTo>
                <a:lnTo>
                  <a:pt x="307643" y="306990"/>
                </a:lnTo>
                <a:lnTo>
                  <a:pt x="271170" y="335110"/>
                </a:lnTo>
                <a:lnTo>
                  <a:pt x="228121" y="353239"/>
                </a:lnTo>
                <a:lnTo>
                  <a:pt x="180213" y="359663"/>
                </a:lnTo>
                <a:lnTo>
                  <a:pt x="132304" y="353239"/>
                </a:lnTo>
                <a:lnTo>
                  <a:pt x="89255" y="335110"/>
                </a:lnTo>
                <a:lnTo>
                  <a:pt x="52782" y="306990"/>
                </a:lnTo>
                <a:lnTo>
                  <a:pt x="24604" y="270594"/>
                </a:lnTo>
                <a:lnTo>
                  <a:pt x="6437" y="227636"/>
                </a:lnTo>
                <a:lnTo>
                  <a:pt x="0" y="179831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8084658" y="3028536"/>
            <a:ext cx="2370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47349" y="4041122"/>
            <a:ext cx="480907" cy="479213"/>
          </a:xfrm>
          <a:custGeom>
            <a:avLst/>
            <a:gdLst/>
            <a:ahLst/>
            <a:cxnLst/>
            <a:rect l="l" t="t" r="r" b="b"/>
            <a:pathLst>
              <a:path w="360679" h="359410">
                <a:moveTo>
                  <a:pt x="180213" y="0"/>
                </a:moveTo>
                <a:lnTo>
                  <a:pt x="132304" y="6409"/>
                </a:lnTo>
                <a:lnTo>
                  <a:pt x="89255" y="24499"/>
                </a:lnTo>
                <a:lnTo>
                  <a:pt x="52782" y="52558"/>
                </a:lnTo>
                <a:lnTo>
                  <a:pt x="24604" y="88877"/>
                </a:lnTo>
                <a:lnTo>
                  <a:pt x="6437" y="131744"/>
                </a:lnTo>
                <a:lnTo>
                  <a:pt x="0" y="179450"/>
                </a:lnTo>
                <a:lnTo>
                  <a:pt x="6437" y="227157"/>
                </a:lnTo>
                <a:lnTo>
                  <a:pt x="24604" y="270024"/>
                </a:lnTo>
                <a:lnTo>
                  <a:pt x="52782" y="306343"/>
                </a:lnTo>
                <a:lnTo>
                  <a:pt x="89255" y="334402"/>
                </a:lnTo>
                <a:lnTo>
                  <a:pt x="132304" y="352492"/>
                </a:lnTo>
                <a:lnTo>
                  <a:pt x="180213" y="358902"/>
                </a:lnTo>
                <a:lnTo>
                  <a:pt x="228121" y="352492"/>
                </a:lnTo>
                <a:lnTo>
                  <a:pt x="271170" y="334402"/>
                </a:lnTo>
                <a:lnTo>
                  <a:pt x="307643" y="306343"/>
                </a:lnTo>
                <a:lnTo>
                  <a:pt x="335821" y="270024"/>
                </a:lnTo>
                <a:lnTo>
                  <a:pt x="353988" y="227157"/>
                </a:lnTo>
                <a:lnTo>
                  <a:pt x="360426" y="179450"/>
                </a:lnTo>
                <a:lnTo>
                  <a:pt x="353988" y="131744"/>
                </a:lnTo>
                <a:lnTo>
                  <a:pt x="335821" y="88877"/>
                </a:lnTo>
                <a:lnTo>
                  <a:pt x="307643" y="52558"/>
                </a:lnTo>
                <a:lnTo>
                  <a:pt x="271170" y="24499"/>
                </a:lnTo>
                <a:lnTo>
                  <a:pt x="228121" y="6409"/>
                </a:lnTo>
                <a:lnTo>
                  <a:pt x="180213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6747349" y="4041122"/>
            <a:ext cx="480907" cy="479213"/>
          </a:xfrm>
          <a:custGeom>
            <a:avLst/>
            <a:gdLst/>
            <a:ahLst/>
            <a:cxnLst/>
            <a:rect l="l" t="t" r="r" b="b"/>
            <a:pathLst>
              <a:path w="360679" h="359410">
                <a:moveTo>
                  <a:pt x="0" y="179450"/>
                </a:moveTo>
                <a:lnTo>
                  <a:pt x="6437" y="131744"/>
                </a:lnTo>
                <a:lnTo>
                  <a:pt x="24604" y="88877"/>
                </a:lnTo>
                <a:lnTo>
                  <a:pt x="52782" y="52558"/>
                </a:lnTo>
                <a:lnTo>
                  <a:pt x="89255" y="24499"/>
                </a:lnTo>
                <a:lnTo>
                  <a:pt x="132304" y="6409"/>
                </a:lnTo>
                <a:lnTo>
                  <a:pt x="180213" y="0"/>
                </a:lnTo>
                <a:lnTo>
                  <a:pt x="228121" y="6409"/>
                </a:lnTo>
                <a:lnTo>
                  <a:pt x="271170" y="24499"/>
                </a:lnTo>
                <a:lnTo>
                  <a:pt x="307643" y="52558"/>
                </a:lnTo>
                <a:lnTo>
                  <a:pt x="335821" y="88877"/>
                </a:lnTo>
                <a:lnTo>
                  <a:pt x="353988" y="131744"/>
                </a:lnTo>
                <a:lnTo>
                  <a:pt x="360426" y="179450"/>
                </a:lnTo>
                <a:lnTo>
                  <a:pt x="353988" y="227157"/>
                </a:lnTo>
                <a:lnTo>
                  <a:pt x="335821" y="270024"/>
                </a:lnTo>
                <a:lnTo>
                  <a:pt x="307643" y="306343"/>
                </a:lnTo>
                <a:lnTo>
                  <a:pt x="271170" y="334402"/>
                </a:lnTo>
                <a:lnTo>
                  <a:pt x="228121" y="352492"/>
                </a:lnTo>
                <a:lnTo>
                  <a:pt x="180213" y="358902"/>
                </a:lnTo>
                <a:lnTo>
                  <a:pt x="132304" y="352492"/>
                </a:lnTo>
                <a:lnTo>
                  <a:pt x="89255" y="334402"/>
                </a:lnTo>
                <a:lnTo>
                  <a:pt x="52782" y="306343"/>
                </a:lnTo>
                <a:lnTo>
                  <a:pt x="24604" y="270024"/>
                </a:lnTo>
                <a:lnTo>
                  <a:pt x="6437" y="227157"/>
                </a:lnTo>
                <a:lnTo>
                  <a:pt x="0" y="17945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9153237" y="4041122"/>
            <a:ext cx="480907" cy="479213"/>
          </a:xfrm>
          <a:custGeom>
            <a:avLst/>
            <a:gdLst/>
            <a:ahLst/>
            <a:cxnLst/>
            <a:rect l="l" t="t" r="r" b="b"/>
            <a:pathLst>
              <a:path w="360679" h="359410">
                <a:moveTo>
                  <a:pt x="180213" y="0"/>
                </a:moveTo>
                <a:lnTo>
                  <a:pt x="132304" y="6409"/>
                </a:lnTo>
                <a:lnTo>
                  <a:pt x="89255" y="24499"/>
                </a:lnTo>
                <a:lnTo>
                  <a:pt x="52782" y="52558"/>
                </a:lnTo>
                <a:lnTo>
                  <a:pt x="24604" y="88877"/>
                </a:lnTo>
                <a:lnTo>
                  <a:pt x="6437" y="131744"/>
                </a:lnTo>
                <a:lnTo>
                  <a:pt x="0" y="179450"/>
                </a:lnTo>
                <a:lnTo>
                  <a:pt x="6437" y="227157"/>
                </a:lnTo>
                <a:lnTo>
                  <a:pt x="24604" y="270024"/>
                </a:lnTo>
                <a:lnTo>
                  <a:pt x="52782" y="306343"/>
                </a:lnTo>
                <a:lnTo>
                  <a:pt x="89255" y="334402"/>
                </a:lnTo>
                <a:lnTo>
                  <a:pt x="132304" y="352492"/>
                </a:lnTo>
                <a:lnTo>
                  <a:pt x="180213" y="358902"/>
                </a:lnTo>
                <a:lnTo>
                  <a:pt x="228121" y="352492"/>
                </a:lnTo>
                <a:lnTo>
                  <a:pt x="271170" y="334402"/>
                </a:lnTo>
                <a:lnTo>
                  <a:pt x="307643" y="306343"/>
                </a:lnTo>
                <a:lnTo>
                  <a:pt x="335821" y="270024"/>
                </a:lnTo>
                <a:lnTo>
                  <a:pt x="353988" y="227157"/>
                </a:lnTo>
                <a:lnTo>
                  <a:pt x="360426" y="179450"/>
                </a:lnTo>
                <a:lnTo>
                  <a:pt x="353988" y="131744"/>
                </a:lnTo>
                <a:lnTo>
                  <a:pt x="335821" y="88877"/>
                </a:lnTo>
                <a:lnTo>
                  <a:pt x="307643" y="52558"/>
                </a:lnTo>
                <a:lnTo>
                  <a:pt x="271170" y="24499"/>
                </a:lnTo>
                <a:lnTo>
                  <a:pt x="228121" y="6409"/>
                </a:lnTo>
                <a:lnTo>
                  <a:pt x="180213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9153237" y="4041122"/>
            <a:ext cx="480907" cy="479213"/>
          </a:xfrm>
          <a:custGeom>
            <a:avLst/>
            <a:gdLst/>
            <a:ahLst/>
            <a:cxnLst/>
            <a:rect l="l" t="t" r="r" b="b"/>
            <a:pathLst>
              <a:path w="360679" h="359410">
                <a:moveTo>
                  <a:pt x="0" y="179450"/>
                </a:moveTo>
                <a:lnTo>
                  <a:pt x="6437" y="131744"/>
                </a:lnTo>
                <a:lnTo>
                  <a:pt x="24604" y="88877"/>
                </a:lnTo>
                <a:lnTo>
                  <a:pt x="52782" y="52558"/>
                </a:lnTo>
                <a:lnTo>
                  <a:pt x="89255" y="24499"/>
                </a:lnTo>
                <a:lnTo>
                  <a:pt x="132304" y="6409"/>
                </a:lnTo>
                <a:lnTo>
                  <a:pt x="180213" y="0"/>
                </a:lnTo>
                <a:lnTo>
                  <a:pt x="228121" y="6409"/>
                </a:lnTo>
                <a:lnTo>
                  <a:pt x="271170" y="24499"/>
                </a:lnTo>
                <a:lnTo>
                  <a:pt x="307643" y="52558"/>
                </a:lnTo>
                <a:lnTo>
                  <a:pt x="335821" y="88877"/>
                </a:lnTo>
                <a:lnTo>
                  <a:pt x="353988" y="131744"/>
                </a:lnTo>
                <a:lnTo>
                  <a:pt x="360426" y="179450"/>
                </a:lnTo>
                <a:lnTo>
                  <a:pt x="353988" y="227157"/>
                </a:lnTo>
                <a:lnTo>
                  <a:pt x="335821" y="270024"/>
                </a:lnTo>
                <a:lnTo>
                  <a:pt x="307643" y="306343"/>
                </a:lnTo>
                <a:lnTo>
                  <a:pt x="271170" y="334402"/>
                </a:lnTo>
                <a:lnTo>
                  <a:pt x="228121" y="352492"/>
                </a:lnTo>
                <a:lnTo>
                  <a:pt x="180213" y="358902"/>
                </a:lnTo>
                <a:lnTo>
                  <a:pt x="132304" y="352492"/>
                </a:lnTo>
                <a:lnTo>
                  <a:pt x="89255" y="334402"/>
                </a:lnTo>
                <a:lnTo>
                  <a:pt x="52782" y="306343"/>
                </a:lnTo>
                <a:lnTo>
                  <a:pt x="24604" y="270024"/>
                </a:lnTo>
                <a:lnTo>
                  <a:pt x="6437" y="227157"/>
                </a:lnTo>
                <a:lnTo>
                  <a:pt x="0" y="17945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8034622" y="4182347"/>
            <a:ext cx="480907" cy="481753"/>
          </a:xfrm>
          <a:custGeom>
            <a:avLst/>
            <a:gdLst/>
            <a:ahLst/>
            <a:cxnLst/>
            <a:rect l="l" t="t" r="r" b="b"/>
            <a:pathLst>
              <a:path w="360679" h="361314">
                <a:moveTo>
                  <a:pt x="180213" y="0"/>
                </a:moveTo>
                <a:lnTo>
                  <a:pt x="132304" y="6451"/>
                </a:lnTo>
                <a:lnTo>
                  <a:pt x="89255" y="24657"/>
                </a:lnTo>
                <a:lnTo>
                  <a:pt x="52782" y="52897"/>
                </a:lnTo>
                <a:lnTo>
                  <a:pt x="24604" y="89447"/>
                </a:lnTo>
                <a:lnTo>
                  <a:pt x="6437" y="132587"/>
                </a:lnTo>
                <a:lnTo>
                  <a:pt x="0" y="180594"/>
                </a:lnTo>
                <a:lnTo>
                  <a:pt x="6437" y="228600"/>
                </a:lnTo>
                <a:lnTo>
                  <a:pt x="24604" y="271740"/>
                </a:lnTo>
                <a:lnTo>
                  <a:pt x="52782" y="308290"/>
                </a:lnTo>
                <a:lnTo>
                  <a:pt x="89255" y="336530"/>
                </a:lnTo>
                <a:lnTo>
                  <a:pt x="132304" y="354736"/>
                </a:lnTo>
                <a:lnTo>
                  <a:pt x="180213" y="361188"/>
                </a:lnTo>
                <a:lnTo>
                  <a:pt x="228121" y="354736"/>
                </a:lnTo>
                <a:lnTo>
                  <a:pt x="271170" y="336530"/>
                </a:lnTo>
                <a:lnTo>
                  <a:pt x="307643" y="308290"/>
                </a:lnTo>
                <a:lnTo>
                  <a:pt x="335821" y="271740"/>
                </a:lnTo>
                <a:lnTo>
                  <a:pt x="353988" y="228600"/>
                </a:lnTo>
                <a:lnTo>
                  <a:pt x="360426" y="180594"/>
                </a:lnTo>
                <a:lnTo>
                  <a:pt x="353988" y="132587"/>
                </a:lnTo>
                <a:lnTo>
                  <a:pt x="335821" y="89447"/>
                </a:lnTo>
                <a:lnTo>
                  <a:pt x="307643" y="52897"/>
                </a:lnTo>
                <a:lnTo>
                  <a:pt x="271170" y="24657"/>
                </a:lnTo>
                <a:lnTo>
                  <a:pt x="228121" y="6451"/>
                </a:lnTo>
                <a:lnTo>
                  <a:pt x="180213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8034622" y="4182347"/>
            <a:ext cx="480907" cy="481753"/>
          </a:xfrm>
          <a:custGeom>
            <a:avLst/>
            <a:gdLst/>
            <a:ahLst/>
            <a:cxnLst/>
            <a:rect l="l" t="t" r="r" b="b"/>
            <a:pathLst>
              <a:path w="360679" h="361314">
                <a:moveTo>
                  <a:pt x="0" y="180594"/>
                </a:moveTo>
                <a:lnTo>
                  <a:pt x="6437" y="132587"/>
                </a:lnTo>
                <a:lnTo>
                  <a:pt x="24604" y="89447"/>
                </a:lnTo>
                <a:lnTo>
                  <a:pt x="52782" y="52897"/>
                </a:lnTo>
                <a:lnTo>
                  <a:pt x="89255" y="24657"/>
                </a:lnTo>
                <a:lnTo>
                  <a:pt x="132304" y="6451"/>
                </a:lnTo>
                <a:lnTo>
                  <a:pt x="180213" y="0"/>
                </a:lnTo>
                <a:lnTo>
                  <a:pt x="228121" y="6451"/>
                </a:lnTo>
                <a:lnTo>
                  <a:pt x="271170" y="24657"/>
                </a:lnTo>
                <a:lnTo>
                  <a:pt x="307643" y="52897"/>
                </a:lnTo>
                <a:lnTo>
                  <a:pt x="335821" y="89447"/>
                </a:lnTo>
                <a:lnTo>
                  <a:pt x="353988" y="132587"/>
                </a:lnTo>
                <a:lnTo>
                  <a:pt x="360426" y="180594"/>
                </a:lnTo>
                <a:lnTo>
                  <a:pt x="353988" y="228600"/>
                </a:lnTo>
                <a:lnTo>
                  <a:pt x="335821" y="271740"/>
                </a:lnTo>
                <a:lnTo>
                  <a:pt x="307643" y="308290"/>
                </a:lnTo>
                <a:lnTo>
                  <a:pt x="271170" y="336530"/>
                </a:lnTo>
                <a:lnTo>
                  <a:pt x="228121" y="354736"/>
                </a:lnTo>
                <a:lnTo>
                  <a:pt x="180213" y="361188"/>
                </a:lnTo>
                <a:lnTo>
                  <a:pt x="132304" y="354736"/>
                </a:lnTo>
                <a:lnTo>
                  <a:pt x="89255" y="336530"/>
                </a:lnTo>
                <a:lnTo>
                  <a:pt x="52782" y="308290"/>
                </a:lnTo>
                <a:lnTo>
                  <a:pt x="24604" y="271740"/>
                </a:lnTo>
                <a:lnTo>
                  <a:pt x="6437" y="228600"/>
                </a:lnTo>
                <a:lnTo>
                  <a:pt x="0" y="18059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356950" y="5298929"/>
            <a:ext cx="480907" cy="480060"/>
          </a:xfrm>
          <a:custGeom>
            <a:avLst/>
            <a:gdLst/>
            <a:ahLst/>
            <a:cxnLst/>
            <a:rect l="l" t="t" r="r" b="b"/>
            <a:pathLst>
              <a:path w="360679" h="360045">
                <a:moveTo>
                  <a:pt x="180213" y="0"/>
                </a:moveTo>
                <a:lnTo>
                  <a:pt x="132304" y="6424"/>
                </a:lnTo>
                <a:lnTo>
                  <a:pt x="89255" y="24553"/>
                </a:lnTo>
                <a:lnTo>
                  <a:pt x="52782" y="52673"/>
                </a:lnTo>
                <a:lnTo>
                  <a:pt x="24604" y="89069"/>
                </a:lnTo>
                <a:lnTo>
                  <a:pt x="6437" y="132027"/>
                </a:lnTo>
                <a:lnTo>
                  <a:pt x="0" y="179831"/>
                </a:lnTo>
                <a:lnTo>
                  <a:pt x="6437" y="227636"/>
                </a:lnTo>
                <a:lnTo>
                  <a:pt x="24604" y="270594"/>
                </a:lnTo>
                <a:lnTo>
                  <a:pt x="52782" y="306990"/>
                </a:lnTo>
                <a:lnTo>
                  <a:pt x="89255" y="335110"/>
                </a:lnTo>
                <a:lnTo>
                  <a:pt x="132304" y="353239"/>
                </a:lnTo>
                <a:lnTo>
                  <a:pt x="180213" y="359663"/>
                </a:lnTo>
                <a:lnTo>
                  <a:pt x="228121" y="353239"/>
                </a:lnTo>
                <a:lnTo>
                  <a:pt x="271170" y="335110"/>
                </a:lnTo>
                <a:lnTo>
                  <a:pt x="307643" y="306990"/>
                </a:lnTo>
                <a:lnTo>
                  <a:pt x="335821" y="270594"/>
                </a:lnTo>
                <a:lnTo>
                  <a:pt x="353988" y="227636"/>
                </a:lnTo>
                <a:lnTo>
                  <a:pt x="360426" y="179831"/>
                </a:lnTo>
                <a:lnTo>
                  <a:pt x="353988" y="132027"/>
                </a:lnTo>
                <a:lnTo>
                  <a:pt x="335821" y="89069"/>
                </a:lnTo>
                <a:lnTo>
                  <a:pt x="307643" y="52673"/>
                </a:lnTo>
                <a:lnTo>
                  <a:pt x="271170" y="24553"/>
                </a:lnTo>
                <a:lnTo>
                  <a:pt x="228121" y="6424"/>
                </a:lnTo>
                <a:lnTo>
                  <a:pt x="180213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7356950" y="5298929"/>
            <a:ext cx="480907" cy="480060"/>
          </a:xfrm>
          <a:custGeom>
            <a:avLst/>
            <a:gdLst/>
            <a:ahLst/>
            <a:cxnLst/>
            <a:rect l="l" t="t" r="r" b="b"/>
            <a:pathLst>
              <a:path w="360679" h="360045">
                <a:moveTo>
                  <a:pt x="0" y="179831"/>
                </a:moveTo>
                <a:lnTo>
                  <a:pt x="6437" y="132027"/>
                </a:lnTo>
                <a:lnTo>
                  <a:pt x="24604" y="89069"/>
                </a:lnTo>
                <a:lnTo>
                  <a:pt x="52782" y="52673"/>
                </a:lnTo>
                <a:lnTo>
                  <a:pt x="89255" y="24553"/>
                </a:lnTo>
                <a:lnTo>
                  <a:pt x="132304" y="6424"/>
                </a:lnTo>
                <a:lnTo>
                  <a:pt x="180213" y="0"/>
                </a:lnTo>
                <a:lnTo>
                  <a:pt x="228121" y="6424"/>
                </a:lnTo>
                <a:lnTo>
                  <a:pt x="271170" y="24553"/>
                </a:lnTo>
                <a:lnTo>
                  <a:pt x="307643" y="52673"/>
                </a:lnTo>
                <a:lnTo>
                  <a:pt x="335821" y="89069"/>
                </a:lnTo>
                <a:lnTo>
                  <a:pt x="353988" y="132027"/>
                </a:lnTo>
                <a:lnTo>
                  <a:pt x="360426" y="179831"/>
                </a:lnTo>
                <a:lnTo>
                  <a:pt x="353988" y="227636"/>
                </a:lnTo>
                <a:lnTo>
                  <a:pt x="335821" y="270594"/>
                </a:lnTo>
                <a:lnTo>
                  <a:pt x="307643" y="306990"/>
                </a:lnTo>
                <a:lnTo>
                  <a:pt x="271170" y="335110"/>
                </a:lnTo>
                <a:lnTo>
                  <a:pt x="228121" y="353239"/>
                </a:lnTo>
                <a:lnTo>
                  <a:pt x="180213" y="359663"/>
                </a:lnTo>
                <a:lnTo>
                  <a:pt x="132304" y="353239"/>
                </a:lnTo>
                <a:lnTo>
                  <a:pt x="89255" y="335110"/>
                </a:lnTo>
                <a:lnTo>
                  <a:pt x="52782" y="306990"/>
                </a:lnTo>
                <a:lnTo>
                  <a:pt x="24604" y="270594"/>
                </a:lnTo>
                <a:lnTo>
                  <a:pt x="6437" y="227636"/>
                </a:lnTo>
                <a:lnTo>
                  <a:pt x="0" y="179831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8816942" y="5209522"/>
            <a:ext cx="480907" cy="481753"/>
          </a:xfrm>
          <a:custGeom>
            <a:avLst/>
            <a:gdLst/>
            <a:ahLst/>
            <a:cxnLst/>
            <a:rect l="l" t="t" r="r" b="b"/>
            <a:pathLst>
              <a:path w="360679" h="361314">
                <a:moveTo>
                  <a:pt x="180213" y="0"/>
                </a:moveTo>
                <a:lnTo>
                  <a:pt x="132304" y="6450"/>
                </a:lnTo>
                <a:lnTo>
                  <a:pt x="89255" y="24654"/>
                </a:lnTo>
                <a:lnTo>
                  <a:pt x="52782" y="52892"/>
                </a:lnTo>
                <a:lnTo>
                  <a:pt x="24604" y="89441"/>
                </a:lnTo>
                <a:lnTo>
                  <a:pt x="6437" y="132582"/>
                </a:lnTo>
                <a:lnTo>
                  <a:pt x="0" y="180594"/>
                </a:lnTo>
                <a:lnTo>
                  <a:pt x="6437" y="228600"/>
                </a:lnTo>
                <a:lnTo>
                  <a:pt x="24604" y="271740"/>
                </a:lnTo>
                <a:lnTo>
                  <a:pt x="52782" y="308290"/>
                </a:lnTo>
                <a:lnTo>
                  <a:pt x="89255" y="336530"/>
                </a:lnTo>
                <a:lnTo>
                  <a:pt x="132304" y="354736"/>
                </a:lnTo>
                <a:lnTo>
                  <a:pt x="180213" y="361188"/>
                </a:lnTo>
                <a:lnTo>
                  <a:pt x="228121" y="354736"/>
                </a:lnTo>
                <a:lnTo>
                  <a:pt x="271170" y="336530"/>
                </a:lnTo>
                <a:lnTo>
                  <a:pt x="307643" y="308290"/>
                </a:lnTo>
                <a:lnTo>
                  <a:pt x="335821" y="271740"/>
                </a:lnTo>
                <a:lnTo>
                  <a:pt x="353988" y="228600"/>
                </a:lnTo>
                <a:lnTo>
                  <a:pt x="360426" y="180594"/>
                </a:lnTo>
                <a:lnTo>
                  <a:pt x="353988" y="132582"/>
                </a:lnTo>
                <a:lnTo>
                  <a:pt x="335821" y="89441"/>
                </a:lnTo>
                <a:lnTo>
                  <a:pt x="307643" y="52892"/>
                </a:lnTo>
                <a:lnTo>
                  <a:pt x="271170" y="24654"/>
                </a:lnTo>
                <a:lnTo>
                  <a:pt x="228121" y="6450"/>
                </a:lnTo>
                <a:lnTo>
                  <a:pt x="180213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8816942" y="5209522"/>
            <a:ext cx="480907" cy="481753"/>
          </a:xfrm>
          <a:custGeom>
            <a:avLst/>
            <a:gdLst/>
            <a:ahLst/>
            <a:cxnLst/>
            <a:rect l="l" t="t" r="r" b="b"/>
            <a:pathLst>
              <a:path w="360679" h="361314">
                <a:moveTo>
                  <a:pt x="0" y="180594"/>
                </a:moveTo>
                <a:lnTo>
                  <a:pt x="6437" y="132582"/>
                </a:lnTo>
                <a:lnTo>
                  <a:pt x="24604" y="89441"/>
                </a:lnTo>
                <a:lnTo>
                  <a:pt x="52782" y="52892"/>
                </a:lnTo>
                <a:lnTo>
                  <a:pt x="89255" y="24654"/>
                </a:lnTo>
                <a:lnTo>
                  <a:pt x="132304" y="6450"/>
                </a:lnTo>
                <a:lnTo>
                  <a:pt x="180213" y="0"/>
                </a:lnTo>
                <a:lnTo>
                  <a:pt x="228121" y="6450"/>
                </a:lnTo>
                <a:lnTo>
                  <a:pt x="271170" y="24654"/>
                </a:lnTo>
                <a:lnTo>
                  <a:pt x="307643" y="52892"/>
                </a:lnTo>
                <a:lnTo>
                  <a:pt x="335821" y="89441"/>
                </a:lnTo>
                <a:lnTo>
                  <a:pt x="353988" y="132582"/>
                </a:lnTo>
                <a:lnTo>
                  <a:pt x="360426" y="180594"/>
                </a:lnTo>
                <a:lnTo>
                  <a:pt x="353988" y="228600"/>
                </a:lnTo>
                <a:lnTo>
                  <a:pt x="335821" y="271740"/>
                </a:lnTo>
                <a:lnTo>
                  <a:pt x="307643" y="308290"/>
                </a:lnTo>
                <a:lnTo>
                  <a:pt x="271170" y="336530"/>
                </a:lnTo>
                <a:lnTo>
                  <a:pt x="228121" y="354736"/>
                </a:lnTo>
                <a:lnTo>
                  <a:pt x="180213" y="361188"/>
                </a:lnTo>
                <a:lnTo>
                  <a:pt x="132304" y="354736"/>
                </a:lnTo>
                <a:lnTo>
                  <a:pt x="89255" y="336530"/>
                </a:lnTo>
                <a:lnTo>
                  <a:pt x="52782" y="308290"/>
                </a:lnTo>
                <a:lnTo>
                  <a:pt x="24604" y="271740"/>
                </a:lnTo>
                <a:lnTo>
                  <a:pt x="6437" y="228600"/>
                </a:lnTo>
                <a:lnTo>
                  <a:pt x="0" y="18059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8938753" y="5175039"/>
            <a:ext cx="2370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10247" y="3672003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1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35588" y="3809296"/>
            <a:ext cx="1592580" cy="19766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743355" algn="l"/>
                <a:tab pos="1267427" algn="l"/>
              </a:tabLst>
            </a:pPr>
            <a:r>
              <a:rPr sz="4800" b="1" baseline="-26620" dirty="0">
                <a:latin typeface="Times New Roman"/>
                <a:cs typeface="Times New Roman"/>
              </a:rPr>
              <a:t>2</a:t>
            </a:r>
            <a:r>
              <a:rPr sz="3200" b="1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667" b="1" u="heavy" spc="-7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4800" b="1" baseline="-46296" dirty="0">
                <a:latin typeface="Times New Roman"/>
                <a:cs typeface="Times New Roman"/>
              </a:rPr>
              <a:t>3</a:t>
            </a:r>
            <a:endParaRPr sz="4800" baseline="-46296" dirty="0">
              <a:latin typeface="Times New Roman"/>
              <a:cs typeface="Times New Roman"/>
            </a:endParaRPr>
          </a:p>
          <a:p>
            <a:pPr marL="94824">
              <a:spcBef>
                <a:spcPts val="3893"/>
              </a:spcBef>
            </a:pPr>
            <a:r>
              <a:rPr sz="2667" b="1" spc="-7" dirty="0">
                <a:latin typeface="Times New Roman"/>
                <a:cs typeface="Times New Roman"/>
              </a:rPr>
              <a:t>3</a:t>
            </a:r>
            <a:endParaRPr sz="2667" dirty="0">
              <a:latin typeface="Times New Roman"/>
              <a:cs typeface="Times New Roman"/>
            </a:endParaRPr>
          </a:p>
          <a:p>
            <a:pPr marR="58419" algn="ctr">
              <a:spcBef>
                <a:spcPts val="513"/>
              </a:spcBef>
            </a:pPr>
            <a:r>
              <a:rPr sz="3200" b="1" dirty="0">
                <a:latin typeface="Times New Roman"/>
                <a:cs typeface="Times New Roman"/>
              </a:rPr>
              <a:t>5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49590" y="4588533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4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74741" y="4005614"/>
            <a:ext cx="379307" cy="12149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4</a:t>
            </a:r>
            <a:endParaRPr sz="3200" dirty="0">
              <a:latin typeface="Times New Roman"/>
              <a:cs typeface="Times New Roman"/>
            </a:endParaRPr>
          </a:p>
          <a:p>
            <a:pPr marL="192189">
              <a:spcBef>
                <a:spcPts val="2347"/>
              </a:spcBef>
            </a:pPr>
            <a:r>
              <a:rPr sz="2667" b="1" spc="-7" dirty="0">
                <a:latin typeface="Times New Roman"/>
                <a:cs typeface="Times New Roman"/>
              </a:rPr>
              <a:t>2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27770" y="3491466"/>
            <a:ext cx="738293" cy="750993"/>
          </a:xfrm>
          <a:custGeom>
            <a:avLst/>
            <a:gdLst/>
            <a:ahLst/>
            <a:cxnLst/>
            <a:rect l="l" t="t" r="r" b="b"/>
            <a:pathLst>
              <a:path w="553719" h="563245">
                <a:moveTo>
                  <a:pt x="553212" y="0"/>
                </a:moveTo>
                <a:lnTo>
                  <a:pt x="0" y="56311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2627618" y="4646657"/>
            <a:ext cx="508000" cy="810260"/>
          </a:xfrm>
          <a:custGeom>
            <a:avLst/>
            <a:gdLst/>
            <a:ahLst/>
            <a:cxnLst/>
            <a:rect l="l" t="t" r="r" b="b"/>
            <a:pathLst>
              <a:path w="381000" h="607695">
                <a:moveTo>
                  <a:pt x="0" y="0"/>
                </a:moveTo>
                <a:lnTo>
                  <a:pt x="381000" y="607313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3843771" y="3328907"/>
            <a:ext cx="60113" cy="1419860"/>
          </a:xfrm>
          <a:custGeom>
            <a:avLst/>
            <a:gdLst/>
            <a:ahLst/>
            <a:cxnLst/>
            <a:rect l="l" t="t" r="r" b="b"/>
            <a:pathLst>
              <a:path w="45084" h="1064895">
                <a:moveTo>
                  <a:pt x="0" y="0"/>
                </a:moveTo>
                <a:lnTo>
                  <a:pt x="44958" y="106451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3335771" y="4748257"/>
            <a:ext cx="405553" cy="708660"/>
          </a:xfrm>
          <a:custGeom>
            <a:avLst/>
            <a:gdLst/>
            <a:ahLst/>
            <a:cxnLst/>
            <a:rect l="l" t="t" r="r" b="b"/>
            <a:pathLst>
              <a:path w="304165" h="531495">
                <a:moveTo>
                  <a:pt x="304038" y="0"/>
                </a:moveTo>
                <a:lnTo>
                  <a:pt x="0" y="531113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4044938" y="4646657"/>
            <a:ext cx="508000" cy="709507"/>
          </a:xfrm>
          <a:custGeom>
            <a:avLst/>
            <a:gdLst/>
            <a:ahLst/>
            <a:cxnLst/>
            <a:rect l="l" t="t" r="r" b="b"/>
            <a:pathLst>
              <a:path w="381000" h="532129">
                <a:moveTo>
                  <a:pt x="0" y="0"/>
                </a:moveTo>
                <a:lnTo>
                  <a:pt x="381000" y="53187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442451" y="5628113"/>
            <a:ext cx="960120" cy="0"/>
          </a:xfrm>
          <a:custGeom>
            <a:avLst/>
            <a:gdLst/>
            <a:ahLst/>
            <a:cxnLst/>
            <a:rect l="l" t="t" r="r" b="b"/>
            <a:pathLst>
              <a:path w="720089">
                <a:moveTo>
                  <a:pt x="0" y="0"/>
                </a:moveTo>
                <a:lnTo>
                  <a:pt x="72009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4763250" y="4614146"/>
            <a:ext cx="204893" cy="607907"/>
          </a:xfrm>
          <a:custGeom>
            <a:avLst/>
            <a:gdLst/>
            <a:ahLst/>
            <a:cxnLst/>
            <a:rect l="l" t="t" r="r" b="b"/>
            <a:pathLst>
              <a:path w="153669" h="455929">
                <a:moveTo>
                  <a:pt x="153162" y="0"/>
                </a:moveTo>
                <a:lnTo>
                  <a:pt x="0" y="45567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4051034" y="3470130"/>
            <a:ext cx="812800" cy="668867"/>
          </a:xfrm>
          <a:custGeom>
            <a:avLst/>
            <a:gdLst/>
            <a:ahLst/>
            <a:cxnLst/>
            <a:rect l="l" t="t" r="r" b="b"/>
            <a:pathLst>
              <a:path w="609600" h="501650">
                <a:moveTo>
                  <a:pt x="0" y="0"/>
                </a:moveTo>
                <a:lnTo>
                  <a:pt x="609600" y="50139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3568434" y="3159234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80">
                <a:moveTo>
                  <a:pt x="179832" y="0"/>
                </a:moveTo>
                <a:lnTo>
                  <a:pt x="132027" y="6437"/>
                </a:lnTo>
                <a:lnTo>
                  <a:pt x="89069" y="24604"/>
                </a:lnTo>
                <a:lnTo>
                  <a:pt x="52673" y="52782"/>
                </a:lnTo>
                <a:lnTo>
                  <a:pt x="24553" y="89255"/>
                </a:lnTo>
                <a:lnTo>
                  <a:pt x="6424" y="132304"/>
                </a:lnTo>
                <a:lnTo>
                  <a:pt x="0" y="180212"/>
                </a:lnTo>
                <a:lnTo>
                  <a:pt x="6424" y="228121"/>
                </a:lnTo>
                <a:lnTo>
                  <a:pt x="24553" y="271170"/>
                </a:lnTo>
                <a:lnTo>
                  <a:pt x="52673" y="307643"/>
                </a:lnTo>
                <a:lnTo>
                  <a:pt x="89069" y="335821"/>
                </a:lnTo>
                <a:lnTo>
                  <a:pt x="132027" y="353988"/>
                </a:lnTo>
                <a:lnTo>
                  <a:pt x="179832" y="360425"/>
                </a:lnTo>
                <a:lnTo>
                  <a:pt x="227636" y="353988"/>
                </a:lnTo>
                <a:lnTo>
                  <a:pt x="270594" y="335821"/>
                </a:lnTo>
                <a:lnTo>
                  <a:pt x="306990" y="307643"/>
                </a:lnTo>
                <a:lnTo>
                  <a:pt x="335110" y="271170"/>
                </a:lnTo>
                <a:lnTo>
                  <a:pt x="353239" y="228121"/>
                </a:lnTo>
                <a:lnTo>
                  <a:pt x="359664" y="180212"/>
                </a:lnTo>
                <a:lnTo>
                  <a:pt x="353239" y="132304"/>
                </a:lnTo>
                <a:lnTo>
                  <a:pt x="335110" y="89255"/>
                </a:lnTo>
                <a:lnTo>
                  <a:pt x="306990" y="52782"/>
                </a:lnTo>
                <a:lnTo>
                  <a:pt x="270594" y="24604"/>
                </a:lnTo>
                <a:lnTo>
                  <a:pt x="227636" y="6437"/>
                </a:lnTo>
                <a:lnTo>
                  <a:pt x="179832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3568434" y="3159234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80">
                <a:moveTo>
                  <a:pt x="0" y="180212"/>
                </a:moveTo>
                <a:lnTo>
                  <a:pt x="6424" y="132304"/>
                </a:lnTo>
                <a:lnTo>
                  <a:pt x="24553" y="89255"/>
                </a:lnTo>
                <a:lnTo>
                  <a:pt x="52673" y="52782"/>
                </a:lnTo>
                <a:lnTo>
                  <a:pt x="89069" y="24604"/>
                </a:lnTo>
                <a:lnTo>
                  <a:pt x="132027" y="6437"/>
                </a:lnTo>
                <a:lnTo>
                  <a:pt x="179832" y="0"/>
                </a:lnTo>
                <a:lnTo>
                  <a:pt x="227636" y="6437"/>
                </a:lnTo>
                <a:lnTo>
                  <a:pt x="270594" y="24604"/>
                </a:lnTo>
                <a:lnTo>
                  <a:pt x="306990" y="52782"/>
                </a:lnTo>
                <a:lnTo>
                  <a:pt x="335110" y="89255"/>
                </a:lnTo>
                <a:lnTo>
                  <a:pt x="353239" y="132304"/>
                </a:lnTo>
                <a:lnTo>
                  <a:pt x="359664" y="180212"/>
                </a:lnTo>
                <a:lnTo>
                  <a:pt x="353239" y="228121"/>
                </a:lnTo>
                <a:lnTo>
                  <a:pt x="335110" y="271170"/>
                </a:lnTo>
                <a:lnTo>
                  <a:pt x="306990" y="307643"/>
                </a:lnTo>
                <a:lnTo>
                  <a:pt x="270594" y="335821"/>
                </a:lnTo>
                <a:lnTo>
                  <a:pt x="227636" y="353988"/>
                </a:lnTo>
                <a:lnTo>
                  <a:pt x="179832" y="360425"/>
                </a:lnTo>
                <a:lnTo>
                  <a:pt x="132027" y="353988"/>
                </a:lnTo>
                <a:lnTo>
                  <a:pt x="89069" y="335821"/>
                </a:lnTo>
                <a:lnTo>
                  <a:pt x="52673" y="307643"/>
                </a:lnTo>
                <a:lnTo>
                  <a:pt x="24553" y="271170"/>
                </a:lnTo>
                <a:lnTo>
                  <a:pt x="6424" y="228121"/>
                </a:lnTo>
                <a:lnTo>
                  <a:pt x="0" y="18021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 txBox="1"/>
          <p:nvPr/>
        </p:nvSpPr>
        <p:spPr>
          <a:xfrm>
            <a:off x="3689706" y="3124342"/>
            <a:ext cx="2370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354316" y="4133577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179832" y="0"/>
                </a:moveTo>
                <a:lnTo>
                  <a:pt x="132027" y="6437"/>
                </a:lnTo>
                <a:lnTo>
                  <a:pt x="89069" y="24604"/>
                </a:lnTo>
                <a:lnTo>
                  <a:pt x="52673" y="52782"/>
                </a:lnTo>
                <a:lnTo>
                  <a:pt x="24553" y="89255"/>
                </a:lnTo>
                <a:lnTo>
                  <a:pt x="6424" y="132304"/>
                </a:lnTo>
                <a:lnTo>
                  <a:pt x="0" y="180212"/>
                </a:lnTo>
                <a:lnTo>
                  <a:pt x="6424" y="228121"/>
                </a:lnTo>
                <a:lnTo>
                  <a:pt x="24553" y="271170"/>
                </a:lnTo>
                <a:lnTo>
                  <a:pt x="52673" y="307643"/>
                </a:lnTo>
                <a:lnTo>
                  <a:pt x="89069" y="335821"/>
                </a:lnTo>
                <a:lnTo>
                  <a:pt x="132027" y="353988"/>
                </a:lnTo>
                <a:lnTo>
                  <a:pt x="179832" y="360425"/>
                </a:lnTo>
                <a:lnTo>
                  <a:pt x="227636" y="353988"/>
                </a:lnTo>
                <a:lnTo>
                  <a:pt x="270594" y="335821"/>
                </a:lnTo>
                <a:lnTo>
                  <a:pt x="306990" y="307643"/>
                </a:lnTo>
                <a:lnTo>
                  <a:pt x="335110" y="271170"/>
                </a:lnTo>
                <a:lnTo>
                  <a:pt x="353239" y="228121"/>
                </a:lnTo>
                <a:lnTo>
                  <a:pt x="359664" y="180212"/>
                </a:lnTo>
                <a:lnTo>
                  <a:pt x="353239" y="132304"/>
                </a:lnTo>
                <a:lnTo>
                  <a:pt x="335110" y="89255"/>
                </a:lnTo>
                <a:lnTo>
                  <a:pt x="306990" y="52782"/>
                </a:lnTo>
                <a:lnTo>
                  <a:pt x="270594" y="24604"/>
                </a:lnTo>
                <a:lnTo>
                  <a:pt x="227636" y="6437"/>
                </a:lnTo>
                <a:lnTo>
                  <a:pt x="179832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2354316" y="4133577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0" y="180212"/>
                </a:moveTo>
                <a:lnTo>
                  <a:pt x="6424" y="132304"/>
                </a:lnTo>
                <a:lnTo>
                  <a:pt x="24553" y="89255"/>
                </a:lnTo>
                <a:lnTo>
                  <a:pt x="52673" y="52782"/>
                </a:lnTo>
                <a:lnTo>
                  <a:pt x="89069" y="24604"/>
                </a:lnTo>
                <a:lnTo>
                  <a:pt x="132027" y="6437"/>
                </a:lnTo>
                <a:lnTo>
                  <a:pt x="179832" y="0"/>
                </a:lnTo>
                <a:lnTo>
                  <a:pt x="227636" y="6437"/>
                </a:lnTo>
                <a:lnTo>
                  <a:pt x="270594" y="24604"/>
                </a:lnTo>
                <a:lnTo>
                  <a:pt x="306990" y="52782"/>
                </a:lnTo>
                <a:lnTo>
                  <a:pt x="335110" y="89255"/>
                </a:lnTo>
                <a:lnTo>
                  <a:pt x="353239" y="132304"/>
                </a:lnTo>
                <a:lnTo>
                  <a:pt x="359664" y="180212"/>
                </a:lnTo>
                <a:lnTo>
                  <a:pt x="353239" y="228121"/>
                </a:lnTo>
                <a:lnTo>
                  <a:pt x="335110" y="271170"/>
                </a:lnTo>
                <a:lnTo>
                  <a:pt x="306990" y="307643"/>
                </a:lnTo>
                <a:lnTo>
                  <a:pt x="270594" y="335821"/>
                </a:lnTo>
                <a:lnTo>
                  <a:pt x="227636" y="353988"/>
                </a:lnTo>
                <a:lnTo>
                  <a:pt x="179832" y="360425"/>
                </a:lnTo>
                <a:lnTo>
                  <a:pt x="132027" y="353988"/>
                </a:lnTo>
                <a:lnTo>
                  <a:pt x="89069" y="335821"/>
                </a:lnTo>
                <a:lnTo>
                  <a:pt x="52673" y="307643"/>
                </a:lnTo>
                <a:lnTo>
                  <a:pt x="24553" y="271170"/>
                </a:lnTo>
                <a:lnTo>
                  <a:pt x="6424" y="228121"/>
                </a:lnTo>
                <a:lnTo>
                  <a:pt x="0" y="18021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4757154" y="4133577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179832" y="0"/>
                </a:moveTo>
                <a:lnTo>
                  <a:pt x="132027" y="6437"/>
                </a:lnTo>
                <a:lnTo>
                  <a:pt x="89069" y="24604"/>
                </a:lnTo>
                <a:lnTo>
                  <a:pt x="52673" y="52782"/>
                </a:lnTo>
                <a:lnTo>
                  <a:pt x="24553" y="89255"/>
                </a:lnTo>
                <a:lnTo>
                  <a:pt x="6424" y="132304"/>
                </a:lnTo>
                <a:lnTo>
                  <a:pt x="0" y="180212"/>
                </a:lnTo>
                <a:lnTo>
                  <a:pt x="6424" y="228121"/>
                </a:lnTo>
                <a:lnTo>
                  <a:pt x="24553" y="271170"/>
                </a:lnTo>
                <a:lnTo>
                  <a:pt x="52673" y="307643"/>
                </a:lnTo>
                <a:lnTo>
                  <a:pt x="89069" y="335821"/>
                </a:lnTo>
                <a:lnTo>
                  <a:pt x="132027" y="353988"/>
                </a:lnTo>
                <a:lnTo>
                  <a:pt x="179832" y="360425"/>
                </a:lnTo>
                <a:lnTo>
                  <a:pt x="227636" y="353988"/>
                </a:lnTo>
                <a:lnTo>
                  <a:pt x="270594" y="335821"/>
                </a:lnTo>
                <a:lnTo>
                  <a:pt x="306990" y="307643"/>
                </a:lnTo>
                <a:lnTo>
                  <a:pt x="335110" y="271170"/>
                </a:lnTo>
                <a:lnTo>
                  <a:pt x="353239" y="228121"/>
                </a:lnTo>
                <a:lnTo>
                  <a:pt x="359664" y="180212"/>
                </a:lnTo>
                <a:lnTo>
                  <a:pt x="353239" y="132304"/>
                </a:lnTo>
                <a:lnTo>
                  <a:pt x="335110" y="89255"/>
                </a:lnTo>
                <a:lnTo>
                  <a:pt x="306990" y="52782"/>
                </a:lnTo>
                <a:lnTo>
                  <a:pt x="270594" y="24604"/>
                </a:lnTo>
                <a:lnTo>
                  <a:pt x="227636" y="6437"/>
                </a:lnTo>
                <a:lnTo>
                  <a:pt x="179832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4757154" y="4133577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0" y="180212"/>
                </a:moveTo>
                <a:lnTo>
                  <a:pt x="6424" y="132304"/>
                </a:lnTo>
                <a:lnTo>
                  <a:pt x="24553" y="89255"/>
                </a:lnTo>
                <a:lnTo>
                  <a:pt x="52673" y="52782"/>
                </a:lnTo>
                <a:lnTo>
                  <a:pt x="89069" y="24604"/>
                </a:lnTo>
                <a:lnTo>
                  <a:pt x="132027" y="6437"/>
                </a:lnTo>
                <a:lnTo>
                  <a:pt x="179832" y="0"/>
                </a:lnTo>
                <a:lnTo>
                  <a:pt x="227636" y="6437"/>
                </a:lnTo>
                <a:lnTo>
                  <a:pt x="270594" y="24604"/>
                </a:lnTo>
                <a:lnTo>
                  <a:pt x="306990" y="52782"/>
                </a:lnTo>
                <a:lnTo>
                  <a:pt x="335110" y="89255"/>
                </a:lnTo>
                <a:lnTo>
                  <a:pt x="353239" y="132304"/>
                </a:lnTo>
                <a:lnTo>
                  <a:pt x="359664" y="180212"/>
                </a:lnTo>
                <a:lnTo>
                  <a:pt x="353239" y="228121"/>
                </a:lnTo>
                <a:lnTo>
                  <a:pt x="335110" y="271170"/>
                </a:lnTo>
                <a:lnTo>
                  <a:pt x="306990" y="307643"/>
                </a:lnTo>
                <a:lnTo>
                  <a:pt x="270594" y="335821"/>
                </a:lnTo>
                <a:lnTo>
                  <a:pt x="227636" y="353988"/>
                </a:lnTo>
                <a:lnTo>
                  <a:pt x="179832" y="360425"/>
                </a:lnTo>
                <a:lnTo>
                  <a:pt x="132027" y="353988"/>
                </a:lnTo>
                <a:lnTo>
                  <a:pt x="89069" y="335821"/>
                </a:lnTo>
                <a:lnTo>
                  <a:pt x="52673" y="307643"/>
                </a:lnTo>
                <a:lnTo>
                  <a:pt x="24553" y="271170"/>
                </a:lnTo>
                <a:lnTo>
                  <a:pt x="6424" y="228121"/>
                </a:lnTo>
                <a:lnTo>
                  <a:pt x="0" y="18021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3659232" y="4312126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179832" y="0"/>
                </a:moveTo>
                <a:lnTo>
                  <a:pt x="132027" y="6437"/>
                </a:lnTo>
                <a:lnTo>
                  <a:pt x="89069" y="24604"/>
                </a:lnTo>
                <a:lnTo>
                  <a:pt x="52673" y="52782"/>
                </a:lnTo>
                <a:lnTo>
                  <a:pt x="24553" y="89255"/>
                </a:lnTo>
                <a:lnTo>
                  <a:pt x="6424" y="132304"/>
                </a:lnTo>
                <a:lnTo>
                  <a:pt x="0" y="180212"/>
                </a:lnTo>
                <a:lnTo>
                  <a:pt x="6424" y="228121"/>
                </a:lnTo>
                <a:lnTo>
                  <a:pt x="24553" y="271170"/>
                </a:lnTo>
                <a:lnTo>
                  <a:pt x="52673" y="307643"/>
                </a:lnTo>
                <a:lnTo>
                  <a:pt x="89069" y="335821"/>
                </a:lnTo>
                <a:lnTo>
                  <a:pt x="132027" y="353988"/>
                </a:lnTo>
                <a:lnTo>
                  <a:pt x="179832" y="360425"/>
                </a:lnTo>
                <a:lnTo>
                  <a:pt x="227636" y="353988"/>
                </a:lnTo>
                <a:lnTo>
                  <a:pt x="270594" y="335821"/>
                </a:lnTo>
                <a:lnTo>
                  <a:pt x="306990" y="307643"/>
                </a:lnTo>
                <a:lnTo>
                  <a:pt x="335110" y="271170"/>
                </a:lnTo>
                <a:lnTo>
                  <a:pt x="353239" y="228121"/>
                </a:lnTo>
                <a:lnTo>
                  <a:pt x="359664" y="180212"/>
                </a:lnTo>
                <a:lnTo>
                  <a:pt x="353239" y="132304"/>
                </a:lnTo>
                <a:lnTo>
                  <a:pt x="335110" y="89255"/>
                </a:lnTo>
                <a:lnTo>
                  <a:pt x="306990" y="52782"/>
                </a:lnTo>
                <a:lnTo>
                  <a:pt x="270594" y="24604"/>
                </a:lnTo>
                <a:lnTo>
                  <a:pt x="227636" y="6437"/>
                </a:lnTo>
                <a:lnTo>
                  <a:pt x="179832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3640570" y="4274802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0" y="180212"/>
                </a:moveTo>
                <a:lnTo>
                  <a:pt x="6424" y="132304"/>
                </a:lnTo>
                <a:lnTo>
                  <a:pt x="24553" y="89255"/>
                </a:lnTo>
                <a:lnTo>
                  <a:pt x="52673" y="52782"/>
                </a:lnTo>
                <a:lnTo>
                  <a:pt x="89069" y="24604"/>
                </a:lnTo>
                <a:lnTo>
                  <a:pt x="132027" y="6437"/>
                </a:lnTo>
                <a:lnTo>
                  <a:pt x="179832" y="0"/>
                </a:lnTo>
                <a:lnTo>
                  <a:pt x="227636" y="6437"/>
                </a:lnTo>
                <a:lnTo>
                  <a:pt x="270594" y="24604"/>
                </a:lnTo>
                <a:lnTo>
                  <a:pt x="306990" y="52782"/>
                </a:lnTo>
                <a:lnTo>
                  <a:pt x="335110" y="89255"/>
                </a:lnTo>
                <a:lnTo>
                  <a:pt x="353239" y="132304"/>
                </a:lnTo>
                <a:lnTo>
                  <a:pt x="359664" y="180212"/>
                </a:lnTo>
                <a:lnTo>
                  <a:pt x="353239" y="228121"/>
                </a:lnTo>
                <a:lnTo>
                  <a:pt x="335110" y="271170"/>
                </a:lnTo>
                <a:lnTo>
                  <a:pt x="306990" y="307643"/>
                </a:lnTo>
                <a:lnTo>
                  <a:pt x="270594" y="335821"/>
                </a:lnTo>
                <a:lnTo>
                  <a:pt x="227636" y="353988"/>
                </a:lnTo>
                <a:lnTo>
                  <a:pt x="179832" y="360425"/>
                </a:lnTo>
                <a:lnTo>
                  <a:pt x="132027" y="353988"/>
                </a:lnTo>
                <a:lnTo>
                  <a:pt x="89069" y="335821"/>
                </a:lnTo>
                <a:lnTo>
                  <a:pt x="52673" y="307643"/>
                </a:lnTo>
                <a:lnTo>
                  <a:pt x="24553" y="271170"/>
                </a:lnTo>
                <a:lnTo>
                  <a:pt x="6424" y="228121"/>
                </a:lnTo>
                <a:lnTo>
                  <a:pt x="0" y="18021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2962900" y="5388338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179832" y="0"/>
                </a:moveTo>
                <a:lnTo>
                  <a:pt x="132027" y="6437"/>
                </a:lnTo>
                <a:lnTo>
                  <a:pt x="89069" y="24604"/>
                </a:lnTo>
                <a:lnTo>
                  <a:pt x="52673" y="52782"/>
                </a:lnTo>
                <a:lnTo>
                  <a:pt x="24553" y="89255"/>
                </a:lnTo>
                <a:lnTo>
                  <a:pt x="6424" y="132304"/>
                </a:lnTo>
                <a:lnTo>
                  <a:pt x="0" y="180213"/>
                </a:lnTo>
                <a:lnTo>
                  <a:pt x="6424" y="228121"/>
                </a:lnTo>
                <a:lnTo>
                  <a:pt x="24553" y="271170"/>
                </a:lnTo>
                <a:lnTo>
                  <a:pt x="52673" y="307643"/>
                </a:lnTo>
                <a:lnTo>
                  <a:pt x="89069" y="335821"/>
                </a:lnTo>
                <a:lnTo>
                  <a:pt x="132027" y="353988"/>
                </a:lnTo>
                <a:lnTo>
                  <a:pt x="179832" y="360426"/>
                </a:lnTo>
                <a:lnTo>
                  <a:pt x="227636" y="353988"/>
                </a:lnTo>
                <a:lnTo>
                  <a:pt x="270594" y="335821"/>
                </a:lnTo>
                <a:lnTo>
                  <a:pt x="306990" y="307643"/>
                </a:lnTo>
                <a:lnTo>
                  <a:pt x="335110" y="271170"/>
                </a:lnTo>
                <a:lnTo>
                  <a:pt x="353239" y="228121"/>
                </a:lnTo>
                <a:lnTo>
                  <a:pt x="359664" y="180213"/>
                </a:lnTo>
                <a:lnTo>
                  <a:pt x="353239" y="132304"/>
                </a:lnTo>
                <a:lnTo>
                  <a:pt x="335110" y="89255"/>
                </a:lnTo>
                <a:lnTo>
                  <a:pt x="306990" y="52782"/>
                </a:lnTo>
                <a:lnTo>
                  <a:pt x="270594" y="24604"/>
                </a:lnTo>
                <a:lnTo>
                  <a:pt x="227636" y="6437"/>
                </a:lnTo>
                <a:lnTo>
                  <a:pt x="179832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2962900" y="5388338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0" y="180213"/>
                </a:moveTo>
                <a:lnTo>
                  <a:pt x="6424" y="132304"/>
                </a:lnTo>
                <a:lnTo>
                  <a:pt x="24553" y="89255"/>
                </a:lnTo>
                <a:lnTo>
                  <a:pt x="52673" y="52782"/>
                </a:lnTo>
                <a:lnTo>
                  <a:pt x="89069" y="24604"/>
                </a:lnTo>
                <a:lnTo>
                  <a:pt x="132027" y="6437"/>
                </a:lnTo>
                <a:lnTo>
                  <a:pt x="179832" y="0"/>
                </a:lnTo>
                <a:lnTo>
                  <a:pt x="227636" y="6437"/>
                </a:lnTo>
                <a:lnTo>
                  <a:pt x="270594" y="24604"/>
                </a:lnTo>
                <a:lnTo>
                  <a:pt x="306990" y="52782"/>
                </a:lnTo>
                <a:lnTo>
                  <a:pt x="335110" y="89255"/>
                </a:lnTo>
                <a:lnTo>
                  <a:pt x="353239" y="132304"/>
                </a:lnTo>
                <a:lnTo>
                  <a:pt x="359664" y="180213"/>
                </a:lnTo>
                <a:lnTo>
                  <a:pt x="353239" y="228121"/>
                </a:lnTo>
                <a:lnTo>
                  <a:pt x="335110" y="271170"/>
                </a:lnTo>
                <a:lnTo>
                  <a:pt x="306990" y="307643"/>
                </a:lnTo>
                <a:lnTo>
                  <a:pt x="270594" y="335821"/>
                </a:lnTo>
                <a:lnTo>
                  <a:pt x="227636" y="353988"/>
                </a:lnTo>
                <a:lnTo>
                  <a:pt x="179832" y="360426"/>
                </a:lnTo>
                <a:lnTo>
                  <a:pt x="132027" y="353988"/>
                </a:lnTo>
                <a:lnTo>
                  <a:pt x="89069" y="335821"/>
                </a:lnTo>
                <a:lnTo>
                  <a:pt x="52673" y="307643"/>
                </a:lnTo>
                <a:lnTo>
                  <a:pt x="24553" y="271170"/>
                </a:lnTo>
                <a:lnTo>
                  <a:pt x="6424" y="228121"/>
                </a:lnTo>
                <a:lnTo>
                  <a:pt x="0" y="180213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 txBox="1"/>
          <p:nvPr/>
        </p:nvSpPr>
        <p:spPr>
          <a:xfrm>
            <a:off x="3084331" y="5353546"/>
            <a:ext cx="2370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421876" y="5300962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179832" y="0"/>
                </a:moveTo>
                <a:lnTo>
                  <a:pt x="132027" y="6437"/>
                </a:lnTo>
                <a:lnTo>
                  <a:pt x="89069" y="24604"/>
                </a:lnTo>
                <a:lnTo>
                  <a:pt x="52673" y="52782"/>
                </a:lnTo>
                <a:lnTo>
                  <a:pt x="24553" y="89255"/>
                </a:lnTo>
                <a:lnTo>
                  <a:pt x="6424" y="132304"/>
                </a:lnTo>
                <a:lnTo>
                  <a:pt x="0" y="180212"/>
                </a:lnTo>
                <a:lnTo>
                  <a:pt x="6424" y="228121"/>
                </a:lnTo>
                <a:lnTo>
                  <a:pt x="24553" y="271170"/>
                </a:lnTo>
                <a:lnTo>
                  <a:pt x="52673" y="307643"/>
                </a:lnTo>
                <a:lnTo>
                  <a:pt x="89069" y="335821"/>
                </a:lnTo>
                <a:lnTo>
                  <a:pt x="132027" y="353988"/>
                </a:lnTo>
                <a:lnTo>
                  <a:pt x="179832" y="360425"/>
                </a:lnTo>
                <a:lnTo>
                  <a:pt x="227636" y="353988"/>
                </a:lnTo>
                <a:lnTo>
                  <a:pt x="270594" y="335821"/>
                </a:lnTo>
                <a:lnTo>
                  <a:pt x="306990" y="307643"/>
                </a:lnTo>
                <a:lnTo>
                  <a:pt x="335110" y="271170"/>
                </a:lnTo>
                <a:lnTo>
                  <a:pt x="353239" y="228121"/>
                </a:lnTo>
                <a:lnTo>
                  <a:pt x="359664" y="180212"/>
                </a:lnTo>
                <a:lnTo>
                  <a:pt x="353239" y="132304"/>
                </a:lnTo>
                <a:lnTo>
                  <a:pt x="335110" y="89255"/>
                </a:lnTo>
                <a:lnTo>
                  <a:pt x="306990" y="52782"/>
                </a:lnTo>
                <a:lnTo>
                  <a:pt x="270594" y="24604"/>
                </a:lnTo>
                <a:lnTo>
                  <a:pt x="227636" y="6437"/>
                </a:lnTo>
                <a:lnTo>
                  <a:pt x="179832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4421876" y="5300962"/>
            <a:ext cx="480060" cy="480907"/>
          </a:xfrm>
          <a:custGeom>
            <a:avLst/>
            <a:gdLst/>
            <a:ahLst/>
            <a:cxnLst/>
            <a:rect l="l" t="t" r="r" b="b"/>
            <a:pathLst>
              <a:path w="360044" h="360679">
                <a:moveTo>
                  <a:pt x="0" y="180212"/>
                </a:moveTo>
                <a:lnTo>
                  <a:pt x="6424" y="132304"/>
                </a:lnTo>
                <a:lnTo>
                  <a:pt x="24553" y="89255"/>
                </a:lnTo>
                <a:lnTo>
                  <a:pt x="52673" y="52782"/>
                </a:lnTo>
                <a:lnTo>
                  <a:pt x="89069" y="24604"/>
                </a:lnTo>
                <a:lnTo>
                  <a:pt x="132027" y="6437"/>
                </a:lnTo>
                <a:lnTo>
                  <a:pt x="179832" y="0"/>
                </a:lnTo>
                <a:lnTo>
                  <a:pt x="227636" y="6437"/>
                </a:lnTo>
                <a:lnTo>
                  <a:pt x="270594" y="24604"/>
                </a:lnTo>
                <a:lnTo>
                  <a:pt x="306990" y="52782"/>
                </a:lnTo>
                <a:lnTo>
                  <a:pt x="335110" y="89255"/>
                </a:lnTo>
                <a:lnTo>
                  <a:pt x="353239" y="132304"/>
                </a:lnTo>
                <a:lnTo>
                  <a:pt x="359664" y="180212"/>
                </a:lnTo>
                <a:lnTo>
                  <a:pt x="353239" y="228121"/>
                </a:lnTo>
                <a:lnTo>
                  <a:pt x="335110" y="271170"/>
                </a:lnTo>
                <a:lnTo>
                  <a:pt x="306990" y="307643"/>
                </a:lnTo>
                <a:lnTo>
                  <a:pt x="270594" y="335821"/>
                </a:lnTo>
                <a:lnTo>
                  <a:pt x="227636" y="353988"/>
                </a:lnTo>
                <a:lnTo>
                  <a:pt x="179832" y="360425"/>
                </a:lnTo>
                <a:lnTo>
                  <a:pt x="132027" y="353988"/>
                </a:lnTo>
                <a:lnTo>
                  <a:pt x="89069" y="335821"/>
                </a:lnTo>
                <a:lnTo>
                  <a:pt x="52673" y="307643"/>
                </a:lnTo>
                <a:lnTo>
                  <a:pt x="24553" y="271170"/>
                </a:lnTo>
                <a:lnTo>
                  <a:pt x="6424" y="228121"/>
                </a:lnTo>
                <a:lnTo>
                  <a:pt x="0" y="18021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 txBox="1"/>
          <p:nvPr/>
        </p:nvSpPr>
        <p:spPr>
          <a:xfrm>
            <a:off x="4542875" y="5266448"/>
            <a:ext cx="2370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35450" y="3470647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6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20612" y="3774127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1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63630" y="3396004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5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23172" y="4893994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3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871748" y="5604821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6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41952" y="3911421"/>
            <a:ext cx="270764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747588" algn="l"/>
                <a:tab pos="1267427" algn="l"/>
                <a:tab pos="2415480" algn="l"/>
              </a:tabLst>
            </a:pPr>
            <a:r>
              <a:rPr sz="4800" b="1" baseline="-25462" dirty="0">
                <a:latin typeface="Times New Roman"/>
                <a:cs typeface="Times New Roman"/>
              </a:rPr>
              <a:t>2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667" b="1" u="heavy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4800" b="1" baseline="-45138" dirty="0">
                <a:latin typeface="Times New Roman"/>
                <a:cs typeface="Times New Roman"/>
              </a:rPr>
              <a:t>3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70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67" b="1" u="heavy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	</a:t>
            </a:r>
            <a:r>
              <a:rPr sz="4800" b="1" baseline="-25462" dirty="0">
                <a:latin typeface="Times New Roman"/>
                <a:cs typeface="Times New Roman"/>
              </a:rPr>
              <a:t>4</a:t>
            </a:r>
            <a:endParaRPr sz="4800" baseline="-25462" dirty="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75614" y="4690319"/>
            <a:ext cx="128778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tabLst>
                <a:tab pos="1100639" algn="l"/>
              </a:tabLst>
            </a:pPr>
            <a:r>
              <a:rPr sz="2667" b="1" spc="-7" dirty="0">
                <a:latin typeface="Times New Roman"/>
                <a:cs typeface="Times New Roman"/>
              </a:rPr>
              <a:t>6	4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978134" y="4743601"/>
            <a:ext cx="2032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2</a:t>
            </a:r>
            <a:endParaRPr sz="2667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1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834" y="393350"/>
            <a:ext cx="7070104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生成树的性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986" y="1228683"/>
            <a:ext cx="11085027" cy="2489570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2800" b="1" i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9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阶连通图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么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4345">
              <a:lnSpc>
                <a:spcPct val="150000"/>
              </a:lnSpc>
              <a:buFont typeface="+mj-ea"/>
              <a:buAutoNum type="circleNumDbPlain"/>
              <a:tabLst>
                <a:tab pos="694249" algn="l"/>
                <a:tab pos="695095" algn="l"/>
              </a:tabLst>
            </a:pP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spc="-5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sz="2800" b="1" spc="-2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的生成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树当且仅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圈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spc="-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n－1条边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773">
              <a:lnSpc>
                <a:spcPct val="150000"/>
              </a:lnSpc>
              <a:buFont typeface="+mj-ea"/>
              <a:buAutoNum type="circleNumDbPlain"/>
              <a:tabLst>
                <a:tab pos="593497" algn="l"/>
              </a:tabLst>
            </a:pP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果</a:t>
            </a:r>
            <a:r>
              <a:rPr 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82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spc="-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sz="2800" b="1" spc="-8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sz="2800" b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的生成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，e</a:t>
            </a:r>
            <a:r>
              <a:rPr sz="2800" b="1" spc="-7" dirty="0" err="1">
                <a:latin typeface="Symbol"/>
                <a:cs typeface="Symbol"/>
              </a:rPr>
              <a:t>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T，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sz="2800" b="1" spc="-82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spc="-7" dirty="0">
                <a:latin typeface="Symbol"/>
                <a:cs typeface="Symbol"/>
              </a:rPr>
              <a:t>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}含有一个圈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sz="2800" b="1" spc="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回路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).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773">
              <a:lnSpc>
                <a:spcPct val="150000"/>
              </a:lnSpc>
              <a:buFont typeface="+mj-ea"/>
              <a:buAutoNum type="circleNumDbPlain"/>
              <a:tabLst>
                <a:tab pos="593497" algn="l"/>
              </a:tabLst>
            </a:pPr>
            <a:r>
              <a:rPr lang="zh-CN" altLang="en-US" sz="2800" b="1" spc="-7" dirty="0" smtClean="0">
                <a:latin typeface="宋体"/>
                <a:cs typeface="宋体"/>
              </a:rPr>
              <a:t>去掉</a:t>
            </a:r>
            <a:r>
              <a:rPr lang="zh-CN" altLang="en-US" sz="2800" b="1" spc="-7" dirty="0">
                <a:latin typeface="宋体"/>
                <a:cs typeface="宋体"/>
              </a:rPr>
              <a:t>圈</a:t>
            </a:r>
            <a:r>
              <a:rPr lang="en-US" altLang="zh-CN" sz="2800" b="1" i="1" dirty="0">
                <a:latin typeface="Times New Roman"/>
                <a:cs typeface="Times New Roman"/>
              </a:rPr>
              <a:t>C</a:t>
            </a:r>
            <a:r>
              <a:rPr lang="zh-CN" altLang="en-US" sz="2800" b="1" spc="-7" dirty="0">
                <a:latin typeface="宋体"/>
                <a:cs typeface="宋体"/>
              </a:rPr>
              <a:t>的</a:t>
            </a:r>
            <a:r>
              <a:rPr lang="zh-CN" altLang="en-US" sz="2800" b="1" dirty="0">
                <a:latin typeface="宋体"/>
                <a:cs typeface="宋体"/>
              </a:rPr>
              <a:t>任意一条边，就得到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G  </a:t>
            </a:r>
            <a:r>
              <a:rPr lang="zh-CN" altLang="en-US" sz="2800" b="1" spc="-7" dirty="0">
                <a:latin typeface="宋体"/>
                <a:cs typeface="宋体"/>
              </a:rPr>
              <a:t>的另外一</a:t>
            </a:r>
            <a:r>
              <a:rPr lang="zh-CN" altLang="en-US" sz="2800" b="1" dirty="0">
                <a:latin typeface="宋体"/>
                <a:cs typeface="宋体"/>
              </a:rPr>
              <a:t>棵</a:t>
            </a:r>
            <a:r>
              <a:rPr lang="zh-CN" altLang="en-US" sz="2800" b="1" spc="7" dirty="0">
                <a:latin typeface="宋体"/>
                <a:cs typeface="宋体"/>
              </a:rPr>
              <a:t>生</a:t>
            </a:r>
            <a:r>
              <a:rPr lang="zh-CN" altLang="en-US" sz="2800" b="1" dirty="0">
                <a:latin typeface="宋体"/>
                <a:cs typeface="宋体"/>
              </a:rPr>
              <a:t>成</a:t>
            </a:r>
            <a:r>
              <a:rPr lang="zh-CN" altLang="en-US" sz="2800" b="1" spc="-7" dirty="0">
                <a:latin typeface="宋体"/>
                <a:cs typeface="宋体"/>
              </a:rPr>
              <a:t>树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T'</a:t>
            </a:r>
            <a:r>
              <a:rPr lang="zh-CN" altLang="en-US" sz="2800" b="1" spc="-13" dirty="0" smtClean="0">
                <a:latin typeface="宋体"/>
                <a:cs typeface="宋体"/>
              </a:rPr>
              <a:t>。</a:t>
            </a:r>
            <a:endParaRPr lang="zh-CN" altLang="en-US"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7187" y="5433950"/>
            <a:ext cx="739140" cy="277705"/>
          </a:xfrm>
          <a:custGeom>
            <a:avLst/>
            <a:gdLst/>
            <a:ahLst/>
            <a:cxnLst/>
            <a:rect l="l" t="t" r="r" b="b"/>
            <a:pathLst>
              <a:path w="554355" h="208279">
                <a:moveTo>
                  <a:pt x="0" y="0"/>
                </a:moveTo>
                <a:lnTo>
                  <a:pt x="554037" y="2079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779818" y="4604893"/>
            <a:ext cx="829733" cy="91440"/>
          </a:xfrm>
          <a:custGeom>
            <a:avLst/>
            <a:gdLst/>
            <a:ahLst/>
            <a:cxnLst/>
            <a:rect l="l" t="t" r="r" b="b"/>
            <a:pathLst>
              <a:path w="622300" h="68579">
                <a:moveTo>
                  <a:pt x="0" y="0"/>
                </a:moveTo>
                <a:lnTo>
                  <a:pt x="622300" y="682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029753" y="4695317"/>
            <a:ext cx="673100" cy="582507"/>
          </a:xfrm>
          <a:custGeom>
            <a:avLst/>
            <a:gdLst/>
            <a:ahLst/>
            <a:cxnLst/>
            <a:rect l="l" t="t" r="r" b="b"/>
            <a:pathLst>
              <a:path w="504825" h="436879">
                <a:moveTo>
                  <a:pt x="504825" y="0"/>
                </a:moveTo>
                <a:lnTo>
                  <a:pt x="0" y="4365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592110" y="3756024"/>
            <a:ext cx="220472" cy="21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592110" y="4588128"/>
            <a:ext cx="220472" cy="21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853479" y="5233288"/>
            <a:ext cx="220471" cy="2174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517685" y="4310760"/>
            <a:ext cx="217424" cy="217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669583" y="4494658"/>
            <a:ext cx="217423" cy="217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517685" y="5142866"/>
            <a:ext cx="217424" cy="217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779053" y="5604128"/>
            <a:ext cx="217424" cy="2174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749082" y="3866260"/>
            <a:ext cx="766233" cy="489373"/>
          </a:xfrm>
          <a:custGeom>
            <a:avLst/>
            <a:gdLst/>
            <a:ahLst/>
            <a:cxnLst/>
            <a:rect l="l" t="t" r="r" b="b"/>
            <a:pathLst>
              <a:path w="574675" h="367029">
                <a:moveTo>
                  <a:pt x="0" y="0"/>
                </a:moveTo>
                <a:lnTo>
                  <a:pt x="574675" y="3667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700315" y="3956686"/>
            <a:ext cx="2540" cy="647700"/>
          </a:xfrm>
          <a:custGeom>
            <a:avLst/>
            <a:gdLst/>
            <a:ahLst/>
            <a:cxnLst/>
            <a:rect l="l" t="t" r="r" b="b"/>
            <a:pathLst>
              <a:path w="1905" h="485775">
                <a:moveTo>
                  <a:pt x="1587" y="0"/>
                </a:moveTo>
                <a:lnTo>
                  <a:pt x="0" y="4857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622842" y="4513452"/>
            <a:ext cx="4233" cy="646007"/>
          </a:xfrm>
          <a:custGeom>
            <a:avLst/>
            <a:gdLst/>
            <a:ahLst/>
            <a:cxnLst/>
            <a:rect l="l" t="t" r="r" b="b"/>
            <a:pathLst>
              <a:path w="3175" h="484504">
                <a:moveTo>
                  <a:pt x="3175" y="0"/>
                </a:moveTo>
                <a:lnTo>
                  <a:pt x="0" y="48418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1282823" y="5022301"/>
            <a:ext cx="2827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dirty="0"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29803" y="5433950"/>
            <a:ext cx="739140" cy="277705"/>
          </a:xfrm>
          <a:custGeom>
            <a:avLst/>
            <a:gdLst/>
            <a:ahLst/>
            <a:cxnLst/>
            <a:rect l="l" t="t" r="r" b="b"/>
            <a:pathLst>
              <a:path w="554354" h="208279">
                <a:moveTo>
                  <a:pt x="0" y="0"/>
                </a:moveTo>
                <a:lnTo>
                  <a:pt x="554037" y="2079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352435" y="4604893"/>
            <a:ext cx="829733" cy="91440"/>
          </a:xfrm>
          <a:custGeom>
            <a:avLst/>
            <a:gdLst/>
            <a:ahLst/>
            <a:cxnLst/>
            <a:rect l="l" t="t" r="r" b="b"/>
            <a:pathLst>
              <a:path w="622300" h="68579">
                <a:moveTo>
                  <a:pt x="0" y="0"/>
                </a:moveTo>
                <a:lnTo>
                  <a:pt x="622300" y="682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602371" y="4695317"/>
            <a:ext cx="673100" cy="582507"/>
          </a:xfrm>
          <a:custGeom>
            <a:avLst/>
            <a:gdLst/>
            <a:ahLst/>
            <a:cxnLst/>
            <a:rect l="l" t="t" r="r" b="b"/>
            <a:pathLst>
              <a:path w="504825" h="436879">
                <a:moveTo>
                  <a:pt x="504825" y="0"/>
                </a:moveTo>
                <a:lnTo>
                  <a:pt x="0" y="4365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6164727" y="3756024"/>
            <a:ext cx="220472" cy="217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6164727" y="4588128"/>
            <a:ext cx="220472" cy="217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426095" y="5233288"/>
            <a:ext cx="220472" cy="2174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7090303" y="4310760"/>
            <a:ext cx="217424" cy="2174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5242200" y="4494658"/>
            <a:ext cx="217424" cy="217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7090303" y="5142866"/>
            <a:ext cx="217424" cy="2174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6351671" y="5604128"/>
            <a:ext cx="217424" cy="2174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6341004" y="3866260"/>
            <a:ext cx="766233" cy="489373"/>
          </a:xfrm>
          <a:custGeom>
            <a:avLst/>
            <a:gdLst/>
            <a:ahLst/>
            <a:cxnLst/>
            <a:rect l="l" t="t" r="r" b="b"/>
            <a:pathLst>
              <a:path w="574675" h="367029">
                <a:moveTo>
                  <a:pt x="0" y="0"/>
                </a:moveTo>
                <a:lnTo>
                  <a:pt x="574675" y="3667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6272930" y="3956686"/>
            <a:ext cx="2540" cy="647700"/>
          </a:xfrm>
          <a:custGeom>
            <a:avLst/>
            <a:gdLst/>
            <a:ahLst/>
            <a:cxnLst/>
            <a:rect l="l" t="t" r="r" b="b"/>
            <a:pathLst>
              <a:path w="1904" h="485775">
                <a:moveTo>
                  <a:pt x="1587" y="0"/>
                </a:moveTo>
                <a:lnTo>
                  <a:pt x="0" y="4857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7195461" y="4513452"/>
            <a:ext cx="4233" cy="646007"/>
          </a:xfrm>
          <a:custGeom>
            <a:avLst/>
            <a:gdLst/>
            <a:ahLst/>
            <a:cxnLst/>
            <a:rect l="l" t="t" r="r" b="b"/>
            <a:pathLst>
              <a:path w="3175" h="484504">
                <a:moveTo>
                  <a:pt x="3175" y="0"/>
                </a:moveTo>
                <a:lnTo>
                  <a:pt x="0" y="48418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6524900" y="5250055"/>
            <a:ext cx="582507" cy="397933"/>
          </a:xfrm>
          <a:custGeom>
            <a:avLst/>
            <a:gdLst/>
            <a:ahLst/>
            <a:cxnLst/>
            <a:rect l="l" t="t" r="r" b="b"/>
            <a:pathLst>
              <a:path w="436879" h="298450">
                <a:moveTo>
                  <a:pt x="0" y="298449"/>
                </a:moveTo>
                <a:lnTo>
                  <a:pt x="436562" y="0"/>
                </a:lnTo>
              </a:path>
            </a:pathLst>
          </a:custGeom>
          <a:ln w="25146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 txBox="1"/>
          <p:nvPr/>
        </p:nvSpPr>
        <p:spPr>
          <a:xfrm>
            <a:off x="6662746" y="5022301"/>
            <a:ext cx="2150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dirty="0"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18"/>
          <p:cNvSpPr/>
          <p:nvPr/>
        </p:nvSpPr>
        <p:spPr>
          <a:xfrm>
            <a:off x="10152496" y="5193926"/>
            <a:ext cx="582507" cy="376767"/>
          </a:xfrm>
          <a:custGeom>
            <a:avLst/>
            <a:gdLst/>
            <a:ahLst/>
            <a:cxnLst/>
            <a:rect l="l" t="t" r="r" b="b"/>
            <a:pathLst>
              <a:path w="436879" h="282575">
                <a:moveTo>
                  <a:pt x="0" y="282575"/>
                </a:moveTo>
                <a:lnTo>
                  <a:pt x="436562" y="0"/>
                </a:lnTo>
              </a:path>
            </a:pathLst>
          </a:custGeom>
          <a:ln w="25146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19"/>
          <p:cNvSpPr/>
          <p:nvPr/>
        </p:nvSpPr>
        <p:spPr>
          <a:xfrm>
            <a:off x="9229967" y="5369692"/>
            <a:ext cx="739140" cy="265007"/>
          </a:xfrm>
          <a:custGeom>
            <a:avLst/>
            <a:gdLst/>
            <a:ahLst/>
            <a:cxnLst/>
            <a:rect l="l" t="t" r="r" b="b"/>
            <a:pathLst>
              <a:path w="554354" h="198754">
                <a:moveTo>
                  <a:pt x="0" y="0"/>
                </a:moveTo>
                <a:lnTo>
                  <a:pt x="554037" y="19843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20"/>
          <p:cNvSpPr/>
          <p:nvPr/>
        </p:nvSpPr>
        <p:spPr>
          <a:xfrm>
            <a:off x="8952599" y="4580260"/>
            <a:ext cx="829733" cy="88900"/>
          </a:xfrm>
          <a:custGeom>
            <a:avLst/>
            <a:gdLst/>
            <a:ahLst/>
            <a:cxnLst/>
            <a:rect l="l" t="t" r="r" b="b"/>
            <a:pathLst>
              <a:path w="622300" h="66675">
                <a:moveTo>
                  <a:pt x="0" y="0"/>
                </a:moveTo>
                <a:lnTo>
                  <a:pt x="622300" y="666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21"/>
          <p:cNvSpPr/>
          <p:nvPr/>
        </p:nvSpPr>
        <p:spPr>
          <a:xfrm>
            <a:off x="9202535" y="4669668"/>
            <a:ext cx="673100" cy="550333"/>
          </a:xfrm>
          <a:custGeom>
            <a:avLst/>
            <a:gdLst/>
            <a:ahLst/>
            <a:cxnLst/>
            <a:rect l="l" t="t" r="r" b="b"/>
            <a:pathLst>
              <a:path w="504825" h="412750">
                <a:moveTo>
                  <a:pt x="504825" y="0"/>
                </a:moveTo>
                <a:lnTo>
                  <a:pt x="0" y="4127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22"/>
          <p:cNvSpPr/>
          <p:nvPr/>
        </p:nvSpPr>
        <p:spPr>
          <a:xfrm>
            <a:off x="9764891" y="3774064"/>
            <a:ext cx="220472" cy="209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23"/>
          <p:cNvSpPr/>
          <p:nvPr/>
        </p:nvSpPr>
        <p:spPr>
          <a:xfrm>
            <a:off x="9764891" y="4563497"/>
            <a:ext cx="220472" cy="209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24"/>
          <p:cNvSpPr/>
          <p:nvPr/>
        </p:nvSpPr>
        <p:spPr>
          <a:xfrm>
            <a:off x="9026259" y="5177160"/>
            <a:ext cx="220472" cy="20929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25"/>
          <p:cNvSpPr/>
          <p:nvPr/>
        </p:nvSpPr>
        <p:spPr>
          <a:xfrm>
            <a:off x="10690467" y="4301368"/>
            <a:ext cx="217424" cy="2092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26"/>
          <p:cNvSpPr/>
          <p:nvPr/>
        </p:nvSpPr>
        <p:spPr>
          <a:xfrm>
            <a:off x="8842364" y="4477136"/>
            <a:ext cx="217424" cy="2092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27"/>
          <p:cNvSpPr/>
          <p:nvPr/>
        </p:nvSpPr>
        <p:spPr>
          <a:xfrm>
            <a:off x="10690467" y="5090800"/>
            <a:ext cx="217424" cy="2092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28"/>
          <p:cNvSpPr/>
          <p:nvPr/>
        </p:nvSpPr>
        <p:spPr>
          <a:xfrm>
            <a:off x="9951835" y="5528698"/>
            <a:ext cx="217424" cy="209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29"/>
          <p:cNvSpPr/>
          <p:nvPr/>
        </p:nvSpPr>
        <p:spPr>
          <a:xfrm>
            <a:off x="9941168" y="3877189"/>
            <a:ext cx="766233" cy="465667"/>
          </a:xfrm>
          <a:custGeom>
            <a:avLst/>
            <a:gdLst/>
            <a:ahLst/>
            <a:cxnLst/>
            <a:rect l="l" t="t" r="r" b="b"/>
            <a:pathLst>
              <a:path w="574675" h="349250">
                <a:moveTo>
                  <a:pt x="0" y="0"/>
                </a:moveTo>
                <a:lnTo>
                  <a:pt x="574675" y="3492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30"/>
          <p:cNvSpPr/>
          <p:nvPr/>
        </p:nvSpPr>
        <p:spPr>
          <a:xfrm>
            <a:off x="10795625" y="4495933"/>
            <a:ext cx="4233" cy="613833"/>
          </a:xfrm>
          <a:custGeom>
            <a:avLst/>
            <a:gdLst/>
            <a:ahLst/>
            <a:cxnLst/>
            <a:rect l="l" t="t" r="r" b="b"/>
            <a:pathLst>
              <a:path w="3175" h="460375">
                <a:moveTo>
                  <a:pt x="3175" y="0"/>
                </a:moveTo>
                <a:lnTo>
                  <a:pt x="0" y="4603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31"/>
          <p:cNvSpPr txBox="1"/>
          <p:nvPr/>
        </p:nvSpPr>
        <p:spPr>
          <a:xfrm>
            <a:off x="9718579" y="5625962"/>
            <a:ext cx="834343" cy="542883"/>
          </a:xfrm>
          <a:prstGeom prst="rect">
            <a:avLst/>
          </a:prstGeom>
        </p:spPr>
        <p:txBody>
          <a:bodyPr vert="horz" wrap="square" lIns="0" tIns="49953" rIns="0" bIns="0" rtlCol="0">
            <a:spAutoFit/>
          </a:bodyPr>
          <a:lstStyle/>
          <a:p>
            <a:pPr marL="16933">
              <a:spcBef>
                <a:spcPts val="39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i="1" spc="-7" dirty="0" smtClean="0">
                <a:latin typeface="Times New Roman"/>
                <a:cs typeface="Times New Roman"/>
              </a:rPr>
              <a:t>'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8" name="object 31"/>
          <p:cNvSpPr txBox="1"/>
          <p:nvPr/>
        </p:nvSpPr>
        <p:spPr>
          <a:xfrm>
            <a:off x="6314024" y="5683095"/>
            <a:ext cx="563776" cy="542883"/>
          </a:xfrm>
          <a:prstGeom prst="rect">
            <a:avLst/>
          </a:prstGeom>
        </p:spPr>
        <p:txBody>
          <a:bodyPr vert="horz" wrap="square" lIns="0" tIns="49953" rIns="0" bIns="0" rtlCol="0">
            <a:spAutoFit/>
          </a:bodyPr>
          <a:lstStyle/>
          <a:p>
            <a:pPr marL="16933">
              <a:spcBef>
                <a:spcPts val="393"/>
              </a:spcBef>
            </a:pPr>
            <a:r>
              <a:rPr lang="en-US" altLang="zh-CN" sz="3200" b="1" i="1" dirty="0"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9" name="object 31"/>
          <p:cNvSpPr txBox="1"/>
          <p:nvPr/>
        </p:nvSpPr>
        <p:spPr>
          <a:xfrm>
            <a:off x="2519265" y="5668864"/>
            <a:ext cx="811764" cy="542883"/>
          </a:xfrm>
          <a:prstGeom prst="rect">
            <a:avLst/>
          </a:prstGeom>
        </p:spPr>
        <p:txBody>
          <a:bodyPr vert="horz" wrap="square" lIns="0" tIns="49953" rIns="0" bIns="0" rtlCol="0">
            <a:spAutoFit/>
          </a:bodyPr>
          <a:lstStyle/>
          <a:p>
            <a:pPr marL="16933">
              <a:spcBef>
                <a:spcPts val="393"/>
              </a:spcBef>
            </a:pPr>
            <a:r>
              <a:rPr sz="3200" b="1" i="1" spc="-7" dirty="0" smtClean="0">
                <a:latin typeface="Times New Roman"/>
                <a:cs typeface="Times New Roman"/>
              </a:rPr>
              <a:t>T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652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329" y="251533"/>
            <a:ext cx="9028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生成树性质的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0721" y="1228682"/>
            <a:ext cx="10880658" cy="39566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0000" indent="-457200" algn="just">
              <a:buFont typeface="Arial"/>
              <a:buChar char="•"/>
              <a:tabLst>
                <a:tab pos="507987" algn="l"/>
              </a:tabLst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算法步骤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选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择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40000" marR="1946438"/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约束条件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不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形成回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路</a:t>
            </a:r>
            <a:endParaRPr lang="en-US" sz="2800" b="1" spc="-13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40000" marR="1946438"/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截止条件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数达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2800" b="1" spc="-87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-1.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07987" indent="-457189" algn="just">
              <a:spcBef>
                <a:spcPts val="2080"/>
              </a:spcBef>
              <a:buFont typeface="Arial"/>
              <a:buChar char="•"/>
              <a:tabLst>
                <a:tab pos="507987" algn="l"/>
              </a:tabLst>
            </a:pPr>
            <a:r>
              <a:rPr sz="2800" b="1" spc="-7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改进生成</a:t>
            </a:r>
            <a:r>
              <a:rPr sz="2800" b="1" spc="-13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树</a:t>
            </a:r>
            <a:r>
              <a:rPr sz="2800" b="1" spc="-773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2800" b="1" i="1" spc="-13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的方</a:t>
            </a:r>
            <a:r>
              <a:rPr sz="2800" b="1" spc="-13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40000" marR="493594" algn="just"/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</a:t>
            </a:r>
            <a:r>
              <a:rPr sz="2800" b="1" spc="-8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中加一条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非树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spc="-78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形成回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路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C,</a:t>
            </a:r>
            <a:r>
              <a:rPr sz="2800" b="1" i="1" spc="75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</a:t>
            </a:r>
            <a:r>
              <a:rPr sz="2800" b="1" spc="-8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中去掉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一条树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spc="-79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i="1" spc="-9" baseline="-2083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形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成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一棵新的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生</a:t>
            </a:r>
            <a:r>
              <a:rPr sz="28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成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树</a:t>
            </a:r>
            <a:r>
              <a:rPr sz="2800" b="1" spc="-77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T'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275160" algn="ctr">
              <a:spcBef>
                <a:spcPts val="773"/>
              </a:spcBef>
            </a:pP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T' 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T </a:t>
            </a:r>
            <a:r>
              <a:rPr sz="2800" b="1" dirty="0">
                <a:latin typeface="Times New Roman"/>
                <a:cs typeface="Times New Roman"/>
              </a:rPr>
              <a:t>) =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i="1" spc="-9" baseline="-20833" dirty="0">
                <a:latin typeface="Times New Roman"/>
                <a:cs typeface="Times New Roman"/>
              </a:rPr>
              <a:t>i</a:t>
            </a:r>
            <a:r>
              <a:rPr sz="2800" b="1" i="1" spc="309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</a:p>
          <a:p>
            <a:pPr marL="457189" algn="just">
              <a:lnSpc>
                <a:spcPts val="3527"/>
              </a:lnSpc>
              <a:spcBef>
                <a:spcPts val="827"/>
              </a:spcBef>
            </a:pPr>
            <a:r>
              <a:rPr sz="2800" b="1" spc="-13" dirty="0">
                <a:latin typeface="黑体" pitchFamily="49" charset="-122"/>
                <a:ea typeface="黑体" pitchFamily="49" charset="-122"/>
                <a:cs typeface="宋体"/>
              </a:rPr>
              <a:t>若</a:t>
            </a:r>
            <a:r>
              <a:rPr sz="2800" b="1" spc="-807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dirty="0" err="1" smtClean="0">
                <a:latin typeface="Times New Roman"/>
                <a:cs typeface="Times New Roman"/>
              </a:rPr>
              <a:t>e</a:t>
            </a:r>
            <a:r>
              <a:rPr sz="2800" b="1" i="1" baseline="-20833" dirty="0" err="1" smtClean="0">
                <a:latin typeface="Times New Roman"/>
                <a:cs typeface="Times New Roman"/>
              </a:rPr>
              <a:t>i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sz="2800" b="1" spc="-7" dirty="0" smtClean="0">
                <a:latin typeface="宋体"/>
                <a:cs typeface="宋体"/>
              </a:rPr>
              <a:t>，</a:t>
            </a:r>
            <a:r>
              <a:rPr sz="2800" b="1" spc="-13" dirty="0">
                <a:latin typeface="宋体"/>
                <a:cs typeface="宋体"/>
              </a:rPr>
              <a:t>则</a:t>
            </a:r>
            <a:r>
              <a:rPr sz="2800" b="1" spc="-793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T'</a:t>
            </a:r>
            <a:r>
              <a:rPr sz="2800" b="1" i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T</a:t>
            </a:r>
            <a:r>
              <a:rPr sz="2800" b="1" i="1" spc="-27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)</a:t>
            </a:r>
            <a:endParaRPr sz="2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803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2434" y="353133"/>
            <a:ext cx="773575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求最小生成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6" y="1330283"/>
            <a:ext cx="10815261" cy="4656830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问题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16933" marR="6773" algn="just">
              <a:spcBef>
                <a:spcPts val="800"/>
              </a:spcBef>
              <a:tabLst>
                <a:tab pos="3712541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给定连通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带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权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sz="2800" b="1" spc="-780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G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sz="2800" b="1" spc="-7" dirty="0" smtClean="0">
                <a:latin typeface="宋体"/>
                <a:cs typeface="宋体"/>
              </a:rPr>
              <a:t>，</a:t>
            </a:r>
            <a:r>
              <a:rPr sz="2800" b="1" i="1" spc="-7" dirty="0" smtClean="0">
                <a:latin typeface="Times New Roman"/>
                <a:cs typeface="Times New Roman"/>
              </a:rPr>
              <a:t>w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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是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spc="-79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i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的权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求</a:t>
            </a:r>
            <a:r>
              <a:rPr sz="2800" b="1" spc="-86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G</a:t>
            </a:r>
            <a:r>
              <a:rPr sz="2800" b="1" i="1" spc="-6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的一棵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生成树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spcBef>
                <a:spcPts val="6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spc="-7" dirty="0">
                <a:solidFill>
                  <a:srgbClr val="C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贪心法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23323">
              <a:spcBef>
                <a:spcPts val="400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Prim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23323"/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Kruskal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endParaRPr lang="en-US" sz="2800" b="1" spc="-13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23323"/>
            <a:endParaRPr lang="en-US" sz="2800" b="1" spc="-13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23323"/>
            <a:r>
              <a:rPr lang="zh-CN" altLang="en-US" sz="2800"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生成树在</a:t>
            </a:r>
            <a:r>
              <a:rPr lang="zh-CN" altLang="en-US" sz="2800" b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网</a:t>
            </a:r>
            <a:r>
              <a:rPr lang="zh-CN" altLang="en-US" sz="2800" b="1" spc="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络</a:t>
            </a:r>
            <a:r>
              <a:rPr lang="zh-CN" altLang="en-US" sz="2800" b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中有着重要应用</a:t>
            </a:r>
            <a:endParaRPr lang="zh-CN" altLang="en-US" sz="2800" dirty="0"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  <a:p>
            <a:pPr marL="423323"/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0346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6190" y="281043"/>
            <a:ext cx="4673622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lang="en-US"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Prim</a:t>
            </a:r>
            <a:r>
              <a:rPr lang="zh-CN" altLang="en-US"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</a:t>
            </a:r>
            <a:r>
              <a:rPr sz="4000" b="1" spc="-13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设计思</a:t>
            </a:r>
            <a:r>
              <a:rPr sz="4000" b="1" spc="-2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想</a:t>
            </a:r>
            <a:endParaRPr sz="4000" b="1" spc="-2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2063" y="1232747"/>
            <a:ext cx="10233843" cy="4594075"/>
          </a:xfrm>
          <a:prstGeom prst="rect">
            <a:avLst/>
          </a:prstGeom>
        </p:spPr>
        <p:txBody>
          <a:bodyPr vert="horz" wrap="square" lIns="0" tIns="114297" rIns="0" bIns="0" rtlCol="0">
            <a:spAutoFit/>
          </a:bodyPr>
          <a:lstStyle/>
          <a:p>
            <a:pPr marL="16933">
              <a:spcBef>
                <a:spcPts val="900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sz="2800" b="1" spc="-78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=(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={1,2,…,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spcBef>
                <a:spcPts val="767"/>
              </a:spcBef>
            </a:pP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输出：最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</a:t>
            </a:r>
            <a:r>
              <a:rPr sz="2800" b="1" spc="-1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spc="-77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4475368">
              <a:lnSpc>
                <a:spcPct val="120000"/>
              </a:lnSpc>
              <a:spcBef>
                <a:spcPts val="2400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设计思想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 </a:t>
            </a:r>
            <a:endParaRPr lang="en-US" sz="2800" b="1" spc="-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74133" marR="4475368" indent="-457200">
              <a:lnSpc>
                <a:spcPct val="120000"/>
              </a:lnSpc>
              <a:spcBef>
                <a:spcPts val="1187"/>
              </a:spcBef>
              <a:buFont typeface="Arial" panose="020B0604020202020204" pitchFamily="34" charset="0"/>
              <a:buChar char="•"/>
            </a:pP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始</a:t>
            </a:r>
            <a:r>
              <a:rPr sz="2800" b="1" spc="-83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i="1" spc="-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800" b="1" spc="-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{1}，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74133" indent="-457200">
              <a:lnSpc>
                <a:spcPts val="3920"/>
              </a:lnSpc>
              <a:spcBef>
                <a:spcPts val="633"/>
              </a:spcBef>
              <a:buFont typeface="Arial" panose="020B0604020202020204" pitchFamily="34" charset="0"/>
              <a:buChar char="•"/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择连</a:t>
            </a:r>
            <a:r>
              <a:rPr sz="2800" b="1" u="heavy" spc="-13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</a:t>
            </a:r>
            <a:r>
              <a:rPr sz="2800" b="1" u="heavy" spc="-787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u="heavy" spc="-7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sz="2800" b="1" u="heavy" spc="-13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u="heavy" spc="-813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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i="1" u="heavy" spc="-20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集合的最</a:t>
            </a:r>
            <a:r>
              <a:rPr sz="2800" b="1" u="heavy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短</a:t>
            </a:r>
            <a:r>
              <a:rPr sz="2800" b="1" u="heavy" spc="-13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sz="2800" b="1" spc="-78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i="1" spc="-13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=</a:t>
            </a:r>
            <a:r>
              <a:rPr sz="2800" b="1" spc="-7" dirty="0" smtClean="0">
                <a:latin typeface="Times New Roman"/>
                <a:cs typeface="Times New Roman"/>
              </a:rPr>
              <a:t>{</a:t>
            </a:r>
            <a:r>
              <a:rPr sz="2800" b="1" spc="7" dirty="0" smtClean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j </a:t>
            </a:r>
            <a:r>
              <a:rPr sz="2800" b="1" dirty="0">
                <a:latin typeface="Times New Roman"/>
                <a:cs typeface="Times New Roman"/>
              </a:rPr>
              <a:t>}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spc="-7" dirty="0">
                <a:latin typeface="宋体"/>
                <a:cs typeface="宋体"/>
              </a:rPr>
              <a:t>其</a:t>
            </a:r>
            <a:r>
              <a:rPr sz="2800" b="1" spc="-13" dirty="0">
                <a:latin typeface="宋体"/>
                <a:cs typeface="宋体"/>
              </a:rPr>
              <a:t>中</a:t>
            </a:r>
            <a:r>
              <a:rPr sz="2800" b="1" spc="-760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Symbol"/>
                <a:cs typeface="Symbol"/>
              </a:rPr>
              <a:t>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j</a:t>
            </a:r>
            <a:r>
              <a:rPr sz="2800" b="1" spc="-20" dirty="0">
                <a:latin typeface="Symbol"/>
                <a:cs typeface="Symbol"/>
              </a:rPr>
              <a:t></a:t>
            </a:r>
            <a:r>
              <a:rPr sz="2800" b="1" i="1" spc="-20" dirty="0">
                <a:latin typeface="Times New Roman"/>
                <a:cs typeface="Times New Roman"/>
              </a:rPr>
              <a:t>V</a:t>
            </a:r>
            <a:r>
              <a:rPr sz="2800" b="1" i="1" spc="-20" dirty="0">
                <a:latin typeface="Symbol"/>
                <a:cs typeface="Symbol"/>
              </a:rPr>
              <a:t></a:t>
            </a:r>
            <a:r>
              <a:rPr sz="2800" b="1" i="1" spc="-20" dirty="0">
                <a:latin typeface="Times New Roman"/>
                <a:cs typeface="Times New Roman"/>
              </a:rPr>
              <a:t>S</a:t>
            </a:r>
            <a:r>
              <a:rPr sz="2800" b="1" spc="-20" dirty="0">
                <a:latin typeface="Times New Roman"/>
                <a:cs typeface="Times New Roman"/>
              </a:rPr>
              <a:t>.	</a:t>
            </a:r>
            <a:r>
              <a:rPr lang="en-US" sz="2800" b="1" spc="-20" dirty="0" smtClean="0">
                <a:latin typeface="Times New Roman"/>
                <a:cs typeface="Times New Roman"/>
              </a:rPr>
              <a:t> 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sz="2800" b="1" spc="-82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82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i="1" spc="-2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加入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i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i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sz="2800" b="1" i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sz="2800" b="1" spc="-79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74133" indent="-457200">
              <a:spcBef>
                <a:spcPts val="767"/>
              </a:spcBef>
              <a:buFont typeface="Arial" panose="020B0604020202020204" pitchFamily="34" charset="0"/>
              <a:buChar char="•"/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继续执行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述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过程，直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sz="2800" b="1" spc="-78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i="1" spc="-7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为止</a:t>
            </a:r>
            <a:r>
              <a:rPr sz="2800" b="1" dirty="0">
                <a:latin typeface="Times New Roman"/>
                <a:cs typeface="Times New Roman"/>
              </a:rPr>
              <a:t>.</a:t>
            </a:r>
          </a:p>
          <a:p>
            <a:pPr marR="6773" algn="r">
              <a:spcBef>
                <a:spcPts val="267"/>
              </a:spcBef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3410" y="353133"/>
            <a:ext cx="538134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伪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87" y="1477601"/>
            <a:ext cx="9978066" cy="49738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43930" marR="2230063" indent="-127843">
              <a:lnSpc>
                <a:spcPct val="120000"/>
              </a:lnSpc>
              <a:spcBef>
                <a:spcPts val="133"/>
              </a:spcBef>
            </a:pPr>
            <a:r>
              <a:rPr sz="3200" b="1" spc="-7" dirty="0">
                <a:latin typeface="黑体" pitchFamily="49" charset="-122"/>
                <a:ea typeface="黑体" pitchFamily="49" charset="-122"/>
                <a:cs typeface="宋体"/>
              </a:rPr>
              <a:t>算</a:t>
            </a:r>
            <a:r>
              <a:rPr sz="3200" b="1" spc="-13" dirty="0">
                <a:latin typeface="黑体" pitchFamily="49" charset="-122"/>
                <a:ea typeface="黑体" pitchFamily="49" charset="-122"/>
                <a:cs typeface="宋体"/>
              </a:rPr>
              <a:t>法</a:t>
            </a:r>
            <a:r>
              <a:rPr sz="3200" b="1" spc="-813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Prim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G</a:t>
            </a:r>
            <a:r>
              <a:rPr sz="3200" b="1" spc="-7" dirty="0">
                <a:latin typeface="Times New Roman"/>
                <a:cs typeface="Times New Roman"/>
              </a:rPr>
              <a:t>, </a:t>
            </a:r>
            <a:r>
              <a:rPr sz="3200" b="1" i="1" dirty="0">
                <a:latin typeface="Times New Roman"/>
                <a:cs typeface="Times New Roman"/>
              </a:rPr>
              <a:t>E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i="1" spc="-7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)  </a:t>
            </a:r>
            <a:endParaRPr lang="en-US" sz="3200" b="1" dirty="0" smtClean="0">
              <a:latin typeface="Times New Roman"/>
              <a:cs typeface="Times New Roman"/>
            </a:endParaRPr>
          </a:p>
          <a:p>
            <a:pPr marL="530437" marR="2230063" indent="-514350">
              <a:lnSpc>
                <a:spcPct val="120000"/>
              </a:lnSpc>
              <a:spcBef>
                <a:spcPts val="133"/>
              </a:spcBef>
              <a:buFont typeface="+mj-lt"/>
              <a:buAutoNum type="arabicPeriod"/>
            </a:pPr>
            <a:r>
              <a:rPr sz="3200" b="1" i="1" spc="-7" dirty="0" smtClean="0">
                <a:latin typeface="Times New Roman"/>
                <a:cs typeface="Times New Roman"/>
              </a:rPr>
              <a:t>S 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 { 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spc="7" dirty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}</a:t>
            </a:r>
            <a:endParaRPr lang="en-US" sz="3200" dirty="0">
              <a:latin typeface="Times New Roman"/>
              <a:cs typeface="Times New Roman"/>
            </a:endParaRPr>
          </a:p>
          <a:p>
            <a:pPr marL="530437" marR="2230063" indent="-514350">
              <a:lnSpc>
                <a:spcPct val="120000"/>
              </a:lnSpc>
              <a:spcBef>
                <a:spcPts val="133"/>
              </a:spcBef>
              <a:buFont typeface="+mj-lt"/>
              <a:buAutoNum type="arabicPeriod"/>
            </a:pPr>
            <a:r>
              <a:rPr lang="en-US" sz="3200" b="1" spc="-7" dirty="0">
                <a:latin typeface="Times New Roman"/>
                <a:cs typeface="Times New Roman"/>
              </a:rPr>
              <a:t> </a:t>
            </a:r>
            <a:r>
              <a:rPr lang="en-US" sz="3200" b="1" spc="-7" dirty="0" smtClean="0">
                <a:latin typeface="Times New Roman"/>
                <a:cs typeface="Times New Roman"/>
              </a:rPr>
              <a:t>     </a:t>
            </a:r>
            <a:r>
              <a:rPr sz="3200" b="1" spc="-7" dirty="0" smtClean="0">
                <a:latin typeface="Times New Roman"/>
                <a:cs typeface="Times New Roman"/>
              </a:rPr>
              <a:t>while </a:t>
            </a:r>
            <a:r>
              <a:rPr sz="3200" b="1" i="1" dirty="0">
                <a:latin typeface="Times New Roman"/>
                <a:cs typeface="Times New Roman"/>
              </a:rPr>
              <a:t>V </a:t>
            </a:r>
            <a:r>
              <a:rPr sz="3300" b="1" i="1" spc="-80" dirty="0">
                <a:latin typeface="Symbol"/>
                <a:cs typeface="Symbol"/>
              </a:rPr>
              <a:t></a:t>
            </a:r>
            <a:r>
              <a:rPr sz="3300" b="1" i="1" spc="-8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S</a:t>
            </a:r>
            <a:r>
              <a:rPr sz="3200" b="1" i="1" spc="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Symbol"/>
                <a:cs typeface="Symbol"/>
              </a:rPr>
              <a:t>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Symbol"/>
                <a:cs typeface="Symbol"/>
              </a:rPr>
              <a:t></a:t>
            </a:r>
            <a:r>
              <a:rPr sz="3200" spc="-7" dirty="0">
                <a:latin typeface="Times New Roman"/>
                <a:cs typeface="Times New Roman"/>
              </a:rPr>
              <a:t>	</a:t>
            </a:r>
            <a:r>
              <a:rPr sz="3200" b="1" spc="-13" dirty="0" smtClean="0">
                <a:latin typeface="Times New Roman"/>
                <a:cs typeface="Times New Roman"/>
              </a:rPr>
              <a:t>do</a:t>
            </a:r>
            <a:endParaRPr lang="en-US" sz="3200" dirty="0">
              <a:latin typeface="Times New Roman"/>
              <a:cs typeface="Times New Roman"/>
            </a:endParaRPr>
          </a:p>
          <a:p>
            <a:pPr marL="530437" marR="2230063" indent="-514350">
              <a:lnSpc>
                <a:spcPct val="120000"/>
              </a:lnSpc>
              <a:spcBef>
                <a:spcPts val="133"/>
              </a:spcBef>
              <a:buFont typeface="+mj-lt"/>
              <a:buAutoNum type="arabicPeriod"/>
            </a:pPr>
            <a:r>
              <a:rPr lang="en-US" sz="3200" b="1" spc="-7" dirty="0">
                <a:latin typeface="Times New Roman"/>
                <a:cs typeface="Times New Roman"/>
              </a:rPr>
              <a:t> </a:t>
            </a:r>
            <a:r>
              <a:rPr lang="en-US" sz="3200" b="1" spc="-7" dirty="0" smtClean="0">
                <a:latin typeface="Times New Roman"/>
                <a:cs typeface="Times New Roman"/>
              </a:rPr>
              <a:t>               </a:t>
            </a:r>
            <a:r>
              <a:rPr sz="32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sz="3200" b="1" i="1" spc="-7" dirty="0" err="1">
                <a:latin typeface="Times New Roman"/>
                <a:cs typeface="Times New Roman"/>
              </a:rPr>
              <a:t>V</a:t>
            </a:r>
            <a:r>
              <a:rPr sz="3200" b="1" spc="-7" dirty="0" err="1">
                <a:latin typeface="Symbol"/>
                <a:cs typeface="Symbol"/>
              </a:rPr>
              <a:t></a:t>
            </a:r>
            <a:r>
              <a:rPr sz="3200" b="1" i="1" spc="-7" dirty="0" err="1">
                <a:latin typeface="Times New Roman"/>
                <a:cs typeface="Times New Roman"/>
              </a:rPr>
              <a:t>S</a:t>
            </a:r>
            <a:r>
              <a:rPr sz="32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中选</a:t>
            </a:r>
            <a:r>
              <a:rPr sz="32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择</a:t>
            </a:r>
            <a:r>
              <a:rPr sz="3200" b="1" spc="-80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r>
              <a:rPr sz="32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使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得</a:t>
            </a:r>
            <a:r>
              <a:rPr sz="3200" b="1" spc="-80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r>
              <a:rPr sz="3200" b="1" i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3200" b="1" spc="-8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endParaRPr lang="en-US"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73287" marR="2230063" lvl="1">
              <a:lnSpc>
                <a:spcPct val="120000"/>
              </a:lnSpc>
              <a:spcBef>
                <a:spcPts val="133"/>
              </a:spcBef>
            </a:pPr>
            <a:r>
              <a:rPr lang="en-US"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</a:t>
            </a:r>
            <a:r>
              <a:rPr sz="32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中顶点的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32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权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</a:t>
            </a:r>
            <a:r>
              <a:rPr sz="32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</a:t>
            </a:r>
            <a:endParaRPr lang="en-US"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30437" marR="2230063" indent="-514350">
              <a:lnSpc>
                <a:spcPct val="120000"/>
              </a:lnSpc>
              <a:spcBef>
                <a:spcPts val="133"/>
              </a:spcBef>
              <a:buFont typeface="+mj-lt"/>
              <a:buAutoNum type="arabicPeriod"/>
            </a:pPr>
            <a:r>
              <a:rPr lang="en-US" sz="3200" b="1" i="1" spc="-7" dirty="0">
                <a:latin typeface="宋体"/>
                <a:cs typeface="Times New Roman"/>
              </a:rPr>
              <a:t> </a:t>
            </a:r>
            <a:r>
              <a:rPr lang="en-US" sz="3200" b="1" i="1" spc="-7" dirty="0" smtClean="0">
                <a:latin typeface="宋体"/>
                <a:cs typeface="Times New Roman"/>
              </a:rPr>
              <a:t>  </a:t>
            </a:r>
            <a:r>
              <a:rPr sz="3200" b="1" i="1" spc="-7" dirty="0" smtClean="0">
                <a:latin typeface="Times New Roman"/>
                <a:cs typeface="Times New Roman"/>
              </a:rPr>
              <a:t>S 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S </a:t>
            </a:r>
            <a:r>
              <a:rPr sz="3200" b="1" spc="-7" dirty="0">
                <a:latin typeface="Symbol"/>
                <a:cs typeface="Symbol"/>
              </a:rPr>
              <a:t></a:t>
            </a:r>
            <a:r>
              <a:rPr sz="3200" b="1" spc="-7" dirty="0">
                <a:latin typeface="Times New Roman"/>
                <a:cs typeface="Times New Roman"/>
              </a:rPr>
              <a:t>{ </a:t>
            </a:r>
            <a:r>
              <a:rPr sz="3200" b="1" i="1" dirty="0">
                <a:latin typeface="Times New Roman"/>
                <a:cs typeface="Times New Roman"/>
              </a:rPr>
              <a:t>j</a:t>
            </a:r>
            <a:r>
              <a:rPr sz="3200" b="1" i="1" spc="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}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 dirty="0">
              <a:latin typeface="Times New Roman"/>
              <a:cs typeface="Times New Roman"/>
            </a:endParaRPr>
          </a:p>
          <a:p>
            <a:pPr marR="6773" algn="r">
              <a:spcBef>
                <a:spcPts val="2753"/>
              </a:spcBef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82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34"/>
          <p:cNvSpPr txBox="1"/>
          <p:nvPr/>
        </p:nvSpPr>
        <p:spPr>
          <a:xfrm>
            <a:off x="7380770" y="3754936"/>
            <a:ext cx="2142913" cy="1446107"/>
          </a:xfrm>
          <a:prstGeom prst="rect">
            <a:avLst/>
          </a:prstGeom>
        </p:spPr>
        <p:txBody>
          <a:bodyPr vert="horz" wrap="square" lIns="0" tIns="251454" rIns="0" bIns="0" rtlCol="0">
            <a:spAutoFit/>
          </a:bodyPr>
          <a:lstStyle/>
          <a:p>
            <a:pPr marL="252300">
              <a:spcBef>
                <a:spcPts val="1980"/>
              </a:spcBef>
              <a:tabLst>
                <a:tab pos="1592540" algn="l"/>
              </a:tabLst>
            </a:pPr>
            <a:r>
              <a:rPr sz="2700" b="1" spc="-7" dirty="0">
                <a:latin typeface="Times New Roman"/>
                <a:cs typeface="Times New Roman"/>
              </a:rPr>
              <a:t>6	4</a:t>
            </a:r>
            <a:endParaRPr sz="2700" dirty="0">
              <a:latin typeface="Times New Roman"/>
              <a:cs typeface="Times New Roman"/>
            </a:endParaRPr>
          </a:p>
          <a:p>
            <a:pPr marL="67732">
              <a:spcBef>
                <a:spcPts val="2227"/>
              </a:spcBef>
              <a:tabLst>
                <a:tab pos="464808" algn="l"/>
                <a:tab pos="900831" algn="l"/>
                <a:tab pos="1651805" algn="l"/>
                <a:tab pos="1870240" algn="l"/>
              </a:tabLst>
            </a:pPr>
            <a:r>
              <a:rPr sz="4800" b="1" baseline="-27777" dirty="0">
                <a:latin typeface="Times New Roman"/>
                <a:cs typeface="Times New Roman"/>
              </a:rPr>
              <a:t>5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700" b="1" u="heavy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	</a:t>
            </a:r>
            <a:r>
              <a:rPr sz="2700" b="1" spc="-7" dirty="0">
                <a:latin typeface="Times New Roman"/>
                <a:cs typeface="Times New Roman"/>
              </a:rPr>
              <a:t>	</a:t>
            </a:r>
            <a:r>
              <a:rPr sz="4800" b="1" baseline="-12731" dirty="0">
                <a:latin typeface="Times New Roman"/>
                <a:cs typeface="Times New Roman"/>
              </a:rPr>
              <a:t>6</a:t>
            </a:r>
            <a:endParaRPr sz="4800" baseline="-12731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8049" y="324027"/>
            <a:ext cx="1390225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3" name="object 3"/>
          <p:cNvSpPr/>
          <p:nvPr/>
        </p:nvSpPr>
        <p:spPr>
          <a:xfrm>
            <a:off x="2593065" y="2509519"/>
            <a:ext cx="911860" cy="933027"/>
          </a:xfrm>
          <a:custGeom>
            <a:avLst/>
            <a:gdLst/>
            <a:ahLst/>
            <a:cxnLst/>
            <a:rect l="l" t="t" r="r" b="b"/>
            <a:pathLst>
              <a:path w="683894" h="699769">
                <a:moveTo>
                  <a:pt x="683514" y="0"/>
                </a:moveTo>
                <a:lnTo>
                  <a:pt x="0" y="69951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45160" y="3944111"/>
            <a:ext cx="628227" cy="1005840"/>
          </a:xfrm>
          <a:custGeom>
            <a:avLst/>
            <a:gdLst/>
            <a:ahLst/>
            <a:cxnLst/>
            <a:rect l="l" t="t" r="r" b="b"/>
            <a:pathLst>
              <a:path w="471169" h="754379">
                <a:moveTo>
                  <a:pt x="0" y="0"/>
                </a:moveTo>
                <a:lnTo>
                  <a:pt x="470916" y="75438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7609" y="3704335"/>
            <a:ext cx="1055793" cy="0"/>
          </a:xfrm>
          <a:custGeom>
            <a:avLst/>
            <a:gdLst/>
            <a:ahLst/>
            <a:cxnLst/>
            <a:rect l="l" t="t" r="r" b="b"/>
            <a:pathLst>
              <a:path w="791844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49855" y="2308353"/>
            <a:ext cx="73659" cy="1761913"/>
          </a:xfrm>
          <a:custGeom>
            <a:avLst/>
            <a:gdLst/>
            <a:ahLst/>
            <a:cxnLst/>
            <a:rect l="l" t="t" r="r" b="b"/>
            <a:pathLst>
              <a:path w="55244" h="1321435">
                <a:moveTo>
                  <a:pt x="0" y="0"/>
                </a:moveTo>
                <a:lnTo>
                  <a:pt x="54864" y="132130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20951" y="4070096"/>
            <a:ext cx="501227" cy="880533"/>
          </a:xfrm>
          <a:custGeom>
            <a:avLst/>
            <a:gdLst/>
            <a:ahLst/>
            <a:cxnLst/>
            <a:rect l="l" t="t" r="r" b="b"/>
            <a:pathLst>
              <a:path w="375919" h="660400">
                <a:moveTo>
                  <a:pt x="375666" y="0"/>
                </a:moveTo>
                <a:lnTo>
                  <a:pt x="0" y="6598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21713" y="3704335"/>
            <a:ext cx="881380" cy="0"/>
          </a:xfrm>
          <a:custGeom>
            <a:avLst/>
            <a:gdLst/>
            <a:ahLst/>
            <a:cxnLst/>
            <a:rect l="l" t="t" r="r" b="b"/>
            <a:pathLst>
              <a:path w="661035">
                <a:moveTo>
                  <a:pt x="0" y="0"/>
                </a:moveTo>
                <a:lnTo>
                  <a:pt x="660654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7759" y="3944111"/>
            <a:ext cx="628227" cy="880533"/>
          </a:xfrm>
          <a:custGeom>
            <a:avLst/>
            <a:gdLst/>
            <a:ahLst/>
            <a:cxnLst/>
            <a:rect l="l" t="t" r="r" b="b"/>
            <a:pathLst>
              <a:path w="471169" h="660400">
                <a:moveTo>
                  <a:pt x="0" y="0"/>
                </a:moveTo>
                <a:lnTo>
                  <a:pt x="470916" y="6598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85742" y="3996943"/>
            <a:ext cx="252307" cy="754380"/>
          </a:xfrm>
          <a:custGeom>
            <a:avLst/>
            <a:gdLst/>
            <a:ahLst/>
            <a:cxnLst/>
            <a:rect l="l" t="t" r="r" b="b"/>
            <a:pathLst>
              <a:path w="189230" h="565785">
                <a:moveTo>
                  <a:pt x="188975" y="0"/>
                </a:moveTo>
                <a:lnTo>
                  <a:pt x="0" y="56540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05887" y="2483103"/>
            <a:ext cx="1004147" cy="830580"/>
          </a:xfrm>
          <a:custGeom>
            <a:avLst/>
            <a:gdLst/>
            <a:ahLst/>
            <a:cxnLst/>
            <a:rect l="l" t="t" r="r" b="b"/>
            <a:pathLst>
              <a:path w="753110" h="622935">
                <a:moveTo>
                  <a:pt x="0" y="0"/>
                </a:moveTo>
                <a:lnTo>
                  <a:pt x="752856" y="6225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08480" y="2098040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8480" y="2098040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0" y="223265"/>
                </a:moveTo>
                <a:lnTo>
                  <a:pt x="4520" y="178270"/>
                </a:lnTo>
                <a:lnTo>
                  <a:pt x="17485" y="136361"/>
                </a:lnTo>
                <a:lnTo>
                  <a:pt x="38000" y="98436"/>
                </a:lnTo>
                <a:lnTo>
                  <a:pt x="65170" y="65393"/>
                </a:lnTo>
                <a:lnTo>
                  <a:pt x="98100" y="38130"/>
                </a:lnTo>
                <a:lnTo>
                  <a:pt x="135895" y="17545"/>
                </a:lnTo>
                <a:lnTo>
                  <a:pt x="177661" y="4536"/>
                </a:lnTo>
                <a:lnTo>
                  <a:pt x="222504" y="0"/>
                </a:lnTo>
                <a:lnTo>
                  <a:pt x="267346" y="4536"/>
                </a:lnTo>
                <a:lnTo>
                  <a:pt x="309112" y="17545"/>
                </a:lnTo>
                <a:lnTo>
                  <a:pt x="346907" y="38130"/>
                </a:lnTo>
                <a:lnTo>
                  <a:pt x="379837" y="65393"/>
                </a:lnTo>
                <a:lnTo>
                  <a:pt x="407007" y="98436"/>
                </a:lnTo>
                <a:lnTo>
                  <a:pt x="427522" y="136361"/>
                </a:lnTo>
                <a:lnTo>
                  <a:pt x="440487" y="178270"/>
                </a:lnTo>
                <a:lnTo>
                  <a:pt x="445008" y="223265"/>
                </a:lnTo>
                <a:lnTo>
                  <a:pt x="440487" y="268261"/>
                </a:lnTo>
                <a:lnTo>
                  <a:pt x="427522" y="310170"/>
                </a:lnTo>
                <a:lnTo>
                  <a:pt x="407007" y="348095"/>
                </a:lnTo>
                <a:lnTo>
                  <a:pt x="379837" y="381138"/>
                </a:lnTo>
                <a:lnTo>
                  <a:pt x="346907" y="408401"/>
                </a:lnTo>
                <a:lnTo>
                  <a:pt x="309112" y="428986"/>
                </a:lnTo>
                <a:lnTo>
                  <a:pt x="267346" y="441995"/>
                </a:lnTo>
                <a:lnTo>
                  <a:pt x="222504" y="446531"/>
                </a:lnTo>
                <a:lnTo>
                  <a:pt x="177661" y="441995"/>
                </a:lnTo>
                <a:lnTo>
                  <a:pt x="135895" y="428986"/>
                </a:lnTo>
                <a:lnTo>
                  <a:pt x="98100" y="408401"/>
                </a:lnTo>
                <a:lnTo>
                  <a:pt x="65170" y="381138"/>
                </a:lnTo>
                <a:lnTo>
                  <a:pt x="38000" y="348095"/>
                </a:lnTo>
                <a:lnTo>
                  <a:pt x="17485" y="310170"/>
                </a:lnTo>
                <a:lnTo>
                  <a:pt x="4520" y="268261"/>
                </a:lnTo>
                <a:lnTo>
                  <a:pt x="0" y="22326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86909" y="2120677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7848" y="330708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07848" y="330708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86004" y="3330442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8632" y="330708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78632" y="330708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56789" y="3330442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97888" y="3482847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97888" y="3482847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776111" y="3505772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59688" y="4864607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59688" y="4864607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0" y="223647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7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4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63087" y="4756913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63087" y="4756913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13155" y="2514117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6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44137" y="2856505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15380" y="2412619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96673" y="3111265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93821" y="4246695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3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3325" y="3111265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7598" y="3758555"/>
            <a:ext cx="2142913" cy="1446107"/>
          </a:xfrm>
          <a:prstGeom prst="rect">
            <a:avLst/>
          </a:prstGeom>
        </p:spPr>
        <p:txBody>
          <a:bodyPr vert="horz" wrap="square" lIns="0" tIns="251454" rIns="0" bIns="0" rtlCol="0">
            <a:spAutoFit/>
          </a:bodyPr>
          <a:lstStyle/>
          <a:p>
            <a:pPr marL="252300">
              <a:spcBef>
                <a:spcPts val="1980"/>
              </a:spcBef>
              <a:tabLst>
                <a:tab pos="1592540" algn="l"/>
              </a:tabLst>
            </a:pPr>
            <a:r>
              <a:rPr sz="2700" b="1" spc="-7" dirty="0">
                <a:latin typeface="Times New Roman"/>
                <a:cs typeface="Times New Roman"/>
              </a:rPr>
              <a:t>6	4</a:t>
            </a:r>
            <a:endParaRPr sz="2700" dirty="0">
              <a:latin typeface="Times New Roman"/>
              <a:cs typeface="Times New Roman"/>
            </a:endParaRPr>
          </a:p>
          <a:p>
            <a:pPr marL="67732">
              <a:spcBef>
                <a:spcPts val="2227"/>
              </a:spcBef>
              <a:tabLst>
                <a:tab pos="464808" algn="l"/>
                <a:tab pos="900831" algn="l"/>
                <a:tab pos="1651805" algn="l"/>
                <a:tab pos="1870240" algn="l"/>
              </a:tabLst>
            </a:pPr>
            <a:r>
              <a:rPr sz="4800" b="1" baseline="-27777" dirty="0">
                <a:latin typeface="Times New Roman"/>
                <a:cs typeface="Times New Roman"/>
              </a:rPr>
              <a:t>5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700" b="1" u="heavy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	</a:t>
            </a:r>
            <a:r>
              <a:rPr sz="2700" b="1" spc="-7" dirty="0">
                <a:latin typeface="Times New Roman"/>
                <a:cs typeface="Times New Roman"/>
              </a:rPr>
              <a:t>	</a:t>
            </a:r>
            <a:r>
              <a:rPr sz="4800" b="1" baseline="-12731" dirty="0">
                <a:latin typeface="Times New Roman"/>
                <a:cs typeface="Times New Roman"/>
              </a:rPr>
              <a:t>6</a:t>
            </a:r>
            <a:endParaRPr sz="4800" baseline="-12731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63809" y="4247033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4" name="object 3"/>
          <p:cNvSpPr/>
          <p:nvPr/>
        </p:nvSpPr>
        <p:spPr>
          <a:xfrm>
            <a:off x="7086237" y="2505900"/>
            <a:ext cx="911860" cy="933027"/>
          </a:xfrm>
          <a:custGeom>
            <a:avLst/>
            <a:gdLst/>
            <a:ahLst/>
            <a:cxnLst/>
            <a:rect l="l" t="t" r="r" b="b"/>
            <a:pathLst>
              <a:path w="683894" h="699769">
                <a:moveTo>
                  <a:pt x="683514" y="0"/>
                </a:moveTo>
                <a:lnTo>
                  <a:pt x="0" y="69951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4"/>
          <p:cNvSpPr/>
          <p:nvPr/>
        </p:nvSpPr>
        <p:spPr>
          <a:xfrm>
            <a:off x="6838332" y="3940492"/>
            <a:ext cx="628227" cy="1005840"/>
          </a:xfrm>
          <a:custGeom>
            <a:avLst/>
            <a:gdLst/>
            <a:ahLst/>
            <a:cxnLst/>
            <a:rect l="l" t="t" r="r" b="b"/>
            <a:pathLst>
              <a:path w="471169" h="754379">
                <a:moveTo>
                  <a:pt x="0" y="0"/>
                </a:moveTo>
                <a:lnTo>
                  <a:pt x="470916" y="75438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"/>
          <p:cNvSpPr/>
          <p:nvPr/>
        </p:nvSpPr>
        <p:spPr>
          <a:xfrm>
            <a:off x="7120781" y="3700716"/>
            <a:ext cx="1055793" cy="0"/>
          </a:xfrm>
          <a:custGeom>
            <a:avLst/>
            <a:gdLst/>
            <a:ahLst/>
            <a:cxnLst/>
            <a:rect l="l" t="t" r="r" b="b"/>
            <a:pathLst>
              <a:path w="791844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"/>
          <p:cNvSpPr/>
          <p:nvPr/>
        </p:nvSpPr>
        <p:spPr>
          <a:xfrm>
            <a:off x="8343027" y="2304734"/>
            <a:ext cx="73659" cy="1761913"/>
          </a:xfrm>
          <a:custGeom>
            <a:avLst/>
            <a:gdLst/>
            <a:ahLst/>
            <a:cxnLst/>
            <a:rect l="l" t="t" r="r" b="b"/>
            <a:pathLst>
              <a:path w="55244" h="1321435">
                <a:moveTo>
                  <a:pt x="0" y="0"/>
                </a:moveTo>
                <a:lnTo>
                  <a:pt x="54864" y="132130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7"/>
          <p:cNvSpPr/>
          <p:nvPr/>
        </p:nvSpPr>
        <p:spPr>
          <a:xfrm>
            <a:off x="7714123" y="4066477"/>
            <a:ext cx="501227" cy="880533"/>
          </a:xfrm>
          <a:custGeom>
            <a:avLst/>
            <a:gdLst/>
            <a:ahLst/>
            <a:cxnLst/>
            <a:rect l="l" t="t" r="r" b="b"/>
            <a:pathLst>
              <a:path w="375919" h="660400">
                <a:moveTo>
                  <a:pt x="375666" y="0"/>
                </a:moveTo>
                <a:lnTo>
                  <a:pt x="0" y="6598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8"/>
          <p:cNvSpPr/>
          <p:nvPr/>
        </p:nvSpPr>
        <p:spPr>
          <a:xfrm>
            <a:off x="8714885" y="3700716"/>
            <a:ext cx="881380" cy="0"/>
          </a:xfrm>
          <a:custGeom>
            <a:avLst/>
            <a:gdLst/>
            <a:ahLst/>
            <a:cxnLst/>
            <a:rect l="l" t="t" r="r" b="b"/>
            <a:pathLst>
              <a:path w="661035">
                <a:moveTo>
                  <a:pt x="0" y="0"/>
                </a:moveTo>
                <a:lnTo>
                  <a:pt x="660654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9"/>
          <p:cNvSpPr/>
          <p:nvPr/>
        </p:nvSpPr>
        <p:spPr>
          <a:xfrm>
            <a:off x="8590931" y="3940492"/>
            <a:ext cx="628227" cy="880533"/>
          </a:xfrm>
          <a:custGeom>
            <a:avLst/>
            <a:gdLst/>
            <a:ahLst/>
            <a:cxnLst/>
            <a:rect l="l" t="t" r="r" b="b"/>
            <a:pathLst>
              <a:path w="471169" h="660400">
                <a:moveTo>
                  <a:pt x="0" y="0"/>
                </a:moveTo>
                <a:lnTo>
                  <a:pt x="470916" y="6598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10"/>
          <p:cNvSpPr/>
          <p:nvPr/>
        </p:nvSpPr>
        <p:spPr>
          <a:xfrm>
            <a:off x="9478914" y="3993324"/>
            <a:ext cx="252307" cy="754380"/>
          </a:xfrm>
          <a:custGeom>
            <a:avLst/>
            <a:gdLst/>
            <a:ahLst/>
            <a:cxnLst/>
            <a:rect l="l" t="t" r="r" b="b"/>
            <a:pathLst>
              <a:path w="189230" h="565785">
                <a:moveTo>
                  <a:pt x="188975" y="0"/>
                </a:moveTo>
                <a:lnTo>
                  <a:pt x="0" y="56540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11"/>
          <p:cNvSpPr/>
          <p:nvPr/>
        </p:nvSpPr>
        <p:spPr>
          <a:xfrm>
            <a:off x="8599059" y="2479484"/>
            <a:ext cx="1004147" cy="830580"/>
          </a:xfrm>
          <a:custGeom>
            <a:avLst/>
            <a:gdLst/>
            <a:ahLst/>
            <a:cxnLst/>
            <a:rect l="l" t="t" r="r" b="b"/>
            <a:pathLst>
              <a:path w="753110" h="622935">
                <a:moveTo>
                  <a:pt x="0" y="0"/>
                </a:moveTo>
                <a:lnTo>
                  <a:pt x="752856" y="6225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12"/>
          <p:cNvSpPr/>
          <p:nvPr/>
        </p:nvSpPr>
        <p:spPr>
          <a:xfrm>
            <a:off x="8001652" y="2094421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3"/>
          <p:cNvSpPr/>
          <p:nvPr/>
        </p:nvSpPr>
        <p:spPr>
          <a:xfrm>
            <a:off x="8001652" y="2094421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0" y="223265"/>
                </a:moveTo>
                <a:lnTo>
                  <a:pt x="4520" y="178270"/>
                </a:lnTo>
                <a:lnTo>
                  <a:pt x="17485" y="136361"/>
                </a:lnTo>
                <a:lnTo>
                  <a:pt x="38000" y="98436"/>
                </a:lnTo>
                <a:lnTo>
                  <a:pt x="65170" y="65393"/>
                </a:lnTo>
                <a:lnTo>
                  <a:pt x="98100" y="38130"/>
                </a:lnTo>
                <a:lnTo>
                  <a:pt x="135895" y="17545"/>
                </a:lnTo>
                <a:lnTo>
                  <a:pt x="177661" y="4536"/>
                </a:lnTo>
                <a:lnTo>
                  <a:pt x="222504" y="0"/>
                </a:lnTo>
                <a:lnTo>
                  <a:pt x="267346" y="4536"/>
                </a:lnTo>
                <a:lnTo>
                  <a:pt x="309112" y="17545"/>
                </a:lnTo>
                <a:lnTo>
                  <a:pt x="346907" y="38130"/>
                </a:lnTo>
                <a:lnTo>
                  <a:pt x="379837" y="65393"/>
                </a:lnTo>
                <a:lnTo>
                  <a:pt x="407007" y="98436"/>
                </a:lnTo>
                <a:lnTo>
                  <a:pt x="427522" y="136361"/>
                </a:lnTo>
                <a:lnTo>
                  <a:pt x="440487" y="178270"/>
                </a:lnTo>
                <a:lnTo>
                  <a:pt x="445008" y="223265"/>
                </a:lnTo>
                <a:lnTo>
                  <a:pt x="440487" y="268261"/>
                </a:lnTo>
                <a:lnTo>
                  <a:pt x="427522" y="310170"/>
                </a:lnTo>
                <a:lnTo>
                  <a:pt x="407007" y="348095"/>
                </a:lnTo>
                <a:lnTo>
                  <a:pt x="379837" y="381138"/>
                </a:lnTo>
                <a:lnTo>
                  <a:pt x="346907" y="408401"/>
                </a:lnTo>
                <a:lnTo>
                  <a:pt x="309112" y="428986"/>
                </a:lnTo>
                <a:lnTo>
                  <a:pt x="267346" y="441995"/>
                </a:lnTo>
                <a:lnTo>
                  <a:pt x="222504" y="446531"/>
                </a:lnTo>
                <a:lnTo>
                  <a:pt x="177661" y="441995"/>
                </a:lnTo>
                <a:lnTo>
                  <a:pt x="135895" y="428986"/>
                </a:lnTo>
                <a:lnTo>
                  <a:pt x="98100" y="408401"/>
                </a:lnTo>
                <a:lnTo>
                  <a:pt x="65170" y="381138"/>
                </a:lnTo>
                <a:lnTo>
                  <a:pt x="38000" y="348095"/>
                </a:lnTo>
                <a:lnTo>
                  <a:pt x="17485" y="310170"/>
                </a:lnTo>
                <a:lnTo>
                  <a:pt x="4520" y="268261"/>
                </a:lnTo>
                <a:lnTo>
                  <a:pt x="0" y="22326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14"/>
          <p:cNvSpPr txBox="1"/>
          <p:nvPr/>
        </p:nvSpPr>
        <p:spPr>
          <a:xfrm>
            <a:off x="8180081" y="2117058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6" name="object 15"/>
          <p:cNvSpPr/>
          <p:nvPr/>
        </p:nvSpPr>
        <p:spPr>
          <a:xfrm>
            <a:off x="6501020" y="3303462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6"/>
          <p:cNvSpPr/>
          <p:nvPr/>
        </p:nvSpPr>
        <p:spPr>
          <a:xfrm>
            <a:off x="6501020" y="3303462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7"/>
          <p:cNvSpPr txBox="1"/>
          <p:nvPr/>
        </p:nvSpPr>
        <p:spPr>
          <a:xfrm>
            <a:off x="6679176" y="3326823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2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9" name="object 18"/>
          <p:cNvSpPr/>
          <p:nvPr/>
        </p:nvSpPr>
        <p:spPr>
          <a:xfrm>
            <a:off x="9471804" y="3303462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19"/>
          <p:cNvSpPr/>
          <p:nvPr/>
        </p:nvSpPr>
        <p:spPr>
          <a:xfrm>
            <a:off x="9471804" y="3303462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0"/>
          <p:cNvSpPr txBox="1"/>
          <p:nvPr/>
        </p:nvSpPr>
        <p:spPr>
          <a:xfrm>
            <a:off x="9649961" y="3326823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4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2" name="object 21"/>
          <p:cNvSpPr/>
          <p:nvPr/>
        </p:nvSpPr>
        <p:spPr>
          <a:xfrm>
            <a:off x="8091060" y="3479228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22"/>
          <p:cNvSpPr/>
          <p:nvPr/>
        </p:nvSpPr>
        <p:spPr>
          <a:xfrm>
            <a:off x="8091060" y="3479228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23"/>
          <p:cNvSpPr txBox="1"/>
          <p:nvPr/>
        </p:nvSpPr>
        <p:spPr>
          <a:xfrm>
            <a:off x="8269283" y="3502153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24"/>
          <p:cNvSpPr/>
          <p:nvPr/>
        </p:nvSpPr>
        <p:spPr>
          <a:xfrm>
            <a:off x="7252860" y="4860988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25"/>
          <p:cNvSpPr/>
          <p:nvPr/>
        </p:nvSpPr>
        <p:spPr>
          <a:xfrm>
            <a:off x="7252860" y="4860988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0" y="223647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7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4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26"/>
          <p:cNvSpPr/>
          <p:nvPr/>
        </p:nvSpPr>
        <p:spPr>
          <a:xfrm>
            <a:off x="9056259" y="4753294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7"/>
          <p:cNvSpPr/>
          <p:nvPr/>
        </p:nvSpPr>
        <p:spPr>
          <a:xfrm>
            <a:off x="9056259" y="4753294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28"/>
          <p:cNvSpPr txBox="1"/>
          <p:nvPr/>
        </p:nvSpPr>
        <p:spPr>
          <a:xfrm>
            <a:off x="7346292" y="2603808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6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80" name="object 29"/>
          <p:cNvSpPr txBox="1"/>
          <p:nvPr/>
        </p:nvSpPr>
        <p:spPr>
          <a:xfrm>
            <a:off x="8537309" y="2852886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1" name="object 30"/>
          <p:cNvSpPr txBox="1"/>
          <p:nvPr/>
        </p:nvSpPr>
        <p:spPr>
          <a:xfrm>
            <a:off x="9208552" y="2530303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82" name="object 31"/>
          <p:cNvSpPr txBox="1"/>
          <p:nvPr/>
        </p:nvSpPr>
        <p:spPr>
          <a:xfrm>
            <a:off x="7489845" y="3219618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83" name="object 32"/>
          <p:cNvSpPr txBox="1"/>
          <p:nvPr/>
        </p:nvSpPr>
        <p:spPr>
          <a:xfrm>
            <a:off x="6826958" y="4243076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3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84" name="object 33"/>
          <p:cNvSpPr txBox="1"/>
          <p:nvPr/>
        </p:nvSpPr>
        <p:spPr>
          <a:xfrm>
            <a:off x="8956497" y="3228949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6" name="object 35"/>
          <p:cNvSpPr txBox="1"/>
          <p:nvPr/>
        </p:nvSpPr>
        <p:spPr>
          <a:xfrm>
            <a:off x="9686138" y="4120693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2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87" name="object 12"/>
          <p:cNvSpPr/>
          <p:nvPr/>
        </p:nvSpPr>
        <p:spPr>
          <a:xfrm>
            <a:off x="8006023" y="2089359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4"/>
          <p:cNvSpPr txBox="1"/>
          <p:nvPr/>
        </p:nvSpPr>
        <p:spPr>
          <a:xfrm>
            <a:off x="8186211" y="2117280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0" name="object 12"/>
          <p:cNvSpPr/>
          <p:nvPr/>
        </p:nvSpPr>
        <p:spPr>
          <a:xfrm>
            <a:off x="8091718" y="3487246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6"/>
          <p:cNvSpPr/>
          <p:nvPr/>
        </p:nvSpPr>
        <p:spPr>
          <a:xfrm>
            <a:off x="8342794" y="2231411"/>
            <a:ext cx="73659" cy="1761913"/>
          </a:xfrm>
          <a:custGeom>
            <a:avLst/>
            <a:gdLst/>
            <a:ahLst/>
            <a:cxnLst/>
            <a:rect l="l" t="t" r="r" b="b"/>
            <a:pathLst>
              <a:path w="55244" h="1321435">
                <a:moveTo>
                  <a:pt x="0" y="0"/>
                </a:moveTo>
                <a:lnTo>
                  <a:pt x="54864" y="1321308"/>
                </a:lnTo>
              </a:path>
            </a:pathLst>
          </a:custGeom>
          <a:ln w="28956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14"/>
          <p:cNvSpPr txBox="1"/>
          <p:nvPr/>
        </p:nvSpPr>
        <p:spPr>
          <a:xfrm>
            <a:off x="8262575" y="3524498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 b="1" dirty="0" smtClean="0">
                <a:latin typeface="Times New Roman"/>
                <a:cs typeface="Times New Roman"/>
              </a:rPr>
              <a:t>3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3" name="object 9"/>
          <p:cNvSpPr/>
          <p:nvPr/>
        </p:nvSpPr>
        <p:spPr>
          <a:xfrm>
            <a:off x="8603811" y="3956977"/>
            <a:ext cx="628227" cy="880533"/>
          </a:xfrm>
          <a:custGeom>
            <a:avLst/>
            <a:gdLst/>
            <a:ahLst/>
            <a:cxnLst/>
            <a:rect l="l" t="t" r="r" b="b"/>
            <a:pathLst>
              <a:path w="471169" h="660400">
                <a:moveTo>
                  <a:pt x="0" y="0"/>
                </a:moveTo>
                <a:lnTo>
                  <a:pt x="470916" y="659892"/>
                </a:lnTo>
              </a:path>
            </a:pathLst>
          </a:custGeom>
          <a:ln w="28956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2"/>
          <p:cNvSpPr/>
          <p:nvPr/>
        </p:nvSpPr>
        <p:spPr>
          <a:xfrm>
            <a:off x="9069675" y="4756913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4"/>
          <p:cNvSpPr txBox="1"/>
          <p:nvPr/>
        </p:nvSpPr>
        <p:spPr>
          <a:xfrm>
            <a:off x="9240532" y="4794165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 b="1" dirty="0" smtClean="0">
                <a:latin typeface="Times New Roman"/>
                <a:cs typeface="Times New Roman"/>
              </a:rPr>
              <a:t>6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6" name="object 14"/>
          <p:cNvSpPr txBox="1"/>
          <p:nvPr/>
        </p:nvSpPr>
        <p:spPr>
          <a:xfrm>
            <a:off x="9231127" y="4790970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 b="1" dirty="0" smtClean="0">
                <a:latin typeface="Times New Roman"/>
                <a:cs typeface="Times New Roman"/>
              </a:rPr>
              <a:t>6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7" name="object 14"/>
          <p:cNvSpPr txBox="1"/>
          <p:nvPr/>
        </p:nvSpPr>
        <p:spPr>
          <a:xfrm>
            <a:off x="7416493" y="4909934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 b="1" dirty="0" smtClean="0">
                <a:latin typeface="Times New Roman"/>
                <a:cs typeface="Times New Roman"/>
              </a:rPr>
              <a:t>5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8" name="object 10"/>
          <p:cNvSpPr/>
          <p:nvPr/>
        </p:nvSpPr>
        <p:spPr>
          <a:xfrm>
            <a:off x="9472100" y="3985336"/>
            <a:ext cx="252307" cy="754380"/>
          </a:xfrm>
          <a:custGeom>
            <a:avLst/>
            <a:gdLst/>
            <a:ahLst/>
            <a:cxnLst/>
            <a:rect l="l" t="t" r="r" b="b"/>
            <a:pathLst>
              <a:path w="189230" h="565785">
                <a:moveTo>
                  <a:pt x="188975" y="0"/>
                </a:moveTo>
                <a:lnTo>
                  <a:pt x="0" y="565404"/>
                </a:lnTo>
              </a:path>
            </a:pathLst>
          </a:custGeom>
          <a:ln w="28956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8"/>
          <p:cNvSpPr/>
          <p:nvPr/>
        </p:nvSpPr>
        <p:spPr>
          <a:xfrm>
            <a:off x="9481718" y="3305049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20"/>
          <p:cNvSpPr txBox="1"/>
          <p:nvPr/>
        </p:nvSpPr>
        <p:spPr>
          <a:xfrm>
            <a:off x="9659875" y="3328410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4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01" name="object 5"/>
          <p:cNvSpPr/>
          <p:nvPr/>
        </p:nvSpPr>
        <p:spPr>
          <a:xfrm>
            <a:off x="7058127" y="3700716"/>
            <a:ext cx="1055793" cy="0"/>
          </a:xfrm>
          <a:custGeom>
            <a:avLst/>
            <a:gdLst/>
            <a:ahLst/>
            <a:cxnLst/>
            <a:rect l="l" t="t" r="r" b="b"/>
            <a:pathLst>
              <a:path w="791844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8956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5"/>
          <p:cNvSpPr/>
          <p:nvPr/>
        </p:nvSpPr>
        <p:spPr>
          <a:xfrm>
            <a:off x="6504235" y="3304583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7"/>
          <p:cNvSpPr txBox="1"/>
          <p:nvPr/>
        </p:nvSpPr>
        <p:spPr>
          <a:xfrm>
            <a:off x="6682391" y="3327944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2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04" name="object 4"/>
          <p:cNvSpPr/>
          <p:nvPr/>
        </p:nvSpPr>
        <p:spPr>
          <a:xfrm>
            <a:off x="6831251" y="3948048"/>
            <a:ext cx="628227" cy="1005840"/>
          </a:xfrm>
          <a:custGeom>
            <a:avLst/>
            <a:gdLst/>
            <a:ahLst/>
            <a:cxnLst/>
            <a:rect l="l" t="t" r="r" b="b"/>
            <a:pathLst>
              <a:path w="471169" h="754379">
                <a:moveTo>
                  <a:pt x="0" y="0"/>
                </a:moveTo>
                <a:lnTo>
                  <a:pt x="470916" y="754380"/>
                </a:lnTo>
              </a:path>
            </a:pathLst>
          </a:custGeom>
          <a:ln w="28956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24"/>
          <p:cNvSpPr/>
          <p:nvPr/>
        </p:nvSpPr>
        <p:spPr>
          <a:xfrm>
            <a:off x="7256671" y="4873286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4"/>
          <p:cNvSpPr txBox="1"/>
          <p:nvPr/>
        </p:nvSpPr>
        <p:spPr>
          <a:xfrm>
            <a:off x="7420304" y="4922232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 b="1" dirty="0" smtClean="0">
                <a:latin typeface="Times New Roman"/>
                <a:cs typeface="Times New Roman"/>
              </a:rPr>
              <a:t>5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277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/>
      <p:bldP spid="90" grpId="0" animBg="1"/>
      <p:bldP spid="92" grpId="0" animBg="1"/>
      <p:bldP spid="91" grpId="0"/>
      <p:bldP spid="93" grpId="0" animBg="1"/>
      <p:bldP spid="94" grpId="0" animBg="1"/>
      <p:bldP spid="95" grpId="0"/>
      <p:bldP spid="98" grpId="0" animBg="1"/>
      <p:bldP spid="99" grpId="0" animBg="1"/>
      <p:bldP spid="100" grpId="0"/>
      <p:bldP spid="101" grpId="0" animBg="1"/>
      <p:bldP spid="102" grpId="0" animBg="1"/>
      <p:bldP spid="103" grpId="0"/>
      <p:bldP spid="104" grpId="0" animBg="1"/>
      <p:bldP spid="107" grpId="0" animBg="1"/>
      <p:bldP spid="10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1018" y="454733"/>
            <a:ext cx="783466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时间复杂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054" y="1431882"/>
            <a:ext cx="10516705" cy="21133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 marR="1085398">
              <a:lnSpc>
                <a:spcPct val="141700"/>
              </a:lnSpc>
              <a:spcBef>
                <a:spcPts val="133"/>
              </a:spcBef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算法步骤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执行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32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次 </a:t>
            </a:r>
            <a:endParaRPr lang="en-US" sz="3200" b="1" spc="-13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3866" marR="1085398">
              <a:lnSpc>
                <a:spcPct val="141700"/>
              </a:lnSpc>
              <a:spcBef>
                <a:spcPts val="133"/>
              </a:spcBef>
            </a:pPr>
            <a:r>
              <a:rPr sz="32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每次执行</a:t>
            </a:r>
            <a:r>
              <a:rPr sz="3200" b="1" i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32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时间</a:t>
            </a:r>
            <a:r>
              <a:rPr lang="zh-CN" altLang="en-US"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32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找连</a:t>
            </a:r>
            <a:r>
              <a:rPr sz="32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接</a:t>
            </a:r>
            <a:r>
              <a:rPr sz="3200" b="1" spc="-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sz="3200" b="1" i="1" spc="-67" dirty="0">
                <a:latin typeface="Times New Roman"/>
                <a:cs typeface="Times New Roman"/>
              </a:rPr>
              <a:t>V-S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3866">
              <a:spcBef>
                <a:spcPts val="1527"/>
              </a:spcBef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算法时间：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3200" b="1" spc="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32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spc="-9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5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8252" y="327733"/>
            <a:ext cx="5690549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lang="en-US" sz="4000" b="1" spc="-13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Kruskal</a:t>
            </a:r>
            <a:r>
              <a:rPr lang="zh-CN" altLang="en-US"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</a:t>
            </a:r>
            <a:r>
              <a:rPr sz="4000" b="1" spc="-13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设计思</a:t>
            </a:r>
            <a:r>
              <a:rPr sz="4000" b="1" spc="-2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想</a:t>
            </a:r>
            <a:endParaRPr sz="4000" b="1" spc="-2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386" y="1232747"/>
            <a:ext cx="10945507" cy="1079780"/>
          </a:xfrm>
          <a:prstGeom prst="rect">
            <a:avLst/>
          </a:prstGeom>
        </p:spPr>
        <p:txBody>
          <a:bodyPr vert="horz" wrap="square" lIns="0" tIns="114297" rIns="0" bIns="0" rtlCol="0">
            <a:spAutoFit/>
          </a:bodyPr>
          <a:lstStyle/>
          <a:p>
            <a:pPr marL="16933">
              <a:spcBef>
                <a:spcPts val="900"/>
              </a:spcBef>
            </a:pPr>
            <a:r>
              <a:rPr sz="2800" b="1" spc="-7" dirty="0" err="1">
                <a:latin typeface="黑体" pitchFamily="49" charset="-122"/>
                <a:ea typeface="黑体" pitchFamily="49" charset="-122"/>
                <a:cs typeface="宋体"/>
              </a:rPr>
              <a:t>输入：</a:t>
            </a:r>
            <a:r>
              <a:rPr sz="2800" b="1" spc="-7" dirty="0" err="1" smtClean="0">
                <a:latin typeface="黑体" pitchFamily="49" charset="-122"/>
                <a:ea typeface="黑体" pitchFamily="49" charset="-122"/>
                <a:cs typeface="宋体"/>
              </a:rPr>
              <a:t>图</a:t>
            </a:r>
            <a:r>
              <a:rPr lang="en-US" sz="2800" b="1" spc="-7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G</a:t>
            </a:r>
            <a:r>
              <a:rPr lang="en-US" sz="2800" b="1" i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=(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i="1" spc="-2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),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Times New Roman"/>
                <a:cs typeface="Times New Roman"/>
              </a:rPr>
              <a:t>={1,2,…,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767"/>
              </a:spcBef>
            </a:pPr>
            <a:r>
              <a:rPr sz="2800" b="1" spc="-7" dirty="0" err="1">
                <a:latin typeface="黑体" pitchFamily="49" charset="-122"/>
                <a:ea typeface="黑体" pitchFamily="49" charset="-122"/>
                <a:cs typeface="宋体"/>
              </a:rPr>
              <a:t>输出：</a:t>
            </a:r>
            <a:r>
              <a:rPr sz="2800" b="1" i="1" spc="-7" dirty="0" err="1" smtClean="0">
                <a:latin typeface="黑体" pitchFamily="49" charset="-122"/>
                <a:ea typeface="黑体" pitchFamily="49" charset="-122"/>
                <a:cs typeface="Times New Roman"/>
              </a:rPr>
              <a:t>G</a:t>
            </a:r>
            <a:r>
              <a:rPr lang="en-US" sz="2800" b="1" i="1" spc="-7" dirty="0" smtClean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的最小生成</a:t>
            </a:r>
            <a:r>
              <a:rPr sz="2800" b="1" spc="-13" dirty="0" err="1" smtClean="0">
                <a:latin typeface="黑体" pitchFamily="49" charset="-122"/>
                <a:ea typeface="黑体" pitchFamily="49" charset="-122"/>
                <a:cs typeface="宋体"/>
              </a:rPr>
              <a:t>树</a:t>
            </a:r>
            <a:r>
              <a:rPr sz="2800" b="1" spc="-780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T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7" y="2549481"/>
            <a:ext cx="10945506" cy="2956359"/>
          </a:xfrm>
          <a:prstGeom prst="rect">
            <a:avLst/>
          </a:prstGeom>
        </p:spPr>
        <p:txBody>
          <a:bodyPr vert="horz" wrap="square" lIns="0" tIns="220128" rIns="0" bIns="0" rtlCol="0">
            <a:spAutoFit/>
          </a:bodyPr>
          <a:lstStyle/>
          <a:p>
            <a:pPr marL="16933">
              <a:spcBef>
                <a:spcPts val="1733"/>
              </a:spcBef>
            </a:pPr>
            <a:r>
              <a:rPr sz="28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设计思想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592652" indent="-576564">
              <a:spcBef>
                <a:spcPts val="1600"/>
              </a:spcBef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按照长度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从小到大对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593497" marR="6773" indent="-593497">
              <a:lnSpc>
                <a:spcPts val="4240"/>
              </a:lnSpc>
              <a:spcBef>
                <a:spcPts val="207"/>
              </a:spcBef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依次考察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当前最短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sz="2800" b="1" spc="-8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i="1" spc="-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1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sz="2800" b="1" spc="-13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果</a:t>
            </a:r>
            <a:r>
              <a:rPr lang="en-US" sz="2800" b="1" spc="-13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827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sz="28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3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i="1" spc="-2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的边不构</a:t>
            </a:r>
            <a:r>
              <a:rPr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成回路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9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sz="2800" b="1" i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入 树</a:t>
            </a:r>
            <a:r>
              <a:rPr sz="2800" b="1" spc="-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sz="2800" b="1" i="1" spc="-7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endParaRPr lang="en-US" sz="2800" b="1" i="1" spc="-7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773">
              <a:lnSpc>
                <a:spcPts val="4240"/>
              </a:lnSpc>
              <a:spcBef>
                <a:spcPts val="207"/>
              </a:spcBef>
              <a:tabLst>
                <a:tab pos="593497" algn="l"/>
              </a:tabLst>
            </a:pPr>
            <a:r>
              <a:rPr lang="en-US" sz="2800" b="1" i="1" spc="-7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i="1" spc="-7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否则跳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sz="2800" b="1" spc="-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e.</a:t>
            </a:r>
            <a:r>
              <a:rPr sz="2800" b="1" i="1" spc="-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直到选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择了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 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条边为止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03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410" y="287517"/>
            <a:ext cx="5557649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伪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653" y="976105"/>
            <a:ext cx="10892217" cy="4472035"/>
          </a:xfrm>
          <a:prstGeom prst="rect">
            <a:avLst/>
          </a:prstGeom>
        </p:spPr>
        <p:txBody>
          <a:bodyPr vert="horz" wrap="square" lIns="0" tIns="67732" rIns="0" bIns="0" rtlCol="0">
            <a:spAutoFit/>
          </a:bodyPr>
          <a:lstStyle/>
          <a:p>
            <a:pPr marL="84665">
              <a:spcBef>
                <a:spcPts val="533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Kruskal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4665" marR="386917">
              <a:lnSpc>
                <a:spcPct val="111400"/>
              </a:lnSpc>
              <a:tabLst>
                <a:tab pos="3253659" algn="l"/>
              </a:tabLst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输入：连通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图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G	//</a:t>
            </a:r>
            <a:r>
              <a:rPr sz="2800" b="1" i="1" spc="-10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顶点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i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，边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i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</a:t>
            </a:r>
            <a:endParaRPr lang="en-US" sz="2800" b="1" i="1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4665" marR="386917">
              <a:lnSpc>
                <a:spcPct val="111400"/>
              </a:lnSpc>
              <a:tabLst>
                <a:tab pos="3253659" algn="l"/>
              </a:tabLst>
            </a:pP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输出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i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G</a:t>
            </a:r>
            <a:r>
              <a:rPr sz="2800" b="1" i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的最小生成树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4665" marR="74505"/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</a:t>
            </a:r>
            <a:r>
              <a:rPr sz="2800" b="1" spc="-4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权从小到大排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序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的边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={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baseline="-21072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,…,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i="1" baseline="-21072" dirty="0">
                <a:latin typeface="Times New Roman"/>
                <a:cs typeface="Times New Roman"/>
              </a:rPr>
              <a:t>m</a:t>
            </a:r>
            <a:r>
              <a:rPr sz="2800" b="1" dirty="0">
                <a:latin typeface="Times New Roman"/>
                <a:cs typeface="Times New Roman"/>
              </a:rPr>
              <a:t>}  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84665" marR="74505"/>
            <a:r>
              <a:rPr sz="2800" b="1" dirty="0" smtClean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. </a:t>
            </a:r>
            <a:r>
              <a:rPr sz="2800" b="1" i="1" dirty="0">
                <a:latin typeface="Times New Roman"/>
                <a:cs typeface="Times New Roman"/>
              </a:rPr>
              <a:t>T 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Symbol"/>
                <a:cs typeface="Symbol"/>
              </a:rPr>
              <a:t></a:t>
            </a:r>
            <a:endParaRPr sz="2800" dirty="0">
              <a:latin typeface="Symbol"/>
              <a:cs typeface="Symbol"/>
            </a:endParaRPr>
          </a:p>
          <a:p>
            <a:pPr marL="645144" indent="-561326">
              <a:buSzPct val="95454"/>
              <a:buAutoNum type="arabicPeriod" startAt="3"/>
              <a:tabLst>
                <a:tab pos="645991" algn="l"/>
              </a:tabLst>
            </a:pPr>
            <a:r>
              <a:rPr sz="2800" b="1" spc="-13" dirty="0">
                <a:latin typeface="Times New Roman"/>
                <a:cs typeface="Times New Roman"/>
              </a:rPr>
              <a:t>repeat</a:t>
            </a:r>
            <a:endParaRPr sz="2800" dirty="0">
              <a:latin typeface="Times New Roman"/>
              <a:cs typeface="Times New Roman"/>
            </a:endParaRPr>
          </a:p>
          <a:p>
            <a:pPr marL="1108259" indent="-1024441">
              <a:buSzPct val="95454"/>
              <a:buFont typeface="Times New Roman"/>
              <a:buAutoNum type="arabicPeriod" startAt="3"/>
              <a:tabLst>
                <a:tab pos="1108259" algn="l"/>
                <a:tab pos="1109106" algn="l"/>
              </a:tabLst>
            </a:pP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i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中的最短边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110798" indent="-1026134">
              <a:buSzPct val="95454"/>
              <a:buAutoNum type="arabicPeriod" startAt="3"/>
              <a:tabLst>
                <a:tab pos="1109952" algn="l"/>
                <a:tab pos="1110798" algn="l"/>
                <a:tab pos="1525655" algn="l"/>
              </a:tabLst>
            </a:pPr>
            <a:r>
              <a:rPr sz="2800" b="1" dirty="0">
                <a:latin typeface="Times New Roman"/>
                <a:cs typeface="Times New Roman"/>
              </a:rPr>
              <a:t>if	</a:t>
            </a:r>
            <a:r>
              <a:rPr sz="2800" b="1" i="1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的两端点不在</a:t>
            </a:r>
            <a:r>
              <a:rPr sz="2800" b="1" u="heavy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同一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连</a:t>
            </a:r>
            <a:r>
              <a:rPr sz="2800" b="1" u="heavy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通分</a:t>
            </a:r>
            <a:r>
              <a:rPr sz="2800" b="1" u="heavy" spc="-13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支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108259" indent="-1024441">
              <a:buSzPct val="95454"/>
              <a:buAutoNum type="arabicPeriod" startAt="3"/>
              <a:tabLst>
                <a:tab pos="1108259" algn="l"/>
                <a:tab pos="1109106" algn="l"/>
                <a:tab pos="1998930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then	</a:t>
            </a:r>
            <a:r>
              <a:rPr sz="2800" b="1" i="1" dirty="0">
                <a:latin typeface="Times New Roman"/>
                <a:cs typeface="Times New Roman"/>
              </a:rPr>
              <a:t>T 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Symbol"/>
                <a:cs typeface="Symbol"/>
              </a:rPr>
              <a:t></a:t>
            </a:r>
            <a:r>
              <a:rPr sz="2800" b="1" dirty="0">
                <a:latin typeface="Times New Roman"/>
                <a:cs typeface="Times New Roman"/>
              </a:rPr>
              <a:t>{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84665">
              <a:tabLst>
                <a:tab pos="1108259" algn="l"/>
              </a:tabLst>
            </a:pPr>
            <a:r>
              <a:rPr sz="2800" b="1" dirty="0">
                <a:latin typeface="Times New Roman"/>
                <a:cs typeface="Times New Roman"/>
              </a:rPr>
              <a:t>7.	</a:t>
            </a:r>
            <a:r>
              <a:rPr sz="2800" b="1" i="1" dirty="0">
                <a:latin typeface="Times New Roman"/>
                <a:cs typeface="Times New Roman"/>
              </a:rPr>
              <a:t>E 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宋体"/>
                <a:cs typeface="宋体"/>
              </a:rPr>
              <a:t>－</a:t>
            </a:r>
            <a:r>
              <a:rPr sz="2800" b="1" dirty="0">
                <a:latin typeface="Times New Roman"/>
                <a:cs typeface="Times New Roman"/>
              </a:rPr>
              <a:t>{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856" y="5388024"/>
            <a:ext cx="430022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82588" algn="l"/>
              </a:tabLst>
            </a:pPr>
            <a:r>
              <a:rPr sz="2800" b="1" dirty="0">
                <a:latin typeface="Times New Roman"/>
                <a:cs typeface="Times New Roman"/>
              </a:rPr>
              <a:t>8.	</a:t>
            </a:r>
            <a:r>
              <a:rPr sz="2800" b="1" spc="-7" dirty="0">
                <a:latin typeface="Times New Roman"/>
                <a:cs typeface="Times New Roman"/>
              </a:rPr>
              <a:t>until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2800" b="1" i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包含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了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宋体"/>
                <a:cs typeface="宋体"/>
              </a:rPr>
              <a:t>－</a:t>
            </a:r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条边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69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8"/>
          <p:cNvSpPr/>
          <p:nvPr/>
        </p:nvSpPr>
        <p:spPr>
          <a:xfrm>
            <a:off x="8139305" y="2139340"/>
            <a:ext cx="73659" cy="1762760"/>
          </a:xfrm>
          <a:custGeom>
            <a:avLst/>
            <a:gdLst/>
            <a:ahLst/>
            <a:cxnLst/>
            <a:rect l="l" t="t" r="r" b="b"/>
            <a:pathLst>
              <a:path w="55244" h="1322070">
                <a:moveTo>
                  <a:pt x="0" y="0"/>
                </a:moveTo>
                <a:lnTo>
                  <a:pt x="54864" y="13220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8"/>
          <p:cNvSpPr/>
          <p:nvPr/>
        </p:nvSpPr>
        <p:spPr>
          <a:xfrm>
            <a:off x="8143333" y="2139340"/>
            <a:ext cx="73659" cy="1762760"/>
          </a:xfrm>
          <a:custGeom>
            <a:avLst/>
            <a:gdLst/>
            <a:ahLst/>
            <a:cxnLst/>
            <a:rect l="l" t="t" r="r" b="b"/>
            <a:pathLst>
              <a:path w="55244" h="1322070">
                <a:moveTo>
                  <a:pt x="0" y="0"/>
                </a:moveTo>
                <a:lnTo>
                  <a:pt x="54864" y="132207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01340" y="4765294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19477" y="3578606"/>
            <a:ext cx="1054947" cy="0"/>
          </a:xfrm>
          <a:custGeom>
            <a:avLst/>
            <a:gdLst/>
            <a:ahLst/>
            <a:cxnLst/>
            <a:rect l="l" t="t" r="r" b="b"/>
            <a:pathLst>
              <a:path w="791210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4510" y="454733"/>
            <a:ext cx="6196384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5" name="object 5"/>
          <p:cNvSpPr/>
          <p:nvPr/>
        </p:nvSpPr>
        <p:spPr>
          <a:xfrm>
            <a:off x="2866652" y="2293367"/>
            <a:ext cx="911860" cy="932180"/>
          </a:xfrm>
          <a:custGeom>
            <a:avLst/>
            <a:gdLst/>
            <a:ahLst/>
            <a:cxnLst/>
            <a:rect l="l" t="t" r="r" b="b"/>
            <a:pathLst>
              <a:path w="683894" h="699135">
                <a:moveTo>
                  <a:pt x="683514" y="0"/>
                </a:moveTo>
                <a:lnTo>
                  <a:pt x="0" y="6987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18749" y="3727957"/>
            <a:ext cx="628227" cy="1005840"/>
          </a:xfrm>
          <a:custGeom>
            <a:avLst/>
            <a:gdLst/>
            <a:ahLst/>
            <a:cxnLst/>
            <a:rect l="l" t="t" r="r" b="b"/>
            <a:pathLst>
              <a:path w="471169" h="754379">
                <a:moveTo>
                  <a:pt x="0" y="0"/>
                </a:moveTo>
                <a:lnTo>
                  <a:pt x="470916" y="75438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212" y="3488182"/>
            <a:ext cx="1054947" cy="0"/>
          </a:xfrm>
          <a:custGeom>
            <a:avLst/>
            <a:gdLst/>
            <a:ahLst/>
            <a:cxnLst/>
            <a:rect l="l" t="t" r="r" b="b"/>
            <a:pathLst>
              <a:path w="791210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3444" y="2091182"/>
            <a:ext cx="73659" cy="1762760"/>
          </a:xfrm>
          <a:custGeom>
            <a:avLst/>
            <a:gdLst/>
            <a:ahLst/>
            <a:cxnLst/>
            <a:rect l="l" t="t" r="r" b="b"/>
            <a:pathLst>
              <a:path w="55244" h="1322070">
                <a:moveTo>
                  <a:pt x="0" y="0"/>
                </a:moveTo>
                <a:lnTo>
                  <a:pt x="54864" y="13220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95556" y="3853941"/>
            <a:ext cx="500380" cy="880533"/>
          </a:xfrm>
          <a:custGeom>
            <a:avLst/>
            <a:gdLst/>
            <a:ahLst/>
            <a:cxnLst/>
            <a:rect l="l" t="t" r="r" b="b"/>
            <a:pathLst>
              <a:path w="375284" h="660400">
                <a:moveTo>
                  <a:pt x="374903" y="0"/>
                </a:moveTo>
                <a:lnTo>
                  <a:pt x="0" y="6598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5302" y="3488182"/>
            <a:ext cx="881380" cy="0"/>
          </a:xfrm>
          <a:custGeom>
            <a:avLst/>
            <a:gdLst/>
            <a:ahLst/>
            <a:cxnLst/>
            <a:rect l="l" t="t" r="r" b="b"/>
            <a:pathLst>
              <a:path w="661035">
                <a:moveTo>
                  <a:pt x="0" y="0"/>
                </a:moveTo>
                <a:lnTo>
                  <a:pt x="660654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71348" y="3727957"/>
            <a:ext cx="628227" cy="880533"/>
          </a:xfrm>
          <a:custGeom>
            <a:avLst/>
            <a:gdLst/>
            <a:ahLst/>
            <a:cxnLst/>
            <a:rect l="l" t="t" r="r" b="b"/>
            <a:pathLst>
              <a:path w="471169" h="660400">
                <a:moveTo>
                  <a:pt x="0" y="0"/>
                </a:moveTo>
                <a:lnTo>
                  <a:pt x="470916" y="6598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59332" y="3780791"/>
            <a:ext cx="252307" cy="754380"/>
          </a:xfrm>
          <a:custGeom>
            <a:avLst/>
            <a:gdLst/>
            <a:ahLst/>
            <a:cxnLst/>
            <a:rect l="l" t="t" r="r" b="b"/>
            <a:pathLst>
              <a:path w="189230" h="565785">
                <a:moveTo>
                  <a:pt x="188975" y="0"/>
                </a:moveTo>
                <a:lnTo>
                  <a:pt x="0" y="56540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79477" y="2266949"/>
            <a:ext cx="1004147" cy="830580"/>
          </a:xfrm>
          <a:custGeom>
            <a:avLst/>
            <a:gdLst/>
            <a:ahLst/>
            <a:cxnLst/>
            <a:rect l="l" t="t" r="r" b="b"/>
            <a:pathLst>
              <a:path w="753110" h="622935">
                <a:moveTo>
                  <a:pt x="0" y="0"/>
                </a:moveTo>
                <a:lnTo>
                  <a:pt x="752856" y="6225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82068" y="188087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82068" y="188087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60686" y="1904354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81437" y="309092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81437" y="309092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59906" y="3114119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52220" y="309092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52220" y="309092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30442" y="3114119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71477" y="326364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71477" y="326364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7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7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4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049880" y="3286526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33277" y="464540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6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3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6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33277" y="4645405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4" h="447675">
                <a:moveTo>
                  <a:pt x="0" y="223646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6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3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36677" y="4540757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5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1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5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36677" y="4540757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0" y="223265"/>
                </a:moveTo>
                <a:lnTo>
                  <a:pt x="4520" y="178270"/>
                </a:lnTo>
                <a:lnTo>
                  <a:pt x="17485" y="136361"/>
                </a:lnTo>
                <a:lnTo>
                  <a:pt x="38000" y="98436"/>
                </a:lnTo>
                <a:lnTo>
                  <a:pt x="65170" y="65393"/>
                </a:lnTo>
                <a:lnTo>
                  <a:pt x="98100" y="38130"/>
                </a:lnTo>
                <a:lnTo>
                  <a:pt x="135895" y="17545"/>
                </a:lnTo>
                <a:lnTo>
                  <a:pt x="177661" y="4536"/>
                </a:lnTo>
                <a:lnTo>
                  <a:pt x="222504" y="0"/>
                </a:lnTo>
                <a:lnTo>
                  <a:pt x="267346" y="4536"/>
                </a:lnTo>
                <a:lnTo>
                  <a:pt x="309112" y="17545"/>
                </a:lnTo>
                <a:lnTo>
                  <a:pt x="346907" y="38130"/>
                </a:lnTo>
                <a:lnTo>
                  <a:pt x="379837" y="65393"/>
                </a:lnTo>
                <a:lnTo>
                  <a:pt x="407007" y="98436"/>
                </a:lnTo>
                <a:lnTo>
                  <a:pt x="427522" y="136361"/>
                </a:lnTo>
                <a:lnTo>
                  <a:pt x="440487" y="178270"/>
                </a:lnTo>
                <a:lnTo>
                  <a:pt x="445008" y="223265"/>
                </a:lnTo>
                <a:lnTo>
                  <a:pt x="440487" y="268261"/>
                </a:lnTo>
                <a:lnTo>
                  <a:pt x="427522" y="310170"/>
                </a:lnTo>
                <a:lnTo>
                  <a:pt x="407007" y="348095"/>
                </a:lnTo>
                <a:lnTo>
                  <a:pt x="379837" y="381138"/>
                </a:lnTo>
                <a:lnTo>
                  <a:pt x="346907" y="408401"/>
                </a:lnTo>
                <a:lnTo>
                  <a:pt x="309112" y="428986"/>
                </a:lnTo>
                <a:lnTo>
                  <a:pt x="267346" y="441995"/>
                </a:lnTo>
                <a:lnTo>
                  <a:pt x="222504" y="446531"/>
                </a:lnTo>
                <a:lnTo>
                  <a:pt x="177661" y="441995"/>
                </a:lnTo>
                <a:lnTo>
                  <a:pt x="135895" y="428986"/>
                </a:lnTo>
                <a:lnTo>
                  <a:pt x="98100" y="408401"/>
                </a:lnTo>
                <a:lnTo>
                  <a:pt x="65170" y="381138"/>
                </a:lnTo>
                <a:lnTo>
                  <a:pt x="38000" y="348095"/>
                </a:lnTo>
                <a:lnTo>
                  <a:pt x="17485" y="310170"/>
                </a:lnTo>
                <a:lnTo>
                  <a:pt x="4520" y="268261"/>
                </a:lnTo>
                <a:lnTo>
                  <a:pt x="0" y="22326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094207" y="2422537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6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0238" y="2643622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1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81142" y="2321040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74746" y="3066341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12198" y="4034150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3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41737" y="3066680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61434" y="3546010"/>
            <a:ext cx="2142067" cy="1446107"/>
          </a:xfrm>
          <a:prstGeom prst="rect">
            <a:avLst/>
          </a:prstGeom>
        </p:spPr>
        <p:txBody>
          <a:bodyPr vert="horz" wrap="square" lIns="0" tIns="251454" rIns="0" bIns="0" rtlCol="0">
            <a:spAutoFit/>
          </a:bodyPr>
          <a:lstStyle/>
          <a:p>
            <a:pPr marL="256534">
              <a:spcBef>
                <a:spcPts val="1980"/>
              </a:spcBef>
              <a:tabLst>
                <a:tab pos="1596773" algn="l"/>
              </a:tabLst>
            </a:pPr>
            <a:r>
              <a:rPr sz="2700" b="1" spc="-7" dirty="0">
                <a:latin typeface="Times New Roman"/>
                <a:cs typeface="Times New Roman"/>
              </a:rPr>
              <a:t>6	4</a:t>
            </a:r>
            <a:endParaRPr sz="2700">
              <a:latin typeface="Times New Roman"/>
              <a:cs typeface="Times New Roman"/>
            </a:endParaRPr>
          </a:p>
          <a:p>
            <a:pPr marL="67732">
              <a:spcBef>
                <a:spcPts val="2227"/>
              </a:spcBef>
              <a:tabLst>
                <a:tab pos="464808" algn="l"/>
                <a:tab pos="905064" algn="l"/>
                <a:tab pos="1650959" algn="l"/>
                <a:tab pos="1870240" algn="l"/>
              </a:tabLst>
            </a:pPr>
            <a:r>
              <a:rPr sz="4800" b="1" baseline="-26620" dirty="0">
                <a:latin typeface="Times New Roman"/>
                <a:cs typeface="Times New Roman"/>
              </a:rPr>
              <a:t>5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700" b="1" u="heavy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	</a:t>
            </a:r>
            <a:r>
              <a:rPr sz="2700" b="1" spc="-7" dirty="0">
                <a:latin typeface="Times New Roman"/>
                <a:cs typeface="Times New Roman"/>
              </a:rPr>
              <a:t>	</a:t>
            </a:r>
            <a:r>
              <a:rPr sz="4800" b="1" baseline="-12731" dirty="0">
                <a:latin typeface="Times New Roman"/>
                <a:cs typeface="Times New Roman"/>
              </a:rPr>
              <a:t>6</a:t>
            </a:r>
            <a:endParaRPr sz="4800" baseline="-12731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83255" y="4034489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381501" y="3929125"/>
            <a:ext cx="679027" cy="914400"/>
          </a:xfrm>
          <a:custGeom>
            <a:avLst/>
            <a:gdLst/>
            <a:ahLst/>
            <a:cxnLst/>
            <a:rect l="l" t="t" r="r" b="b"/>
            <a:pathLst>
              <a:path w="509270" h="685800">
                <a:moveTo>
                  <a:pt x="0" y="0"/>
                </a:moveTo>
                <a:lnTo>
                  <a:pt x="509016" y="6858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95316" y="3687825"/>
            <a:ext cx="319024" cy="965708"/>
          </a:xfrm>
          <a:custGeom>
            <a:avLst/>
            <a:gdLst/>
            <a:ahLst/>
            <a:cxnLst/>
            <a:rect l="l" t="t" r="r" b="b"/>
            <a:pathLst>
              <a:path w="189864" h="613410">
                <a:moveTo>
                  <a:pt x="189737" y="0"/>
                </a:moveTo>
                <a:lnTo>
                  <a:pt x="0" y="61341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34716" y="2410207"/>
            <a:ext cx="911860" cy="932180"/>
          </a:xfrm>
          <a:custGeom>
            <a:avLst/>
            <a:gdLst/>
            <a:ahLst/>
            <a:cxnLst/>
            <a:rect l="l" t="t" r="r" b="b"/>
            <a:pathLst>
              <a:path w="683895" h="699135">
                <a:moveTo>
                  <a:pt x="683513" y="0"/>
                </a:moveTo>
                <a:lnTo>
                  <a:pt x="0" y="6987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86813" y="3844799"/>
            <a:ext cx="628227" cy="1004993"/>
          </a:xfrm>
          <a:custGeom>
            <a:avLst/>
            <a:gdLst/>
            <a:ahLst/>
            <a:cxnLst/>
            <a:rect l="l" t="t" r="r" b="b"/>
            <a:pathLst>
              <a:path w="471170" h="753745">
                <a:moveTo>
                  <a:pt x="0" y="0"/>
                </a:moveTo>
                <a:lnTo>
                  <a:pt x="470916" y="75361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63622" y="3969765"/>
            <a:ext cx="500380" cy="880533"/>
          </a:xfrm>
          <a:custGeom>
            <a:avLst/>
            <a:gdLst/>
            <a:ahLst/>
            <a:cxnLst/>
            <a:rect l="l" t="t" r="r" b="b"/>
            <a:pathLst>
              <a:path w="375285" h="660400">
                <a:moveTo>
                  <a:pt x="374903" y="0"/>
                </a:moveTo>
                <a:lnTo>
                  <a:pt x="0" y="6598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24756" y="3608070"/>
            <a:ext cx="881380" cy="0"/>
          </a:xfrm>
          <a:custGeom>
            <a:avLst/>
            <a:gdLst/>
            <a:ahLst/>
            <a:cxnLst/>
            <a:rect l="l" t="t" r="r" b="b"/>
            <a:pathLst>
              <a:path w="661035">
                <a:moveTo>
                  <a:pt x="0" y="0"/>
                </a:moveTo>
                <a:lnTo>
                  <a:pt x="660654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447540" y="2383790"/>
            <a:ext cx="1004147" cy="829733"/>
          </a:xfrm>
          <a:custGeom>
            <a:avLst/>
            <a:gdLst/>
            <a:ahLst/>
            <a:cxnLst/>
            <a:rect l="l" t="t" r="r" b="b"/>
            <a:pathLst>
              <a:path w="753110" h="622300">
                <a:moveTo>
                  <a:pt x="0" y="0"/>
                </a:moveTo>
                <a:lnTo>
                  <a:pt x="752856" y="621792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850132" y="199771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50132" y="199771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7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7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4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028845" y="2020771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320285" y="3207766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6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2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6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320285" y="3207766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0" y="223266"/>
                </a:moveTo>
                <a:lnTo>
                  <a:pt x="4520" y="178270"/>
                </a:lnTo>
                <a:lnTo>
                  <a:pt x="17485" y="136361"/>
                </a:lnTo>
                <a:lnTo>
                  <a:pt x="38000" y="98436"/>
                </a:lnTo>
                <a:lnTo>
                  <a:pt x="65170" y="65393"/>
                </a:lnTo>
                <a:lnTo>
                  <a:pt x="98100" y="38130"/>
                </a:lnTo>
                <a:lnTo>
                  <a:pt x="135895" y="17545"/>
                </a:lnTo>
                <a:lnTo>
                  <a:pt x="177661" y="4536"/>
                </a:lnTo>
                <a:lnTo>
                  <a:pt x="222504" y="0"/>
                </a:lnTo>
                <a:lnTo>
                  <a:pt x="267346" y="4536"/>
                </a:lnTo>
                <a:lnTo>
                  <a:pt x="309112" y="17545"/>
                </a:lnTo>
                <a:lnTo>
                  <a:pt x="346907" y="38130"/>
                </a:lnTo>
                <a:lnTo>
                  <a:pt x="379837" y="65393"/>
                </a:lnTo>
                <a:lnTo>
                  <a:pt x="407007" y="98436"/>
                </a:lnTo>
                <a:lnTo>
                  <a:pt x="427522" y="136361"/>
                </a:lnTo>
                <a:lnTo>
                  <a:pt x="440487" y="178270"/>
                </a:lnTo>
                <a:lnTo>
                  <a:pt x="445008" y="223266"/>
                </a:lnTo>
                <a:lnTo>
                  <a:pt x="440487" y="268261"/>
                </a:lnTo>
                <a:lnTo>
                  <a:pt x="427522" y="310170"/>
                </a:lnTo>
                <a:lnTo>
                  <a:pt x="407007" y="348095"/>
                </a:lnTo>
                <a:lnTo>
                  <a:pt x="379837" y="381138"/>
                </a:lnTo>
                <a:lnTo>
                  <a:pt x="346907" y="408401"/>
                </a:lnTo>
                <a:lnTo>
                  <a:pt x="309112" y="428986"/>
                </a:lnTo>
                <a:lnTo>
                  <a:pt x="267346" y="441995"/>
                </a:lnTo>
                <a:lnTo>
                  <a:pt x="222504" y="446532"/>
                </a:lnTo>
                <a:lnTo>
                  <a:pt x="177661" y="441995"/>
                </a:lnTo>
                <a:lnTo>
                  <a:pt x="135895" y="428986"/>
                </a:lnTo>
                <a:lnTo>
                  <a:pt x="98100" y="408401"/>
                </a:lnTo>
                <a:lnTo>
                  <a:pt x="65170" y="381138"/>
                </a:lnTo>
                <a:lnTo>
                  <a:pt x="38000" y="348095"/>
                </a:lnTo>
                <a:lnTo>
                  <a:pt x="17485" y="310170"/>
                </a:lnTo>
                <a:lnTo>
                  <a:pt x="4520" y="268261"/>
                </a:lnTo>
                <a:lnTo>
                  <a:pt x="0" y="22326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498538" y="3230536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939540" y="3382517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939540" y="3382517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7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7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4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118033" y="3405864"/>
            <a:ext cx="237067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8904740" y="465658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222504" y="0"/>
                </a:moveTo>
                <a:lnTo>
                  <a:pt x="177661" y="4543"/>
                </a:lnTo>
                <a:lnTo>
                  <a:pt x="135895" y="17574"/>
                </a:lnTo>
                <a:lnTo>
                  <a:pt x="98100" y="38194"/>
                </a:lnTo>
                <a:lnTo>
                  <a:pt x="65170" y="65503"/>
                </a:lnTo>
                <a:lnTo>
                  <a:pt x="38000" y="98602"/>
                </a:lnTo>
                <a:lnTo>
                  <a:pt x="17485" y="136592"/>
                </a:lnTo>
                <a:lnTo>
                  <a:pt x="4520" y="178573"/>
                </a:lnTo>
                <a:lnTo>
                  <a:pt x="0" y="223647"/>
                </a:lnTo>
                <a:lnTo>
                  <a:pt x="4520" y="268720"/>
                </a:lnTo>
                <a:lnTo>
                  <a:pt x="17485" y="310701"/>
                </a:lnTo>
                <a:lnTo>
                  <a:pt x="38000" y="348691"/>
                </a:lnTo>
                <a:lnTo>
                  <a:pt x="65170" y="381790"/>
                </a:lnTo>
                <a:lnTo>
                  <a:pt x="98100" y="409099"/>
                </a:lnTo>
                <a:lnTo>
                  <a:pt x="135895" y="429719"/>
                </a:lnTo>
                <a:lnTo>
                  <a:pt x="177661" y="442750"/>
                </a:lnTo>
                <a:lnTo>
                  <a:pt x="222504" y="447294"/>
                </a:lnTo>
                <a:lnTo>
                  <a:pt x="267346" y="442750"/>
                </a:lnTo>
                <a:lnTo>
                  <a:pt x="309112" y="429719"/>
                </a:lnTo>
                <a:lnTo>
                  <a:pt x="346907" y="409099"/>
                </a:lnTo>
                <a:lnTo>
                  <a:pt x="379837" y="381790"/>
                </a:lnTo>
                <a:lnTo>
                  <a:pt x="407007" y="348691"/>
                </a:lnTo>
                <a:lnTo>
                  <a:pt x="427522" y="310701"/>
                </a:lnTo>
                <a:lnTo>
                  <a:pt x="440487" y="268720"/>
                </a:lnTo>
                <a:lnTo>
                  <a:pt x="445008" y="223647"/>
                </a:lnTo>
                <a:lnTo>
                  <a:pt x="440487" y="178573"/>
                </a:lnTo>
                <a:lnTo>
                  <a:pt x="427522" y="136592"/>
                </a:lnTo>
                <a:lnTo>
                  <a:pt x="407007" y="98602"/>
                </a:lnTo>
                <a:lnTo>
                  <a:pt x="379837" y="65503"/>
                </a:lnTo>
                <a:lnTo>
                  <a:pt x="346907" y="38194"/>
                </a:lnTo>
                <a:lnTo>
                  <a:pt x="309112" y="17574"/>
                </a:lnTo>
                <a:lnTo>
                  <a:pt x="267346" y="4543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904740" y="4656581"/>
            <a:ext cx="593512" cy="596900"/>
          </a:xfrm>
          <a:custGeom>
            <a:avLst/>
            <a:gdLst/>
            <a:ahLst/>
            <a:cxnLst/>
            <a:rect l="l" t="t" r="r" b="b"/>
            <a:pathLst>
              <a:path w="445135" h="447675">
                <a:moveTo>
                  <a:pt x="0" y="223647"/>
                </a:moveTo>
                <a:lnTo>
                  <a:pt x="4520" y="178573"/>
                </a:lnTo>
                <a:lnTo>
                  <a:pt x="17485" y="136592"/>
                </a:lnTo>
                <a:lnTo>
                  <a:pt x="38000" y="98602"/>
                </a:lnTo>
                <a:lnTo>
                  <a:pt x="65170" y="65503"/>
                </a:lnTo>
                <a:lnTo>
                  <a:pt x="98100" y="38194"/>
                </a:lnTo>
                <a:lnTo>
                  <a:pt x="135895" y="17574"/>
                </a:lnTo>
                <a:lnTo>
                  <a:pt x="177661" y="4543"/>
                </a:lnTo>
                <a:lnTo>
                  <a:pt x="222504" y="0"/>
                </a:lnTo>
                <a:lnTo>
                  <a:pt x="267346" y="4543"/>
                </a:lnTo>
                <a:lnTo>
                  <a:pt x="309112" y="17574"/>
                </a:lnTo>
                <a:lnTo>
                  <a:pt x="346907" y="38194"/>
                </a:lnTo>
                <a:lnTo>
                  <a:pt x="379837" y="65503"/>
                </a:lnTo>
                <a:lnTo>
                  <a:pt x="407007" y="98602"/>
                </a:lnTo>
                <a:lnTo>
                  <a:pt x="427522" y="136592"/>
                </a:lnTo>
                <a:lnTo>
                  <a:pt x="440487" y="178573"/>
                </a:lnTo>
                <a:lnTo>
                  <a:pt x="445008" y="223647"/>
                </a:lnTo>
                <a:lnTo>
                  <a:pt x="440487" y="268720"/>
                </a:lnTo>
                <a:lnTo>
                  <a:pt x="427522" y="310701"/>
                </a:lnTo>
                <a:lnTo>
                  <a:pt x="407007" y="348691"/>
                </a:lnTo>
                <a:lnTo>
                  <a:pt x="379837" y="381790"/>
                </a:lnTo>
                <a:lnTo>
                  <a:pt x="346907" y="409099"/>
                </a:lnTo>
                <a:lnTo>
                  <a:pt x="309112" y="429719"/>
                </a:lnTo>
                <a:lnTo>
                  <a:pt x="267346" y="442750"/>
                </a:lnTo>
                <a:lnTo>
                  <a:pt x="222504" y="447294"/>
                </a:lnTo>
                <a:lnTo>
                  <a:pt x="177661" y="442750"/>
                </a:lnTo>
                <a:lnTo>
                  <a:pt x="135895" y="429719"/>
                </a:lnTo>
                <a:lnTo>
                  <a:pt x="98100" y="409099"/>
                </a:lnTo>
                <a:lnTo>
                  <a:pt x="65170" y="381790"/>
                </a:lnTo>
                <a:lnTo>
                  <a:pt x="38000" y="348691"/>
                </a:lnTo>
                <a:lnTo>
                  <a:pt x="17485" y="310701"/>
                </a:lnTo>
                <a:lnTo>
                  <a:pt x="4520" y="268720"/>
                </a:lnTo>
                <a:lnTo>
                  <a:pt x="0" y="22364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185612" y="2534785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6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245657" y="2765201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1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53885" y="2433286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47489" y="3141264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03603" y="4155390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3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814480" y="3169257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5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400012" y="4080742"/>
            <a:ext cx="20320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b="1" spc="-7" dirty="0">
                <a:latin typeface="Times New Roman"/>
                <a:cs typeface="Times New Roman"/>
              </a:rPr>
              <a:t>2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150870" y="2552445"/>
            <a:ext cx="53340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687" y="0"/>
                </a:lnTo>
              </a:path>
            </a:pathLst>
          </a:custGeom>
          <a:ln w="2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150870" y="3427857"/>
            <a:ext cx="53340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687" y="0"/>
                </a:lnTo>
              </a:path>
            </a:pathLst>
          </a:custGeom>
          <a:ln w="2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206238" y="3725417"/>
            <a:ext cx="291907" cy="922867"/>
          </a:xfrm>
          <a:custGeom>
            <a:avLst/>
            <a:gdLst/>
            <a:ahLst/>
            <a:cxnLst/>
            <a:rect l="l" t="t" r="r" b="b"/>
            <a:pathLst>
              <a:path w="187960" h="615950">
                <a:moveTo>
                  <a:pt x="187451" y="0"/>
                </a:moveTo>
                <a:lnTo>
                  <a:pt x="0" y="615696"/>
                </a:lnTo>
              </a:path>
            </a:pathLst>
          </a:custGeom>
          <a:ln w="5105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09088" y="3725417"/>
            <a:ext cx="711200" cy="1117600"/>
          </a:xfrm>
          <a:custGeom>
            <a:avLst/>
            <a:gdLst/>
            <a:ahLst/>
            <a:cxnLst/>
            <a:rect l="l" t="t" r="r" b="b"/>
            <a:pathLst>
              <a:path w="533400" h="838200">
                <a:moveTo>
                  <a:pt x="0" y="0"/>
                </a:moveTo>
                <a:lnTo>
                  <a:pt x="533400" y="838200"/>
                </a:lnTo>
              </a:path>
            </a:pathLst>
          </a:custGeom>
          <a:ln w="5105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49501" y="3207766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0" y="223266"/>
                </a:moveTo>
                <a:lnTo>
                  <a:pt x="4520" y="178270"/>
                </a:lnTo>
                <a:lnTo>
                  <a:pt x="17485" y="136361"/>
                </a:lnTo>
                <a:lnTo>
                  <a:pt x="38000" y="98436"/>
                </a:lnTo>
                <a:lnTo>
                  <a:pt x="65170" y="65393"/>
                </a:lnTo>
                <a:lnTo>
                  <a:pt x="98100" y="38130"/>
                </a:lnTo>
                <a:lnTo>
                  <a:pt x="135895" y="17545"/>
                </a:lnTo>
                <a:lnTo>
                  <a:pt x="177661" y="4536"/>
                </a:lnTo>
                <a:lnTo>
                  <a:pt x="222504" y="0"/>
                </a:lnTo>
                <a:lnTo>
                  <a:pt x="267346" y="4536"/>
                </a:lnTo>
                <a:lnTo>
                  <a:pt x="309112" y="17545"/>
                </a:lnTo>
                <a:lnTo>
                  <a:pt x="346907" y="38130"/>
                </a:lnTo>
                <a:lnTo>
                  <a:pt x="379837" y="65393"/>
                </a:lnTo>
                <a:lnTo>
                  <a:pt x="407007" y="98436"/>
                </a:lnTo>
                <a:lnTo>
                  <a:pt x="427522" y="136361"/>
                </a:lnTo>
                <a:lnTo>
                  <a:pt x="440487" y="178270"/>
                </a:lnTo>
                <a:lnTo>
                  <a:pt x="445008" y="223266"/>
                </a:lnTo>
                <a:lnTo>
                  <a:pt x="440487" y="268261"/>
                </a:lnTo>
                <a:lnTo>
                  <a:pt x="427522" y="310170"/>
                </a:lnTo>
                <a:lnTo>
                  <a:pt x="407007" y="348095"/>
                </a:lnTo>
                <a:lnTo>
                  <a:pt x="379837" y="381138"/>
                </a:lnTo>
                <a:lnTo>
                  <a:pt x="346907" y="408401"/>
                </a:lnTo>
                <a:lnTo>
                  <a:pt x="309112" y="428986"/>
                </a:lnTo>
                <a:lnTo>
                  <a:pt x="267346" y="441995"/>
                </a:lnTo>
                <a:lnTo>
                  <a:pt x="222504" y="446532"/>
                </a:lnTo>
                <a:lnTo>
                  <a:pt x="177661" y="441995"/>
                </a:lnTo>
                <a:lnTo>
                  <a:pt x="135895" y="428986"/>
                </a:lnTo>
                <a:lnTo>
                  <a:pt x="98100" y="408401"/>
                </a:lnTo>
                <a:lnTo>
                  <a:pt x="65170" y="381138"/>
                </a:lnTo>
                <a:lnTo>
                  <a:pt x="38000" y="348095"/>
                </a:lnTo>
                <a:lnTo>
                  <a:pt x="17485" y="310170"/>
                </a:lnTo>
                <a:lnTo>
                  <a:pt x="4520" y="268261"/>
                </a:lnTo>
                <a:lnTo>
                  <a:pt x="0" y="22326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245618" y="3689923"/>
            <a:ext cx="2142067" cy="1446107"/>
          </a:xfrm>
          <a:prstGeom prst="rect">
            <a:avLst/>
          </a:prstGeom>
        </p:spPr>
        <p:txBody>
          <a:bodyPr vert="horz" wrap="square" lIns="0" tIns="251454" rIns="0" bIns="0" rtlCol="0">
            <a:spAutoFit/>
          </a:bodyPr>
          <a:lstStyle/>
          <a:p>
            <a:pPr marL="261613">
              <a:spcBef>
                <a:spcPts val="1980"/>
              </a:spcBef>
              <a:tabLst>
                <a:tab pos="1601007" algn="l"/>
              </a:tabLst>
            </a:pPr>
            <a:r>
              <a:rPr sz="2700" b="1" spc="-7" dirty="0">
                <a:latin typeface="Times New Roman"/>
                <a:cs typeface="Times New Roman"/>
              </a:rPr>
              <a:t>6	4</a:t>
            </a:r>
            <a:endParaRPr sz="2700" dirty="0">
              <a:latin typeface="Times New Roman"/>
              <a:cs typeface="Times New Roman"/>
            </a:endParaRPr>
          </a:p>
          <a:p>
            <a:pPr marL="67732">
              <a:spcBef>
                <a:spcPts val="2227"/>
              </a:spcBef>
              <a:tabLst>
                <a:tab pos="464808" algn="l"/>
                <a:tab pos="910144" algn="l"/>
                <a:tab pos="1650959" algn="l"/>
                <a:tab pos="1870240" algn="l"/>
              </a:tabLst>
            </a:pPr>
            <a:r>
              <a:rPr sz="4800" b="1" baseline="-26620" dirty="0">
                <a:latin typeface="Times New Roman"/>
                <a:cs typeface="Times New Roman"/>
              </a:rPr>
              <a:t>5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700" b="1" u="heavy" spc="-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	</a:t>
            </a:r>
            <a:r>
              <a:rPr sz="2700" b="1" spc="-7" dirty="0">
                <a:latin typeface="Times New Roman"/>
                <a:cs typeface="Times New Roman"/>
              </a:rPr>
              <a:t>	</a:t>
            </a:r>
            <a:r>
              <a:rPr sz="4800" b="1" baseline="-11574" dirty="0">
                <a:latin typeface="Times New Roman"/>
                <a:cs typeface="Times New Roman"/>
              </a:rPr>
              <a:t>6</a:t>
            </a:r>
            <a:endParaRPr sz="4800" baseline="-11574" dirty="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01340" y="4765294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0" y="223265"/>
                </a:moveTo>
                <a:lnTo>
                  <a:pt x="4520" y="178270"/>
                </a:lnTo>
                <a:lnTo>
                  <a:pt x="17485" y="136361"/>
                </a:lnTo>
                <a:lnTo>
                  <a:pt x="38000" y="98436"/>
                </a:lnTo>
                <a:lnTo>
                  <a:pt x="65170" y="65393"/>
                </a:lnTo>
                <a:lnTo>
                  <a:pt x="98100" y="38130"/>
                </a:lnTo>
                <a:lnTo>
                  <a:pt x="135895" y="17545"/>
                </a:lnTo>
                <a:lnTo>
                  <a:pt x="177661" y="4536"/>
                </a:lnTo>
                <a:lnTo>
                  <a:pt x="222504" y="0"/>
                </a:lnTo>
                <a:lnTo>
                  <a:pt x="267346" y="4536"/>
                </a:lnTo>
                <a:lnTo>
                  <a:pt x="309112" y="17545"/>
                </a:lnTo>
                <a:lnTo>
                  <a:pt x="346907" y="38130"/>
                </a:lnTo>
                <a:lnTo>
                  <a:pt x="379837" y="65393"/>
                </a:lnTo>
                <a:lnTo>
                  <a:pt x="407007" y="98436"/>
                </a:lnTo>
                <a:lnTo>
                  <a:pt x="427522" y="136361"/>
                </a:lnTo>
                <a:lnTo>
                  <a:pt x="440487" y="178270"/>
                </a:lnTo>
                <a:lnTo>
                  <a:pt x="445008" y="223265"/>
                </a:lnTo>
                <a:lnTo>
                  <a:pt x="440487" y="268261"/>
                </a:lnTo>
                <a:lnTo>
                  <a:pt x="427522" y="310170"/>
                </a:lnTo>
                <a:lnTo>
                  <a:pt x="407007" y="348095"/>
                </a:lnTo>
                <a:lnTo>
                  <a:pt x="379837" y="381138"/>
                </a:lnTo>
                <a:lnTo>
                  <a:pt x="346907" y="408401"/>
                </a:lnTo>
                <a:lnTo>
                  <a:pt x="309112" y="428986"/>
                </a:lnTo>
                <a:lnTo>
                  <a:pt x="267346" y="441995"/>
                </a:lnTo>
                <a:lnTo>
                  <a:pt x="222504" y="446531"/>
                </a:lnTo>
                <a:lnTo>
                  <a:pt x="177661" y="441995"/>
                </a:lnTo>
                <a:lnTo>
                  <a:pt x="135895" y="428986"/>
                </a:lnTo>
                <a:lnTo>
                  <a:pt x="98100" y="408401"/>
                </a:lnTo>
                <a:lnTo>
                  <a:pt x="65170" y="381138"/>
                </a:lnTo>
                <a:lnTo>
                  <a:pt x="38000" y="348095"/>
                </a:lnTo>
                <a:lnTo>
                  <a:pt x="17485" y="310170"/>
                </a:lnTo>
                <a:lnTo>
                  <a:pt x="4520" y="268261"/>
                </a:lnTo>
                <a:lnTo>
                  <a:pt x="0" y="22326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45237" y="3577209"/>
            <a:ext cx="1140903" cy="45719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427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49501" y="3207766"/>
            <a:ext cx="593512" cy="596053"/>
          </a:xfrm>
          <a:custGeom>
            <a:avLst/>
            <a:gdLst/>
            <a:ahLst/>
            <a:cxnLst/>
            <a:rect l="l" t="t" r="r" b="b"/>
            <a:pathLst>
              <a:path w="445135" h="447039">
                <a:moveTo>
                  <a:pt x="222504" y="0"/>
                </a:moveTo>
                <a:lnTo>
                  <a:pt x="177661" y="4536"/>
                </a:lnTo>
                <a:lnTo>
                  <a:pt x="135895" y="17545"/>
                </a:lnTo>
                <a:lnTo>
                  <a:pt x="98100" y="38130"/>
                </a:lnTo>
                <a:lnTo>
                  <a:pt x="65170" y="65393"/>
                </a:lnTo>
                <a:lnTo>
                  <a:pt x="38000" y="98436"/>
                </a:lnTo>
                <a:lnTo>
                  <a:pt x="17485" y="136361"/>
                </a:lnTo>
                <a:lnTo>
                  <a:pt x="4520" y="178270"/>
                </a:lnTo>
                <a:lnTo>
                  <a:pt x="0" y="223266"/>
                </a:lnTo>
                <a:lnTo>
                  <a:pt x="4520" y="268261"/>
                </a:lnTo>
                <a:lnTo>
                  <a:pt x="17485" y="310170"/>
                </a:lnTo>
                <a:lnTo>
                  <a:pt x="38000" y="348095"/>
                </a:lnTo>
                <a:lnTo>
                  <a:pt x="65170" y="381138"/>
                </a:lnTo>
                <a:lnTo>
                  <a:pt x="98100" y="408401"/>
                </a:lnTo>
                <a:lnTo>
                  <a:pt x="135895" y="428986"/>
                </a:lnTo>
                <a:lnTo>
                  <a:pt x="177661" y="441995"/>
                </a:lnTo>
                <a:lnTo>
                  <a:pt x="222504" y="446532"/>
                </a:lnTo>
                <a:lnTo>
                  <a:pt x="267346" y="441995"/>
                </a:lnTo>
                <a:lnTo>
                  <a:pt x="309112" y="428986"/>
                </a:lnTo>
                <a:lnTo>
                  <a:pt x="346907" y="408401"/>
                </a:lnTo>
                <a:lnTo>
                  <a:pt x="379837" y="381138"/>
                </a:lnTo>
                <a:lnTo>
                  <a:pt x="407007" y="348095"/>
                </a:lnTo>
                <a:lnTo>
                  <a:pt x="427522" y="310170"/>
                </a:lnTo>
                <a:lnTo>
                  <a:pt x="440487" y="268261"/>
                </a:lnTo>
                <a:lnTo>
                  <a:pt x="445008" y="223266"/>
                </a:lnTo>
                <a:lnTo>
                  <a:pt x="440487" y="178270"/>
                </a:lnTo>
                <a:lnTo>
                  <a:pt x="427522" y="136361"/>
                </a:lnTo>
                <a:lnTo>
                  <a:pt x="407007" y="98436"/>
                </a:lnTo>
                <a:lnTo>
                  <a:pt x="379837" y="65393"/>
                </a:lnTo>
                <a:lnTo>
                  <a:pt x="346907" y="38130"/>
                </a:lnTo>
                <a:lnTo>
                  <a:pt x="309112" y="17545"/>
                </a:lnTo>
                <a:lnTo>
                  <a:pt x="267346" y="4536"/>
                </a:lnTo>
                <a:lnTo>
                  <a:pt x="222504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547128" y="3230536"/>
            <a:ext cx="250194" cy="521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Times New Roman"/>
                <a:cs typeface="Times New Roman"/>
              </a:rPr>
              <a:t>2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382008" y="3928617"/>
            <a:ext cx="609600" cy="8128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0"/>
                </a:moveTo>
                <a:lnTo>
                  <a:pt x="457200" y="609600"/>
                </a:lnTo>
              </a:path>
            </a:pathLst>
          </a:custGeom>
          <a:ln w="5105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592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3" grpId="0" animBg="1"/>
      <p:bldP spid="3" grpId="0" animBg="1"/>
      <p:bldP spid="4" grpId="0" animBg="1"/>
      <p:bldP spid="7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427" y="327733"/>
            <a:ext cx="9865926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应用：数据分</a:t>
            </a:r>
            <a:r>
              <a:rPr sz="40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组问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287" y="1454235"/>
            <a:ext cx="10876279" cy="3307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33" marR="426709" indent="-457200" algn="just">
              <a:spcBef>
                <a:spcPts val="133"/>
              </a:spcBef>
              <a:buFont typeface="Wingdings" pitchFamily="2" charset="2"/>
              <a:buChar char="l"/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一组数据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照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片,文件,生物标本)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要把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它们按照</a:t>
            </a:r>
            <a:r>
              <a:rPr sz="2800" b="1" u="sng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</a:t>
            </a:r>
            <a:r>
              <a:rPr sz="2800" b="1" u="sng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关</a:t>
            </a:r>
            <a:r>
              <a:rPr sz="2800" b="1" u="sng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性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进行分类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57200" indent="-457200" algn="just">
              <a:spcBef>
                <a:spcPts val="67"/>
              </a:spcBef>
              <a:buFont typeface="Wingdings" pitchFamily="2" charset="2"/>
              <a:buChar char="l"/>
            </a:pP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86833" marR="418243" indent="-457200" algn="just">
              <a:buFont typeface="Wingdings" pitchFamily="2" charset="2"/>
              <a:buChar char="l"/>
            </a:pP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用相似度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函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或“距离”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来描述个体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之间的差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距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86833" marR="212508" indent="-457200" algn="just">
              <a:spcBef>
                <a:spcPts val="2719"/>
              </a:spcBef>
              <a:buFont typeface="Wingdings" pitchFamily="2" charset="2"/>
              <a:buChar char="l"/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如果分成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类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zh-CN" altLang="en-US"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使得每类内部的个体尽可能相近，不同类之间的个体尽可能地“远离”</a:t>
            </a:r>
            <a:r>
              <a:rPr lang="en-US" altLang="zh-CN"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 </a:t>
            </a:r>
            <a:r>
              <a:rPr lang="zh-CN" altLang="en-US"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如何划分？</a:t>
            </a:r>
          </a:p>
          <a:p>
            <a:pPr marL="29633" marR="212508" algn="just">
              <a:spcBef>
                <a:spcPts val="2719"/>
              </a:spcBef>
            </a:pP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88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09910" y="4493474"/>
            <a:ext cx="772160" cy="885613"/>
          </a:xfrm>
          <a:custGeom>
            <a:avLst/>
            <a:gdLst/>
            <a:ahLst/>
            <a:cxnLst/>
            <a:rect l="l" t="t" r="r" b="b"/>
            <a:pathLst>
              <a:path w="579119" h="664210">
                <a:moveTo>
                  <a:pt x="289560" y="0"/>
                </a:moveTo>
                <a:lnTo>
                  <a:pt x="246771" y="3598"/>
                </a:lnTo>
                <a:lnTo>
                  <a:pt x="205931" y="14050"/>
                </a:lnTo>
                <a:lnTo>
                  <a:pt x="167489" y="30843"/>
                </a:lnTo>
                <a:lnTo>
                  <a:pt x="131892" y="53463"/>
                </a:lnTo>
                <a:lnTo>
                  <a:pt x="99587" y="81398"/>
                </a:lnTo>
                <a:lnTo>
                  <a:pt x="71024" y="114133"/>
                </a:lnTo>
                <a:lnTo>
                  <a:pt x="46650" y="151155"/>
                </a:lnTo>
                <a:lnTo>
                  <a:pt x="26912" y="191952"/>
                </a:lnTo>
                <a:lnTo>
                  <a:pt x="12259" y="236008"/>
                </a:lnTo>
                <a:lnTo>
                  <a:pt x="3139" y="282813"/>
                </a:lnTo>
                <a:lnTo>
                  <a:pt x="0" y="331851"/>
                </a:lnTo>
                <a:lnTo>
                  <a:pt x="3139" y="380888"/>
                </a:lnTo>
                <a:lnTo>
                  <a:pt x="12259" y="427693"/>
                </a:lnTo>
                <a:lnTo>
                  <a:pt x="26912" y="471749"/>
                </a:lnTo>
                <a:lnTo>
                  <a:pt x="46650" y="512546"/>
                </a:lnTo>
                <a:lnTo>
                  <a:pt x="71024" y="549568"/>
                </a:lnTo>
                <a:lnTo>
                  <a:pt x="99587" y="582303"/>
                </a:lnTo>
                <a:lnTo>
                  <a:pt x="131892" y="610238"/>
                </a:lnTo>
                <a:lnTo>
                  <a:pt x="167489" y="632858"/>
                </a:lnTo>
                <a:lnTo>
                  <a:pt x="205931" y="649651"/>
                </a:lnTo>
                <a:lnTo>
                  <a:pt x="246771" y="660103"/>
                </a:lnTo>
                <a:lnTo>
                  <a:pt x="289560" y="663702"/>
                </a:lnTo>
                <a:lnTo>
                  <a:pt x="332348" y="660103"/>
                </a:lnTo>
                <a:lnTo>
                  <a:pt x="373188" y="649651"/>
                </a:lnTo>
                <a:lnTo>
                  <a:pt x="411630" y="632858"/>
                </a:lnTo>
                <a:lnTo>
                  <a:pt x="447227" y="610238"/>
                </a:lnTo>
                <a:lnTo>
                  <a:pt x="479532" y="582303"/>
                </a:lnTo>
                <a:lnTo>
                  <a:pt x="508095" y="549568"/>
                </a:lnTo>
                <a:lnTo>
                  <a:pt x="532469" y="512546"/>
                </a:lnTo>
                <a:lnTo>
                  <a:pt x="552207" y="471749"/>
                </a:lnTo>
                <a:lnTo>
                  <a:pt x="566860" y="427693"/>
                </a:lnTo>
                <a:lnTo>
                  <a:pt x="575980" y="380888"/>
                </a:lnTo>
                <a:lnTo>
                  <a:pt x="579120" y="331851"/>
                </a:lnTo>
                <a:lnTo>
                  <a:pt x="575980" y="282813"/>
                </a:lnTo>
                <a:lnTo>
                  <a:pt x="566860" y="236008"/>
                </a:lnTo>
                <a:lnTo>
                  <a:pt x="552207" y="191952"/>
                </a:lnTo>
                <a:lnTo>
                  <a:pt x="532469" y="151155"/>
                </a:lnTo>
                <a:lnTo>
                  <a:pt x="508095" y="114133"/>
                </a:lnTo>
                <a:lnTo>
                  <a:pt x="479532" y="81398"/>
                </a:lnTo>
                <a:lnTo>
                  <a:pt x="447227" y="53463"/>
                </a:lnTo>
                <a:lnTo>
                  <a:pt x="411630" y="30843"/>
                </a:lnTo>
                <a:lnTo>
                  <a:pt x="373188" y="14050"/>
                </a:lnTo>
                <a:lnTo>
                  <a:pt x="332348" y="3598"/>
                </a:lnTo>
                <a:lnTo>
                  <a:pt x="289560" y="0"/>
                </a:lnTo>
                <a:close/>
              </a:path>
            </a:pathLst>
          </a:custGeom>
          <a:solidFill>
            <a:srgbClr val="B7DEE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09910" y="4493474"/>
            <a:ext cx="772160" cy="885613"/>
          </a:xfrm>
          <a:custGeom>
            <a:avLst/>
            <a:gdLst/>
            <a:ahLst/>
            <a:cxnLst/>
            <a:rect l="l" t="t" r="r" b="b"/>
            <a:pathLst>
              <a:path w="579119" h="664210">
                <a:moveTo>
                  <a:pt x="0" y="331851"/>
                </a:moveTo>
                <a:lnTo>
                  <a:pt x="3139" y="282813"/>
                </a:lnTo>
                <a:lnTo>
                  <a:pt x="12259" y="236008"/>
                </a:lnTo>
                <a:lnTo>
                  <a:pt x="26912" y="191952"/>
                </a:lnTo>
                <a:lnTo>
                  <a:pt x="46650" y="151155"/>
                </a:lnTo>
                <a:lnTo>
                  <a:pt x="71024" y="114133"/>
                </a:lnTo>
                <a:lnTo>
                  <a:pt x="99587" y="81398"/>
                </a:lnTo>
                <a:lnTo>
                  <a:pt x="131892" y="53463"/>
                </a:lnTo>
                <a:lnTo>
                  <a:pt x="167489" y="30843"/>
                </a:lnTo>
                <a:lnTo>
                  <a:pt x="205931" y="14050"/>
                </a:lnTo>
                <a:lnTo>
                  <a:pt x="246771" y="3598"/>
                </a:lnTo>
                <a:lnTo>
                  <a:pt x="289560" y="0"/>
                </a:lnTo>
                <a:lnTo>
                  <a:pt x="332348" y="3598"/>
                </a:lnTo>
                <a:lnTo>
                  <a:pt x="373188" y="14050"/>
                </a:lnTo>
                <a:lnTo>
                  <a:pt x="411630" y="30843"/>
                </a:lnTo>
                <a:lnTo>
                  <a:pt x="447227" y="53463"/>
                </a:lnTo>
                <a:lnTo>
                  <a:pt x="479532" y="81398"/>
                </a:lnTo>
                <a:lnTo>
                  <a:pt x="508095" y="114133"/>
                </a:lnTo>
                <a:lnTo>
                  <a:pt x="532469" y="151155"/>
                </a:lnTo>
                <a:lnTo>
                  <a:pt x="552207" y="191952"/>
                </a:lnTo>
                <a:lnTo>
                  <a:pt x="566860" y="236008"/>
                </a:lnTo>
                <a:lnTo>
                  <a:pt x="575980" y="282813"/>
                </a:lnTo>
                <a:lnTo>
                  <a:pt x="579120" y="331851"/>
                </a:lnTo>
                <a:lnTo>
                  <a:pt x="575980" y="380888"/>
                </a:lnTo>
                <a:lnTo>
                  <a:pt x="566860" y="427693"/>
                </a:lnTo>
                <a:lnTo>
                  <a:pt x="552207" y="471749"/>
                </a:lnTo>
                <a:lnTo>
                  <a:pt x="532469" y="512546"/>
                </a:lnTo>
                <a:lnTo>
                  <a:pt x="508095" y="549568"/>
                </a:lnTo>
                <a:lnTo>
                  <a:pt x="479532" y="582303"/>
                </a:lnTo>
                <a:lnTo>
                  <a:pt x="447227" y="610238"/>
                </a:lnTo>
                <a:lnTo>
                  <a:pt x="411630" y="632858"/>
                </a:lnTo>
                <a:lnTo>
                  <a:pt x="373188" y="649651"/>
                </a:lnTo>
                <a:lnTo>
                  <a:pt x="332348" y="660103"/>
                </a:lnTo>
                <a:lnTo>
                  <a:pt x="289560" y="663702"/>
                </a:lnTo>
                <a:lnTo>
                  <a:pt x="246771" y="660103"/>
                </a:lnTo>
                <a:lnTo>
                  <a:pt x="205931" y="649651"/>
                </a:lnTo>
                <a:lnTo>
                  <a:pt x="167489" y="632858"/>
                </a:lnTo>
                <a:lnTo>
                  <a:pt x="131892" y="610238"/>
                </a:lnTo>
                <a:lnTo>
                  <a:pt x="99587" y="582303"/>
                </a:lnTo>
                <a:lnTo>
                  <a:pt x="71024" y="549568"/>
                </a:lnTo>
                <a:lnTo>
                  <a:pt x="46650" y="512546"/>
                </a:lnTo>
                <a:lnTo>
                  <a:pt x="26912" y="471749"/>
                </a:lnTo>
                <a:lnTo>
                  <a:pt x="12259" y="427693"/>
                </a:lnTo>
                <a:lnTo>
                  <a:pt x="3139" y="380888"/>
                </a:lnTo>
                <a:lnTo>
                  <a:pt x="0" y="331851"/>
                </a:lnTo>
                <a:close/>
              </a:path>
            </a:pathLst>
          </a:custGeom>
          <a:ln w="25146">
            <a:solidFill>
              <a:srgbClr val="93C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97640" y="2942042"/>
            <a:ext cx="1323340" cy="2040467"/>
          </a:xfrm>
          <a:custGeom>
            <a:avLst/>
            <a:gdLst/>
            <a:ahLst/>
            <a:cxnLst/>
            <a:rect l="l" t="t" r="r" b="b"/>
            <a:pathLst>
              <a:path w="992504" h="1530350">
                <a:moveTo>
                  <a:pt x="496062" y="0"/>
                </a:moveTo>
                <a:lnTo>
                  <a:pt x="422758" y="8294"/>
                </a:lnTo>
                <a:lnTo>
                  <a:pt x="352793" y="32391"/>
                </a:lnTo>
                <a:lnTo>
                  <a:pt x="286936" y="71104"/>
                </a:lnTo>
                <a:lnTo>
                  <a:pt x="255787" y="95573"/>
                </a:lnTo>
                <a:lnTo>
                  <a:pt x="225952" y="123252"/>
                </a:lnTo>
                <a:lnTo>
                  <a:pt x="197528" y="153994"/>
                </a:lnTo>
                <a:lnTo>
                  <a:pt x="170610" y="187651"/>
                </a:lnTo>
                <a:lnTo>
                  <a:pt x="145294" y="224075"/>
                </a:lnTo>
                <a:lnTo>
                  <a:pt x="121676" y="263118"/>
                </a:lnTo>
                <a:lnTo>
                  <a:pt x="99853" y="304632"/>
                </a:lnTo>
                <a:lnTo>
                  <a:pt x="79919" y="348469"/>
                </a:lnTo>
                <a:lnTo>
                  <a:pt x="61971" y="394481"/>
                </a:lnTo>
                <a:lnTo>
                  <a:pt x="46105" y="442521"/>
                </a:lnTo>
                <a:lnTo>
                  <a:pt x="32417" y="492439"/>
                </a:lnTo>
                <a:lnTo>
                  <a:pt x="21003" y="544090"/>
                </a:lnTo>
                <a:lnTo>
                  <a:pt x="11958" y="597324"/>
                </a:lnTo>
                <a:lnTo>
                  <a:pt x="5378" y="651993"/>
                </a:lnTo>
                <a:lnTo>
                  <a:pt x="1360" y="707950"/>
                </a:lnTo>
                <a:lnTo>
                  <a:pt x="0" y="765048"/>
                </a:lnTo>
                <a:lnTo>
                  <a:pt x="1360" y="822145"/>
                </a:lnTo>
                <a:lnTo>
                  <a:pt x="5378" y="878102"/>
                </a:lnTo>
                <a:lnTo>
                  <a:pt x="11958" y="932771"/>
                </a:lnTo>
                <a:lnTo>
                  <a:pt x="21003" y="986005"/>
                </a:lnTo>
                <a:lnTo>
                  <a:pt x="32417" y="1037656"/>
                </a:lnTo>
                <a:lnTo>
                  <a:pt x="46105" y="1087574"/>
                </a:lnTo>
                <a:lnTo>
                  <a:pt x="61971" y="1135614"/>
                </a:lnTo>
                <a:lnTo>
                  <a:pt x="79919" y="1181626"/>
                </a:lnTo>
                <a:lnTo>
                  <a:pt x="99853" y="1225463"/>
                </a:lnTo>
                <a:lnTo>
                  <a:pt x="121676" y="1266977"/>
                </a:lnTo>
                <a:lnTo>
                  <a:pt x="145294" y="1306020"/>
                </a:lnTo>
                <a:lnTo>
                  <a:pt x="170610" y="1342444"/>
                </a:lnTo>
                <a:lnTo>
                  <a:pt x="197528" y="1376101"/>
                </a:lnTo>
                <a:lnTo>
                  <a:pt x="225952" y="1406843"/>
                </a:lnTo>
                <a:lnTo>
                  <a:pt x="255787" y="1434522"/>
                </a:lnTo>
                <a:lnTo>
                  <a:pt x="286936" y="1458991"/>
                </a:lnTo>
                <a:lnTo>
                  <a:pt x="319303" y="1480101"/>
                </a:lnTo>
                <a:lnTo>
                  <a:pt x="387310" y="1511654"/>
                </a:lnTo>
                <a:lnTo>
                  <a:pt x="459040" y="1527997"/>
                </a:lnTo>
                <a:lnTo>
                  <a:pt x="496062" y="1530096"/>
                </a:lnTo>
                <a:lnTo>
                  <a:pt x="533083" y="1527997"/>
                </a:lnTo>
                <a:lnTo>
                  <a:pt x="604813" y="1511654"/>
                </a:lnTo>
                <a:lnTo>
                  <a:pt x="672820" y="1480101"/>
                </a:lnTo>
                <a:lnTo>
                  <a:pt x="705187" y="1458991"/>
                </a:lnTo>
                <a:lnTo>
                  <a:pt x="736336" y="1434522"/>
                </a:lnTo>
                <a:lnTo>
                  <a:pt x="766171" y="1406843"/>
                </a:lnTo>
                <a:lnTo>
                  <a:pt x="794595" y="1376101"/>
                </a:lnTo>
                <a:lnTo>
                  <a:pt x="821513" y="1342444"/>
                </a:lnTo>
                <a:lnTo>
                  <a:pt x="846829" y="1306020"/>
                </a:lnTo>
                <a:lnTo>
                  <a:pt x="870447" y="1266977"/>
                </a:lnTo>
                <a:lnTo>
                  <a:pt x="892270" y="1225463"/>
                </a:lnTo>
                <a:lnTo>
                  <a:pt x="912204" y="1181626"/>
                </a:lnTo>
                <a:lnTo>
                  <a:pt x="930152" y="1135614"/>
                </a:lnTo>
                <a:lnTo>
                  <a:pt x="946018" y="1087574"/>
                </a:lnTo>
                <a:lnTo>
                  <a:pt x="959706" y="1037656"/>
                </a:lnTo>
                <a:lnTo>
                  <a:pt x="971120" y="986005"/>
                </a:lnTo>
                <a:lnTo>
                  <a:pt x="980165" y="932771"/>
                </a:lnTo>
                <a:lnTo>
                  <a:pt x="986745" y="878102"/>
                </a:lnTo>
                <a:lnTo>
                  <a:pt x="990763" y="822145"/>
                </a:lnTo>
                <a:lnTo>
                  <a:pt x="992124" y="765048"/>
                </a:lnTo>
                <a:lnTo>
                  <a:pt x="990763" y="707950"/>
                </a:lnTo>
                <a:lnTo>
                  <a:pt x="986745" y="651993"/>
                </a:lnTo>
                <a:lnTo>
                  <a:pt x="980165" y="597324"/>
                </a:lnTo>
                <a:lnTo>
                  <a:pt x="971120" y="544090"/>
                </a:lnTo>
                <a:lnTo>
                  <a:pt x="959706" y="492439"/>
                </a:lnTo>
                <a:lnTo>
                  <a:pt x="946018" y="442521"/>
                </a:lnTo>
                <a:lnTo>
                  <a:pt x="930152" y="394481"/>
                </a:lnTo>
                <a:lnTo>
                  <a:pt x="912204" y="348469"/>
                </a:lnTo>
                <a:lnTo>
                  <a:pt x="892270" y="304632"/>
                </a:lnTo>
                <a:lnTo>
                  <a:pt x="870447" y="263118"/>
                </a:lnTo>
                <a:lnTo>
                  <a:pt x="846829" y="224075"/>
                </a:lnTo>
                <a:lnTo>
                  <a:pt x="821513" y="187651"/>
                </a:lnTo>
                <a:lnTo>
                  <a:pt x="794595" y="153994"/>
                </a:lnTo>
                <a:lnTo>
                  <a:pt x="766171" y="123252"/>
                </a:lnTo>
                <a:lnTo>
                  <a:pt x="736336" y="95573"/>
                </a:lnTo>
                <a:lnTo>
                  <a:pt x="705187" y="71104"/>
                </a:lnTo>
                <a:lnTo>
                  <a:pt x="672820" y="49994"/>
                </a:lnTo>
                <a:lnTo>
                  <a:pt x="604813" y="18441"/>
                </a:lnTo>
                <a:lnTo>
                  <a:pt x="533083" y="2098"/>
                </a:lnTo>
                <a:lnTo>
                  <a:pt x="496062" y="0"/>
                </a:lnTo>
                <a:close/>
              </a:path>
            </a:pathLst>
          </a:custGeom>
          <a:solidFill>
            <a:srgbClr val="B7DEE8">
              <a:alpha val="7294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97640" y="2942042"/>
            <a:ext cx="1323340" cy="2040467"/>
          </a:xfrm>
          <a:custGeom>
            <a:avLst/>
            <a:gdLst/>
            <a:ahLst/>
            <a:cxnLst/>
            <a:rect l="l" t="t" r="r" b="b"/>
            <a:pathLst>
              <a:path w="992504" h="1530350">
                <a:moveTo>
                  <a:pt x="0" y="765048"/>
                </a:moveTo>
                <a:lnTo>
                  <a:pt x="1360" y="707950"/>
                </a:lnTo>
                <a:lnTo>
                  <a:pt x="5378" y="651993"/>
                </a:lnTo>
                <a:lnTo>
                  <a:pt x="11958" y="597324"/>
                </a:lnTo>
                <a:lnTo>
                  <a:pt x="21003" y="544090"/>
                </a:lnTo>
                <a:lnTo>
                  <a:pt x="32417" y="492439"/>
                </a:lnTo>
                <a:lnTo>
                  <a:pt x="46105" y="442521"/>
                </a:lnTo>
                <a:lnTo>
                  <a:pt x="61971" y="394481"/>
                </a:lnTo>
                <a:lnTo>
                  <a:pt x="79919" y="348469"/>
                </a:lnTo>
                <a:lnTo>
                  <a:pt x="99853" y="304632"/>
                </a:lnTo>
                <a:lnTo>
                  <a:pt x="121676" y="263118"/>
                </a:lnTo>
                <a:lnTo>
                  <a:pt x="145294" y="224075"/>
                </a:lnTo>
                <a:lnTo>
                  <a:pt x="170610" y="187651"/>
                </a:lnTo>
                <a:lnTo>
                  <a:pt x="197528" y="153994"/>
                </a:lnTo>
                <a:lnTo>
                  <a:pt x="225952" y="123252"/>
                </a:lnTo>
                <a:lnTo>
                  <a:pt x="255787" y="95573"/>
                </a:lnTo>
                <a:lnTo>
                  <a:pt x="286936" y="71104"/>
                </a:lnTo>
                <a:lnTo>
                  <a:pt x="319303" y="49994"/>
                </a:lnTo>
                <a:lnTo>
                  <a:pt x="387310" y="18441"/>
                </a:lnTo>
                <a:lnTo>
                  <a:pt x="459040" y="2098"/>
                </a:lnTo>
                <a:lnTo>
                  <a:pt x="496062" y="0"/>
                </a:lnTo>
                <a:lnTo>
                  <a:pt x="533083" y="2098"/>
                </a:lnTo>
                <a:lnTo>
                  <a:pt x="604813" y="18441"/>
                </a:lnTo>
                <a:lnTo>
                  <a:pt x="672820" y="49994"/>
                </a:lnTo>
                <a:lnTo>
                  <a:pt x="705187" y="71104"/>
                </a:lnTo>
                <a:lnTo>
                  <a:pt x="736336" y="95573"/>
                </a:lnTo>
                <a:lnTo>
                  <a:pt x="766171" y="123252"/>
                </a:lnTo>
                <a:lnTo>
                  <a:pt x="794595" y="153994"/>
                </a:lnTo>
                <a:lnTo>
                  <a:pt x="821513" y="187651"/>
                </a:lnTo>
                <a:lnTo>
                  <a:pt x="846829" y="224075"/>
                </a:lnTo>
                <a:lnTo>
                  <a:pt x="870447" y="263118"/>
                </a:lnTo>
                <a:lnTo>
                  <a:pt x="892270" y="304632"/>
                </a:lnTo>
                <a:lnTo>
                  <a:pt x="912204" y="348469"/>
                </a:lnTo>
                <a:lnTo>
                  <a:pt x="930152" y="394481"/>
                </a:lnTo>
                <a:lnTo>
                  <a:pt x="946018" y="442521"/>
                </a:lnTo>
                <a:lnTo>
                  <a:pt x="959706" y="492439"/>
                </a:lnTo>
                <a:lnTo>
                  <a:pt x="971120" y="544090"/>
                </a:lnTo>
                <a:lnTo>
                  <a:pt x="980165" y="597324"/>
                </a:lnTo>
                <a:lnTo>
                  <a:pt x="986745" y="651993"/>
                </a:lnTo>
                <a:lnTo>
                  <a:pt x="990763" y="707950"/>
                </a:lnTo>
                <a:lnTo>
                  <a:pt x="992124" y="765048"/>
                </a:lnTo>
                <a:lnTo>
                  <a:pt x="990763" y="822145"/>
                </a:lnTo>
                <a:lnTo>
                  <a:pt x="986745" y="878102"/>
                </a:lnTo>
                <a:lnTo>
                  <a:pt x="980165" y="932771"/>
                </a:lnTo>
                <a:lnTo>
                  <a:pt x="971120" y="986005"/>
                </a:lnTo>
                <a:lnTo>
                  <a:pt x="959706" y="1037656"/>
                </a:lnTo>
                <a:lnTo>
                  <a:pt x="946018" y="1087574"/>
                </a:lnTo>
                <a:lnTo>
                  <a:pt x="930152" y="1135614"/>
                </a:lnTo>
                <a:lnTo>
                  <a:pt x="912204" y="1181626"/>
                </a:lnTo>
                <a:lnTo>
                  <a:pt x="892270" y="1225463"/>
                </a:lnTo>
                <a:lnTo>
                  <a:pt x="870447" y="1266977"/>
                </a:lnTo>
                <a:lnTo>
                  <a:pt x="846829" y="1306020"/>
                </a:lnTo>
                <a:lnTo>
                  <a:pt x="821513" y="1342444"/>
                </a:lnTo>
                <a:lnTo>
                  <a:pt x="794595" y="1376101"/>
                </a:lnTo>
                <a:lnTo>
                  <a:pt x="766171" y="1406843"/>
                </a:lnTo>
                <a:lnTo>
                  <a:pt x="736336" y="1434522"/>
                </a:lnTo>
                <a:lnTo>
                  <a:pt x="705187" y="1458991"/>
                </a:lnTo>
                <a:lnTo>
                  <a:pt x="672820" y="1480101"/>
                </a:lnTo>
                <a:lnTo>
                  <a:pt x="604813" y="1511654"/>
                </a:lnTo>
                <a:lnTo>
                  <a:pt x="533083" y="1527997"/>
                </a:lnTo>
                <a:lnTo>
                  <a:pt x="496062" y="1530096"/>
                </a:lnTo>
                <a:lnTo>
                  <a:pt x="459040" y="1527997"/>
                </a:lnTo>
                <a:lnTo>
                  <a:pt x="387310" y="1511654"/>
                </a:lnTo>
                <a:lnTo>
                  <a:pt x="319303" y="1480101"/>
                </a:lnTo>
                <a:lnTo>
                  <a:pt x="286936" y="1458991"/>
                </a:lnTo>
                <a:lnTo>
                  <a:pt x="255787" y="1434522"/>
                </a:lnTo>
                <a:lnTo>
                  <a:pt x="225952" y="1406843"/>
                </a:lnTo>
                <a:lnTo>
                  <a:pt x="197528" y="1376101"/>
                </a:lnTo>
                <a:lnTo>
                  <a:pt x="170610" y="1342444"/>
                </a:lnTo>
                <a:lnTo>
                  <a:pt x="145294" y="1306020"/>
                </a:lnTo>
                <a:lnTo>
                  <a:pt x="121676" y="1266977"/>
                </a:lnTo>
                <a:lnTo>
                  <a:pt x="99853" y="1225463"/>
                </a:lnTo>
                <a:lnTo>
                  <a:pt x="79919" y="1181626"/>
                </a:lnTo>
                <a:lnTo>
                  <a:pt x="61971" y="1135614"/>
                </a:lnTo>
                <a:lnTo>
                  <a:pt x="46105" y="1087574"/>
                </a:lnTo>
                <a:lnTo>
                  <a:pt x="32417" y="1037656"/>
                </a:lnTo>
                <a:lnTo>
                  <a:pt x="21003" y="986005"/>
                </a:lnTo>
                <a:lnTo>
                  <a:pt x="11958" y="932771"/>
                </a:lnTo>
                <a:lnTo>
                  <a:pt x="5378" y="878102"/>
                </a:lnTo>
                <a:lnTo>
                  <a:pt x="1360" y="822145"/>
                </a:lnTo>
                <a:lnTo>
                  <a:pt x="0" y="765048"/>
                </a:lnTo>
                <a:close/>
              </a:path>
            </a:pathLst>
          </a:custGeom>
          <a:ln w="25146">
            <a:solidFill>
              <a:srgbClr val="93C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65870" y="3133050"/>
            <a:ext cx="772160" cy="883920"/>
          </a:xfrm>
          <a:custGeom>
            <a:avLst/>
            <a:gdLst/>
            <a:ahLst/>
            <a:cxnLst/>
            <a:rect l="l" t="t" r="r" b="b"/>
            <a:pathLst>
              <a:path w="579119" h="662939">
                <a:moveTo>
                  <a:pt x="289560" y="0"/>
                </a:moveTo>
                <a:lnTo>
                  <a:pt x="246771" y="3593"/>
                </a:lnTo>
                <a:lnTo>
                  <a:pt x="205931" y="14033"/>
                </a:lnTo>
                <a:lnTo>
                  <a:pt x="167489" y="30806"/>
                </a:lnTo>
                <a:lnTo>
                  <a:pt x="131892" y="53400"/>
                </a:lnTo>
                <a:lnTo>
                  <a:pt x="99587" y="81302"/>
                </a:lnTo>
                <a:lnTo>
                  <a:pt x="71024" y="113999"/>
                </a:lnTo>
                <a:lnTo>
                  <a:pt x="46650" y="150979"/>
                </a:lnTo>
                <a:lnTo>
                  <a:pt x="26912" y="191728"/>
                </a:lnTo>
                <a:lnTo>
                  <a:pt x="12259" y="235735"/>
                </a:lnTo>
                <a:lnTo>
                  <a:pt x="3139" y="282486"/>
                </a:lnTo>
                <a:lnTo>
                  <a:pt x="0" y="331469"/>
                </a:lnTo>
                <a:lnTo>
                  <a:pt x="3139" y="380453"/>
                </a:lnTo>
                <a:lnTo>
                  <a:pt x="12259" y="427204"/>
                </a:lnTo>
                <a:lnTo>
                  <a:pt x="26912" y="471211"/>
                </a:lnTo>
                <a:lnTo>
                  <a:pt x="46650" y="511960"/>
                </a:lnTo>
                <a:lnTo>
                  <a:pt x="71024" y="548940"/>
                </a:lnTo>
                <a:lnTo>
                  <a:pt x="99587" y="581637"/>
                </a:lnTo>
                <a:lnTo>
                  <a:pt x="131892" y="609539"/>
                </a:lnTo>
                <a:lnTo>
                  <a:pt x="167489" y="632133"/>
                </a:lnTo>
                <a:lnTo>
                  <a:pt x="205931" y="648906"/>
                </a:lnTo>
                <a:lnTo>
                  <a:pt x="246771" y="659346"/>
                </a:lnTo>
                <a:lnTo>
                  <a:pt x="289560" y="662940"/>
                </a:lnTo>
                <a:lnTo>
                  <a:pt x="332348" y="659346"/>
                </a:lnTo>
                <a:lnTo>
                  <a:pt x="373188" y="648906"/>
                </a:lnTo>
                <a:lnTo>
                  <a:pt x="411630" y="632133"/>
                </a:lnTo>
                <a:lnTo>
                  <a:pt x="447227" y="609539"/>
                </a:lnTo>
                <a:lnTo>
                  <a:pt x="479532" y="581637"/>
                </a:lnTo>
                <a:lnTo>
                  <a:pt x="508095" y="548940"/>
                </a:lnTo>
                <a:lnTo>
                  <a:pt x="532469" y="511960"/>
                </a:lnTo>
                <a:lnTo>
                  <a:pt x="552207" y="471211"/>
                </a:lnTo>
                <a:lnTo>
                  <a:pt x="566860" y="427204"/>
                </a:lnTo>
                <a:lnTo>
                  <a:pt x="575980" y="380453"/>
                </a:lnTo>
                <a:lnTo>
                  <a:pt x="579120" y="331469"/>
                </a:lnTo>
                <a:lnTo>
                  <a:pt x="575980" y="282486"/>
                </a:lnTo>
                <a:lnTo>
                  <a:pt x="566860" y="235735"/>
                </a:lnTo>
                <a:lnTo>
                  <a:pt x="552207" y="191728"/>
                </a:lnTo>
                <a:lnTo>
                  <a:pt x="532469" y="150979"/>
                </a:lnTo>
                <a:lnTo>
                  <a:pt x="508095" y="113999"/>
                </a:lnTo>
                <a:lnTo>
                  <a:pt x="479532" y="81302"/>
                </a:lnTo>
                <a:lnTo>
                  <a:pt x="447227" y="53400"/>
                </a:lnTo>
                <a:lnTo>
                  <a:pt x="411630" y="30806"/>
                </a:lnTo>
                <a:lnTo>
                  <a:pt x="373188" y="14033"/>
                </a:lnTo>
                <a:lnTo>
                  <a:pt x="332348" y="3593"/>
                </a:lnTo>
                <a:lnTo>
                  <a:pt x="289560" y="0"/>
                </a:lnTo>
                <a:close/>
              </a:path>
            </a:pathLst>
          </a:custGeom>
          <a:solidFill>
            <a:srgbClr val="B7DEE8">
              <a:alpha val="7294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5870" y="3133050"/>
            <a:ext cx="772160" cy="883920"/>
          </a:xfrm>
          <a:custGeom>
            <a:avLst/>
            <a:gdLst/>
            <a:ahLst/>
            <a:cxnLst/>
            <a:rect l="l" t="t" r="r" b="b"/>
            <a:pathLst>
              <a:path w="579119" h="662939">
                <a:moveTo>
                  <a:pt x="0" y="331469"/>
                </a:moveTo>
                <a:lnTo>
                  <a:pt x="3139" y="282486"/>
                </a:lnTo>
                <a:lnTo>
                  <a:pt x="12259" y="235735"/>
                </a:lnTo>
                <a:lnTo>
                  <a:pt x="26912" y="191728"/>
                </a:lnTo>
                <a:lnTo>
                  <a:pt x="46650" y="150979"/>
                </a:lnTo>
                <a:lnTo>
                  <a:pt x="71024" y="113999"/>
                </a:lnTo>
                <a:lnTo>
                  <a:pt x="99587" y="81302"/>
                </a:lnTo>
                <a:lnTo>
                  <a:pt x="131892" y="53400"/>
                </a:lnTo>
                <a:lnTo>
                  <a:pt x="167489" y="30806"/>
                </a:lnTo>
                <a:lnTo>
                  <a:pt x="205931" y="14033"/>
                </a:lnTo>
                <a:lnTo>
                  <a:pt x="246771" y="3593"/>
                </a:lnTo>
                <a:lnTo>
                  <a:pt x="289560" y="0"/>
                </a:lnTo>
                <a:lnTo>
                  <a:pt x="332348" y="3593"/>
                </a:lnTo>
                <a:lnTo>
                  <a:pt x="373188" y="14033"/>
                </a:lnTo>
                <a:lnTo>
                  <a:pt x="411630" y="30806"/>
                </a:lnTo>
                <a:lnTo>
                  <a:pt x="447227" y="53400"/>
                </a:lnTo>
                <a:lnTo>
                  <a:pt x="479532" y="81302"/>
                </a:lnTo>
                <a:lnTo>
                  <a:pt x="508095" y="113999"/>
                </a:lnTo>
                <a:lnTo>
                  <a:pt x="532469" y="150979"/>
                </a:lnTo>
                <a:lnTo>
                  <a:pt x="552207" y="191728"/>
                </a:lnTo>
                <a:lnTo>
                  <a:pt x="566860" y="235735"/>
                </a:lnTo>
                <a:lnTo>
                  <a:pt x="575980" y="282486"/>
                </a:lnTo>
                <a:lnTo>
                  <a:pt x="579120" y="331469"/>
                </a:lnTo>
                <a:lnTo>
                  <a:pt x="575980" y="380453"/>
                </a:lnTo>
                <a:lnTo>
                  <a:pt x="566860" y="427204"/>
                </a:lnTo>
                <a:lnTo>
                  <a:pt x="552207" y="471211"/>
                </a:lnTo>
                <a:lnTo>
                  <a:pt x="532469" y="511960"/>
                </a:lnTo>
                <a:lnTo>
                  <a:pt x="508095" y="548940"/>
                </a:lnTo>
                <a:lnTo>
                  <a:pt x="479532" y="581637"/>
                </a:lnTo>
                <a:lnTo>
                  <a:pt x="447227" y="609539"/>
                </a:lnTo>
                <a:lnTo>
                  <a:pt x="411630" y="632133"/>
                </a:lnTo>
                <a:lnTo>
                  <a:pt x="373188" y="648906"/>
                </a:lnTo>
                <a:lnTo>
                  <a:pt x="332348" y="659346"/>
                </a:lnTo>
                <a:lnTo>
                  <a:pt x="289560" y="662940"/>
                </a:lnTo>
                <a:lnTo>
                  <a:pt x="246771" y="659346"/>
                </a:lnTo>
                <a:lnTo>
                  <a:pt x="205931" y="648906"/>
                </a:lnTo>
                <a:lnTo>
                  <a:pt x="167489" y="632133"/>
                </a:lnTo>
                <a:lnTo>
                  <a:pt x="131892" y="609539"/>
                </a:lnTo>
                <a:lnTo>
                  <a:pt x="99587" y="581637"/>
                </a:lnTo>
                <a:lnTo>
                  <a:pt x="71024" y="548940"/>
                </a:lnTo>
                <a:lnTo>
                  <a:pt x="46650" y="511960"/>
                </a:lnTo>
                <a:lnTo>
                  <a:pt x="26912" y="471211"/>
                </a:lnTo>
                <a:lnTo>
                  <a:pt x="12259" y="427204"/>
                </a:lnTo>
                <a:lnTo>
                  <a:pt x="3139" y="380453"/>
                </a:lnTo>
                <a:lnTo>
                  <a:pt x="0" y="331469"/>
                </a:lnTo>
                <a:close/>
              </a:path>
            </a:pathLst>
          </a:custGeom>
          <a:ln w="25145">
            <a:solidFill>
              <a:srgbClr val="93C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49478" y="1773642"/>
            <a:ext cx="772160" cy="885613"/>
          </a:xfrm>
          <a:custGeom>
            <a:avLst/>
            <a:gdLst/>
            <a:ahLst/>
            <a:cxnLst/>
            <a:rect l="l" t="t" r="r" b="b"/>
            <a:pathLst>
              <a:path w="579120" h="664210">
                <a:moveTo>
                  <a:pt x="289560" y="0"/>
                </a:moveTo>
                <a:lnTo>
                  <a:pt x="246771" y="3598"/>
                </a:lnTo>
                <a:lnTo>
                  <a:pt x="205931" y="14050"/>
                </a:lnTo>
                <a:lnTo>
                  <a:pt x="167489" y="30843"/>
                </a:lnTo>
                <a:lnTo>
                  <a:pt x="131892" y="53463"/>
                </a:lnTo>
                <a:lnTo>
                  <a:pt x="99587" y="81398"/>
                </a:lnTo>
                <a:lnTo>
                  <a:pt x="71024" y="114133"/>
                </a:lnTo>
                <a:lnTo>
                  <a:pt x="46650" y="151155"/>
                </a:lnTo>
                <a:lnTo>
                  <a:pt x="26912" y="191952"/>
                </a:lnTo>
                <a:lnTo>
                  <a:pt x="12259" y="236008"/>
                </a:lnTo>
                <a:lnTo>
                  <a:pt x="3139" y="282813"/>
                </a:lnTo>
                <a:lnTo>
                  <a:pt x="0" y="331850"/>
                </a:lnTo>
                <a:lnTo>
                  <a:pt x="3139" y="380888"/>
                </a:lnTo>
                <a:lnTo>
                  <a:pt x="12259" y="427693"/>
                </a:lnTo>
                <a:lnTo>
                  <a:pt x="26912" y="471749"/>
                </a:lnTo>
                <a:lnTo>
                  <a:pt x="46650" y="512546"/>
                </a:lnTo>
                <a:lnTo>
                  <a:pt x="71024" y="549568"/>
                </a:lnTo>
                <a:lnTo>
                  <a:pt x="99587" y="582303"/>
                </a:lnTo>
                <a:lnTo>
                  <a:pt x="131892" y="610238"/>
                </a:lnTo>
                <a:lnTo>
                  <a:pt x="167489" y="632858"/>
                </a:lnTo>
                <a:lnTo>
                  <a:pt x="205931" y="649651"/>
                </a:lnTo>
                <a:lnTo>
                  <a:pt x="246771" y="660103"/>
                </a:lnTo>
                <a:lnTo>
                  <a:pt x="289560" y="663701"/>
                </a:lnTo>
                <a:lnTo>
                  <a:pt x="332348" y="660103"/>
                </a:lnTo>
                <a:lnTo>
                  <a:pt x="373188" y="649651"/>
                </a:lnTo>
                <a:lnTo>
                  <a:pt x="411630" y="632858"/>
                </a:lnTo>
                <a:lnTo>
                  <a:pt x="447227" y="610238"/>
                </a:lnTo>
                <a:lnTo>
                  <a:pt x="479532" y="582303"/>
                </a:lnTo>
                <a:lnTo>
                  <a:pt x="508095" y="549568"/>
                </a:lnTo>
                <a:lnTo>
                  <a:pt x="532469" y="512546"/>
                </a:lnTo>
                <a:lnTo>
                  <a:pt x="552207" y="471749"/>
                </a:lnTo>
                <a:lnTo>
                  <a:pt x="566860" y="427693"/>
                </a:lnTo>
                <a:lnTo>
                  <a:pt x="575980" y="380888"/>
                </a:lnTo>
                <a:lnTo>
                  <a:pt x="579120" y="331850"/>
                </a:lnTo>
                <a:lnTo>
                  <a:pt x="575980" y="282813"/>
                </a:lnTo>
                <a:lnTo>
                  <a:pt x="566860" y="236008"/>
                </a:lnTo>
                <a:lnTo>
                  <a:pt x="552207" y="191952"/>
                </a:lnTo>
                <a:lnTo>
                  <a:pt x="532469" y="151155"/>
                </a:lnTo>
                <a:lnTo>
                  <a:pt x="508095" y="114133"/>
                </a:lnTo>
                <a:lnTo>
                  <a:pt x="479532" y="81398"/>
                </a:lnTo>
                <a:lnTo>
                  <a:pt x="447227" y="53463"/>
                </a:lnTo>
                <a:lnTo>
                  <a:pt x="411630" y="30843"/>
                </a:lnTo>
                <a:lnTo>
                  <a:pt x="373188" y="14050"/>
                </a:lnTo>
                <a:lnTo>
                  <a:pt x="332348" y="3598"/>
                </a:lnTo>
                <a:lnTo>
                  <a:pt x="289560" y="0"/>
                </a:lnTo>
                <a:close/>
              </a:path>
            </a:pathLst>
          </a:custGeom>
          <a:solidFill>
            <a:srgbClr val="B7DE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49478" y="1773642"/>
            <a:ext cx="772160" cy="885613"/>
          </a:xfrm>
          <a:custGeom>
            <a:avLst/>
            <a:gdLst/>
            <a:ahLst/>
            <a:cxnLst/>
            <a:rect l="l" t="t" r="r" b="b"/>
            <a:pathLst>
              <a:path w="579120" h="664210">
                <a:moveTo>
                  <a:pt x="0" y="331850"/>
                </a:moveTo>
                <a:lnTo>
                  <a:pt x="3139" y="282813"/>
                </a:lnTo>
                <a:lnTo>
                  <a:pt x="12259" y="236008"/>
                </a:lnTo>
                <a:lnTo>
                  <a:pt x="26912" y="191952"/>
                </a:lnTo>
                <a:lnTo>
                  <a:pt x="46650" y="151155"/>
                </a:lnTo>
                <a:lnTo>
                  <a:pt x="71024" y="114133"/>
                </a:lnTo>
                <a:lnTo>
                  <a:pt x="99587" y="81398"/>
                </a:lnTo>
                <a:lnTo>
                  <a:pt x="131892" y="53463"/>
                </a:lnTo>
                <a:lnTo>
                  <a:pt x="167489" y="30843"/>
                </a:lnTo>
                <a:lnTo>
                  <a:pt x="205931" y="14050"/>
                </a:lnTo>
                <a:lnTo>
                  <a:pt x="246771" y="3598"/>
                </a:lnTo>
                <a:lnTo>
                  <a:pt x="289560" y="0"/>
                </a:lnTo>
                <a:lnTo>
                  <a:pt x="332348" y="3598"/>
                </a:lnTo>
                <a:lnTo>
                  <a:pt x="373188" y="14050"/>
                </a:lnTo>
                <a:lnTo>
                  <a:pt x="411630" y="30843"/>
                </a:lnTo>
                <a:lnTo>
                  <a:pt x="447227" y="53463"/>
                </a:lnTo>
                <a:lnTo>
                  <a:pt x="479532" y="81398"/>
                </a:lnTo>
                <a:lnTo>
                  <a:pt x="508095" y="114133"/>
                </a:lnTo>
                <a:lnTo>
                  <a:pt x="532469" y="151155"/>
                </a:lnTo>
                <a:lnTo>
                  <a:pt x="552207" y="191952"/>
                </a:lnTo>
                <a:lnTo>
                  <a:pt x="566860" y="236008"/>
                </a:lnTo>
                <a:lnTo>
                  <a:pt x="575980" y="282813"/>
                </a:lnTo>
                <a:lnTo>
                  <a:pt x="579120" y="331850"/>
                </a:lnTo>
                <a:lnTo>
                  <a:pt x="575980" y="380888"/>
                </a:lnTo>
                <a:lnTo>
                  <a:pt x="566860" y="427693"/>
                </a:lnTo>
                <a:lnTo>
                  <a:pt x="552207" y="471749"/>
                </a:lnTo>
                <a:lnTo>
                  <a:pt x="532469" y="512546"/>
                </a:lnTo>
                <a:lnTo>
                  <a:pt x="508095" y="549568"/>
                </a:lnTo>
                <a:lnTo>
                  <a:pt x="479532" y="582303"/>
                </a:lnTo>
                <a:lnTo>
                  <a:pt x="447227" y="610238"/>
                </a:lnTo>
                <a:lnTo>
                  <a:pt x="411630" y="632858"/>
                </a:lnTo>
                <a:lnTo>
                  <a:pt x="373188" y="649651"/>
                </a:lnTo>
                <a:lnTo>
                  <a:pt x="332348" y="660103"/>
                </a:lnTo>
                <a:lnTo>
                  <a:pt x="289560" y="663701"/>
                </a:lnTo>
                <a:lnTo>
                  <a:pt x="246771" y="660103"/>
                </a:lnTo>
                <a:lnTo>
                  <a:pt x="205931" y="649651"/>
                </a:lnTo>
                <a:lnTo>
                  <a:pt x="167489" y="632858"/>
                </a:lnTo>
                <a:lnTo>
                  <a:pt x="131892" y="610238"/>
                </a:lnTo>
                <a:lnTo>
                  <a:pt x="99587" y="582303"/>
                </a:lnTo>
                <a:lnTo>
                  <a:pt x="71024" y="549568"/>
                </a:lnTo>
                <a:lnTo>
                  <a:pt x="46650" y="512546"/>
                </a:lnTo>
                <a:lnTo>
                  <a:pt x="26912" y="471749"/>
                </a:lnTo>
                <a:lnTo>
                  <a:pt x="12259" y="427693"/>
                </a:lnTo>
                <a:lnTo>
                  <a:pt x="3139" y="380888"/>
                </a:lnTo>
                <a:lnTo>
                  <a:pt x="0" y="331850"/>
                </a:lnTo>
                <a:close/>
              </a:path>
            </a:pathLst>
          </a:custGeom>
          <a:ln w="25146">
            <a:solidFill>
              <a:srgbClr val="93C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5174" y="1705572"/>
            <a:ext cx="2065867" cy="2583180"/>
          </a:xfrm>
          <a:custGeom>
            <a:avLst/>
            <a:gdLst/>
            <a:ahLst/>
            <a:cxnLst/>
            <a:rect l="l" t="t" r="r" b="b"/>
            <a:pathLst>
              <a:path w="1549400" h="1937385">
                <a:moveTo>
                  <a:pt x="774573" y="0"/>
                </a:moveTo>
                <a:lnTo>
                  <a:pt x="732074" y="1433"/>
                </a:lnTo>
                <a:lnTo>
                  <a:pt x="690174" y="5683"/>
                </a:lnTo>
                <a:lnTo>
                  <a:pt x="648932" y="12676"/>
                </a:lnTo>
                <a:lnTo>
                  <a:pt x="608408" y="22338"/>
                </a:lnTo>
                <a:lnTo>
                  <a:pt x="568660" y="34596"/>
                </a:lnTo>
                <a:lnTo>
                  <a:pt x="529747" y="49375"/>
                </a:lnTo>
                <a:lnTo>
                  <a:pt x="491728" y="66601"/>
                </a:lnTo>
                <a:lnTo>
                  <a:pt x="454663" y="86202"/>
                </a:lnTo>
                <a:lnTo>
                  <a:pt x="418611" y="108102"/>
                </a:lnTo>
                <a:lnTo>
                  <a:pt x="383630" y="132229"/>
                </a:lnTo>
                <a:lnTo>
                  <a:pt x="349780" y="158508"/>
                </a:lnTo>
                <a:lnTo>
                  <a:pt x="317119" y="186865"/>
                </a:lnTo>
                <a:lnTo>
                  <a:pt x="285707" y="217227"/>
                </a:lnTo>
                <a:lnTo>
                  <a:pt x="255603" y="249519"/>
                </a:lnTo>
                <a:lnTo>
                  <a:pt x="226866" y="283668"/>
                </a:lnTo>
                <a:lnTo>
                  <a:pt x="199555" y="319600"/>
                </a:lnTo>
                <a:lnTo>
                  <a:pt x="173729" y="357242"/>
                </a:lnTo>
                <a:lnTo>
                  <a:pt x="149447" y="396518"/>
                </a:lnTo>
                <a:lnTo>
                  <a:pt x="126768" y="437356"/>
                </a:lnTo>
                <a:lnTo>
                  <a:pt x="105751" y="479681"/>
                </a:lnTo>
                <a:lnTo>
                  <a:pt x="86456" y="523420"/>
                </a:lnTo>
                <a:lnTo>
                  <a:pt x="68940" y="568499"/>
                </a:lnTo>
                <a:lnTo>
                  <a:pt x="53265" y="614844"/>
                </a:lnTo>
                <a:lnTo>
                  <a:pt x="39488" y="662381"/>
                </a:lnTo>
                <a:lnTo>
                  <a:pt x="27668" y="711036"/>
                </a:lnTo>
                <a:lnTo>
                  <a:pt x="17865" y="760736"/>
                </a:lnTo>
                <a:lnTo>
                  <a:pt x="10137" y="811406"/>
                </a:lnTo>
                <a:lnTo>
                  <a:pt x="4545" y="862973"/>
                </a:lnTo>
                <a:lnTo>
                  <a:pt x="1146" y="915363"/>
                </a:lnTo>
                <a:lnTo>
                  <a:pt x="0" y="968502"/>
                </a:lnTo>
                <a:lnTo>
                  <a:pt x="1146" y="1021640"/>
                </a:lnTo>
                <a:lnTo>
                  <a:pt x="4545" y="1074030"/>
                </a:lnTo>
                <a:lnTo>
                  <a:pt x="10137" y="1125597"/>
                </a:lnTo>
                <a:lnTo>
                  <a:pt x="17865" y="1176267"/>
                </a:lnTo>
                <a:lnTo>
                  <a:pt x="27668" y="1225967"/>
                </a:lnTo>
                <a:lnTo>
                  <a:pt x="39488" y="1274622"/>
                </a:lnTo>
                <a:lnTo>
                  <a:pt x="53265" y="1322159"/>
                </a:lnTo>
                <a:lnTo>
                  <a:pt x="68940" y="1368504"/>
                </a:lnTo>
                <a:lnTo>
                  <a:pt x="86456" y="1413583"/>
                </a:lnTo>
                <a:lnTo>
                  <a:pt x="105751" y="1457322"/>
                </a:lnTo>
                <a:lnTo>
                  <a:pt x="126768" y="1499647"/>
                </a:lnTo>
                <a:lnTo>
                  <a:pt x="149447" y="1540485"/>
                </a:lnTo>
                <a:lnTo>
                  <a:pt x="173729" y="1579761"/>
                </a:lnTo>
                <a:lnTo>
                  <a:pt x="199555" y="1617403"/>
                </a:lnTo>
                <a:lnTo>
                  <a:pt x="226866" y="1653335"/>
                </a:lnTo>
                <a:lnTo>
                  <a:pt x="255603" y="1687484"/>
                </a:lnTo>
                <a:lnTo>
                  <a:pt x="285707" y="1719776"/>
                </a:lnTo>
                <a:lnTo>
                  <a:pt x="317119" y="1750138"/>
                </a:lnTo>
                <a:lnTo>
                  <a:pt x="349780" y="1778495"/>
                </a:lnTo>
                <a:lnTo>
                  <a:pt x="383630" y="1804774"/>
                </a:lnTo>
                <a:lnTo>
                  <a:pt x="418611" y="1828901"/>
                </a:lnTo>
                <a:lnTo>
                  <a:pt x="454663" y="1850801"/>
                </a:lnTo>
                <a:lnTo>
                  <a:pt x="491728" y="1870402"/>
                </a:lnTo>
                <a:lnTo>
                  <a:pt x="529747" y="1887628"/>
                </a:lnTo>
                <a:lnTo>
                  <a:pt x="568660" y="1902407"/>
                </a:lnTo>
                <a:lnTo>
                  <a:pt x="608408" y="1914665"/>
                </a:lnTo>
                <a:lnTo>
                  <a:pt x="648932" y="1924327"/>
                </a:lnTo>
                <a:lnTo>
                  <a:pt x="690174" y="1931320"/>
                </a:lnTo>
                <a:lnTo>
                  <a:pt x="732074" y="1935570"/>
                </a:lnTo>
                <a:lnTo>
                  <a:pt x="774573" y="1937004"/>
                </a:lnTo>
                <a:lnTo>
                  <a:pt x="817071" y="1935570"/>
                </a:lnTo>
                <a:lnTo>
                  <a:pt x="858971" y="1931320"/>
                </a:lnTo>
                <a:lnTo>
                  <a:pt x="900213" y="1924327"/>
                </a:lnTo>
                <a:lnTo>
                  <a:pt x="940737" y="1914665"/>
                </a:lnTo>
                <a:lnTo>
                  <a:pt x="980485" y="1902407"/>
                </a:lnTo>
                <a:lnTo>
                  <a:pt x="1019398" y="1887628"/>
                </a:lnTo>
                <a:lnTo>
                  <a:pt x="1057417" y="1870402"/>
                </a:lnTo>
                <a:lnTo>
                  <a:pt x="1094482" y="1850801"/>
                </a:lnTo>
                <a:lnTo>
                  <a:pt x="1130534" y="1828901"/>
                </a:lnTo>
                <a:lnTo>
                  <a:pt x="1165515" y="1804774"/>
                </a:lnTo>
                <a:lnTo>
                  <a:pt x="1199365" y="1778495"/>
                </a:lnTo>
                <a:lnTo>
                  <a:pt x="1232026" y="1750138"/>
                </a:lnTo>
                <a:lnTo>
                  <a:pt x="1263438" y="1719776"/>
                </a:lnTo>
                <a:lnTo>
                  <a:pt x="1293542" y="1687484"/>
                </a:lnTo>
                <a:lnTo>
                  <a:pt x="1322279" y="1653335"/>
                </a:lnTo>
                <a:lnTo>
                  <a:pt x="1349590" y="1617403"/>
                </a:lnTo>
                <a:lnTo>
                  <a:pt x="1375416" y="1579761"/>
                </a:lnTo>
                <a:lnTo>
                  <a:pt x="1399698" y="1540485"/>
                </a:lnTo>
                <a:lnTo>
                  <a:pt x="1422377" y="1499647"/>
                </a:lnTo>
                <a:lnTo>
                  <a:pt x="1443394" y="1457322"/>
                </a:lnTo>
                <a:lnTo>
                  <a:pt x="1462689" y="1413583"/>
                </a:lnTo>
                <a:lnTo>
                  <a:pt x="1480205" y="1368504"/>
                </a:lnTo>
                <a:lnTo>
                  <a:pt x="1495880" y="1322159"/>
                </a:lnTo>
                <a:lnTo>
                  <a:pt x="1509657" y="1274622"/>
                </a:lnTo>
                <a:lnTo>
                  <a:pt x="1521477" y="1225967"/>
                </a:lnTo>
                <a:lnTo>
                  <a:pt x="1531280" y="1176267"/>
                </a:lnTo>
                <a:lnTo>
                  <a:pt x="1539008" y="1125597"/>
                </a:lnTo>
                <a:lnTo>
                  <a:pt x="1544600" y="1074030"/>
                </a:lnTo>
                <a:lnTo>
                  <a:pt x="1547999" y="1021640"/>
                </a:lnTo>
                <a:lnTo>
                  <a:pt x="1549146" y="968502"/>
                </a:lnTo>
                <a:lnTo>
                  <a:pt x="1547999" y="915363"/>
                </a:lnTo>
                <a:lnTo>
                  <a:pt x="1544600" y="862973"/>
                </a:lnTo>
                <a:lnTo>
                  <a:pt x="1539008" y="811406"/>
                </a:lnTo>
                <a:lnTo>
                  <a:pt x="1531280" y="760736"/>
                </a:lnTo>
                <a:lnTo>
                  <a:pt x="1521477" y="711036"/>
                </a:lnTo>
                <a:lnTo>
                  <a:pt x="1509657" y="662381"/>
                </a:lnTo>
                <a:lnTo>
                  <a:pt x="1495880" y="614844"/>
                </a:lnTo>
                <a:lnTo>
                  <a:pt x="1480205" y="568499"/>
                </a:lnTo>
                <a:lnTo>
                  <a:pt x="1462689" y="523420"/>
                </a:lnTo>
                <a:lnTo>
                  <a:pt x="1443394" y="479681"/>
                </a:lnTo>
                <a:lnTo>
                  <a:pt x="1422377" y="437356"/>
                </a:lnTo>
                <a:lnTo>
                  <a:pt x="1399698" y="396518"/>
                </a:lnTo>
                <a:lnTo>
                  <a:pt x="1375416" y="357242"/>
                </a:lnTo>
                <a:lnTo>
                  <a:pt x="1349590" y="319600"/>
                </a:lnTo>
                <a:lnTo>
                  <a:pt x="1322279" y="283668"/>
                </a:lnTo>
                <a:lnTo>
                  <a:pt x="1293542" y="249519"/>
                </a:lnTo>
                <a:lnTo>
                  <a:pt x="1263438" y="217227"/>
                </a:lnTo>
                <a:lnTo>
                  <a:pt x="1232026" y="186865"/>
                </a:lnTo>
                <a:lnTo>
                  <a:pt x="1199365" y="158508"/>
                </a:lnTo>
                <a:lnTo>
                  <a:pt x="1165515" y="132229"/>
                </a:lnTo>
                <a:lnTo>
                  <a:pt x="1130534" y="108102"/>
                </a:lnTo>
                <a:lnTo>
                  <a:pt x="1094482" y="86202"/>
                </a:lnTo>
                <a:lnTo>
                  <a:pt x="1057417" y="66601"/>
                </a:lnTo>
                <a:lnTo>
                  <a:pt x="1019398" y="49375"/>
                </a:lnTo>
                <a:lnTo>
                  <a:pt x="980485" y="34596"/>
                </a:lnTo>
                <a:lnTo>
                  <a:pt x="940737" y="22338"/>
                </a:lnTo>
                <a:lnTo>
                  <a:pt x="900213" y="12676"/>
                </a:lnTo>
                <a:lnTo>
                  <a:pt x="858971" y="5683"/>
                </a:lnTo>
                <a:lnTo>
                  <a:pt x="817071" y="1433"/>
                </a:lnTo>
                <a:lnTo>
                  <a:pt x="774573" y="0"/>
                </a:lnTo>
                <a:close/>
              </a:path>
            </a:pathLst>
          </a:custGeom>
          <a:solidFill>
            <a:srgbClr val="B7DEE8">
              <a:alpha val="7294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55174" y="1705572"/>
            <a:ext cx="2065867" cy="2583180"/>
          </a:xfrm>
          <a:custGeom>
            <a:avLst/>
            <a:gdLst/>
            <a:ahLst/>
            <a:cxnLst/>
            <a:rect l="l" t="t" r="r" b="b"/>
            <a:pathLst>
              <a:path w="1549400" h="1937385">
                <a:moveTo>
                  <a:pt x="0" y="968502"/>
                </a:moveTo>
                <a:lnTo>
                  <a:pt x="1146" y="915363"/>
                </a:lnTo>
                <a:lnTo>
                  <a:pt x="4545" y="862973"/>
                </a:lnTo>
                <a:lnTo>
                  <a:pt x="10137" y="811406"/>
                </a:lnTo>
                <a:lnTo>
                  <a:pt x="17865" y="760736"/>
                </a:lnTo>
                <a:lnTo>
                  <a:pt x="27668" y="711036"/>
                </a:lnTo>
                <a:lnTo>
                  <a:pt x="39488" y="662381"/>
                </a:lnTo>
                <a:lnTo>
                  <a:pt x="53265" y="614844"/>
                </a:lnTo>
                <a:lnTo>
                  <a:pt x="68940" y="568499"/>
                </a:lnTo>
                <a:lnTo>
                  <a:pt x="86456" y="523420"/>
                </a:lnTo>
                <a:lnTo>
                  <a:pt x="105751" y="479681"/>
                </a:lnTo>
                <a:lnTo>
                  <a:pt x="126768" y="437356"/>
                </a:lnTo>
                <a:lnTo>
                  <a:pt x="149447" y="396518"/>
                </a:lnTo>
                <a:lnTo>
                  <a:pt x="173729" y="357242"/>
                </a:lnTo>
                <a:lnTo>
                  <a:pt x="199555" y="319600"/>
                </a:lnTo>
                <a:lnTo>
                  <a:pt x="226866" y="283668"/>
                </a:lnTo>
                <a:lnTo>
                  <a:pt x="255603" y="249519"/>
                </a:lnTo>
                <a:lnTo>
                  <a:pt x="285707" y="217227"/>
                </a:lnTo>
                <a:lnTo>
                  <a:pt x="317119" y="186865"/>
                </a:lnTo>
                <a:lnTo>
                  <a:pt x="349780" y="158508"/>
                </a:lnTo>
                <a:lnTo>
                  <a:pt x="383630" y="132229"/>
                </a:lnTo>
                <a:lnTo>
                  <a:pt x="418611" y="108102"/>
                </a:lnTo>
                <a:lnTo>
                  <a:pt x="454663" y="86202"/>
                </a:lnTo>
                <a:lnTo>
                  <a:pt x="491728" y="66601"/>
                </a:lnTo>
                <a:lnTo>
                  <a:pt x="529747" y="49375"/>
                </a:lnTo>
                <a:lnTo>
                  <a:pt x="568660" y="34596"/>
                </a:lnTo>
                <a:lnTo>
                  <a:pt x="608408" y="22338"/>
                </a:lnTo>
                <a:lnTo>
                  <a:pt x="648932" y="12676"/>
                </a:lnTo>
                <a:lnTo>
                  <a:pt x="690174" y="5683"/>
                </a:lnTo>
                <a:lnTo>
                  <a:pt x="732074" y="1433"/>
                </a:lnTo>
                <a:lnTo>
                  <a:pt x="774573" y="0"/>
                </a:lnTo>
                <a:lnTo>
                  <a:pt x="817071" y="1433"/>
                </a:lnTo>
                <a:lnTo>
                  <a:pt x="858971" y="5683"/>
                </a:lnTo>
                <a:lnTo>
                  <a:pt x="900213" y="12676"/>
                </a:lnTo>
                <a:lnTo>
                  <a:pt x="940737" y="22338"/>
                </a:lnTo>
                <a:lnTo>
                  <a:pt x="980485" y="34596"/>
                </a:lnTo>
                <a:lnTo>
                  <a:pt x="1019398" y="49375"/>
                </a:lnTo>
                <a:lnTo>
                  <a:pt x="1057417" y="66601"/>
                </a:lnTo>
                <a:lnTo>
                  <a:pt x="1094482" y="86202"/>
                </a:lnTo>
                <a:lnTo>
                  <a:pt x="1130534" y="108102"/>
                </a:lnTo>
                <a:lnTo>
                  <a:pt x="1165515" y="132229"/>
                </a:lnTo>
                <a:lnTo>
                  <a:pt x="1199365" y="158508"/>
                </a:lnTo>
                <a:lnTo>
                  <a:pt x="1232026" y="186865"/>
                </a:lnTo>
                <a:lnTo>
                  <a:pt x="1263438" y="217227"/>
                </a:lnTo>
                <a:lnTo>
                  <a:pt x="1293542" y="249519"/>
                </a:lnTo>
                <a:lnTo>
                  <a:pt x="1322279" y="283668"/>
                </a:lnTo>
                <a:lnTo>
                  <a:pt x="1349590" y="319600"/>
                </a:lnTo>
                <a:lnTo>
                  <a:pt x="1375416" y="357242"/>
                </a:lnTo>
                <a:lnTo>
                  <a:pt x="1399698" y="396518"/>
                </a:lnTo>
                <a:lnTo>
                  <a:pt x="1422377" y="437356"/>
                </a:lnTo>
                <a:lnTo>
                  <a:pt x="1443394" y="479681"/>
                </a:lnTo>
                <a:lnTo>
                  <a:pt x="1462689" y="523420"/>
                </a:lnTo>
                <a:lnTo>
                  <a:pt x="1480205" y="568499"/>
                </a:lnTo>
                <a:lnTo>
                  <a:pt x="1495880" y="614844"/>
                </a:lnTo>
                <a:lnTo>
                  <a:pt x="1509657" y="662381"/>
                </a:lnTo>
                <a:lnTo>
                  <a:pt x="1521477" y="711036"/>
                </a:lnTo>
                <a:lnTo>
                  <a:pt x="1531280" y="760736"/>
                </a:lnTo>
                <a:lnTo>
                  <a:pt x="1539008" y="811406"/>
                </a:lnTo>
                <a:lnTo>
                  <a:pt x="1544600" y="862973"/>
                </a:lnTo>
                <a:lnTo>
                  <a:pt x="1547999" y="915363"/>
                </a:lnTo>
                <a:lnTo>
                  <a:pt x="1549146" y="968502"/>
                </a:lnTo>
                <a:lnTo>
                  <a:pt x="1547999" y="1021640"/>
                </a:lnTo>
                <a:lnTo>
                  <a:pt x="1544600" y="1074030"/>
                </a:lnTo>
                <a:lnTo>
                  <a:pt x="1539008" y="1125597"/>
                </a:lnTo>
                <a:lnTo>
                  <a:pt x="1531280" y="1176267"/>
                </a:lnTo>
                <a:lnTo>
                  <a:pt x="1521477" y="1225967"/>
                </a:lnTo>
                <a:lnTo>
                  <a:pt x="1509657" y="1274622"/>
                </a:lnTo>
                <a:lnTo>
                  <a:pt x="1495880" y="1322159"/>
                </a:lnTo>
                <a:lnTo>
                  <a:pt x="1480205" y="1368504"/>
                </a:lnTo>
                <a:lnTo>
                  <a:pt x="1462689" y="1413583"/>
                </a:lnTo>
                <a:lnTo>
                  <a:pt x="1443394" y="1457322"/>
                </a:lnTo>
                <a:lnTo>
                  <a:pt x="1422377" y="1499647"/>
                </a:lnTo>
                <a:lnTo>
                  <a:pt x="1399698" y="1540485"/>
                </a:lnTo>
                <a:lnTo>
                  <a:pt x="1375416" y="1579761"/>
                </a:lnTo>
                <a:lnTo>
                  <a:pt x="1349590" y="1617403"/>
                </a:lnTo>
                <a:lnTo>
                  <a:pt x="1322279" y="1653335"/>
                </a:lnTo>
                <a:lnTo>
                  <a:pt x="1293542" y="1687484"/>
                </a:lnTo>
                <a:lnTo>
                  <a:pt x="1263438" y="1719776"/>
                </a:lnTo>
                <a:lnTo>
                  <a:pt x="1232026" y="1750138"/>
                </a:lnTo>
                <a:lnTo>
                  <a:pt x="1199365" y="1778495"/>
                </a:lnTo>
                <a:lnTo>
                  <a:pt x="1165515" y="1804774"/>
                </a:lnTo>
                <a:lnTo>
                  <a:pt x="1130534" y="1828901"/>
                </a:lnTo>
                <a:lnTo>
                  <a:pt x="1094482" y="1850801"/>
                </a:lnTo>
                <a:lnTo>
                  <a:pt x="1057417" y="1870402"/>
                </a:lnTo>
                <a:lnTo>
                  <a:pt x="1019398" y="1887628"/>
                </a:lnTo>
                <a:lnTo>
                  <a:pt x="980485" y="1902407"/>
                </a:lnTo>
                <a:lnTo>
                  <a:pt x="940737" y="1914665"/>
                </a:lnTo>
                <a:lnTo>
                  <a:pt x="900213" y="1924327"/>
                </a:lnTo>
                <a:lnTo>
                  <a:pt x="858971" y="1931320"/>
                </a:lnTo>
                <a:lnTo>
                  <a:pt x="817071" y="1935570"/>
                </a:lnTo>
                <a:lnTo>
                  <a:pt x="774573" y="1937004"/>
                </a:lnTo>
                <a:lnTo>
                  <a:pt x="732074" y="1935570"/>
                </a:lnTo>
                <a:lnTo>
                  <a:pt x="690174" y="1931320"/>
                </a:lnTo>
                <a:lnTo>
                  <a:pt x="648932" y="1924327"/>
                </a:lnTo>
                <a:lnTo>
                  <a:pt x="608408" y="1914665"/>
                </a:lnTo>
                <a:lnTo>
                  <a:pt x="568660" y="1902407"/>
                </a:lnTo>
                <a:lnTo>
                  <a:pt x="529747" y="1887628"/>
                </a:lnTo>
                <a:lnTo>
                  <a:pt x="491728" y="1870402"/>
                </a:lnTo>
                <a:lnTo>
                  <a:pt x="454663" y="1850801"/>
                </a:lnTo>
                <a:lnTo>
                  <a:pt x="418611" y="1828901"/>
                </a:lnTo>
                <a:lnTo>
                  <a:pt x="383630" y="1804774"/>
                </a:lnTo>
                <a:lnTo>
                  <a:pt x="349780" y="1778495"/>
                </a:lnTo>
                <a:lnTo>
                  <a:pt x="317119" y="1750138"/>
                </a:lnTo>
                <a:lnTo>
                  <a:pt x="285707" y="1719776"/>
                </a:lnTo>
                <a:lnTo>
                  <a:pt x="255603" y="1687484"/>
                </a:lnTo>
                <a:lnTo>
                  <a:pt x="226866" y="1653335"/>
                </a:lnTo>
                <a:lnTo>
                  <a:pt x="199555" y="1617403"/>
                </a:lnTo>
                <a:lnTo>
                  <a:pt x="173729" y="1579761"/>
                </a:lnTo>
                <a:lnTo>
                  <a:pt x="149447" y="1540485"/>
                </a:lnTo>
                <a:lnTo>
                  <a:pt x="126768" y="1499647"/>
                </a:lnTo>
                <a:lnTo>
                  <a:pt x="105751" y="1457322"/>
                </a:lnTo>
                <a:lnTo>
                  <a:pt x="86456" y="1413583"/>
                </a:lnTo>
                <a:lnTo>
                  <a:pt x="68940" y="1368504"/>
                </a:lnTo>
                <a:lnTo>
                  <a:pt x="53265" y="1322159"/>
                </a:lnTo>
                <a:lnTo>
                  <a:pt x="39488" y="1274622"/>
                </a:lnTo>
                <a:lnTo>
                  <a:pt x="27668" y="1225967"/>
                </a:lnTo>
                <a:lnTo>
                  <a:pt x="17865" y="1176267"/>
                </a:lnTo>
                <a:lnTo>
                  <a:pt x="10137" y="1125597"/>
                </a:lnTo>
                <a:lnTo>
                  <a:pt x="4545" y="1074030"/>
                </a:lnTo>
                <a:lnTo>
                  <a:pt x="1146" y="1021640"/>
                </a:lnTo>
                <a:lnTo>
                  <a:pt x="0" y="968502"/>
                </a:lnTo>
                <a:close/>
              </a:path>
            </a:pathLst>
          </a:custGeom>
          <a:ln w="25146">
            <a:solidFill>
              <a:srgbClr val="8EB4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52300" y="2044407"/>
            <a:ext cx="774700" cy="1429173"/>
          </a:xfrm>
          <a:custGeom>
            <a:avLst/>
            <a:gdLst/>
            <a:ahLst/>
            <a:cxnLst/>
            <a:rect l="l" t="t" r="r" b="b"/>
            <a:pathLst>
              <a:path w="581025" h="1071880">
                <a:moveTo>
                  <a:pt x="581025" y="0"/>
                </a:moveTo>
                <a:lnTo>
                  <a:pt x="0" y="1071562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1659" y="2704807"/>
            <a:ext cx="150707" cy="1039707"/>
          </a:xfrm>
          <a:custGeom>
            <a:avLst/>
            <a:gdLst/>
            <a:ahLst/>
            <a:cxnLst/>
            <a:rect l="l" t="t" r="r" b="b"/>
            <a:pathLst>
              <a:path w="113030" h="779780">
                <a:moveTo>
                  <a:pt x="112712" y="779462"/>
                </a:move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90427" y="2683470"/>
            <a:ext cx="1041400" cy="694267"/>
          </a:xfrm>
          <a:custGeom>
            <a:avLst/>
            <a:gdLst/>
            <a:ahLst/>
            <a:cxnLst/>
            <a:rect l="l" t="t" r="r" b="b"/>
            <a:pathLst>
              <a:path w="781050" h="520700">
                <a:moveTo>
                  <a:pt x="0" y="0"/>
                </a:moveTo>
                <a:lnTo>
                  <a:pt x="781050" y="520700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07170" y="3319487"/>
            <a:ext cx="291591" cy="305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78643" y="4681942"/>
            <a:ext cx="289560" cy="30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5225" y="2209001"/>
            <a:ext cx="781473" cy="311572"/>
          </a:xfrm>
          <a:custGeom>
            <a:avLst/>
            <a:gdLst/>
            <a:ahLst/>
            <a:cxnLst/>
            <a:rect l="l" t="t" r="r" b="b"/>
            <a:pathLst>
              <a:path w="586105" h="233680">
                <a:moveTo>
                  <a:pt x="0" y="0"/>
                </a:moveTo>
                <a:lnTo>
                  <a:pt x="585787" y="23336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27002" y="2179536"/>
            <a:ext cx="1805940" cy="476673"/>
          </a:xfrm>
          <a:custGeom>
            <a:avLst/>
            <a:gdLst/>
            <a:ahLst/>
            <a:cxnLst/>
            <a:rect l="l" t="t" r="r" b="b"/>
            <a:pathLst>
              <a:path w="1354454" h="357505">
                <a:moveTo>
                  <a:pt x="0" y="357187"/>
                </a:moveTo>
                <a:lnTo>
                  <a:pt x="1354137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34802" y="2247608"/>
            <a:ext cx="1066800" cy="1401233"/>
          </a:xfrm>
          <a:custGeom>
            <a:avLst/>
            <a:gdLst/>
            <a:ahLst/>
            <a:cxnLst/>
            <a:rect l="l" t="t" r="r" b="b"/>
            <a:pathLst>
              <a:path w="800100" h="1050925">
                <a:moveTo>
                  <a:pt x="0" y="0"/>
                </a:moveTo>
                <a:lnTo>
                  <a:pt x="800100" y="105092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13691" y="3568408"/>
            <a:ext cx="489373" cy="925407"/>
          </a:xfrm>
          <a:custGeom>
            <a:avLst/>
            <a:gdLst/>
            <a:ahLst/>
            <a:cxnLst/>
            <a:rect l="l" t="t" r="r" b="b"/>
            <a:pathLst>
              <a:path w="367029" h="694054">
                <a:moveTo>
                  <a:pt x="0" y="0"/>
                </a:moveTo>
                <a:lnTo>
                  <a:pt x="366712" y="693737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76764" y="3540972"/>
            <a:ext cx="1714500" cy="1183640"/>
          </a:xfrm>
          <a:custGeom>
            <a:avLst/>
            <a:gdLst/>
            <a:ahLst/>
            <a:cxnLst/>
            <a:rect l="l" t="t" r="r" b="b"/>
            <a:pathLst>
              <a:path w="1285875" h="887729">
                <a:moveTo>
                  <a:pt x="0" y="887412"/>
                </a:moveTo>
                <a:lnTo>
                  <a:pt x="12858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93826" y="2316693"/>
            <a:ext cx="165100" cy="2216573"/>
          </a:xfrm>
          <a:custGeom>
            <a:avLst/>
            <a:gdLst/>
            <a:ahLst/>
            <a:cxnLst/>
            <a:rect l="l" t="t" r="r" b="b"/>
            <a:pathLst>
              <a:path w="123825" h="1662429">
                <a:moveTo>
                  <a:pt x="123825" y="0"/>
                </a:moveTo>
                <a:lnTo>
                  <a:pt x="0" y="166211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86490" y="4628095"/>
            <a:ext cx="2216573" cy="203200"/>
          </a:xfrm>
          <a:custGeom>
            <a:avLst/>
            <a:gdLst/>
            <a:ahLst/>
            <a:cxnLst/>
            <a:rect l="l" t="t" r="r" b="b"/>
            <a:pathLst>
              <a:path w="1662429" h="152400">
                <a:moveTo>
                  <a:pt x="0" y="152399"/>
                </a:moveTo>
                <a:lnTo>
                  <a:pt x="166211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97794" y="2084032"/>
            <a:ext cx="2872740" cy="29633"/>
          </a:xfrm>
          <a:custGeom>
            <a:avLst/>
            <a:gdLst/>
            <a:ahLst/>
            <a:cxnLst/>
            <a:rect l="l" t="t" r="r" b="b"/>
            <a:pathLst>
              <a:path w="2154554" h="22225">
                <a:moveTo>
                  <a:pt x="0" y="22225"/>
                </a:moveTo>
                <a:lnTo>
                  <a:pt x="2154237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70794" y="3404831"/>
            <a:ext cx="1130300" cy="243840"/>
          </a:xfrm>
          <a:custGeom>
            <a:avLst/>
            <a:gdLst/>
            <a:ahLst/>
            <a:cxnLst/>
            <a:rect l="l" t="t" r="r" b="b"/>
            <a:pathLst>
              <a:path w="847725" h="182880">
                <a:moveTo>
                  <a:pt x="0" y="0"/>
                </a:moveTo>
                <a:lnTo>
                  <a:pt x="847725" y="18256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16466" y="3540974"/>
            <a:ext cx="1714500" cy="1196340"/>
          </a:xfrm>
          <a:custGeom>
            <a:avLst/>
            <a:gdLst/>
            <a:ahLst/>
            <a:cxnLst/>
            <a:rect l="l" t="t" r="r" b="b"/>
            <a:pathLst>
              <a:path w="1285875" h="897254">
                <a:moveTo>
                  <a:pt x="0" y="0"/>
                </a:moveTo>
                <a:lnTo>
                  <a:pt x="1285875" y="89693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91547" y="1960078"/>
            <a:ext cx="289560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77978" y="3319487"/>
            <a:ext cx="291592" cy="305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62515" y="3253446"/>
            <a:ext cx="289560" cy="30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51666" y="2436582"/>
            <a:ext cx="292608" cy="3037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44706" y="3591774"/>
            <a:ext cx="291592" cy="304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58115" y="4476712"/>
            <a:ext cx="291592" cy="3068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16178" y="2028150"/>
            <a:ext cx="291592" cy="305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81492" y="3404831"/>
            <a:ext cx="1096433" cy="67733"/>
          </a:xfrm>
          <a:custGeom>
            <a:avLst/>
            <a:gdLst/>
            <a:ahLst/>
            <a:cxnLst/>
            <a:rect l="l" t="t" r="r" b="b"/>
            <a:pathLst>
              <a:path w="822325" h="50800">
                <a:moveTo>
                  <a:pt x="0" y="50800"/>
                </a:moveTo>
                <a:lnTo>
                  <a:pt x="822325" y="0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40503" y="1637330"/>
            <a:ext cx="39624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13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01033" y="2068367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73729" y="2678220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72787" y="2970320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3177" y="2834178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18633" y="2169967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8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62599" y="2576367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42633" y="3174283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8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8264" y="4822996"/>
            <a:ext cx="39624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11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91631" y="3650279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63111" y="3185967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08529" y="3038139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29379" y="4076238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05989" y="4279438"/>
            <a:ext cx="2150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Verdana"/>
                <a:cs typeface="Verdana"/>
              </a:rPr>
              <a:t>9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687027" y="454733"/>
            <a:ext cx="10702632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应用：数据分</a:t>
            </a:r>
            <a:r>
              <a:rPr sz="40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组问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</p:spTree>
    <p:extLst>
      <p:ext uri="{BB962C8B-B14F-4D97-AF65-F5344CB8AC3E}">
        <p14:creationId xmlns:p14="http://schemas.microsoft.com/office/powerpoint/2010/main" val="131361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82982"/>
            <a:ext cx="105156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单链聚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6187" y="1190074"/>
            <a:ext cx="10761731" cy="3301752"/>
          </a:xfrm>
          <a:prstGeom prst="rect">
            <a:avLst/>
          </a:prstGeom>
        </p:spPr>
        <p:txBody>
          <a:bodyPr vert="horz" wrap="square" lIns="0" tIns="249760" rIns="0" bIns="0" rtlCol="0">
            <a:spAutoFit/>
          </a:bodyPr>
          <a:lstStyle/>
          <a:p>
            <a:pPr marL="16933">
              <a:spcBef>
                <a:spcPts val="1967"/>
              </a:spcBef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类似于Kruskal算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endParaRPr sz="32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92652" indent="-576564">
              <a:spcBef>
                <a:spcPts val="1827"/>
              </a:spcBef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按照边长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从小到大对</a:t>
            </a:r>
            <a:r>
              <a:rPr sz="28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排</a:t>
            </a:r>
            <a:endParaRPr lang="en-US" sz="2800" b="1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92652" indent="-576564">
              <a:spcBef>
                <a:spcPts val="1827"/>
              </a:spcBef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	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依次考察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当前最短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</a:t>
            </a:r>
            <a:r>
              <a:rPr sz="2800" b="1" spc="-79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1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如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果</a:t>
            </a:r>
            <a:r>
              <a:rPr lang="en-US"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8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spc="-8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  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sz="2800" b="1" spc="-9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已经选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中的边不构成回路，则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把</a:t>
            </a:r>
            <a:r>
              <a:rPr lang="en-US"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spc="-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i="1" spc="-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加入集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合</a:t>
            </a:r>
            <a:r>
              <a:rPr sz="2800" b="1" i="1" spc="-1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否则跳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过</a:t>
            </a:r>
            <a:r>
              <a:rPr sz="2800" b="1" spc="-79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e.</a:t>
            </a:r>
            <a:r>
              <a:rPr sz="2800" b="1" i="1" spc="-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图的连通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</a:t>
            </a:r>
            <a:r>
              <a:rPr sz="28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支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</a:p>
          <a:p>
            <a:pPr marL="592652" indent="-576564">
              <a:spcBef>
                <a:spcPts val="2867"/>
              </a:spcBef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直到保留了</a:t>
            </a:r>
            <a:r>
              <a:rPr sz="2800" b="1" i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个连通分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支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止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73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5810" y="481192"/>
            <a:ext cx="6775355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448307"/>
            <a:ext cx="10999295" cy="38950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生成树与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</a:t>
            </a:r>
            <a:r>
              <a:rPr lang="zh-CN" altLang="en-US"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树的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权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最小生成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生成树的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性</a:t>
            </a:r>
            <a:r>
              <a:rPr lang="zh-CN" alt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质</a:t>
            </a:r>
            <a:endParaRPr lang="en-US" altLang="zh-CN" sz="2800" b="1" spc="-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lang="en-US" altLang="zh-CN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Prim</a:t>
            </a:r>
            <a:r>
              <a:rPr lang="zh-CN" altLang="en-US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</a:t>
            </a:r>
            <a:r>
              <a:rPr lang="zh-CN" altLang="en-US" sz="28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的贪心</a:t>
            </a:r>
            <a:r>
              <a:rPr lang="zh-CN" altLang="en-US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策略：连接</a:t>
            </a:r>
            <a:r>
              <a:rPr lang="en-US" altLang="zh-CN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zh-CN" altLang="en-US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lang="en-US" altLang="zh-CN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V-S</a:t>
            </a:r>
            <a:r>
              <a:rPr lang="zh-CN" altLang="en-US"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的最短边 </a:t>
            </a:r>
            <a:endParaRPr lang="en-US" sz="2800" b="1" spc="-7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6773">
              <a:lnSpc>
                <a:spcPct val="150000"/>
              </a:lnSpc>
              <a:buSzPct val="116666"/>
              <a:buFont typeface="Arial"/>
              <a:buChar char="•"/>
              <a:tabLst>
                <a:tab pos="419090" algn="l"/>
                <a:tab pos="419936" algn="l"/>
              </a:tabLst>
            </a:pP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算法的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贪心策略：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在不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构成回路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条</a:t>
            </a:r>
            <a:r>
              <a:rPr sz="28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件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下选当前最短边</a:t>
            </a:r>
            <a:endParaRPr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lvl="1">
              <a:lnSpc>
                <a:spcPct val="150000"/>
              </a:lnSpc>
              <a:buFont typeface="Arial"/>
              <a:buChar char="•"/>
              <a:tabLst>
                <a:tab pos="452955" algn="l"/>
              </a:tabLst>
            </a:pP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应用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：单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链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聚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类</a:t>
            </a:r>
            <a:endParaRPr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4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1936" y="2457409"/>
            <a:ext cx="9404346" cy="103276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6600" spc="-20" dirty="0">
                <a:latin typeface="黑体" pitchFamily="49" charset="-122"/>
                <a:ea typeface="黑体" pitchFamily="49" charset="-122"/>
              </a:rPr>
              <a:t>单源</a:t>
            </a:r>
            <a:r>
              <a:rPr sz="6600" spc="7" dirty="0">
                <a:latin typeface="黑体" pitchFamily="49" charset="-122"/>
                <a:ea typeface="黑体" pitchFamily="49" charset="-122"/>
              </a:rPr>
              <a:t>最</a:t>
            </a:r>
            <a:r>
              <a:rPr sz="6600" spc="-7" dirty="0">
                <a:latin typeface="黑体" pitchFamily="49" charset="-122"/>
                <a:ea typeface="黑体" pitchFamily="49" charset="-122"/>
              </a:rPr>
              <a:t>短路</a:t>
            </a:r>
            <a:r>
              <a:rPr sz="6600" spc="-33" dirty="0">
                <a:latin typeface="黑体" pitchFamily="49" charset="-122"/>
                <a:ea typeface="黑体" pitchFamily="49" charset="-122"/>
              </a:rPr>
              <a:t>径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41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1531" y="353133"/>
            <a:ext cx="9180245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单源最短路问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6" y="1228681"/>
            <a:ext cx="10945507" cy="13097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220974" algn="just"/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给定</a:t>
            </a:r>
            <a:r>
              <a:rPr sz="2800" b="1" spc="-7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带权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</a:t>
            </a:r>
            <a:r>
              <a:rPr sz="2800" b="1" spc="7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向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网</a:t>
            </a:r>
            <a:r>
              <a:rPr sz="2800" b="1" spc="-13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络</a:t>
            </a:r>
            <a:r>
              <a:rPr sz="2800" b="1" spc="-80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G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=(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E,W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)，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每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条边</a:t>
            </a:r>
            <a:r>
              <a:rPr sz="2800" b="1" spc="-84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=&lt;</a:t>
            </a:r>
            <a:r>
              <a:rPr sz="2800" b="1" i="1" spc="-7" dirty="0" err="1">
                <a:latin typeface="Times New Roman"/>
                <a:cs typeface="Times New Roman"/>
              </a:rPr>
              <a:t>i,j</a:t>
            </a:r>
            <a:r>
              <a:rPr sz="2800" b="1" spc="-7" dirty="0" smtClean="0">
                <a:latin typeface="Times New Roman"/>
                <a:cs typeface="Times New Roman"/>
              </a:rPr>
              <a:t>&gt;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权</a:t>
            </a:r>
            <a:r>
              <a:rPr sz="2800" b="1" spc="-853" dirty="0" smtClean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为非负实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表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示从</a:t>
            </a:r>
            <a:r>
              <a:rPr lang="en-US"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80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80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r>
              <a:rPr sz="28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的距离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源</a:t>
            </a:r>
            <a:r>
              <a:rPr sz="2800" b="1" spc="-13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点</a:t>
            </a:r>
            <a:r>
              <a:rPr sz="2800" b="1" spc="-8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spc="-80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</a:t>
            </a:r>
            <a:r>
              <a:rPr sz="2800" b="1" i="1" dirty="0" err="1" smtClean="0">
                <a:latin typeface="Times New Roman"/>
                <a:cs typeface="Times New Roman"/>
              </a:rPr>
              <a:t>s</a:t>
            </a:r>
            <a:r>
              <a:rPr sz="2800" b="1" dirty="0" err="1">
                <a:latin typeface="Symbol"/>
                <a:cs typeface="Symbol"/>
              </a:rPr>
              <a:t></a:t>
            </a:r>
            <a:r>
              <a:rPr sz="2800" b="1" i="1" dirty="0" err="1">
                <a:latin typeface="Times New Roman"/>
                <a:cs typeface="Times New Roman"/>
              </a:rPr>
              <a:t>V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algn="just"/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求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</a:t>
            </a:r>
            <a:r>
              <a:rPr sz="2800" b="1" spc="-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lang="en-US"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82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i="1" spc="-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出发到达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其它结点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最短路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径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5727" y="3054831"/>
            <a:ext cx="6089506" cy="28306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9856">
              <a:lnSpc>
                <a:spcPct val="125000"/>
              </a:lnSpc>
              <a:spcBef>
                <a:spcPts val="133"/>
              </a:spcBef>
            </a:pP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源点</a:t>
            </a:r>
            <a:r>
              <a:rPr sz="28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  </a:t>
            </a:r>
            <a:r>
              <a:rPr sz="2800" b="1" spc="-7" dirty="0" smtClean="0">
                <a:latin typeface="Times New Roman"/>
                <a:cs typeface="Times New Roman"/>
              </a:rPr>
              <a:t>1 </a:t>
            </a:r>
            <a:endParaRPr lang="en-US" sz="2800" b="1" spc="-7" dirty="0" smtClean="0">
              <a:latin typeface="Times New Roman"/>
              <a:cs typeface="Times New Roman"/>
            </a:endParaRPr>
          </a:p>
          <a:p>
            <a:pPr marL="16933" marR="679856">
              <a:lnSpc>
                <a:spcPct val="125000"/>
              </a:lnSpc>
              <a:spcBef>
                <a:spcPts val="133"/>
              </a:spcBef>
            </a:pPr>
            <a:r>
              <a:rPr sz="2800" b="1" spc="-7" dirty="0" smtClean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6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i="1" spc="-7" dirty="0">
                <a:latin typeface="Times New Roman"/>
                <a:cs typeface="Times New Roman"/>
              </a:rPr>
              <a:t>short </a:t>
            </a:r>
            <a:r>
              <a:rPr sz="2800" b="1" spc="-7" dirty="0">
                <a:latin typeface="Times New Roman"/>
                <a:cs typeface="Times New Roman"/>
              </a:rPr>
              <a:t>[2] =</a:t>
            </a:r>
            <a:r>
              <a:rPr sz="2800" b="1" spc="-9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5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6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3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i="1" spc="-7" dirty="0">
                <a:latin typeface="Times New Roman"/>
                <a:cs typeface="Times New Roman"/>
              </a:rPr>
              <a:t>short </a:t>
            </a:r>
            <a:r>
              <a:rPr sz="2800" b="1" spc="-7" dirty="0">
                <a:latin typeface="Times New Roman"/>
                <a:cs typeface="Times New Roman"/>
              </a:rPr>
              <a:t>[3] =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12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6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4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i="1" spc="-7" dirty="0">
                <a:latin typeface="Times New Roman"/>
                <a:cs typeface="Times New Roman"/>
              </a:rPr>
              <a:t>short </a:t>
            </a:r>
            <a:r>
              <a:rPr sz="2800" b="1" spc="-7" dirty="0">
                <a:latin typeface="Times New Roman"/>
                <a:cs typeface="Times New Roman"/>
              </a:rPr>
              <a:t>[4] =</a:t>
            </a:r>
            <a:r>
              <a:rPr sz="2800" b="1" spc="-9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9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6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5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i="1" spc="-7" dirty="0">
                <a:latin typeface="Times New Roman"/>
                <a:cs typeface="Times New Roman"/>
              </a:rPr>
              <a:t>short </a:t>
            </a:r>
            <a:r>
              <a:rPr sz="2800" b="1" spc="-7" dirty="0">
                <a:latin typeface="Times New Roman"/>
                <a:cs typeface="Times New Roman"/>
              </a:rPr>
              <a:t>[5] =</a:t>
            </a:r>
            <a:r>
              <a:rPr sz="2800" b="1" spc="-9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spc="-7" dirty="0">
                <a:latin typeface="Times New Roman"/>
                <a:cs typeface="Times New Roman"/>
              </a:rPr>
              <a:t>6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i="1" spc="-7" dirty="0">
                <a:latin typeface="Times New Roman"/>
                <a:cs typeface="Times New Roman"/>
              </a:rPr>
              <a:t>short </a:t>
            </a:r>
            <a:r>
              <a:rPr sz="2800" b="1" spc="-7" dirty="0">
                <a:latin typeface="Times New Roman"/>
                <a:cs typeface="Times New Roman"/>
              </a:rPr>
              <a:t>[6] =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015" y="4666129"/>
            <a:ext cx="1382607" cy="742527"/>
          </a:xfrm>
          <a:custGeom>
            <a:avLst/>
            <a:gdLst/>
            <a:ahLst/>
            <a:cxnLst/>
            <a:rect l="l" t="t" r="r" b="b"/>
            <a:pathLst>
              <a:path w="1036955" h="556895">
                <a:moveTo>
                  <a:pt x="0" y="0"/>
                </a:moveTo>
                <a:lnTo>
                  <a:pt x="1036853" y="556615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98067" y="5329118"/>
            <a:ext cx="171027" cy="139700"/>
          </a:xfrm>
          <a:custGeom>
            <a:avLst/>
            <a:gdLst/>
            <a:ahLst/>
            <a:cxnLst/>
            <a:rect l="l" t="t" r="r" b="b"/>
            <a:pathLst>
              <a:path w="128269" h="104775">
                <a:moveTo>
                  <a:pt x="54063" y="0"/>
                </a:moveTo>
                <a:lnTo>
                  <a:pt x="0" y="100698"/>
                </a:lnTo>
                <a:lnTo>
                  <a:pt x="127736" y="104419"/>
                </a:lnTo>
                <a:lnTo>
                  <a:pt x="540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10335" y="3804561"/>
            <a:ext cx="220133" cy="347980"/>
          </a:xfrm>
          <a:custGeom>
            <a:avLst/>
            <a:gdLst/>
            <a:ahLst/>
            <a:cxnLst/>
            <a:rect l="l" t="t" r="r" b="b"/>
            <a:pathLst>
              <a:path w="165100" h="260985">
                <a:moveTo>
                  <a:pt x="164782" y="0"/>
                </a:moveTo>
                <a:lnTo>
                  <a:pt x="0" y="260845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42511" y="4090186"/>
            <a:ext cx="146473" cy="170180"/>
          </a:xfrm>
          <a:custGeom>
            <a:avLst/>
            <a:gdLst/>
            <a:ahLst/>
            <a:cxnLst/>
            <a:rect l="l" t="t" r="r" b="b"/>
            <a:pathLst>
              <a:path w="109854" h="127635">
                <a:moveTo>
                  <a:pt x="12725" y="0"/>
                </a:moveTo>
                <a:lnTo>
                  <a:pt x="0" y="127152"/>
                </a:lnTo>
                <a:lnTo>
                  <a:pt x="109359" y="61036"/>
                </a:lnTo>
                <a:lnTo>
                  <a:pt x="127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05186" y="3053057"/>
            <a:ext cx="37422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49551" y="3804560"/>
            <a:ext cx="270087" cy="338667"/>
          </a:xfrm>
          <a:custGeom>
            <a:avLst/>
            <a:gdLst/>
            <a:ahLst/>
            <a:cxnLst/>
            <a:rect l="l" t="t" r="r" b="b"/>
            <a:pathLst>
              <a:path w="202564" h="254000">
                <a:moveTo>
                  <a:pt x="0" y="0"/>
                </a:moveTo>
                <a:lnTo>
                  <a:pt x="202057" y="253898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3525" y="4075758"/>
            <a:ext cx="154940" cy="166793"/>
          </a:xfrm>
          <a:custGeom>
            <a:avLst/>
            <a:gdLst/>
            <a:ahLst/>
            <a:cxnLst/>
            <a:rect l="l" t="t" r="r" b="b"/>
            <a:pathLst>
              <a:path w="116205" h="125095">
                <a:moveTo>
                  <a:pt x="89433" y="0"/>
                </a:moveTo>
                <a:lnTo>
                  <a:pt x="0" y="71170"/>
                </a:lnTo>
                <a:lnTo>
                  <a:pt x="115887" y="125018"/>
                </a:lnTo>
                <a:lnTo>
                  <a:pt x="8943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0057" y="3542940"/>
            <a:ext cx="684107" cy="0"/>
          </a:xfrm>
          <a:custGeom>
            <a:avLst/>
            <a:gdLst/>
            <a:ahLst/>
            <a:cxnLst/>
            <a:rect l="l" t="t" r="r" b="b"/>
            <a:pathLst>
              <a:path w="513080">
                <a:moveTo>
                  <a:pt x="512572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46551" y="349213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18794" y="3279795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80">
                <a:moveTo>
                  <a:pt x="180213" y="0"/>
                </a:moveTo>
                <a:lnTo>
                  <a:pt x="132304" y="6437"/>
                </a:lnTo>
                <a:lnTo>
                  <a:pt x="89255" y="24604"/>
                </a:lnTo>
                <a:lnTo>
                  <a:pt x="52782" y="52782"/>
                </a:lnTo>
                <a:lnTo>
                  <a:pt x="24604" y="89255"/>
                </a:lnTo>
                <a:lnTo>
                  <a:pt x="6437" y="132304"/>
                </a:lnTo>
                <a:lnTo>
                  <a:pt x="0" y="180212"/>
                </a:lnTo>
                <a:lnTo>
                  <a:pt x="6437" y="228121"/>
                </a:lnTo>
                <a:lnTo>
                  <a:pt x="24604" y="271170"/>
                </a:lnTo>
                <a:lnTo>
                  <a:pt x="52782" y="307643"/>
                </a:lnTo>
                <a:lnTo>
                  <a:pt x="89255" y="335821"/>
                </a:lnTo>
                <a:lnTo>
                  <a:pt x="132304" y="353988"/>
                </a:lnTo>
                <a:lnTo>
                  <a:pt x="180213" y="360425"/>
                </a:lnTo>
                <a:lnTo>
                  <a:pt x="228121" y="353988"/>
                </a:lnTo>
                <a:lnTo>
                  <a:pt x="271170" y="335821"/>
                </a:lnTo>
                <a:lnTo>
                  <a:pt x="307643" y="307643"/>
                </a:lnTo>
                <a:lnTo>
                  <a:pt x="335821" y="271170"/>
                </a:lnTo>
                <a:lnTo>
                  <a:pt x="353988" y="228121"/>
                </a:lnTo>
                <a:lnTo>
                  <a:pt x="360426" y="180212"/>
                </a:lnTo>
                <a:lnTo>
                  <a:pt x="353988" y="132304"/>
                </a:lnTo>
                <a:lnTo>
                  <a:pt x="335821" y="89255"/>
                </a:lnTo>
                <a:lnTo>
                  <a:pt x="307643" y="52782"/>
                </a:lnTo>
                <a:lnTo>
                  <a:pt x="271170" y="24604"/>
                </a:lnTo>
                <a:lnTo>
                  <a:pt x="228121" y="6437"/>
                </a:lnTo>
                <a:lnTo>
                  <a:pt x="18021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18794" y="3279795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80">
                <a:moveTo>
                  <a:pt x="0" y="180212"/>
                </a:moveTo>
                <a:lnTo>
                  <a:pt x="6437" y="132304"/>
                </a:lnTo>
                <a:lnTo>
                  <a:pt x="24604" y="89255"/>
                </a:lnTo>
                <a:lnTo>
                  <a:pt x="52782" y="52782"/>
                </a:lnTo>
                <a:lnTo>
                  <a:pt x="89255" y="24604"/>
                </a:lnTo>
                <a:lnTo>
                  <a:pt x="132304" y="6437"/>
                </a:lnTo>
                <a:lnTo>
                  <a:pt x="180213" y="0"/>
                </a:lnTo>
                <a:lnTo>
                  <a:pt x="228121" y="6437"/>
                </a:lnTo>
                <a:lnTo>
                  <a:pt x="271170" y="24604"/>
                </a:lnTo>
                <a:lnTo>
                  <a:pt x="307643" y="52782"/>
                </a:lnTo>
                <a:lnTo>
                  <a:pt x="335821" y="89255"/>
                </a:lnTo>
                <a:lnTo>
                  <a:pt x="353988" y="132304"/>
                </a:lnTo>
                <a:lnTo>
                  <a:pt x="360426" y="180212"/>
                </a:lnTo>
                <a:lnTo>
                  <a:pt x="353988" y="228121"/>
                </a:lnTo>
                <a:lnTo>
                  <a:pt x="335821" y="271170"/>
                </a:lnTo>
                <a:lnTo>
                  <a:pt x="307643" y="307643"/>
                </a:lnTo>
                <a:lnTo>
                  <a:pt x="271170" y="335821"/>
                </a:lnTo>
                <a:lnTo>
                  <a:pt x="228121" y="353988"/>
                </a:lnTo>
                <a:lnTo>
                  <a:pt x="180213" y="360425"/>
                </a:lnTo>
                <a:lnTo>
                  <a:pt x="132304" y="353988"/>
                </a:lnTo>
                <a:lnTo>
                  <a:pt x="89255" y="335821"/>
                </a:lnTo>
                <a:lnTo>
                  <a:pt x="52782" y="307643"/>
                </a:lnTo>
                <a:lnTo>
                  <a:pt x="24604" y="271170"/>
                </a:lnTo>
                <a:lnTo>
                  <a:pt x="6437" y="228121"/>
                </a:lnTo>
                <a:lnTo>
                  <a:pt x="0" y="180212"/>
                </a:lnTo>
                <a:close/>
              </a:path>
            </a:pathLst>
          </a:custGeom>
          <a:ln w="25146">
            <a:solidFill>
              <a:srgbClr val="2159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64058" y="4256172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213" y="0"/>
                </a:moveTo>
                <a:lnTo>
                  <a:pt x="132304" y="6437"/>
                </a:lnTo>
                <a:lnTo>
                  <a:pt x="89255" y="24604"/>
                </a:lnTo>
                <a:lnTo>
                  <a:pt x="52782" y="52782"/>
                </a:lnTo>
                <a:lnTo>
                  <a:pt x="24604" y="89255"/>
                </a:lnTo>
                <a:lnTo>
                  <a:pt x="6437" y="132304"/>
                </a:lnTo>
                <a:lnTo>
                  <a:pt x="0" y="180212"/>
                </a:lnTo>
                <a:lnTo>
                  <a:pt x="6437" y="228121"/>
                </a:lnTo>
                <a:lnTo>
                  <a:pt x="24604" y="271170"/>
                </a:lnTo>
                <a:lnTo>
                  <a:pt x="52782" y="307643"/>
                </a:lnTo>
                <a:lnTo>
                  <a:pt x="89255" y="335821"/>
                </a:lnTo>
                <a:lnTo>
                  <a:pt x="132304" y="353988"/>
                </a:lnTo>
                <a:lnTo>
                  <a:pt x="180213" y="360425"/>
                </a:lnTo>
                <a:lnTo>
                  <a:pt x="228121" y="353988"/>
                </a:lnTo>
                <a:lnTo>
                  <a:pt x="271170" y="335821"/>
                </a:lnTo>
                <a:lnTo>
                  <a:pt x="307643" y="307643"/>
                </a:lnTo>
                <a:lnTo>
                  <a:pt x="335821" y="271170"/>
                </a:lnTo>
                <a:lnTo>
                  <a:pt x="353988" y="228121"/>
                </a:lnTo>
                <a:lnTo>
                  <a:pt x="360426" y="180212"/>
                </a:lnTo>
                <a:lnTo>
                  <a:pt x="353988" y="132304"/>
                </a:lnTo>
                <a:lnTo>
                  <a:pt x="335821" y="89255"/>
                </a:lnTo>
                <a:lnTo>
                  <a:pt x="307643" y="52782"/>
                </a:lnTo>
                <a:lnTo>
                  <a:pt x="271170" y="24604"/>
                </a:lnTo>
                <a:lnTo>
                  <a:pt x="228121" y="6437"/>
                </a:lnTo>
                <a:lnTo>
                  <a:pt x="18021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64058" y="4256172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212"/>
                </a:moveTo>
                <a:lnTo>
                  <a:pt x="6437" y="132304"/>
                </a:lnTo>
                <a:lnTo>
                  <a:pt x="24604" y="89255"/>
                </a:lnTo>
                <a:lnTo>
                  <a:pt x="52782" y="52782"/>
                </a:lnTo>
                <a:lnTo>
                  <a:pt x="89255" y="24604"/>
                </a:lnTo>
                <a:lnTo>
                  <a:pt x="132304" y="6437"/>
                </a:lnTo>
                <a:lnTo>
                  <a:pt x="180213" y="0"/>
                </a:lnTo>
                <a:lnTo>
                  <a:pt x="228121" y="6437"/>
                </a:lnTo>
                <a:lnTo>
                  <a:pt x="271170" y="24604"/>
                </a:lnTo>
                <a:lnTo>
                  <a:pt x="307643" y="52782"/>
                </a:lnTo>
                <a:lnTo>
                  <a:pt x="335821" y="89255"/>
                </a:lnTo>
                <a:lnTo>
                  <a:pt x="353988" y="132304"/>
                </a:lnTo>
                <a:lnTo>
                  <a:pt x="360426" y="180212"/>
                </a:lnTo>
                <a:lnTo>
                  <a:pt x="353988" y="228121"/>
                </a:lnTo>
                <a:lnTo>
                  <a:pt x="335821" y="271170"/>
                </a:lnTo>
                <a:lnTo>
                  <a:pt x="307643" y="307643"/>
                </a:lnTo>
                <a:lnTo>
                  <a:pt x="271170" y="335821"/>
                </a:lnTo>
                <a:lnTo>
                  <a:pt x="228121" y="353988"/>
                </a:lnTo>
                <a:lnTo>
                  <a:pt x="180213" y="360425"/>
                </a:lnTo>
                <a:lnTo>
                  <a:pt x="132304" y="353988"/>
                </a:lnTo>
                <a:lnTo>
                  <a:pt x="89255" y="335821"/>
                </a:lnTo>
                <a:lnTo>
                  <a:pt x="52782" y="307643"/>
                </a:lnTo>
                <a:lnTo>
                  <a:pt x="24604" y="271170"/>
                </a:lnTo>
                <a:lnTo>
                  <a:pt x="6437" y="228121"/>
                </a:lnTo>
                <a:lnTo>
                  <a:pt x="0" y="180212"/>
                </a:lnTo>
                <a:close/>
              </a:path>
            </a:pathLst>
          </a:custGeom>
          <a:ln w="25146">
            <a:solidFill>
              <a:srgbClr val="2159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44625" y="5308747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213" y="0"/>
                </a:moveTo>
                <a:lnTo>
                  <a:pt x="132304" y="6437"/>
                </a:lnTo>
                <a:lnTo>
                  <a:pt x="89255" y="24604"/>
                </a:lnTo>
                <a:lnTo>
                  <a:pt x="52782" y="52782"/>
                </a:lnTo>
                <a:lnTo>
                  <a:pt x="24604" y="89255"/>
                </a:lnTo>
                <a:lnTo>
                  <a:pt x="6437" y="132304"/>
                </a:lnTo>
                <a:lnTo>
                  <a:pt x="0" y="180213"/>
                </a:lnTo>
                <a:lnTo>
                  <a:pt x="6437" y="228121"/>
                </a:lnTo>
                <a:lnTo>
                  <a:pt x="24604" y="271170"/>
                </a:lnTo>
                <a:lnTo>
                  <a:pt x="52782" y="307643"/>
                </a:lnTo>
                <a:lnTo>
                  <a:pt x="89255" y="335821"/>
                </a:lnTo>
                <a:lnTo>
                  <a:pt x="132304" y="353988"/>
                </a:lnTo>
                <a:lnTo>
                  <a:pt x="180213" y="360426"/>
                </a:lnTo>
                <a:lnTo>
                  <a:pt x="228121" y="353988"/>
                </a:lnTo>
                <a:lnTo>
                  <a:pt x="271170" y="335821"/>
                </a:lnTo>
                <a:lnTo>
                  <a:pt x="307643" y="307643"/>
                </a:lnTo>
                <a:lnTo>
                  <a:pt x="335821" y="271170"/>
                </a:lnTo>
                <a:lnTo>
                  <a:pt x="353988" y="228121"/>
                </a:lnTo>
                <a:lnTo>
                  <a:pt x="360426" y="180213"/>
                </a:lnTo>
                <a:lnTo>
                  <a:pt x="353988" y="132304"/>
                </a:lnTo>
                <a:lnTo>
                  <a:pt x="335821" y="89255"/>
                </a:lnTo>
                <a:lnTo>
                  <a:pt x="307643" y="52782"/>
                </a:lnTo>
                <a:lnTo>
                  <a:pt x="271170" y="24604"/>
                </a:lnTo>
                <a:lnTo>
                  <a:pt x="228121" y="6437"/>
                </a:lnTo>
                <a:lnTo>
                  <a:pt x="18021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44625" y="5308747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213"/>
                </a:moveTo>
                <a:lnTo>
                  <a:pt x="6437" y="132304"/>
                </a:lnTo>
                <a:lnTo>
                  <a:pt x="24604" y="89255"/>
                </a:lnTo>
                <a:lnTo>
                  <a:pt x="52782" y="52782"/>
                </a:lnTo>
                <a:lnTo>
                  <a:pt x="89255" y="24604"/>
                </a:lnTo>
                <a:lnTo>
                  <a:pt x="132304" y="6437"/>
                </a:lnTo>
                <a:lnTo>
                  <a:pt x="180213" y="0"/>
                </a:lnTo>
                <a:lnTo>
                  <a:pt x="228121" y="6437"/>
                </a:lnTo>
                <a:lnTo>
                  <a:pt x="271170" y="24604"/>
                </a:lnTo>
                <a:lnTo>
                  <a:pt x="307643" y="52782"/>
                </a:lnTo>
                <a:lnTo>
                  <a:pt x="335821" y="89255"/>
                </a:lnTo>
                <a:lnTo>
                  <a:pt x="353988" y="132304"/>
                </a:lnTo>
                <a:lnTo>
                  <a:pt x="360426" y="180213"/>
                </a:lnTo>
                <a:lnTo>
                  <a:pt x="353988" y="228121"/>
                </a:lnTo>
                <a:lnTo>
                  <a:pt x="335821" y="271170"/>
                </a:lnTo>
                <a:lnTo>
                  <a:pt x="307643" y="307643"/>
                </a:lnTo>
                <a:lnTo>
                  <a:pt x="271170" y="335821"/>
                </a:lnTo>
                <a:lnTo>
                  <a:pt x="228121" y="353988"/>
                </a:lnTo>
                <a:lnTo>
                  <a:pt x="180213" y="360426"/>
                </a:lnTo>
                <a:lnTo>
                  <a:pt x="132304" y="353988"/>
                </a:lnTo>
                <a:lnTo>
                  <a:pt x="89255" y="335821"/>
                </a:lnTo>
                <a:lnTo>
                  <a:pt x="52782" y="307643"/>
                </a:lnTo>
                <a:lnTo>
                  <a:pt x="24604" y="271170"/>
                </a:lnTo>
                <a:lnTo>
                  <a:pt x="6437" y="228121"/>
                </a:lnTo>
                <a:lnTo>
                  <a:pt x="0" y="180213"/>
                </a:lnTo>
                <a:close/>
              </a:path>
            </a:pathLst>
          </a:custGeom>
          <a:ln w="25146">
            <a:solidFill>
              <a:srgbClr val="2159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73996" y="5318881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84297" y="5308747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213" y="0"/>
                </a:moveTo>
                <a:lnTo>
                  <a:pt x="132304" y="6437"/>
                </a:lnTo>
                <a:lnTo>
                  <a:pt x="89255" y="24604"/>
                </a:lnTo>
                <a:lnTo>
                  <a:pt x="52782" y="52782"/>
                </a:lnTo>
                <a:lnTo>
                  <a:pt x="24604" y="89255"/>
                </a:lnTo>
                <a:lnTo>
                  <a:pt x="6437" y="132304"/>
                </a:lnTo>
                <a:lnTo>
                  <a:pt x="0" y="180213"/>
                </a:lnTo>
                <a:lnTo>
                  <a:pt x="6437" y="228121"/>
                </a:lnTo>
                <a:lnTo>
                  <a:pt x="24604" y="271170"/>
                </a:lnTo>
                <a:lnTo>
                  <a:pt x="52782" y="307643"/>
                </a:lnTo>
                <a:lnTo>
                  <a:pt x="89255" y="335821"/>
                </a:lnTo>
                <a:lnTo>
                  <a:pt x="132304" y="353988"/>
                </a:lnTo>
                <a:lnTo>
                  <a:pt x="180213" y="360426"/>
                </a:lnTo>
                <a:lnTo>
                  <a:pt x="228121" y="353988"/>
                </a:lnTo>
                <a:lnTo>
                  <a:pt x="271170" y="335821"/>
                </a:lnTo>
                <a:lnTo>
                  <a:pt x="307643" y="307643"/>
                </a:lnTo>
                <a:lnTo>
                  <a:pt x="335821" y="271170"/>
                </a:lnTo>
                <a:lnTo>
                  <a:pt x="353988" y="228121"/>
                </a:lnTo>
                <a:lnTo>
                  <a:pt x="360426" y="180213"/>
                </a:lnTo>
                <a:lnTo>
                  <a:pt x="353988" y="132304"/>
                </a:lnTo>
                <a:lnTo>
                  <a:pt x="335821" y="89255"/>
                </a:lnTo>
                <a:lnTo>
                  <a:pt x="307643" y="52782"/>
                </a:lnTo>
                <a:lnTo>
                  <a:pt x="271170" y="24604"/>
                </a:lnTo>
                <a:lnTo>
                  <a:pt x="228121" y="6437"/>
                </a:lnTo>
                <a:lnTo>
                  <a:pt x="18021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84297" y="5308747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213"/>
                </a:moveTo>
                <a:lnTo>
                  <a:pt x="6437" y="132304"/>
                </a:lnTo>
                <a:lnTo>
                  <a:pt x="24604" y="89255"/>
                </a:lnTo>
                <a:lnTo>
                  <a:pt x="52782" y="52782"/>
                </a:lnTo>
                <a:lnTo>
                  <a:pt x="89255" y="24604"/>
                </a:lnTo>
                <a:lnTo>
                  <a:pt x="132304" y="6437"/>
                </a:lnTo>
                <a:lnTo>
                  <a:pt x="180213" y="0"/>
                </a:lnTo>
                <a:lnTo>
                  <a:pt x="228121" y="6437"/>
                </a:lnTo>
                <a:lnTo>
                  <a:pt x="271170" y="24604"/>
                </a:lnTo>
                <a:lnTo>
                  <a:pt x="307643" y="52782"/>
                </a:lnTo>
                <a:lnTo>
                  <a:pt x="335821" y="89255"/>
                </a:lnTo>
                <a:lnTo>
                  <a:pt x="353988" y="132304"/>
                </a:lnTo>
                <a:lnTo>
                  <a:pt x="360426" y="180213"/>
                </a:lnTo>
                <a:lnTo>
                  <a:pt x="353988" y="228121"/>
                </a:lnTo>
                <a:lnTo>
                  <a:pt x="335821" y="271170"/>
                </a:lnTo>
                <a:lnTo>
                  <a:pt x="307643" y="307643"/>
                </a:lnTo>
                <a:lnTo>
                  <a:pt x="271170" y="335821"/>
                </a:lnTo>
                <a:lnTo>
                  <a:pt x="228121" y="353988"/>
                </a:lnTo>
                <a:lnTo>
                  <a:pt x="180213" y="360426"/>
                </a:lnTo>
                <a:lnTo>
                  <a:pt x="132304" y="353988"/>
                </a:lnTo>
                <a:lnTo>
                  <a:pt x="89255" y="335821"/>
                </a:lnTo>
                <a:lnTo>
                  <a:pt x="52782" y="307643"/>
                </a:lnTo>
                <a:lnTo>
                  <a:pt x="24604" y="271170"/>
                </a:lnTo>
                <a:lnTo>
                  <a:pt x="6437" y="228121"/>
                </a:lnTo>
                <a:lnTo>
                  <a:pt x="0" y="180213"/>
                </a:lnTo>
                <a:close/>
              </a:path>
            </a:pathLst>
          </a:custGeom>
          <a:ln w="25146">
            <a:solidFill>
              <a:srgbClr val="2159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013331" y="5318881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23793" y="4256172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213" y="0"/>
                </a:moveTo>
                <a:lnTo>
                  <a:pt x="132304" y="6437"/>
                </a:lnTo>
                <a:lnTo>
                  <a:pt x="89255" y="24604"/>
                </a:lnTo>
                <a:lnTo>
                  <a:pt x="52782" y="52782"/>
                </a:lnTo>
                <a:lnTo>
                  <a:pt x="24604" y="89255"/>
                </a:lnTo>
                <a:lnTo>
                  <a:pt x="6437" y="132304"/>
                </a:lnTo>
                <a:lnTo>
                  <a:pt x="0" y="180212"/>
                </a:lnTo>
                <a:lnTo>
                  <a:pt x="6437" y="228121"/>
                </a:lnTo>
                <a:lnTo>
                  <a:pt x="24604" y="271170"/>
                </a:lnTo>
                <a:lnTo>
                  <a:pt x="52782" y="307643"/>
                </a:lnTo>
                <a:lnTo>
                  <a:pt x="89255" y="335821"/>
                </a:lnTo>
                <a:lnTo>
                  <a:pt x="132304" y="353988"/>
                </a:lnTo>
                <a:lnTo>
                  <a:pt x="180213" y="360425"/>
                </a:lnTo>
                <a:lnTo>
                  <a:pt x="228121" y="353988"/>
                </a:lnTo>
                <a:lnTo>
                  <a:pt x="271170" y="335821"/>
                </a:lnTo>
                <a:lnTo>
                  <a:pt x="307643" y="307643"/>
                </a:lnTo>
                <a:lnTo>
                  <a:pt x="335821" y="271170"/>
                </a:lnTo>
                <a:lnTo>
                  <a:pt x="353988" y="228121"/>
                </a:lnTo>
                <a:lnTo>
                  <a:pt x="360426" y="180212"/>
                </a:lnTo>
                <a:lnTo>
                  <a:pt x="353988" y="132304"/>
                </a:lnTo>
                <a:lnTo>
                  <a:pt x="335821" y="89255"/>
                </a:lnTo>
                <a:lnTo>
                  <a:pt x="307643" y="52782"/>
                </a:lnTo>
                <a:lnTo>
                  <a:pt x="271170" y="24604"/>
                </a:lnTo>
                <a:lnTo>
                  <a:pt x="228121" y="6437"/>
                </a:lnTo>
                <a:lnTo>
                  <a:pt x="18021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23793" y="4256172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212"/>
                </a:moveTo>
                <a:lnTo>
                  <a:pt x="6437" y="132304"/>
                </a:lnTo>
                <a:lnTo>
                  <a:pt x="24604" y="89255"/>
                </a:lnTo>
                <a:lnTo>
                  <a:pt x="52782" y="52782"/>
                </a:lnTo>
                <a:lnTo>
                  <a:pt x="89255" y="24604"/>
                </a:lnTo>
                <a:lnTo>
                  <a:pt x="132304" y="6437"/>
                </a:lnTo>
                <a:lnTo>
                  <a:pt x="180213" y="0"/>
                </a:lnTo>
                <a:lnTo>
                  <a:pt x="228121" y="6437"/>
                </a:lnTo>
                <a:lnTo>
                  <a:pt x="271170" y="24604"/>
                </a:lnTo>
                <a:lnTo>
                  <a:pt x="307643" y="52782"/>
                </a:lnTo>
                <a:lnTo>
                  <a:pt x="335821" y="89255"/>
                </a:lnTo>
                <a:lnTo>
                  <a:pt x="353988" y="132304"/>
                </a:lnTo>
                <a:lnTo>
                  <a:pt x="360426" y="180212"/>
                </a:lnTo>
                <a:lnTo>
                  <a:pt x="353988" y="228121"/>
                </a:lnTo>
                <a:lnTo>
                  <a:pt x="335821" y="271170"/>
                </a:lnTo>
                <a:lnTo>
                  <a:pt x="307643" y="307643"/>
                </a:lnTo>
                <a:lnTo>
                  <a:pt x="271170" y="335821"/>
                </a:lnTo>
                <a:lnTo>
                  <a:pt x="228121" y="353988"/>
                </a:lnTo>
                <a:lnTo>
                  <a:pt x="180213" y="360425"/>
                </a:lnTo>
                <a:lnTo>
                  <a:pt x="132304" y="353988"/>
                </a:lnTo>
                <a:lnTo>
                  <a:pt x="89255" y="335821"/>
                </a:lnTo>
                <a:lnTo>
                  <a:pt x="52782" y="307643"/>
                </a:lnTo>
                <a:lnTo>
                  <a:pt x="24604" y="271170"/>
                </a:lnTo>
                <a:lnTo>
                  <a:pt x="6437" y="228121"/>
                </a:lnTo>
                <a:lnTo>
                  <a:pt x="0" y="180212"/>
                </a:lnTo>
                <a:close/>
              </a:path>
            </a:pathLst>
          </a:custGeom>
          <a:ln w="25146">
            <a:solidFill>
              <a:srgbClr val="2159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68537" y="3449848"/>
            <a:ext cx="396240" cy="1832187"/>
          </a:xfrm>
          <a:prstGeom prst="rect">
            <a:avLst/>
          </a:prstGeom>
        </p:spPr>
        <p:txBody>
          <a:bodyPr vert="horz" wrap="square" lIns="0" tIns="230288" rIns="0" bIns="0" rtlCol="0">
            <a:spAutoFit/>
          </a:bodyPr>
          <a:lstStyle/>
          <a:p>
            <a:pPr marL="209121">
              <a:spcBef>
                <a:spcPts val="1813"/>
              </a:spcBef>
            </a:pPr>
            <a:r>
              <a:rPr sz="2400" b="1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41486">
              <a:spcBef>
                <a:spcPts val="1867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  <a:p>
            <a:pPr marL="16933">
              <a:spcBef>
                <a:spcPts val="1647"/>
              </a:spcBef>
            </a:pPr>
            <a:r>
              <a:rPr sz="2400" b="1" spc="-7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5652" y="4196480"/>
            <a:ext cx="20404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32019" y="4476591"/>
            <a:ext cx="20404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49046" y="4744361"/>
            <a:ext cx="231987" cy="463127"/>
          </a:xfrm>
          <a:custGeom>
            <a:avLst/>
            <a:gdLst/>
            <a:ahLst/>
            <a:cxnLst/>
            <a:rect l="l" t="t" r="r" b="b"/>
            <a:pathLst>
              <a:path w="173990" h="347345">
                <a:moveTo>
                  <a:pt x="0" y="0"/>
                </a:moveTo>
                <a:lnTo>
                  <a:pt x="173748" y="346887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01215" y="5150043"/>
            <a:ext cx="137160" cy="171027"/>
          </a:xfrm>
          <a:custGeom>
            <a:avLst/>
            <a:gdLst/>
            <a:ahLst/>
            <a:cxnLst/>
            <a:rect l="l" t="t" r="r" b="b"/>
            <a:pathLst>
              <a:path w="102870" h="128270">
                <a:moveTo>
                  <a:pt x="102196" y="0"/>
                </a:moveTo>
                <a:lnTo>
                  <a:pt x="0" y="51181"/>
                </a:lnTo>
                <a:lnTo>
                  <a:pt x="102285" y="127787"/>
                </a:lnTo>
                <a:lnTo>
                  <a:pt x="10219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13924" y="5572907"/>
            <a:ext cx="778933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584200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29255" y="552210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71551" y="3778872"/>
            <a:ext cx="1186180" cy="658707"/>
          </a:xfrm>
          <a:custGeom>
            <a:avLst/>
            <a:gdLst/>
            <a:ahLst/>
            <a:cxnLst/>
            <a:rect l="l" t="t" r="r" b="b"/>
            <a:pathLst>
              <a:path w="889635" h="494029">
                <a:moveTo>
                  <a:pt x="0" y="493991"/>
                </a:moveTo>
                <a:lnTo>
                  <a:pt x="88905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97733" y="3717186"/>
            <a:ext cx="171027" cy="141393"/>
          </a:xfrm>
          <a:custGeom>
            <a:avLst/>
            <a:gdLst/>
            <a:ahLst/>
            <a:cxnLst/>
            <a:rect l="l" t="t" r="r" b="b"/>
            <a:pathLst>
              <a:path w="128269" h="106045">
                <a:moveTo>
                  <a:pt x="127673" y="0"/>
                </a:moveTo>
                <a:lnTo>
                  <a:pt x="0" y="5562"/>
                </a:lnTo>
                <a:lnTo>
                  <a:pt x="55524" y="105473"/>
                </a:lnTo>
                <a:lnTo>
                  <a:pt x="12767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69361" y="4855967"/>
            <a:ext cx="302260" cy="452967"/>
          </a:xfrm>
          <a:custGeom>
            <a:avLst/>
            <a:gdLst/>
            <a:ahLst/>
            <a:cxnLst/>
            <a:rect l="l" t="t" r="r" b="b"/>
            <a:pathLst>
              <a:path w="226694" h="339725">
                <a:moveTo>
                  <a:pt x="0" y="339585"/>
                </a:moveTo>
                <a:lnTo>
                  <a:pt x="226161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19251" y="4785504"/>
            <a:ext cx="99060" cy="113453"/>
          </a:xfrm>
          <a:custGeom>
            <a:avLst/>
            <a:gdLst/>
            <a:ahLst/>
            <a:cxnLst/>
            <a:rect l="l" t="t" r="r" b="b"/>
            <a:pathLst>
              <a:path w="74294" h="85089">
                <a:moveTo>
                  <a:pt x="73952" y="0"/>
                </a:moveTo>
                <a:lnTo>
                  <a:pt x="0" y="42303"/>
                </a:lnTo>
                <a:lnTo>
                  <a:pt x="63423" y="84543"/>
                </a:lnTo>
                <a:lnTo>
                  <a:pt x="73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69489" y="3365140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213" y="0"/>
                </a:moveTo>
                <a:lnTo>
                  <a:pt x="132304" y="6437"/>
                </a:lnTo>
                <a:lnTo>
                  <a:pt x="89255" y="24604"/>
                </a:lnTo>
                <a:lnTo>
                  <a:pt x="52782" y="52782"/>
                </a:lnTo>
                <a:lnTo>
                  <a:pt x="24604" y="89255"/>
                </a:lnTo>
                <a:lnTo>
                  <a:pt x="6437" y="132304"/>
                </a:lnTo>
                <a:lnTo>
                  <a:pt x="0" y="180212"/>
                </a:lnTo>
                <a:lnTo>
                  <a:pt x="6437" y="228121"/>
                </a:lnTo>
                <a:lnTo>
                  <a:pt x="24604" y="271170"/>
                </a:lnTo>
                <a:lnTo>
                  <a:pt x="52782" y="307643"/>
                </a:lnTo>
                <a:lnTo>
                  <a:pt x="89255" y="335821"/>
                </a:lnTo>
                <a:lnTo>
                  <a:pt x="132304" y="353988"/>
                </a:lnTo>
                <a:lnTo>
                  <a:pt x="180213" y="360425"/>
                </a:lnTo>
                <a:lnTo>
                  <a:pt x="228121" y="353988"/>
                </a:lnTo>
                <a:lnTo>
                  <a:pt x="271170" y="335821"/>
                </a:lnTo>
                <a:lnTo>
                  <a:pt x="307643" y="307643"/>
                </a:lnTo>
                <a:lnTo>
                  <a:pt x="335821" y="271170"/>
                </a:lnTo>
                <a:lnTo>
                  <a:pt x="353988" y="228121"/>
                </a:lnTo>
                <a:lnTo>
                  <a:pt x="360426" y="180212"/>
                </a:lnTo>
                <a:lnTo>
                  <a:pt x="353988" y="132304"/>
                </a:lnTo>
                <a:lnTo>
                  <a:pt x="335821" y="89255"/>
                </a:lnTo>
                <a:lnTo>
                  <a:pt x="307643" y="52782"/>
                </a:lnTo>
                <a:lnTo>
                  <a:pt x="271170" y="24604"/>
                </a:lnTo>
                <a:lnTo>
                  <a:pt x="228121" y="6437"/>
                </a:lnTo>
                <a:lnTo>
                  <a:pt x="18021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769489" y="3365140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212"/>
                </a:moveTo>
                <a:lnTo>
                  <a:pt x="6437" y="132304"/>
                </a:lnTo>
                <a:lnTo>
                  <a:pt x="24604" y="89255"/>
                </a:lnTo>
                <a:lnTo>
                  <a:pt x="52782" y="52782"/>
                </a:lnTo>
                <a:lnTo>
                  <a:pt x="89255" y="24604"/>
                </a:lnTo>
                <a:lnTo>
                  <a:pt x="132304" y="6437"/>
                </a:lnTo>
                <a:lnTo>
                  <a:pt x="180213" y="0"/>
                </a:lnTo>
                <a:lnTo>
                  <a:pt x="228121" y="6437"/>
                </a:lnTo>
                <a:lnTo>
                  <a:pt x="271170" y="24604"/>
                </a:lnTo>
                <a:lnTo>
                  <a:pt x="307643" y="52782"/>
                </a:lnTo>
                <a:lnTo>
                  <a:pt x="335821" y="89255"/>
                </a:lnTo>
                <a:lnTo>
                  <a:pt x="353988" y="132304"/>
                </a:lnTo>
                <a:lnTo>
                  <a:pt x="360426" y="180212"/>
                </a:lnTo>
                <a:lnTo>
                  <a:pt x="353988" y="228121"/>
                </a:lnTo>
                <a:lnTo>
                  <a:pt x="335821" y="271170"/>
                </a:lnTo>
                <a:lnTo>
                  <a:pt x="307643" y="307643"/>
                </a:lnTo>
                <a:lnTo>
                  <a:pt x="271170" y="335821"/>
                </a:lnTo>
                <a:lnTo>
                  <a:pt x="228121" y="353988"/>
                </a:lnTo>
                <a:lnTo>
                  <a:pt x="180213" y="360425"/>
                </a:lnTo>
                <a:lnTo>
                  <a:pt x="132304" y="353988"/>
                </a:lnTo>
                <a:lnTo>
                  <a:pt x="89255" y="335821"/>
                </a:lnTo>
                <a:lnTo>
                  <a:pt x="52782" y="307643"/>
                </a:lnTo>
                <a:lnTo>
                  <a:pt x="24604" y="271170"/>
                </a:lnTo>
                <a:lnTo>
                  <a:pt x="6437" y="228121"/>
                </a:lnTo>
                <a:lnTo>
                  <a:pt x="0" y="180212"/>
                </a:lnTo>
                <a:close/>
              </a:path>
            </a:pathLst>
          </a:custGeom>
          <a:ln w="25146">
            <a:solidFill>
              <a:srgbClr val="2159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99031" y="3375257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968458" y="3821730"/>
            <a:ext cx="985520" cy="1557020"/>
          </a:xfrm>
          <a:custGeom>
            <a:avLst/>
            <a:gdLst/>
            <a:ahLst/>
            <a:cxnLst/>
            <a:rect l="l" t="t" r="r" b="b"/>
            <a:pathLst>
              <a:path w="739139" h="1167764">
                <a:moveTo>
                  <a:pt x="739140" y="1167142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23167" y="3750206"/>
            <a:ext cx="97367" cy="113453"/>
          </a:xfrm>
          <a:custGeom>
            <a:avLst/>
            <a:gdLst/>
            <a:ahLst/>
            <a:cxnLst/>
            <a:rect l="l" t="t" r="r" b="b"/>
            <a:pathLst>
              <a:path w="73025" h="85089">
                <a:moveTo>
                  <a:pt x="0" y="0"/>
                </a:moveTo>
                <a:lnTo>
                  <a:pt x="8572" y="84759"/>
                </a:lnTo>
                <a:lnTo>
                  <a:pt x="72948" y="439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640029" y="3290584"/>
            <a:ext cx="230293" cy="1026160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2455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  <a:p>
            <a:pPr marL="16933">
              <a:spcBef>
                <a:spcPts val="1733"/>
              </a:spcBef>
            </a:pPr>
            <a:r>
              <a:rPr sz="2400" b="1" spc="-7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57629" y="4354195"/>
            <a:ext cx="20404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009265" y="3845707"/>
            <a:ext cx="110067" cy="1378373"/>
          </a:xfrm>
          <a:custGeom>
            <a:avLst/>
            <a:gdLst/>
            <a:ahLst/>
            <a:cxnLst/>
            <a:rect l="l" t="t" r="r" b="b"/>
            <a:pathLst>
              <a:path w="82550" h="1033779">
                <a:moveTo>
                  <a:pt x="0" y="0"/>
                </a:moveTo>
                <a:lnTo>
                  <a:pt x="82270" y="103366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066987" y="5203017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58" y="0"/>
                </a:moveTo>
                <a:lnTo>
                  <a:pt x="0" y="6045"/>
                </a:lnTo>
                <a:lnTo>
                  <a:pt x="44018" y="78981"/>
                </a:lnTo>
                <a:lnTo>
                  <a:pt x="75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443440" y="3678092"/>
            <a:ext cx="20404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87736" y="5636765"/>
            <a:ext cx="2040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b="1" spc="-7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06839" y="4034887"/>
            <a:ext cx="268393" cy="1247140"/>
          </a:xfrm>
          <a:prstGeom prst="rect">
            <a:avLst/>
          </a:prstGeom>
        </p:spPr>
        <p:txBody>
          <a:bodyPr vert="horz" wrap="square" lIns="0" tIns="248067" rIns="0" bIns="0" rtlCol="0">
            <a:spAutoFit/>
          </a:bodyPr>
          <a:lstStyle/>
          <a:p>
            <a:pPr marL="62652">
              <a:spcBef>
                <a:spcPts val="1953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16933">
              <a:spcBef>
                <a:spcPts val="1647"/>
              </a:spcBef>
            </a:pPr>
            <a:r>
              <a:rPr sz="2400" b="1" spc="-7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171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587" y="284047"/>
            <a:ext cx="10701966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sz="4000" b="1" spc="-7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40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jkstra</a:t>
            </a:r>
            <a:r>
              <a:rPr sz="4000" b="1" spc="-13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算法有关概</a:t>
            </a:r>
            <a:r>
              <a:rPr sz="4000" b="1" spc="-2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228682"/>
            <a:ext cx="11133766" cy="394932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33" marR="6773" indent="-457200" algn="just">
              <a:spcBef>
                <a:spcPts val="133"/>
              </a:spcBef>
              <a:buFont typeface="Wingdings" pitchFamily="2" charset="2"/>
              <a:buChar char="l"/>
            </a:pP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dirty="0">
                <a:latin typeface="Symbol"/>
                <a:cs typeface="Symbol"/>
              </a:rPr>
              <a:t></a:t>
            </a:r>
            <a:r>
              <a:rPr sz="3200" b="1" i="1" dirty="0">
                <a:latin typeface="Times New Roman"/>
                <a:cs typeface="Times New Roman"/>
              </a:rPr>
              <a:t>S</a:t>
            </a:r>
            <a:r>
              <a:rPr sz="3200" b="1" i="1" spc="1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Symbol"/>
                <a:cs typeface="Symbol"/>
              </a:rPr>
              <a:t></a:t>
            </a:r>
            <a:r>
              <a:rPr sz="3200" b="1" spc="120" dirty="0">
                <a:latin typeface="Times New Roman"/>
                <a:cs typeface="Times New Roman"/>
              </a:rPr>
              <a:t> </a:t>
            </a:r>
            <a:r>
              <a:rPr sz="3200" b="1" i="1" spc="-13" dirty="0">
                <a:latin typeface="Times New Roman"/>
                <a:cs typeface="Times New Roman"/>
              </a:rPr>
              <a:t>x</a:t>
            </a:r>
            <a:r>
              <a:rPr sz="3200" b="1" spc="-13" dirty="0">
                <a:latin typeface="Symbol"/>
                <a:cs typeface="Symbol"/>
              </a:rPr>
              <a:t></a:t>
            </a:r>
            <a:r>
              <a:rPr sz="3200" b="1" i="1" spc="-13" dirty="0">
                <a:latin typeface="Times New Roman"/>
                <a:cs typeface="Times New Roman"/>
              </a:rPr>
              <a:t>V</a:t>
            </a:r>
            <a:r>
              <a:rPr sz="3200" b="1" i="1" spc="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且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sz="3200" b="1" spc="-687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s</a:t>
            </a:r>
            <a:r>
              <a:rPr sz="3200" b="1" i="1" spc="120" dirty="0"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3200" b="1" spc="-693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i="1" spc="127" dirty="0">
                <a:latin typeface="Times New Roman"/>
                <a:cs typeface="Times New Roman"/>
              </a:rPr>
              <a:t> 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的最短路径已</a:t>
            </a:r>
            <a:r>
              <a:rPr sz="32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经找</a:t>
            </a:r>
            <a:r>
              <a:rPr sz="32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74133" indent="-457200" algn="just">
              <a:spcBef>
                <a:spcPts val="1920"/>
              </a:spcBef>
              <a:buFont typeface="Wingdings" pitchFamily="2" charset="2"/>
              <a:buChar char="l"/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初始：</a:t>
            </a:r>
            <a:r>
              <a:rPr sz="3200" b="1" i="1" spc="-7" dirty="0">
                <a:latin typeface="Times New Roman"/>
                <a:cs typeface="Times New Roman"/>
              </a:rPr>
              <a:t>S</a:t>
            </a:r>
            <a:r>
              <a:rPr sz="3200" b="1" i="1" spc="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{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s </a:t>
            </a:r>
            <a:r>
              <a:rPr sz="3200" b="1" spc="-7" dirty="0">
                <a:latin typeface="Times New Roman"/>
                <a:cs typeface="Times New Roman"/>
              </a:rPr>
              <a:t>} </a:t>
            </a:r>
            <a:r>
              <a:rPr sz="3200" b="1" spc="-7" dirty="0">
                <a:latin typeface="宋体"/>
                <a:cs typeface="宋体"/>
              </a:rPr>
              <a:t>，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3200" b="1" i="1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</a:t>
            </a:r>
            <a:r>
              <a:rPr sz="3200" b="1" i="1" spc="-6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时算法结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束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74133" marR="9313" indent="-457200" algn="just">
              <a:spcBef>
                <a:spcPts val="1760"/>
              </a:spcBef>
              <a:buFont typeface="Wingdings" pitchFamily="2" charset="2"/>
              <a:buChar char="l"/>
            </a:pPr>
            <a:r>
              <a:rPr sz="3200" b="1" spc="13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lang="en-US" sz="3200" b="1" spc="13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2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sz="3200" b="1" i="1" spc="2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27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sz="3200" b="1" spc="27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13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lang="en-US" sz="3200" b="1" i="1" spc="13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27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相对于</a:t>
            </a:r>
            <a:r>
              <a:rPr lang="en-US" sz="3200" b="1" spc="27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13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sz="3200" b="1" i="1" spc="13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27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的最短路径</a:t>
            </a:r>
            <a:r>
              <a:rPr sz="3200" b="1" spc="2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3200" b="1" spc="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lang="en-US" sz="3200" b="1" spc="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2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sz="3200" b="1" i="1" spc="2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sz="3200" b="1" spc="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2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lang="en-US" sz="3200" b="1" i="1" spc="2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且</a:t>
            </a:r>
            <a:r>
              <a:rPr sz="32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仅经</a:t>
            </a:r>
            <a:r>
              <a:rPr sz="32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过</a:t>
            </a:r>
            <a:r>
              <a:rPr sz="3200" b="1" spc="-79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 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中顶点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的最短路径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474133" marR="76198" indent="-457200" algn="just">
              <a:lnSpc>
                <a:spcPct val="98800"/>
              </a:lnSpc>
              <a:spcBef>
                <a:spcPts val="1967"/>
              </a:spcBef>
              <a:buFont typeface="Wingdings" pitchFamily="2" charset="2"/>
              <a:buChar char="l"/>
            </a:pPr>
            <a:r>
              <a:rPr sz="3200" b="1" i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dist</a:t>
            </a:r>
            <a:r>
              <a:rPr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[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]：</a:t>
            </a:r>
            <a:r>
              <a:rPr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lang="en-US"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lang="en-US"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相对</a:t>
            </a:r>
            <a:r>
              <a:rPr lang="en-US"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最短路</a:t>
            </a:r>
            <a:r>
              <a:rPr sz="3200" b="1" spc="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径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的长度</a:t>
            </a:r>
            <a:r>
              <a:rPr lang="en-US"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</a:p>
          <a:p>
            <a:pPr marL="474133" marR="76198" indent="-457200" algn="just">
              <a:lnSpc>
                <a:spcPct val="98800"/>
              </a:lnSpc>
              <a:spcBef>
                <a:spcPts val="1967"/>
              </a:spcBef>
              <a:buFont typeface="Wingdings" pitchFamily="2" charset="2"/>
              <a:buChar char="l"/>
            </a:pP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short</a:t>
            </a:r>
            <a:r>
              <a:rPr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[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]：</a:t>
            </a:r>
            <a:r>
              <a:rPr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lang="en-US" sz="3200" b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u</a:t>
            </a:r>
            <a:r>
              <a:rPr lang="en-US" sz="32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的最短路径的长度</a:t>
            </a:r>
            <a:r>
              <a:rPr sz="32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spc="-7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dist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] </a:t>
            </a:r>
            <a:r>
              <a:rPr sz="3200" b="1" spc="-7" dirty="0">
                <a:solidFill>
                  <a:srgbClr val="C00000"/>
                </a:solidFill>
                <a:latin typeface="Symbol"/>
                <a:cs typeface="Symbol"/>
              </a:rPr>
              <a:t>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short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]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813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234" y="149933"/>
            <a:ext cx="9048625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算法设计思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想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025481"/>
            <a:ext cx="10905166" cy="38950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输入：有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向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图</a:t>
            </a:r>
            <a:r>
              <a:rPr sz="2800" b="1" spc="-76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G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),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V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spc="-7" dirty="0">
                <a:latin typeface="Times New Roman"/>
                <a:cs typeface="Times New Roman"/>
              </a:rPr>
              <a:t>{ </a:t>
            </a:r>
            <a:r>
              <a:rPr sz="2800" b="1" dirty="0">
                <a:latin typeface="Times New Roman"/>
                <a:cs typeface="Times New Roman"/>
              </a:rPr>
              <a:t>1, 2, … , </a:t>
            </a:r>
            <a:r>
              <a:rPr sz="2800" b="1" i="1" spc="-7" dirty="0">
                <a:latin typeface="Times New Roman"/>
                <a:cs typeface="Times New Roman"/>
              </a:rPr>
              <a:t>n </a:t>
            </a:r>
            <a:r>
              <a:rPr sz="2800" b="1" spc="-7" dirty="0">
                <a:latin typeface="Times New Roman"/>
                <a:cs typeface="Times New Roman"/>
              </a:rPr>
              <a:t>}</a:t>
            </a:r>
            <a:r>
              <a:rPr sz="2800" b="1" spc="-7" dirty="0">
                <a:latin typeface="宋体"/>
                <a:cs typeface="宋体"/>
              </a:rPr>
              <a:t>，</a:t>
            </a:r>
            <a:r>
              <a:rPr sz="2800" b="1" i="1" spc="-7" dirty="0">
                <a:latin typeface="Times New Roman"/>
                <a:cs typeface="Times New Roman"/>
              </a:rPr>
              <a:t>s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9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输出：从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到每个顶点的最短路径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tabLst>
                <a:tab pos="524074" algn="l"/>
              </a:tabLst>
            </a:pP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	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初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始</a:t>
            </a:r>
            <a:r>
              <a:rPr sz="2800" b="1" spc="-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={1}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indent="-609585">
              <a:lnSpc>
                <a:spcPct val="150000"/>
              </a:lnSpc>
              <a:buFont typeface="Times New Roman"/>
              <a:buAutoNum type="arabicPeriod" startAt="2"/>
              <a:tabLst>
                <a:tab pos="625671" algn="l"/>
                <a:tab pos="626518" algn="l"/>
              </a:tabLst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对于</a:t>
            </a:r>
            <a:r>
              <a:rPr sz="2800" b="1" i="1" spc="-20" dirty="0">
                <a:latin typeface="Times New Roman"/>
                <a:cs typeface="Times New Roman"/>
              </a:rPr>
              <a:t>i</a:t>
            </a:r>
            <a:r>
              <a:rPr sz="2800" b="1" spc="-20" dirty="0">
                <a:latin typeface="Symbol"/>
                <a:cs typeface="Symbol"/>
              </a:rPr>
              <a:t></a:t>
            </a:r>
            <a:r>
              <a:rPr sz="2800" b="1" i="1" spc="-20" dirty="0">
                <a:latin typeface="Times New Roman"/>
                <a:cs typeface="Times New Roman"/>
              </a:rPr>
              <a:t>V</a:t>
            </a:r>
            <a:r>
              <a:rPr sz="2800" b="1" i="1" spc="-20" dirty="0">
                <a:latin typeface="Symbol"/>
                <a:cs typeface="Symbol"/>
              </a:rPr>
              <a:t>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宋体"/>
                <a:cs typeface="宋体"/>
              </a:rPr>
              <a:t>，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计算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2800" b="1" spc="-78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的相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</a:t>
            </a:r>
            <a:r>
              <a:rPr sz="2800" b="1" spc="-80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的最短路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长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度</a:t>
            </a:r>
            <a:r>
              <a:rPr sz="2800" b="1" spc="-77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dist</a:t>
            </a:r>
            <a:r>
              <a:rPr sz="2800" b="1" i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[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]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indent="-609585">
              <a:lnSpc>
                <a:spcPct val="150000"/>
              </a:lnSpc>
              <a:buFont typeface="Times New Roman"/>
              <a:buAutoNum type="arabicPeriod" startAt="3"/>
              <a:tabLst>
                <a:tab pos="625671" algn="l"/>
                <a:tab pos="626518" algn="l"/>
              </a:tabLst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选择</a:t>
            </a:r>
            <a:r>
              <a:rPr sz="2800" b="1" i="1" spc="-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</a:t>
            </a:r>
            <a:r>
              <a:rPr sz="2800" b="1" i="1" spc="-40" dirty="0">
                <a:latin typeface="Symbol"/>
                <a:cs typeface="Symbol"/>
              </a:rPr>
              <a:t>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</a:t>
            </a:r>
            <a:r>
              <a:rPr sz="2800" b="1" spc="-80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dist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值最小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spc="-78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将</a:t>
            </a:r>
            <a:r>
              <a:rPr lang="en-US"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80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r>
              <a:rPr 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加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入</a:t>
            </a:r>
            <a:r>
              <a:rPr sz="2800" b="1" spc="-82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8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S，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修改</a:t>
            </a:r>
            <a:r>
              <a:rPr sz="2800" b="1" i="1" spc="-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</a:t>
            </a:r>
            <a:r>
              <a:rPr sz="2800" b="1" i="1" spc="-40" dirty="0">
                <a:latin typeface="Symbol"/>
                <a:cs typeface="Symbol"/>
              </a:rPr>
              <a:t></a:t>
            </a:r>
            <a:r>
              <a:rPr sz="2800" b="1" i="1" spc="-33" dirty="0">
                <a:latin typeface="Times New Roman"/>
                <a:cs typeface="Times New Roman"/>
              </a:rPr>
              <a:t> </a:t>
            </a:r>
            <a:r>
              <a:rPr sz="28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中顶点的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dist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indent="-507987">
              <a:lnSpc>
                <a:spcPct val="150000"/>
              </a:lnSpc>
              <a:buFont typeface="Times New Roman"/>
              <a:buAutoNum type="arabicPeriod" startAt="4"/>
              <a:tabLst>
                <a:tab pos="625671" algn="l"/>
                <a:tab pos="626518" algn="l"/>
              </a:tabLst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继续上述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过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程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，直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2800" b="1" spc="-78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为止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02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647" y="362053"/>
            <a:ext cx="105156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伪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787" y="1025482"/>
            <a:ext cx="10497699" cy="2889957"/>
          </a:xfrm>
          <a:prstGeom prst="rect">
            <a:avLst/>
          </a:prstGeom>
        </p:spPr>
        <p:txBody>
          <a:bodyPr vert="horz" wrap="square" lIns="0" tIns="35559" rIns="0" bIns="0" rtlCol="0">
            <a:spAutoFit/>
          </a:bodyPr>
          <a:lstStyle/>
          <a:p>
            <a:pPr marL="16933" marR="4203595">
              <a:lnSpc>
                <a:spcPts val="3813"/>
              </a:lnSpc>
              <a:spcBef>
                <a:spcPts val="280"/>
              </a:spcBef>
              <a:tabLst>
                <a:tab pos="524074" algn="l"/>
                <a:tab pos="1137892" algn="l"/>
              </a:tabLst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r>
              <a:rPr sz="2800" b="1" dirty="0">
                <a:latin typeface="宋体"/>
                <a:cs typeface="宋体"/>
              </a:rPr>
              <a:t>	</a:t>
            </a:r>
            <a:r>
              <a:rPr sz="2800" b="1" spc="-7" dirty="0" err="1">
                <a:latin typeface="Times New Roman"/>
                <a:cs typeface="Times New Roman"/>
              </a:rPr>
              <a:t>D</a:t>
            </a:r>
            <a:r>
              <a:rPr sz="2800" b="1" spc="-13" dirty="0" err="1">
                <a:latin typeface="Times New Roman"/>
                <a:cs typeface="Times New Roman"/>
              </a:rPr>
              <a:t>i</a:t>
            </a:r>
            <a:r>
              <a:rPr sz="2800" b="1" spc="-7" dirty="0" err="1">
                <a:latin typeface="Times New Roman"/>
                <a:cs typeface="Times New Roman"/>
              </a:rPr>
              <a:t>j</a:t>
            </a:r>
            <a:r>
              <a:rPr sz="2800" b="1" spc="-13" dirty="0" err="1">
                <a:latin typeface="Times New Roman"/>
                <a:cs typeface="Times New Roman"/>
              </a:rPr>
              <a:t>k</a:t>
            </a:r>
            <a:r>
              <a:rPr sz="2800" b="1" spc="-7" dirty="0" err="1">
                <a:latin typeface="Times New Roman"/>
                <a:cs typeface="Times New Roman"/>
              </a:rPr>
              <a:t>st</a:t>
            </a:r>
            <a:r>
              <a:rPr sz="2800" b="1" dirty="0" err="1">
                <a:latin typeface="Times New Roman"/>
                <a:cs typeface="Times New Roman"/>
              </a:rPr>
              <a:t>ra</a:t>
            </a:r>
            <a:r>
              <a:rPr sz="2800" b="1" dirty="0">
                <a:latin typeface="Times New Roman"/>
                <a:cs typeface="Times New Roman"/>
              </a:rPr>
              <a:t>  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16933" marR="4203595">
              <a:lnSpc>
                <a:spcPts val="3813"/>
              </a:lnSpc>
              <a:spcBef>
                <a:spcPts val="280"/>
              </a:spcBef>
              <a:tabLst>
                <a:tab pos="524074" algn="l"/>
                <a:tab pos="1137892" algn="l"/>
              </a:tabLst>
            </a:pPr>
            <a:r>
              <a:rPr sz="2800" b="1" dirty="0" smtClean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.	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{ 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i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524920" indent="-507987">
              <a:lnSpc>
                <a:spcPts val="3720"/>
              </a:lnSpc>
              <a:buFont typeface="Times New Roman"/>
              <a:buAutoNum type="arabicPeriod" startAt="2"/>
              <a:tabLst>
                <a:tab pos="524074" algn="l"/>
                <a:tab pos="524920" algn="l"/>
              </a:tabLst>
            </a:pPr>
            <a:r>
              <a:rPr sz="2800" b="1" i="1" spc="-7" dirty="0">
                <a:latin typeface="Times New Roman"/>
                <a:cs typeface="Times New Roman"/>
              </a:rPr>
              <a:t>dist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Times New Roman"/>
                <a:cs typeface="Times New Roman"/>
              </a:rPr>
              <a:t>]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pPr marL="524920" indent="-507987">
              <a:buAutoNum type="arabicPeriod" startAt="2"/>
              <a:tabLst>
                <a:tab pos="524074" algn="l"/>
                <a:tab pos="524920" algn="l"/>
                <a:tab pos="1238642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for	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Symbol"/>
                <a:cs typeface="Symbol"/>
              </a:rPr>
              <a:t></a:t>
            </a:r>
            <a:r>
              <a:rPr sz="2800" b="1" i="1" spc="-7" dirty="0">
                <a:latin typeface="Times New Roman"/>
                <a:cs typeface="Times New Roman"/>
              </a:rPr>
              <a:t>V 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{ </a:t>
            </a:r>
            <a:r>
              <a:rPr sz="2800" b="1" i="1" spc="-7" dirty="0">
                <a:latin typeface="Times New Roman"/>
                <a:cs typeface="Times New Roman"/>
              </a:rPr>
              <a:t>s </a:t>
            </a:r>
            <a:r>
              <a:rPr sz="2800" b="1" spc="-7" dirty="0">
                <a:latin typeface="Times New Roman"/>
                <a:cs typeface="Times New Roman"/>
              </a:rPr>
              <a:t>}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3" dirty="0"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  <a:p>
            <a:pPr marL="1032908" indent="-1015975">
              <a:lnSpc>
                <a:spcPts val="3827"/>
              </a:lnSpc>
              <a:spcBef>
                <a:spcPts val="27"/>
              </a:spcBef>
              <a:buFont typeface="Times New Roman"/>
              <a:buAutoNum type="arabicPeriod" startAt="2"/>
              <a:tabLst>
                <a:tab pos="1032061" algn="l"/>
                <a:tab pos="1032908" algn="l"/>
              </a:tabLst>
            </a:pPr>
            <a:r>
              <a:rPr lang="en-US" sz="2800" b="1" i="1" spc="-7" dirty="0" smtClean="0">
                <a:latin typeface="Times New Roman"/>
                <a:cs typeface="Times New Roman"/>
              </a:rPr>
              <a:t>  </a:t>
            </a:r>
            <a:r>
              <a:rPr sz="2800" b="1" i="1" spc="-7" dirty="0" err="1" smtClean="0">
                <a:latin typeface="Times New Roman"/>
                <a:cs typeface="Times New Roman"/>
              </a:rPr>
              <a:t>dist</a:t>
            </a:r>
            <a:r>
              <a:rPr sz="2800" b="1" spc="-7" dirty="0" smtClean="0">
                <a:latin typeface="Times New Roman"/>
                <a:cs typeface="Times New Roman"/>
              </a:rPr>
              <a:t>[</a:t>
            </a:r>
            <a:r>
              <a:rPr sz="2800" b="1" i="1" spc="-7" dirty="0" smtClean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]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 err="1">
                <a:latin typeface="Times New Roman"/>
                <a:cs typeface="Times New Roman"/>
              </a:rPr>
              <a:t>s</a:t>
            </a:r>
            <a:r>
              <a:rPr sz="2800" b="1" spc="-7" dirty="0" err="1">
                <a:latin typeface="Times New Roman"/>
                <a:cs typeface="Times New Roman"/>
              </a:rPr>
              <a:t>,</a:t>
            </a:r>
            <a:r>
              <a:rPr sz="2800" b="1" i="1" spc="-7" dirty="0" err="1">
                <a:latin typeface="Times New Roman"/>
                <a:cs typeface="Times New Roman"/>
              </a:rPr>
              <a:t>i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lang="en-US" sz="2800" b="1" spc="-7" dirty="0" smtClean="0">
                <a:latin typeface="Times New Roman"/>
                <a:cs typeface="Times New Roman"/>
              </a:rPr>
              <a:t>   </a:t>
            </a:r>
            <a:r>
              <a:rPr sz="2800" b="1" spc="-27" dirty="0" smtClean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//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没边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s,i</a:t>
            </a:r>
            <a:r>
              <a:rPr sz="2800" b="1" spc="-7" dirty="0">
                <a:latin typeface="Times New Roman"/>
                <a:cs typeface="Times New Roman"/>
              </a:rPr>
              <a:t>)=</a:t>
            </a:r>
            <a:r>
              <a:rPr sz="2800" b="1" spc="-7" dirty="0">
                <a:latin typeface="Symbol"/>
                <a:cs typeface="Symbol"/>
              </a:rPr>
              <a:t></a:t>
            </a:r>
            <a:endParaRPr sz="2800" dirty="0">
              <a:latin typeface="Symbol"/>
              <a:cs typeface="Symbol"/>
            </a:endParaRPr>
          </a:p>
          <a:p>
            <a:pPr marL="524920" indent="-507987">
              <a:lnSpc>
                <a:spcPts val="3827"/>
              </a:lnSpc>
              <a:buAutoNum type="arabicPeriod" startAt="2"/>
              <a:tabLst>
                <a:tab pos="524074" algn="l"/>
                <a:tab pos="524920" algn="l"/>
                <a:tab pos="1651805" algn="l"/>
                <a:tab pos="3234186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while	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Symbol"/>
                <a:cs typeface="Symbol"/>
              </a:rPr>
              <a:t></a:t>
            </a:r>
            <a:r>
              <a:rPr sz="2800" spc="-7" dirty="0">
                <a:latin typeface="Times New Roman"/>
                <a:cs typeface="Times New Roman"/>
              </a:rPr>
              <a:t>	</a:t>
            </a:r>
            <a:r>
              <a:rPr sz="2800" b="1" spc="-13" dirty="0"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2185" y="5409521"/>
            <a:ext cx="395732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67348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if	</a:t>
            </a:r>
            <a:r>
              <a:rPr sz="2800" b="1" i="1" spc="-7" dirty="0">
                <a:latin typeface="Times New Roman"/>
                <a:cs typeface="Times New Roman"/>
              </a:rPr>
              <a:t>dist 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spc="-7" dirty="0">
                <a:latin typeface="Times New Roman"/>
                <a:cs typeface="Times New Roman"/>
              </a:rPr>
              <a:t>j</a:t>
            </a:r>
            <a:r>
              <a:rPr sz="2800" b="1" spc="-7" dirty="0">
                <a:latin typeface="Times New Roman"/>
                <a:cs typeface="Times New Roman"/>
              </a:rPr>
              <a:t>]+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j,i</a:t>
            </a:r>
            <a:r>
              <a:rPr sz="2800" b="1" spc="-7" dirty="0">
                <a:latin typeface="Times New Roman"/>
                <a:cs typeface="Times New Roman"/>
              </a:rPr>
              <a:t>)&lt;</a:t>
            </a:r>
            <a:r>
              <a:rPr sz="2800" b="1" i="1" spc="-7" dirty="0">
                <a:latin typeface="Times New Roman"/>
                <a:cs typeface="Times New Roman"/>
              </a:rPr>
              <a:t>dist</a:t>
            </a:r>
            <a:r>
              <a:rPr sz="2800" b="1" i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[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126" y="3904908"/>
            <a:ext cx="8435633" cy="24664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3827"/>
              </a:lnSpc>
              <a:spcBef>
                <a:spcPts val="133"/>
              </a:spcBef>
              <a:tabLst>
                <a:tab pos="1032061" algn="l"/>
              </a:tabLst>
            </a:pPr>
            <a:r>
              <a:rPr sz="2800" b="1" dirty="0">
                <a:latin typeface="Times New Roman"/>
                <a:cs typeface="Times New Roman"/>
              </a:rPr>
              <a:t>6.	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i="1" spc="-13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取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相对</a:t>
            </a:r>
            <a:r>
              <a:rPr sz="2800" b="1" i="1" u="heavy" spc="-7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u="heavy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的最短路径顶</a:t>
            </a:r>
            <a:r>
              <a:rPr sz="2800" b="1" u="heavy" spc="-13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点</a:t>
            </a:r>
            <a:r>
              <a:rPr sz="2800" b="1" u="heavy" spc="-813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u="heavy" dirty="0">
                <a:uFill>
                  <a:solidFill>
                    <a:srgbClr val="C00000"/>
                  </a:solidFill>
                </a:u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6933">
              <a:lnSpc>
                <a:spcPts val="3827"/>
              </a:lnSpc>
              <a:tabLst>
                <a:tab pos="1133658" algn="l"/>
              </a:tabLst>
            </a:pPr>
            <a:r>
              <a:rPr sz="2800" b="1" dirty="0">
                <a:latin typeface="Times New Roman"/>
                <a:cs typeface="Times New Roman"/>
              </a:rPr>
              <a:t>7.	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Symbol"/>
                <a:cs typeface="Symbol"/>
              </a:rPr>
              <a:t></a:t>
            </a:r>
            <a:r>
              <a:rPr sz="2800" b="1" spc="-7" dirty="0">
                <a:latin typeface="Times New Roman"/>
                <a:cs typeface="Times New Roman"/>
              </a:rPr>
              <a:t>{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j</a:t>
            </a:r>
            <a:r>
              <a:rPr sz="2800" b="1" spc="-7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16933" marR="3192700">
              <a:lnSpc>
                <a:spcPts val="3827"/>
              </a:lnSpc>
              <a:spcBef>
                <a:spcPts val="133"/>
              </a:spcBef>
              <a:tabLst>
                <a:tab pos="1133658" algn="l"/>
                <a:tab pos="1848227" algn="l"/>
                <a:tab pos="3173227" algn="l"/>
              </a:tabLst>
            </a:pPr>
            <a:r>
              <a:rPr sz="2800" b="1" dirty="0">
                <a:latin typeface="Times New Roman"/>
                <a:cs typeface="Times New Roman"/>
              </a:rPr>
              <a:t>8.	</a:t>
            </a:r>
            <a:r>
              <a:rPr sz="2800" b="1" spc="-7" dirty="0">
                <a:latin typeface="Times New Roman"/>
                <a:cs typeface="Times New Roman"/>
              </a:rPr>
              <a:t>f</a:t>
            </a:r>
            <a:r>
              <a:rPr sz="2800" b="1" dirty="0">
                <a:latin typeface="Times New Roman"/>
                <a:cs typeface="Times New Roman"/>
              </a:rPr>
              <a:t>or	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Symbol"/>
                <a:cs typeface="Symbol"/>
              </a:rPr>
              <a:t>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spc="-13" dirty="0">
                <a:latin typeface="Times New Roman"/>
                <a:cs typeface="Times New Roman"/>
              </a:rPr>
              <a:t>do </a:t>
            </a:r>
            <a:endParaRPr lang="en-US" sz="2800" b="1" spc="-13" dirty="0" smtClean="0">
              <a:latin typeface="Times New Roman"/>
              <a:cs typeface="Times New Roman"/>
            </a:endParaRPr>
          </a:p>
          <a:p>
            <a:pPr marL="16933" marR="3192700">
              <a:lnSpc>
                <a:spcPts val="3827"/>
              </a:lnSpc>
              <a:spcBef>
                <a:spcPts val="133"/>
              </a:spcBef>
              <a:tabLst>
                <a:tab pos="1133658" algn="l"/>
                <a:tab pos="1848227" algn="l"/>
                <a:tab pos="3173227" algn="l"/>
              </a:tabLst>
            </a:pPr>
            <a:r>
              <a:rPr sz="2800" b="1" dirty="0" smtClean="0">
                <a:latin typeface="Times New Roman"/>
                <a:cs typeface="Times New Roman"/>
              </a:rPr>
              <a:t>9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lnSpc>
                <a:spcPts val="3653"/>
              </a:lnSpc>
            </a:pPr>
            <a:r>
              <a:rPr sz="2800" b="1" dirty="0">
                <a:latin typeface="Times New Roman"/>
                <a:cs typeface="Times New Roman"/>
              </a:rPr>
              <a:t>10.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2187" y="5890089"/>
            <a:ext cx="4549139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Times New Roman"/>
                <a:cs typeface="Times New Roman"/>
              </a:rPr>
              <a:t>then </a:t>
            </a:r>
            <a:r>
              <a:rPr sz="2800" b="1" i="1" spc="-7" dirty="0">
                <a:latin typeface="Times New Roman"/>
                <a:cs typeface="Times New Roman"/>
              </a:rPr>
              <a:t>dist 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]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i="1" spc="-7" dirty="0">
                <a:latin typeface="Times New Roman"/>
                <a:cs typeface="Times New Roman"/>
              </a:rPr>
              <a:t>dist</a:t>
            </a:r>
            <a:r>
              <a:rPr sz="2800" b="1" i="1" spc="-2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spc="-7" dirty="0">
                <a:latin typeface="Times New Roman"/>
                <a:cs typeface="Times New Roman"/>
              </a:rPr>
              <a:t>j</a:t>
            </a:r>
            <a:r>
              <a:rPr sz="2800" b="1" spc="-7" dirty="0">
                <a:latin typeface="Times New Roman"/>
                <a:cs typeface="Times New Roman"/>
              </a:rPr>
              <a:t>]+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j,i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93920" y="4750420"/>
            <a:ext cx="1523153" cy="1016000"/>
          </a:xfrm>
          <a:custGeom>
            <a:avLst/>
            <a:gdLst/>
            <a:ahLst/>
            <a:cxnLst/>
            <a:rect l="l" t="t" r="r" b="b"/>
            <a:pathLst>
              <a:path w="1142364" h="762000">
                <a:moveTo>
                  <a:pt x="891859" y="696079"/>
                </a:moveTo>
                <a:lnTo>
                  <a:pt x="249914" y="696079"/>
                </a:lnTo>
                <a:lnTo>
                  <a:pt x="295399" y="714679"/>
                </a:lnTo>
                <a:lnTo>
                  <a:pt x="342694" y="730200"/>
                </a:lnTo>
                <a:lnTo>
                  <a:pt x="391472" y="742640"/>
                </a:lnTo>
                <a:lnTo>
                  <a:pt x="441407" y="752000"/>
                </a:lnTo>
                <a:lnTo>
                  <a:pt x="492173" y="758277"/>
                </a:lnTo>
                <a:lnTo>
                  <a:pt x="543444" y="761472"/>
                </a:lnTo>
                <a:lnTo>
                  <a:pt x="594893" y="761584"/>
                </a:lnTo>
                <a:lnTo>
                  <a:pt x="646195" y="758613"/>
                </a:lnTo>
                <a:lnTo>
                  <a:pt x="697022" y="752557"/>
                </a:lnTo>
                <a:lnTo>
                  <a:pt x="747049" y="743416"/>
                </a:lnTo>
                <a:lnTo>
                  <a:pt x="795950" y="731189"/>
                </a:lnTo>
                <a:lnTo>
                  <a:pt x="843398" y="715876"/>
                </a:lnTo>
                <a:lnTo>
                  <a:pt x="889067" y="697476"/>
                </a:lnTo>
                <a:lnTo>
                  <a:pt x="891859" y="696079"/>
                </a:lnTo>
                <a:close/>
              </a:path>
              <a:path w="1142364" h="762000">
                <a:moveTo>
                  <a:pt x="585045" y="0"/>
                </a:moveTo>
                <a:lnTo>
                  <a:pt x="536099" y="567"/>
                </a:lnTo>
                <a:lnTo>
                  <a:pt x="487191" y="3949"/>
                </a:lnTo>
                <a:lnTo>
                  <a:pt x="438601" y="10181"/>
                </a:lnTo>
                <a:lnTo>
                  <a:pt x="390608" y="19301"/>
                </a:lnTo>
                <a:lnTo>
                  <a:pt x="343492" y="31345"/>
                </a:lnTo>
                <a:lnTo>
                  <a:pt x="297534" y="46351"/>
                </a:lnTo>
                <a:lnTo>
                  <a:pt x="253013" y="64355"/>
                </a:lnTo>
                <a:lnTo>
                  <a:pt x="203141" y="89314"/>
                </a:lnTo>
                <a:lnTo>
                  <a:pt x="158486" y="117139"/>
                </a:lnTo>
                <a:lnTo>
                  <a:pt x="119143" y="147507"/>
                </a:lnTo>
                <a:lnTo>
                  <a:pt x="85207" y="180096"/>
                </a:lnTo>
                <a:lnTo>
                  <a:pt x="56776" y="214584"/>
                </a:lnTo>
                <a:lnTo>
                  <a:pt x="33944" y="250647"/>
                </a:lnTo>
                <a:lnTo>
                  <a:pt x="16807" y="287964"/>
                </a:lnTo>
                <a:lnTo>
                  <a:pt x="5460" y="326212"/>
                </a:lnTo>
                <a:lnTo>
                  <a:pt x="0" y="365068"/>
                </a:lnTo>
                <a:lnTo>
                  <a:pt x="521" y="404211"/>
                </a:lnTo>
                <a:lnTo>
                  <a:pt x="7120" y="443317"/>
                </a:lnTo>
                <a:lnTo>
                  <a:pt x="19893" y="482064"/>
                </a:lnTo>
                <a:lnTo>
                  <a:pt x="38934" y="520131"/>
                </a:lnTo>
                <a:lnTo>
                  <a:pt x="64340" y="557193"/>
                </a:lnTo>
                <a:lnTo>
                  <a:pt x="96206" y="592929"/>
                </a:lnTo>
                <a:lnTo>
                  <a:pt x="4753" y="755972"/>
                </a:lnTo>
                <a:lnTo>
                  <a:pt x="249914" y="696079"/>
                </a:lnTo>
                <a:lnTo>
                  <a:pt x="891859" y="696079"/>
                </a:lnTo>
                <a:lnTo>
                  <a:pt x="938939" y="672516"/>
                </a:lnTo>
                <a:lnTo>
                  <a:pt x="983595" y="644691"/>
                </a:lnTo>
                <a:lnTo>
                  <a:pt x="1022938" y="614323"/>
                </a:lnTo>
                <a:lnTo>
                  <a:pt x="1056873" y="581734"/>
                </a:lnTo>
                <a:lnTo>
                  <a:pt x="1085305" y="547247"/>
                </a:lnTo>
                <a:lnTo>
                  <a:pt x="1108137" y="511183"/>
                </a:lnTo>
                <a:lnTo>
                  <a:pt x="1125275" y="473867"/>
                </a:lnTo>
                <a:lnTo>
                  <a:pt x="1136622" y="435619"/>
                </a:lnTo>
                <a:lnTo>
                  <a:pt x="1142083" y="396762"/>
                </a:lnTo>
                <a:lnTo>
                  <a:pt x="1141563" y="357620"/>
                </a:lnTo>
                <a:lnTo>
                  <a:pt x="1134965" y="318514"/>
                </a:lnTo>
                <a:lnTo>
                  <a:pt x="1122194" y="279766"/>
                </a:lnTo>
                <a:lnTo>
                  <a:pt x="1103154" y="241700"/>
                </a:lnTo>
                <a:lnTo>
                  <a:pt x="1077751" y="204638"/>
                </a:lnTo>
                <a:lnTo>
                  <a:pt x="1045887" y="168902"/>
                </a:lnTo>
                <a:lnTo>
                  <a:pt x="1014999" y="140955"/>
                </a:lnTo>
                <a:lnTo>
                  <a:pt x="981071" y="115416"/>
                </a:lnTo>
                <a:lnTo>
                  <a:pt x="944381" y="92322"/>
                </a:lnTo>
                <a:lnTo>
                  <a:pt x="905210" y="71709"/>
                </a:lnTo>
                <a:lnTo>
                  <a:pt x="863837" y="53614"/>
                </a:lnTo>
                <a:lnTo>
                  <a:pt x="820543" y="38075"/>
                </a:lnTo>
                <a:lnTo>
                  <a:pt x="775607" y="25127"/>
                </a:lnTo>
                <a:lnTo>
                  <a:pt x="729310" y="14809"/>
                </a:lnTo>
                <a:lnTo>
                  <a:pt x="681930" y="7158"/>
                </a:lnTo>
                <a:lnTo>
                  <a:pt x="633749" y="2209"/>
                </a:lnTo>
                <a:lnTo>
                  <a:pt x="585045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3920" y="4750420"/>
            <a:ext cx="1523153" cy="1016000"/>
          </a:xfrm>
          <a:custGeom>
            <a:avLst/>
            <a:gdLst/>
            <a:ahLst/>
            <a:cxnLst/>
            <a:rect l="l" t="t" r="r" b="b"/>
            <a:pathLst>
              <a:path w="1142364" h="762000">
                <a:moveTo>
                  <a:pt x="4753" y="755972"/>
                </a:moveTo>
                <a:lnTo>
                  <a:pt x="96206" y="592929"/>
                </a:lnTo>
                <a:lnTo>
                  <a:pt x="64340" y="557193"/>
                </a:lnTo>
                <a:lnTo>
                  <a:pt x="38934" y="520131"/>
                </a:lnTo>
                <a:lnTo>
                  <a:pt x="19893" y="482064"/>
                </a:lnTo>
                <a:lnTo>
                  <a:pt x="7120" y="443317"/>
                </a:lnTo>
                <a:lnTo>
                  <a:pt x="521" y="404211"/>
                </a:lnTo>
                <a:lnTo>
                  <a:pt x="0" y="365068"/>
                </a:lnTo>
                <a:lnTo>
                  <a:pt x="5460" y="326212"/>
                </a:lnTo>
                <a:lnTo>
                  <a:pt x="16807" y="287964"/>
                </a:lnTo>
                <a:lnTo>
                  <a:pt x="33944" y="250647"/>
                </a:lnTo>
                <a:lnTo>
                  <a:pt x="56776" y="214584"/>
                </a:lnTo>
                <a:lnTo>
                  <a:pt x="85207" y="180096"/>
                </a:lnTo>
                <a:lnTo>
                  <a:pt x="119143" y="147507"/>
                </a:lnTo>
                <a:lnTo>
                  <a:pt x="158486" y="117139"/>
                </a:lnTo>
                <a:lnTo>
                  <a:pt x="203141" y="89314"/>
                </a:lnTo>
                <a:lnTo>
                  <a:pt x="253013" y="64355"/>
                </a:lnTo>
                <a:lnTo>
                  <a:pt x="297534" y="46351"/>
                </a:lnTo>
                <a:lnTo>
                  <a:pt x="343492" y="31345"/>
                </a:lnTo>
                <a:lnTo>
                  <a:pt x="390608" y="19301"/>
                </a:lnTo>
                <a:lnTo>
                  <a:pt x="438601" y="10181"/>
                </a:lnTo>
                <a:lnTo>
                  <a:pt x="487191" y="3949"/>
                </a:lnTo>
                <a:lnTo>
                  <a:pt x="536099" y="567"/>
                </a:lnTo>
                <a:lnTo>
                  <a:pt x="585045" y="0"/>
                </a:lnTo>
                <a:lnTo>
                  <a:pt x="633749" y="2209"/>
                </a:lnTo>
                <a:lnTo>
                  <a:pt x="681930" y="7158"/>
                </a:lnTo>
                <a:lnTo>
                  <a:pt x="729310" y="14809"/>
                </a:lnTo>
                <a:lnTo>
                  <a:pt x="775607" y="25127"/>
                </a:lnTo>
                <a:lnTo>
                  <a:pt x="820543" y="38075"/>
                </a:lnTo>
                <a:lnTo>
                  <a:pt x="863837" y="53614"/>
                </a:lnTo>
                <a:lnTo>
                  <a:pt x="905210" y="71709"/>
                </a:lnTo>
                <a:lnTo>
                  <a:pt x="944381" y="92322"/>
                </a:lnTo>
                <a:lnTo>
                  <a:pt x="981071" y="115416"/>
                </a:lnTo>
                <a:lnTo>
                  <a:pt x="1014999" y="140955"/>
                </a:lnTo>
                <a:lnTo>
                  <a:pt x="1045887" y="168902"/>
                </a:lnTo>
                <a:lnTo>
                  <a:pt x="1077751" y="204638"/>
                </a:lnTo>
                <a:lnTo>
                  <a:pt x="1103154" y="241700"/>
                </a:lnTo>
                <a:lnTo>
                  <a:pt x="1122194" y="279766"/>
                </a:lnTo>
                <a:lnTo>
                  <a:pt x="1134965" y="318514"/>
                </a:lnTo>
                <a:lnTo>
                  <a:pt x="1141563" y="357620"/>
                </a:lnTo>
                <a:lnTo>
                  <a:pt x="1142083" y="396762"/>
                </a:lnTo>
                <a:lnTo>
                  <a:pt x="1136622" y="435619"/>
                </a:lnTo>
                <a:lnTo>
                  <a:pt x="1125275" y="473867"/>
                </a:lnTo>
                <a:lnTo>
                  <a:pt x="1108137" y="511183"/>
                </a:lnTo>
                <a:lnTo>
                  <a:pt x="1085305" y="547247"/>
                </a:lnTo>
                <a:lnTo>
                  <a:pt x="1056873" y="581734"/>
                </a:lnTo>
                <a:lnTo>
                  <a:pt x="1022938" y="614323"/>
                </a:lnTo>
                <a:lnTo>
                  <a:pt x="983595" y="644691"/>
                </a:lnTo>
                <a:lnTo>
                  <a:pt x="938939" y="672516"/>
                </a:lnTo>
                <a:lnTo>
                  <a:pt x="889067" y="697476"/>
                </a:lnTo>
                <a:lnTo>
                  <a:pt x="843398" y="715876"/>
                </a:lnTo>
                <a:lnTo>
                  <a:pt x="795950" y="731189"/>
                </a:lnTo>
                <a:lnTo>
                  <a:pt x="747049" y="743416"/>
                </a:lnTo>
                <a:lnTo>
                  <a:pt x="697022" y="752557"/>
                </a:lnTo>
                <a:lnTo>
                  <a:pt x="646195" y="758613"/>
                </a:lnTo>
                <a:lnTo>
                  <a:pt x="594893" y="761584"/>
                </a:lnTo>
                <a:lnTo>
                  <a:pt x="543444" y="761472"/>
                </a:lnTo>
                <a:lnTo>
                  <a:pt x="492173" y="758277"/>
                </a:lnTo>
                <a:lnTo>
                  <a:pt x="441407" y="752000"/>
                </a:lnTo>
                <a:lnTo>
                  <a:pt x="391472" y="742640"/>
                </a:lnTo>
                <a:lnTo>
                  <a:pt x="342694" y="730200"/>
                </a:lnTo>
                <a:lnTo>
                  <a:pt x="295399" y="714679"/>
                </a:lnTo>
                <a:lnTo>
                  <a:pt x="249914" y="696079"/>
                </a:lnTo>
                <a:lnTo>
                  <a:pt x="4753" y="755972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3479" y="4884251"/>
            <a:ext cx="802640" cy="7433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4824">
              <a:lnSpc>
                <a:spcPts val="2793"/>
              </a:lnSpc>
              <a:spcBef>
                <a:spcPts val="133"/>
              </a:spcBef>
            </a:pPr>
            <a:r>
              <a:rPr sz="2400" b="1" spc="-7" dirty="0">
                <a:solidFill>
                  <a:srgbClr val="FFFFFF"/>
                </a:solidFill>
                <a:latin typeface="宋体"/>
                <a:cs typeface="宋体"/>
              </a:rPr>
              <a:t>更新</a:t>
            </a:r>
            <a:endParaRPr sz="2400">
              <a:latin typeface="宋体"/>
              <a:cs typeface="宋体"/>
            </a:endParaRPr>
          </a:p>
          <a:p>
            <a:pPr marL="16933">
              <a:lnSpc>
                <a:spcPts val="2793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2400" b="1" spc="-27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13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4031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 txBox="1"/>
          <p:nvPr/>
        </p:nvSpPr>
        <p:spPr>
          <a:xfrm>
            <a:off x="2777066" y="2443111"/>
            <a:ext cx="1928707" cy="2970898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70272" marR="6773">
              <a:spcBef>
                <a:spcPts val="127"/>
              </a:spcBef>
            </a:pP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[1]=0  </a:t>
            </a:r>
            <a:r>
              <a:rPr sz="3200" b="1" i="1" spc="-7" dirty="0">
                <a:latin typeface="Times New Roman"/>
                <a:cs typeface="Times New Roman"/>
              </a:rPr>
              <a:t>d</a:t>
            </a:r>
            <a:r>
              <a:rPr sz="3200" b="1" i="1" spc="-13" dirty="0">
                <a:latin typeface="Times New Roman"/>
                <a:cs typeface="Times New Roman"/>
              </a:rPr>
              <a:t>i</a:t>
            </a:r>
            <a:r>
              <a:rPr sz="3200" b="1" i="1" spc="-7" dirty="0">
                <a:latin typeface="Times New Roman"/>
                <a:cs typeface="Times New Roman"/>
              </a:rPr>
              <a:t>st</a:t>
            </a:r>
            <a:r>
              <a:rPr sz="3200" b="1" spc="-13" dirty="0">
                <a:latin typeface="Times New Roman"/>
                <a:cs typeface="Times New Roman"/>
              </a:rPr>
              <a:t>[</a:t>
            </a:r>
            <a:r>
              <a:rPr sz="3200" b="1" spc="-7" dirty="0">
                <a:latin typeface="Times New Roman"/>
                <a:cs typeface="Times New Roman"/>
              </a:rPr>
              <a:t>2</a:t>
            </a:r>
            <a:r>
              <a:rPr sz="3200" b="1" spc="-13" dirty="0">
                <a:latin typeface="Times New Roman"/>
                <a:cs typeface="Times New Roman"/>
              </a:rPr>
              <a:t>]</a:t>
            </a:r>
            <a:r>
              <a:rPr sz="3200" b="1" spc="-7" dirty="0">
                <a:latin typeface="Times New Roman"/>
                <a:cs typeface="Times New Roman"/>
              </a:rPr>
              <a:t>=10</a:t>
            </a:r>
            <a:endParaRPr sz="3200" dirty="0">
              <a:latin typeface="Times New Roman"/>
              <a:cs typeface="Times New Roman"/>
            </a:endParaRPr>
          </a:p>
          <a:p>
            <a:pPr marL="70272" indent="-54185"/>
            <a:r>
              <a:rPr sz="3200" b="1" i="1" u="heavy" spc="-453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i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dist</a:t>
            </a:r>
            <a:r>
              <a:rPr sz="32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[6]=3</a:t>
            </a:r>
            <a:endParaRPr sz="3200" dirty="0">
              <a:latin typeface="Times New Roman"/>
              <a:cs typeface="Times New Roman"/>
            </a:endParaRPr>
          </a:p>
          <a:p>
            <a:pPr marL="70272" marR="133770" algn="just">
              <a:spcBef>
                <a:spcPts val="20"/>
              </a:spcBef>
            </a:pPr>
            <a:r>
              <a:rPr sz="3200" b="1" i="1" spc="-7" dirty="0">
                <a:latin typeface="Times New Roman"/>
                <a:cs typeface="Times New Roman"/>
              </a:rPr>
              <a:t>d</a:t>
            </a:r>
            <a:r>
              <a:rPr sz="3200" b="1" i="1" spc="-13" dirty="0">
                <a:latin typeface="Times New Roman"/>
                <a:cs typeface="Times New Roman"/>
              </a:rPr>
              <a:t>i</a:t>
            </a:r>
            <a:r>
              <a:rPr sz="3200" b="1" i="1" spc="-7" dirty="0">
                <a:latin typeface="Times New Roman"/>
                <a:cs typeface="Times New Roman"/>
              </a:rPr>
              <a:t>st</a:t>
            </a:r>
            <a:r>
              <a:rPr sz="3200" b="1" spc="-7" dirty="0">
                <a:latin typeface="Times New Roman"/>
                <a:cs typeface="Times New Roman"/>
              </a:rPr>
              <a:t>[3]</a:t>
            </a:r>
            <a:r>
              <a:rPr sz="3200" b="1" spc="-13" dirty="0">
                <a:latin typeface="Times New Roman"/>
                <a:cs typeface="Times New Roman"/>
              </a:rPr>
              <a:t>=</a:t>
            </a:r>
            <a:r>
              <a:rPr sz="3200" b="1" spc="-7" dirty="0">
                <a:latin typeface="Symbol"/>
                <a:cs typeface="Symbol"/>
              </a:rPr>
              <a:t></a:t>
            </a:r>
            <a:r>
              <a:rPr sz="3200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d</a:t>
            </a:r>
            <a:r>
              <a:rPr sz="3200" b="1" i="1" spc="-13" dirty="0">
                <a:latin typeface="Times New Roman"/>
                <a:cs typeface="Times New Roman"/>
              </a:rPr>
              <a:t>i</a:t>
            </a:r>
            <a:r>
              <a:rPr sz="3200" b="1" i="1" spc="-7" dirty="0">
                <a:latin typeface="Times New Roman"/>
                <a:cs typeface="Times New Roman"/>
              </a:rPr>
              <a:t>st</a:t>
            </a:r>
            <a:r>
              <a:rPr sz="3200" b="1" spc="-7" dirty="0">
                <a:latin typeface="Times New Roman"/>
                <a:cs typeface="Times New Roman"/>
              </a:rPr>
              <a:t>[4]</a:t>
            </a:r>
            <a:r>
              <a:rPr sz="3200" b="1" spc="-13" dirty="0">
                <a:latin typeface="Times New Roman"/>
                <a:cs typeface="Times New Roman"/>
              </a:rPr>
              <a:t>=</a:t>
            </a:r>
            <a:r>
              <a:rPr sz="3200" b="1" spc="-7" dirty="0">
                <a:latin typeface="Symbol"/>
                <a:cs typeface="Symbol"/>
              </a:rPr>
              <a:t></a:t>
            </a:r>
            <a:r>
              <a:rPr sz="3200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d</a:t>
            </a:r>
            <a:r>
              <a:rPr sz="3200" b="1" i="1" spc="-13" dirty="0">
                <a:latin typeface="Times New Roman"/>
                <a:cs typeface="Times New Roman"/>
              </a:rPr>
              <a:t>i</a:t>
            </a:r>
            <a:r>
              <a:rPr sz="3200" b="1" i="1" spc="-7" dirty="0">
                <a:latin typeface="Times New Roman"/>
                <a:cs typeface="Times New Roman"/>
              </a:rPr>
              <a:t>st</a:t>
            </a:r>
            <a:r>
              <a:rPr sz="3200" b="1" spc="-7" dirty="0">
                <a:latin typeface="Times New Roman"/>
                <a:cs typeface="Times New Roman"/>
              </a:rPr>
              <a:t>[5]</a:t>
            </a:r>
            <a:r>
              <a:rPr sz="3200" b="1" spc="-13" dirty="0">
                <a:latin typeface="Times New Roman"/>
                <a:cs typeface="Times New Roman"/>
              </a:rPr>
              <a:t>=</a:t>
            </a:r>
            <a:r>
              <a:rPr sz="3200" b="1" spc="-7" dirty="0">
                <a:latin typeface="Symbol"/>
                <a:cs typeface="Symbol"/>
              </a:rPr>
              <a:t></a:t>
            </a:r>
            <a:endParaRPr sz="3200" dirty="0">
              <a:latin typeface="Symbol"/>
              <a:cs typeface="Symbo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2283121" y="164751"/>
            <a:ext cx="7479444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运行实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733635" y="1137665"/>
            <a:ext cx="10454317" cy="12995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3820"/>
              </a:lnSpc>
              <a:spcBef>
                <a:spcPts val="133"/>
              </a:spcBef>
            </a:pPr>
            <a:r>
              <a:rPr sz="3200" b="1" spc="-7" dirty="0">
                <a:latin typeface="宋体"/>
                <a:cs typeface="宋体"/>
              </a:rPr>
              <a:t>输入</a:t>
            </a:r>
            <a:r>
              <a:rPr sz="3200" b="1" spc="-40" dirty="0">
                <a:latin typeface="宋体"/>
                <a:cs typeface="宋体"/>
              </a:rPr>
              <a:t>：</a:t>
            </a:r>
            <a:r>
              <a:rPr sz="3200" b="1" i="1" spc="-40" dirty="0">
                <a:latin typeface="Times New Roman"/>
                <a:cs typeface="Times New Roman"/>
              </a:rPr>
              <a:t>G</a:t>
            </a:r>
            <a:r>
              <a:rPr sz="3200" b="1" spc="-40" dirty="0">
                <a:latin typeface="Times New Roman"/>
                <a:cs typeface="Times New Roman"/>
              </a:rPr>
              <a:t>=&lt;</a:t>
            </a:r>
            <a:r>
              <a:rPr sz="3200" b="1" i="1" spc="-40" dirty="0">
                <a:latin typeface="Times New Roman"/>
                <a:cs typeface="Times New Roman"/>
              </a:rPr>
              <a:t>V,E,W</a:t>
            </a:r>
            <a:r>
              <a:rPr sz="3200" b="1" spc="-40" dirty="0">
                <a:latin typeface="Times New Roman"/>
                <a:cs typeface="Times New Roman"/>
              </a:rPr>
              <a:t>&gt;</a:t>
            </a:r>
            <a:r>
              <a:rPr sz="3200" b="1" spc="-40" dirty="0">
                <a:latin typeface="宋体"/>
                <a:cs typeface="宋体"/>
              </a:rPr>
              <a:t>，</a:t>
            </a:r>
            <a:r>
              <a:rPr sz="3200" b="1" spc="-7" dirty="0" err="1">
                <a:latin typeface="宋体"/>
                <a:cs typeface="宋体"/>
              </a:rPr>
              <a:t>源</a:t>
            </a:r>
            <a:r>
              <a:rPr sz="3200" b="1" spc="-13" dirty="0" err="1">
                <a:latin typeface="宋体"/>
                <a:cs typeface="宋体"/>
              </a:rPr>
              <a:t>点</a:t>
            </a:r>
            <a:r>
              <a:rPr sz="3200" b="1" spc="-880" dirty="0">
                <a:latin typeface="宋体"/>
                <a:cs typeface="宋体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1</a:t>
            </a:r>
            <a:r>
              <a:rPr lang="zh-CN" altLang="en-US" sz="3200" dirty="0">
                <a:latin typeface="Times New Roman"/>
                <a:cs typeface="Times New Roman"/>
              </a:rPr>
              <a:t>，</a:t>
            </a:r>
            <a:r>
              <a:rPr sz="3200" b="1" i="1" dirty="0" smtClean="0">
                <a:latin typeface="Times New Roman"/>
                <a:cs typeface="Times New Roman"/>
              </a:rPr>
              <a:t>V</a:t>
            </a:r>
            <a:r>
              <a:rPr sz="3200" b="1" dirty="0">
                <a:latin typeface="Times New Roman"/>
                <a:cs typeface="Times New Roman"/>
              </a:rPr>
              <a:t>={</a:t>
            </a:r>
            <a:r>
              <a:rPr sz="3200" b="1" dirty="0" smtClean="0">
                <a:latin typeface="Times New Roman"/>
                <a:cs typeface="Times New Roman"/>
              </a:rPr>
              <a:t>1,2,3,4,5,6}</a:t>
            </a:r>
            <a:r>
              <a:rPr lang="zh-CN" altLang="en-US" sz="3200" dirty="0" smtClean="0">
                <a:latin typeface="Times New Roman"/>
                <a:cs typeface="Times New Roman"/>
              </a:rPr>
              <a:t>，</a:t>
            </a:r>
            <a:endParaRPr lang="en-US" altLang="zh-CN" sz="3200" dirty="0" smtClean="0">
              <a:latin typeface="Times New Roman"/>
              <a:cs typeface="Times New Roman"/>
            </a:endParaRPr>
          </a:p>
          <a:p>
            <a:pPr marL="16933">
              <a:lnSpc>
                <a:spcPts val="3820"/>
              </a:lnSpc>
              <a:spcBef>
                <a:spcPts val="2400"/>
              </a:spcBef>
            </a:pPr>
            <a:r>
              <a:rPr lang="en-US" sz="3200" b="1" i="1" spc="-7" dirty="0">
                <a:latin typeface="Times New Roman"/>
                <a:cs typeface="Times New Roman"/>
              </a:rPr>
              <a:t> </a:t>
            </a:r>
            <a:r>
              <a:rPr lang="en-US" sz="3200" b="1" i="1" spc="-7" dirty="0" smtClean="0">
                <a:latin typeface="Times New Roman"/>
                <a:cs typeface="Times New Roman"/>
              </a:rPr>
              <a:t>                    </a:t>
            </a:r>
            <a:r>
              <a:rPr sz="3500" b="1" i="1" spc="-7" dirty="0" smtClean="0">
                <a:latin typeface="Times New Roman"/>
                <a:cs typeface="Times New Roman"/>
              </a:rPr>
              <a:t>S</a:t>
            </a:r>
            <a:r>
              <a:rPr sz="3500" b="1" spc="-7" dirty="0">
                <a:latin typeface="Times New Roman"/>
                <a:cs typeface="Times New Roman"/>
              </a:rPr>
              <a:t>={1},</a:t>
            </a:r>
            <a:endParaRPr sz="3500" dirty="0">
              <a:latin typeface="Times New Roman"/>
              <a:cs typeface="Times New Roman"/>
            </a:endParaRPr>
          </a:p>
        </p:txBody>
      </p:sp>
      <p:sp>
        <p:nvSpPr>
          <p:cNvPr id="91" name="object 3"/>
          <p:cNvSpPr/>
          <p:nvPr/>
        </p:nvSpPr>
        <p:spPr>
          <a:xfrm>
            <a:off x="6637233" y="3851017"/>
            <a:ext cx="1344507" cy="736600"/>
          </a:xfrm>
          <a:custGeom>
            <a:avLst/>
            <a:gdLst/>
            <a:ahLst/>
            <a:cxnLst/>
            <a:rect l="l" t="t" r="r" b="b"/>
            <a:pathLst>
              <a:path w="1008379" h="552450">
                <a:moveTo>
                  <a:pt x="0" y="0"/>
                </a:moveTo>
                <a:lnTo>
                  <a:pt x="1007935" y="55210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4"/>
          <p:cNvSpPr/>
          <p:nvPr/>
        </p:nvSpPr>
        <p:spPr>
          <a:xfrm>
            <a:off x="7941887" y="4534481"/>
            <a:ext cx="114300" cy="93980"/>
          </a:xfrm>
          <a:custGeom>
            <a:avLst/>
            <a:gdLst/>
            <a:ahLst/>
            <a:cxnLst/>
            <a:rect l="l" t="t" r="r" b="b"/>
            <a:pathLst>
              <a:path w="85725" h="70485">
                <a:moveTo>
                  <a:pt x="36601" y="0"/>
                </a:moveTo>
                <a:lnTo>
                  <a:pt x="0" y="66827"/>
                </a:lnTo>
                <a:lnTo>
                  <a:pt x="85140" y="70015"/>
                </a:lnTo>
                <a:lnTo>
                  <a:pt x="36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5"/>
          <p:cNvSpPr/>
          <p:nvPr/>
        </p:nvSpPr>
        <p:spPr>
          <a:xfrm>
            <a:off x="6593020" y="2930013"/>
            <a:ext cx="221827" cy="356447"/>
          </a:xfrm>
          <a:custGeom>
            <a:avLst/>
            <a:gdLst/>
            <a:ahLst/>
            <a:cxnLst/>
            <a:rect l="l" t="t" r="r" b="b"/>
            <a:pathLst>
              <a:path w="166370" h="267335">
                <a:moveTo>
                  <a:pt x="166128" y="0"/>
                </a:moveTo>
                <a:lnTo>
                  <a:pt x="0" y="267335"/>
                </a:lnTo>
              </a:path>
            </a:pathLst>
          </a:custGeom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6"/>
          <p:cNvSpPr/>
          <p:nvPr/>
        </p:nvSpPr>
        <p:spPr>
          <a:xfrm>
            <a:off x="6525978" y="3224664"/>
            <a:ext cx="145627" cy="170180"/>
          </a:xfrm>
          <a:custGeom>
            <a:avLst/>
            <a:gdLst/>
            <a:ahLst/>
            <a:cxnLst/>
            <a:rect l="l" t="t" r="r" b="b"/>
            <a:pathLst>
              <a:path w="109220" h="127635">
                <a:moveTo>
                  <a:pt x="11785" y="0"/>
                </a:moveTo>
                <a:lnTo>
                  <a:pt x="0" y="127241"/>
                </a:lnTo>
                <a:lnTo>
                  <a:pt x="108864" y="60325"/>
                </a:lnTo>
                <a:lnTo>
                  <a:pt x="11785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0"/>
          <p:cNvSpPr/>
          <p:nvPr/>
        </p:nvSpPr>
        <p:spPr>
          <a:xfrm>
            <a:off x="6702257" y="2394075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11"/>
          <p:cNvSpPr/>
          <p:nvPr/>
        </p:nvSpPr>
        <p:spPr>
          <a:xfrm>
            <a:off x="6702257" y="2394075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2"/>
          <p:cNvSpPr/>
          <p:nvPr/>
        </p:nvSpPr>
        <p:spPr>
          <a:xfrm>
            <a:off x="6146504" y="339077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3"/>
          <p:cNvSpPr/>
          <p:nvPr/>
        </p:nvSpPr>
        <p:spPr>
          <a:xfrm>
            <a:off x="6146504" y="339077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4"/>
          <p:cNvSpPr/>
          <p:nvPr/>
        </p:nvSpPr>
        <p:spPr>
          <a:xfrm>
            <a:off x="6628089" y="4463384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5"/>
          <p:cNvSpPr/>
          <p:nvPr/>
        </p:nvSpPr>
        <p:spPr>
          <a:xfrm>
            <a:off x="6628089" y="4464681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6"/>
          <p:cNvSpPr/>
          <p:nvPr/>
        </p:nvSpPr>
        <p:spPr>
          <a:xfrm>
            <a:off x="8070809" y="4464681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216027" y="0"/>
                </a:moveTo>
                <a:lnTo>
                  <a:pt x="166495" y="5343"/>
                </a:lnTo>
                <a:lnTo>
                  <a:pt x="121025" y="20562"/>
                </a:lnTo>
                <a:lnTo>
                  <a:pt x="80915" y="44445"/>
                </a:lnTo>
                <a:lnTo>
                  <a:pt x="47460" y="75775"/>
                </a:lnTo>
                <a:lnTo>
                  <a:pt x="21958" y="113339"/>
                </a:lnTo>
                <a:lnTo>
                  <a:pt x="5705" y="155922"/>
                </a:lnTo>
                <a:lnTo>
                  <a:pt x="0" y="202311"/>
                </a:lnTo>
                <a:lnTo>
                  <a:pt x="5705" y="248699"/>
                </a:lnTo>
                <a:lnTo>
                  <a:pt x="21958" y="291282"/>
                </a:lnTo>
                <a:lnTo>
                  <a:pt x="47460" y="328846"/>
                </a:lnTo>
                <a:lnTo>
                  <a:pt x="80915" y="360176"/>
                </a:lnTo>
                <a:lnTo>
                  <a:pt x="121025" y="384059"/>
                </a:lnTo>
                <a:lnTo>
                  <a:pt x="166495" y="399278"/>
                </a:lnTo>
                <a:lnTo>
                  <a:pt x="216027" y="404622"/>
                </a:lnTo>
                <a:lnTo>
                  <a:pt x="265558" y="399278"/>
                </a:lnTo>
                <a:lnTo>
                  <a:pt x="311028" y="384059"/>
                </a:lnTo>
                <a:lnTo>
                  <a:pt x="351138" y="360176"/>
                </a:lnTo>
                <a:lnTo>
                  <a:pt x="384593" y="328846"/>
                </a:lnTo>
                <a:lnTo>
                  <a:pt x="410095" y="291282"/>
                </a:lnTo>
                <a:lnTo>
                  <a:pt x="426348" y="248699"/>
                </a:lnTo>
                <a:lnTo>
                  <a:pt x="432054" y="202311"/>
                </a:lnTo>
                <a:lnTo>
                  <a:pt x="426348" y="155922"/>
                </a:lnTo>
                <a:lnTo>
                  <a:pt x="410095" y="113339"/>
                </a:lnTo>
                <a:lnTo>
                  <a:pt x="384593" y="75775"/>
                </a:lnTo>
                <a:lnTo>
                  <a:pt x="351138" y="44445"/>
                </a:lnTo>
                <a:lnTo>
                  <a:pt x="311028" y="20562"/>
                </a:lnTo>
                <a:lnTo>
                  <a:pt x="265558" y="5343"/>
                </a:lnTo>
                <a:lnTo>
                  <a:pt x="216027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7"/>
          <p:cNvSpPr/>
          <p:nvPr/>
        </p:nvSpPr>
        <p:spPr>
          <a:xfrm>
            <a:off x="8070809" y="4464681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0" y="202311"/>
                </a:moveTo>
                <a:lnTo>
                  <a:pt x="5705" y="155922"/>
                </a:lnTo>
                <a:lnTo>
                  <a:pt x="21958" y="113339"/>
                </a:lnTo>
                <a:lnTo>
                  <a:pt x="47460" y="75775"/>
                </a:lnTo>
                <a:lnTo>
                  <a:pt x="80915" y="44445"/>
                </a:lnTo>
                <a:lnTo>
                  <a:pt x="121025" y="20562"/>
                </a:lnTo>
                <a:lnTo>
                  <a:pt x="166495" y="5343"/>
                </a:lnTo>
                <a:lnTo>
                  <a:pt x="216027" y="0"/>
                </a:lnTo>
                <a:lnTo>
                  <a:pt x="265558" y="5343"/>
                </a:lnTo>
                <a:lnTo>
                  <a:pt x="311028" y="20562"/>
                </a:lnTo>
                <a:lnTo>
                  <a:pt x="351138" y="44445"/>
                </a:lnTo>
                <a:lnTo>
                  <a:pt x="384593" y="75775"/>
                </a:lnTo>
                <a:lnTo>
                  <a:pt x="410095" y="113339"/>
                </a:lnTo>
                <a:lnTo>
                  <a:pt x="426348" y="155922"/>
                </a:lnTo>
                <a:lnTo>
                  <a:pt x="432054" y="202311"/>
                </a:lnTo>
                <a:lnTo>
                  <a:pt x="426348" y="248699"/>
                </a:lnTo>
                <a:lnTo>
                  <a:pt x="410095" y="291282"/>
                </a:lnTo>
                <a:lnTo>
                  <a:pt x="384593" y="328846"/>
                </a:lnTo>
                <a:lnTo>
                  <a:pt x="351138" y="360176"/>
                </a:lnTo>
                <a:lnTo>
                  <a:pt x="311028" y="384059"/>
                </a:lnTo>
                <a:lnTo>
                  <a:pt x="265558" y="399278"/>
                </a:lnTo>
                <a:lnTo>
                  <a:pt x="216027" y="404622"/>
                </a:lnTo>
                <a:lnTo>
                  <a:pt x="166495" y="399278"/>
                </a:lnTo>
                <a:lnTo>
                  <a:pt x="121025" y="384059"/>
                </a:lnTo>
                <a:lnTo>
                  <a:pt x="80915" y="360176"/>
                </a:lnTo>
                <a:lnTo>
                  <a:pt x="47460" y="328846"/>
                </a:lnTo>
                <a:lnTo>
                  <a:pt x="21958" y="291282"/>
                </a:lnTo>
                <a:lnTo>
                  <a:pt x="570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8"/>
          <p:cNvSpPr/>
          <p:nvPr/>
        </p:nvSpPr>
        <p:spPr>
          <a:xfrm>
            <a:off x="8611319" y="339077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9"/>
          <p:cNvSpPr/>
          <p:nvPr/>
        </p:nvSpPr>
        <p:spPr>
          <a:xfrm>
            <a:off x="8611319" y="339077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20"/>
          <p:cNvSpPr/>
          <p:nvPr/>
        </p:nvSpPr>
        <p:spPr>
          <a:xfrm>
            <a:off x="6432509" y="3912487"/>
            <a:ext cx="315805" cy="517313"/>
          </a:xfrm>
          <a:custGeom>
            <a:avLst/>
            <a:gdLst/>
            <a:ahLst/>
            <a:cxnLst/>
            <a:rect l="l" t="t" r="r" b="b"/>
            <a:pathLst>
              <a:path w="236854" h="387985">
                <a:moveTo>
                  <a:pt x="0" y="0"/>
                </a:moveTo>
                <a:lnTo>
                  <a:pt x="236829" y="387362"/>
                </a:lnTo>
              </a:path>
            </a:pathLst>
          </a:custGeom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21"/>
          <p:cNvSpPr/>
          <p:nvPr/>
        </p:nvSpPr>
        <p:spPr>
          <a:xfrm>
            <a:off x="6670019" y="4367555"/>
            <a:ext cx="144780" cy="170180"/>
          </a:xfrm>
          <a:custGeom>
            <a:avLst/>
            <a:gdLst/>
            <a:ahLst/>
            <a:cxnLst/>
            <a:rect l="l" t="t" r="r" b="b"/>
            <a:pathLst>
              <a:path w="108585" h="127635">
                <a:moveTo>
                  <a:pt x="97523" y="0"/>
                </a:moveTo>
                <a:lnTo>
                  <a:pt x="0" y="59613"/>
                </a:lnTo>
                <a:lnTo>
                  <a:pt x="108381" y="127330"/>
                </a:lnTo>
                <a:lnTo>
                  <a:pt x="97523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22"/>
          <p:cNvSpPr/>
          <p:nvPr/>
        </p:nvSpPr>
        <p:spPr>
          <a:xfrm>
            <a:off x="7289843" y="4733922"/>
            <a:ext cx="781473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585724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23"/>
          <p:cNvSpPr/>
          <p:nvPr/>
        </p:nvSpPr>
        <p:spPr>
          <a:xfrm>
            <a:off x="7205174" y="4683118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24"/>
          <p:cNvSpPr/>
          <p:nvPr/>
        </p:nvSpPr>
        <p:spPr>
          <a:xfrm>
            <a:off x="6719529" y="2883463"/>
            <a:ext cx="1177713" cy="680720"/>
          </a:xfrm>
          <a:custGeom>
            <a:avLst/>
            <a:gdLst/>
            <a:ahLst/>
            <a:cxnLst/>
            <a:rect l="l" t="t" r="r" b="b"/>
            <a:pathLst>
              <a:path w="883285" h="510539">
                <a:moveTo>
                  <a:pt x="0" y="510019"/>
                </a:moveTo>
                <a:lnTo>
                  <a:pt x="883031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25"/>
          <p:cNvSpPr/>
          <p:nvPr/>
        </p:nvSpPr>
        <p:spPr>
          <a:xfrm>
            <a:off x="7856840" y="2841111"/>
            <a:ext cx="113453" cy="94827"/>
          </a:xfrm>
          <a:custGeom>
            <a:avLst/>
            <a:gdLst/>
            <a:ahLst/>
            <a:cxnLst/>
            <a:rect l="l" t="t" r="r" b="b"/>
            <a:pathLst>
              <a:path w="85089" h="71119">
                <a:moveTo>
                  <a:pt x="85039" y="0"/>
                </a:moveTo>
                <a:lnTo>
                  <a:pt x="0" y="5118"/>
                </a:lnTo>
                <a:lnTo>
                  <a:pt x="38112" y="71107"/>
                </a:lnTo>
                <a:lnTo>
                  <a:pt x="85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26"/>
          <p:cNvSpPr/>
          <p:nvPr/>
        </p:nvSpPr>
        <p:spPr>
          <a:xfrm>
            <a:off x="8455873" y="4001064"/>
            <a:ext cx="304800" cy="463973"/>
          </a:xfrm>
          <a:custGeom>
            <a:avLst/>
            <a:gdLst/>
            <a:ahLst/>
            <a:cxnLst/>
            <a:rect l="l" t="t" r="r" b="b"/>
            <a:pathLst>
              <a:path w="228600" h="347979">
                <a:moveTo>
                  <a:pt x="0" y="347713"/>
                </a:moveTo>
                <a:lnTo>
                  <a:pt x="22806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27"/>
          <p:cNvSpPr/>
          <p:nvPr/>
        </p:nvSpPr>
        <p:spPr>
          <a:xfrm>
            <a:off x="8708200" y="3930274"/>
            <a:ext cx="98213" cy="113453"/>
          </a:xfrm>
          <a:custGeom>
            <a:avLst/>
            <a:gdLst/>
            <a:ahLst/>
            <a:cxnLst/>
            <a:rect l="l" t="t" r="r" b="b"/>
            <a:pathLst>
              <a:path w="73660" h="85089">
                <a:moveTo>
                  <a:pt x="73647" y="0"/>
                </a:moveTo>
                <a:lnTo>
                  <a:pt x="0" y="42824"/>
                </a:lnTo>
                <a:lnTo>
                  <a:pt x="63715" y="84607"/>
                </a:lnTo>
                <a:lnTo>
                  <a:pt x="73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28"/>
          <p:cNvSpPr/>
          <p:nvPr/>
        </p:nvSpPr>
        <p:spPr>
          <a:xfrm>
            <a:off x="7956001" y="2479417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29"/>
          <p:cNvSpPr/>
          <p:nvPr/>
        </p:nvSpPr>
        <p:spPr>
          <a:xfrm>
            <a:off x="7956001" y="2479417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30"/>
          <p:cNvSpPr/>
          <p:nvPr/>
        </p:nvSpPr>
        <p:spPr>
          <a:xfrm>
            <a:off x="7237249" y="2897805"/>
            <a:ext cx="917787" cy="1647613"/>
          </a:xfrm>
          <a:custGeom>
            <a:avLst/>
            <a:gdLst/>
            <a:ahLst/>
            <a:cxnLst/>
            <a:rect l="l" t="t" r="r" b="b"/>
            <a:pathLst>
              <a:path w="688339" h="1235710">
                <a:moveTo>
                  <a:pt x="688225" y="1235163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31"/>
          <p:cNvSpPr/>
          <p:nvPr/>
        </p:nvSpPr>
        <p:spPr>
          <a:xfrm>
            <a:off x="7196038" y="2823839"/>
            <a:ext cx="93980" cy="114300"/>
          </a:xfrm>
          <a:custGeom>
            <a:avLst/>
            <a:gdLst/>
            <a:ahLst/>
            <a:cxnLst/>
            <a:rect l="l" t="t" r="r" b="b"/>
            <a:pathLst>
              <a:path w="70485" h="85725">
                <a:moveTo>
                  <a:pt x="0" y="0"/>
                </a:moveTo>
                <a:lnTo>
                  <a:pt x="3809" y="85115"/>
                </a:lnTo>
                <a:lnTo>
                  <a:pt x="70370" y="48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32"/>
          <p:cNvSpPr/>
          <p:nvPr/>
        </p:nvSpPr>
        <p:spPr>
          <a:xfrm>
            <a:off x="8244544" y="3007736"/>
            <a:ext cx="108373" cy="1372447"/>
          </a:xfrm>
          <a:custGeom>
            <a:avLst/>
            <a:gdLst/>
            <a:ahLst/>
            <a:cxnLst/>
            <a:rect l="l" t="t" r="r" b="b"/>
            <a:pathLst>
              <a:path w="81279" h="1029335">
                <a:moveTo>
                  <a:pt x="0" y="0"/>
                </a:moveTo>
                <a:lnTo>
                  <a:pt x="80759" y="10288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33"/>
          <p:cNvSpPr/>
          <p:nvPr/>
        </p:nvSpPr>
        <p:spPr>
          <a:xfrm>
            <a:off x="8300246" y="4358734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71" y="0"/>
                </a:moveTo>
                <a:lnTo>
                  <a:pt x="0" y="5968"/>
                </a:lnTo>
                <a:lnTo>
                  <a:pt x="43954" y="78955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7279684" y="2664585"/>
            <a:ext cx="690609" cy="8534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8451209" y="2855134"/>
            <a:ext cx="355204" cy="5397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6319658" y="2917399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>
                <a:latin typeface="Arial"/>
                <a:cs typeface="Arial"/>
              </a:rPr>
              <a:t>3</a:t>
            </a:r>
          </a:p>
        </p:txBody>
      </p:sp>
      <p:sp>
        <p:nvSpPr>
          <p:cNvPr id="122" name="矩形 121"/>
          <p:cNvSpPr/>
          <p:nvPr/>
        </p:nvSpPr>
        <p:spPr>
          <a:xfrm>
            <a:off x="6261962" y="3506514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6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6753172" y="4562795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5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6362348" y="4148798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7461358" y="4744298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7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8206168" y="4562794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4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737051" y="3496889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3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8081084" y="2538363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2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6827340" y="2479417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8193536" y="3303082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5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581522" y="2911999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7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7442418" y="2399730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10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7488736" y="3333476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3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986231" y="3863441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6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8533428" y="4055339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4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6827340" y="3122428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2</a:t>
            </a:r>
            <a:endParaRPr lang="en-US" altLang="zh-CN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901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2506" y="321384"/>
            <a:ext cx="801411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实例（续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936408" y="1185275"/>
            <a:ext cx="2080260" cy="4407185"/>
          </a:xfrm>
          <a:prstGeom prst="rect">
            <a:avLst/>
          </a:prstGeom>
        </p:spPr>
        <p:txBody>
          <a:bodyPr vert="horz" wrap="square" lIns="0" tIns="198962" rIns="0" bIns="0" rtlCol="0">
            <a:spAutoFit/>
          </a:bodyPr>
          <a:lstStyle/>
          <a:p>
            <a:pPr marL="84665">
              <a:spcBef>
                <a:spcPts val="1567"/>
              </a:spcBef>
            </a:pPr>
            <a:r>
              <a:rPr sz="3500" b="1" i="1" spc="-7" dirty="0">
                <a:latin typeface="Times New Roman"/>
                <a:cs typeface="Times New Roman"/>
              </a:rPr>
              <a:t>S</a:t>
            </a:r>
            <a:r>
              <a:rPr sz="3500" b="1" spc="-7" dirty="0">
                <a:latin typeface="Times New Roman"/>
                <a:cs typeface="Times New Roman"/>
              </a:rPr>
              <a:t>={1,6}</a:t>
            </a:r>
            <a:endParaRPr sz="3500" dirty="0">
              <a:latin typeface="Times New Roman"/>
              <a:cs typeface="Times New Roman"/>
            </a:endParaRPr>
          </a:p>
          <a:p>
            <a:pPr marL="16933">
              <a:spcBef>
                <a:spcPts val="1427"/>
              </a:spcBef>
            </a:pP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 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[1] =</a:t>
            </a:r>
            <a:r>
              <a:rPr sz="35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endParaRPr sz="3500" dirty="0">
              <a:latin typeface="Times New Roman"/>
              <a:cs typeface="Times New Roman"/>
            </a:endParaRPr>
          </a:p>
          <a:p>
            <a:pPr marL="16933">
              <a:spcBef>
                <a:spcPts val="400"/>
              </a:spcBef>
            </a:pP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 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[6] =</a:t>
            </a:r>
            <a:r>
              <a:rPr sz="3500" b="1" spc="-7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endParaRPr sz="3500" dirty="0">
              <a:latin typeface="Times New Roman"/>
              <a:cs typeface="Times New Roman"/>
            </a:endParaRPr>
          </a:p>
          <a:p>
            <a:pPr marL="16933">
              <a:spcBef>
                <a:spcPts val="400"/>
              </a:spcBef>
            </a:pPr>
            <a:r>
              <a:rPr sz="3500" b="1" i="1" spc="-7" dirty="0">
                <a:latin typeface="Times New Roman"/>
                <a:cs typeface="Times New Roman"/>
              </a:rPr>
              <a:t>dist </a:t>
            </a:r>
            <a:r>
              <a:rPr sz="3500" b="1" spc="-7" dirty="0">
                <a:latin typeface="Times New Roman"/>
                <a:cs typeface="Times New Roman"/>
              </a:rPr>
              <a:t>[2] =</a:t>
            </a:r>
            <a:r>
              <a:rPr sz="3500" b="1" spc="-73" dirty="0">
                <a:latin typeface="Times New Roman"/>
                <a:cs typeface="Times New Roman"/>
              </a:rPr>
              <a:t> </a:t>
            </a:r>
            <a:r>
              <a:rPr sz="3500" b="1" spc="-7" dirty="0">
                <a:solidFill>
                  <a:srgbClr val="31859C"/>
                </a:solidFill>
                <a:latin typeface="Times New Roman"/>
                <a:cs typeface="Times New Roman"/>
              </a:rPr>
              <a:t>5</a:t>
            </a:r>
            <a:endParaRPr sz="3500" dirty="0">
              <a:latin typeface="Times New Roman"/>
              <a:cs typeface="Times New Roman"/>
            </a:endParaRPr>
          </a:p>
          <a:p>
            <a:pPr marL="16933">
              <a:spcBef>
                <a:spcPts val="400"/>
              </a:spcBef>
            </a:pPr>
            <a:r>
              <a:rPr sz="3500" b="1" i="1" spc="-7" dirty="0">
                <a:latin typeface="Times New Roman"/>
                <a:cs typeface="Times New Roman"/>
              </a:rPr>
              <a:t>dist </a:t>
            </a:r>
            <a:r>
              <a:rPr sz="3500" b="1" spc="-7" dirty="0">
                <a:latin typeface="Times New Roman"/>
                <a:cs typeface="Times New Roman"/>
              </a:rPr>
              <a:t>[4] =</a:t>
            </a:r>
            <a:r>
              <a:rPr sz="3500" b="1" spc="-73" dirty="0">
                <a:latin typeface="Times New Roman"/>
                <a:cs typeface="Times New Roman"/>
              </a:rPr>
              <a:t> </a:t>
            </a:r>
            <a:r>
              <a:rPr sz="3500" b="1" spc="-7" dirty="0">
                <a:solidFill>
                  <a:srgbClr val="31859C"/>
                </a:solidFill>
                <a:latin typeface="Times New Roman"/>
                <a:cs typeface="Times New Roman"/>
              </a:rPr>
              <a:t>9</a:t>
            </a:r>
            <a:endParaRPr sz="3500" dirty="0">
              <a:latin typeface="Times New Roman"/>
              <a:cs typeface="Times New Roman"/>
            </a:endParaRPr>
          </a:p>
          <a:p>
            <a:pPr marL="16933">
              <a:spcBef>
                <a:spcPts val="400"/>
              </a:spcBef>
            </a:pPr>
            <a:r>
              <a:rPr sz="3500" b="1" i="1" spc="-7" dirty="0">
                <a:latin typeface="Times New Roman"/>
                <a:cs typeface="Times New Roman"/>
              </a:rPr>
              <a:t>d</a:t>
            </a:r>
            <a:r>
              <a:rPr sz="3500" b="1" i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ist </a:t>
            </a:r>
            <a:r>
              <a:rPr sz="35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[5] =</a:t>
            </a:r>
            <a:r>
              <a:rPr sz="3500" b="1" u="heavy" spc="-73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500" b="1" u="heavy" spc="-7" dirty="0">
                <a:solidFill>
                  <a:srgbClr val="31859C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4</a:t>
            </a:r>
            <a:endParaRPr sz="3500" dirty="0">
              <a:latin typeface="Times New Roman"/>
              <a:cs typeface="Times New Roman"/>
            </a:endParaRPr>
          </a:p>
          <a:p>
            <a:pPr marL="16933">
              <a:spcBef>
                <a:spcPts val="420"/>
              </a:spcBef>
            </a:pPr>
            <a:r>
              <a:rPr sz="3500" b="1" i="1" spc="-7" dirty="0">
                <a:latin typeface="Times New Roman"/>
                <a:cs typeface="Times New Roman"/>
              </a:rPr>
              <a:t>dist </a:t>
            </a:r>
            <a:r>
              <a:rPr sz="3500" b="1" spc="-7" dirty="0">
                <a:latin typeface="Times New Roman"/>
                <a:cs typeface="Times New Roman"/>
              </a:rPr>
              <a:t>[3] =</a:t>
            </a:r>
            <a:r>
              <a:rPr sz="3500" b="1" spc="-80" dirty="0">
                <a:latin typeface="Times New Roman"/>
                <a:cs typeface="Times New Roman"/>
              </a:rPr>
              <a:t> </a:t>
            </a:r>
            <a:r>
              <a:rPr sz="3500" b="1" spc="-7" dirty="0">
                <a:latin typeface="Symbol"/>
                <a:cs typeface="Symbol"/>
              </a:rPr>
              <a:t></a:t>
            </a:r>
            <a:endParaRPr sz="3500" dirty="0">
              <a:latin typeface="Symbol"/>
              <a:cs typeface="Symbol"/>
            </a:endParaRPr>
          </a:p>
        </p:txBody>
      </p:sp>
      <p:sp>
        <p:nvSpPr>
          <p:cNvPr id="44" name="object 3"/>
          <p:cNvSpPr/>
          <p:nvPr/>
        </p:nvSpPr>
        <p:spPr>
          <a:xfrm>
            <a:off x="7281724" y="3475157"/>
            <a:ext cx="1344507" cy="736600"/>
          </a:xfrm>
          <a:custGeom>
            <a:avLst/>
            <a:gdLst/>
            <a:ahLst/>
            <a:cxnLst/>
            <a:rect l="l" t="t" r="r" b="b"/>
            <a:pathLst>
              <a:path w="1008379" h="552450">
                <a:moveTo>
                  <a:pt x="0" y="0"/>
                </a:moveTo>
                <a:lnTo>
                  <a:pt x="1007935" y="55210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"/>
          <p:cNvSpPr/>
          <p:nvPr/>
        </p:nvSpPr>
        <p:spPr>
          <a:xfrm>
            <a:off x="8586378" y="4158621"/>
            <a:ext cx="114300" cy="93980"/>
          </a:xfrm>
          <a:custGeom>
            <a:avLst/>
            <a:gdLst/>
            <a:ahLst/>
            <a:cxnLst/>
            <a:rect l="l" t="t" r="r" b="b"/>
            <a:pathLst>
              <a:path w="85725" h="70485">
                <a:moveTo>
                  <a:pt x="36601" y="0"/>
                </a:moveTo>
                <a:lnTo>
                  <a:pt x="0" y="66827"/>
                </a:lnTo>
                <a:lnTo>
                  <a:pt x="85140" y="70015"/>
                </a:lnTo>
                <a:lnTo>
                  <a:pt x="36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5"/>
          <p:cNvSpPr/>
          <p:nvPr/>
        </p:nvSpPr>
        <p:spPr>
          <a:xfrm>
            <a:off x="7237511" y="2554153"/>
            <a:ext cx="221827" cy="356447"/>
          </a:xfrm>
          <a:custGeom>
            <a:avLst/>
            <a:gdLst/>
            <a:ahLst/>
            <a:cxnLst/>
            <a:rect l="l" t="t" r="r" b="b"/>
            <a:pathLst>
              <a:path w="166370" h="267335">
                <a:moveTo>
                  <a:pt x="166128" y="0"/>
                </a:moveTo>
                <a:lnTo>
                  <a:pt x="0" y="267335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6"/>
          <p:cNvSpPr/>
          <p:nvPr/>
        </p:nvSpPr>
        <p:spPr>
          <a:xfrm>
            <a:off x="7170469" y="2848804"/>
            <a:ext cx="145627" cy="170180"/>
          </a:xfrm>
          <a:custGeom>
            <a:avLst/>
            <a:gdLst/>
            <a:ahLst/>
            <a:cxnLst/>
            <a:rect l="l" t="t" r="r" b="b"/>
            <a:pathLst>
              <a:path w="109220" h="127635">
                <a:moveTo>
                  <a:pt x="11785" y="0"/>
                </a:moveTo>
                <a:lnTo>
                  <a:pt x="0" y="127241"/>
                </a:lnTo>
                <a:lnTo>
                  <a:pt x="108864" y="60325"/>
                </a:lnTo>
                <a:lnTo>
                  <a:pt x="117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0"/>
          <p:cNvSpPr/>
          <p:nvPr/>
        </p:nvSpPr>
        <p:spPr>
          <a:xfrm>
            <a:off x="7346748" y="2018215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1"/>
          <p:cNvSpPr/>
          <p:nvPr/>
        </p:nvSpPr>
        <p:spPr>
          <a:xfrm>
            <a:off x="7346748" y="2018215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2"/>
          <p:cNvSpPr/>
          <p:nvPr/>
        </p:nvSpPr>
        <p:spPr>
          <a:xfrm>
            <a:off x="6790995" y="301491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3"/>
          <p:cNvSpPr/>
          <p:nvPr/>
        </p:nvSpPr>
        <p:spPr>
          <a:xfrm>
            <a:off x="6790995" y="301491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4"/>
          <p:cNvSpPr/>
          <p:nvPr/>
        </p:nvSpPr>
        <p:spPr>
          <a:xfrm>
            <a:off x="7272580" y="4087524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5"/>
          <p:cNvSpPr/>
          <p:nvPr/>
        </p:nvSpPr>
        <p:spPr>
          <a:xfrm>
            <a:off x="7272580" y="4088821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6"/>
          <p:cNvSpPr/>
          <p:nvPr/>
        </p:nvSpPr>
        <p:spPr>
          <a:xfrm>
            <a:off x="8715300" y="4088821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216027" y="0"/>
                </a:moveTo>
                <a:lnTo>
                  <a:pt x="166495" y="5343"/>
                </a:lnTo>
                <a:lnTo>
                  <a:pt x="121025" y="20562"/>
                </a:lnTo>
                <a:lnTo>
                  <a:pt x="80915" y="44445"/>
                </a:lnTo>
                <a:lnTo>
                  <a:pt x="47460" y="75775"/>
                </a:lnTo>
                <a:lnTo>
                  <a:pt x="21958" y="113339"/>
                </a:lnTo>
                <a:lnTo>
                  <a:pt x="5705" y="155922"/>
                </a:lnTo>
                <a:lnTo>
                  <a:pt x="0" y="202311"/>
                </a:lnTo>
                <a:lnTo>
                  <a:pt x="5705" y="248699"/>
                </a:lnTo>
                <a:lnTo>
                  <a:pt x="21958" y="291282"/>
                </a:lnTo>
                <a:lnTo>
                  <a:pt x="47460" y="328846"/>
                </a:lnTo>
                <a:lnTo>
                  <a:pt x="80915" y="360176"/>
                </a:lnTo>
                <a:lnTo>
                  <a:pt x="121025" y="384059"/>
                </a:lnTo>
                <a:lnTo>
                  <a:pt x="166495" y="399278"/>
                </a:lnTo>
                <a:lnTo>
                  <a:pt x="216027" y="404622"/>
                </a:lnTo>
                <a:lnTo>
                  <a:pt x="265558" y="399278"/>
                </a:lnTo>
                <a:lnTo>
                  <a:pt x="311028" y="384059"/>
                </a:lnTo>
                <a:lnTo>
                  <a:pt x="351138" y="360176"/>
                </a:lnTo>
                <a:lnTo>
                  <a:pt x="384593" y="328846"/>
                </a:lnTo>
                <a:lnTo>
                  <a:pt x="410095" y="291282"/>
                </a:lnTo>
                <a:lnTo>
                  <a:pt x="426348" y="248699"/>
                </a:lnTo>
                <a:lnTo>
                  <a:pt x="432054" y="202311"/>
                </a:lnTo>
                <a:lnTo>
                  <a:pt x="426348" y="155922"/>
                </a:lnTo>
                <a:lnTo>
                  <a:pt x="410095" y="113339"/>
                </a:lnTo>
                <a:lnTo>
                  <a:pt x="384593" y="75775"/>
                </a:lnTo>
                <a:lnTo>
                  <a:pt x="351138" y="44445"/>
                </a:lnTo>
                <a:lnTo>
                  <a:pt x="311028" y="20562"/>
                </a:lnTo>
                <a:lnTo>
                  <a:pt x="265558" y="5343"/>
                </a:lnTo>
                <a:lnTo>
                  <a:pt x="216027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7"/>
          <p:cNvSpPr/>
          <p:nvPr/>
        </p:nvSpPr>
        <p:spPr>
          <a:xfrm>
            <a:off x="8715300" y="4088821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0" y="202311"/>
                </a:moveTo>
                <a:lnTo>
                  <a:pt x="5705" y="155922"/>
                </a:lnTo>
                <a:lnTo>
                  <a:pt x="21958" y="113339"/>
                </a:lnTo>
                <a:lnTo>
                  <a:pt x="47460" y="75775"/>
                </a:lnTo>
                <a:lnTo>
                  <a:pt x="80915" y="44445"/>
                </a:lnTo>
                <a:lnTo>
                  <a:pt x="121025" y="20562"/>
                </a:lnTo>
                <a:lnTo>
                  <a:pt x="166495" y="5343"/>
                </a:lnTo>
                <a:lnTo>
                  <a:pt x="216027" y="0"/>
                </a:lnTo>
                <a:lnTo>
                  <a:pt x="265558" y="5343"/>
                </a:lnTo>
                <a:lnTo>
                  <a:pt x="311028" y="20562"/>
                </a:lnTo>
                <a:lnTo>
                  <a:pt x="351138" y="44445"/>
                </a:lnTo>
                <a:lnTo>
                  <a:pt x="384593" y="75775"/>
                </a:lnTo>
                <a:lnTo>
                  <a:pt x="410095" y="113339"/>
                </a:lnTo>
                <a:lnTo>
                  <a:pt x="426348" y="155922"/>
                </a:lnTo>
                <a:lnTo>
                  <a:pt x="432054" y="202311"/>
                </a:lnTo>
                <a:lnTo>
                  <a:pt x="426348" y="248699"/>
                </a:lnTo>
                <a:lnTo>
                  <a:pt x="410095" y="291282"/>
                </a:lnTo>
                <a:lnTo>
                  <a:pt x="384593" y="328846"/>
                </a:lnTo>
                <a:lnTo>
                  <a:pt x="351138" y="360176"/>
                </a:lnTo>
                <a:lnTo>
                  <a:pt x="311028" y="384059"/>
                </a:lnTo>
                <a:lnTo>
                  <a:pt x="265558" y="399278"/>
                </a:lnTo>
                <a:lnTo>
                  <a:pt x="216027" y="404622"/>
                </a:lnTo>
                <a:lnTo>
                  <a:pt x="166495" y="399278"/>
                </a:lnTo>
                <a:lnTo>
                  <a:pt x="121025" y="384059"/>
                </a:lnTo>
                <a:lnTo>
                  <a:pt x="80915" y="360176"/>
                </a:lnTo>
                <a:lnTo>
                  <a:pt x="47460" y="328846"/>
                </a:lnTo>
                <a:lnTo>
                  <a:pt x="21958" y="291282"/>
                </a:lnTo>
                <a:lnTo>
                  <a:pt x="570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8"/>
          <p:cNvSpPr/>
          <p:nvPr/>
        </p:nvSpPr>
        <p:spPr>
          <a:xfrm>
            <a:off x="9255810" y="301491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9"/>
          <p:cNvSpPr/>
          <p:nvPr/>
        </p:nvSpPr>
        <p:spPr>
          <a:xfrm>
            <a:off x="9255810" y="301491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0"/>
          <p:cNvSpPr/>
          <p:nvPr/>
        </p:nvSpPr>
        <p:spPr>
          <a:xfrm>
            <a:off x="7077000" y="3536627"/>
            <a:ext cx="315805" cy="517313"/>
          </a:xfrm>
          <a:custGeom>
            <a:avLst/>
            <a:gdLst/>
            <a:ahLst/>
            <a:cxnLst/>
            <a:rect l="l" t="t" r="r" b="b"/>
            <a:pathLst>
              <a:path w="236854" h="387985">
                <a:moveTo>
                  <a:pt x="0" y="0"/>
                </a:moveTo>
                <a:lnTo>
                  <a:pt x="236829" y="387362"/>
                </a:lnTo>
              </a:path>
            </a:pathLst>
          </a:custGeom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1"/>
          <p:cNvSpPr/>
          <p:nvPr/>
        </p:nvSpPr>
        <p:spPr>
          <a:xfrm>
            <a:off x="7314510" y="3991695"/>
            <a:ext cx="144780" cy="170180"/>
          </a:xfrm>
          <a:custGeom>
            <a:avLst/>
            <a:gdLst/>
            <a:ahLst/>
            <a:cxnLst/>
            <a:rect l="l" t="t" r="r" b="b"/>
            <a:pathLst>
              <a:path w="108585" h="127635">
                <a:moveTo>
                  <a:pt x="97523" y="0"/>
                </a:moveTo>
                <a:lnTo>
                  <a:pt x="0" y="59613"/>
                </a:lnTo>
                <a:lnTo>
                  <a:pt x="108381" y="127330"/>
                </a:lnTo>
                <a:lnTo>
                  <a:pt x="97523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2"/>
          <p:cNvSpPr/>
          <p:nvPr/>
        </p:nvSpPr>
        <p:spPr>
          <a:xfrm>
            <a:off x="7934334" y="4358062"/>
            <a:ext cx="781473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585724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3"/>
          <p:cNvSpPr/>
          <p:nvPr/>
        </p:nvSpPr>
        <p:spPr>
          <a:xfrm>
            <a:off x="7849665" y="4307258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4"/>
          <p:cNvSpPr/>
          <p:nvPr/>
        </p:nvSpPr>
        <p:spPr>
          <a:xfrm>
            <a:off x="7364020" y="2507603"/>
            <a:ext cx="1177713" cy="680720"/>
          </a:xfrm>
          <a:custGeom>
            <a:avLst/>
            <a:gdLst/>
            <a:ahLst/>
            <a:cxnLst/>
            <a:rect l="l" t="t" r="r" b="b"/>
            <a:pathLst>
              <a:path w="883285" h="510539">
                <a:moveTo>
                  <a:pt x="0" y="510019"/>
                </a:moveTo>
                <a:lnTo>
                  <a:pt x="883031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5"/>
          <p:cNvSpPr/>
          <p:nvPr/>
        </p:nvSpPr>
        <p:spPr>
          <a:xfrm>
            <a:off x="8501331" y="2465251"/>
            <a:ext cx="113453" cy="94827"/>
          </a:xfrm>
          <a:custGeom>
            <a:avLst/>
            <a:gdLst/>
            <a:ahLst/>
            <a:cxnLst/>
            <a:rect l="l" t="t" r="r" b="b"/>
            <a:pathLst>
              <a:path w="85089" h="71119">
                <a:moveTo>
                  <a:pt x="85039" y="0"/>
                </a:moveTo>
                <a:lnTo>
                  <a:pt x="0" y="5118"/>
                </a:lnTo>
                <a:lnTo>
                  <a:pt x="38112" y="71107"/>
                </a:lnTo>
                <a:lnTo>
                  <a:pt x="85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6"/>
          <p:cNvSpPr/>
          <p:nvPr/>
        </p:nvSpPr>
        <p:spPr>
          <a:xfrm>
            <a:off x="9100364" y="3625204"/>
            <a:ext cx="304800" cy="463973"/>
          </a:xfrm>
          <a:custGeom>
            <a:avLst/>
            <a:gdLst/>
            <a:ahLst/>
            <a:cxnLst/>
            <a:rect l="l" t="t" r="r" b="b"/>
            <a:pathLst>
              <a:path w="228600" h="347979">
                <a:moveTo>
                  <a:pt x="0" y="347713"/>
                </a:moveTo>
                <a:lnTo>
                  <a:pt x="22806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7"/>
          <p:cNvSpPr/>
          <p:nvPr/>
        </p:nvSpPr>
        <p:spPr>
          <a:xfrm>
            <a:off x="9352691" y="3554414"/>
            <a:ext cx="98213" cy="113453"/>
          </a:xfrm>
          <a:custGeom>
            <a:avLst/>
            <a:gdLst/>
            <a:ahLst/>
            <a:cxnLst/>
            <a:rect l="l" t="t" r="r" b="b"/>
            <a:pathLst>
              <a:path w="73660" h="85089">
                <a:moveTo>
                  <a:pt x="73647" y="0"/>
                </a:moveTo>
                <a:lnTo>
                  <a:pt x="0" y="42824"/>
                </a:lnTo>
                <a:lnTo>
                  <a:pt x="63715" y="84607"/>
                </a:lnTo>
                <a:lnTo>
                  <a:pt x="73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8"/>
          <p:cNvSpPr/>
          <p:nvPr/>
        </p:nvSpPr>
        <p:spPr>
          <a:xfrm>
            <a:off x="8600492" y="2103557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29"/>
          <p:cNvSpPr/>
          <p:nvPr/>
        </p:nvSpPr>
        <p:spPr>
          <a:xfrm>
            <a:off x="8600492" y="2103557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0"/>
          <p:cNvSpPr/>
          <p:nvPr/>
        </p:nvSpPr>
        <p:spPr>
          <a:xfrm>
            <a:off x="7881740" y="2521945"/>
            <a:ext cx="917787" cy="1647613"/>
          </a:xfrm>
          <a:custGeom>
            <a:avLst/>
            <a:gdLst/>
            <a:ahLst/>
            <a:cxnLst/>
            <a:rect l="l" t="t" r="r" b="b"/>
            <a:pathLst>
              <a:path w="688339" h="1235710">
                <a:moveTo>
                  <a:pt x="688225" y="1235163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31"/>
          <p:cNvSpPr/>
          <p:nvPr/>
        </p:nvSpPr>
        <p:spPr>
          <a:xfrm>
            <a:off x="7840529" y="2447979"/>
            <a:ext cx="93980" cy="114300"/>
          </a:xfrm>
          <a:custGeom>
            <a:avLst/>
            <a:gdLst/>
            <a:ahLst/>
            <a:cxnLst/>
            <a:rect l="l" t="t" r="r" b="b"/>
            <a:pathLst>
              <a:path w="70485" h="85725">
                <a:moveTo>
                  <a:pt x="0" y="0"/>
                </a:moveTo>
                <a:lnTo>
                  <a:pt x="3809" y="85115"/>
                </a:lnTo>
                <a:lnTo>
                  <a:pt x="70370" y="48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32"/>
          <p:cNvSpPr/>
          <p:nvPr/>
        </p:nvSpPr>
        <p:spPr>
          <a:xfrm>
            <a:off x="8889035" y="2631876"/>
            <a:ext cx="108373" cy="1372447"/>
          </a:xfrm>
          <a:custGeom>
            <a:avLst/>
            <a:gdLst/>
            <a:ahLst/>
            <a:cxnLst/>
            <a:rect l="l" t="t" r="r" b="b"/>
            <a:pathLst>
              <a:path w="81279" h="1029335">
                <a:moveTo>
                  <a:pt x="0" y="0"/>
                </a:moveTo>
                <a:lnTo>
                  <a:pt x="80759" y="10288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33"/>
          <p:cNvSpPr/>
          <p:nvPr/>
        </p:nvSpPr>
        <p:spPr>
          <a:xfrm>
            <a:off x="8944737" y="3982874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71" y="0"/>
                </a:moveTo>
                <a:lnTo>
                  <a:pt x="0" y="5968"/>
                </a:lnTo>
                <a:lnTo>
                  <a:pt x="43954" y="78955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72" name="直接箭头连接符 71"/>
          <p:cNvCxnSpPr/>
          <p:nvPr/>
        </p:nvCxnSpPr>
        <p:spPr>
          <a:xfrm>
            <a:off x="7924175" y="2288725"/>
            <a:ext cx="690609" cy="8534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9095700" y="2479274"/>
            <a:ext cx="355204" cy="5397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964149" y="2541539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>
                <a:latin typeface="Arial"/>
                <a:cs typeface="Arial"/>
              </a:rPr>
              <a:t>3</a:t>
            </a:r>
          </a:p>
        </p:txBody>
      </p:sp>
      <p:sp>
        <p:nvSpPr>
          <p:cNvPr id="75" name="矩形 74"/>
          <p:cNvSpPr/>
          <p:nvPr/>
        </p:nvSpPr>
        <p:spPr>
          <a:xfrm>
            <a:off x="6906453" y="3130654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6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397663" y="4186935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5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006839" y="3772938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8105849" y="4368438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7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850659" y="4186934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4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381542" y="3121029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3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725575" y="2162503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2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831" y="2103557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838027" y="2927222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5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26013" y="2536139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7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086909" y="2023870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10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133227" y="2957616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3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630722" y="3487581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6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177919" y="3679479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4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471831" y="2746568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2</a:t>
            </a:r>
            <a:endParaRPr lang="en-US" altLang="zh-CN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24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8331" y="321384"/>
            <a:ext cx="9665834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运行实例（续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3" name="object 3"/>
          <p:cNvSpPr/>
          <p:nvPr/>
        </p:nvSpPr>
        <p:spPr>
          <a:xfrm>
            <a:off x="6450070" y="3681703"/>
            <a:ext cx="1344507" cy="736600"/>
          </a:xfrm>
          <a:custGeom>
            <a:avLst/>
            <a:gdLst/>
            <a:ahLst/>
            <a:cxnLst/>
            <a:rect l="l" t="t" r="r" b="b"/>
            <a:pathLst>
              <a:path w="1008379" h="552450">
                <a:moveTo>
                  <a:pt x="0" y="0"/>
                </a:moveTo>
                <a:lnTo>
                  <a:pt x="1007935" y="55210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54724" y="4365167"/>
            <a:ext cx="114300" cy="93980"/>
          </a:xfrm>
          <a:custGeom>
            <a:avLst/>
            <a:gdLst/>
            <a:ahLst/>
            <a:cxnLst/>
            <a:rect l="l" t="t" r="r" b="b"/>
            <a:pathLst>
              <a:path w="85725" h="70485">
                <a:moveTo>
                  <a:pt x="36601" y="0"/>
                </a:moveTo>
                <a:lnTo>
                  <a:pt x="0" y="66827"/>
                </a:lnTo>
                <a:lnTo>
                  <a:pt x="85140" y="70015"/>
                </a:lnTo>
                <a:lnTo>
                  <a:pt x="36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5857" y="2760699"/>
            <a:ext cx="221827" cy="356447"/>
          </a:xfrm>
          <a:custGeom>
            <a:avLst/>
            <a:gdLst/>
            <a:ahLst/>
            <a:cxnLst/>
            <a:rect l="l" t="t" r="r" b="b"/>
            <a:pathLst>
              <a:path w="166370" h="267335">
                <a:moveTo>
                  <a:pt x="166128" y="0"/>
                </a:moveTo>
                <a:lnTo>
                  <a:pt x="0" y="267335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38815" y="3055350"/>
            <a:ext cx="145627" cy="170180"/>
          </a:xfrm>
          <a:custGeom>
            <a:avLst/>
            <a:gdLst/>
            <a:ahLst/>
            <a:cxnLst/>
            <a:rect l="l" t="t" r="r" b="b"/>
            <a:pathLst>
              <a:path w="109220" h="127635">
                <a:moveTo>
                  <a:pt x="11785" y="0"/>
                </a:moveTo>
                <a:lnTo>
                  <a:pt x="0" y="127241"/>
                </a:lnTo>
                <a:lnTo>
                  <a:pt x="108864" y="60325"/>
                </a:lnTo>
                <a:lnTo>
                  <a:pt x="117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15094" y="2224761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15094" y="2224761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59341" y="3221456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59341" y="3221456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40926" y="4294070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40926" y="4295367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83646" y="4295367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216027" y="0"/>
                </a:moveTo>
                <a:lnTo>
                  <a:pt x="166495" y="5343"/>
                </a:lnTo>
                <a:lnTo>
                  <a:pt x="121025" y="20562"/>
                </a:lnTo>
                <a:lnTo>
                  <a:pt x="80915" y="44445"/>
                </a:lnTo>
                <a:lnTo>
                  <a:pt x="47460" y="75775"/>
                </a:lnTo>
                <a:lnTo>
                  <a:pt x="21958" y="113339"/>
                </a:lnTo>
                <a:lnTo>
                  <a:pt x="5705" y="155922"/>
                </a:lnTo>
                <a:lnTo>
                  <a:pt x="0" y="202311"/>
                </a:lnTo>
                <a:lnTo>
                  <a:pt x="5705" y="248699"/>
                </a:lnTo>
                <a:lnTo>
                  <a:pt x="21958" y="291282"/>
                </a:lnTo>
                <a:lnTo>
                  <a:pt x="47460" y="328846"/>
                </a:lnTo>
                <a:lnTo>
                  <a:pt x="80915" y="360176"/>
                </a:lnTo>
                <a:lnTo>
                  <a:pt x="121025" y="384059"/>
                </a:lnTo>
                <a:lnTo>
                  <a:pt x="166495" y="399278"/>
                </a:lnTo>
                <a:lnTo>
                  <a:pt x="216027" y="404622"/>
                </a:lnTo>
                <a:lnTo>
                  <a:pt x="265558" y="399278"/>
                </a:lnTo>
                <a:lnTo>
                  <a:pt x="311028" y="384059"/>
                </a:lnTo>
                <a:lnTo>
                  <a:pt x="351138" y="360176"/>
                </a:lnTo>
                <a:lnTo>
                  <a:pt x="384593" y="328846"/>
                </a:lnTo>
                <a:lnTo>
                  <a:pt x="410095" y="291282"/>
                </a:lnTo>
                <a:lnTo>
                  <a:pt x="426348" y="248699"/>
                </a:lnTo>
                <a:lnTo>
                  <a:pt x="432054" y="202311"/>
                </a:lnTo>
                <a:lnTo>
                  <a:pt x="426348" y="155922"/>
                </a:lnTo>
                <a:lnTo>
                  <a:pt x="410095" y="113339"/>
                </a:lnTo>
                <a:lnTo>
                  <a:pt x="384593" y="75775"/>
                </a:lnTo>
                <a:lnTo>
                  <a:pt x="351138" y="44445"/>
                </a:lnTo>
                <a:lnTo>
                  <a:pt x="311028" y="20562"/>
                </a:lnTo>
                <a:lnTo>
                  <a:pt x="265558" y="5343"/>
                </a:lnTo>
                <a:lnTo>
                  <a:pt x="216027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83646" y="4295367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0" y="202311"/>
                </a:moveTo>
                <a:lnTo>
                  <a:pt x="5705" y="155922"/>
                </a:lnTo>
                <a:lnTo>
                  <a:pt x="21958" y="113339"/>
                </a:lnTo>
                <a:lnTo>
                  <a:pt x="47460" y="75775"/>
                </a:lnTo>
                <a:lnTo>
                  <a:pt x="80915" y="44445"/>
                </a:lnTo>
                <a:lnTo>
                  <a:pt x="121025" y="20562"/>
                </a:lnTo>
                <a:lnTo>
                  <a:pt x="166495" y="5343"/>
                </a:lnTo>
                <a:lnTo>
                  <a:pt x="216027" y="0"/>
                </a:lnTo>
                <a:lnTo>
                  <a:pt x="265558" y="5343"/>
                </a:lnTo>
                <a:lnTo>
                  <a:pt x="311028" y="20562"/>
                </a:lnTo>
                <a:lnTo>
                  <a:pt x="351138" y="44445"/>
                </a:lnTo>
                <a:lnTo>
                  <a:pt x="384593" y="75775"/>
                </a:lnTo>
                <a:lnTo>
                  <a:pt x="410095" y="113339"/>
                </a:lnTo>
                <a:lnTo>
                  <a:pt x="426348" y="155922"/>
                </a:lnTo>
                <a:lnTo>
                  <a:pt x="432054" y="202311"/>
                </a:lnTo>
                <a:lnTo>
                  <a:pt x="426348" y="248699"/>
                </a:lnTo>
                <a:lnTo>
                  <a:pt x="410095" y="291282"/>
                </a:lnTo>
                <a:lnTo>
                  <a:pt x="384593" y="328846"/>
                </a:lnTo>
                <a:lnTo>
                  <a:pt x="351138" y="360176"/>
                </a:lnTo>
                <a:lnTo>
                  <a:pt x="311028" y="384059"/>
                </a:lnTo>
                <a:lnTo>
                  <a:pt x="265558" y="399278"/>
                </a:lnTo>
                <a:lnTo>
                  <a:pt x="216027" y="404622"/>
                </a:lnTo>
                <a:lnTo>
                  <a:pt x="166495" y="399278"/>
                </a:lnTo>
                <a:lnTo>
                  <a:pt x="121025" y="384059"/>
                </a:lnTo>
                <a:lnTo>
                  <a:pt x="80915" y="360176"/>
                </a:lnTo>
                <a:lnTo>
                  <a:pt x="47460" y="328846"/>
                </a:lnTo>
                <a:lnTo>
                  <a:pt x="21958" y="291282"/>
                </a:lnTo>
                <a:lnTo>
                  <a:pt x="570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24156" y="3221456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24156" y="3221456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45346" y="3743173"/>
            <a:ext cx="315805" cy="517313"/>
          </a:xfrm>
          <a:custGeom>
            <a:avLst/>
            <a:gdLst/>
            <a:ahLst/>
            <a:cxnLst/>
            <a:rect l="l" t="t" r="r" b="b"/>
            <a:pathLst>
              <a:path w="236854" h="387985">
                <a:moveTo>
                  <a:pt x="0" y="0"/>
                </a:moveTo>
                <a:lnTo>
                  <a:pt x="236829" y="38736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82856" y="4198241"/>
            <a:ext cx="144780" cy="170180"/>
          </a:xfrm>
          <a:custGeom>
            <a:avLst/>
            <a:gdLst/>
            <a:ahLst/>
            <a:cxnLst/>
            <a:rect l="l" t="t" r="r" b="b"/>
            <a:pathLst>
              <a:path w="108585" h="127635">
                <a:moveTo>
                  <a:pt x="97523" y="0"/>
                </a:moveTo>
                <a:lnTo>
                  <a:pt x="0" y="59613"/>
                </a:lnTo>
                <a:lnTo>
                  <a:pt x="108381" y="127330"/>
                </a:lnTo>
                <a:lnTo>
                  <a:pt x="975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02680" y="4564608"/>
            <a:ext cx="781473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585724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18011" y="451380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32366" y="2714149"/>
            <a:ext cx="1177713" cy="680720"/>
          </a:xfrm>
          <a:custGeom>
            <a:avLst/>
            <a:gdLst/>
            <a:ahLst/>
            <a:cxnLst/>
            <a:rect l="l" t="t" r="r" b="b"/>
            <a:pathLst>
              <a:path w="883285" h="510539">
                <a:moveTo>
                  <a:pt x="0" y="510019"/>
                </a:moveTo>
                <a:lnTo>
                  <a:pt x="883031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69677" y="2671797"/>
            <a:ext cx="113453" cy="94827"/>
          </a:xfrm>
          <a:custGeom>
            <a:avLst/>
            <a:gdLst/>
            <a:ahLst/>
            <a:cxnLst/>
            <a:rect l="l" t="t" r="r" b="b"/>
            <a:pathLst>
              <a:path w="85089" h="71119">
                <a:moveTo>
                  <a:pt x="85039" y="0"/>
                </a:moveTo>
                <a:lnTo>
                  <a:pt x="0" y="5118"/>
                </a:lnTo>
                <a:lnTo>
                  <a:pt x="38112" y="71107"/>
                </a:lnTo>
                <a:lnTo>
                  <a:pt x="85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68710" y="3831750"/>
            <a:ext cx="304800" cy="463973"/>
          </a:xfrm>
          <a:custGeom>
            <a:avLst/>
            <a:gdLst/>
            <a:ahLst/>
            <a:cxnLst/>
            <a:rect l="l" t="t" r="r" b="b"/>
            <a:pathLst>
              <a:path w="228600" h="347979">
                <a:moveTo>
                  <a:pt x="0" y="347713"/>
                </a:moveTo>
                <a:lnTo>
                  <a:pt x="22806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521037" y="3760960"/>
            <a:ext cx="98213" cy="113453"/>
          </a:xfrm>
          <a:custGeom>
            <a:avLst/>
            <a:gdLst/>
            <a:ahLst/>
            <a:cxnLst/>
            <a:rect l="l" t="t" r="r" b="b"/>
            <a:pathLst>
              <a:path w="73660" h="85089">
                <a:moveTo>
                  <a:pt x="73647" y="0"/>
                </a:moveTo>
                <a:lnTo>
                  <a:pt x="0" y="42824"/>
                </a:lnTo>
                <a:lnTo>
                  <a:pt x="63715" y="84607"/>
                </a:lnTo>
                <a:lnTo>
                  <a:pt x="73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68838" y="2310103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68838" y="2310103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50086" y="2728491"/>
            <a:ext cx="917787" cy="1647613"/>
          </a:xfrm>
          <a:custGeom>
            <a:avLst/>
            <a:gdLst/>
            <a:ahLst/>
            <a:cxnLst/>
            <a:rect l="l" t="t" r="r" b="b"/>
            <a:pathLst>
              <a:path w="688339" h="1235710">
                <a:moveTo>
                  <a:pt x="688225" y="1235163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08875" y="2654525"/>
            <a:ext cx="93980" cy="114300"/>
          </a:xfrm>
          <a:custGeom>
            <a:avLst/>
            <a:gdLst/>
            <a:ahLst/>
            <a:cxnLst/>
            <a:rect l="l" t="t" r="r" b="b"/>
            <a:pathLst>
              <a:path w="70485" h="85725">
                <a:moveTo>
                  <a:pt x="0" y="0"/>
                </a:moveTo>
                <a:lnTo>
                  <a:pt x="3809" y="85115"/>
                </a:lnTo>
                <a:lnTo>
                  <a:pt x="70370" y="48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057381" y="2838422"/>
            <a:ext cx="108373" cy="1372447"/>
          </a:xfrm>
          <a:custGeom>
            <a:avLst/>
            <a:gdLst/>
            <a:ahLst/>
            <a:cxnLst/>
            <a:rect l="l" t="t" r="r" b="b"/>
            <a:pathLst>
              <a:path w="81279" h="1029335">
                <a:moveTo>
                  <a:pt x="0" y="0"/>
                </a:moveTo>
                <a:lnTo>
                  <a:pt x="80759" y="10288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13083" y="4189420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71" y="0"/>
                </a:moveTo>
                <a:lnTo>
                  <a:pt x="0" y="5968"/>
                </a:lnTo>
                <a:lnTo>
                  <a:pt x="43954" y="78955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4155"/>
              </p:ext>
            </p:extLst>
          </p:nvPr>
        </p:nvGraphicFramePr>
        <p:xfrm>
          <a:off x="2658550" y="1453272"/>
          <a:ext cx="2501900" cy="38831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8100">
                        <a:lnSpc>
                          <a:spcPts val="2835"/>
                        </a:lnSpc>
                      </a:pPr>
                      <a:r>
                        <a:rPr sz="3500" b="1" i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500" b="1" spc="-5" dirty="0">
                          <a:latin typeface="Times New Roman"/>
                          <a:cs typeface="Times New Roman"/>
                        </a:rPr>
                        <a:t>={1,6,5}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6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3500" b="1" i="1" spc="-5" dirty="0" err="1" smtClean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dist</a:t>
                      </a:r>
                      <a:r>
                        <a:rPr sz="3500" b="1" spc="-5" dirty="0" smtClean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[1</a:t>
                      </a:r>
                      <a:r>
                        <a:rPr sz="35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]=0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91080">
                <a:tc>
                  <a:txBody>
                    <a:bodyPr/>
                    <a:lstStyle/>
                    <a:p>
                      <a:pPr marL="31750" algn="just">
                        <a:lnSpc>
                          <a:spcPts val="2995"/>
                        </a:lnSpc>
                      </a:pPr>
                      <a:r>
                        <a:rPr sz="3500" b="1" i="1" spc="-5" dirty="0" err="1" smtClean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dist</a:t>
                      </a:r>
                      <a:r>
                        <a:rPr sz="3500" b="1" spc="-5" dirty="0" smtClean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[6</a:t>
                      </a:r>
                      <a:r>
                        <a:rPr sz="35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]=3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  <a:p>
                      <a:pPr marL="31750" marR="539115" algn="just">
                        <a:lnSpc>
                          <a:spcPct val="109600"/>
                        </a:lnSpc>
                      </a:pPr>
                      <a:r>
                        <a:rPr sz="3500" b="1" i="1" spc="-5" dirty="0" err="1" smtClean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dist</a:t>
                      </a:r>
                      <a:r>
                        <a:rPr sz="3500" b="1" spc="-5" dirty="0" smtClean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[5</a:t>
                      </a:r>
                      <a:r>
                        <a:rPr sz="35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]=4  </a:t>
                      </a:r>
                      <a:r>
                        <a:rPr sz="3500" b="1" i="1" spc="-5" dirty="0" err="1" smtClean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500" b="1" i="1" u="heavy" spc="-5" dirty="0" err="1" smtClean="0">
                          <a:uFill>
                            <a:solidFill>
                              <a:srgbClr val="C00000"/>
                            </a:solidFill>
                          </a:uFill>
                          <a:latin typeface="Times New Roman"/>
                          <a:cs typeface="Times New Roman"/>
                        </a:rPr>
                        <a:t>ist</a:t>
                      </a:r>
                      <a:r>
                        <a:rPr sz="3500" b="1" u="heavy" spc="-5" dirty="0" smtClean="0">
                          <a:uFill>
                            <a:solidFill>
                              <a:srgbClr val="C00000"/>
                            </a:solidFill>
                          </a:uFill>
                          <a:latin typeface="Times New Roman"/>
                          <a:cs typeface="Times New Roman"/>
                        </a:rPr>
                        <a:t>[2</a:t>
                      </a:r>
                      <a:r>
                        <a:rPr sz="3500" b="1" u="heavy" spc="-5" dirty="0">
                          <a:uFill>
                            <a:solidFill>
                              <a:srgbClr val="C00000"/>
                            </a:solidFill>
                          </a:uFill>
                          <a:latin typeface="Times New Roman"/>
                          <a:cs typeface="Times New Roman"/>
                        </a:rPr>
                        <a:t>]=5 </a:t>
                      </a:r>
                      <a:r>
                        <a:rPr sz="35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500" b="1" i="1" spc="-5" dirty="0" err="1" smtClean="0">
                          <a:latin typeface="Times New Roman"/>
                          <a:cs typeface="Times New Roman"/>
                        </a:rPr>
                        <a:t>dist</a:t>
                      </a:r>
                      <a:r>
                        <a:rPr sz="3500" b="1" spc="-5" dirty="0" smtClean="0">
                          <a:latin typeface="Times New Roman"/>
                          <a:cs typeface="Times New Roman"/>
                        </a:rPr>
                        <a:t>[4</a:t>
                      </a:r>
                      <a:r>
                        <a:rPr sz="3500" b="1" spc="-5" dirty="0">
                          <a:latin typeface="Times New Roman"/>
                          <a:cs typeface="Times New Roman"/>
                        </a:rPr>
                        <a:t>]=9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9713">
                <a:tc>
                  <a:txBody>
                    <a:bodyPr/>
                    <a:lstStyle/>
                    <a:p>
                      <a:pPr marL="31750">
                        <a:lnSpc>
                          <a:spcPts val="3070"/>
                        </a:lnSpc>
                        <a:spcBef>
                          <a:spcPts val="135"/>
                        </a:spcBef>
                      </a:pPr>
                      <a:r>
                        <a:rPr sz="3500" b="1" i="1" spc="-5" dirty="0" err="1" smtClean="0">
                          <a:latin typeface="Times New Roman"/>
                          <a:cs typeface="Times New Roman"/>
                        </a:rPr>
                        <a:t>dist</a:t>
                      </a:r>
                      <a:r>
                        <a:rPr sz="3500" b="1" spc="-5" dirty="0" smtClean="0">
                          <a:latin typeface="Times New Roman"/>
                          <a:cs typeface="Times New Roman"/>
                        </a:rPr>
                        <a:t>[3</a:t>
                      </a:r>
                      <a:r>
                        <a:rPr sz="3500" b="1" spc="-5" dirty="0">
                          <a:latin typeface="Times New Roman"/>
                          <a:cs typeface="Times New Roman"/>
                        </a:rPr>
                        <a:t>]=</a:t>
                      </a:r>
                      <a:r>
                        <a:rPr sz="3500" b="1" spc="-5" dirty="0">
                          <a:latin typeface="Symbol"/>
                          <a:cs typeface="Symbol"/>
                        </a:rPr>
                        <a:t></a:t>
                      </a:r>
                      <a:endParaRPr sz="3500" dirty="0">
                        <a:latin typeface="Symbol"/>
                        <a:cs typeface="Symbol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7092521" y="2495271"/>
            <a:ext cx="690609" cy="8534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8264046" y="2685820"/>
            <a:ext cx="355204" cy="5397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132495" y="2748085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>
                <a:latin typeface="Arial"/>
                <a:cs typeface="Arial"/>
              </a:rPr>
              <a:t>3</a:t>
            </a:r>
          </a:p>
        </p:txBody>
      </p:sp>
      <p:sp>
        <p:nvSpPr>
          <p:cNvPr id="43" name="矩形 42"/>
          <p:cNvSpPr/>
          <p:nvPr/>
        </p:nvSpPr>
        <p:spPr>
          <a:xfrm>
            <a:off x="6074799" y="3337200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6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66009" y="4393481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5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75185" y="3979484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274195" y="4574984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7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019005" y="4393480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4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549888" y="3327575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3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93921" y="2369049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2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640177" y="2310103"/>
            <a:ext cx="327260" cy="385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006373" y="3133768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5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394359" y="2742685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7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255255" y="2230416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10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301573" y="3164162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3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799068" y="3694127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6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346265" y="3886025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4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40177" y="2953114"/>
            <a:ext cx="60722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5"/>
              </a:lnSpc>
            </a:pPr>
            <a:r>
              <a:rPr lang="en-US" altLang="zh-CN" sz="2400" dirty="0" smtClean="0">
                <a:latin typeface="Arial"/>
                <a:cs typeface="Arial"/>
              </a:rPr>
              <a:t>2</a:t>
            </a:r>
            <a:endParaRPr lang="en-US" altLang="zh-CN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01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2331" y="321384"/>
            <a:ext cx="8349516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运行实例（续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1653" y="1906461"/>
            <a:ext cx="1875367" cy="362629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algn="just">
              <a:lnSpc>
                <a:spcPct val="111500"/>
              </a:lnSpc>
              <a:spcBef>
                <a:spcPts val="53"/>
              </a:spcBef>
            </a:pP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[1]=0  </a:t>
            </a: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[6]=3  </a:t>
            </a: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[5]=4  </a:t>
            </a: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[2]=5  </a:t>
            </a:r>
            <a:r>
              <a:rPr sz="3500" b="1" i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dist</a:t>
            </a:r>
            <a:r>
              <a:rPr sz="35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[4]=9 </a:t>
            </a:r>
            <a:r>
              <a:rPr sz="3500" b="1" spc="-7" dirty="0">
                <a:latin typeface="Times New Roman"/>
                <a:cs typeface="Times New Roman"/>
              </a:rPr>
              <a:t> </a:t>
            </a:r>
            <a:r>
              <a:rPr sz="3500" b="1" i="1" spc="-7" dirty="0">
                <a:latin typeface="Times New Roman"/>
                <a:cs typeface="Times New Roman"/>
              </a:rPr>
              <a:t>d</a:t>
            </a:r>
            <a:r>
              <a:rPr sz="3500" b="1" i="1" spc="-13" dirty="0">
                <a:latin typeface="Times New Roman"/>
                <a:cs typeface="Times New Roman"/>
              </a:rPr>
              <a:t>i</a:t>
            </a:r>
            <a:r>
              <a:rPr sz="3500" b="1" i="1" spc="-7" dirty="0">
                <a:latin typeface="Times New Roman"/>
                <a:cs typeface="Times New Roman"/>
              </a:rPr>
              <a:t>st</a:t>
            </a:r>
            <a:r>
              <a:rPr sz="3500" b="1" spc="-7" dirty="0">
                <a:latin typeface="Times New Roman"/>
                <a:cs typeface="Times New Roman"/>
              </a:rPr>
              <a:t>[3]=</a:t>
            </a:r>
            <a:r>
              <a:rPr sz="3500" b="1" spc="-7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3702" y="3771221"/>
            <a:ext cx="1344507" cy="736600"/>
          </a:xfrm>
          <a:custGeom>
            <a:avLst/>
            <a:gdLst/>
            <a:ahLst/>
            <a:cxnLst/>
            <a:rect l="l" t="t" r="r" b="b"/>
            <a:pathLst>
              <a:path w="1008379" h="552450">
                <a:moveTo>
                  <a:pt x="0" y="0"/>
                </a:moveTo>
                <a:lnTo>
                  <a:pt x="1007935" y="55210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08356" y="4454685"/>
            <a:ext cx="114300" cy="93980"/>
          </a:xfrm>
          <a:custGeom>
            <a:avLst/>
            <a:gdLst/>
            <a:ahLst/>
            <a:cxnLst/>
            <a:rect l="l" t="t" r="r" b="b"/>
            <a:pathLst>
              <a:path w="85725" h="70485">
                <a:moveTo>
                  <a:pt x="36601" y="0"/>
                </a:moveTo>
                <a:lnTo>
                  <a:pt x="0" y="66827"/>
                </a:lnTo>
                <a:lnTo>
                  <a:pt x="85140" y="70015"/>
                </a:lnTo>
                <a:lnTo>
                  <a:pt x="36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59489" y="2850217"/>
            <a:ext cx="221827" cy="356447"/>
          </a:xfrm>
          <a:custGeom>
            <a:avLst/>
            <a:gdLst/>
            <a:ahLst/>
            <a:cxnLst/>
            <a:rect l="l" t="t" r="r" b="b"/>
            <a:pathLst>
              <a:path w="166370" h="267335">
                <a:moveTo>
                  <a:pt x="166128" y="0"/>
                </a:moveTo>
                <a:lnTo>
                  <a:pt x="0" y="267335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92447" y="3144868"/>
            <a:ext cx="145627" cy="170180"/>
          </a:xfrm>
          <a:custGeom>
            <a:avLst/>
            <a:gdLst/>
            <a:ahLst/>
            <a:cxnLst/>
            <a:rect l="l" t="t" r="r" b="b"/>
            <a:pathLst>
              <a:path w="109220" h="127635">
                <a:moveTo>
                  <a:pt x="11785" y="0"/>
                </a:moveTo>
                <a:lnTo>
                  <a:pt x="0" y="127241"/>
                </a:lnTo>
                <a:lnTo>
                  <a:pt x="108864" y="60325"/>
                </a:lnTo>
                <a:lnTo>
                  <a:pt x="117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4053" y="2850726"/>
            <a:ext cx="298027" cy="380153"/>
          </a:xfrm>
          <a:custGeom>
            <a:avLst/>
            <a:gdLst/>
            <a:ahLst/>
            <a:cxnLst/>
            <a:rect l="l" t="t" r="r" b="b"/>
            <a:pathLst>
              <a:path w="223520" h="285114">
                <a:moveTo>
                  <a:pt x="0" y="0"/>
                </a:moveTo>
                <a:lnTo>
                  <a:pt x="222961" y="284530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50906" y="3185443"/>
            <a:ext cx="103293" cy="111760"/>
          </a:xfrm>
          <a:custGeom>
            <a:avLst/>
            <a:gdLst/>
            <a:ahLst/>
            <a:cxnLst/>
            <a:rect l="l" t="t" r="r" b="b"/>
            <a:pathLst>
              <a:path w="77470" h="83819">
                <a:moveTo>
                  <a:pt x="59982" y="0"/>
                </a:moveTo>
                <a:lnTo>
                  <a:pt x="0" y="47002"/>
                </a:lnTo>
                <a:lnTo>
                  <a:pt x="76987" y="83477"/>
                </a:lnTo>
                <a:lnTo>
                  <a:pt x="599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24931" y="2531697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86407" y="4051778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68726" y="2314279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68726" y="2314279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2973" y="3310974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12973" y="3310974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53486" y="4384885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0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1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0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53486" y="4384885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0" y="202310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0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1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931196" y="4424695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37278" y="4384885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216027" y="0"/>
                </a:moveTo>
                <a:lnTo>
                  <a:pt x="166495" y="5343"/>
                </a:lnTo>
                <a:lnTo>
                  <a:pt x="121025" y="20562"/>
                </a:lnTo>
                <a:lnTo>
                  <a:pt x="80915" y="44445"/>
                </a:lnTo>
                <a:lnTo>
                  <a:pt x="47460" y="75775"/>
                </a:lnTo>
                <a:lnTo>
                  <a:pt x="21958" y="113339"/>
                </a:lnTo>
                <a:lnTo>
                  <a:pt x="5705" y="155922"/>
                </a:lnTo>
                <a:lnTo>
                  <a:pt x="0" y="202310"/>
                </a:lnTo>
                <a:lnTo>
                  <a:pt x="5705" y="248699"/>
                </a:lnTo>
                <a:lnTo>
                  <a:pt x="21958" y="291282"/>
                </a:lnTo>
                <a:lnTo>
                  <a:pt x="47460" y="328846"/>
                </a:lnTo>
                <a:lnTo>
                  <a:pt x="80915" y="360176"/>
                </a:lnTo>
                <a:lnTo>
                  <a:pt x="121025" y="384059"/>
                </a:lnTo>
                <a:lnTo>
                  <a:pt x="166495" y="399278"/>
                </a:lnTo>
                <a:lnTo>
                  <a:pt x="216027" y="404621"/>
                </a:lnTo>
                <a:lnTo>
                  <a:pt x="265558" y="399278"/>
                </a:lnTo>
                <a:lnTo>
                  <a:pt x="311028" y="384059"/>
                </a:lnTo>
                <a:lnTo>
                  <a:pt x="351138" y="360176"/>
                </a:lnTo>
                <a:lnTo>
                  <a:pt x="384593" y="328846"/>
                </a:lnTo>
                <a:lnTo>
                  <a:pt x="410095" y="291282"/>
                </a:lnTo>
                <a:lnTo>
                  <a:pt x="426348" y="248699"/>
                </a:lnTo>
                <a:lnTo>
                  <a:pt x="432054" y="202310"/>
                </a:lnTo>
                <a:lnTo>
                  <a:pt x="426348" y="155922"/>
                </a:lnTo>
                <a:lnTo>
                  <a:pt x="410095" y="113339"/>
                </a:lnTo>
                <a:lnTo>
                  <a:pt x="384593" y="75775"/>
                </a:lnTo>
                <a:lnTo>
                  <a:pt x="351138" y="44445"/>
                </a:lnTo>
                <a:lnTo>
                  <a:pt x="311028" y="20562"/>
                </a:lnTo>
                <a:lnTo>
                  <a:pt x="265558" y="5343"/>
                </a:lnTo>
                <a:lnTo>
                  <a:pt x="216027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37278" y="4384885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0" y="202310"/>
                </a:moveTo>
                <a:lnTo>
                  <a:pt x="5705" y="155922"/>
                </a:lnTo>
                <a:lnTo>
                  <a:pt x="21958" y="113339"/>
                </a:lnTo>
                <a:lnTo>
                  <a:pt x="47460" y="75775"/>
                </a:lnTo>
                <a:lnTo>
                  <a:pt x="80915" y="44445"/>
                </a:lnTo>
                <a:lnTo>
                  <a:pt x="121025" y="20562"/>
                </a:lnTo>
                <a:lnTo>
                  <a:pt x="166495" y="5343"/>
                </a:lnTo>
                <a:lnTo>
                  <a:pt x="216027" y="0"/>
                </a:lnTo>
                <a:lnTo>
                  <a:pt x="265558" y="5343"/>
                </a:lnTo>
                <a:lnTo>
                  <a:pt x="311028" y="20562"/>
                </a:lnTo>
                <a:lnTo>
                  <a:pt x="351138" y="44445"/>
                </a:lnTo>
                <a:lnTo>
                  <a:pt x="384593" y="75775"/>
                </a:lnTo>
                <a:lnTo>
                  <a:pt x="410095" y="113339"/>
                </a:lnTo>
                <a:lnTo>
                  <a:pt x="426348" y="155922"/>
                </a:lnTo>
                <a:lnTo>
                  <a:pt x="432054" y="202310"/>
                </a:lnTo>
                <a:lnTo>
                  <a:pt x="426348" y="248699"/>
                </a:lnTo>
                <a:lnTo>
                  <a:pt x="410095" y="291282"/>
                </a:lnTo>
                <a:lnTo>
                  <a:pt x="384593" y="328846"/>
                </a:lnTo>
                <a:lnTo>
                  <a:pt x="351138" y="360176"/>
                </a:lnTo>
                <a:lnTo>
                  <a:pt x="311028" y="384059"/>
                </a:lnTo>
                <a:lnTo>
                  <a:pt x="265558" y="399278"/>
                </a:lnTo>
                <a:lnTo>
                  <a:pt x="216027" y="404621"/>
                </a:lnTo>
                <a:lnTo>
                  <a:pt x="166495" y="399278"/>
                </a:lnTo>
                <a:lnTo>
                  <a:pt x="121025" y="384059"/>
                </a:lnTo>
                <a:lnTo>
                  <a:pt x="80915" y="360176"/>
                </a:lnTo>
                <a:lnTo>
                  <a:pt x="47460" y="328846"/>
                </a:lnTo>
                <a:lnTo>
                  <a:pt x="21958" y="291282"/>
                </a:lnTo>
                <a:lnTo>
                  <a:pt x="5705" y="248699"/>
                </a:lnTo>
                <a:lnTo>
                  <a:pt x="0" y="20231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14151" y="4424695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77789" y="3310974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77789" y="3310974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763006" y="2637796"/>
            <a:ext cx="314113" cy="1153159"/>
          </a:xfrm>
          <a:prstGeom prst="rect">
            <a:avLst/>
          </a:prstGeom>
        </p:spPr>
        <p:txBody>
          <a:bodyPr vert="horz" wrap="square" lIns="0" tIns="170176" rIns="0" bIns="0" rtlCol="0">
            <a:spAutoFit/>
          </a:bodyPr>
          <a:lstStyle/>
          <a:p>
            <a:pPr marL="16933">
              <a:spcBef>
                <a:spcPts val="1340"/>
              </a:spcBef>
            </a:pPr>
            <a:r>
              <a:rPr sz="2700" spc="-7" dirty="0"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  <a:p>
            <a:pPr marL="108371">
              <a:spcBef>
                <a:spcPts val="1207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71270" y="4680619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90317" y="2649974"/>
            <a:ext cx="244687" cy="1771421"/>
          </a:xfrm>
          <a:prstGeom prst="rect">
            <a:avLst/>
          </a:prstGeom>
        </p:spPr>
        <p:txBody>
          <a:bodyPr vert="horz" wrap="square" lIns="0" tIns="164249" rIns="0" bIns="0" rtlCol="0">
            <a:spAutoFit/>
          </a:bodyPr>
          <a:lstStyle/>
          <a:p>
            <a:pPr marL="38944">
              <a:spcBef>
                <a:spcPts val="1293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16933">
              <a:spcBef>
                <a:spcPts val="1153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  <a:p>
            <a:pPr marL="19472">
              <a:spcBef>
                <a:spcPts val="1613"/>
              </a:spcBef>
            </a:pPr>
            <a:r>
              <a:rPr sz="2700" spc="-7" dirty="0"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98978" y="3832691"/>
            <a:ext cx="315805" cy="517313"/>
          </a:xfrm>
          <a:custGeom>
            <a:avLst/>
            <a:gdLst/>
            <a:ahLst/>
            <a:cxnLst/>
            <a:rect l="l" t="t" r="r" b="b"/>
            <a:pathLst>
              <a:path w="236854" h="387985">
                <a:moveTo>
                  <a:pt x="0" y="0"/>
                </a:moveTo>
                <a:lnTo>
                  <a:pt x="236829" y="38736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36488" y="4287757"/>
            <a:ext cx="144780" cy="170180"/>
          </a:xfrm>
          <a:custGeom>
            <a:avLst/>
            <a:gdLst/>
            <a:ahLst/>
            <a:cxnLst/>
            <a:rect l="l" t="t" r="r" b="b"/>
            <a:pathLst>
              <a:path w="108585" h="127635">
                <a:moveTo>
                  <a:pt x="97523" y="0"/>
                </a:moveTo>
                <a:lnTo>
                  <a:pt x="0" y="59613"/>
                </a:lnTo>
                <a:lnTo>
                  <a:pt x="108381" y="127330"/>
                </a:lnTo>
                <a:lnTo>
                  <a:pt x="975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56312" y="4654126"/>
            <a:ext cx="781473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585724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71643" y="4603322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85489" y="2824327"/>
            <a:ext cx="1141307" cy="659553"/>
          </a:xfrm>
          <a:custGeom>
            <a:avLst/>
            <a:gdLst/>
            <a:ahLst/>
            <a:cxnLst/>
            <a:rect l="l" t="t" r="r" b="b"/>
            <a:pathLst>
              <a:path w="855979" h="494664">
                <a:moveTo>
                  <a:pt x="0" y="494144"/>
                </a:moveTo>
                <a:lnTo>
                  <a:pt x="855535" y="0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66101" y="2760814"/>
            <a:ext cx="170180" cy="142240"/>
          </a:xfrm>
          <a:custGeom>
            <a:avLst/>
            <a:gdLst/>
            <a:ahLst/>
            <a:cxnLst/>
            <a:rect l="l" t="t" r="r" b="b"/>
            <a:pathLst>
              <a:path w="127635" h="106680">
                <a:moveTo>
                  <a:pt x="127558" y="0"/>
                </a:moveTo>
                <a:lnTo>
                  <a:pt x="0" y="7683"/>
                </a:lnTo>
                <a:lnTo>
                  <a:pt x="57175" y="106654"/>
                </a:lnTo>
                <a:lnTo>
                  <a:pt x="12755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22342" y="3921268"/>
            <a:ext cx="304800" cy="463973"/>
          </a:xfrm>
          <a:custGeom>
            <a:avLst/>
            <a:gdLst/>
            <a:ahLst/>
            <a:cxnLst/>
            <a:rect l="l" t="t" r="r" b="b"/>
            <a:pathLst>
              <a:path w="228600" h="347979">
                <a:moveTo>
                  <a:pt x="0" y="347713"/>
                </a:moveTo>
                <a:lnTo>
                  <a:pt x="22806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74669" y="3850478"/>
            <a:ext cx="98213" cy="113453"/>
          </a:xfrm>
          <a:custGeom>
            <a:avLst/>
            <a:gdLst/>
            <a:ahLst/>
            <a:cxnLst/>
            <a:rect l="l" t="t" r="r" b="b"/>
            <a:pathLst>
              <a:path w="73660" h="85089">
                <a:moveTo>
                  <a:pt x="73647" y="0"/>
                </a:moveTo>
                <a:lnTo>
                  <a:pt x="0" y="42824"/>
                </a:lnTo>
                <a:lnTo>
                  <a:pt x="63715" y="84607"/>
                </a:lnTo>
                <a:lnTo>
                  <a:pt x="73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22470" y="2399621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022470" y="2399621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199612" y="2440031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03718" y="2818009"/>
            <a:ext cx="917787" cy="1647613"/>
          </a:xfrm>
          <a:custGeom>
            <a:avLst/>
            <a:gdLst/>
            <a:ahLst/>
            <a:cxnLst/>
            <a:rect l="l" t="t" r="r" b="b"/>
            <a:pathLst>
              <a:path w="688339" h="1235710">
                <a:moveTo>
                  <a:pt x="688225" y="1235163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62507" y="2744043"/>
            <a:ext cx="93980" cy="114300"/>
          </a:xfrm>
          <a:custGeom>
            <a:avLst/>
            <a:gdLst/>
            <a:ahLst/>
            <a:cxnLst/>
            <a:rect l="l" t="t" r="r" b="b"/>
            <a:pathLst>
              <a:path w="70485" h="85725">
                <a:moveTo>
                  <a:pt x="0" y="0"/>
                </a:moveTo>
                <a:lnTo>
                  <a:pt x="3809" y="85115"/>
                </a:lnTo>
                <a:lnTo>
                  <a:pt x="70370" y="48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856270" y="2200654"/>
            <a:ext cx="1157392" cy="2026920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06677">
              <a:spcBef>
                <a:spcPts val="127"/>
              </a:spcBef>
              <a:tabLst>
                <a:tab pos="496134" algn="l"/>
              </a:tabLst>
            </a:pPr>
            <a:r>
              <a:rPr sz="4000" spc="-9" baseline="-25000" dirty="0">
                <a:latin typeface="Arial"/>
                <a:cs typeface="Arial"/>
              </a:rPr>
              <a:t>1	</a:t>
            </a:r>
            <a:r>
              <a:rPr sz="2700" u="heavy" spc="-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10</a:t>
            </a:r>
            <a:r>
              <a:rPr sz="270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2700">
              <a:latin typeface="Arial"/>
              <a:cs typeface="Arial"/>
            </a:endParaRPr>
          </a:p>
          <a:p>
            <a:pPr marL="50799">
              <a:lnSpc>
                <a:spcPts val="2727"/>
              </a:lnSpc>
              <a:spcBef>
                <a:spcPts val="2800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  <a:p>
            <a:pPr marL="917764">
              <a:lnSpc>
                <a:spcPts val="2727"/>
              </a:lnSpc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342891">
              <a:spcBef>
                <a:spcPts val="1047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10923" y="3408790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311013" y="2927940"/>
            <a:ext cx="108373" cy="1372447"/>
          </a:xfrm>
          <a:custGeom>
            <a:avLst/>
            <a:gdLst/>
            <a:ahLst/>
            <a:cxnLst/>
            <a:rect l="l" t="t" r="r" b="b"/>
            <a:pathLst>
              <a:path w="81279" h="1029335">
                <a:moveTo>
                  <a:pt x="0" y="0"/>
                </a:moveTo>
                <a:lnTo>
                  <a:pt x="80759" y="10288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66715" y="4278938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71" y="0"/>
                </a:moveTo>
                <a:lnTo>
                  <a:pt x="0" y="5968"/>
                </a:lnTo>
                <a:lnTo>
                  <a:pt x="43954" y="78955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142454" y="1247307"/>
            <a:ext cx="2198793" cy="56218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3500" b="1" i="1" spc="-7" dirty="0">
                <a:latin typeface="Times New Roman"/>
                <a:cs typeface="Times New Roman"/>
              </a:rPr>
              <a:t>S</a:t>
            </a:r>
            <a:r>
              <a:rPr sz="3500" b="1" i="1" spc="-80" dirty="0">
                <a:latin typeface="Times New Roman"/>
                <a:cs typeface="Times New Roman"/>
              </a:rPr>
              <a:t> </a:t>
            </a:r>
            <a:r>
              <a:rPr sz="3500" b="1" spc="-7" dirty="0">
                <a:latin typeface="Times New Roman"/>
                <a:cs typeface="Times New Roman"/>
              </a:rPr>
              <a:t>={1,6,5,2}</a:t>
            </a:r>
            <a:endParaRPr sz="3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316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373" y="2504035"/>
            <a:ext cx="1875367" cy="297944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09600"/>
              </a:lnSpc>
              <a:spcBef>
                <a:spcPts val="133"/>
              </a:spcBef>
            </a:pP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[6]=3  </a:t>
            </a: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[5]=4  </a:t>
            </a: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[2]=5  </a:t>
            </a: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[4]=9  </a:t>
            </a:r>
            <a:r>
              <a:rPr sz="3500" b="1" i="1" spc="-7" dirty="0">
                <a:latin typeface="Times New Roman"/>
                <a:cs typeface="Times New Roman"/>
              </a:rPr>
              <a:t>d</a:t>
            </a:r>
            <a:r>
              <a:rPr sz="3500" b="1" i="1" u="heavy" spc="-13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500" b="1" i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st</a:t>
            </a:r>
            <a:r>
              <a:rPr sz="3500" b="1" u="heavy" spc="-13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35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3500" b="1" u="heavy" spc="-13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]</a:t>
            </a:r>
            <a:r>
              <a:rPr sz="35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=12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0331" y="321384"/>
            <a:ext cx="832561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</a:rPr>
              <a:t>运行实例（续</a:t>
            </a:r>
            <a:r>
              <a:rPr sz="4000" b="1" spc="-20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4" name="object 4"/>
          <p:cNvSpPr/>
          <p:nvPr/>
        </p:nvSpPr>
        <p:spPr>
          <a:xfrm>
            <a:off x="6809315" y="3814741"/>
            <a:ext cx="1307253" cy="716280"/>
          </a:xfrm>
          <a:custGeom>
            <a:avLst/>
            <a:gdLst/>
            <a:ahLst/>
            <a:cxnLst/>
            <a:rect l="l" t="t" r="r" b="b"/>
            <a:pathLst>
              <a:path w="980439" h="537210">
                <a:moveTo>
                  <a:pt x="0" y="0"/>
                </a:moveTo>
                <a:lnTo>
                  <a:pt x="980084" y="536854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57211" y="4451511"/>
            <a:ext cx="171027" cy="140547"/>
          </a:xfrm>
          <a:custGeom>
            <a:avLst/>
            <a:gdLst/>
            <a:ahLst/>
            <a:cxnLst/>
            <a:rect l="l" t="t" r="r" b="b"/>
            <a:pathLst>
              <a:path w="128270" h="105410">
                <a:moveTo>
                  <a:pt x="54902" y="0"/>
                </a:moveTo>
                <a:lnTo>
                  <a:pt x="0" y="100253"/>
                </a:lnTo>
                <a:lnTo>
                  <a:pt x="127698" y="105041"/>
                </a:lnTo>
                <a:lnTo>
                  <a:pt x="5490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65610" y="2894245"/>
            <a:ext cx="221827" cy="356447"/>
          </a:xfrm>
          <a:custGeom>
            <a:avLst/>
            <a:gdLst/>
            <a:ahLst/>
            <a:cxnLst/>
            <a:rect l="l" t="t" r="r" b="b"/>
            <a:pathLst>
              <a:path w="166370" h="267335">
                <a:moveTo>
                  <a:pt x="166128" y="0"/>
                </a:moveTo>
                <a:lnTo>
                  <a:pt x="0" y="267335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8568" y="3188896"/>
            <a:ext cx="145627" cy="170180"/>
          </a:xfrm>
          <a:custGeom>
            <a:avLst/>
            <a:gdLst/>
            <a:ahLst/>
            <a:cxnLst/>
            <a:rect l="l" t="t" r="r" b="b"/>
            <a:pathLst>
              <a:path w="109220" h="127635">
                <a:moveTo>
                  <a:pt x="11785" y="0"/>
                </a:moveTo>
                <a:lnTo>
                  <a:pt x="0" y="127241"/>
                </a:lnTo>
                <a:lnTo>
                  <a:pt x="108864" y="60325"/>
                </a:lnTo>
                <a:lnTo>
                  <a:pt x="117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10174" y="2894754"/>
            <a:ext cx="298027" cy="380153"/>
          </a:xfrm>
          <a:custGeom>
            <a:avLst/>
            <a:gdLst/>
            <a:ahLst/>
            <a:cxnLst/>
            <a:rect l="l" t="t" r="r" b="b"/>
            <a:pathLst>
              <a:path w="223520" h="285114">
                <a:moveTo>
                  <a:pt x="0" y="0"/>
                </a:moveTo>
                <a:lnTo>
                  <a:pt x="222961" y="284530"/>
                </a:lnTo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57027" y="3229471"/>
            <a:ext cx="103293" cy="111760"/>
          </a:xfrm>
          <a:custGeom>
            <a:avLst/>
            <a:gdLst/>
            <a:ahLst/>
            <a:cxnLst/>
            <a:rect l="l" t="t" r="r" b="b"/>
            <a:pathLst>
              <a:path w="77470" h="83819">
                <a:moveTo>
                  <a:pt x="59982" y="0"/>
                </a:moveTo>
                <a:lnTo>
                  <a:pt x="0" y="47002"/>
                </a:lnTo>
                <a:lnTo>
                  <a:pt x="76987" y="83477"/>
                </a:lnTo>
                <a:lnTo>
                  <a:pt x="599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31052" y="257572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92528" y="4095806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74847" y="2358307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74847" y="2358307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19094" y="3355002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9094" y="3355002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59607" y="4428913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0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1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0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59607" y="4428913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0" y="202310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0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1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37317" y="4468723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43399" y="4428913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216027" y="0"/>
                </a:moveTo>
                <a:lnTo>
                  <a:pt x="166495" y="5343"/>
                </a:lnTo>
                <a:lnTo>
                  <a:pt x="121025" y="20562"/>
                </a:lnTo>
                <a:lnTo>
                  <a:pt x="80915" y="44445"/>
                </a:lnTo>
                <a:lnTo>
                  <a:pt x="47460" y="75775"/>
                </a:lnTo>
                <a:lnTo>
                  <a:pt x="21958" y="113339"/>
                </a:lnTo>
                <a:lnTo>
                  <a:pt x="5705" y="155922"/>
                </a:lnTo>
                <a:lnTo>
                  <a:pt x="0" y="202310"/>
                </a:lnTo>
                <a:lnTo>
                  <a:pt x="5705" y="248699"/>
                </a:lnTo>
                <a:lnTo>
                  <a:pt x="21958" y="291282"/>
                </a:lnTo>
                <a:lnTo>
                  <a:pt x="47460" y="328846"/>
                </a:lnTo>
                <a:lnTo>
                  <a:pt x="80915" y="360176"/>
                </a:lnTo>
                <a:lnTo>
                  <a:pt x="121025" y="384059"/>
                </a:lnTo>
                <a:lnTo>
                  <a:pt x="166495" y="399278"/>
                </a:lnTo>
                <a:lnTo>
                  <a:pt x="216027" y="404621"/>
                </a:lnTo>
                <a:lnTo>
                  <a:pt x="265558" y="399278"/>
                </a:lnTo>
                <a:lnTo>
                  <a:pt x="311028" y="384059"/>
                </a:lnTo>
                <a:lnTo>
                  <a:pt x="351138" y="360176"/>
                </a:lnTo>
                <a:lnTo>
                  <a:pt x="384593" y="328846"/>
                </a:lnTo>
                <a:lnTo>
                  <a:pt x="410095" y="291282"/>
                </a:lnTo>
                <a:lnTo>
                  <a:pt x="426348" y="248699"/>
                </a:lnTo>
                <a:lnTo>
                  <a:pt x="432054" y="202310"/>
                </a:lnTo>
                <a:lnTo>
                  <a:pt x="426348" y="155922"/>
                </a:lnTo>
                <a:lnTo>
                  <a:pt x="410095" y="113339"/>
                </a:lnTo>
                <a:lnTo>
                  <a:pt x="384593" y="75775"/>
                </a:lnTo>
                <a:lnTo>
                  <a:pt x="351138" y="44445"/>
                </a:lnTo>
                <a:lnTo>
                  <a:pt x="311028" y="20562"/>
                </a:lnTo>
                <a:lnTo>
                  <a:pt x="265558" y="5343"/>
                </a:lnTo>
                <a:lnTo>
                  <a:pt x="2160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43399" y="4428913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0" y="202310"/>
                </a:moveTo>
                <a:lnTo>
                  <a:pt x="5705" y="155922"/>
                </a:lnTo>
                <a:lnTo>
                  <a:pt x="21958" y="113339"/>
                </a:lnTo>
                <a:lnTo>
                  <a:pt x="47460" y="75775"/>
                </a:lnTo>
                <a:lnTo>
                  <a:pt x="80915" y="44445"/>
                </a:lnTo>
                <a:lnTo>
                  <a:pt x="121025" y="20562"/>
                </a:lnTo>
                <a:lnTo>
                  <a:pt x="166495" y="5343"/>
                </a:lnTo>
                <a:lnTo>
                  <a:pt x="216027" y="0"/>
                </a:lnTo>
                <a:lnTo>
                  <a:pt x="265558" y="5343"/>
                </a:lnTo>
                <a:lnTo>
                  <a:pt x="311028" y="20562"/>
                </a:lnTo>
                <a:lnTo>
                  <a:pt x="351138" y="44445"/>
                </a:lnTo>
                <a:lnTo>
                  <a:pt x="384593" y="75775"/>
                </a:lnTo>
                <a:lnTo>
                  <a:pt x="410095" y="113339"/>
                </a:lnTo>
                <a:lnTo>
                  <a:pt x="426348" y="155922"/>
                </a:lnTo>
                <a:lnTo>
                  <a:pt x="432054" y="202310"/>
                </a:lnTo>
                <a:lnTo>
                  <a:pt x="426348" y="248699"/>
                </a:lnTo>
                <a:lnTo>
                  <a:pt x="410095" y="291282"/>
                </a:lnTo>
                <a:lnTo>
                  <a:pt x="384593" y="328846"/>
                </a:lnTo>
                <a:lnTo>
                  <a:pt x="351138" y="360176"/>
                </a:lnTo>
                <a:lnTo>
                  <a:pt x="311028" y="384059"/>
                </a:lnTo>
                <a:lnTo>
                  <a:pt x="265558" y="399278"/>
                </a:lnTo>
                <a:lnTo>
                  <a:pt x="216027" y="404621"/>
                </a:lnTo>
                <a:lnTo>
                  <a:pt x="166495" y="399278"/>
                </a:lnTo>
                <a:lnTo>
                  <a:pt x="121025" y="384059"/>
                </a:lnTo>
                <a:lnTo>
                  <a:pt x="80915" y="360176"/>
                </a:lnTo>
                <a:lnTo>
                  <a:pt x="47460" y="328846"/>
                </a:lnTo>
                <a:lnTo>
                  <a:pt x="21958" y="291282"/>
                </a:lnTo>
                <a:lnTo>
                  <a:pt x="5705" y="248699"/>
                </a:lnTo>
                <a:lnTo>
                  <a:pt x="0" y="20231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420272" y="4468723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783910" y="3355002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83910" y="3355002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869127" y="2681824"/>
            <a:ext cx="314113" cy="1153159"/>
          </a:xfrm>
          <a:prstGeom prst="rect">
            <a:avLst/>
          </a:prstGeom>
        </p:spPr>
        <p:txBody>
          <a:bodyPr vert="horz" wrap="square" lIns="0" tIns="170176" rIns="0" bIns="0" rtlCol="0">
            <a:spAutoFit/>
          </a:bodyPr>
          <a:lstStyle/>
          <a:p>
            <a:pPr marL="16933">
              <a:spcBef>
                <a:spcPts val="1340"/>
              </a:spcBef>
            </a:pPr>
            <a:r>
              <a:rPr sz="2700" spc="-7" dirty="0"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  <a:p>
            <a:pPr marL="108371">
              <a:spcBef>
                <a:spcPts val="1207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77391" y="4724647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6437" y="2694002"/>
            <a:ext cx="244687" cy="1771421"/>
          </a:xfrm>
          <a:prstGeom prst="rect">
            <a:avLst/>
          </a:prstGeom>
        </p:spPr>
        <p:txBody>
          <a:bodyPr vert="horz" wrap="square" lIns="0" tIns="164249" rIns="0" bIns="0" rtlCol="0">
            <a:spAutoFit/>
          </a:bodyPr>
          <a:lstStyle/>
          <a:p>
            <a:pPr marL="38944">
              <a:spcBef>
                <a:spcPts val="1293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16933">
              <a:spcBef>
                <a:spcPts val="1153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  <a:p>
            <a:pPr marL="19472">
              <a:spcBef>
                <a:spcPts val="1613"/>
              </a:spcBef>
            </a:pPr>
            <a:r>
              <a:rPr sz="2700" spc="-7" dirty="0"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05099" y="3876719"/>
            <a:ext cx="315805" cy="517313"/>
          </a:xfrm>
          <a:custGeom>
            <a:avLst/>
            <a:gdLst/>
            <a:ahLst/>
            <a:cxnLst/>
            <a:rect l="l" t="t" r="r" b="b"/>
            <a:pathLst>
              <a:path w="236854" h="387985">
                <a:moveTo>
                  <a:pt x="0" y="0"/>
                </a:moveTo>
                <a:lnTo>
                  <a:pt x="236829" y="38736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42609" y="4331785"/>
            <a:ext cx="144780" cy="170180"/>
          </a:xfrm>
          <a:custGeom>
            <a:avLst/>
            <a:gdLst/>
            <a:ahLst/>
            <a:cxnLst/>
            <a:rect l="l" t="t" r="r" b="b"/>
            <a:pathLst>
              <a:path w="108585" h="127635">
                <a:moveTo>
                  <a:pt x="97523" y="0"/>
                </a:moveTo>
                <a:lnTo>
                  <a:pt x="0" y="59613"/>
                </a:lnTo>
                <a:lnTo>
                  <a:pt x="108381" y="127330"/>
                </a:lnTo>
                <a:lnTo>
                  <a:pt x="975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62433" y="4698154"/>
            <a:ext cx="781473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585724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77764" y="46473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91610" y="2868355"/>
            <a:ext cx="1141307" cy="659553"/>
          </a:xfrm>
          <a:custGeom>
            <a:avLst/>
            <a:gdLst/>
            <a:ahLst/>
            <a:cxnLst/>
            <a:rect l="l" t="t" r="r" b="b"/>
            <a:pathLst>
              <a:path w="855979" h="494664">
                <a:moveTo>
                  <a:pt x="0" y="494144"/>
                </a:moveTo>
                <a:lnTo>
                  <a:pt x="855535" y="0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72222" y="2804842"/>
            <a:ext cx="170180" cy="142240"/>
          </a:xfrm>
          <a:custGeom>
            <a:avLst/>
            <a:gdLst/>
            <a:ahLst/>
            <a:cxnLst/>
            <a:rect l="l" t="t" r="r" b="b"/>
            <a:pathLst>
              <a:path w="127635" h="106680">
                <a:moveTo>
                  <a:pt x="127558" y="0"/>
                </a:moveTo>
                <a:lnTo>
                  <a:pt x="0" y="7683"/>
                </a:lnTo>
                <a:lnTo>
                  <a:pt x="57175" y="106654"/>
                </a:lnTo>
                <a:lnTo>
                  <a:pt x="12755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28463" y="3965296"/>
            <a:ext cx="304800" cy="463973"/>
          </a:xfrm>
          <a:custGeom>
            <a:avLst/>
            <a:gdLst/>
            <a:ahLst/>
            <a:cxnLst/>
            <a:rect l="l" t="t" r="r" b="b"/>
            <a:pathLst>
              <a:path w="228600" h="347979">
                <a:moveTo>
                  <a:pt x="0" y="347713"/>
                </a:moveTo>
                <a:lnTo>
                  <a:pt x="22806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80790" y="3894506"/>
            <a:ext cx="98213" cy="113453"/>
          </a:xfrm>
          <a:custGeom>
            <a:avLst/>
            <a:gdLst/>
            <a:ahLst/>
            <a:cxnLst/>
            <a:rect l="l" t="t" r="r" b="b"/>
            <a:pathLst>
              <a:path w="73660" h="85089">
                <a:moveTo>
                  <a:pt x="73647" y="0"/>
                </a:moveTo>
                <a:lnTo>
                  <a:pt x="0" y="42824"/>
                </a:lnTo>
                <a:lnTo>
                  <a:pt x="63715" y="84607"/>
                </a:lnTo>
                <a:lnTo>
                  <a:pt x="73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28591" y="2443649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8591" y="2443649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305733" y="2484059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9839" y="2862037"/>
            <a:ext cx="917787" cy="1647613"/>
          </a:xfrm>
          <a:custGeom>
            <a:avLst/>
            <a:gdLst/>
            <a:ahLst/>
            <a:cxnLst/>
            <a:rect l="l" t="t" r="r" b="b"/>
            <a:pathLst>
              <a:path w="688339" h="1235710">
                <a:moveTo>
                  <a:pt x="688225" y="1235163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368628" y="2788071"/>
            <a:ext cx="93980" cy="114300"/>
          </a:xfrm>
          <a:custGeom>
            <a:avLst/>
            <a:gdLst/>
            <a:ahLst/>
            <a:cxnLst/>
            <a:rect l="l" t="t" r="r" b="b"/>
            <a:pathLst>
              <a:path w="70485" h="85725">
                <a:moveTo>
                  <a:pt x="0" y="0"/>
                </a:moveTo>
                <a:lnTo>
                  <a:pt x="3809" y="85115"/>
                </a:lnTo>
                <a:lnTo>
                  <a:pt x="70370" y="48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962391" y="2244682"/>
            <a:ext cx="1157392" cy="2026920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06677">
              <a:spcBef>
                <a:spcPts val="127"/>
              </a:spcBef>
              <a:tabLst>
                <a:tab pos="496134" algn="l"/>
              </a:tabLst>
            </a:pPr>
            <a:r>
              <a:rPr sz="4000" spc="-9" baseline="-25000" dirty="0">
                <a:latin typeface="Arial"/>
                <a:cs typeface="Arial"/>
              </a:rPr>
              <a:t>1	</a:t>
            </a:r>
            <a:r>
              <a:rPr sz="2700" u="heavy" spc="-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10</a:t>
            </a:r>
            <a:r>
              <a:rPr sz="270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2700">
              <a:latin typeface="Arial"/>
              <a:cs typeface="Arial"/>
            </a:endParaRPr>
          </a:p>
          <a:p>
            <a:pPr marL="50799">
              <a:lnSpc>
                <a:spcPts val="2727"/>
              </a:lnSpc>
              <a:spcBef>
                <a:spcPts val="2800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  <a:p>
            <a:pPr marL="917764">
              <a:lnSpc>
                <a:spcPts val="2727"/>
              </a:lnSpc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342891">
              <a:spcBef>
                <a:spcPts val="1047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517044" y="3452818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417134" y="2971968"/>
            <a:ext cx="108373" cy="1372447"/>
          </a:xfrm>
          <a:custGeom>
            <a:avLst/>
            <a:gdLst/>
            <a:ahLst/>
            <a:cxnLst/>
            <a:rect l="l" t="t" r="r" b="b"/>
            <a:pathLst>
              <a:path w="81279" h="1029335">
                <a:moveTo>
                  <a:pt x="0" y="0"/>
                </a:moveTo>
                <a:lnTo>
                  <a:pt x="80759" y="10288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72836" y="4322966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71" y="0"/>
                </a:moveTo>
                <a:lnTo>
                  <a:pt x="0" y="5968"/>
                </a:lnTo>
                <a:lnTo>
                  <a:pt x="43954" y="78955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172373" y="1335634"/>
            <a:ext cx="2418927" cy="1202267"/>
          </a:xfrm>
          <a:prstGeom prst="rect">
            <a:avLst/>
          </a:prstGeom>
        </p:spPr>
        <p:txBody>
          <a:bodyPr vert="horz" wrap="square" lIns="0" tIns="72812" rIns="0" bIns="0" rtlCol="0">
            <a:spAutoFit/>
          </a:bodyPr>
          <a:lstStyle/>
          <a:p>
            <a:pPr marL="16933">
              <a:spcBef>
                <a:spcPts val="573"/>
              </a:spcBef>
            </a:pPr>
            <a:r>
              <a:rPr sz="3500" b="1" i="1" spc="-7" dirty="0">
                <a:latin typeface="Times New Roman"/>
                <a:cs typeface="Times New Roman"/>
              </a:rPr>
              <a:t>S</a:t>
            </a:r>
            <a:r>
              <a:rPr sz="3500" b="1" spc="-7" dirty="0">
                <a:latin typeface="Times New Roman"/>
                <a:cs typeface="Times New Roman"/>
              </a:rPr>
              <a:t>={1,6,5,2,4}</a:t>
            </a:r>
            <a:endParaRPr sz="3500">
              <a:latin typeface="Times New Roman"/>
              <a:cs typeface="Times New Roman"/>
            </a:endParaRPr>
          </a:p>
          <a:p>
            <a:pPr marL="16933">
              <a:spcBef>
                <a:spcPts val="440"/>
              </a:spcBef>
            </a:pPr>
            <a:r>
              <a:rPr sz="35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35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[1]=0</a:t>
            </a:r>
            <a:endParaRPr sz="3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468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5661" y="1222585"/>
            <a:ext cx="2749127" cy="447130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i="1" spc="-7" dirty="0">
                <a:latin typeface="Times New Roman"/>
                <a:cs typeface="Times New Roman"/>
              </a:rPr>
              <a:t>S</a:t>
            </a:r>
            <a:r>
              <a:rPr sz="2800" b="1" spc="-7" dirty="0">
                <a:latin typeface="Times New Roman"/>
                <a:cs typeface="Times New Roman"/>
              </a:rPr>
              <a:t>={1,6,5,2,4,3}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8333" y="1759138"/>
            <a:ext cx="1985433" cy="2601566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2800" b="1" i="1" spc="-9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[1]=0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2800" b="1" i="1" spc="-9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[6]=3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2800" b="1" i="1" spc="-10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[5]=4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2800" b="1" i="1" spc="-10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[2]=5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2800" b="1" i="1" spc="-9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[4]=9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dist</a:t>
            </a:r>
            <a:r>
              <a:rPr sz="2800" b="1" i="1" spc="-8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[3]=12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25531" y="266351"/>
            <a:ext cx="8321128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运行实例（续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5" name="object 5"/>
          <p:cNvSpPr/>
          <p:nvPr/>
        </p:nvSpPr>
        <p:spPr>
          <a:xfrm>
            <a:off x="6327805" y="3075950"/>
            <a:ext cx="1307253" cy="716280"/>
          </a:xfrm>
          <a:custGeom>
            <a:avLst/>
            <a:gdLst/>
            <a:ahLst/>
            <a:cxnLst/>
            <a:rect l="l" t="t" r="r" b="b"/>
            <a:pathLst>
              <a:path w="980439" h="537210">
                <a:moveTo>
                  <a:pt x="0" y="0"/>
                </a:moveTo>
                <a:lnTo>
                  <a:pt x="980084" y="536854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75701" y="3712720"/>
            <a:ext cx="171027" cy="140547"/>
          </a:xfrm>
          <a:custGeom>
            <a:avLst/>
            <a:gdLst/>
            <a:ahLst/>
            <a:cxnLst/>
            <a:rect l="l" t="t" r="r" b="b"/>
            <a:pathLst>
              <a:path w="128270" h="105410">
                <a:moveTo>
                  <a:pt x="54902" y="0"/>
                </a:moveTo>
                <a:lnTo>
                  <a:pt x="0" y="100253"/>
                </a:lnTo>
                <a:lnTo>
                  <a:pt x="127698" y="105041"/>
                </a:lnTo>
                <a:lnTo>
                  <a:pt x="5490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4100" y="2155454"/>
            <a:ext cx="221827" cy="356447"/>
          </a:xfrm>
          <a:custGeom>
            <a:avLst/>
            <a:gdLst/>
            <a:ahLst/>
            <a:cxnLst/>
            <a:rect l="l" t="t" r="r" b="b"/>
            <a:pathLst>
              <a:path w="166370" h="267335">
                <a:moveTo>
                  <a:pt x="166128" y="0"/>
                </a:moveTo>
                <a:lnTo>
                  <a:pt x="0" y="267335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17058" y="2450105"/>
            <a:ext cx="145627" cy="170180"/>
          </a:xfrm>
          <a:custGeom>
            <a:avLst/>
            <a:gdLst/>
            <a:ahLst/>
            <a:cxnLst/>
            <a:rect l="l" t="t" r="r" b="b"/>
            <a:pathLst>
              <a:path w="109220" h="127635">
                <a:moveTo>
                  <a:pt x="11785" y="0"/>
                </a:moveTo>
                <a:lnTo>
                  <a:pt x="0" y="127241"/>
                </a:lnTo>
                <a:lnTo>
                  <a:pt x="108864" y="60325"/>
                </a:lnTo>
                <a:lnTo>
                  <a:pt x="117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28156" y="2155454"/>
            <a:ext cx="271780" cy="346287"/>
          </a:xfrm>
          <a:custGeom>
            <a:avLst/>
            <a:gdLst/>
            <a:ahLst/>
            <a:cxnLst/>
            <a:rect l="l" t="t" r="r" b="b"/>
            <a:pathLst>
              <a:path w="203835" h="259714">
                <a:moveTo>
                  <a:pt x="0" y="0"/>
                </a:moveTo>
                <a:lnTo>
                  <a:pt x="203377" y="259549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23693" y="2434519"/>
            <a:ext cx="154093" cy="167640"/>
          </a:xfrm>
          <a:custGeom>
            <a:avLst/>
            <a:gdLst/>
            <a:ahLst/>
            <a:cxnLst/>
            <a:rect l="l" t="t" r="r" b="b"/>
            <a:pathLst>
              <a:path w="115570" h="125730">
                <a:moveTo>
                  <a:pt x="89966" y="0"/>
                </a:moveTo>
                <a:lnTo>
                  <a:pt x="0" y="70497"/>
                </a:lnTo>
                <a:lnTo>
                  <a:pt x="115481" y="125222"/>
                </a:lnTo>
                <a:lnTo>
                  <a:pt x="8996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49542" y="183693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11018" y="3357015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93337" y="1619516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93337" y="1619516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37584" y="2616211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37584" y="2616211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78097" y="3690122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78097" y="3690122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29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61889" y="3690122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216027" y="0"/>
                </a:moveTo>
                <a:lnTo>
                  <a:pt x="166495" y="5343"/>
                </a:lnTo>
                <a:lnTo>
                  <a:pt x="121025" y="20562"/>
                </a:lnTo>
                <a:lnTo>
                  <a:pt x="80915" y="44445"/>
                </a:lnTo>
                <a:lnTo>
                  <a:pt x="47460" y="75775"/>
                </a:lnTo>
                <a:lnTo>
                  <a:pt x="21958" y="113339"/>
                </a:lnTo>
                <a:lnTo>
                  <a:pt x="5705" y="155922"/>
                </a:lnTo>
                <a:lnTo>
                  <a:pt x="0" y="202311"/>
                </a:lnTo>
                <a:lnTo>
                  <a:pt x="5705" y="248699"/>
                </a:lnTo>
                <a:lnTo>
                  <a:pt x="21958" y="291282"/>
                </a:lnTo>
                <a:lnTo>
                  <a:pt x="47460" y="328846"/>
                </a:lnTo>
                <a:lnTo>
                  <a:pt x="80915" y="360176"/>
                </a:lnTo>
                <a:lnTo>
                  <a:pt x="121025" y="384059"/>
                </a:lnTo>
                <a:lnTo>
                  <a:pt x="166495" y="399278"/>
                </a:lnTo>
                <a:lnTo>
                  <a:pt x="216027" y="404622"/>
                </a:lnTo>
                <a:lnTo>
                  <a:pt x="265558" y="399278"/>
                </a:lnTo>
                <a:lnTo>
                  <a:pt x="311028" y="384059"/>
                </a:lnTo>
                <a:lnTo>
                  <a:pt x="351138" y="360176"/>
                </a:lnTo>
                <a:lnTo>
                  <a:pt x="384593" y="328846"/>
                </a:lnTo>
                <a:lnTo>
                  <a:pt x="410095" y="291282"/>
                </a:lnTo>
                <a:lnTo>
                  <a:pt x="426348" y="248699"/>
                </a:lnTo>
                <a:lnTo>
                  <a:pt x="432054" y="202311"/>
                </a:lnTo>
                <a:lnTo>
                  <a:pt x="426348" y="155922"/>
                </a:lnTo>
                <a:lnTo>
                  <a:pt x="410095" y="113339"/>
                </a:lnTo>
                <a:lnTo>
                  <a:pt x="384593" y="75775"/>
                </a:lnTo>
                <a:lnTo>
                  <a:pt x="351138" y="44445"/>
                </a:lnTo>
                <a:lnTo>
                  <a:pt x="311028" y="20562"/>
                </a:lnTo>
                <a:lnTo>
                  <a:pt x="265558" y="5343"/>
                </a:lnTo>
                <a:lnTo>
                  <a:pt x="2160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61889" y="3690122"/>
            <a:ext cx="576579" cy="540173"/>
          </a:xfrm>
          <a:custGeom>
            <a:avLst/>
            <a:gdLst/>
            <a:ahLst/>
            <a:cxnLst/>
            <a:rect l="l" t="t" r="r" b="b"/>
            <a:pathLst>
              <a:path w="432435" h="405129">
                <a:moveTo>
                  <a:pt x="0" y="202311"/>
                </a:moveTo>
                <a:lnTo>
                  <a:pt x="5705" y="155922"/>
                </a:lnTo>
                <a:lnTo>
                  <a:pt x="21958" y="113339"/>
                </a:lnTo>
                <a:lnTo>
                  <a:pt x="47460" y="75775"/>
                </a:lnTo>
                <a:lnTo>
                  <a:pt x="80915" y="44445"/>
                </a:lnTo>
                <a:lnTo>
                  <a:pt x="121025" y="20562"/>
                </a:lnTo>
                <a:lnTo>
                  <a:pt x="166495" y="5343"/>
                </a:lnTo>
                <a:lnTo>
                  <a:pt x="216027" y="0"/>
                </a:lnTo>
                <a:lnTo>
                  <a:pt x="265558" y="5343"/>
                </a:lnTo>
                <a:lnTo>
                  <a:pt x="311028" y="20562"/>
                </a:lnTo>
                <a:lnTo>
                  <a:pt x="351138" y="44445"/>
                </a:lnTo>
                <a:lnTo>
                  <a:pt x="384593" y="75775"/>
                </a:lnTo>
                <a:lnTo>
                  <a:pt x="410095" y="113339"/>
                </a:lnTo>
                <a:lnTo>
                  <a:pt x="426348" y="155922"/>
                </a:lnTo>
                <a:lnTo>
                  <a:pt x="432054" y="202311"/>
                </a:lnTo>
                <a:lnTo>
                  <a:pt x="426348" y="248699"/>
                </a:lnTo>
                <a:lnTo>
                  <a:pt x="410095" y="291282"/>
                </a:lnTo>
                <a:lnTo>
                  <a:pt x="384593" y="328846"/>
                </a:lnTo>
                <a:lnTo>
                  <a:pt x="351138" y="360176"/>
                </a:lnTo>
                <a:lnTo>
                  <a:pt x="311028" y="384059"/>
                </a:lnTo>
                <a:lnTo>
                  <a:pt x="265558" y="399278"/>
                </a:lnTo>
                <a:lnTo>
                  <a:pt x="216027" y="404622"/>
                </a:lnTo>
                <a:lnTo>
                  <a:pt x="166495" y="399278"/>
                </a:lnTo>
                <a:lnTo>
                  <a:pt x="121025" y="384059"/>
                </a:lnTo>
                <a:lnTo>
                  <a:pt x="80915" y="360176"/>
                </a:lnTo>
                <a:lnTo>
                  <a:pt x="47460" y="328846"/>
                </a:lnTo>
                <a:lnTo>
                  <a:pt x="21958" y="291282"/>
                </a:lnTo>
                <a:lnTo>
                  <a:pt x="570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55806" y="3729932"/>
            <a:ext cx="1605280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  <a:tabLst>
                <a:tab pos="1399505" algn="l"/>
              </a:tabLst>
            </a:pPr>
            <a:r>
              <a:rPr sz="2700" spc="-7" dirty="0">
                <a:latin typeface="Arial"/>
                <a:cs typeface="Arial"/>
              </a:rPr>
              <a:t>5	4</a:t>
            </a:r>
            <a:endParaRPr sz="2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02400" y="2616211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216408" y="0"/>
                </a:moveTo>
                <a:lnTo>
                  <a:pt x="166787" y="5343"/>
                </a:lnTo>
                <a:lnTo>
                  <a:pt x="121236" y="20562"/>
                </a:lnTo>
                <a:lnTo>
                  <a:pt x="81055" y="44445"/>
                </a:lnTo>
                <a:lnTo>
                  <a:pt x="47542" y="75775"/>
                </a:lnTo>
                <a:lnTo>
                  <a:pt x="21995" y="113339"/>
                </a:lnTo>
                <a:lnTo>
                  <a:pt x="5715" y="155922"/>
                </a:lnTo>
                <a:lnTo>
                  <a:pt x="0" y="202311"/>
                </a:lnTo>
                <a:lnTo>
                  <a:pt x="5715" y="248699"/>
                </a:lnTo>
                <a:lnTo>
                  <a:pt x="21995" y="291282"/>
                </a:lnTo>
                <a:lnTo>
                  <a:pt x="47542" y="328846"/>
                </a:lnTo>
                <a:lnTo>
                  <a:pt x="81055" y="360176"/>
                </a:lnTo>
                <a:lnTo>
                  <a:pt x="121236" y="384059"/>
                </a:lnTo>
                <a:lnTo>
                  <a:pt x="166787" y="399278"/>
                </a:lnTo>
                <a:lnTo>
                  <a:pt x="216408" y="404622"/>
                </a:lnTo>
                <a:lnTo>
                  <a:pt x="266028" y="399278"/>
                </a:lnTo>
                <a:lnTo>
                  <a:pt x="311579" y="384059"/>
                </a:lnTo>
                <a:lnTo>
                  <a:pt x="351760" y="360176"/>
                </a:lnTo>
                <a:lnTo>
                  <a:pt x="385273" y="328846"/>
                </a:lnTo>
                <a:lnTo>
                  <a:pt x="410820" y="291282"/>
                </a:lnTo>
                <a:lnTo>
                  <a:pt x="427100" y="248699"/>
                </a:lnTo>
                <a:lnTo>
                  <a:pt x="432816" y="202311"/>
                </a:lnTo>
                <a:lnTo>
                  <a:pt x="427100" y="155922"/>
                </a:lnTo>
                <a:lnTo>
                  <a:pt x="410820" y="113339"/>
                </a:lnTo>
                <a:lnTo>
                  <a:pt x="385273" y="75775"/>
                </a:lnTo>
                <a:lnTo>
                  <a:pt x="351760" y="44445"/>
                </a:lnTo>
                <a:lnTo>
                  <a:pt x="311579" y="20562"/>
                </a:lnTo>
                <a:lnTo>
                  <a:pt x="266028" y="534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02400" y="2616211"/>
            <a:ext cx="577427" cy="540173"/>
          </a:xfrm>
          <a:custGeom>
            <a:avLst/>
            <a:gdLst/>
            <a:ahLst/>
            <a:cxnLst/>
            <a:rect l="l" t="t" r="r" b="b"/>
            <a:pathLst>
              <a:path w="433070" h="405130">
                <a:moveTo>
                  <a:pt x="0" y="202311"/>
                </a:moveTo>
                <a:lnTo>
                  <a:pt x="5715" y="155922"/>
                </a:lnTo>
                <a:lnTo>
                  <a:pt x="21995" y="113339"/>
                </a:lnTo>
                <a:lnTo>
                  <a:pt x="47542" y="75775"/>
                </a:lnTo>
                <a:lnTo>
                  <a:pt x="81055" y="44445"/>
                </a:lnTo>
                <a:lnTo>
                  <a:pt x="121236" y="20562"/>
                </a:lnTo>
                <a:lnTo>
                  <a:pt x="166787" y="5343"/>
                </a:lnTo>
                <a:lnTo>
                  <a:pt x="216408" y="0"/>
                </a:lnTo>
                <a:lnTo>
                  <a:pt x="266028" y="5343"/>
                </a:lnTo>
                <a:lnTo>
                  <a:pt x="311579" y="20562"/>
                </a:lnTo>
                <a:lnTo>
                  <a:pt x="351760" y="44445"/>
                </a:lnTo>
                <a:lnTo>
                  <a:pt x="385273" y="75775"/>
                </a:lnTo>
                <a:lnTo>
                  <a:pt x="410820" y="113339"/>
                </a:lnTo>
                <a:lnTo>
                  <a:pt x="427100" y="155922"/>
                </a:lnTo>
                <a:lnTo>
                  <a:pt x="432816" y="202311"/>
                </a:lnTo>
                <a:lnTo>
                  <a:pt x="427100" y="248699"/>
                </a:lnTo>
                <a:lnTo>
                  <a:pt x="410820" y="291282"/>
                </a:lnTo>
                <a:lnTo>
                  <a:pt x="385273" y="328846"/>
                </a:lnTo>
                <a:lnTo>
                  <a:pt x="351760" y="360176"/>
                </a:lnTo>
                <a:lnTo>
                  <a:pt x="311579" y="384059"/>
                </a:lnTo>
                <a:lnTo>
                  <a:pt x="266028" y="399278"/>
                </a:lnTo>
                <a:lnTo>
                  <a:pt x="216408" y="404622"/>
                </a:lnTo>
                <a:lnTo>
                  <a:pt x="166787" y="399278"/>
                </a:lnTo>
                <a:lnTo>
                  <a:pt x="121236" y="384059"/>
                </a:lnTo>
                <a:lnTo>
                  <a:pt x="81055" y="360176"/>
                </a:lnTo>
                <a:lnTo>
                  <a:pt x="47542" y="328846"/>
                </a:lnTo>
                <a:lnTo>
                  <a:pt x="21995" y="291282"/>
                </a:lnTo>
                <a:lnTo>
                  <a:pt x="5715" y="248699"/>
                </a:lnTo>
                <a:lnTo>
                  <a:pt x="0" y="202311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87617" y="1943033"/>
            <a:ext cx="314113" cy="1153159"/>
          </a:xfrm>
          <a:prstGeom prst="rect">
            <a:avLst/>
          </a:prstGeom>
        </p:spPr>
        <p:txBody>
          <a:bodyPr vert="horz" wrap="square" lIns="0" tIns="170176" rIns="0" bIns="0" rtlCol="0">
            <a:spAutoFit/>
          </a:bodyPr>
          <a:lstStyle/>
          <a:p>
            <a:pPr marL="16933">
              <a:spcBef>
                <a:spcPts val="1340"/>
              </a:spcBef>
            </a:pPr>
            <a:r>
              <a:rPr sz="2700" spc="-7" dirty="0"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  <a:p>
            <a:pPr marL="108371">
              <a:spcBef>
                <a:spcPts val="1207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95881" y="3985856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14928" y="1955211"/>
            <a:ext cx="244687" cy="1771421"/>
          </a:xfrm>
          <a:prstGeom prst="rect">
            <a:avLst/>
          </a:prstGeom>
        </p:spPr>
        <p:txBody>
          <a:bodyPr vert="horz" wrap="square" lIns="0" tIns="164249" rIns="0" bIns="0" rtlCol="0">
            <a:spAutoFit/>
          </a:bodyPr>
          <a:lstStyle/>
          <a:p>
            <a:pPr marL="38944">
              <a:spcBef>
                <a:spcPts val="1293"/>
              </a:spcBef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16933">
              <a:spcBef>
                <a:spcPts val="1153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  <a:p>
            <a:pPr marL="19472">
              <a:spcBef>
                <a:spcPts val="1613"/>
              </a:spcBef>
            </a:pPr>
            <a:r>
              <a:rPr sz="2700" spc="-7" dirty="0"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23588" y="3137928"/>
            <a:ext cx="315805" cy="517313"/>
          </a:xfrm>
          <a:custGeom>
            <a:avLst/>
            <a:gdLst/>
            <a:ahLst/>
            <a:cxnLst/>
            <a:rect l="l" t="t" r="r" b="b"/>
            <a:pathLst>
              <a:path w="236854" h="387985">
                <a:moveTo>
                  <a:pt x="0" y="0"/>
                </a:moveTo>
                <a:lnTo>
                  <a:pt x="236829" y="38736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61099" y="3592996"/>
            <a:ext cx="144780" cy="170180"/>
          </a:xfrm>
          <a:custGeom>
            <a:avLst/>
            <a:gdLst/>
            <a:ahLst/>
            <a:cxnLst/>
            <a:rect l="l" t="t" r="r" b="b"/>
            <a:pathLst>
              <a:path w="108585" h="127635">
                <a:moveTo>
                  <a:pt x="97523" y="0"/>
                </a:moveTo>
                <a:lnTo>
                  <a:pt x="0" y="59613"/>
                </a:lnTo>
                <a:lnTo>
                  <a:pt x="108381" y="127330"/>
                </a:lnTo>
                <a:lnTo>
                  <a:pt x="975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80923" y="3959363"/>
            <a:ext cx="781473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585724" y="0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96254" y="3908559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10100" y="2129564"/>
            <a:ext cx="1141307" cy="659553"/>
          </a:xfrm>
          <a:custGeom>
            <a:avLst/>
            <a:gdLst/>
            <a:ahLst/>
            <a:cxnLst/>
            <a:rect l="l" t="t" r="r" b="b"/>
            <a:pathLst>
              <a:path w="855979" h="494664">
                <a:moveTo>
                  <a:pt x="0" y="494144"/>
                </a:moveTo>
                <a:lnTo>
                  <a:pt x="855535" y="0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90712" y="2066051"/>
            <a:ext cx="170180" cy="142240"/>
          </a:xfrm>
          <a:custGeom>
            <a:avLst/>
            <a:gdLst/>
            <a:ahLst/>
            <a:cxnLst/>
            <a:rect l="l" t="t" r="r" b="b"/>
            <a:pathLst>
              <a:path w="127635" h="106680">
                <a:moveTo>
                  <a:pt x="127558" y="0"/>
                </a:moveTo>
                <a:lnTo>
                  <a:pt x="0" y="7683"/>
                </a:lnTo>
                <a:lnTo>
                  <a:pt x="57175" y="106654"/>
                </a:lnTo>
                <a:lnTo>
                  <a:pt x="12755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46953" y="3226505"/>
            <a:ext cx="304800" cy="463973"/>
          </a:xfrm>
          <a:custGeom>
            <a:avLst/>
            <a:gdLst/>
            <a:ahLst/>
            <a:cxnLst/>
            <a:rect l="l" t="t" r="r" b="b"/>
            <a:pathLst>
              <a:path w="228600" h="347979">
                <a:moveTo>
                  <a:pt x="0" y="347713"/>
                </a:moveTo>
                <a:lnTo>
                  <a:pt x="22806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399280" y="3155715"/>
            <a:ext cx="98213" cy="113453"/>
          </a:xfrm>
          <a:custGeom>
            <a:avLst/>
            <a:gdLst/>
            <a:ahLst/>
            <a:cxnLst/>
            <a:rect l="l" t="t" r="r" b="b"/>
            <a:pathLst>
              <a:path w="73660" h="85089">
                <a:moveTo>
                  <a:pt x="73647" y="0"/>
                </a:moveTo>
                <a:lnTo>
                  <a:pt x="0" y="42824"/>
                </a:lnTo>
                <a:lnTo>
                  <a:pt x="63715" y="84607"/>
                </a:lnTo>
                <a:lnTo>
                  <a:pt x="73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47081" y="1704858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216408" y="0"/>
                </a:moveTo>
                <a:lnTo>
                  <a:pt x="166787" y="5353"/>
                </a:lnTo>
                <a:lnTo>
                  <a:pt x="121236" y="20602"/>
                </a:lnTo>
                <a:lnTo>
                  <a:pt x="81055" y="44531"/>
                </a:lnTo>
                <a:lnTo>
                  <a:pt x="47542" y="75920"/>
                </a:lnTo>
                <a:lnTo>
                  <a:pt x="21995" y="113555"/>
                </a:lnTo>
                <a:lnTo>
                  <a:pt x="5715" y="156218"/>
                </a:lnTo>
                <a:lnTo>
                  <a:pt x="0" y="202692"/>
                </a:lnTo>
                <a:lnTo>
                  <a:pt x="5715" y="249165"/>
                </a:lnTo>
                <a:lnTo>
                  <a:pt x="21995" y="291828"/>
                </a:lnTo>
                <a:lnTo>
                  <a:pt x="47542" y="329463"/>
                </a:lnTo>
                <a:lnTo>
                  <a:pt x="81055" y="360852"/>
                </a:lnTo>
                <a:lnTo>
                  <a:pt x="121236" y="384781"/>
                </a:lnTo>
                <a:lnTo>
                  <a:pt x="166787" y="400030"/>
                </a:lnTo>
                <a:lnTo>
                  <a:pt x="216408" y="405384"/>
                </a:lnTo>
                <a:lnTo>
                  <a:pt x="266028" y="400030"/>
                </a:lnTo>
                <a:lnTo>
                  <a:pt x="311579" y="384781"/>
                </a:lnTo>
                <a:lnTo>
                  <a:pt x="351760" y="360852"/>
                </a:lnTo>
                <a:lnTo>
                  <a:pt x="385273" y="329463"/>
                </a:lnTo>
                <a:lnTo>
                  <a:pt x="410820" y="291828"/>
                </a:lnTo>
                <a:lnTo>
                  <a:pt x="427100" y="249165"/>
                </a:lnTo>
                <a:lnTo>
                  <a:pt x="432816" y="202692"/>
                </a:lnTo>
                <a:lnTo>
                  <a:pt x="427100" y="156218"/>
                </a:lnTo>
                <a:lnTo>
                  <a:pt x="410820" y="113555"/>
                </a:lnTo>
                <a:lnTo>
                  <a:pt x="385273" y="75920"/>
                </a:lnTo>
                <a:lnTo>
                  <a:pt x="351760" y="44531"/>
                </a:lnTo>
                <a:lnTo>
                  <a:pt x="311579" y="20602"/>
                </a:lnTo>
                <a:lnTo>
                  <a:pt x="266028" y="5353"/>
                </a:lnTo>
                <a:lnTo>
                  <a:pt x="21640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47081" y="1704858"/>
            <a:ext cx="577427" cy="541020"/>
          </a:xfrm>
          <a:custGeom>
            <a:avLst/>
            <a:gdLst/>
            <a:ahLst/>
            <a:cxnLst/>
            <a:rect l="l" t="t" r="r" b="b"/>
            <a:pathLst>
              <a:path w="433070" h="405764">
                <a:moveTo>
                  <a:pt x="0" y="202692"/>
                </a:moveTo>
                <a:lnTo>
                  <a:pt x="5715" y="156218"/>
                </a:lnTo>
                <a:lnTo>
                  <a:pt x="21995" y="113555"/>
                </a:lnTo>
                <a:lnTo>
                  <a:pt x="47542" y="75920"/>
                </a:lnTo>
                <a:lnTo>
                  <a:pt x="81055" y="44531"/>
                </a:lnTo>
                <a:lnTo>
                  <a:pt x="121236" y="20602"/>
                </a:lnTo>
                <a:lnTo>
                  <a:pt x="166787" y="5353"/>
                </a:lnTo>
                <a:lnTo>
                  <a:pt x="216408" y="0"/>
                </a:lnTo>
                <a:lnTo>
                  <a:pt x="266028" y="5353"/>
                </a:lnTo>
                <a:lnTo>
                  <a:pt x="311579" y="20602"/>
                </a:lnTo>
                <a:lnTo>
                  <a:pt x="351760" y="44531"/>
                </a:lnTo>
                <a:lnTo>
                  <a:pt x="385273" y="75920"/>
                </a:lnTo>
                <a:lnTo>
                  <a:pt x="410820" y="113555"/>
                </a:lnTo>
                <a:lnTo>
                  <a:pt x="427100" y="156218"/>
                </a:lnTo>
                <a:lnTo>
                  <a:pt x="432816" y="202692"/>
                </a:lnTo>
                <a:lnTo>
                  <a:pt x="427100" y="249165"/>
                </a:lnTo>
                <a:lnTo>
                  <a:pt x="410820" y="291828"/>
                </a:lnTo>
                <a:lnTo>
                  <a:pt x="385273" y="329463"/>
                </a:lnTo>
                <a:lnTo>
                  <a:pt x="351760" y="360852"/>
                </a:lnTo>
                <a:lnTo>
                  <a:pt x="311579" y="384781"/>
                </a:lnTo>
                <a:lnTo>
                  <a:pt x="266028" y="400030"/>
                </a:lnTo>
                <a:lnTo>
                  <a:pt x="216408" y="405384"/>
                </a:lnTo>
                <a:lnTo>
                  <a:pt x="166787" y="400030"/>
                </a:lnTo>
                <a:lnTo>
                  <a:pt x="121236" y="384781"/>
                </a:lnTo>
                <a:lnTo>
                  <a:pt x="81055" y="360852"/>
                </a:lnTo>
                <a:lnTo>
                  <a:pt x="47542" y="329463"/>
                </a:lnTo>
                <a:lnTo>
                  <a:pt x="21995" y="291828"/>
                </a:lnTo>
                <a:lnTo>
                  <a:pt x="5715" y="249165"/>
                </a:lnTo>
                <a:lnTo>
                  <a:pt x="0" y="202692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24223" y="1745268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28329" y="2123246"/>
            <a:ext cx="917787" cy="1647613"/>
          </a:xfrm>
          <a:custGeom>
            <a:avLst/>
            <a:gdLst/>
            <a:ahLst/>
            <a:cxnLst/>
            <a:rect l="l" t="t" r="r" b="b"/>
            <a:pathLst>
              <a:path w="688339" h="1235710">
                <a:moveTo>
                  <a:pt x="688225" y="1235163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87118" y="2049280"/>
            <a:ext cx="93980" cy="114300"/>
          </a:xfrm>
          <a:custGeom>
            <a:avLst/>
            <a:gdLst/>
            <a:ahLst/>
            <a:cxnLst/>
            <a:rect l="l" t="t" r="r" b="b"/>
            <a:pathLst>
              <a:path w="70485" h="85725">
                <a:moveTo>
                  <a:pt x="0" y="0"/>
                </a:moveTo>
                <a:lnTo>
                  <a:pt x="3809" y="85115"/>
                </a:lnTo>
                <a:lnTo>
                  <a:pt x="70370" y="48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480881" y="1505891"/>
            <a:ext cx="1157392" cy="2026920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06677">
              <a:spcBef>
                <a:spcPts val="127"/>
              </a:spcBef>
              <a:tabLst>
                <a:tab pos="496134" algn="l"/>
              </a:tabLst>
            </a:pPr>
            <a:r>
              <a:rPr sz="4000" spc="-9" baseline="-25000" dirty="0">
                <a:latin typeface="Arial"/>
                <a:cs typeface="Arial"/>
              </a:rPr>
              <a:t>1	</a:t>
            </a:r>
            <a:r>
              <a:rPr sz="2700" u="heavy" spc="-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10</a:t>
            </a:r>
            <a:r>
              <a:rPr sz="270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2700">
              <a:latin typeface="Arial"/>
              <a:cs typeface="Arial"/>
            </a:endParaRPr>
          </a:p>
          <a:p>
            <a:pPr marL="50799">
              <a:lnSpc>
                <a:spcPts val="2727"/>
              </a:lnSpc>
              <a:spcBef>
                <a:spcPts val="2800"/>
              </a:spcBef>
            </a:pPr>
            <a:r>
              <a:rPr sz="2700" spc="-7" dirty="0"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  <a:p>
            <a:pPr marL="917764">
              <a:lnSpc>
                <a:spcPts val="2727"/>
              </a:lnSpc>
            </a:pPr>
            <a:r>
              <a:rPr sz="2700" spc="-7" dirty="0"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342891">
              <a:spcBef>
                <a:spcPts val="1047"/>
              </a:spcBef>
            </a:pPr>
            <a:r>
              <a:rPr sz="2700" spc="-7" dirty="0"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035534" y="2714027"/>
            <a:ext cx="222673" cy="440267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700" spc="-7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935624" y="2233177"/>
            <a:ext cx="108373" cy="1372447"/>
          </a:xfrm>
          <a:custGeom>
            <a:avLst/>
            <a:gdLst/>
            <a:ahLst/>
            <a:cxnLst/>
            <a:rect l="l" t="t" r="r" b="b"/>
            <a:pathLst>
              <a:path w="81279" h="1029335">
                <a:moveTo>
                  <a:pt x="0" y="0"/>
                </a:moveTo>
                <a:lnTo>
                  <a:pt x="80759" y="10288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991326" y="3584175"/>
            <a:ext cx="101600" cy="105833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75971" y="0"/>
                </a:moveTo>
                <a:lnTo>
                  <a:pt x="0" y="5968"/>
                </a:lnTo>
                <a:lnTo>
                  <a:pt x="43954" y="78955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704229" y="4601919"/>
            <a:ext cx="6633633" cy="1172970"/>
          </a:xfrm>
          <a:prstGeom prst="rect">
            <a:avLst/>
          </a:prstGeom>
        </p:spPr>
        <p:txBody>
          <a:bodyPr vert="horz" wrap="square" lIns="0" tIns="44026" rIns="0" bIns="0" rtlCol="0">
            <a:spAutoFit/>
          </a:bodyPr>
          <a:lstStyle/>
          <a:p>
            <a:pPr marL="16933" marR="88898">
              <a:lnSpc>
                <a:spcPts val="4560"/>
              </a:lnSpc>
              <a:spcBef>
                <a:spcPts val="347"/>
              </a:spcBef>
            </a:pPr>
            <a:r>
              <a:rPr sz="2800" b="1" i="1" spc="-7" dirty="0">
                <a:latin typeface="Times New Roman"/>
                <a:cs typeface="Times New Roman"/>
              </a:rPr>
              <a:t>short</a:t>
            </a:r>
            <a:r>
              <a:rPr sz="2800" b="1" spc="-7" dirty="0">
                <a:latin typeface="Times New Roman"/>
                <a:cs typeface="Times New Roman"/>
              </a:rPr>
              <a:t>[1]=0, </a:t>
            </a:r>
            <a:r>
              <a:rPr sz="2800" b="1" i="1" spc="-7" dirty="0">
                <a:latin typeface="Times New Roman"/>
                <a:cs typeface="Times New Roman"/>
              </a:rPr>
              <a:t>short</a:t>
            </a:r>
            <a:r>
              <a:rPr sz="2800" b="1" spc="-7" dirty="0">
                <a:latin typeface="Times New Roman"/>
                <a:cs typeface="Times New Roman"/>
              </a:rPr>
              <a:t>[2]=5, </a:t>
            </a:r>
            <a:r>
              <a:rPr sz="2800" b="1" i="1" spc="-7" dirty="0">
                <a:latin typeface="Times New Roman"/>
                <a:cs typeface="Times New Roman"/>
              </a:rPr>
              <a:t>short</a:t>
            </a:r>
            <a:r>
              <a:rPr sz="2800" b="1" spc="-7" dirty="0">
                <a:latin typeface="Times New Roman"/>
                <a:cs typeface="Times New Roman"/>
              </a:rPr>
              <a:t>[3]=12,  </a:t>
            </a:r>
            <a:r>
              <a:rPr sz="2800" b="1" i="1" spc="-7" dirty="0">
                <a:latin typeface="Times New Roman"/>
                <a:cs typeface="Times New Roman"/>
              </a:rPr>
              <a:t>short</a:t>
            </a:r>
            <a:r>
              <a:rPr sz="2800" b="1" spc="-7" dirty="0">
                <a:latin typeface="Times New Roman"/>
                <a:cs typeface="Times New Roman"/>
              </a:rPr>
              <a:t>[4]=9, </a:t>
            </a:r>
            <a:r>
              <a:rPr sz="2800" b="1" i="1" spc="-7" dirty="0">
                <a:latin typeface="Times New Roman"/>
                <a:cs typeface="Times New Roman"/>
              </a:rPr>
              <a:t>short</a:t>
            </a:r>
            <a:r>
              <a:rPr sz="2800" b="1" spc="-7" dirty="0">
                <a:latin typeface="Times New Roman"/>
                <a:cs typeface="Times New Roman"/>
              </a:rPr>
              <a:t>[5]=4, </a:t>
            </a:r>
            <a:r>
              <a:rPr sz="2800" b="1" i="1" spc="-7" dirty="0">
                <a:latin typeface="Times New Roman"/>
                <a:cs typeface="Times New Roman"/>
              </a:rPr>
              <a:t>short</a:t>
            </a:r>
            <a:r>
              <a:rPr sz="2800" b="1" spc="-7" dirty="0">
                <a:latin typeface="Times New Roman"/>
                <a:cs typeface="Times New Roman"/>
              </a:rPr>
              <a:t>[6]=3</a:t>
            </a:r>
            <a:r>
              <a:rPr sz="2800" b="1" spc="-7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016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5810" y="481192"/>
            <a:ext cx="617023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420029"/>
            <a:ext cx="10219366" cy="2339096"/>
          </a:xfrm>
          <a:prstGeom prst="rect">
            <a:avLst/>
          </a:prstGeom>
        </p:spPr>
        <p:txBody>
          <a:bodyPr vert="horz" wrap="square" lIns="0" tIns="236214" rIns="0" bIns="0" rtlCol="0"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单源最短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路</a:t>
            </a:r>
            <a:r>
              <a:rPr sz="32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径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题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Dijkstra算法设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计思想</a:t>
            </a:r>
            <a:r>
              <a:rPr sz="3200" b="1" spc="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及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伪码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32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运行实</a:t>
            </a:r>
            <a:r>
              <a:rPr sz="32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例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40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1575</Words>
  <Application>Microsoft Office PowerPoint</Application>
  <PresentationFormat>自定义</PresentationFormat>
  <Paragraphs>511</Paragraphs>
  <Slides>42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3" baseType="lpstr">
      <vt:lpstr>Office 主题​​</vt:lpstr>
      <vt:lpstr>PowerPoint 演示文稿</vt:lpstr>
      <vt:lpstr>PowerPoint 演示文稿</vt:lpstr>
      <vt:lpstr>最优前缀码及 哈夫曼算法</vt:lpstr>
      <vt:lpstr>二元前缀码</vt:lpstr>
      <vt:lpstr>前缀码的二叉树表示</vt:lpstr>
      <vt:lpstr>平均传输位数</vt:lpstr>
      <vt:lpstr>哈夫曼树算法伪码</vt:lpstr>
      <vt:lpstr>实例</vt:lpstr>
      <vt:lpstr>应用:文件归并</vt:lpstr>
      <vt:lpstr>两两顺序归并</vt:lpstr>
      <vt:lpstr>归并代价</vt:lpstr>
      <vt:lpstr>实例：Huffman树归并</vt:lpstr>
      <vt:lpstr>小结</vt:lpstr>
      <vt:lpstr>最小生成树</vt:lpstr>
      <vt:lpstr>最小生成树</vt:lpstr>
      <vt:lpstr>最小生成树的实例</vt:lpstr>
      <vt:lpstr>生成树的性质</vt:lpstr>
      <vt:lpstr>生成树性质的应用</vt:lpstr>
      <vt:lpstr>求最小生成树</vt:lpstr>
      <vt:lpstr>Prim算法设计思想</vt:lpstr>
      <vt:lpstr>伪码</vt:lpstr>
      <vt:lpstr>实例</vt:lpstr>
      <vt:lpstr>时间复杂度</vt:lpstr>
      <vt:lpstr>Kruskal算法设计思想</vt:lpstr>
      <vt:lpstr>伪码</vt:lpstr>
      <vt:lpstr>实例</vt:lpstr>
      <vt:lpstr>应用：数据分组问题</vt:lpstr>
      <vt:lpstr>应用：数据分组问题</vt:lpstr>
      <vt:lpstr>单链聚类</vt:lpstr>
      <vt:lpstr>小结</vt:lpstr>
      <vt:lpstr>单源最短路径</vt:lpstr>
      <vt:lpstr>单源最短路问题</vt:lpstr>
      <vt:lpstr>Dijkstra算法有关概念</vt:lpstr>
      <vt:lpstr>算法设计思想</vt:lpstr>
      <vt:lpstr>伪码</vt:lpstr>
      <vt:lpstr>运行实例</vt:lpstr>
      <vt:lpstr>实例（续）</vt:lpstr>
      <vt:lpstr>运行实例（续）</vt:lpstr>
      <vt:lpstr>运行实例（续）</vt:lpstr>
      <vt:lpstr>运行实例（续）</vt:lpstr>
      <vt:lpstr>运行实例（续）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admin</cp:lastModifiedBy>
  <cp:revision>74</cp:revision>
  <dcterms:created xsi:type="dcterms:W3CDTF">2019-05-23T06:46:18Z</dcterms:created>
  <dcterms:modified xsi:type="dcterms:W3CDTF">2019-05-28T00:46:05Z</dcterms:modified>
</cp:coreProperties>
</file>