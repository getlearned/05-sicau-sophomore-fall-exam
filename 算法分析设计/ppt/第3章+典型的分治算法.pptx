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7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304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2" r:id="rId83"/>
    <p:sldId id="343" r:id="rId84"/>
  </p:sldIdLst>
  <p:sldSz cx="9720263" cy="6480175"/>
  <p:notesSz cx="6858000" cy="9144000"/>
  <p:defaultTextStyle>
    <a:defPPr>
      <a:defRPr lang="zh-CN"/>
    </a:defPPr>
    <a:lvl1pPr marL="0" algn="l" defTabSz="777553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1pPr>
    <a:lvl2pPr marL="388777" algn="l" defTabSz="777553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2pPr>
    <a:lvl3pPr marL="777553" algn="l" defTabSz="777553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3pPr>
    <a:lvl4pPr marL="1166330" algn="l" defTabSz="777553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4pPr>
    <a:lvl5pPr marL="1555107" algn="l" defTabSz="777553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5pPr>
    <a:lvl6pPr marL="1943883" algn="l" defTabSz="777553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6pPr>
    <a:lvl7pPr marL="2332660" algn="l" defTabSz="777553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7pPr>
    <a:lvl8pPr marL="2721435" algn="l" defTabSz="777553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8pPr>
    <a:lvl9pPr marL="3110212" algn="l" defTabSz="777553" rtl="0" eaLnBrk="1" latinLnBrk="0" hangingPunct="1">
      <a:defRPr sz="153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1">
          <p15:clr>
            <a:srgbClr val="A4A3A4"/>
          </p15:clr>
        </p15:guide>
        <p15:guide id="2" pos="30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12" y="90"/>
      </p:cViewPr>
      <p:guideLst>
        <p:guide orient="horz" pos="2041"/>
        <p:guide pos="30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020" y="1060529"/>
            <a:ext cx="8262224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033" y="3403592"/>
            <a:ext cx="7290197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EB13D-1D4E-400B-82F0-42E1531F62D6}" type="datetimeFigureOut">
              <a:rPr lang="zh-CN" altLang="en-US" smtClean="0"/>
              <a:t>2019/4/17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F295-4D9B-4E00-A0F8-9F59DBFE3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539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EB13D-1D4E-400B-82F0-42E1531F62D6}" type="datetimeFigureOut">
              <a:rPr lang="zh-CN" altLang="en-US" smtClean="0"/>
              <a:t>2019/4/17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F295-4D9B-4E00-A0F8-9F59DBFE3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984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06" y="1615546"/>
            <a:ext cx="8383727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206" y="4336619"/>
            <a:ext cx="8383727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/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EB13D-1D4E-400B-82F0-42E1531F62D6}" type="datetimeFigureOut">
              <a:rPr lang="zh-CN" altLang="en-US" smtClean="0"/>
              <a:t>2019/4/17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F295-4D9B-4E00-A0F8-9F59DBFE3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42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268" y="1725046"/>
            <a:ext cx="4131112" cy="41116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0883" y="1725046"/>
            <a:ext cx="4131112" cy="41116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EB13D-1D4E-400B-82F0-42E1531F62D6}" type="datetimeFigureOut">
              <a:rPr lang="zh-CN" altLang="en-US" smtClean="0"/>
              <a:t>2019/4/17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F295-4D9B-4E00-A0F8-9F59DBFE3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12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345011"/>
            <a:ext cx="8383727" cy="125253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535" y="1588543"/>
            <a:ext cx="411212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535" y="2367064"/>
            <a:ext cx="4112126" cy="348159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0884" y="1588543"/>
            <a:ext cx="413237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0884" y="2367064"/>
            <a:ext cx="4132378" cy="348159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EB13D-1D4E-400B-82F0-42E1531F62D6}" type="datetimeFigureOut">
              <a:rPr lang="zh-CN" altLang="en-US" smtClean="0"/>
              <a:t>2019/4/17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F295-4D9B-4E00-A0F8-9F59DBFE3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424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EB13D-1D4E-400B-82F0-42E1531F62D6}" type="datetimeFigureOut">
              <a:rPr lang="zh-CN" altLang="en-US" smtClean="0"/>
              <a:t>2019/4/17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F295-4D9B-4E00-A0F8-9F59DBFE3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022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EB13D-1D4E-400B-82F0-42E1531F62D6}" type="datetimeFigureOut">
              <a:rPr lang="zh-CN" altLang="en-US" smtClean="0"/>
              <a:t>2019/4/17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F295-4D9B-4E00-A0F8-9F59DBFE3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71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432012"/>
            <a:ext cx="3135038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2378" y="933027"/>
            <a:ext cx="4920883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1944052"/>
            <a:ext cx="3135038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EB13D-1D4E-400B-82F0-42E1531F62D6}" type="datetimeFigureOut">
              <a:rPr lang="zh-CN" altLang="en-US" smtClean="0"/>
              <a:t>2019/4/17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F295-4D9B-4E00-A0F8-9F59DBFE3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0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432012"/>
            <a:ext cx="3135038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2378" y="933027"/>
            <a:ext cx="4920883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1944052"/>
            <a:ext cx="3135038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EB13D-1D4E-400B-82F0-42E1531F62D6}" type="datetimeFigureOut">
              <a:rPr lang="zh-CN" altLang="en-US" smtClean="0"/>
              <a:t>2019/4/17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F295-4D9B-4E00-A0F8-9F59DBFE3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76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EB13D-1D4E-400B-82F0-42E1531F62D6}" type="datetimeFigureOut">
              <a:rPr lang="zh-CN" altLang="en-US" smtClean="0"/>
              <a:t>2019/4/17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F295-4D9B-4E00-A0F8-9F59DBFE3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542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6064" y="345009"/>
            <a:ext cx="2095932" cy="549164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269" y="345009"/>
            <a:ext cx="6166292" cy="5491649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EB13D-1D4E-400B-82F0-42E1531F62D6}" type="datetimeFigureOut">
              <a:rPr lang="zh-CN" altLang="en-US" smtClean="0"/>
              <a:t>2019/4/17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F295-4D9B-4E00-A0F8-9F59DBFE3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675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4/17/2019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0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2" b="1" i="0">
                <a:solidFill>
                  <a:srgbClr val="C00000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589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268" y="345011"/>
            <a:ext cx="8383727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268" y="1725046"/>
            <a:ext cx="8383727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268" y="6006164"/>
            <a:ext cx="218705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EB13D-1D4E-400B-82F0-42E1531F62D6}" type="datetimeFigureOut">
              <a:rPr lang="zh-CN" altLang="en-US" smtClean="0"/>
              <a:t>2019/4/17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9837" y="6006164"/>
            <a:ext cx="328058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4936" y="6006164"/>
            <a:ext cx="218705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FF295-4D9B-4E00-A0F8-9F59DBFE3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171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2.png"/><Relationship Id="rId7" Type="http://schemas.openxmlformats.org/officeDocument/2006/relationships/image" Target="../media/image440.png"/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0.png"/><Relationship Id="rId5" Type="http://schemas.openxmlformats.org/officeDocument/2006/relationships/image" Target="../media/image460.png"/><Relationship Id="rId4" Type="http://schemas.openxmlformats.org/officeDocument/2006/relationships/image" Target="../media/image45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7" Type="http://schemas.openxmlformats.org/officeDocument/2006/relationships/image" Target="../media/image52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0.png"/><Relationship Id="rId5" Type="http://schemas.openxmlformats.org/officeDocument/2006/relationships/image" Target="../media/image500.png"/><Relationship Id="rId4" Type="http://schemas.openxmlformats.org/officeDocument/2006/relationships/image" Target="../media/image49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580.png"/><Relationship Id="rId7" Type="http://schemas.openxmlformats.org/officeDocument/2006/relationships/image" Target="../media/image7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5" Type="http://schemas.openxmlformats.org/officeDocument/2006/relationships/image" Target="../media/image610.png"/><Relationship Id="rId4" Type="http://schemas.openxmlformats.org/officeDocument/2006/relationships/image" Target="../media/image60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8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60363" y="708969"/>
            <a:ext cx="9005787" cy="2162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405"/>
          </a:p>
        </p:txBody>
      </p:sp>
      <p:sp>
        <p:nvSpPr>
          <p:cNvPr id="3" name="object 3"/>
          <p:cNvSpPr txBox="1"/>
          <p:nvPr/>
        </p:nvSpPr>
        <p:spPr>
          <a:xfrm>
            <a:off x="820521" y="2744527"/>
            <a:ext cx="8150093" cy="681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317"/>
              </a:lnSpc>
            </a:pPr>
            <a:r>
              <a:rPr sz="6600" b="1" spc="11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本周教学内容</a:t>
            </a:r>
            <a:endParaRPr sz="6496" b="1" spc="11" dirty="0">
              <a:solidFill>
                <a:srgbClr val="CC3300"/>
              </a:solidFill>
              <a:latin typeface="黑体" pitchFamily="49" charset="-122"/>
              <a:ea typeface="黑体" pitchFamily="49" charset="-122"/>
              <a:cs typeface="UNAWTJ+ËÎÌå"/>
            </a:endParaRPr>
          </a:p>
        </p:txBody>
      </p:sp>
    </p:spTree>
    <p:extLst>
      <p:ext uri="{BB962C8B-B14F-4D97-AF65-F5344CB8AC3E}">
        <p14:creationId xmlns:p14="http://schemas.microsoft.com/office/powerpoint/2010/main" val="280466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8883" y="428752"/>
            <a:ext cx="8923283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153"/>
              </a:lnSpc>
            </a:pPr>
            <a:r>
              <a:rPr sz="4000" b="1" spc="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典型的分治算法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66669" y="1798274"/>
            <a:ext cx="163006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62"/>
              </a:lnSpc>
            </a:pPr>
            <a:r>
              <a:rPr sz="2800" b="1" spc="14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选择问题</a:t>
            </a:r>
            <a:endParaRPr lang="zh-CN" altLang="en-US" sz="2800" b="1" spc="1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UNAWTJ+ËÎÌå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53601" y="2779163"/>
            <a:ext cx="1571569" cy="2867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4"/>
              </a:lnSpc>
            </a:pPr>
            <a:r>
              <a:rPr sz="2756" b="1" spc="1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选第</a:t>
            </a:r>
            <a:r>
              <a:rPr sz="2756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k</a:t>
            </a:r>
            <a:r>
              <a:rPr sz="2756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小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50860" y="2762319"/>
            <a:ext cx="2141558" cy="848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sz="2756" b="1" spc="15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快速傅立叶</a:t>
            </a:r>
            <a:r>
              <a:rPr lang="zh-CN" altLang="en-US" sz="2756" b="1" spc="1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变换</a:t>
            </a:r>
            <a:r>
              <a:rPr lang="en-US" altLang="zh-CN" sz="2756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FFT</a:t>
            </a:r>
            <a:r>
              <a:rPr lang="zh-CN" altLang="en-US" sz="2756" b="1" spc="1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算法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44193" y="3354949"/>
            <a:ext cx="921315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2"/>
              </a:lnSpc>
            </a:pPr>
            <a:r>
              <a:rPr sz="2756" b="1" spc="1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计算</a:t>
            </a:r>
          </a:p>
          <a:p>
            <a:pPr>
              <a:lnSpc>
                <a:spcPts val="1972"/>
              </a:lnSpc>
              <a:spcBef>
                <a:spcPts val="389"/>
              </a:spcBef>
            </a:pPr>
            <a:r>
              <a:rPr sz="2756" b="1" spc="1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平面</a:t>
            </a:r>
          </a:p>
          <a:p>
            <a:pPr>
              <a:lnSpc>
                <a:spcPts val="1974"/>
              </a:lnSpc>
              <a:spcBef>
                <a:spcPts val="390"/>
              </a:spcBef>
            </a:pPr>
            <a:r>
              <a:rPr sz="2756" b="1" spc="1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点集</a:t>
            </a:r>
          </a:p>
          <a:p>
            <a:pPr>
              <a:lnSpc>
                <a:spcPts val="1972"/>
              </a:lnSpc>
              <a:spcBef>
                <a:spcPts val="390"/>
              </a:spcBef>
            </a:pPr>
            <a:r>
              <a:rPr sz="2756" b="1" spc="1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的凸</a:t>
            </a:r>
          </a:p>
          <a:p>
            <a:pPr>
              <a:lnSpc>
                <a:spcPts val="1972"/>
              </a:lnSpc>
              <a:spcBef>
                <a:spcPts val="284"/>
              </a:spcBef>
            </a:pPr>
            <a:r>
              <a:rPr sz="2756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包</a:t>
            </a:r>
            <a:r>
              <a:rPr lang="en-US" sz="2756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    </a:t>
            </a:r>
          </a:p>
          <a:p>
            <a:pPr marL="125992">
              <a:lnSpc>
                <a:spcPts val="1972"/>
              </a:lnSpc>
              <a:spcBef>
                <a:spcPts val="284"/>
              </a:spcBef>
            </a:pPr>
            <a:endParaRPr sz="2756" b="1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UNAWTJ+ËÎÌå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3488" y="3587412"/>
            <a:ext cx="1701682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2"/>
              </a:lnSpc>
            </a:pPr>
            <a:r>
              <a:rPr sz="2756" b="1" spc="18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选第二大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684790" y="4118314"/>
            <a:ext cx="1912648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2"/>
              </a:lnSpc>
            </a:pPr>
            <a:r>
              <a:rPr sz="2756" b="1" spc="1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卷积计算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98878" y="4405630"/>
            <a:ext cx="2272555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2"/>
              </a:lnSpc>
            </a:pPr>
            <a:r>
              <a:rPr sz="2756" b="1" spc="18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选最大与最小</a:t>
            </a:r>
            <a:endParaRPr sz="2756" b="1" spc="18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UNAWTJ+ËÎÌå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54651" y="5024981"/>
            <a:ext cx="2037767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2"/>
              </a:lnSpc>
            </a:pPr>
            <a:r>
              <a:rPr sz="2756" b="1" spc="1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UNAWTJ+ËÎÌå"/>
              </a:rPr>
              <a:t>卷积及应用</a:t>
            </a:r>
          </a:p>
        </p:txBody>
      </p:sp>
      <p:sp>
        <p:nvSpPr>
          <p:cNvPr id="14" name="矩形 13"/>
          <p:cNvSpPr/>
          <p:nvPr/>
        </p:nvSpPr>
        <p:spPr>
          <a:xfrm>
            <a:off x="2060990" y="5006490"/>
            <a:ext cx="1241948" cy="5149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756" b="1" dirty="0">
                <a:latin typeface="黑体" pitchFamily="49" charset="-122"/>
                <a:ea typeface="黑体" pitchFamily="49" charset="-122"/>
              </a:rPr>
              <a:t>选最大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1587062" y="2555723"/>
            <a:ext cx="2333297" cy="651641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578613" y="3351537"/>
            <a:ext cx="2333297" cy="651641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1582459" y="4149227"/>
            <a:ext cx="2333297" cy="651641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578613" y="4946917"/>
            <a:ext cx="2333297" cy="651641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4243666" y="2762319"/>
            <a:ext cx="2333297" cy="926393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4264141" y="3910011"/>
            <a:ext cx="2333297" cy="590214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264141" y="4800868"/>
            <a:ext cx="2333297" cy="590214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7118246" y="3116377"/>
            <a:ext cx="922167" cy="176224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object 4"/>
          <p:cNvSpPr txBox="1"/>
          <p:nvPr/>
        </p:nvSpPr>
        <p:spPr>
          <a:xfrm>
            <a:off x="6949915" y="1772358"/>
            <a:ext cx="19491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62"/>
              </a:lnSpc>
            </a:pPr>
            <a:r>
              <a:rPr sz="2800" b="1" spc="11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计算</a:t>
            </a:r>
            <a:r>
              <a:rPr lang="zh-CN" altLang="en-US" sz="28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几何</a:t>
            </a:r>
          </a:p>
        </p:txBody>
      </p:sp>
      <p:sp>
        <p:nvSpPr>
          <p:cNvPr id="7" name="矩形 6"/>
          <p:cNvSpPr/>
          <p:nvPr/>
        </p:nvSpPr>
        <p:spPr>
          <a:xfrm>
            <a:off x="4238441" y="1645975"/>
            <a:ext cx="23571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UNAWTJ+ËÎÌå"/>
              </a:rPr>
              <a:t>信号平滑处理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9484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1" grpId="0"/>
      <p:bldP spid="12" grpId="0"/>
      <p:bldP spid="14" grpId="0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06264"/>
            <a:ext cx="9727013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6"/>
          </a:p>
        </p:txBody>
      </p:sp>
      <p:sp>
        <p:nvSpPr>
          <p:cNvPr id="3" name="object 3"/>
          <p:cNvSpPr txBox="1"/>
          <p:nvPr/>
        </p:nvSpPr>
        <p:spPr>
          <a:xfrm>
            <a:off x="964897" y="2542835"/>
            <a:ext cx="8181810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742"/>
              </a:lnSpc>
            </a:pPr>
            <a:r>
              <a:rPr sz="6600" b="1" spc="12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选最大与最小</a:t>
            </a:r>
            <a:endParaRPr sz="7016" b="1" spc="12" dirty="0">
              <a:solidFill>
                <a:srgbClr val="C00000"/>
              </a:solidFill>
              <a:latin typeface="黑体" pitchFamily="49" charset="-122"/>
              <a:ea typeface="黑体" pitchFamily="49" charset="-122"/>
              <a:cs typeface="CNFSOI+ËÎÌå"/>
            </a:endParaRPr>
          </a:p>
        </p:txBody>
      </p:sp>
    </p:spTree>
    <p:extLst>
      <p:ext uri="{BB962C8B-B14F-4D97-AF65-F5344CB8AC3E}">
        <p14:creationId xmlns:p14="http://schemas.microsoft.com/office/powerpoint/2010/main" val="224092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4665" y="360521"/>
            <a:ext cx="8955132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spc="1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选择问题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183" y="1354475"/>
            <a:ext cx="8725496" cy="10156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输入：集合</a:t>
            </a:r>
            <a:r>
              <a:rPr sz="2800" b="1" spc="-1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L</a:t>
            </a:r>
            <a:r>
              <a:rPr sz="2800" b="1" i="1" spc="-9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(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含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n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个不等的实数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800" b="1" spc="13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输出：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L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中第</a:t>
            </a:r>
            <a:r>
              <a:rPr sz="28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 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小元素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3183" y="2663101"/>
            <a:ext cx="8725496" cy="10156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=1</a:t>
            </a:r>
            <a:r>
              <a:rPr lang="zh-CN" altLang="en-US" sz="2800" b="1" spc="13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，</a:t>
            </a:r>
            <a:r>
              <a:rPr sz="2800" b="1" spc="13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称为</a:t>
            </a:r>
            <a:r>
              <a:rPr sz="2800" b="1" spc="12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最小元素</a:t>
            </a:r>
            <a:endParaRPr sz="2800" b="1" spc="12" dirty="0">
              <a:solidFill>
                <a:srgbClr val="C00000"/>
              </a:solidFill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=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n</a:t>
            </a:r>
            <a:r>
              <a:rPr sz="2800" b="1" spc="13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，称为</a:t>
            </a:r>
            <a:r>
              <a:rPr sz="2800" b="1" spc="12" dirty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最大元素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3183" y="3954830"/>
            <a:ext cx="8878587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位置处在中间的元素，称为</a:t>
            </a:r>
            <a:r>
              <a:rPr sz="2800" b="1" spc="12" dirty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中位元素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3183" y="4614055"/>
            <a:ext cx="8878586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n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为奇数，中位数唯一，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= (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+1)/2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3184" y="5189060"/>
            <a:ext cx="8878587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n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为偶数，可指定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=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/2+1</a:t>
            </a:r>
          </a:p>
        </p:txBody>
      </p:sp>
    </p:spTree>
    <p:extLst>
      <p:ext uri="{BB962C8B-B14F-4D97-AF65-F5344CB8AC3E}">
        <p14:creationId xmlns:p14="http://schemas.microsoft.com/office/powerpoint/2010/main" val="255861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1796453" y="2646876"/>
            <a:ext cx="6478621" cy="1027682"/>
          </a:xfrm>
          <a:prstGeom prst="rect">
            <a:avLst/>
          </a:prstGeom>
          <a:blipFill>
            <a:blip r:embed="rId2" cstate="print"/>
            <a:srcRect/>
            <a:stretch>
              <a:fillRect t="-250050" r="-48816" b="-377040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88217" y="331035"/>
            <a:ext cx="8726244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选最大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8196" y="1746664"/>
            <a:ext cx="2999024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68"/>
              </a:lnSpc>
            </a:pPr>
            <a:r>
              <a:rPr sz="2976" spc="19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算法：顺序比较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25027" y="3107543"/>
            <a:ext cx="4940437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14"/>
              </a:lnSpc>
            </a:pPr>
            <a:r>
              <a:rPr sz="2551" dirty="0">
                <a:solidFill>
                  <a:srgbClr val="000000"/>
                </a:solidFill>
                <a:latin typeface="Calibri"/>
                <a:cs typeface="Calibri"/>
              </a:rPr>
              <a:t>1</a:t>
            </a:r>
            <a:r>
              <a:rPr sz="2551" spc="45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551" dirty="0">
                <a:solidFill>
                  <a:srgbClr val="000000"/>
                </a:solidFill>
                <a:latin typeface="Calibri"/>
                <a:cs typeface="Calibri"/>
              </a:rPr>
              <a:t>8</a:t>
            </a:r>
            <a:r>
              <a:rPr sz="2551" spc="450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551" dirty="0">
                <a:solidFill>
                  <a:srgbClr val="000000"/>
                </a:solidFill>
                <a:latin typeface="Calibri"/>
                <a:cs typeface="Calibri"/>
              </a:rPr>
              <a:t>4</a:t>
            </a:r>
            <a:r>
              <a:rPr sz="2551" spc="38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551" dirty="0">
                <a:solidFill>
                  <a:srgbClr val="000000"/>
                </a:solidFill>
                <a:latin typeface="Calibri"/>
                <a:cs typeface="Calibri"/>
              </a:rPr>
              <a:t>17</a:t>
            </a:r>
            <a:r>
              <a:rPr sz="2551" spc="38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551" dirty="0">
                <a:solidFill>
                  <a:srgbClr val="000000"/>
                </a:solidFill>
                <a:latin typeface="Calibri"/>
                <a:cs typeface="Calibri"/>
              </a:rPr>
              <a:t>3</a:t>
            </a:r>
            <a:r>
              <a:rPr sz="2551" spc="385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551" dirty="0">
                <a:solidFill>
                  <a:srgbClr val="000000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05257" y="4453818"/>
            <a:ext cx="5794242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r>
              <a:rPr sz="2976" spc="18" dirty="0" err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输出</a:t>
            </a:r>
            <a:r>
              <a:rPr lang="en-US" sz="2976" spc="18" dirty="0" err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:</a:t>
            </a:r>
            <a:r>
              <a:rPr sz="2800" b="1" i="1" dirty="0" err="1" smtClean="0">
                <a:solidFill>
                  <a:srgbClr val="000000"/>
                </a:solidFill>
                <a:latin typeface="Times New Roman"/>
                <a:cs typeface="Times New Roman"/>
              </a:rPr>
              <a:t>max</a:t>
            </a:r>
            <a:r>
              <a:rPr sz="2800" b="1" i="1" spc="-43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= </a:t>
            </a:r>
            <a:r>
              <a:rPr sz="2800" b="1" spc="11" dirty="0" smtClean="0">
                <a:solidFill>
                  <a:srgbClr val="000000"/>
                </a:solidFill>
                <a:latin typeface="Times New Roman"/>
                <a:cs typeface="Times New Roman"/>
              </a:rPr>
              <a:t>17</a:t>
            </a:r>
            <a:r>
              <a:rPr lang="zh-CN" altLang="en-US" sz="2800" b="1" spc="13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， </a:t>
            </a:r>
            <a:r>
              <a:rPr sz="2800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2800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=4</a:t>
            </a:r>
            <a:endParaRPr sz="2800" b="1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13"/>
          <p:cNvSpPr txBox="1"/>
          <p:nvPr/>
        </p:nvSpPr>
        <p:spPr>
          <a:xfrm>
            <a:off x="678196" y="5124115"/>
            <a:ext cx="5794242" cy="4067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91"/>
              </a:lnSpc>
              <a:spcBef>
                <a:spcPts val="1714"/>
              </a:spcBef>
            </a:pPr>
            <a:r>
              <a:rPr sz="2800" spc="16" dirty="0" err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算法最坏情况下的时间</a:t>
            </a:r>
            <a:r>
              <a:rPr sz="2800" b="1" i="1" dirty="0" err="1">
                <a:solidFill>
                  <a:srgbClr val="C00000"/>
                </a:solidFill>
                <a:latin typeface="Times New Roman"/>
                <a:cs typeface="Times New Roman"/>
              </a:rPr>
              <a:t>W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800" b="1" i="1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)=</a:t>
            </a:r>
            <a:r>
              <a:rPr sz="2800" b="1" i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lang="en-US" sz="2800" dirty="0" smtClean="0">
                <a:solidFill>
                  <a:srgbClr val="C00000"/>
                </a:solidFill>
                <a:latin typeface="PEJORU+Symbol"/>
                <a:cs typeface="PEJORU+Symbol"/>
              </a:rPr>
              <a:t>-</a:t>
            </a:r>
            <a:r>
              <a:rPr sz="2800" b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endParaRPr sz="2800" b="1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1203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3917" y="319498"/>
            <a:ext cx="9032428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spc="1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伪码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3683" y="1292541"/>
            <a:ext cx="8606116" cy="12695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r>
              <a:rPr sz="2800" b="1" spc="68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Findmax</a:t>
            </a:r>
          </a:p>
          <a:p>
            <a:pPr>
              <a:lnSpc>
                <a:spcPts val="3065"/>
              </a:lnSpc>
              <a:spcBef>
                <a:spcPts val="251"/>
              </a:spcBef>
            </a:pPr>
            <a:r>
              <a:rPr sz="2800" b="1" spc="1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输入：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800" b="1" i="1" spc="-2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个数的数组</a:t>
            </a:r>
            <a:r>
              <a:rPr sz="2800" b="1" spc="-1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pPr>
              <a:lnSpc>
                <a:spcPts val="3068"/>
              </a:lnSpc>
              <a:spcBef>
                <a:spcPts val="250"/>
              </a:spcBef>
            </a:pPr>
            <a:r>
              <a:rPr sz="2800" b="1" spc="18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输出：</a:t>
            </a:r>
            <a:r>
              <a:rPr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zh-CN" altLang="en-US" sz="2800" b="1" spc="13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， </a:t>
            </a:r>
            <a:r>
              <a:rPr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sz="28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3683" y="2873132"/>
            <a:ext cx="2736562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91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2800" b="1" spc="69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3684" y="3294343"/>
            <a:ext cx="4023669" cy="1282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91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sz="2800" b="1" spc="69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b="1" spc="-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to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pPr>
              <a:lnSpc>
                <a:spcPts val="3068"/>
              </a:lnSpc>
              <a:spcBef>
                <a:spcPts val="237"/>
              </a:spcBef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sz="2800" b="1" spc="483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800" b="1" spc="70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sz="2800" b="1" i="1" spc="-1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sz="2800" b="1" spc="1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ts val="3329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sz="2800" b="1" spc="483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sz="2800" b="1" spc="69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spc="-18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3683" y="4573481"/>
            <a:ext cx="6935773" cy="820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8"/>
              </a:lnSpc>
            </a:pPr>
            <a:r>
              <a:rPr sz="2764" b="1" dirty="0">
                <a:solidFill>
                  <a:srgbClr val="000000"/>
                </a:solidFill>
                <a:latin typeface="Times New Roman"/>
                <a:cs typeface="Times New Roman"/>
              </a:rPr>
              <a:t>5.</a:t>
            </a:r>
            <a:r>
              <a:rPr lang="en-US" sz="2764" b="1" dirty="0">
                <a:solidFill>
                  <a:srgbClr val="000000"/>
                </a:solidFill>
                <a:latin typeface="Times New Roman"/>
                <a:cs typeface="Times New Roman"/>
              </a:rPr>
              <a:t>        </a:t>
            </a:r>
            <a:r>
              <a:rPr sz="2764" b="1" i="1" dirty="0">
                <a:solidFill>
                  <a:srgbClr val="000000"/>
                </a:solidFill>
                <a:latin typeface="Times New Roman"/>
                <a:cs typeface="Times New Roman"/>
              </a:rPr>
              <a:t>k </a:t>
            </a:r>
            <a:r>
              <a:rPr sz="2764" dirty="0">
                <a:solidFill>
                  <a:srgbClr val="000000"/>
                </a:solidFill>
                <a:latin typeface="PEJORU+Symbol"/>
                <a:cs typeface="PEJORU+Symbol"/>
              </a:rPr>
              <a:t></a:t>
            </a:r>
            <a:r>
              <a:rPr sz="27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764" b="1" i="1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</a:p>
          <a:p>
            <a:pPr>
              <a:lnSpc>
                <a:spcPts val="3065"/>
              </a:lnSpc>
              <a:spcBef>
                <a:spcPts val="174"/>
              </a:spcBef>
            </a:pPr>
            <a:r>
              <a:rPr sz="2764" b="1" dirty="0">
                <a:solidFill>
                  <a:srgbClr val="000000"/>
                </a:solidFill>
                <a:latin typeface="Times New Roman"/>
                <a:cs typeface="Times New Roman"/>
              </a:rPr>
              <a:t>6.</a:t>
            </a:r>
            <a:r>
              <a:rPr sz="2764" b="1" spc="69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764" b="1" dirty="0">
                <a:solidFill>
                  <a:srgbClr val="000000"/>
                </a:solidFill>
                <a:latin typeface="Times New Roman"/>
                <a:cs typeface="Times New Roman"/>
              </a:rPr>
              <a:t>return</a:t>
            </a:r>
            <a:r>
              <a:rPr sz="2764" b="1" spc="69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764" b="1" i="1" dirty="0">
                <a:solidFill>
                  <a:srgbClr val="000000"/>
                </a:solidFill>
                <a:latin typeface="Times New Roman"/>
                <a:cs typeface="Times New Roman"/>
              </a:rPr>
              <a:t>max,</a:t>
            </a:r>
            <a:r>
              <a:rPr sz="2764" b="1" i="1" spc="-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764" b="1" i="1" dirty="0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1786944" y="3103295"/>
            <a:ext cx="36786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1797454" y="3507943"/>
            <a:ext cx="36786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3235804" y="4380302"/>
            <a:ext cx="36786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1878033" y="4790205"/>
            <a:ext cx="36786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18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191905" y="506264"/>
            <a:ext cx="9727013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6"/>
          </a:p>
        </p:txBody>
      </p:sp>
      <p:sp>
        <p:nvSpPr>
          <p:cNvPr id="3" name="object 3"/>
          <p:cNvSpPr txBox="1"/>
          <p:nvPr/>
        </p:nvSpPr>
        <p:spPr>
          <a:xfrm>
            <a:off x="343918" y="214394"/>
            <a:ext cx="8955882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选最大最小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3215" y="1710521"/>
            <a:ext cx="2290742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68"/>
              </a:lnSpc>
            </a:pPr>
            <a:r>
              <a:rPr sz="3200" b="1" spc="16" dirty="0" err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通常算法</a:t>
            </a:r>
            <a:endParaRPr sz="3200" b="1" spc="16" dirty="0">
              <a:solidFill>
                <a:srgbClr val="000000"/>
              </a:solidFill>
              <a:latin typeface="CNFSOI+ËÎÌå"/>
              <a:cs typeface="CNFSOI+ËÎÌå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215" y="2201578"/>
            <a:ext cx="8563492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r>
              <a:rPr sz="2764" b="1" dirty="0">
                <a:solidFill>
                  <a:srgbClr val="000000"/>
                </a:solidFill>
                <a:latin typeface="Times New Roman"/>
                <a:cs typeface="Times New Roman"/>
              </a:rPr>
              <a:t>1.</a:t>
            </a:r>
            <a:r>
              <a:rPr sz="2764" b="1" spc="6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976" spc="16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顺序比较，先选最大</a:t>
            </a:r>
            <a:r>
              <a:rPr sz="2976" spc="-36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976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max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3215" y="2703772"/>
            <a:ext cx="8563492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3068"/>
              </a:lnSpc>
            </a:pP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2</a:t>
            </a:r>
            <a:r>
              <a:rPr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.</a:t>
            </a:r>
            <a:r>
              <a:rPr sz="2800" spc="16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顺序比较</a:t>
            </a:r>
            <a:r>
              <a:rPr sz="2800" spc="16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，</a:t>
            </a:r>
            <a:r>
              <a:rPr sz="2800" spc="16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在剩余数组中选最</a:t>
            </a:r>
            <a:r>
              <a:rPr sz="280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小</a:t>
            </a:r>
            <a:r>
              <a:rPr lang="en-US" sz="28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min</a:t>
            </a:r>
            <a:r>
              <a:rPr sz="2800" spc="16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，类似于选最大算法，</a:t>
            </a:r>
            <a:r>
              <a:rPr sz="2800" spc="16" dirty="0" err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但比较时保留较小的数</a:t>
            </a:r>
            <a:endParaRPr sz="2800" spc="16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CNFSOI+ËÎÌå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3215" y="4044240"/>
            <a:ext cx="2644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0"/>
              </a:lnSpc>
            </a:pPr>
            <a:r>
              <a:rPr sz="2800" b="1" spc="16" dirty="0" err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时间复杂性</a:t>
            </a:r>
            <a:endParaRPr sz="2800" spc="16" dirty="0">
              <a:solidFill>
                <a:srgbClr val="000000"/>
              </a:solidFill>
              <a:latin typeface="CNFSOI+ËÎÌå"/>
              <a:cs typeface="CNFSOI+ËÎÌå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2373704" y="4449091"/>
                <a:ext cx="6108144" cy="43601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91"/>
                  </a:lnSpc>
                </a:pPr>
                <a:r>
                  <a:rPr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W</a:t>
                </a:r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(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n</a:t>
                </a:r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) = </a:t>
                </a:r>
                <a:r>
                  <a:rPr sz="2800" b="1" i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n</a:t>
                </a:r>
                <a:r>
                  <a:rPr lang="en-US" altLang="zh-CN" sz="2800" b="1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sz="2800" b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1 </a:t>
                </a:r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+ </a:t>
                </a:r>
                <a:r>
                  <a:rPr sz="2800" b="1" i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n</a:t>
                </a:r>
                <a:r>
                  <a:rPr lang="en-US" altLang="zh-CN" sz="2800" b="1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sz="2800" b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2 </a:t>
                </a:r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= </a:t>
                </a:r>
                <a:r>
                  <a:rPr sz="2800" b="1" dirty="0" smtClean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2</a:t>
                </a:r>
                <a:r>
                  <a:rPr sz="2800" b="1" i="1" dirty="0" smtClean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n</a:t>
                </a:r>
                <a:r>
                  <a:rPr lang="en-US" altLang="zh-CN" sz="2800" b="1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sz="2800" b="1" dirty="0" smtClean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3</a:t>
                </a:r>
                <a:endParaRPr sz="2800" b="1" dirty="0">
                  <a:solidFill>
                    <a:srgbClr val="C00000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3704" y="4449091"/>
                <a:ext cx="6108144" cy="436017"/>
              </a:xfrm>
              <a:prstGeom prst="rect">
                <a:avLst/>
              </a:prstGeom>
              <a:blipFill>
                <a:blip r:embed="rId3"/>
                <a:stretch>
                  <a:fillRect l="-3493" t="-29577" b="-43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996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938123" y="373663"/>
            <a:ext cx="7977351" cy="6106512"/>
          </a:xfrm>
          <a:prstGeom prst="rect">
            <a:avLst/>
          </a:prstGeom>
          <a:blipFill>
            <a:blip r:embed="rId2" cstate="print"/>
            <a:srcRect/>
            <a:stretch>
              <a:fillRect r="-44025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42420" y="392190"/>
            <a:ext cx="9032428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spc="1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分组算法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91011" y="2154039"/>
            <a:ext cx="28564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800" b="1" spc="15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</a:t>
            </a:r>
            <a:r>
              <a:rPr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800" b="1" spc="287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12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</a:t>
            </a:r>
            <a:r>
              <a:rPr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spc="4285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51776" y="2121607"/>
            <a:ext cx="1582659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25"/>
              </a:lnSpc>
            </a:pPr>
            <a:r>
              <a:rPr sz="2800" b="1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</a:t>
            </a:r>
            <a:endParaRPr sz="2800" b="1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2703" y="3089278"/>
            <a:ext cx="607516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3"/>
              </a:lnSpc>
            </a:pPr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088003" y="3113495"/>
            <a:ext cx="607516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3"/>
              </a:lnSpc>
            </a:pPr>
            <a:r>
              <a:rPr sz="28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  <a:endParaRPr sz="28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92729" y="3089278"/>
            <a:ext cx="607516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3"/>
              </a:lnSpc>
            </a:pPr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982315" y="3089278"/>
            <a:ext cx="944484" cy="1821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20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>
              <a:lnSpc>
                <a:spcPts val="3320"/>
              </a:lnSpc>
              <a:spcBef>
                <a:spcPts val="7631"/>
              </a:spcBef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89983" y="3953286"/>
            <a:ext cx="852142" cy="262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3"/>
              </a:lnSpc>
            </a:pPr>
            <a:r>
              <a:rPr sz="2800" b="1" spc="12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轮空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838203" y="4862152"/>
            <a:ext cx="607516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3"/>
              </a:lnSpc>
            </a:pPr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282467" y="4817294"/>
            <a:ext cx="607516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3"/>
              </a:lnSpc>
            </a:pPr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6299941" y="2083915"/>
                <a:ext cx="9568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941" y="2083915"/>
                <a:ext cx="956800" cy="43088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5052883" y="4771128"/>
            <a:ext cx="543739" cy="3359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913"/>
              </a:lnSpc>
              <a:spcBef>
                <a:spcPts val="10212"/>
              </a:spcBef>
            </a:pPr>
            <a:r>
              <a:rPr lang="zh-CN" altLang="en-US" sz="28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  <a:endParaRPr lang="zh-CN" altLang="en-US" sz="28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6"/>
          <p:cNvSpPr txBox="1"/>
          <p:nvPr/>
        </p:nvSpPr>
        <p:spPr>
          <a:xfrm>
            <a:off x="2929840" y="3113495"/>
            <a:ext cx="607516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3"/>
              </a:lnSpc>
            </a:pPr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</a:p>
        </p:txBody>
      </p:sp>
      <p:sp>
        <p:nvSpPr>
          <p:cNvPr id="18" name="object 12"/>
          <p:cNvSpPr txBox="1"/>
          <p:nvPr/>
        </p:nvSpPr>
        <p:spPr>
          <a:xfrm>
            <a:off x="2903009" y="4873791"/>
            <a:ext cx="607516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3"/>
              </a:lnSpc>
            </a:pPr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</a:p>
        </p:txBody>
      </p:sp>
    </p:spTree>
    <p:extLst>
      <p:ext uri="{BB962C8B-B14F-4D97-AF65-F5344CB8AC3E}">
        <p14:creationId xmlns:p14="http://schemas.microsoft.com/office/powerpoint/2010/main" val="335245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06264"/>
            <a:ext cx="9727013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6"/>
          </a:p>
        </p:txBody>
      </p:sp>
      <p:sp>
        <p:nvSpPr>
          <p:cNvPr id="3" name="object 3"/>
          <p:cNvSpPr txBox="1"/>
          <p:nvPr/>
        </p:nvSpPr>
        <p:spPr>
          <a:xfrm>
            <a:off x="420463" y="301558"/>
            <a:ext cx="8726244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spc="1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伪码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3215" y="1454689"/>
            <a:ext cx="8640038" cy="4239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8"/>
              </a:lnSpc>
            </a:pP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r>
              <a:rPr sz="2800" b="1" spc="62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FindMaxMin</a:t>
            </a:r>
          </a:p>
          <a:p>
            <a:pPr>
              <a:lnSpc>
                <a:spcPts val="2824"/>
              </a:lnSpc>
              <a:spcBef>
                <a:spcPts val="502"/>
              </a:spcBef>
            </a:pPr>
            <a:r>
              <a:rPr sz="2800" b="1" spc="1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输入：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800" b="1" spc="1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个数的数组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pPr>
              <a:lnSpc>
                <a:spcPts val="2824"/>
              </a:lnSpc>
              <a:spcBef>
                <a:spcPts val="555"/>
              </a:spcBef>
            </a:pPr>
            <a:r>
              <a:rPr sz="2800" b="1" spc="1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输出：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</a:p>
          <a:p>
            <a:pPr>
              <a:lnSpc>
                <a:spcPct val="150000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．将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sz="2800" b="1" spc="12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个元素两两一组分成</a:t>
            </a:r>
            <a:r>
              <a:rPr lang="en-US" sz="2800" b="1" spc="12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组</a:t>
            </a:r>
            <a:endParaRPr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．每组比较，</a:t>
            </a:r>
            <a:r>
              <a:rPr sz="2800" b="1" spc="12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得到</a:t>
            </a:r>
            <a:r>
              <a:rPr lang="en-US" sz="2800" b="1" spc="12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spc="16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sz="2800" b="1" spc="12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个较小和</a:t>
            </a:r>
            <a:r>
              <a:rPr lang="en-US" sz="2800" b="1" spc="16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</a:t>
            </a:r>
            <a:r>
              <a:rPr sz="2800" b="1" spc="12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个较大</a:t>
            </a:r>
            <a:endParaRPr sz="2800" b="1" spc="12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</a:t>
            </a:r>
            <a:r>
              <a:rPr sz="2800" b="1" spc="12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sz="2800" b="1" spc="12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sz="2800" b="1" spc="-1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spc="16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sz="2800" b="1" spc="12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个较大</a:t>
            </a:r>
            <a:r>
              <a:rPr sz="2800" b="1" spc="12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（含轮空元素）中找最大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max</a:t>
            </a:r>
          </a:p>
          <a:p>
            <a:pPr>
              <a:lnSpc>
                <a:spcPct val="150000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</a:t>
            </a:r>
            <a:r>
              <a:rPr sz="2800" b="1" spc="12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sz="2800" b="1" spc="12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sz="2800" b="1" spc="-1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spc="-1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sz="2800" b="1" spc="12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个较小</a:t>
            </a:r>
            <a:r>
              <a:rPr sz="2800" b="1" spc="12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（含轮空元素）中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找最小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min</a:t>
            </a:r>
          </a:p>
          <a:p>
            <a:pPr>
              <a:lnSpc>
                <a:spcPts val="3125"/>
              </a:lnSpc>
              <a:spcBef>
                <a:spcPts val="310"/>
              </a:spcBef>
            </a:pPr>
            <a:endParaRPr sz="2551" b="1" spc="12" dirty="0">
              <a:solidFill>
                <a:srgbClr val="000000"/>
              </a:solidFill>
              <a:latin typeface="CNFSOI+ËÎÌå"/>
              <a:cs typeface="CNFSOI+ËÎÌå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5103222" y="2771430"/>
                <a:ext cx="9568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222" y="2771430"/>
                <a:ext cx="95680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674197" y="3422116"/>
                <a:ext cx="9568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197" y="3422116"/>
                <a:ext cx="95680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6170022" y="3432626"/>
                <a:ext cx="9568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022" y="3432626"/>
                <a:ext cx="95680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461389" y="4702054"/>
                <a:ext cx="9568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389" y="4702054"/>
                <a:ext cx="95680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461389" y="4053845"/>
                <a:ext cx="9568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389" y="4053845"/>
                <a:ext cx="95680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930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06264"/>
            <a:ext cx="9727013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6"/>
          </a:p>
        </p:txBody>
      </p:sp>
      <p:sp>
        <p:nvSpPr>
          <p:cNvPr id="3" name="object 3"/>
          <p:cNvSpPr txBox="1"/>
          <p:nvPr/>
        </p:nvSpPr>
        <p:spPr>
          <a:xfrm>
            <a:off x="650600" y="420032"/>
            <a:ext cx="8463697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最坏情况时间复杂度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3215" y="1821200"/>
            <a:ext cx="6668923" cy="4067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91"/>
              </a:lnSpc>
            </a:pPr>
            <a:r>
              <a:rPr sz="2800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行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2</a:t>
            </a:r>
            <a:r>
              <a:rPr sz="2800" b="1" spc="-16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sz="2800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的组内比较</a:t>
            </a:r>
            <a:r>
              <a:rPr sz="2800" spc="1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sz="2800" spc="-1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次</a:t>
            </a:r>
            <a:endParaRPr sz="2800" dirty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215" y="2420442"/>
            <a:ext cx="8482490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8"/>
              </a:lnSpc>
            </a:pPr>
            <a:r>
              <a:rPr sz="2800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行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3--4</a:t>
            </a:r>
            <a:r>
              <a:rPr sz="2800" b="1" spc="-33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求</a:t>
            </a:r>
            <a:r>
              <a:rPr sz="2800" spc="15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和</a:t>
            </a:r>
            <a:r>
              <a:rPr sz="2800" spc="1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</a:t>
            </a:r>
            <a:r>
              <a:rPr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比较</a:t>
            </a:r>
            <a:r>
              <a:rPr sz="2800" spc="16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sz="2800" spc="16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至多</a:t>
            </a:r>
            <a:r>
              <a:rPr lang="en-US" sz="2800" spc="16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  </a:t>
            </a:r>
            <a:r>
              <a:rPr sz="2800" spc="4822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次</a:t>
            </a:r>
            <a:endParaRPr sz="2800" dirty="0">
              <a:solidFill>
                <a:srgbClr val="000000"/>
              </a:solidFill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251326" y="1790632"/>
                <a:ext cx="9568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326" y="1790632"/>
                <a:ext cx="95680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5689907" y="2387100"/>
                <a:ext cx="169982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800" b="1" dirty="0" smtClean="0"/>
                  <a:t>2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907" y="2387100"/>
                <a:ext cx="1699824" cy="430887"/>
              </a:xfrm>
              <a:prstGeom prst="rect">
                <a:avLst/>
              </a:prstGeom>
              <a:blipFill rotWithShape="1">
                <a:blip r:embed="rId4"/>
                <a:stretch>
                  <a:fillRect l="-12545" t="-24286" b="-5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2435041" y="3389987"/>
                <a:ext cx="410477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𝑾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altLang="zh-CN" sz="2800" b="1" dirty="0" smtClean="0"/>
                  <a:t>+2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5041" y="3389987"/>
                <a:ext cx="4104778" cy="430887"/>
              </a:xfrm>
              <a:prstGeom prst="rect">
                <a:avLst/>
              </a:prstGeom>
              <a:blipFill rotWithShape="1">
                <a:blip r:embed="rId5"/>
                <a:stretch>
                  <a:fillRect t="-22535" b="-50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3370142" y="4024978"/>
                <a:ext cx="26147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142" y="4024978"/>
                <a:ext cx="2614755" cy="43088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3422692" y="4554988"/>
                <a:ext cx="246595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altLang="zh-CN" sz="2800" b="1" dirty="0" smtClean="0"/>
                  <a:t>-2</a:t>
                </a:r>
                <a:endParaRPr lang="zh-CN" altLang="en-US" sz="2800" b="1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692" y="4554988"/>
                <a:ext cx="2465954" cy="430887"/>
              </a:xfrm>
              <a:prstGeom prst="rect">
                <a:avLst/>
              </a:prstGeom>
              <a:blipFill rotWithShape="1">
                <a:blip r:embed="rId7"/>
                <a:stretch>
                  <a:fillRect t="-22535" b="-50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82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7020" y="411675"/>
            <a:ext cx="9032428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spc="1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分治算法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3215" y="1699363"/>
            <a:ext cx="8716584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2800" b="1" spc="153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将数组</a:t>
            </a:r>
            <a:r>
              <a:rPr sz="2800" spc="-27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sz="2800" spc="16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从中间划分为两个</a:t>
            </a:r>
            <a:r>
              <a:rPr lang="zh-CN" altLang="en-US" sz="2800" spc="16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子数组</a:t>
            </a:r>
            <a:r>
              <a:rPr lang="zh-CN" altLang="en-US" sz="2800" spc="-27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2800" spc="18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446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3215" y="2671660"/>
            <a:ext cx="8640038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sz="2800" b="1" spc="665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spc="16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递归地在</a:t>
            </a:r>
            <a:r>
              <a:rPr sz="2800" spc="-15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sz="28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i="1" spc="236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spc="16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中求最大</a:t>
            </a:r>
            <a:r>
              <a:rPr sz="2800" spc="-2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max</a:t>
            </a:r>
            <a:r>
              <a:rPr lang="en-US" sz="28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min</a:t>
            </a:r>
            <a:r>
              <a:rPr lang="en-US" altLang="zh-CN" sz="2800" b="1" baseline="-2446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en-US" altLang="zh-CN" sz="2800" b="1" baseline="-2446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1114" y="3088011"/>
            <a:ext cx="1210118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5"/>
              </a:lnSpc>
            </a:pPr>
            <a:endParaRPr sz="2800" b="1" baseline="-2446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3215" y="3595066"/>
            <a:ext cx="8716584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8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sz="2800" b="1" spc="66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16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递归地在</a:t>
            </a:r>
            <a:r>
              <a:rPr sz="2800" b="1" spc="-1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spc="16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中求最大</a:t>
            </a:r>
            <a:r>
              <a:rPr sz="2800" b="1" spc="-24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8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b="1" baseline="-2446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800" b="1" baseline="-2446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3216" y="4986064"/>
            <a:ext cx="4765540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91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sz="2800" b="1" spc="136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min{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min</a:t>
            </a:r>
            <a:r>
              <a:rPr lang="en-US" altLang="zh-CN" sz="2800" b="1" baseline="-2446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b="1" baseline="-2446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1786759" y="4563454"/>
            <a:ext cx="36786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1786759" y="5217479"/>
            <a:ext cx="36786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bject 17"/>
          <p:cNvSpPr txBox="1"/>
          <p:nvPr/>
        </p:nvSpPr>
        <p:spPr>
          <a:xfrm>
            <a:off x="583215" y="4345446"/>
            <a:ext cx="4765540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91"/>
              </a:lnSpc>
            </a:pPr>
            <a:r>
              <a:rPr 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800" b="1" spc="1366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max</a:t>
            </a:r>
            <a:r>
              <a:rPr lang="en-US" altLang="zh-CN" sz="28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CN" sz="28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10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7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42184" y="308988"/>
            <a:ext cx="8581069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252" b="1" spc="1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最坏情况时间复杂度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4301" y="1344155"/>
            <a:ext cx="8728951" cy="1282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</a:pPr>
            <a:r>
              <a:rPr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假设</a:t>
            </a:r>
            <a:r>
              <a:rPr sz="2800" spc="-1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800" b="1" spc="-1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 marL="397226">
              <a:lnSpc>
                <a:spcPts val="2824"/>
              </a:lnSpc>
              <a:spcBef>
                <a:spcPts val="782"/>
              </a:spcBef>
            </a:pPr>
            <a:r>
              <a:rPr lang="en-US" sz="2551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sz="2551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551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551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55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2</a:t>
            </a:r>
            <a:r>
              <a:rPr sz="2551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55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551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55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/2) + 2</a:t>
            </a:r>
          </a:p>
          <a:p>
            <a:pPr marL="360000">
              <a:lnSpc>
                <a:spcPts val="2828"/>
              </a:lnSpc>
              <a:spcBef>
                <a:spcPts val="756"/>
              </a:spcBef>
            </a:pPr>
            <a:r>
              <a:rPr lang="en-US" sz="2551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sz="2551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551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sz="255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2213" y="3011440"/>
            <a:ext cx="8809952" cy="936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</a:pP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解</a:t>
            </a:r>
            <a:r>
              <a:rPr sz="2800" spc="127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sz="2800" b="1" i="1" baseline="299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sz="2800" b="1" i="1" baseline="29999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800" b="1" baseline="29999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</a:p>
          <a:p>
            <a:pPr marL="565707">
              <a:lnSpc>
                <a:spcPts val="2828"/>
              </a:lnSpc>
              <a:spcBef>
                <a:spcPts val="1674"/>
              </a:spcBef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2[2</a:t>
            </a:r>
            <a:r>
              <a:rPr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sz="2800" b="1" i="1" baseline="29999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800" b="1" baseline="29999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</a:t>
            </a:r>
            <a:r>
              <a:rPr sz="2800" b="1" spc="-12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2]</a:t>
            </a:r>
            <a:r>
              <a:rPr sz="2800" b="1" spc="-209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67931" y="4173282"/>
            <a:ext cx="8155321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r>
              <a:rPr sz="2800" b="1" baseline="299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sz="2800" b="1" i="1" baseline="299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800" b="1" baseline="299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</a:t>
            </a:r>
            <a:r>
              <a:rPr sz="2800" b="1" spc="-1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baseline="299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 =</a:t>
            </a:r>
            <a:r>
              <a:rPr sz="2800" b="1" spc="62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67932" y="4756587"/>
            <a:ext cx="7876371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8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r>
              <a:rPr sz="2800" b="1" i="1" baseline="299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800" b="1" baseline="299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800" b="1" spc="-1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i="1" baseline="299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800" b="1" baseline="299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sz="2800" b="1" spc="-195" baseline="299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800" b="1" spc="-1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sz="2800" b="1" spc="64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sz="2800" b="1" baseline="299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spc="-213" baseline="29999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800" b="1" spc="-1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67932" y="5183666"/>
            <a:ext cx="8155320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25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i="1" baseline="29999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800" b="1" baseline="29999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sz="2800" b="1" spc="-207" baseline="29999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2 = 3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/2 - 2</a:t>
            </a:r>
          </a:p>
        </p:txBody>
      </p:sp>
    </p:spTree>
    <p:extLst>
      <p:ext uri="{BB962C8B-B14F-4D97-AF65-F5344CB8AC3E}">
        <p14:creationId xmlns:p14="http://schemas.microsoft.com/office/powerpoint/2010/main" val="269470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12833" y="427145"/>
            <a:ext cx="8955882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252" b="1" spc="1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选择算法小结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583215" y="1832113"/>
                <a:ext cx="8257308" cy="39754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114"/>
                  </a:lnSpc>
                </a:pPr>
                <a:r>
                  <a:rPr sz="3200" b="1" spc="13" dirty="0">
                    <a:solidFill>
                      <a:srgbClr val="000000"/>
                    </a:solidFill>
                    <a:latin typeface="黑体" pitchFamily="49" charset="-122"/>
                    <a:ea typeface="黑体" pitchFamily="49" charset="-122"/>
                    <a:cs typeface="CNFSOI+ËÎÌå"/>
                  </a:rPr>
                  <a:t>选最大</a:t>
                </a:r>
                <a:r>
                  <a:rPr sz="3200" spc="13" dirty="0">
                    <a:solidFill>
                      <a:srgbClr val="000000"/>
                    </a:solidFill>
                    <a:latin typeface="黑体" pitchFamily="49" charset="-122"/>
                    <a:ea typeface="黑体" pitchFamily="49" charset="-122"/>
                    <a:cs typeface="CNFSOI+ËÎÌå"/>
                  </a:rPr>
                  <a:t>：顺序比较</a:t>
                </a:r>
                <a:r>
                  <a:rPr sz="3200" b="1" dirty="0">
                    <a:solidFill>
                      <a:srgbClr val="000000"/>
                    </a:solidFill>
                    <a:latin typeface="黑体" pitchFamily="49" charset="-122"/>
                    <a:ea typeface="黑体" pitchFamily="49" charset="-122"/>
                    <a:cs typeface="Calibri"/>
                  </a:rPr>
                  <a:t>, </a:t>
                </a:r>
                <a:r>
                  <a:rPr sz="3200" spc="12" dirty="0" err="1" smtClean="0">
                    <a:solidFill>
                      <a:srgbClr val="000000"/>
                    </a:solidFill>
                    <a:latin typeface="黑体" pitchFamily="49" charset="-122"/>
                    <a:ea typeface="黑体" pitchFamily="49" charset="-122"/>
                    <a:cs typeface="CNFSOI+ËÎÌå"/>
                  </a:rPr>
                  <a:t>比较次数</a:t>
                </a:r>
                <a:r>
                  <a:rPr sz="3200" b="1" i="1" dirty="0" err="1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n</a:t>
                </a:r>
                <a:r>
                  <a:rPr lang="en-US" altLang="zh-CN" sz="3200" b="1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sz="32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1</a:t>
                </a: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15" y="1832113"/>
                <a:ext cx="8257308" cy="397545"/>
              </a:xfrm>
              <a:prstGeom prst="rect">
                <a:avLst/>
              </a:prstGeom>
              <a:blipFill rotWithShape="1">
                <a:blip r:embed="rId2"/>
                <a:stretch>
                  <a:fillRect l="-3028" t="-64615" b="-5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 txBox="1"/>
          <p:nvPr/>
        </p:nvSpPr>
        <p:spPr>
          <a:xfrm>
            <a:off x="583216" y="2575261"/>
            <a:ext cx="2112537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1"/>
              </a:lnSpc>
            </a:pPr>
            <a:r>
              <a:rPr sz="32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FSOI+ËÎÌå"/>
              </a:rPr>
              <a:t>选最大最小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289784" y="3096017"/>
            <a:ext cx="8010013" cy="1500411"/>
            <a:chOff x="1289784" y="3096017"/>
            <a:chExt cx="8010013" cy="15004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bject 6"/>
                <p:cNvSpPr txBox="1"/>
                <p:nvPr/>
              </p:nvSpPr>
              <p:spPr>
                <a:xfrm>
                  <a:off x="1289784" y="3096017"/>
                  <a:ext cx="8010013" cy="1500411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>
                    <a:lnSpc>
                      <a:spcPts val="3114"/>
                    </a:lnSpc>
                    <a:spcBef>
                      <a:spcPts val="638"/>
                    </a:spcBef>
                    <a:spcAft>
                      <a:spcPts val="638"/>
                    </a:spcAft>
                  </a:pPr>
                  <a:r>
                    <a:rPr sz="32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•</a:t>
                  </a:r>
                  <a:r>
                    <a:rPr sz="3200" b="1" spc="13" dirty="0" err="1" smtClean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选最大</a:t>
                  </a:r>
                  <a:r>
                    <a:rPr lang="en-US" sz="3200" b="1" spc="13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 </a:t>
                  </a:r>
                  <a:r>
                    <a:rPr sz="3200" b="1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+</a:t>
                  </a:r>
                  <a:r>
                    <a:rPr sz="3200" b="1" spc="-11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 </a:t>
                  </a:r>
                  <a:r>
                    <a:rPr sz="3200" b="1" spc="13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选最小</a:t>
                  </a:r>
                  <a:r>
                    <a:rPr sz="3200" b="1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, </a:t>
                  </a:r>
                  <a:r>
                    <a:rPr sz="3200" spc="12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比较次数</a:t>
                  </a:r>
                  <a:r>
                    <a:rPr sz="3200" spc="-64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 </a:t>
                  </a:r>
                  <a:r>
                    <a:rPr sz="3200" b="1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2</a:t>
                  </a:r>
                  <a:r>
                    <a:rPr sz="3200" b="1" i="1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n</a:t>
                  </a:r>
                  <a:r>
                    <a:rPr lang="en-US" altLang="zh-CN" sz="3200" b="1" dirty="0" smtClean="0"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− </m:t>
                      </m:r>
                    </m:oMath>
                  </a14:m>
                  <a:r>
                    <a:rPr sz="3200" b="1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3</a:t>
                  </a:r>
                </a:p>
                <a:p>
                  <a:pPr>
                    <a:lnSpc>
                      <a:spcPts val="3128"/>
                    </a:lnSpc>
                    <a:spcBef>
                      <a:spcPts val="638"/>
                    </a:spcBef>
                    <a:spcAft>
                      <a:spcPts val="638"/>
                    </a:spcAft>
                  </a:pPr>
                  <a:r>
                    <a:rPr sz="3200" b="1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•</a:t>
                  </a:r>
                  <a:r>
                    <a:rPr sz="3200" spc="12" dirty="0" err="1" smtClean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分组</a:t>
                  </a:r>
                  <a:r>
                    <a:rPr sz="3200" b="1" spc="12" dirty="0" err="1" smtClean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：</a:t>
                  </a:r>
                  <a:r>
                    <a:rPr sz="3200" spc="12" dirty="0" err="1" smtClean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比较次数</a:t>
                  </a:r>
                  <a:r>
                    <a:rPr sz="3200" b="1" spc="641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 </a:t>
                  </a:r>
                  <a:r>
                    <a:rPr lang="en-US" sz="3200" b="1" spc="641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    </a:t>
                  </a:r>
                </a:p>
                <a:p>
                  <a:pPr>
                    <a:lnSpc>
                      <a:spcPts val="3128"/>
                    </a:lnSpc>
                    <a:spcBef>
                      <a:spcPts val="638"/>
                    </a:spcBef>
                    <a:spcAft>
                      <a:spcPts val="638"/>
                    </a:spcAft>
                  </a:pPr>
                  <a:r>
                    <a:rPr lang="en-US" altLang="zh-CN" sz="3200" b="1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•</a:t>
                  </a:r>
                  <a:r>
                    <a:rPr sz="3200" b="1" spc="13" dirty="0" err="1" smtClean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分治</a:t>
                  </a:r>
                  <a:r>
                    <a:rPr sz="3200" spc="13" dirty="0" err="1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：</a:t>
                  </a:r>
                  <a:r>
                    <a:rPr sz="3200" b="1" i="1" dirty="0" err="1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n</a:t>
                  </a:r>
                  <a:r>
                    <a:rPr sz="3200" b="1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=2</a:t>
                  </a:r>
                  <a:r>
                    <a:rPr sz="3200" b="1" i="1" baseline="29999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k</a:t>
                  </a:r>
                  <a:r>
                    <a:rPr sz="3200" spc="12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，比较次数</a:t>
                  </a:r>
                  <a:r>
                    <a:rPr sz="3200" spc="627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 </a:t>
                  </a:r>
                  <a:r>
                    <a:rPr sz="3200" b="1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3</a:t>
                  </a:r>
                  <a:r>
                    <a:rPr sz="3200" b="1" i="1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n</a:t>
                  </a:r>
                  <a:r>
                    <a:rPr sz="3200" b="1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/2</a:t>
                  </a:r>
                  <a:r>
                    <a:rPr lang="en-US" altLang="zh-CN" sz="32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− </m:t>
                      </m:r>
                    </m:oMath>
                  </a14:m>
                  <a:r>
                    <a:rPr sz="3200" b="1" dirty="0">
                      <a:solidFill>
                        <a:srgbClr val="000000"/>
                      </a:solidFill>
                      <a:latin typeface="Times New Roman" pitchFamily="18" charset="0"/>
                      <a:ea typeface="黑体" panose="02010609060101010101" pitchFamily="49" charset="-122"/>
                      <a:cs typeface="Times New Roman" pitchFamily="18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6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9784" y="3096017"/>
                  <a:ext cx="8010013" cy="1500411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3120" t="-16260" b="-1504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/>
                <p:cNvSpPr txBox="1"/>
                <p:nvPr/>
              </p:nvSpPr>
              <p:spPr>
                <a:xfrm>
                  <a:off x="4225135" y="3562676"/>
                  <a:ext cx="2072747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⌈"/>
                            <m:endChr m:val="⌉"/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CN" altLang="en-US" sz="3200" b="1" dirty="0"/>
                </a:p>
              </p:txBody>
            </p:sp>
          </mc:Choice>
          <mc:Fallback xmlns="">
            <p:sp>
              <p:nvSpPr>
                <p:cNvPr id="8" name="文本框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5135" y="3562676"/>
                  <a:ext cx="2072747" cy="492443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2852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06264"/>
            <a:ext cx="9727013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6"/>
          </a:p>
        </p:txBody>
      </p:sp>
      <p:sp>
        <p:nvSpPr>
          <p:cNvPr id="3" name="object 3"/>
          <p:cNvSpPr txBox="1"/>
          <p:nvPr/>
        </p:nvSpPr>
        <p:spPr>
          <a:xfrm>
            <a:off x="3168578" y="2584876"/>
            <a:ext cx="4015764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42"/>
              </a:lnSpc>
            </a:pPr>
            <a:r>
              <a:rPr sz="6600" b="1" spc="1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选第二大</a:t>
            </a:r>
          </a:p>
        </p:txBody>
      </p:sp>
    </p:spTree>
    <p:extLst>
      <p:ext uri="{BB962C8B-B14F-4D97-AF65-F5344CB8AC3E}">
        <p14:creationId xmlns:p14="http://schemas.microsoft.com/office/powerpoint/2010/main" val="621967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06264"/>
            <a:ext cx="9727013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6"/>
          </a:p>
        </p:txBody>
      </p:sp>
      <p:sp>
        <p:nvSpPr>
          <p:cNvPr id="3" name="object 3"/>
          <p:cNvSpPr txBox="1"/>
          <p:nvPr/>
        </p:nvSpPr>
        <p:spPr>
          <a:xfrm>
            <a:off x="375384" y="378524"/>
            <a:ext cx="8831677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选第二大</a:t>
            </a:r>
            <a:endParaRPr sz="2800" b="1" spc="1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FLNVWC+ËÎÌå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3216" y="1616982"/>
            <a:ext cx="8329556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</a:pPr>
            <a:r>
              <a:rPr sz="2800" b="1" spc="1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输入：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个数的数组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3216" y="2086795"/>
            <a:ext cx="7783018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输出：第二大的数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second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3216" y="2680564"/>
            <a:ext cx="3415321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1"/>
              </a:lnSpc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通常算法：</a:t>
            </a:r>
            <a:r>
              <a:rPr sz="2800" b="1" spc="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顺序比较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43600" y="3140093"/>
            <a:ext cx="8463462" cy="833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．顺序比较找到最大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max</a:t>
            </a:r>
          </a:p>
          <a:p>
            <a:pPr>
              <a:lnSpc>
                <a:spcPts val="3128"/>
              </a:lnSpc>
              <a:spcBef>
                <a:spcPts val="572"/>
              </a:spcBef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．从剩下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lang="en-US" sz="2800" b="1" i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-</a:t>
            </a:r>
            <a:r>
              <a:rPr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个数中找最大，</a:t>
            </a:r>
            <a:r>
              <a:rPr sz="2800" b="1" spc="12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就是第二大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second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3216" y="4452992"/>
            <a:ext cx="2438489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3"/>
              </a:lnSpc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时间复杂度：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08442" y="4947398"/>
            <a:ext cx="5655244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25"/>
              </a:lnSpc>
            </a:pP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=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en-US" sz="2800" b="1" spc="16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-12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sz="2800" b="1" spc="16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spc="-12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en-US" sz="2800" b="1" spc="16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sz="28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41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07811" y="225013"/>
            <a:ext cx="8404657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提高效率的途径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3215" y="1618875"/>
            <a:ext cx="9611819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2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成为第二大数的条件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：</a:t>
            </a:r>
            <a:r>
              <a:rPr sz="2800" b="1" spc="12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仅在与最大</a:t>
            </a:r>
            <a:r>
              <a:rPr sz="2800" b="1" spc="13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数的比较中被淘汰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3216" y="2422012"/>
            <a:ext cx="8634356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17"/>
              </a:lnSpc>
            </a:pPr>
            <a:r>
              <a:rPr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2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要确定第二大数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，必须知道最大数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3215" y="3206311"/>
            <a:ext cx="9137048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2850"/>
              </a:lnSpc>
            </a:pPr>
            <a:r>
              <a:rPr sz="28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2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在确定最大数的过程中记录下被最</a:t>
            </a:r>
            <a:r>
              <a:rPr sz="2800" b="1" spc="13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大数直接淘汰的元素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3215" y="4088996"/>
            <a:ext cx="8794049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2850"/>
              </a:lnSpc>
            </a:pPr>
            <a:r>
              <a:rPr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2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被最大数直接淘汰的</a:t>
            </a:r>
            <a:r>
              <a:rPr sz="2800" b="1" spc="13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数内的最大数就是第二大数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3215" y="4944134"/>
            <a:ext cx="4720661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14"/>
              </a:lnSpc>
            </a:pPr>
            <a:r>
              <a:rPr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2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设计思想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：</a:t>
            </a:r>
            <a:r>
              <a:rPr sz="2800" b="1" spc="-7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3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用空间换时间</a:t>
            </a:r>
            <a:endParaRPr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866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06264"/>
            <a:ext cx="9727013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6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6509" y="236959"/>
            <a:ext cx="8955145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锦标赛算法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2213" y="1798186"/>
            <a:ext cx="8799441" cy="807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3065"/>
              </a:lnSpc>
            </a:pP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1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.</a:t>
            </a:r>
            <a:r>
              <a:rPr sz="2800" b="1" spc="16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两两分组比较</a:t>
            </a:r>
            <a:r>
              <a:rPr sz="2800" b="1" spc="16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，大者进入下一轮</a:t>
            </a:r>
            <a:r>
              <a:rPr sz="2800" b="1" spc="16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，直到剩下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1</a:t>
            </a:r>
            <a:r>
              <a:rPr sz="2800" b="1" spc="16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个元素</a:t>
            </a:r>
            <a:r>
              <a:rPr sz="2800" b="1" spc="-11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max</a:t>
            </a:r>
            <a:r>
              <a:rPr sz="2800" b="1" i="1" spc="-21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 </a:t>
            </a:r>
            <a:r>
              <a:rPr sz="2800" b="1" spc="16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为止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2964" y="2984135"/>
            <a:ext cx="8799440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3065"/>
              </a:lnSpc>
            </a:pP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2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.</a:t>
            </a:r>
            <a:r>
              <a:rPr sz="2800" b="1" spc="16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在每次比较中淘汰较小元素</a:t>
            </a:r>
            <a:r>
              <a:rPr sz="2800" b="1" spc="16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，</a:t>
            </a:r>
            <a:r>
              <a:rPr sz="2800" b="1" spc="16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将被淘汰元素记录在淘汰它的元素的链表上</a:t>
            </a:r>
            <a:endParaRPr sz="2800" b="1" spc="16" dirty="0">
              <a:solidFill>
                <a:srgbClr val="000000"/>
              </a:solidFill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341" y="4373029"/>
            <a:ext cx="861333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3065"/>
              </a:lnSpc>
            </a:pP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3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.</a:t>
            </a:r>
            <a:r>
              <a:rPr sz="2800" b="1" spc="16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检查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max</a:t>
            </a:r>
            <a:r>
              <a:rPr sz="2800" b="1" i="1" spc="-21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 </a:t>
            </a:r>
            <a:r>
              <a:rPr sz="2800" b="1" spc="16" dirty="0" err="1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的链表，</a:t>
            </a:r>
            <a:r>
              <a:rPr sz="2800" b="1" spc="16" dirty="0" err="1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从中找到最大</a:t>
            </a:r>
            <a:r>
              <a:rPr lang="zh-CN" altLang="en-US" sz="2800" b="1" spc="16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元，即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second</a:t>
            </a:r>
          </a:p>
          <a:p>
            <a:pPr algn="just">
              <a:lnSpc>
                <a:spcPts val="3065"/>
              </a:lnSpc>
            </a:pPr>
            <a:endParaRPr sz="2800" b="1" spc="16" dirty="0">
              <a:solidFill>
                <a:srgbClr val="000000"/>
              </a:solidFill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385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75369" y="206626"/>
            <a:ext cx="189059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247"/>
              </a:lnSpc>
            </a:pPr>
            <a:r>
              <a:rPr sz="425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伪码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1211" y="988657"/>
            <a:ext cx="812369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8"/>
              </a:lnSpc>
            </a:pP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算法</a:t>
            </a:r>
            <a:r>
              <a:rPr sz="2800" spc="627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FindSecond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1211" y="1458758"/>
            <a:ext cx="857564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800" spc="1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输入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: </a:t>
            </a:r>
            <a:r>
              <a:rPr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lang="en-US" sz="2800" b="1" i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spc="12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个数的数组</a:t>
            </a:r>
            <a:r>
              <a:rPr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L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,</a:t>
            </a:r>
            <a:r>
              <a:rPr sz="2800" b="1" spc="63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spc="12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输出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: second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421212" y="2311850"/>
                <a:ext cx="8785850" cy="79508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125"/>
                  </a:lnSpc>
                </a:pPr>
                <a:r>
                  <a:rPr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1</a:t>
                </a:r>
                <a:r>
                  <a:rPr sz="2800" spc="12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．</a:t>
                </a:r>
                <a:r>
                  <a:rPr lang="en-US" altLang="zh-CN" sz="2800" b="1" spc="12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k</a:t>
                </a:r>
                <a:r>
                  <a:rPr lang="en-US"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ATJSN+Symbol"/>
                  </a:rPr>
                  <a:t>    </a:t>
                </a:r>
                <a:r>
                  <a:rPr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n</a:t>
                </a:r>
                <a:r>
                  <a:rPr sz="2800" b="1" i="1" spc="1897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//</a:t>
                </a:r>
                <a:r>
                  <a:rPr sz="2800" b="1" spc="-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参与淘汰的元素数</a:t>
                </a:r>
              </a:p>
              <a:p>
                <a:pPr>
                  <a:lnSpc>
                    <a:spcPts val="3061"/>
                  </a:lnSpc>
                </a:pP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2</a:t>
                </a:r>
                <a:r>
                  <a:rPr sz="2800" b="1" spc="13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．</a:t>
                </a:r>
                <a:r>
                  <a:rPr sz="2800" b="1" spc="13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将</a:t>
                </a:r>
                <a:r>
                  <a:rPr lang="en-US" sz="2800" b="1" spc="13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 </a:t>
                </a:r>
                <a:r>
                  <a:rPr sz="2800" b="1" i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k</a:t>
                </a:r>
                <a:r>
                  <a:rPr lang="en-US" sz="2800" b="1" i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sz="2800" b="1" spc="13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个元素两两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1</a:t>
                </a:r>
                <a:r>
                  <a:rPr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组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,</a:t>
                </a:r>
                <a:r>
                  <a:rPr sz="2800" b="1" spc="-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sz="2800" b="1" spc="12" dirty="0" err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分成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/>
                          </a:rPr>
                          <m:t>2</m:t>
                        </m:r>
                      </m:e>
                    </m:d>
                  </m:oMath>
                </a14:m>
                <a:r>
                  <a:rPr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组</a:t>
                </a:r>
                <a:endParaRPr sz="28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FLNVWC+ËÎÌå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12" y="2311850"/>
                <a:ext cx="8785850" cy="795089"/>
              </a:xfrm>
              <a:prstGeom prst="rect">
                <a:avLst/>
              </a:prstGeom>
              <a:blipFill rotWithShape="1">
                <a:blip r:embed="rId2"/>
                <a:stretch>
                  <a:fillRect l="-2429" t="-16794" b="-244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6710005" y="2479429"/>
            <a:ext cx="607516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3"/>
              </a:lnSpc>
            </a:pPr>
            <a:r>
              <a:rPr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一</a:t>
            </a:r>
          </a:p>
          <a:p>
            <a:pPr>
              <a:lnSpc>
                <a:spcPts val="1913"/>
              </a:lnSpc>
              <a:spcBef>
                <a:spcPts val="383"/>
              </a:spcBef>
            </a:pPr>
            <a:r>
              <a:rPr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1211" y="3106889"/>
            <a:ext cx="633545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3</a:t>
            </a: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．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每组的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个数比较，</a:t>
            </a:r>
            <a:r>
              <a:rPr sz="2800" b="1" spc="12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找到较大数</a:t>
            </a:r>
            <a:endParaRPr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  <a:cs typeface="FLNVWC+ËÎÌå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83371" y="3469983"/>
            <a:ext cx="607516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3"/>
              </a:lnSpc>
            </a:pPr>
            <a:r>
              <a:rPr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汰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21212" y="3515284"/>
            <a:ext cx="542743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8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4</a:t>
            </a: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．</a:t>
            </a:r>
            <a:r>
              <a:rPr sz="2800" b="1" spc="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将被淘汰数记入较大数的链表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/>
              <p:cNvSpPr txBox="1"/>
              <p:nvPr/>
            </p:nvSpPr>
            <p:spPr>
              <a:xfrm>
                <a:off x="421211" y="3895355"/>
                <a:ext cx="8575644" cy="39754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125"/>
                  </a:lnSpc>
                </a:pPr>
                <a:r>
                  <a:rPr lang="en-US"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5</a:t>
                </a:r>
                <a:r>
                  <a:rPr 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．</a:t>
                </a:r>
                <a:r>
                  <a:rPr lang="en-US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if</a:t>
                </a:r>
                <a:r>
                  <a:rPr lang="en-US" sz="2800" b="1" spc="614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lang="en-US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k 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为奇数</a:t>
                </a:r>
                <a:r>
                  <a:rPr lang="zh-CN" altLang="en-US" sz="2800" b="1" spc="638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lang="en-US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then</a:t>
                </a:r>
                <a:r>
                  <a:rPr lang="en-US" sz="2800" b="1" spc="643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lang="en-US" sz="2800" b="1" i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k</a:t>
                </a:r>
                <a:r>
                  <a:rPr lang="en-US" sz="2800" b="1" spc="1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ATJSN+Symbol"/>
                  </a:rPr>
                  <a:t>   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ar-AE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/>
                          </a:rPr>
                          <m:t>2</m:t>
                        </m:r>
                      </m:e>
                    </m:d>
                    <m:r>
                      <a:rPr lang="ar-AE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/>
                      </a:rPr>
                      <m:t>+</m:t>
                    </m:r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/>
                      </a:rPr>
                      <m:t>𝟏</m:t>
                    </m:r>
                  </m:oMath>
                </a14:m>
                <a:endParaRPr sz="28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/>
                </a:endParaRPr>
              </a:p>
            </p:txBody>
          </p:sp>
        </mc:Choice>
        <mc:Fallback xmlns=""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11" y="3895355"/>
                <a:ext cx="8575644" cy="397545"/>
              </a:xfrm>
              <a:prstGeom prst="rect">
                <a:avLst/>
              </a:prstGeom>
              <a:blipFill rotWithShape="1">
                <a:blip r:embed="rId3"/>
                <a:stretch>
                  <a:fillRect l="-2488" t="-38462" b="-5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>
              <a:xfrm>
                <a:off x="421211" y="4335125"/>
                <a:ext cx="8386458" cy="119263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125"/>
                  </a:lnSpc>
                </a:pP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6</a:t>
                </a:r>
                <a:r>
                  <a:rPr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．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else</a:t>
                </a:r>
                <a:r>
                  <a:rPr sz="2800" b="1" spc="607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lang="en-US" altLang="zh-CN" sz="2800" b="1" i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k</a:t>
                </a:r>
                <a:r>
                  <a:rPr lang="en-US" altLang="zh-CN" sz="2800" b="1" spc="1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ATJSN+Symbol"/>
                  </a:rPr>
                  <a:t>   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ar-AE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Times New Roman"/>
                          </a:rPr>
                          <m:t>2</m:t>
                        </m:r>
                      </m:e>
                    </m:d>
                  </m:oMath>
                </a14:m>
                <a:endParaRPr lang="en-US" sz="2800" b="1" dirty="0" smtClean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/>
                </a:endParaRPr>
              </a:p>
              <a:p>
                <a:pPr>
                  <a:lnSpc>
                    <a:spcPts val="3125"/>
                  </a:lnSpc>
                </a:pPr>
                <a:r>
                  <a:rPr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7</a:t>
                </a:r>
                <a:r>
                  <a:rPr sz="2800" b="1" spc="12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．</a:t>
                </a:r>
                <a:r>
                  <a:rPr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if</a:t>
                </a:r>
                <a:r>
                  <a:rPr sz="2800" b="1" spc="623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sz="2800" b="1" i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k</a:t>
                </a:r>
                <a:r>
                  <a:rPr lang="en-US" sz="2800" b="1" i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&gt;</a:t>
                </a:r>
                <a:r>
                  <a:rPr lang="en-US"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1</a:t>
                </a:r>
                <a:r>
                  <a:rPr sz="2800" b="1" spc="623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then</a:t>
                </a:r>
                <a:r>
                  <a:rPr sz="2800" b="1" spc="645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goto</a:t>
                </a:r>
                <a:r>
                  <a:rPr sz="2800" b="1" spc="-1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2</a:t>
                </a:r>
              </a:p>
              <a:p>
                <a:pPr>
                  <a:lnSpc>
                    <a:spcPts val="3060"/>
                  </a:lnSpc>
                </a:pP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8</a:t>
                </a:r>
                <a:r>
                  <a:rPr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．</a:t>
                </a:r>
                <a:r>
                  <a:rPr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max</a:t>
                </a:r>
                <a:r>
                  <a:rPr sz="2800" b="1" i="1" spc="-18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lang="en-US"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ATJSN+Symbol"/>
                  </a:rPr>
                  <a:t>    </a:t>
                </a:r>
                <a:r>
                  <a:rPr sz="2800" b="1" spc="12" dirty="0" err="1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FLNVWC+ËÎÌå"/>
                  </a:rPr>
                  <a:t>最大数</a:t>
                </a:r>
                <a:endParaRPr sz="2800" b="1" spc="12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FLNVWC+ËÎÌå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11" y="4335125"/>
                <a:ext cx="8386458" cy="1192634"/>
              </a:xfrm>
              <a:prstGeom prst="rect">
                <a:avLst/>
              </a:prstGeom>
              <a:blipFill rotWithShape="1">
                <a:blip r:embed="rId4"/>
                <a:stretch>
                  <a:fillRect l="-2544" t="-12755" b="-173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14"/>
          <p:cNvSpPr txBox="1"/>
          <p:nvPr/>
        </p:nvSpPr>
        <p:spPr>
          <a:xfrm>
            <a:off x="421212" y="5489503"/>
            <a:ext cx="8008085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25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9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．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second</a:t>
            </a:r>
            <a:r>
              <a:rPr sz="2800" b="1" i="1" spc="-1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lang="en-US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ATJSN+Symbol"/>
              </a:rPr>
              <a:t>   </a:t>
            </a:r>
            <a:r>
              <a:rPr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max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的链表中的最大</a:t>
            </a:r>
          </a:p>
        </p:txBody>
      </p:sp>
      <p:sp>
        <p:nvSpPr>
          <p:cNvPr id="16" name="矩形 15"/>
          <p:cNvSpPr/>
          <p:nvPr/>
        </p:nvSpPr>
        <p:spPr>
          <a:xfrm>
            <a:off x="6582189" y="2997521"/>
            <a:ext cx="543739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24"/>
              </a:lnSpc>
            </a:pPr>
            <a:r>
              <a:rPr lang="zh-CN" altLang="en-US" sz="2800" b="1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淘</a:t>
            </a:r>
            <a:endParaRPr lang="zh-CN" altLang="en-US"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  <a:cs typeface="FLNVWC+ËÎÌå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1240221" y="2538084"/>
            <a:ext cx="50449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4524704" y="4067340"/>
            <a:ext cx="50449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2249214" y="4556350"/>
            <a:ext cx="50449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1744717" y="5342026"/>
            <a:ext cx="50449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2249213" y="5725539"/>
            <a:ext cx="50449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3827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1"/>
          <p:cNvSpPr/>
          <p:nvPr/>
        </p:nvSpPr>
        <p:spPr>
          <a:xfrm>
            <a:off x="1509064" y="5016028"/>
            <a:ext cx="3504739" cy="951636"/>
          </a:xfrm>
          <a:prstGeom prst="rect">
            <a:avLst/>
          </a:prstGeom>
          <a:blipFill>
            <a:blip r:embed="rId2" cstate="print"/>
            <a:srcRect/>
            <a:stretch>
              <a:fillRect l="-1" t="-777908" r="-192357" b="-101392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1"/>
          <p:cNvSpPr/>
          <p:nvPr/>
        </p:nvSpPr>
        <p:spPr>
          <a:xfrm>
            <a:off x="1611646" y="4086401"/>
            <a:ext cx="3333146" cy="958502"/>
          </a:xfrm>
          <a:prstGeom prst="rect">
            <a:avLst/>
          </a:prstGeom>
          <a:blipFill>
            <a:blip r:embed="rId2" cstate="print"/>
            <a:srcRect/>
            <a:stretch>
              <a:fillRect l="-1" t="-552249" r="-192357" b="-175335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1"/>
          <p:cNvSpPr/>
          <p:nvPr/>
        </p:nvSpPr>
        <p:spPr>
          <a:xfrm>
            <a:off x="1917307" y="3416126"/>
            <a:ext cx="4040733" cy="776086"/>
          </a:xfrm>
          <a:prstGeom prst="rect">
            <a:avLst/>
          </a:prstGeom>
          <a:blipFill>
            <a:blip r:embed="rId2" cstate="print"/>
            <a:srcRect/>
            <a:stretch>
              <a:fillRect l="-8006" t="-497879" r="-131398" b="-304560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1"/>
          <p:cNvSpPr/>
          <p:nvPr/>
        </p:nvSpPr>
        <p:spPr>
          <a:xfrm>
            <a:off x="1590658" y="1916185"/>
            <a:ext cx="7325560" cy="768716"/>
          </a:xfrm>
          <a:prstGeom prst="rect">
            <a:avLst/>
          </a:prstGeom>
          <a:blipFill>
            <a:blip r:embed="rId2" cstate="print"/>
            <a:srcRect/>
            <a:stretch>
              <a:fillRect t="-261094" r="-34262" b="-434308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1"/>
          <p:cNvSpPr/>
          <p:nvPr/>
        </p:nvSpPr>
        <p:spPr>
          <a:xfrm>
            <a:off x="1923563" y="2658175"/>
            <a:ext cx="4029592" cy="801338"/>
          </a:xfrm>
          <a:prstGeom prst="rect">
            <a:avLst/>
          </a:prstGeom>
          <a:blipFill>
            <a:blip r:embed="rId2" cstate="print"/>
            <a:srcRect/>
            <a:stretch>
              <a:fillRect l="-8006" t="-420655" r="-131398" b="-433444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1"/>
          <p:cNvSpPr/>
          <p:nvPr/>
        </p:nvSpPr>
        <p:spPr>
          <a:xfrm>
            <a:off x="1600272" y="1228567"/>
            <a:ext cx="7312719" cy="768715"/>
          </a:xfrm>
          <a:prstGeom prst="rect">
            <a:avLst/>
          </a:prstGeom>
          <a:blipFill>
            <a:blip r:embed="rId2" cstate="print"/>
            <a:srcRect/>
            <a:stretch>
              <a:fillRect t="-247104" r="-34262" b="-740790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9087" y="394264"/>
            <a:ext cx="8807669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22439" y="1499659"/>
            <a:ext cx="1084942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59"/>
              </a:lnSpc>
            </a:pPr>
            <a:r>
              <a:rPr sz="2800" spc="1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分组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54891" y="1499659"/>
            <a:ext cx="54213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94430" y="1499659"/>
            <a:ext cx="54213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3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34078" y="1499659"/>
            <a:ext cx="54213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6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73726" y="1499659"/>
            <a:ext cx="54213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7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13643" y="1499659"/>
            <a:ext cx="54213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953155" y="1499659"/>
            <a:ext cx="54213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92803" y="1499659"/>
            <a:ext cx="54213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32720" y="1499659"/>
            <a:ext cx="54213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8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709929" y="2174642"/>
            <a:ext cx="487674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35"/>
              </a:lnSpc>
            </a:pP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3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685856" y="2174642"/>
            <a:ext cx="487674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35"/>
              </a:lnSpc>
            </a:pP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362747" y="2174642"/>
            <a:ext cx="487674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35"/>
              </a:lnSpc>
            </a:pP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1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243445" y="2174642"/>
            <a:ext cx="487674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35"/>
              </a:lnSpc>
            </a:pP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4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422439" y="4562433"/>
            <a:ext cx="1579285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  <a:spcBef>
                <a:spcPts val="7688"/>
              </a:spcBef>
            </a:pPr>
            <a:r>
              <a:rPr sz="2800" spc="18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分组</a:t>
            </a:r>
            <a:r>
              <a:rPr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3</a:t>
            </a:r>
            <a:endParaRPr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98075" y="2970417"/>
            <a:ext cx="54213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7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055409" y="2970417"/>
            <a:ext cx="54213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712876" y="2970417"/>
            <a:ext cx="54213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8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337550" y="3746419"/>
            <a:ext cx="946686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35"/>
              </a:lnSpc>
            </a:pP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6</a:t>
            </a:r>
            <a:r>
              <a:rPr sz="2400" spc="221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5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633857" y="3746419"/>
            <a:ext cx="946821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35"/>
              </a:lnSpc>
            </a:pP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4</a:t>
            </a:r>
            <a:r>
              <a:rPr sz="2400" spc="2212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2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417787" y="4565652"/>
            <a:ext cx="542133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8</a:t>
            </a:r>
          </a:p>
        </p:txBody>
      </p:sp>
      <p:sp>
        <p:nvSpPr>
          <p:cNvPr id="27" name="object 17"/>
          <p:cNvSpPr txBox="1"/>
          <p:nvPr/>
        </p:nvSpPr>
        <p:spPr>
          <a:xfrm>
            <a:off x="1411666" y="3025601"/>
            <a:ext cx="1095716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800" spc="18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分组</a:t>
            </a:r>
            <a:r>
              <a:rPr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endParaRPr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98991" y="2919617"/>
            <a:ext cx="340158" cy="425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5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Calibri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687214" y="4514852"/>
            <a:ext cx="340158" cy="425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600"/>
              </a:lnSpc>
              <a:spcBef>
                <a:spcPts val="7688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7</a:t>
            </a:r>
          </a:p>
        </p:txBody>
      </p:sp>
      <p:sp>
        <p:nvSpPr>
          <p:cNvPr id="32" name="object 22"/>
          <p:cNvSpPr txBox="1"/>
          <p:nvPr/>
        </p:nvSpPr>
        <p:spPr>
          <a:xfrm>
            <a:off x="3403359" y="5518669"/>
            <a:ext cx="149743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35"/>
              </a:lnSpc>
            </a:pPr>
            <a:r>
              <a:rPr lang="en-US" sz="2400" dirty="0" smtClean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7  </a:t>
            </a:r>
            <a:r>
              <a:rPr sz="2400" dirty="0" smtClean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4</a:t>
            </a:r>
            <a:r>
              <a:rPr sz="2400" spc="2212" dirty="0" smtClean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5373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5" grpId="0" animBg="1"/>
      <p:bldP spid="34" grpId="0" animBg="1"/>
      <p:bldP spid="33" grpId="0" animBg="1"/>
      <p:bldP spid="30" grpId="0" animBg="1"/>
      <p:bldP spid="29" grpId="0" animBg="1"/>
      <p:bldP spid="4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7" grpId="0"/>
      <p:bldP spid="2" grpId="0"/>
      <p:bldP spid="25" grpId="0"/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965742" y="273268"/>
            <a:ext cx="4596064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247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时间复杂度分析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371739" y="1454690"/>
                <a:ext cx="8950935" cy="86177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just"/>
                <a:r>
                  <a:rPr sz="2800" b="1" spc="13" dirty="0">
                    <a:solidFill>
                      <a:srgbClr val="C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命题</a:t>
                </a:r>
                <a:r>
                  <a:rPr sz="2800" b="1" dirty="0">
                    <a:solidFill>
                      <a:srgbClr val="C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1</a:t>
                </a:r>
                <a:r>
                  <a:rPr sz="2800" b="1" spc="625" dirty="0">
                    <a:solidFill>
                      <a:srgbClr val="C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:r>
                  <a:rPr sz="2800" b="1" spc="12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设参与比较的有</a:t>
                </a:r>
                <a:r>
                  <a:rPr sz="2800" b="1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t </a:t>
                </a:r>
                <a:r>
                  <a:rPr sz="2800" b="1" spc="12" dirty="0" err="1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个元素，</a:t>
                </a:r>
                <a:r>
                  <a:rPr sz="2800" b="1" spc="12" dirty="0" err="1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经过</a:t>
                </a:r>
                <a:r>
                  <a:rPr lang="en-US" sz="2800" b="1" spc="12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:r>
                  <a:rPr sz="2800" b="1" i="1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i</a:t>
                </a:r>
                <a:r>
                  <a:rPr sz="2800" b="1" i="1" spc="-19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:r>
                  <a:rPr sz="2800" b="1" spc="12" dirty="0" err="1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轮淘汰后元素数至多为</a:t>
                </a:r>
                <a:r>
                  <a:rPr sz="2800" b="1" spc="656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800" b="1" i="1" spc="16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800" b="1" baseline="29999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i</m:t>
                        </m:r>
                      </m:e>
                    </m:d>
                  </m:oMath>
                </a14:m>
                <a:r>
                  <a:rPr sz="2800" b="1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39" y="1454690"/>
                <a:ext cx="8950935" cy="861774"/>
              </a:xfrm>
              <a:prstGeom prst="rect">
                <a:avLst/>
              </a:prstGeom>
              <a:blipFill rotWithShape="1">
                <a:blip r:embed="rId2"/>
                <a:stretch>
                  <a:fillRect l="-2452" t="-14894" r="-2384" b="-248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371740" y="2739151"/>
                <a:ext cx="8950934" cy="86177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just"/>
                <a:r>
                  <a:rPr lang="zh-CN" altLang="en-US" sz="28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证</a:t>
                </a:r>
                <a:r>
                  <a:rPr lang="zh-CN" altLang="en-US" sz="2800" b="1" spc="638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对</a:t>
                </a:r>
                <a:r>
                  <a:rPr lang="zh-CN" altLang="en-US" sz="2800" b="1" spc="15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i 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归纳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.</a:t>
                </a:r>
                <a:r>
                  <a:rPr lang="zh-CN" altLang="en-US" sz="2800" b="1" spc="638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:r>
                  <a:rPr lang="en-US" altLang="zh-CN" sz="2800" b="1" i="1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i 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= 1, 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分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zh-CN" altLang="en-US" sz="2800" b="1" i="1" spc="-19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en-US" sz="2800" b="1" spc="12" dirty="0" err="1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组</a:t>
                </a:r>
                <a:r>
                  <a:rPr lang="zh-CN" altLang="en-US" sz="2800" b="1" spc="12" dirty="0" err="1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，</a:t>
                </a:r>
                <a:r>
                  <a:rPr lang="zh-CN" altLang="en-US" sz="2800" b="1" spc="12" dirty="0" err="1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淘汰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zh-CN" altLang="en-US" sz="2800" b="1" i="1" spc="-19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个元素，进入下一轮元素数是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𝐭</m:t>
                    </m:r>
                    <m:r>
                      <a:rPr lang="en-US" altLang="zh-CN" sz="28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zh-CN" altLang="en-US" sz="2800" b="1" i="1" spc="16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zh-CN" altLang="en-US" sz="2551" b="1" spc="12" dirty="0">
                  <a:solidFill>
                    <a:srgbClr val="000000"/>
                  </a:solidFill>
                  <a:latin typeface="Times New Roman" pitchFamily="18" charset="0"/>
                  <a:ea typeface="黑体" panose="02010609060101010101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40" y="2739151"/>
                <a:ext cx="8950934" cy="861774"/>
              </a:xfrm>
              <a:prstGeom prst="rect">
                <a:avLst/>
              </a:prstGeom>
              <a:blipFill rotWithShape="1">
                <a:blip r:embed="rId3"/>
                <a:stretch>
                  <a:fillRect l="-2452" t="-14085" r="-2384" b="-218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371738" y="4035542"/>
                <a:ext cx="8803791" cy="86177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just"/>
                <a:r>
                  <a:rPr sz="2800" b="1" spc="12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假设</a:t>
                </a:r>
                <a:r>
                  <a:rPr sz="2800" b="1" spc="-11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i </a:t>
                </a:r>
                <a:r>
                  <a:rPr sz="2800" b="1" spc="12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轮分组淘汰后元素数至多为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800" b="1" i="1" spc="16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800" b="1" baseline="29999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i</m:t>
                        </m:r>
                      </m:e>
                    </m:d>
                  </m:oMath>
                </a14:m>
                <a:r>
                  <a:rPr sz="28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,</a:t>
                </a:r>
                <a:r>
                  <a:rPr lang="en-US" sz="28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:r>
                  <a:rPr sz="2800" b="1" spc="12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那么</a:t>
                </a:r>
                <a:r>
                  <a:rPr sz="2800" b="1" spc="-11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i </a:t>
                </a:r>
                <a:r>
                  <a:rPr sz="28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+</a:t>
                </a:r>
                <a:r>
                  <a:rPr lang="en-US" sz="28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:r>
                  <a:rPr sz="28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1 </a:t>
                </a:r>
                <a:r>
                  <a:rPr sz="2800" b="1" spc="12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轮分组淘汰后元素数为</a:t>
                </a: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38" y="4035542"/>
                <a:ext cx="8803791" cy="861774"/>
              </a:xfrm>
              <a:prstGeom prst="rect">
                <a:avLst/>
              </a:prstGeom>
              <a:blipFill rotWithShape="1">
                <a:blip r:embed="rId4"/>
                <a:stretch>
                  <a:fillRect l="-2493" t="-14894" r="-2424" b="-21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795710" y="4956555"/>
                <a:ext cx="3421899" cy="64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3200" b="1" i="1" spc="16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zh-CN" altLang="en-US" sz="3200" b="1" i="1" spc="16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altLang="zh-CN" sz="3200" b="1" dirty="0" smtClean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altLang="zh-CN" sz="3200" b="1" dirty="0" smtClean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m:rPr>
                                <m:nor/>
                              </m:rPr>
                              <a:rPr lang="en-US" altLang="zh-CN" sz="3200" b="1" dirty="0" smtClean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altLang="zh-CN" sz="3200" b="1" baseline="29999" dirty="0" smtClean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altLang="zh-CN" sz="3200" b="1" dirty="0" smtClean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3200" b="1" dirty="0" smtClean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CN" altLang="en-US" sz="3200" b="1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en-US" altLang="zh-CN" sz="3200" b="1" i="1" spc="16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</m:oMath>
                </a14:m>
                <a:r>
                  <a:rPr lang="zh-CN" altLang="en-US" sz="3200" b="1" spc="16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3200" b="1" i="1" spc="16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32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altLang="zh-CN" sz="32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32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3200" b="1" i="1" baseline="30000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CN" sz="3200" b="1" baseline="30000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CN" sz="3200" b="1" baseline="30000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1 </m:t>
                        </m:r>
                      </m:e>
                    </m:d>
                  </m:oMath>
                </a14:m>
                <a:endParaRPr lang="zh-CN" altLang="en-US" sz="32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710" y="4956555"/>
                <a:ext cx="3421899" cy="64819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02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4261" y="270120"/>
            <a:ext cx="9018872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时间复杂度分析（续）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583215" y="1537069"/>
                <a:ext cx="8655377" cy="82073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just">
                  <a:lnSpc>
                    <a:spcPts val="3068"/>
                  </a:lnSpc>
                </a:pPr>
                <a:r>
                  <a:rPr lang="zh-CN" altLang="en-US" sz="2800" b="1" spc="18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命题</a:t>
                </a:r>
                <a:r>
                  <a:rPr lang="en-US" altLang="zh-CN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800" b="1" spc="67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max </a:t>
                </a:r>
                <a:r>
                  <a:rPr lang="zh-CN" altLang="en-US" sz="2800" b="1" spc="16" dirty="0" err="1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在第一阶段分组比较中总计进行了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zh-CN" altLang="en-US" sz="28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a:rPr lang="en-US" altLang="zh-CN" sz="2800" b="1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/>
                              </a:rPr>
                              <m:t>𝐥𝐨𝐠</m:t>
                            </m:r>
                          </m:fName>
                          <m:e>
                            <m:r>
                              <a:rPr lang="zh-CN" altLang="en-US" sz="28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zh-CN" altLang="en-US" sz="28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b="1" spc="18" dirty="0" err="1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次比较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15" y="1537069"/>
                <a:ext cx="8655377" cy="820738"/>
              </a:xfrm>
              <a:prstGeom prst="rect">
                <a:avLst/>
              </a:prstGeom>
              <a:blipFill rotWithShape="1">
                <a:blip r:embed="rId2"/>
                <a:stretch>
                  <a:fillRect l="-2535" t="-18519" b="-22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664218" y="2590369"/>
                <a:ext cx="8490292" cy="82073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just">
                  <a:lnSpc>
                    <a:spcPts val="3068"/>
                  </a:lnSpc>
                </a:pPr>
                <a:r>
                  <a:rPr lang="zh-CN" altLang="en-US" sz="28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证</a:t>
                </a:r>
                <a:r>
                  <a:rPr lang="zh-CN" altLang="en-US" sz="2800" b="1" spc="1382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b="1" spc="1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假设到产生</a:t>
                </a:r>
                <a:r>
                  <a:rPr lang="zh-CN" altLang="en-US" sz="2800" b="1" spc="-1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max </a:t>
                </a:r>
                <a:r>
                  <a:rPr lang="zh-CN" altLang="en-US" sz="2800" b="1" spc="16" dirty="0" err="1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时总计进行</a:t>
                </a:r>
                <a:r>
                  <a:rPr lang="en-US" altLang="zh-CN" sz="2800" b="1" i="1" dirty="0" err="1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en-US" sz="2800" b="1" i="1" spc="-19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b="1" spc="18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轮淘汰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800" b="1" spc="1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根据命题</a:t>
                </a:r>
                <a:r>
                  <a:rPr lang="zh-CN" altLang="en-US" sz="2800" b="1" spc="-1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有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800" b="1" i="1" baseline="30000" dirty="0" smtClean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k</m:t>
                        </m:r>
                      </m:e>
                    </m:d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/>
                      </a:rPr>
                      <m:t>𝟏</m:t>
                    </m:r>
                  </m:oMath>
                </a14:m>
                <a:r>
                  <a:rPr lang="en-US" altLang="zh-CN" sz="28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18" y="2590369"/>
                <a:ext cx="8490292" cy="820738"/>
              </a:xfrm>
              <a:prstGeom prst="rect">
                <a:avLst/>
              </a:prstGeom>
              <a:blipFill rotWithShape="1">
                <a:blip r:embed="rId3"/>
                <a:stretch>
                  <a:fillRect l="-2584" t="-19259" r="-2513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6"/>
          <p:cNvSpPr txBox="1"/>
          <p:nvPr/>
        </p:nvSpPr>
        <p:spPr>
          <a:xfrm>
            <a:off x="664218" y="3643666"/>
            <a:ext cx="3067336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68"/>
              </a:lnSpc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=2</a:t>
            </a:r>
            <a:r>
              <a:rPr sz="2800" b="1" i="1" spc="-11" baseline="29999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sz="2800" b="1" spc="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，那么有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1860331" y="4102762"/>
                <a:ext cx="5728138" cy="41113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91"/>
                  </a:lnSpc>
                </a:pP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 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 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sz="2800" b="1" dirty="0" err="1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log</a:t>
                </a:r>
                <a:r>
                  <a:rPr sz="2800" b="1" i="1" dirty="0" err="1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sz="2800" b="1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zh-CN" altLang="en-US" sz="28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a:rPr lang="en-US" altLang="zh-CN" sz="2800" b="1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/>
                              </a:rPr>
                              <m:t>𝐥𝐨𝐠</m:t>
                            </m:r>
                          </m:fName>
                          <m:e>
                            <m:r>
                              <a:rPr lang="zh-CN" altLang="en-US" sz="28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endParaRPr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331" y="4102762"/>
                <a:ext cx="5728138" cy="411138"/>
              </a:xfrm>
              <a:prstGeom prst="rect">
                <a:avLst/>
              </a:prstGeom>
              <a:blipFill rotWithShape="1">
                <a:blip r:embed="rId4"/>
                <a:stretch>
                  <a:fillRect l="-3723" t="-29851" b="-537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664218" y="4778076"/>
                <a:ext cx="8574374" cy="88485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068"/>
                  </a:lnSpc>
                </a:pP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若 2</a:t>
                </a:r>
                <a:r>
                  <a:rPr sz="2800" b="1" i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sz="2800" b="1" i="1" spc="-243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&lt;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 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&lt; 2</a:t>
                </a:r>
                <a:r>
                  <a:rPr sz="2800" b="1" i="1" spc="-1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</a:t>
                </a:r>
                <a:r>
                  <a:rPr sz="2800" b="1" spc="-12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+1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sz="2800" b="1" spc="137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spc="1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那么</a:t>
                </a:r>
              </a:p>
              <a:p>
                <a:pPr marL="1139138">
                  <a:lnSpc>
                    <a:spcPts val="3391"/>
                  </a:lnSpc>
                  <a:spcBef>
                    <a:spcPts val="445"/>
                  </a:spcBef>
                </a:pP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 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 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+ 1 </a:t>
                </a:r>
                <a:r>
                  <a:rPr sz="28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zh-CN" altLang="en-US" sz="28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a:rPr lang="en-US" altLang="zh-CN" sz="2800" b="1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/>
                              </a:rPr>
                              <m:t>𝐥𝐨𝐠</m:t>
                            </m:r>
                          </m:fName>
                          <m:e>
                            <m:r>
                              <a:rPr lang="zh-CN" altLang="en-US" sz="28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zh-CN" altLang="en-US" sz="28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endParaRPr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18" y="4778076"/>
                <a:ext cx="8574374" cy="884858"/>
              </a:xfrm>
              <a:prstGeom prst="rect">
                <a:avLst/>
              </a:prstGeom>
              <a:blipFill rotWithShape="1">
                <a:blip r:embed="rId5"/>
                <a:stretch>
                  <a:fillRect l="-2559" t="-17931" b="-206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436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7258" y="310702"/>
            <a:ext cx="9076623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时间复杂度分析（续）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583216" y="1456067"/>
                <a:ext cx="3548240" cy="124393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068"/>
                  </a:lnSpc>
                </a:pPr>
                <a:r>
                  <a:rPr sz="2800" b="1" spc="18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第一阶段元素数：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</a:p>
              <a:p>
                <a:pPr>
                  <a:lnSpc>
                    <a:spcPts val="3317"/>
                  </a:lnSpc>
                </a:pPr>
                <a:r>
                  <a:rPr sz="2800" b="1" spc="18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比较次数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sz="2800" b="1" spc="658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b="1" dirty="0">
                    <a:solidFill>
                      <a:srgbClr val="0000FF"/>
                    </a:solidFill>
                    <a:ea typeface="黑体" panose="02010609060101010101" pitchFamily="49" charset="-122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/>
                      </a:rPr>
                      <m:t>− </m:t>
                    </m:r>
                  </m:oMath>
                </a14:m>
                <a:r>
                  <a:rPr lang="en-US" sz="2800" b="1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endParaRPr 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ts val="3315"/>
                  </a:lnSpc>
                </a:pPr>
                <a:r>
                  <a:rPr sz="2800" b="1" spc="16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淘汰了</a:t>
                </a:r>
                <a:r>
                  <a:rPr sz="2800" b="1" spc="-24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b="1" dirty="0">
                    <a:solidFill>
                      <a:srgbClr val="000000"/>
                    </a:solidFill>
                    <a:ea typeface="黑体" panose="02010609060101010101" pitchFamily="49" charset="-122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/>
                      </a:rPr>
                      <m:t>− </m:t>
                    </m:r>
                  </m:oMath>
                </a14:m>
                <a:r>
                  <a:rPr sz="28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sz="2800" b="1" spc="1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个元素</a:t>
                </a: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16" y="1456067"/>
                <a:ext cx="3548240" cy="1243930"/>
              </a:xfrm>
              <a:prstGeom prst="rect">
                <a:avLst/>
              </a:prstGeom>
              <a:blipFill rotWithShape="1">
                <a:blip r:embed="rId2"/>
                <a:stretch>
                  <a:fillRect l="-6186" t="-12745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583215" y="2874498"/>
                <a:ext cx="8644868" cy="130805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91"/>
                  </a:lnSpc>
                </a:pPr>
                <a:r>
                  <a:rPr lang="zh-CN" altLang="en-US" sz="2800" b="1" spc="16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第二阶段：元素数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800" b="1" i="1" spc="16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n</m:t>
                        </m:r>
                      </m:e>
                    </m:d>
                  </m:oMath>
                </a14:m>
                <a:endParaRPr lang="zh-CN" altLang="en-US" sz="2800" b="1" spc="-35" dirty="0" smtClean="0">
                  <a:solidFill>
                    <a:srgbClr val="000000"/>
                  </a:solidFill>
                  <a:latin typeface="Times New Roman" pitchFamily="18" charset="0"/>
                  <a:ea typeface="黑体" panose="02010609060101010101" pitchFamily="49" charset="-122"/>
                  <a:cs typeface="Times New Roman" pitchFamily="18" charset="0"/>
                </a:endParaRPr>
              </a:p>
              <a:p>
                <a:pPr>
                  <a:lnSpc>
                    <a:spcPts val="3391"/>
                  </a:lnSpc>
                </a:pPr>
                <a:r>
                  <a:rPr lang="zh-CN" altLang="en-US" sz="2800" b="1" spc="18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比较次数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:</a:t>
                </a:r>
                <a:r>
                  <a:rPr lang="zh-CN" altLang="en-US" sz="2800" b="1" spc="658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800" b="1" i="1" spc="16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C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C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n</m:t>
                        </m:r>
                      </m:e>
                    </m:d>
                    <m:r>
                      <a:rPr lang="en-US" altLang="zh-CN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/>
                      </a:rPr>
                      <m:t>−</m:t>
                    </m:r>
                    <m:r>
                      <a:rPr lang="en-US" altLang="zh-CN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/>
                      </a:rPr>
                      <m:t>𝟏</m:t>
                    </m:r>
                  </m:oMath>
                </a14:m>
                <a:endParaRPr lang="en-US" altLang="zh-CN" sz="2800" b="1" spc="16" dirty="0" smtClean="0">
                  <a:solidFill>
                    <a:srgbClr val="C00000"/>
                  </a:solidFill>
                  <a:latin typeface="Times New Roman" pitchFamily="18" charset="0"/>
                  <a:ea typeface="黑体" panose="02010609060101010101" pitchFamily="49" charset="-122"/>
                  <a:cs typeface="Times New Roman" pitchFamily="18" charset="0"/>
                </a:endParaRPr>
              </a:p>
              <a:p>
                <a:pPr>
                  <a:lnSpc>
                    <a:spcPts val="3391"/>
                  </a:lnSpc>
                </a:pPr>
                <a:r>
                  <a:rPr lang="zh-CN" altLang="en-US" sz="2800" b="1" spc="16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淘汰</a:t>
                </a:r>
                <a:r>
                  <a:rPr lang="zh-CN" altLang="en-US" sz="2800" b="1" spc="16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元素数为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800" b="1" i="1" spc="16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n</m:t>
                        </m:r>
                      </m:e>
                    </m:d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/>
                      </a:rPr>
                      <m:t>−</m:t>
                    </m:r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/>
                      </a:rPr>
                      <m:t>𝟏</m:t>
                    </m:r>
                  </m:oMath>
                </a14:m>
                <a:endParaRPr lang="en-US" altLang="zh-CN" sz="2800" b="1" spc="16" dirty="0" smtClean="0">
                  <a:solidFill>
                    <a:srgbClr val="000000"/>
                  </a:solidFill>
                  <a:latin typeface="Times New Roman" pitchFamily="18" charset="0"/>
                  <a:ea typeface="黑体" panose="02010609060101010101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15" y="2874498"/>
                <a:ext cx="8644868" cy="1308050"/>
              </a:xfrm>
              <a:prstGeom prst="rect">
                <a:avLst/>
              </a:prstGeom>
              <a:blipFill rotWithShape="1">
                <a:blip r:embed="rId3"/>
                <a:stretch>
                  <a:fillRect l="-2539" t="-11682" b="-12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6"/>
          <p:cNvSpPr txBox="1"/>
          <p:nvPr/>
        </p:nvSpPr>
        <p:spPr>
          <a:xfrm>
            <a:off x="664218" y="4384187"/>
            <a:ext cx="2643911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68"/>
              </a:lnSpc>
            </a:pPr>
            <a:r>
              <a:rPr sz="2800" b="1" spc="16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时间复杂度是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2672025" y="4725184"/>
                <a:ext cx="4146808" cy="43601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94"/>
                  </a:lnSpc>
                </a:pP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W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sz="2800" b="1" spc="-16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lang="en-US" sz="2800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sz="2800" b="1" i="1" spc="16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/>
                      </a:rPr>
                      <m:t>− </m:t>
                    </m:r>
                  </m:oMath>
                </a14:m>
                <a:r>
                  <a:rPr lang="en-US" sz="2800" b="1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sz="2800" b="1" spc="-19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+</a:t>
                </a:r>
                <a:r>
                  <a:rPr lang="ar-AE" sz="28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ar-AE" altLang="zh-CN" sz="2800" b="1" i="1" spc="16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ar-AE" altLang="zh-CN" sz="2800" b="1" dirty="0">
                    <a:solidFill>
                      <a:srgbClr val="C00000"/>
                    </a:solidFill>
                    <a:ea typeface="黑体" panose="02010609060101010101" pitchFamily="49" charset="-122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ar-AE" altLang="zh-CN" sz="28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/>
                      </a:rPr>
                      <m:t>− </m:t>
                    </m:r>
                  </m:oMath>
                </a14:m>
                <a:r>
                  <a:rPr lang="ar-AE" sz="28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endParaRPr lang="ar-AE" sz="2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025" y="4725184"/>
                <a:ext cx="4146808" cy="436017"/>
              </a:xfrm>
              <a:prstGeom prst="rect">
                <a:avLst/>
              </a:prstGeom>
              <a:blipFill rotWithShape="1">
                <a:blip r:embed="rId4"/>
                <a:stretch>
                  <a:fillRect l="-5140" t="-27778" b="-430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3510244" y="5239704"/>
                <a:ext cx="2937949" cy="43601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91"/>
                  </a:lnSpc>
                </a:pPr>
                <a:r>
                  <a:rPr lang="en-US" sz="28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lang="en-US" sz="2800" b="1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 </a:t>
                </a:r>
                <a:r>
                  <a:rPr 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+</a:t>
                </a:r>
                <a:r>
                  <a:rPr lang="en-US" sz="2800" b="1" spc="16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ar-AE" altLang="zh-CN" sz="2800" b="1" i="1" spc="16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CN" sz="2800" b="1" i="1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ar-AE" altLang="zh-CN" sz="2800" b="1" dirty="0">
                    <a:solidFill>
                      <a:schemeClr val="tx1"/>
                    </a:solidFill>
                    <a:ea typeface="黑体" panose="02010609060101010101" pitchFamily="49" charset="-122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ar-AE" altLang="zh-CN" sz="28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/>
                      </a:rPr>
                      <m:t>−</m:t>
                    </m:r>
                    <m:r>
                      <a:rPr lang="zh-CN" altLang="en-US" sz="2800" b="1" i="1" dirty="0" smtClean="0">
                        <a:solidFill>
                          <a:schemeClr val="tx1"/>
                        </a:solidFill>
                        <a:latin typeface="Cambria Math"/>
                        <a:ea typeface="黑体" panose="02010609060101010101" pitchFamily="49" charset="-122"/>
                        <a:cs typeface="Times New Roman"/>
                      </a:rPr>
                      <m:t>𝟐</m:t>
                    </m:r>
                  </m:oMath>
                </a14:m>
                <a:endParaRPr lang="ar-AE" sz="28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244" y="5239704"/>
                <a:ext cx="2937949" cy="436017"/>
              </a:xfrm>
              <a:prstGeom prst="rect">
                <a:avLst/>
              </a:prstGeom>
              <a:blipFill rotWithShape="1">
                <a:blip r:embed="rId5"/>
                <a:stretch>
                  <a:fillRect l="-7469" t="-29577" b="-43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078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06264"/>
            <a:ext cx="9727013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6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011" y="362057"/>
            <a:ext cx="8874492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LNVWC+ËÎÌå"/>
              </a:rPr>
              <a:t>小结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3215" y="1738907"/>
            <a:ext cx="284188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74"/>
              </a:lnSpc>
            </a:pPr>
            <a:r>
              <a:rPr sz="3200" b="1" spc="11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求第二大算法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3216" y="2392936"/>
            <a:ext cx="4607167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41"/>
              </a:lnSpc>
            </a:pP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•</a:t>
            </a:r>
            <a:r>
              <a:rPr sz="3200" b="1" spc="1083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调用2次找最大：</a:t>
            </a:r>
            <a:r>
              <a:rPr sz="3200" b="1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2</a:t>
            </a:r>
            <a:r>
              <a:rPr sz="3200" b="1" i="1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n</a:t>
            </a:r>
            <a:r>
              <a:rPr lang="en-US" sz="3200" b="1" spc="11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-</a:t>
            </a:r>
            <a:r>
              <a:rPr sz="3200" b="1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3</a:t>
            </a:r>
            <a:endParaRPr sz="3200" b="1" dirty="0">
              <a:solidFill>
                <a:srgbClr val="000000"/>
              </a:solidFill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583215" y="3008497"/>
                <a:ext cx="8413640" cy="46166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644"/>
                  </a:lnSpc>
                </a:pPr>
                <a:r>
                  <a:rPr sz="3200" b="1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•</a:t>
                </a:r>
                <a:r>
                  <a:rPr sz="3200" b="1" spc="1083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:r>
                  <a:rPr sz="3200" b="1" spc="11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锦标赛算法： </a:t>
                </a:r>
                <a:r>
                  <a:rPr sz="3200" b="1" i="1" dirty="0">
                    <a:solidFill>
                      <a:srgbClr val="C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n </a:t>
                </a:r>
                <a:r>
                  <a:rPr sz="3200" b="1" dirty="0">
                    <a:solidFill>
                      <a:srgbClr val="C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+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3200" b="1" dirty="0" smtClean="0">
                            <a:solidFill>
                              <a:srgbClr val="C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CN" sz="3200" b="1" i="1" dirty="0" smtClean="0">
                            <a:solidFill>
                              <a:srgbClr val="C00000"/>
                            </a:solidFill>
                            <a:latin typeface="Times New Roman" pitchFamily="18" charset="0"/>
                            <a:ea typeface="黑体" panose="02010609060101010101" pitchFamily="49" charset="-122"/>
                            <a:cs typeface="Times New Roman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en-US" sz="3200" b="1" spc="11" dirty="0" smtClean="0">
                    <a:solidFill>
                      <a:srgbClr val="C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-</a:t>
                </a:r>
                <a:r>
                  <a:rPr sz="3200" b="1" dirty="0" smtClean="0">
                    <a:solidFill>
                      <a:srgbClr val="C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2</a:t>
                </a:r>
                <a:endParaRPr sz="3200" b="1" dirty="0">
                  <a:solidFill>
                    <a:srgbClr val="C00000"/>
                  </a:solidFill>
                  <a:latin typeface="Times New Roman" pitchFamily="18" charset="0"/>
                  <a:ea typeface="黑体" panose="02010609060101010101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15" y="3008497"/>
                <a:ext cx="8413640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2971" t="-40000" b="-5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1051168" y="3652885"/>
            <a:ext cx="5234982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71"/>
              </a:lnSpc>
            </a:pPr>
            <a:r>
              <a:rPr sz="3200" b="1" spc="11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主要的技术：用空间换时间</a:t>
            </a:r>
          </a:p>
        </p:txBody>
      </p:sp>
    </p:spTree>
    <p:extLst>
      <p:ext uri="{BB962C8B-B14F-4D97-AF65-F5344CB8AC3E}">
        <p14:creationId xmlns:p14="http://schemas.microsoft.com/office/powerpoint/2010/main" val="316860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727013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4898" y="2097441"/>
            <a:ext cx="7556802" cy="1718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6123"/>
              </a:lnSpc>
            </a:pPr>
            <a:r>
              <a:rPr sz="6600" b="1" spc="14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一般选择问题</a:t>
            </a:r>
          </a:p>
          <a:p>
            <a:pPr marL="392235" algn="ctr">
              <a:lnSpc>
                <a:spcPts val="6123"/>
              </a:lnSpc>
              <a:spcBef>
                <a:spcPts val="1226"/>
              </a:spcBef>
            </a:pPr>
            <a:r>
              <a:rPr sz="6600" b="1" spc="16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的算法设计</a:t>
            </a:r>
          </a:p>
        </p:txBody>
      </p:sp>
    </p:spTree>
    <p:extLst>
      <p:ext uri="{BB962C8B-B14F-4D97-AF65-F5344CB8AC3E}">
        <p14:creationId xmlns:p14="http://schemas.microsoft.com/office/powerpoint/2010/main" val="55908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727013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0889" y="363738"/>
            <a:ext cx="8643486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0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一般性选择问题</a:t>
            </a:r>
            <a:endParaRPr sz="4500" b="1" dirty="0">
              <a:solidFill>
                <a:srgbClr val="C00000"/>
              </a:solidFill>
              <a:latin typeface="黑体" pitchFamily="49" charset="-122"/>
              <a:ea typeface="黑体" pitchFamily="49" charset="-122"/>
              <a:cs typeface="CNENOB+ËÎÌå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583217" y="1460040"/>
                <a:ext cx="8695537" cy="79508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013"/>
                  </a:lnSpc>
                </a:pPr>
                <a:r>
                  <a:rPr lang="zh-CN" altLang="en-US" sz="2800" b="1" spc="14" dirty="0" smtClean="0">
                    <a:solidFill>
                      <a:srgbClr val="C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问题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：选第</a:t>
                </a:r>
                <a:r>
                  <a:rPr lang="zh-CN" altLang="en-US" sz="2800" b="1" spc="-12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</a:t>
                </a:r>
                <a:r>
                  <a:rPr lang="en-US" sz="2800" b="1" i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k 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小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.</a:t>
                </a:r>
              </a:p>
              <a:p>
                <a:pPr>
                  <a:lnSpc>
                    <a:spcPts val="3013"/>
                  </a:lnSpc>
                  <a:spcBef>
                    <a:spcPts val="195"/>
                  </a:spcBef>
                </a:pP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输入：数组</a:t>
                </a:r>
                <a:r>
                  <a:rPr lang="zh-CN" altLang="en-US" sz="2800" b="1" spc="-1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</a:t>
                </a:r>
                <a:r>
                  <a:rPr lang="en-US" sz="2800" b="1" i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S</a:t>
                </a:r>
                <a:r>
                  <a:rPr lang="en-US" sz="28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,</a:t>
                </a:r>
                <a:r>
                  <a:rPr lang="en-US" sz="2800" b="1" spc="12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</a:t>
                </a:r>
                <a:r>
                  <a:rPr lang="en-US" sz="2800" b="1" i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S 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的长度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</a:t>
                </a:r>
                <a:r>
                  <a:rPr lang="en-US" sz="2800" b="1" i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n</a:t>
                </a:r>
                <a:r>
                  <a:rPr lang="en-US" sz="28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,</a:t>
                </a:r>
                <a:r>
                  <a:rPr lang="en-US" sz="2800" b="1" spc="12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</a:t>
                </a:r>
                <a:r>
                  <a:rPr lang="zh-CN" altLang="en-US" sz="2800" b="1" spc="12" dirty="0" err="1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正整数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</a:t>
                </a:r>
                <a:r>
                  <a:rPr lang="en-US" sz="2800" b="1" i="1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k</a:t>
                </a:r>
                <a:r>
                  <a:rPr lang="en-US" sz="28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solidFill>
                          <a:srgbClr val="000000"/>
                        </a:solidFill>
                        <a:latin typeface="Cambria Math"/>
                        <a:ea typeface="黑体" pitchFamily="49" charset="-122"/>
                        <a:cs typeface="Times New Roman" pitchFamily="18" charset="0"/>
                      </a:rPr>
                      <m:t>𝟏</m:t>
                    </m:r>
                    <m:r>
                      <a:rPr lang="zh-CN" altLang="en-US" sz="2800" b="1" i="1" smtClean="0">
                        <a:solidFill>
                          <a:srgbClr val="000000"/>
                        </a:solidFill>
                        <a:latin typeface="Cambria Math"/>
                        <a:ea typeface="黑体" pitchFamily="49" charset="-122"/>
                        <a:cs typeface="Times New Roman" pitchFamily="18" charset="0"/>
                      </a:rPr>
                      <m:t>≤</m:t>
                    </m:r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/>
                        <a:ea typeface="黑体" pitchFamily="49" charset="-122"/>
                        <a:cs typeface="Times New Roman" pitchFamily="18" charset="0"/>
                      </a:rPr>
                      <m:t>𝒌</m:t>
                    </m:r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≤</m:t>
                    </m:r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𝒏</m:t>
                    </m:r>
                  </m:oMath>
                </a14:m>
                <a:r>
                  <a:rPr lang="en-US" sz="28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.</a:t>
                </a:r>
                <a:endParaRPr sz="2800" b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17" y="1460040"/>
                <a:ext cx="8695537" cy="795089"/>
              </a:xfrm>
              <a:prstGeom prst="rect">
                <a:avLst/>
              </a:prstGeom>
              <a:blipFill rotWithShape="1">
                <a:blip r:embed="rId3"/>
                <a:stretch>
                  <a:fillRect l="-2525" t="-21538" b="-2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 txBox="1"/>
          <p:nvPr/>
        </p:nvSpPr>
        <p:spPr>
          <a:xfrm>
            <a:off x="583216" y="2390447"/>
            <a:ext cx="3086454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输出：第</a:t>
            </a:r>
            <a:r>
              <a:rPr sz="2800" b="1" spc="-1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 </a:t>
            </a:r>
            <a:r>
              <a:rPr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小的数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3216" y="3322393"/>
            <a:ext cx="1379143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6"/>
              </a:lnSpc>
            </a:pPr>
            <a:r>
              <a:rPr sz="2800" b="1" spc="12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实例</a:t>
            </a:r>
            <a:r>
              <a:rPr sz="2800" b="1" spc="-1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2598" y="3783547"/>
            <a:ext cx="8693158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={ 3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4,</a:t>
            </a:r>
            <a:r>
              <a:rPr 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8,</a:t>
            </a:r>
            <a:r>
              <a:rPr 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2,</a:t>
            </a:r>
            <a:r>
              <a:rPr 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5,</a:t>
            </a:r>
            <a:r>
              <a:rPr 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9,</a:t>
            </a:r>
            <a:r>
              <a:rPr 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18 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}</a:t>
            </a:r>
            <a:r>
              <a:rPr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 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 4</a:t>
            </a:r>
            <a:r>
              <a:rPr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，解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:</a:t>
            </a:r>
            <a:r>
              <a:rPr sz="2800" b="1" spc="688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3216" y="4653022"/>
            <a:ext cx="137898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800" b="1" spc="12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实例</a:t>
            </a:r>
            <a:r>
              <a:rPr sz="2800" b="1" spc="-1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83216" y="5113834"/>
            <a:ext cx="4362176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统计数据的集合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sz="2800" b="1" spc="-1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|=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/>
              <p:cNvSpPr txBox="1"/>
              <p:nvPr/>
            </p:nvSpPr>
            <p:spPr>
              <a:xfrm>
                <a:off x="583216" y="5530770"/>
                <a:ext cx="8243150" cy="42319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37"/>
                  </a:lnSpc>
                </a:pPr>
                <a:r>
                  <a:rPr lang="zh-CN" altLang="en-US" sz="2800" b="1" spc="12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选中位数，</a:t>
                </a:r>
                <a14:m>
                  <m:oMath xmlns:m="http://schemas.openxmlformats.org/officeDocument/2006/math">
                    <m:r>
                      <a:rPr lang="zh-CN" altLang="en-US" sz="2800" b="1" i="1" spc="12" smtClean="0">
                        <a:solidFill>
                          <a:srgbClr val="000000"/>
                        </a:solidFill>
                        <a:latin typeface="Cambria Math"/>
                        <a:ea typeface="黑体" pitchFamily="49" charset="-122"/>
                        <a:cs typeface="Times New Roman" pitchFamily="18" charset="0"/>
                      </a:rPr>
                      <m:t>𝒌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/>
                        <a:ea typeface="黑体" pitchFamily="49" charset="-122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ar-AE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itchFamily="49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itchFamily="49" charset="-122"/>
                            <a:cs typeface="Times New Roman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CN" sz="2800" b="1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itchFamily="49" charset="-122"/>
                            <a:cs typeface="Times New Roman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 b="1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itchFamily="49" charset="-122"/>
                            <a:cs typeface="Times New Roman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ar-AE" sz="28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</a:t>
                </a:r>
                <a:endParaRPr sz="2800" b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16" y="5530770"/>
                <a:ext cx="8243150" cy="423193"/>
              </a:xfrm>
              <a:prstGeom prst="rect">
                <a:avLst/>
              </a:prstGeom>
              <a:blipFill rotWithShape="1">
                <a:blip r:embed="rId4"/>
                <a:stretch>
                  <a:fillRect l="-2663" t="-30000" b="-5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7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1183" y="339200"/>
            <a:ext cx="8602068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000" b="1" spc="1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一个应用：管道位置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2386" y="1231445"/>
            <a:ext cx="8826367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/>
            <a:r>
              <a:rPr sz="2800" b="1" spc="12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问题</a:t>
            </a:r>
            <a:r>
              <a:rPr sz="2800" b="1" spc="12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：</a:t>
            </a:r>
            <a:r>
              <a:rPr lang="zh-CN" altLang="en-US"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某区域有</a:t>
            </a:r>
            <a:r>
              <a:rPr lang="en-US" altLang="zh-CN"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n</a:t>
            </a:r>
            <a:r>
              <a:rPr lang="zh-CN" altLang="en-US"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口油井，需要修建输油管道</a:t>
            </a:r>
            <a:r>
              <a:rPr lang="en-US" altLang="zh-CN"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.</a:t>
            </a:r>
            <a:r>
              <a:rPr lang="zh-CN" altLang="en-US"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根据设计要求，水平方向有一条主管道，每口油井修一条垂直方向的支管道通向主管道</a:t>
            </a:r>
            <a:r>
              <a:rPr lang="en-US" altLang="zh-CN"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.</a:t>
            </a:r>
            <a:r>
              <a:rPr lang="zh-CN" altLang="en-US"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如何选择主管道的位置，以使得支管道长度的总和最小</a:t>
            </a:r>
            <a:r>
              <a:rPr lang="zh-CN" altLang="en-US" sz="2800" b="1" spc="12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？</a:t>
            </a:r>
            <a:endParaRPr lang="zh-CN" altLang="en-US" sz="2800" b="1" spc="12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CNENOB+ËÎÌå"/>
            </a:endParaRPr>
          </a:p>
        </p:txBody>
      </p:sp>
      <p:sp>
        <p:nvSpPr>
          <p:cNvPr id="6" name="object 1"/>
          <p:cNvSpPr/>
          <p:nvPr/>
        </p:nvSpPr>
        <p:spPr>
          <a:xfrm>
            <a:off x="1424539" y="3110377"/>
            <a:ext cx="6622181" cy="2860917"/>
          </a:xfrm>
          <a:prstGeom prst="rect">
            <a:avLst/>
          </a:prstGeom>
          <a:blipFill>
            <a:blip r:embed="rId2" cstate="print"/>
            <a:srcRect/>
            <a:stretch>
              <a:fillRect t="-112966" r="-63906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588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480012" y="0"/>
            <a:ext cx="9105498" cy="6373385"/>
          </a:xfrm>
          <a:prstGeom prst="rect">
            <a:avLst/>
          </a:prstGeom>
          <a:blipFill>
            <a:blip r:embed="rId2" cstate="print"/>
            <a:srcRect/>
            <a:stretch>
              <a:fillRect r="-22792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9508" y="164157"/>
            <a:ext cx="9163250" cy="567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019"/>
              </a:lnSpc>
            </a:pPr>
            <a:r>
              <a:rPr sz="4000" dirty="0" err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最优解</a:t>
            </a:r>
            <a:r>
              <a:rPr sz="4000" spc="17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ERJIHT+ËÎÌå"/>
              </a:rPr>
              <a:t>:</a:t>
            </a:r>
            <a:r>
              <a:rPr lang="en-US" sz="4000" spc="17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ERJIHT+ËÎÌå"/>
              </a:rPr>
              <a:t> </a:t>
            </a:r>
            <a:r>
              <a:rPr lang="en-US" sz="40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y</a:t>
            </a:r>
            <a:r>
              <a:rPr sz="4000" b="1" spc="-175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40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坐标的中位数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12923" y="1251347"/>
            <a:ext cx="750028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4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y</a:t>
            </a:r>
            <a:r>
              <a:rPr sz="2400" b="1" i="1" baseline="-29583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89685" y="1431363"/>
            <a:ext cx="1586023" cy="846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1"/>
              </a:lnSpc>
            </a:pPr>
            <a:r>
              <a:rPr sz="2400" spc="12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CNENOB+ËÎÌå"/>
              </a:rPr>
              <a:t>每条管线增</a:t>
            </a:r>
          </a:p>
          <a:p>
            <a:pPr marL="181431">
              <a:lnSpc>
                <a:spcPts val="2286"/>
              </a:lnSpc>
            </a:pPr>
            <a:r>
              <a:rPr sz="2400" spc="12" dirty="0" smtClean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加</a:t>
            </a:r>
            <a:r>
              <a:rPr lang="el-GR" sz="2400" spc="12" dirty="0" smtClean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CNENOB+ËÎÌå"/>
              </a:rPr>
              <a:t>Δ</a:t>
            </a:r>
            <a:r>
              <a:rPr sz="2400" spc="12" dirty="0" err="1" smtClean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CNENOB+ËÎÌå"/>
              </a:rPr>
              <a:t>长度</a:t>
            </a:r>
            <a:r>
              <a:rPr sz="240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FQUWNM+Symbol"/>
              </a:rPr>
              <a:t>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52371" y="2729896"/>
            <a:ext cx="629823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8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92117" y="2787196"/>
            <a:ext cx="1341719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3"/>
              </a:lnSpc>
            </a:pPr>
            <a:r>
              <a:rPr sz="2400" spc="12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CNENOB+ËÎÌå"/>
              </a:rPr>
              <a:t>每条管线</a:t>
            </a:r>
          </a:p>
          <a:p>
            <a:pPr>
              <a:lnSpc>
                <a:spcPts val="2041"/>
              </a:lnSpc>
              <a:spcBef>
                <a:spcPts val="408"/>
              </a:spcBef>
            </a:pPr>
            <a:r>
              <a:rPr sz="2400" spc="12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增加或减</a:t>
            </a:r>
          </a:p>
          <a:p>
            <a:pPr marL="50109">
              <a:lnSpc>
                <a:spcPts val="2285"/>
              </a:lnSpc>
            </a:pPr>
            <a:r>
              <a:rPr sz="2400" spc="12" dirty="0" err="1" smtClean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少至多</a:t>
            </a:r>
            <a:r>
              <a:rPr lang="el-GR" altLang="zh-CN" sz="2400" spc="12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CNENOB+ËÎÌå"/>
              </a:rPr>
              <a:t>Δ </a:t>
            </a:r>
            <a:r>
              <a:rPr sz="2400" dirty="0" smtClean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FQUWNM+Symbol"/>
              </a:rPr>
              <a:t></a:t>
            </a:r>
            <a:endParaRPr sz="2400" dirty="0">
              <a:solidFill>
                <a:srgbClr val="FFFFFF"/>
              </a:solidFill>
              <a:latin typeface="黑体" pitchFamily="49" charset="-122"/>
              <a:ea typeface="黑体" pitchFamily="49" charset="-122"/>
              <a:cs typeface="FQUWNM+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92056" y="3092039"/>
            <a:ext cx="117987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7"/>
              </a:lnSpc>
            </a:pPr>
            <a:r>
              <a:rPr sz="2400" spc="17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下移</a:t>
            </a:r>
            <a:r>
              <a:rPr sz="2400" spc="-23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FQUWNM+Symbol"/>
              </a:rPr>
              <a:t>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611306" y="3513073"/>
            <a:ext cx="1355977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16"/>
              </a:lnSpc>
            </a:pPr>
            <a:r>
              <a:rPr sz="24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k</a:t>
            </a:r>
            <a:r>
              <a:rPr sz="2400" spc="17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个油井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438908" y="4255576"/>
            <a:ext cx="1586023" cy="846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211">
              <a:lnSpc>
                <a:spcPts val="2041"/>
              </a:lnSpc>
            </a:pPr>
            <a:r>
              <a:rPr sz="2400" spc="12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CNENOB+ËÎÌå"/>
              </a:rPr>
              <a:t>每条管线</a:t>
            </a:r>
          </a:p>
          <a:p>
            <a:pPr>
              <a:lnSpc>
                <a:spcPts val="2285"/>
              </a:lnSpc>
            </a:pPr>
            <a:r>
              <a:rPr sz="2400" spc="12" dirty="0" err="1" smtClean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减少</a:t>
            </a:r>
            <a:r>
              <a:rPr lang="el-GR" altLang="zh-CN" sz="2400" spc="12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CNENOB+ËÎÌå"/>
              </a:rPr>
              <a:t>Δ</a:t>
            </a:r>
            <a:r>
              <a:rPr sz="2400" spc="12" dirty="0" err="1" smtClean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CNENOB+ËÎÌå"/>
              </a:rPr>
              <a:t>长度</a:t>
            </a:r>
            <a:r>
              <a:rPr sz="240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FQUWNM+Symbol"/>
              </a:rPr>
              <a:t>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63227" y="5680345"/>
            <a:ext cx="4117340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21"/>
              </a:lnSpc>
            </a:pPr>
            <a:r>
              <a:rPr sz="2700" spc="12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下移后支管线总长度增加</a:t>
            </a:r>
          </a:p>
        </p:txBody>
      </p:sp>
      <p:sp>
        <p:nvSpPr>
          <p:cNvPr id="16" name="object 4"/>
          <p:cNvSpPr txBox="1"/>
          <p:nvPr/>
        </p:nvSpPr>
        <p:spPr>
          <a:xfrm>
            <a:off x="1288959" y="2405111"/>
            <a:ext cx="750028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lang="en-US" sz="2400" b="1" i="1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y</a:t>
            </a:r>
            <a:r>
              <a:rPr sz="2400" b="1" baseline="-29583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en-US" sz="2400" b="1" baseline="-29583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/2+1</a:t>
            </a:r>
            <a:endParaRPr sz="2400" b="1" baseline="-29583" dirty="0">
              <a:solidFill>
                <a:srgbClr val="0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8" name="object 4"/>
          <p:cNvSpPr txBox="1"/>
          <p:nvPr/>
        </p:nvSpPr>
        <p:spPr>
          <a:xfrm>
            <a:off x="1295841" y="4840069"/>
            <a:ext cx="750028" cy="3606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lang="en-US" sz="24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y</a:t>
            </a:r>
            <a:r>
              <a:rPr lang="en-US" sz="2400" b="1" baseline="-29583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endParaRPr sz="2400" b="1" baseline="-29583" dirty="0">
              <a:solidFill>
                <a:srgbClr val="0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9" name="object 4"/>
          <p:cNvSpPr txBox="1"/>
          <p:nvPr/>
        </p:nvSpPr>
        <p:spPr>
          <a:xfrm>
            <a:off x="1314803" y="4486408"/>
            <a:ext cx="750028" cy="3606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lang="en-US" sz="24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y</a:t>
            </a:r>
            <a:r>
              <a:rPr lang="en-US" sz="2400" b="1" baseline="-29583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endParaRPr sz="2400" b="1" baseline="-29583" dirty="0">
              <a:solidFill>
                <a:srgbClr val="0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20" name="object 4"/>
          <p:cNvSpPr txBox="1"/>
          <p:nvPr/>
        </p:nvSpPr>
        <p:spPr>
          <a:xfrm>
            <a:off x="1272328" y="3042736"/>
            <a:ext cx="750028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lang="en-US" sz="2400" b="1" i="1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y</a:t>
            </a:r>
            <a:r>
              <a:rPr sz="2400" b="1" baseline="-29583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en-US" sz="2400" b="1" baseline="-29583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/2</a:t>
            </a:r>
            <a:endParaRPr sz="2400" b="1" baseline="-29583" dirty="0">
              <a:solidFill>
                <a:srgbClr val="0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816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727013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1933" y="339200"/>
            <a:ext cx="8632067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0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简单的算法</a:t>
            </a:r>
            <a:endParaRPr sz="4500" b="1" dirty="0">
              <a:solidFill>
                <a:srgbClr val="C00000"/>
              </a:solidFill>
              <a:latin typeface="黑体" pitchFamily="49" charset="-122"/>
              <a:ea typeface="黑体" pitchFamily="49" charset="-122"/>
              <a:cs typeface="CNENOB+ËÎÌå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933" y="1619273"/>
            <a:ext cx="1937572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52"/>
              </a:lnSpc>
            </a:pPr>
            <a:r>
              <a:rPr sz="3200" b="1" spc="17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算法一：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5325" y="2224912"/>
            <a:ext cx="8430806" cy="8976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调用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 </a:t>
            </a:r>
            <a:r>
              <a:rPr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次选最小算法</a:t>
            </a:r>
          </a:p>
          <a:p>
            <a:pPr>
              <a:lnSpc>
                <a:spcPts val="3013"/>
              </a:lnSpc>
              <a:spcBef>
                <a:spcPts val="971"/>
              </a:spcBef>
            </a:pPr>
            <a:r>
              <a:rPr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时间复杂度为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O </a:t>
            </a:r>
            <a:r>
              <a:rPr sz="2800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2800" b="1" i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 n</a:t>
            </a:r>
            <a:r>
              <a:rPr sz="2800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1933" y="3731640"/>
            <a:ext cx="1937896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55"/>
              </a:lnSpc>
            </a:pPr>
            <a:r>
              <a:rPr sz="3200" b="1" spc="17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算法二：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0470" y="4337289"/>
            <a:ext cx="486520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先排序，然后输出第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 </a:t>
            </a:r>
            <a:r>
              <a:rPr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小的数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44200" y="4898051"/>
            <a:ext cx="822867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6"/>
              </a:lnSpc>
            </a:pPr>
            <a:r>
              <a:rPr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时间复杂度为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O</a:t>
            </a:r>
            <a:r>
              <a:rPr sz="2800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2800" b="1" i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 </a:t>
            </a:r>
            <a:r>
              <a:rPr sz="2800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log</a:t>
            </a:r>
            <a:r>
              <a:rPr sz="2800" b="1" i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927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36885" y="147194"/>
            <a:ext cx="8970744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000" b="1" spc="1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分治算法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1212" y="1042927"/>
            <a:ext cx="879016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55"/>
              </a:lnSpc>
            </a:pPr>
            <a:r>
              <a:rPr sz="2800" b="1" spc="17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假设元素彼此不等，设计思想：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1212" y="1850489"/>
            <a:ext cx="8790165" cy="846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-457200" algn="just">
              <a:lnSpc>
                <a:spcPts val="3269"/>
              </a:lnSpc>
            </a:pP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1.</a:t>
            </a:r>
            <a:r>
              <a:rPr sz="2800" b="1" spc="72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16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用</a:t>
            </a:r>
            <a:r>
              <a:rPr sz="2800" b="1" spc="12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某个元素</a:t>
            </a:r>
            <a:r>
              <a:rPr sz="2800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  <a:r>
              <a:rPr sz="2800" b="1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*</a:t>
            </a: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12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作为标准将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 </a:t>
            </a:r>
            <a:r>
              <a:rPr lang="en-US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12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划分</a:t>
            </a:r>
            <a:r>
              <a:rPr lang="en-US" sz="2800" b="1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S</a:t>
            </a:r>
            <a:r>
              <a:rPr lang="en-US" sz="2800" b="1" spc="12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与 </a:t>
            </a:r>
            <a:r>
              <a:rPr lang="en-US" altLang="zh-CN" sz="2800" b="1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800" b="1" spc="12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en-US" altLang="zh-CN" sz="2800" b="1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</a:t>
            </a:r>
            <a:r>
              <a:rPr sz="2800" b="1" spc="12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其中</a:t>
            </a:r>
            <a:r>
              <a:rPr lang="en-US" sz="2800" b="1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800" b="1" spc="12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 </a:t>
            </a:r>
            <a:r>
              <a:rPr sz="2800" b="1" spc="12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的元素小于</a:t>
            </a:r>
            <a:r>
              <a:rPr sz="2800" b="1" spc="16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*,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800" b="1" spc="12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 </a:t>
            </a:r>
            <a:r>
              <a:rPr lang="zh-CN" altLang="en-US" sz="2800" b="1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元素大于等于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*.</a:t>
            </a:r>
            <a:endParaRPr lang="en-US" altLang="zh-CN" sz="2800" b="1" dirty="0">
              <a:solidFill>
                <a:srgbClr val="0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212" y="3194022"/>
            <a:ext cx="9040422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33"/>
              </a:lnSpc>
            </a:pPr>
            <a:r>
              <a:rPr sz="32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2.</a:t>
            </a:r>
            <a:r>
              <a:rPr sz="3200" b="1" spc="-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spc="12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如果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</a:t>
            </a:r>
            <a:r>
              <a:rPr lang="en-US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&lt;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spc="-1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|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en-US" altLang="zh-CN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|</a:t>
            </a:r>
            <a:r>
              <a:rPr sz="2800" b="1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sz="2800" b="1" spc="12" dirty="0" err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则在</a:t>
            </a:r>
            <a:r>
              <a:rPr lang="en-US" sz="2800" b="1" spc="12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800" b="1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 </a:t>
            </a:r>
            <a:r>
              <a:rPr sz="2800" b="1" spc="12" dirty="0" err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中找第</a:t>
            </a:r>
            <a:r>
              <a:rPr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k </a:t>
            </a:r>
            <a:r>
              <a:rPr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小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32349" y="3712152"/>
            <a:ext cx="8467777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800" b="1" spc="12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如果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 </a:t>
            </a:r>
            <a:r>
              <a:rPr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=</a:t>
            </a:r>
            <a:r>
              <a:rPr 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spc="-14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|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800" b="1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|+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1</a:t>
            </a:r>
            <a:r>
              <a:rPr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，则</a:t>
            </a:r>
            <a:r>
              <a:rPr sz="2800" b="1" spc="17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m</a:t>
            </a:r>
            <a:r>
              <a:rPr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*</a:t>
            </a:r>
            <a:r>
              <a:rPr 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spc="12" dirty="0" err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是第</a:t>
            </a:r>
            <a:r>
              <a:rPr sz="2800" b="1" spc="-12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k 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小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32350" y="4173102"/>
            <a:ext cx="8275272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6"/>
              </a:lnSpc>
            </a:pPr>
            <a:r>
              <a:rPr sz="2800" b="1" spc="12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如果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 </a:t>
            </a:r>
            <a:r>
              <a:rPr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&gt;</a:t>
            </a:r>
            <a:r>
              <a:rPr 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spc="-12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|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800" b="1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|+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1</a:t>
            </a:r>
            <a:r>
              <a:rPr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，</a:t>
            </a:r>
            <a:r>
              <a:rPr sz="2800" b="1" spc="12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则在</a:t>
            </a:r>
            <a:r>
              <a:rPr lang="en-US" sz="2800" b="1" spc="12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 </a:t>
            </a:r>
            <a:r>
              <a:rPr lang="en-US" altLang="zh-CN" sz="2800" b="1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800" b="1" spc="12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 </a:t>
            </a:r>
            <a:r>
              <a:rPr sz="2800" b="1" spc="12" dirty="0" err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中找第</a:t>
            </a:r>
            <a:r>
              <a:rPr lang="en-US" sz="2800" b="1" spc="12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k-</a:t>
            </a:r>
            <a:r>
              <a:rPr lang="en-US" altLang="zh-CN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lang="en-US" altLang="zh-CN" sz="2800" b="1" spc="-12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|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800" b="1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en-US" altLang="zh-CN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|-1 </a:t>
            </a:r>
            <a:r>
              <a:rPr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小</a:t>
            </a:r>
            <a:endParaRPr lang="zh-CN" altLang="en-US" sz="2800" b="1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CNENOB+ËÎÌå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1212" y="4889266"/>
            <a:ext cx="8886410" cy="10387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2721"/>
              </a:lnSpc>
            </a:pPr>
            <a:r>
              <a:rPr sz="2800" b="1" spc="12" dirty="0" err="1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算法效率取决于子问题规模</a:t>
            </a:r>
            <a:r>
              <a:rPr sz="2800" b="1" spc="12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，</a:t>
            </a:r>
            <a:endParaRPr lang="en-US" sz="2800" b="1" spc="12" dirty="0" smtClean="0">
              <a:solidFill>
                <a:srgbClr val="0070C0"/>
              </a:solidFill>
              <a:latin typeface="黑体" pitchFamily="49" charset="-122"/>
              <a:ea typeface="黑体" pitchFamily="49" charset="-122"/>
              <a:cs typeface="CNENOB+ËÎÌå"/>
            </a:endParaRPr>
          </a:p>
          <a:p>
            <a:pPr algn="just">
              <a:lnSpc>
                <a:spcPts val="2721"/>
              </a:lnSpc>
            </a:pPr>
            <a:r>
              <a:rPr lang="zh-CN" altLang="en-US" sz="2800" b="1" spc="12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如何</a:t>
            </a:r>
            <a:r>
              <a:rPr lang="zh-CN" altLang="en-US" sz="2800" b="1" spc="12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通过</a:t>
            </a:r>
            <a:r>
              <a:rPr lang="en-US" altLang="zh-CN" sz="2800" b="1" i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m</a:t>
            </a:r>
            <a:r>
              <a:rPr lang="zh-CN" altLang="en-US" sz="28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*</a:t>
            </a:r>
            <a:r>
              <a:rPr lang="zh-CN" altLang="en-US" sz="2800" b="1" spc="12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控制子问题规模？</a:t>
            </a:r>
          </a:p>
          <a:p>
            <a:pPr algn="just">
              <a:lnSpc>
                <a:spcPts val="2721"/>
              </a:lnSpc>
            </a:pPr>
            <a:endParaRPr sz="2800" b="1" spc="12" dirty="0">
              <a:solidFill>
                <a:srgbClr val="0070C0"/>
              </a:solidFill>
              <a:latin typeface="黑体" pitchFamily="49" charset="-122"/>
              <a:ea typeface="黑体" pitchFamily="49" charset="-122"/>
              <a:cs typeface="CNENOB+ËÎÌå"/>
            </a:endParaRPr>
          </a:p>
        </p:txBody>
      </p:sp>
    </p:spTree>
    <p:extLst>
      <p:ext uri="{BB962C8B-B14F-4D97-AF65-F5344CB8AC3E}">
        <p14:creationId xmlns:p14="http://schemas.microsoft.com/office/powerpoint/2010/main" val="30748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6" grpId="0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1764559" y="35510"/>
            <a:ext cx="6400801" cy="5565127"/>
          </a:xfrm>
          <a:prstGeom prst="rect">
            <a:avLst/>
          </a:prstGeom>
          <a:blipFill>
            <a:blip r:embed="rId2" cstate="print"/>
            <a:srcRect/>
            <a:stretch>
              <a:fillRect r="-51860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0161" y="195270"/>
            <a:ext cx="8909596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017"/>
              </a:lnSpc>
            </a:pPr>
            <a:r>
              <a:rPr sz="4000" b="1" i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m</a:t>
            </a:r>
            <a:r>
              <a:rPr sz="40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*</a:t>
            </a:r>
            <a:r>
              <a:rPr sz="4000" b="1" spc="1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的选择与划分过程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64397" y="1085344"/>
            <a:ext cx="4215022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18"/>
              </a:lnSpc>
            </a:pPr>
            <a:r>
              <a:rPr sz="2400" b="1" spc="17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分组</a:t>
            </a:r>
            <a:r>
              <a:rPr sz="2400" b="1" spc="1286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4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1</a:t>
            </a:r>
            <a:r>
              <a:rPr lang="en-US" sz="2400" b="1" spc="340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4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2</a:t>
            </a:r>
            <a:endParaRPr sz="2400" b="1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52281" y="969844"/>
            <a:ext cx="608812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18"/>
              </a:lnSpc>
            </a:pPr>
            <a:r>
              <a:rPr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...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09294" y="1019787"/>
            <a:ext cx="975811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7"/>
              </a:lnSpc>
            </a:pPr>
            <a:r>
              <a:rPr sz="2400" b="1" spc="16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FQUWNM+Symbol"/>
              </a:rPr>
              <a:t></a:t>
            </a:r>
            <a:r>
              <a:rPr sz="24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n/5</a:t>
            </a:r>
            <a:endParaRPr sz="2400" b="1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FQUWNM+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5772" y="1774586"/>
            <a:ext cx="675558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72"/>
              </a:lnSpc>
            </a:pPr>
            <a:r>
              <a:rPr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大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21776" y="2757176"/>
            <a:ext cx="750889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16"/>
              </a:lnSpc>
            </a:pPr>
            <a:r>
              <a:rPr sz="2300" b="1" i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m</a:t>
            </a:r>
            <a:r>
              <a:rPr sz="23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*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21525" y="2668173"/>
            <a:ext cx="58058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60"/>
              </a:lnSpc>
            </a:pPr>
            <a:r>
              <a:rPr sz="2000" b="1" i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10720" y="3870700"/>
            <a:ext cx="675558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72"/>
              </a:lnSpc>
            </a:pPr>
            <a:r>
              <a:rPr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小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53522" y="4878961"/>
            <a:ext cx="6160330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800" b="1" i="1" dirty="0">
                <a:solidFill>
                  <a:srgbClr val="FF99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A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: </a:t>
            </a:r>
            <a:r>
              <a:rPr sz="2800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数需要与</a:t>
            </a:r>
            <a:r>
              <a:rPr sz="28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m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*</a:t>
            </a:r>
            <a:r>
              <a:rPr sz="2800" spc="1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比大小，</a:t>
            </a:r>
            <a:r>
              <a:rPr sz="2800" b="1" i="1" dirty="0">
                <a:solidFill>
                  <a:srgbClr val="984807"/>
                </a:solidFill>
                <a:latin typeface="黑体" pitchFamily="49" charset="-122"/>
                <a:ea typeface="黑体" pitchFamily="49" charset="-122"/>
                <a:cs typeface="Times New Roman"/>
              </a:rPr>
              <a:t>B</a:t>
            </a:r>
            <a:r>
              <a:rPr sz="2800" spc="1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：数大于</a:t>
            </a:r>
            <a:r>
              <a:rPr sz="28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m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*</a:t>
            </a:r>
          </a:p>
          <a:p>
            <a:pPr>
              <a:lnSpc>
                <a:spcPts val="3013"/>
              </a:lnSpc>
              <a:spcBef>
                <a:spcPts val="195"/>
              </a:spcBef>
            </a:pPr>
            <a:r>
              <a:rPr sz="2800" b="1" i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C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: </a:t>
            </a:r>
            <a:r>
              <a:rPr sz="2800" spc="1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数小于</a:t>
            </a:r>
            <a:r>
              <a:rPr sz="28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m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*,</a:t>
            </a:r>
            <a:r>
              <a:rPr sz="2800" b="1" spc="2026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7030A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D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:</a:t>
            </a:r>
            <a:r>
              <a:rPr sz="2800" spc="1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数需要与</a:t>
            </a:r>
            <a:r>
              <a:rPr sz="28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m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*</a:t>
            </a:r>
            <a:r>
              <a:rPr sz="2800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比大小</a:t>
            </a:r>
          </a:p>
        </p:txBody>
      </p:sp>
    </p:spTree>
    <p:extLst>
      <p:ext uri="{BB962C8B-B14F-4D97-AF65-F5344CB8AC3E}">
        <p14:creationId xmlns:p14="http://schemas.microsoft.com/office/powerpoint/2010/main" val="152850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"/>
          <p:cNvSpPr/>
          <p:nvPr/>
        </p:nvSpPr>
        <p:spPr>
          <a:xfrm>
            <a:off x="4062092" y="3841540"/>
            <a:ext cx="1274030" cy="1218282"/>
          </a:xfrm>
          <a:prstGeom prst="rect">
            <a:avLst/>
          </a:prstGeom>
          <a:blipFill>
            <a:blip r:embed="rId2" cstate="print"/>
            <a:srcRect/>
            <a:stretch>
              <a:fillRect l="-153737" t="-388188" r="-439156" b="-110961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"/>
          <p:cNvSpPr/>
          <p:nvPr/>
        </p:nvSpPr>
        <p:spPr>
          <a:xfrm>
            <a:off x="0" y="234624"/>
            <a:ext cx="9105498" cy="1330104"/>
          </a:xfrm>
          <a:prstGeom prst="rect">
            <a:avLst/>
          </a:prstGeom>
          <a:blipFill>
            <a:blip r:embed="rId2" cstate="print"/>
            <a:srcRect/>
            <a:stretch>
              <a:fillRect l="1" r="-32097" b="-271720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"/>
          <p:cNvSpPr/>
          <p:nvPr/>
        </p:nvSpPr>
        <p:spPr>
          <a:xfrm>
            <a:off x="1812393" y="2236370"/>
            <a:ext cx="5175548" cy="645788"/>
          </a:xfrm>
          <a:prstGeom prst="rect">
            <a:avLst/>
          </a:prstGeom>
          <a:blipFill>
            <a:blip r:embed="rId2" cstate="print"/>
            <a:srcRect/>
            <a:stretch>
              <a:fillRect l="-15574" t="-351674" r="-93242" b="-502716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6880" y="91198"/>
            <a:ext cx="9230627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019"/>
              </a:lnSpc>
            </a:pPr>
            <a:r>
              <a:rPr sz="40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实例：</a:t>
            </a:r>
            <a:r>
              <a:rPr sz="4000" b="1" i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n</a:t>
            </a:r>
            <a:r>
              <a:rPr sz="40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=15,</a:t>
            </a:r>
            <a:r>
              <a:rPr sz="4000" b="1" spc="-14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4000" b="1" i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k</a:t>
            </a:r>
            <a:r>
              <a:rPr sz="40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=6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3526" y="1022128"/>
            <a:ext cx="8798478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1"/>
              </a:lnSpc>
            </a:pP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8</a:t>
            </a:r>
            <a:r>
              <a:rPr sz="2000" b="1" spc="204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2</a:t>
            </a:r>
            <a:r>
              <a:rPr sz="2000" b="1" spc="2037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3</a:t>
            </a:r>
            <a:r>
              <a:rPr sz="2000" b="1" spc="204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5</a:t>
            </a:r>
            <a:r>
              <a:rPr sz="2000" b="1" spc="2039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7</a:t>
            </a:r>
            <a:r>
              <a:rPr sz="2000" b="1" spc="2039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6</a:t>
            </a:r>
            <a:r>
              <a:rPr sz="2000" b="1" spc="1579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000" b="1" spc="-108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11</a:t>
            </a:r>
            <a:r>
              <a:rPr sz="2000" b="1" spc="122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000" b="1" spc="-108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14</a:t>
            </a:r>
            <a:r>
              <a:rPr sz="2000" b="1" spc="1688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1</a:t>
            </a:r>
            <a:r>
              <a:rPr sz="2000" b="1" spc="2039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9</a:t>
            </a:r>
            <a:r>
              <a:rPr sz="2000" b="1" spc="157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000" b="1" spc="-108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13</a:t>
            </a:r>
            <a:r>
              <a:rPr sz="2000" b="1" spc="1226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000" b="1" spc="-108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10</a:t>
            </a:r>
            <a:r>
              <a:rPr sz="2000" b="1" spc="168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4</a:t>
            </a:r>
            <a:r>
              <a:rPr sz="2000" b="1" spc="1579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000" b="1" spc="-108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12</a:t>
            </a:r>
            <a:r>
              <a:rPr sz="2000" b="1" spc="122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000" b="1" spc="-108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15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80866" y="1662544"/>
            <a:ext cx="487838" cy="1705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1"/>
              </a:lnSpc>
            </a:pP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8</a:t>
            </a:r>
          </a:p>
          <a:p>
            <a:pPr>
              <a:lnSpc>
                <a:spcPts val="2494"/>
              </a:lnSpc>
              <a:spcBef>
                <a:spcPts val="158"/>
              </a:spcBef>
            </a:pP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7</a:t>
            </a:r>
          </a:p>
          <a:p>
            <a:pPr>
              <a:lnSpc>
                <a:spcPts val="2491"/>
              </a:lnSpc>
              <a:spcBef>
                <a:spcPts val="221"/>
              </a:spcBef>
            </a:pP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5</a:t>
            </a:r>
          </a:p>
          <a:p>
            <a:pPr>
              <a:lnSpc>
                <a:spcPts val="2491"/>
              </a:lnSpc>
              <a:spcBef>
                <a:spcPts val="161"/>
              </a:spcBef>
            </a:pP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3</a:t>
            </a:r>
          </a:p>
          <a:p>
            <a:pPr>
              <a:lnSpc>
                <a:spcPts val="2491"/>
              </a:lnSpc>
              <a:spcBef>
                <a:spcPts val="218"/>
              </a:spcBef>
            </a:pP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91233" y="1662544"/>
            <a:ext cx="611167" cy="1705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1"/>
              </a:lnSpc>
            </a:pP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14</a:t>
            </a:r>
          </a:p>
          <a:p>
            <a:pPr>
              <a:lnSpc>
                <a:spcPts val="2494"/>
              </a:lnSpc>
              <a:spcBef>
                <a:spcPts val="158"/>
              </a:spcBef>
            </a:pP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11</a:t>
            </a:r>
          </a:p>
          <a:p>
            <a:pPr marL="65659">
              <a:lnSpc>
                <a:spcPts val="2491"/>
              </a:lnSpc>
              <a:spcBef>
                <a:spcPts val="221"/>
              </a:spcBef>
            </a:pPr>
            <a:r>
              <a:rPr sz="2000" b="1" dirty="0">
                <a:latin typeface="黑体" pitchFamily="49" charset="-122"/>
                <a:ea typeface="黑体" pitchFamily="49" charset="-122"/>
                <a:cs typeface="Calibri"/>
              </a:rPr>
              <a:t>9</a:t>
            </a:r>
          </a:p>
          <a:p>
            <a:pPr marL="65659">
              <a:lnSpc>
                <a:spcPts val="2491"/>
              </a:lnSpc>
              <a:spcBef>
                <a:spcPts val="161"/>
              </a:spcBef>
            </a:pP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6</a:t>
            </a:r>
          </a:p>
          <a:p>
            <a:pPr marL="65659">
              <a:lnSpc>
                <a:spcPts val="2491"/>
              </a:lnSpc>
              <a:spcBef>
                <a:spcPts val="218"/>
              </a:spcBef>
            </a:pP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63027" y="1662544"/>
            <a:ext cx="611167" cy="1705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1"/>
              </a:lnSpc>
            </a:pP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15</a:t>
            </a:r>
          </a:p>
          <a:p>
            <a:pPr>
              <a:lnSpc>
                <a:spcPts val="2494"/>
              </a:lnSpc>
              <a:spcBef>
                <a:spcPts val="158"/>
              </a:spcBef>
            </a:pP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13</a:t>
            </a:r>
          </a:p>
          <a:p>
            <a:pPr>
              <a:lnSpc>
                <a:spcPts val="2491"/>
              </a:lnSpc>
              <a:spcBef>
                <a:spcPts val="221"/>
              </a:spcBef>
            </a:pP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12</a:t>
            </a:r>
          </a:p>
          <a:p>
            <a:pPr>
              <a:lnSpc>
                <a:spcPts val="2491"/>
              </a:lnSpc>
              <a:spcBef>
                <a:spcPts val="161"/>
              </a:spcBef>
            </a:pP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10</a:t>
            </a:r>
          </a:p>
          <a:p>
            <a:pPr marL="65659">
              <a:lnSpc>
                <a:spcPts val="2491"/>
              </a:lnSpc>
              <a:spcBef>
                <a:spcPts val="218"/>
              </a:spcBef>
            </a:pPr>
            <a:r>
              <a:rPr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14822" y="2236369"/>
            <a:ext cx="1525703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72"/>
              </a:lnSpc>
            </a:pPr>
            <a:r>
              <a:rPr sz="2900" b="1" i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m*</a:t>
            </a:r>
            <a:r>
              <a:rPr sz="2900" b="1" i="1" spc="-28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9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=</a:t>
            </a:r>
            <a:r>
              <a:rPr sz="29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9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12986" y="2290209"/>
            <a:ext cx="774109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b="1" i="1" dirty="0">
                <a:solidFill>
                  <a:srgbClr val="4F6228"/>
                </a:solidFill>
                <a:latin typeface="黑体" pitchFamily="49" charset="-122"/>
                <a:ea typeface="黑体" pitchFamily="49" charset="-122"/>
                <a:cs typeface="Times New Roman"/>
              </a:rPr>
              <a:t>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83157" y="3695766"/>
            <a:ext cx="487838" cy="1705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1"/>
              </a:lnSpc>
            </a:pPr>
            <a:r>
              <a:rPr sz="2000" b="1" dirty="0">
                <a:solidFill>
                  <a:srgbClr val="006600"/>
                </a:solidFill>
                <a:latin typeface="黑体" pitchFamily="49" charset="-122"/>
                <a:ea typeface="黑体" pitchFamily="49" charset="-122"/>
                <a:cs typeface="Calibri"/>
              </a:rPr>
              <a:t>8</a:t>
            </a:r>
          </a:p>
          <a:p>
            <a:pPr>
              <a:lnSpc>
                <a:spcPts val="2494"/>
              </a:lnSpc>
              <a:spcBef>
                <a:spcPts val="158"/>
              </a:spcBef>
            </a:pPr>
            <a:r>
              <a:rPr sz="2000" b="1" dirty="0">
                <a:solidFill>
                  <a:srgbClr val="006600"/>
                </a:solidFill>
                <a:latin typeface="黑体" pitchFamily="49" charset="-122"/>
                <a:ea typeface="黑体" pitchFamily="49" charset="-122"/>
                <a:cs typeface="Calibri"/>
              </a:rPr>
              <a:t>7</a:t>
            </a:r>
          </a:p>
          <a:p>
            <a:pPr>
              <a:lnSpc>
                <a:spcPts val="2491"/>
              </a:lnSpc>
              <a:spcBef>
                <a:spcPts val="221"/>
              </a:spcBef>
            </a:pPr>
            <a:r>
              <a:rPr sz="20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alibri"/>
              </a:rPr>
              <a:t>5</a:t>
            </a:r>
          </a:p>
          <a:p>
            <a:pPr>
              <a:lnSpc>
                <a:spcPts val="2491"/>
              </a:lnSpc>
              <a:spcBef>
                <a:spcPts val="161"/>
              </a:spcBef>
            </a:pPr>
            <a:r>
              <a:rPr sz="20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alibri"/>
              </a:rPr>
              <a:t>3</a:t>
            </a:r>
          </a:p>
          <a:p>
            <a:pPr>
              <a:lnSpc>
                <a:spcPts val="2491"/>
              </a:lnSpc>
              <a:spcBef>
                <a:spcPts val="218"/>
              </a:spcBef>
            </a:pPr>
            <a:r>
              <a:rPr sz="20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alibri"/>
              </a:rPr>
              <a:t>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393524" y="3695766"/>
            <a:ext cx="611167" cy="1705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1"/>
              </a:lnSpc>
            </a:pPr>
            <a:r>
              <a:rPr sz="2000" b="1" dirty="0">
                <a:solidFill>
                  <a:srgbClr val="984807"/>
                </a:solidFill>
                <a:latin typeface="黑体" pitchFamily="49" charset="-122"/>
                <a:ea typeface="黑体" pitchFamily="49" charset="-122"/>
                <a:cs typeface="Calibri"/>
              </a:rPr>
              <a:t>14</a:t>
            </a:r>
          </a:p>
          <a:p>
            <a:pPr>
              <a:lnSpc>
                <a:spcPts val="2494"/>
              </a:lnSpc>
              <a:spcBef>
                <a:spcPts val="158"/>
              </a:spcBef>
            </a:pPr>
            <a:r>
              <a:rPr sz="2000" b="1" dirty="0">
                <a:solidFill>
                  <a:srgbClr val="984807"/>
                </a:solidFill>
                <a:latin typeface="黑体" pitchFamily="49" charset="-122"/>
                <a:ea typeface="黑体" pitchFamily="49" charset="-122"/>
                <a:cs typeface="Calibri"/>
              </a:rPr>
              <a:t>11</a:t>
            </a:r>
          </a:p>
          <a:p>
            <a:pPr marL="65659">
              <a:lnSpc>
                <a:spcPts val="2491"/>
              </a:lnSpc>
              <a:spcBef>
                <a:spcPts val="221"/>
              </a:spcBef>
            </a:pPr>
            <a:r>
              <a:rPr sz="2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Calibri"/>
              </a:rPr>
              <a:t>9</a:t>
            </a:r>
          </a:p>
          <a:p>
            <a:pPr marL="65659">
              <a:lnSpc>
                <a:spcPts val="2491"/>
              </a:lnSpc>
              <a:spcBef>
                <a:spcPts val="161"/>
              </a:spcBef>
            </a:pPr>
            <a:r>
              <a:rPr sz="20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alibri"/>
              </a:rPr>
              <a:t>6</a:t>
            </a:r>
          </a:p>
          <a:p>
            <a:pPr marL="65659">
              <a:lnSpc>
                <a:spcPts val="2491"/>
              </a:lnSpc>
              <a:spcBef>
                <a:spcPts val="218"/>
              </a:spcBef>
            </a:pPr>
            <a:r>
              <a:rPr sz="20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alibri"/>
              </a:rPr>
              <a:t>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65318" y="3695766"/>
            <a:ext cx="611167" cy="1705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1"/>
              </a:lnSpc>
            </a:pPr>
            <a:r>
              <a:rPr sz="2000" b="1" dirty="0">
                <a:solidFill>
                  <a:srgbClr val="984807"/>
                </a:solidFill>
                <a:latin typeface="黑体" pitchFamily="49" charset="-122"/>
                <a:ea typeface="黑体" pitchFamily="49" charset="-122"/>
                <a:cs typeface="Calibri"/>
              </a:rPr>
              <a:t>15</a:t>
            </a:r>
          </a:p>
          <a:p>
            <a:pPr>
              <a:lnSpc>
                <a:spcPts val="2494"/>
              </a:lnSpc>
              <a:spcBef>
                <a:spcPts val="158"/>
              </a:spcBef>
            </a:pPr>
            <a:r>
              <a:rPr sz="2000" b="1" dirty="0">
                <a:solidFill>
                  <a:srgbClr val="984807"/>
                </a:solidFill>
                <a:latin typeface="黑体" pitchFamily="49" charset="-122"/>
                <a:ea typeface="黑体" pitchFamily="49" charset="-122"/>
                <a:cs typeface="Calibri"/>
              </a:rPr>
              <a:t>13</a:t>
            </a:r>
          </a:p>
          <a:p>
            <a:pPr>
              <a:lnSpc>
                <a:spcPts val="2491"/>
              </a:lnSpc>
              <a:spcBef>
                <a:spcPts val="221"/>
              </a:spcBef>
            </a:pPr>
            <a:r>
              <a:rPr sz="2000" b="1" dirty="0">
                <a:solidFill>
                  <a:srgbClr val="984807"/>
                </a:solidFill>
                <a:latin typeface="黑体" pitchFamily="49" charset="-122"/>
                <a:ea typeface="黑体" pitchFamily="49" charset="-122"/>
                <a:cs typeface="Calibri"/>
              </a:rPr>
              <a:t>12</a:t>
            </a:r>
          </a:p>
          <a:p>
            <a:pPr>
              <a:lnSpc>
                <a:spcPts val="2491"/>
              </a:lnSpc>
              <a:spcBef>
                <a:spcPts val="161"/>
              </a:spcBef>
            </a:pPr>
            <a:r>
              <a:rPr sz="2000" b="1" dirty="0">
                <a:solidFill>
                  <a:srgbClr val="7030A0"/>
                </a:solidFill>
                <a:latin typeface="黑体" pitchFamily="49" charset="-122"/>
                <a:ea typeface="黑体" pitchFamily="49" charset="-122"/>
                <a:cs typeface="Calibri"/>
              </a:rPr>
              <a:t>10</a:t>
            </a:r>
          </a:p>
          <a:p>
            <a:pPr marL="65659">
              <a:lnSpc>
                <a:spcPts val="2491"/>
              </a:lnSpc>
              <a:spcBef>
                <a:spcPts val="218"/>
              </a:spcBef>
            </a:pPr>
            <a:r>
              <a:rPr sz="2000" b="1" dirty="0">
                <a:solidFill>
                  <a:srgbClr val="7030A0"/>
                </a:solidFill>
                <a:latin typeface="黑体" pitchFamily="49" charset="-122"/>
                <a:ea typeface="黑体" pitchFamily="49" charset="-122"/>
                <a:cs typeface="Calibri"/>
              </a:rPr>
              <a:t>4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612394" y="3989201"/>
            <a:ext cx="702124" cy="18723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b="1" i="1" dirty="0">
                <a:solidFill>
                  <a:srgbClr val="0066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A</a:t>
            </a:r>
          </a:p>
          <a:p>
            <a:pPr>
              <a:lnSpc>
                <a:spcPts val="3013"/>
              </a:lnSpc>
              <a:spcBef>
                <a:spcPts val="2769"/>
              </a:spcBef>
            </a:pPr>
            <a:r>
              <a:rPr sz="2700" b="1" i="1" dirty="0" smtClean="0">
                <a:solidFill>
                  <a:srgbClr val="00B0F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C</a:t>
            </a:r>
            <a:endParaRPr lang="en-US" sz="2700" b="1" i="1" dirty="0" smtClean="0">
              <a:solidFill>
                <a:srgbClr val="00B0F0"/>
              </a:solidFill>
              <a:latin typeface="黑体" pitchFamily="49" charset="-122"/>
              <a:ea typeface="黑体" pitchFamily="49" charset="-122"/>
              <a:cs typeface="Times New Roman"/>
            </a:endParaRPr>
          </a:p>
          <a:p>
            <a:pPr>
              <a:lnSpc>
                <a:spcPts val="3013"/>
              </a:lnSpc>
              <a:spcBef>
                <a:spcPts val="2769"/>
              </a:spcBef>
            </a:pPr>
            <a:endParaRPr sz="2700" b="1" i="1" dirty="0">
              <a:solidFill>
                <a:srgbClr val="00B0F0"/>
              </a:solidFill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63110" y="4003766"/>
            <a:ext cx="743627" cy="12182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b="1" i="1" dirty="0" smtClean="0">
                <a:solidFill>
                  <a:srgbClr val="984807"/>
                </a:solidFill>
                <a:latin typeface="黑体" pitchFamily="49" charset="-122"/>
                <a:ea typeface="黑体" pitchFamily="49" charset="-122"/>
                <a:cs typeface="Times New Roman"/>
              </a:rPr>
              <a:t>B</a:t>
            </a:r>
            <a:endParaRPr lang="en-US" sz="2700" b="1" i="1" dirty="0" smtClean="0">
              <a:solidFill>
                <a:srgbClr val="984807"/>
              </a:solidFill>
              <a:latin typeface="黑体" pitchFamily="49" charset="-122"/>
              <a:ea typeface="黑体" pitchFamily="49" charset="-122"/>
              <a:cs typeface="Times New Roman"/>
            </a:endParaRPr>
          </a:p>
          <a:p>
            <a:pPr marL="25199">
              <a:lnSpc>
                <a:spcPts val="3013"/>
              </a:lnSpc>
              <a:spcBef>
                <a:spcPts val="3480"/>
              </a:spcBef>
            </a:pPr>
            <a:r>
              <a:rPr sz="2700" b="1" i="1" dirty="0" smtClean="0">
                <a:solidFill>
                  <a:srgbClr val="7030A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D</a:t>
            </a:r>
            <a:endParaRPr sz="2700" b="1" i="1" dirty="0">
              <a:solidFill>
                <a:srgbClr val="7030A0"/>
              </a:solidFill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33905" y="5823008"/>
            <a:ext cx="5942712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1"/>
              </a:lnSpc>
            </a:pPr>
            <a:r>
              <a:rPr sz="25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Arial"/>
              </a:rPr>
              <a:t>8, 7, 10,</a:t>
            </a:r>
            <a:r>
              <a:rPr sz="2500" b="1" spc="17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Arial"/>
              </a:rPr>
              <a:t> </a:t>
            </a:r>
            <a:r>
              <a:rPr sz="25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Arial"/>
              </a:rPr>
              <a:t>4</a:t>
            </a:r>
            <a:r>
              <a:rPr sz="2500" b="1" spc="70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Arial"/>
              </a:rPr>
              <a:t> </a:t>
            </a:r>
            <a:r>
              <a:rPr sz="25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需要与</a:t>
            </a:r>
            <a:r>
              <a:rPr sz="25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Arial"/>
              </a:rPr>
              <a:t>9</a:t>
            </a:r>
            <a:r>
              <a:rPr sz="25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比较</a:t>
            </a:r>
          </a:p>
        </p:txBody>
      </p:sp>
    </p:spTree>
    <p:extLst>
      <p:ext uri="{BB962C8B-B14F-4D97-AF65-F5344CB8AC3E}">
        <p14:creationId xmlns:p14="http://schemas.microsoft.com/office/powerpoint/2010/main" val="323582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727013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514" y="277278"/>
            <a:ext cx="8460605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5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归约为子问题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57172" y="1655507"/>
            <a:ext cx="542298" cy="2103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7"/>
              </a:lnSpc>
            </a:pPr>
            <a:r>
              <a:rPr sz="24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alibri"/>
              </a:rPr>
              <a:t>8</a:t>
            </a:r>
          </a:p>
          <a:p>
            <a:pPr>
              <a:lnSpc>
                <a:spcPts val="2773"/>
              </a:lnSpc>
              <a:spcBef>
                <a:spcPts val="616"/>
              </a:spcBef>
            </a:pPr>
            <a:r>
              <a:rPr sz="24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alibri"/>
              </a:rPr>
              <a:t>7</a:t>
            </a:r>
          </a:p>
          <a:p>
            <a:pPr>
              <a:lnSpc>
                <a:spcPts val="2773"/>
              </a:lnSpc>
              <a:spcBef>
                <a:spcPts val="559"/>
              </a:spcBef>
            </a:pPr>
            <a:r>
              <a:rPr sz="24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alibri"/>
              </a:rPr>
              <a:t>5</a:t>
            </a:r>
          </a:p>
          <a:p>
            <a:pPr>
              <a:lnSpc>
                <a:spcPts val="2777"/>
              </a:lnSpc>
              <a:spcBef>
                <a:spcPts val="615"/>
              </a:spcBef>
            </a:pPr>
            <a:r>
              <a:rPr sz="24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alibri"/>
              </a:rPr>
              <a:t>3</a:t>
            </a:r>
          </a:p>
          <a:p>
            <a:pPr>
              <a:lnSpc>
                <a:spcPts val="2773"/>
              </a:lnSpc>
              <a:spcBef>
                <a:spcPts val="559"/>
              </a:spcBef>
            </a:pPr>
            <a:r>
              <a:rPr sz="24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alibri"/>
              </a:rPr>
              <a:t>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61060" y="1655507"/>
            <a:ext cx="680002" cy="2103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7"/>
              </a:lnSpc>
            </a:pPr>
            <a:r>
              <a:rPr sz="2400" b="1" dirty="0">
                <a:solidFill>
                  <a:srgbClr val="996600"/>
                </a:solidFill>
                <a:latin typeface="黑体" pitchFamily="49" charset="-122"/>
                <a:ea typeface="黑体" pitchFamily="49" charset="-122"/>
                <a:cs typeface="Calibri"/>
              </a:rPr>
              <a:t>14</a:t>
            </a:r>
          </a:p>
          <a:p>
            <a:pPr>
              <a:lnSpc>
                <a:spcPts val="2773"/>
              </a:lnSpc>
              <a:spcBef>
                <a:spcPts val="616"/>
              </a:spcBef>
            </a:pPr>
            <a:r>
              <a:rPr sz="2400" b="1" dirty="0">
                <a:solidFill>
                  <a:srgbClr val="996600"/>
                </a:solidFill>
                <a:latin typeface="黑体" pitchFamily="49" charset="-122"/>
                <a:ea typeface="黑体" pitchFamily="49" charset="-122"/>
                <a:cs typeface="Calibri"/>
              </a:rPr>
              <a:t>11</a:t>
            </a:r>
          </a:p>
          <a:p>
            <a:pPr marL="72571">
              <a:lnSpc>
                <a:spcPts val="2773"/>
              </a:lnSpc>
              <a:spcBef>
                <a:spcPts val="559"/>
              </a:spcBef>
            </a:pPr>
            <a:r>
              <a:rPr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Calibri"/>
              </a:rPr>
              <a:t>9</a:t>
            </a:r>
          </a:p>
          <a:p>
            <a:pPr marL="72571">
              <a:lnSpc>
                <a:spcPts val="2777"/>
              </a:lnSpc>
              <a:spcBef>
                <a:spcPts val="615"/>
              </a:spcBef>
            </a:pPr>
            <a:r>
              <a:rPr sz="24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alibri"/>
              </a:rPr>
              <a:t>6</a:t>
            </a:r>
          </a:p>
          <a:p>
            <a:pPr marL="72571">
              <a:lnSpc>
                <a:spcPts val="2773"/>
              </a:lnSpc>
              <a:spcBef>
                <a:spcPts val="559"/>
              </a:spcBef>
            </a:pPr>
            <a:r>
              <a:rPr sz="24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alibri"/>
              </a:rPr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34473" y="1655507"/>
            <a:ext cx="680002" cy="2103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7"/>
              </a:lnSpc>
            </a:pPr>
            <a:r>
              <a:rPr sz="2400" b="1" dirty="0">
                <a:solidFill>
                  <a:srgbClr val="996600"/>
                </a:solidFill>
                <a:latin typeface="黑体" pitchFamily="49" charset="-122"/>
                <a:ea typeface="黑体" pitchFamily="49" charset="-122"/>
                <a:cs typeface="Calibri"/>
              </a:rPr>
              <a:t>15</a:t>
            </a:r>
          </a:p>
          <a:p>
            <a:pPr>
              <a:lnSpc>
                <a:spcPts val="2773"/>
              </a:lnSpc>
              <a:spcBef>
                <a:spcPts val="616"/>
              </a:spcBef>
            </a:pPr>
            <a:r>
              <a:rPr sz="2400" b="1" dirty="0">
                <a:solidFill>
                  <a:srgbClr val="996600"/>
                </a:solidFill>
                <a:latin typeface="黑体" pitchFamily="49" charset="-122"/>
                <a:ea typeface="黑体" pitchFamily="49" charset="-122"/>
                <a:cs typeface="Calibri"/>
              </a:rPr>
              <a:t>13</a:t>
            </a:r>
          </a:p>
          <a:p>
            <a:pPr>
              <a:lnSpc>
                <a:spcPts val="2773"/>
              </a:lnSpc>
              <a:spcBef>
                <a:spcPts val="559"/>
              </a:spcBef>
            </a:pPr>
            <a:r>
              <a:rPr sz="2400" b="1" dirty="0">
                <a:solidFill>
                  <a:srgbClr val="996600"/>
                </a:solidFill>
                <a:latin typeface="黑体" pitchFamily="49" charset="-122"/>
                <a:ea typeface="黑体" pitchFamily="49" charset="-122"/>
                <a:cs typeface="Calibri"/>
              </a:rPr>
              <a:t>12</a:t>
            </a:r>
          </a:p>
          <a:p>
            <a:pPr>
              <a:lnSpc>
                <a:spcPts val="2777"/>
              </a:lnSpc>
              <a:spcBef>
                <a:spcPts val="615"/>
              </a:spcBef>
            </a:pPr>
            <a:r>
              <a:rPr sz="2400" b="1" dirty="0">
                <a:solidFill>
                  <a:srgbClr val="996600"/>
                </a:solidFill>
                <a:latin typeface="黑体" pitchFamily="49" charset="-122"/>
                <a:ea typeface="黑体" pitchFamily="49" charset="-122"/>
                <a:cs typeface="Calibri"/>
              </a:rPr>
              <a:t>10</a:t>
            </a:r>
          </a:p>
          <a:p>
            <a:pPr marL="72572">
              <a:lnSpc>
                <a:spcPts val="2773"/>
              </a:lnSpc>
              <a:spcBef>
                <a:spcPts val="559"/>
              </a:spcBef>
            </a:pPr>
            <a:r>
              <a:rPr sz="24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Calibri"/>
              </a:rPr>
              <a:t>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62639" y="2420444"/>
            <a:ext cx="77357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800" b="1" i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S</a:t>
            </a:r>
            <a:r>
              <a:rPr sz="2800" b="1" baseline="-245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821" y="4267961"/>
            <a:ext cx="1584403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52"/>
              </a:lnSpc>
            </a:pPr>
            <a:r>
              <a:rPr sz="2800" spc="17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子问题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144960" y="4281754"/>
            <a:ext cx="7096766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3"/>
              </a:lnSpc>
            </a:pP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8</a:t>
            </a:r>
            <a:r>
              <a:rPr sz="2800" b="1" spc="232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7</a:t>
            </a:r>
            <a:r>
              <a:rPr sz="2800" b="1" spc="232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5</a:t>
            </a:r>
            <a:r>
              <a:rPr sz="2800" b="1" spc="232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3</a:t>
            </a:r>
            <a:r>
              <a:rPr sz="2800" b="1" spc="232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2</a:t>
            </a:r>
            <a:r>
              <a:rPr sz="2800" b="1" spc="232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6</a:t>
            </a:r>
            <a:r>
              <a:rPr sz="2800" b="1" spc="232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1</a:t>
            </a:r>
            <a:r>
              <a:rPr sz="2800" b="1" spc="232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alibri"/>
              </a:rPr>
              <a:t>4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7821" y="4933160"/>
            <a:ext cx="5550257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9"/>
              </a:lnSpc>
            </a:pPr>
            <a:r>
              <a:rPr sz="2800" spc="17" dirty="0" err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子问题规模</a:t>
            </a:r>
            <a:r>
              <a:rPr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= 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8</a:t>
            </a:r>
            <a:r>
              <a:rPr sz="2800" spc="2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，</a:t>
            </a:r>
            <a:r>
              <a:rPr sz="28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k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=6</a:t>
            </a:r>
          </a:p>
        </p:txBody>
      </p:sp>
      <p:sp>
        <p:nvSpPr>
          <p:cNvPr id="13" name="object 8"/>
          <p:cNvSpPr txBox="1"/>
          <p:nvPr/>
        </p:nvSpPr>
        <p:spPr>
          <a:xfrm>
            <a:off x="6418078" y="2420444"/>
            <a:ext cx="77357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800" b="1" i="1" dirty="0" smtClean="0">
                <a:solidFill>
                  <a:schemeClr val="accent2">
                    <a:lumMod val="50000"/>
                  </a:schemeClr>
                </a:solidFill>
                <a:latin typeface="黑体" pitchFamily="49" charset="-122"/>
                <a:ea typeface="黑体" pitchFamily="49" charset="-122"/>
                <a:cs typeface="Times New Roman"/>
              </a:rPr>
              <a:t>S</a:t>
            </a:r>
            <a:r>
              <a:rPr lang="en-US" sz="2800" b="1" baseline="-24500" dirty="0" smtClean="0">
                <a:solidFill>
                  <a:schemeClr val="accent2">
                    <a:lumMod val="50000"/>
                  </a:schemeClr>
                </a:solidFill>
                <a:latin typeface="黑体" pitchFamily="49" charset="-122"/>
                <a:ea typeface="黑体" pitchFamily="49" charset="-122"/>
                <a:cs typeface="Times New Roman"/>
              </a:rPr>
              <a:t>2</a:t>
            </a:r>
            <a:endParaRPr sz="2800" b="1" baseline="-24500" dirty="0">
              <a:solidFill>
                <a:schemeClr val="accent2">
                  <a:lumMod val="50000"/>
                </a:schemeClr>
              </a:solidFill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027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0210" y="196197"/>
            <a:ext cx="8823041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3"/>
              </a:lnSpc>
            </a:pPr>
            <a:r>
              <a:rPr sz="40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伪码</a:t>
            </a:r>
            <a:endParaRPr sz="4500" b="1" dirty="0">
              <a:solidFill>
                <a:srgbClr val="C00000"/>
              </a:solidFill>
              <a:latin typeface="黑体" pitchFamily="49" charset="-122"/>
              <a:ea typeface="黑体" pitchFamily="49" charset="-122"/>
              <a:cs typeface="CNENOB+ËÎÌå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0209" y="686793"/>
            <a:ext cx="411761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spc="12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算法</a:t>
            </a:r>
            <a:r>
              <a:rPr sz="2700" spc="-1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7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Select(</a:t>
            </a:r>
            <a:r>
              <a:rPr sz="2700" b="1" i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S</a:t>
            </a:r>
            <a:r>
              <a:rPr sz="27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, k</a:t>
            </a:r>
            <a:r>
              <a:rPr sz="27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0209" y="1109057"/>
            <a:ext cx="8640162" cy="820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输入：数组</a:t>
            </a:r>
            <a:r>
              <a:rPr sz="2700" spc="-1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7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S</a:t>
            </a:r>
            <a:r>
              <a:rPr sz="2700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，正整数</a:t>
            </a:r>
            <a:r>
              <a:rPr sz="2700" spc="17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7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k </a:t>
            </a:r>
            <a:r>
              <a:rPr sz="27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，</a:t>
            </a:r>
          </a:p>
          <a:p>
            <a:pPr>
              <a:lnSpc>
                <a:spcPts val="3013"/>
              </a:lnSpc>
              <a:spcBef>
                <a:spcPts val="391"/>
              </a:spcBef>
            </a:pPr>
            <a:r>
              <a:rPr sz="2700" spc="1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输出：</a:t>
            </a:r>
            <a:r>
              <a:rPr sz="27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S </a:t>
            </a:r>
            <a:r>
              <a:rPr sz="2700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中的第</a:t>
            </a:r>
            <a:r>
              <a:rPr sz="27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7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k </a:t>
            </a:r>
            <a:r>
              <a:rPr sz="2700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小元素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340209" y="1977563"/>
                <a:ext cx="8919294" cy="42319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33"/>
                  </a:lnSpc>
                </a:pPr>
                <a:r>
                  <a:rPr sz="27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1</a:t>
                </a:r>
                <a:r>
                  <a:rPr sz="2700" spc="14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．将</a:t>
                </a:r>
                <a:r>
                  <a:rPr sz="2700" b="1" i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S</a:t>
                </a:r>
                <a:r>
                  <a:rPr sz="2700" spc="12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分</a:t>
                </a:r>
                <a:r>
                  <a:rPr sz="27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5</a:t>
                </a:r>
                <a:r>
                  <a:rPr sz="2700" spc="12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个一组</a:t>
                </a:r>
                <a:r>
                  <a:rPr sz="27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, </a:t>
                </a:r>
                <a:r>
                  <a:rPr sz="2700" dirty="0" err="1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共</a:t>
                </a:r>
                <a:r>
                  <a:rPr lang="en-US" sz="2700" b="1" i="1" dirty="0" err="1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n</a:t>
                </a:r>
                <a:r>
                  <a:rPr lang="en-US" sz="2700" b="1" i="1" baseline="-25000" dirty="0" err="1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M</a:t>
                </a:r>
                <a:r>
                  <a:rPr sz="27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7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itchFamily="49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700" b="1" i="1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itchFamily="49" charset="-122"/>
                            <a:cs typeface="Times New Roman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CN" sz="2700" b="1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itchFamily="49" charset="-122"/>
                            <a:cs typeface="Times New Roman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700" b="1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itchFamily="49" charset="-122"/>
                            <a:cs typeface="Times New Roman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700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组</a:t>
                </a: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09" y="1977563"/>
                <a:ext cx="8919294" cy="423193"/>
              </a:xfrm>
              <a:prstGeom prst="rect">
                <a:avLst/>
              </a:prstGeom>
              <a:blipFill rotWithShape="1">
                <a:blip r:embed="rId2"/>
                <a:stretch>
                  <a:fillRect l="-2324" t="-30000" b="-4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17"/>
          <p:cNvSpPr txBox="1"/>
          <p:nvPr/>
        </p:nvSpPr>
        <p:spPr>
          <a:xfrm>
            <a:off x="340209" y="4422142"/>
            <a:ext cx="8495783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6</a:t>
            </a:r>
            <a:r>
              <a:rPr sz="2700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．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if</a:t>
            </a:r>
            <a:r>
              <a:rPr sz="2700" b="1" spc="667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 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</a:t>
            </a:r>
            <a:r>
              <a:rPr sz="2700" b="1" spc="-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spc="-14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</a:t>
            </a:r>
            <a:r>
              <a:rPr lang="en-US" altLang="zh-CN" sz="27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S</a:t>
            </a:r>
            <a:r>
              <a:rPr lang="en-US" altLang="zh-CN" sz="2700" b="1" baseline="-2500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 </a:t>
            </a:r>
            <a:r>
              <a:rPr sz="27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 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+ 1</a:t>
            </a:r>
            <a:r>
              <a:rPr sz="2700" b="1" spc="68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then</a:t>
            </a:r>
            <a:r>
              <a:rPr sz="2700" b="1" spc="688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输出</a:t>
            </a:r>
            <a:r>
              <a:rPr sz="270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9"/>
              <p:cNvSpPr txBox="1"/>
              <p:nvPr/>
            </p:nvSpPr>
            <p:spPr>
              <a:xfrm>
                <a:off x="340210" y="4858343"/>
                <a:ext cx="6657356" cy="42319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33"/>
                  </a:lnSpc>
                </a:pPr>
                <a:r>
                  <a:rPr sz="27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7</a:t>
                </a:r>
                <a:r>
                  <a:rPr sz="2700" spc="12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．</a:t>
                </a:r>
                <a:r>
                  <a:rPr sz="27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else</a:t>
                </a:r>
                <a:r>
                  <a:rPr sz="2700" b="1" spc="-37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</a:t>
                </a:r>
                <a:r>
                  <a:rPr sz="27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if</a:t>
                </a:r>
                <a:r>
                  <a:rPr sz="2700" b="1" spc="68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</a:t>
                </a:r>
                <a:r>
                  <a:rPr sz="2700" b="1" i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k </a:t>
                </a:r>
                <a14:m>
                  <m:oMath xmlns:m="http://schemas.openxmlformats.org/officeDocument/2006/math">
                    <m:r>
                      <a:rPr lang="en-US" sz="2700" b="1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≤</m:t>
                    </m:r>
                  </m:oMath>
                </a14:m>
                <a:r>
                  <a:rPr sz="27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</a:t>
                </a:r>
                <a:r>
                  <a:rPr sz="2700" b="1" spc="-14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|</a:t>
                </a:r>
                <a:r>
                  <a:rPr lang="en-US" altLang="zh-CN" sz="2700" b="1" i="1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S</a:t>
                </a:r>
                <a:r>
                  <a:rPr lang="en-US" altLang="zh-CN" sz="2700" b="1" baseline="-25000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1 </a:t>
                </a:r>
                <a:r>
                  <a:rPr sz="27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|</a:t>
                </a:r>
                <a:endParaRPr sz="2700" b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10" y="4858343"/>
                <a:ext cx="6657356" cy="423193"/>
              </a:xfrm>
              <a:prstGeom prst="rect">
                <a:avLst/>
              </a:prstGeom>
              <a:blipFill rotWithShape="1">
                <a:blip r:embed="rId3"/>
                <a:stretch>
                  <a:fillRect l="-3114" t="-31884" b="-420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bject 22"/>
          <p:cNvSpPr txBox="1"/>
          <p:nvPr/>
        </p:nvSpPr>
        <p:spPr>
          <a:xfrm>
            <a:off x="340210" y="5324867"/>
            <a:ext cx="8640161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8</a:t>
            </a:r>
            <a:r>
              <a:rPr sz="270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．</a:t>
            </a:r>
            <a:r>
              <a:rPr sz="2700" spc="408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then</a:t>
            </a:r>
            <a:r>
              <a:rPr sz="2700" b="1" spc="68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Select</a:t>
            </a:r>
            <a:r>
              <a:rPr sz="2700" b="1" spc="-2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spc="14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sz="27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700" b="1" baseline="-2500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sz="27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</a:t>
            </a:r>
            <a:r>
              <a:rPr sz="27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40209" y="5785629"/>
            <a:ext cx="72902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9.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468616" y="5766379"/>
            <a:ext cx="8791911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else</a:t>
            </a:r>
            <a:r>
              <a:rPr sz="2700" b="1" spc="653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Select</a:t>
            </a:r>
            <a:r>
              <a:rPr sz="2700" b="1" spc="-23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spc="19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sz="27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700" b="1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27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</a:t>
            </a:r>
            <a:r>
              <a:rPr sz="27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</a:t>
            </a:r>
            <a:r>
              <a:rPr sz="2700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－</a:t>
            </a:r>
            <a:r>
              <a:rPr sz="2700" b="1" spc="-14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</a:t>
            </a:r>
            <a:r>
              <a:rPr lang="en-US" altLang="zh-CN" sz="27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700" b="1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sz="2700" b="1" spc="-14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</a:t>
            </a:r>
            <a:r>
              <a:rPr sz="2700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－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1)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40209" y="2501428"/>
            <a:ext cx="8919294" cy="889346"/>
            <a:chOff x="340209" y="2501428"/>
            <a:chExt cx="8919294" cy="88934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object 8"/>
                <p:cNvSpPr txBox="1"/>
                <p:nvPr/>
              </p:nvSpPr>
              <p:spPr>
                <a:xfrm>
                  <a:off x="340209" y="2501428"/>
                  <a:ext cx="8919294" cy="889346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>
                    <a:lnSpc>
                      <a:spcPts val="3016"/>
                    </a:lnSpc>
                    <a:spcBef>
                      <a:spcPts val="600"/>
                    </a:spcBef>
                  </a:pPr>
                  <a:r>
                    <a:rPr sz="2700" b="1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2</a:t>
                  </a:r>
                  <a:r>
                    <a:rPr sz="2700" spc="12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．每组排序</a:t>
                  </a:r>
                  <a:r>
                    <a:rPr sz="2700" b="1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,</a:t>
                  </a:r>
                  <a:r>
                    <a:rPr sz="2700" spc="12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中位数放到集合</a:t>
                  </a:r>
                  <a:r>
                    <a:rPr sz="2700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 </a:t>
                  </a:r>
                  <a:r>
                    <a:rPr sz="2700" b="1" i="1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M</a:t>
                  </a:r>
                </a:p>
                <a:p>
                  <a:pPr>
                    <a:lnSpc>
                      <a:spcPts val="3333"/>
                    </a:lnSpc>
                    <a:spcBef>
                      <a:spcPts val="600"/>
                    </a:spcBef>
                  </a:pPr>
                  <a:r>
                    <a:rPr sz="2700" b="1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3</a:t>
                  </a:r>
                  <a:r>
                    <a:rPr sz="2700" spc="12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．</a:t>
                  </a:r>
                  <a:r>
                    <a:rPr sz="2700" b="1" i="1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m</a:t>
                  </a:r>
                  <a:r>
                    <a:rPr sz="2700" b="1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*</a:t>
                  </a:r>
                  <a:r>
                    <a:rPr lang="en-US" sz="2700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 </a:t>
                  </a:r>
                  <a:r>
                    <a:rPr lang="en-US" sz="2700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    </a:t>
                  </a:r>
                  <a:r>
                    <a:rPr sz="2700" b="1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Select(</a:t>
                  </a:r>
                  <a:r>
                    <a:rPr sz="2700" b="1" i="1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M</a:t>
                  </a:r>
                  <a:r>
                    <a:rPr sz="2700" b="1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,</a:t>
                  </a:r>
                  <a:r>
                    <a:rPr lang="en-US" altLang="zh-CN" sz="2700" b="1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altLang="zh-CN" sz="27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itchFamily="49" charset="-122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CN" sz="2700" b="1" spc="-14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黑体" pitchFamily="49" charset="-122"/>
                              <a:cs typeface="Times New Roman" pitchFamily="18" charset="0"/>
                            </a:rPr>
                            <m:t>|</m:t>
                          </m:r>
                          <m:r>
                            <m:rPr>
                              <m:nor/>
                            </m:rPr>
                            <a:rPr lang="en-US" altLang="zh-CN" sz="2700" b="1" i="1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黑体" pitchFamily="49" charset="-122"/>
                              <a:cs typeface="Times New Roman" pitchFamily="18" charset="0"/>
                            </a:rPr>
                            <m:t>M</m:t>
                          </m:r>
                          <m:r>
                            <m:rPr>
                              <m:nor/>
                            </m:rPr>
                            <a:rPr lang="en-US" altLang="zh-CN" sz="2700" b="1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黑体" pitchFamily="49" charset="-122"/>
                              <a:cs typeface="Times New Roman" pitchFamily="18" charset="0"/>
                            </a:rPr>
                            <m:t>|/</m:t>
                          </m:r>
                          <m:r>
                            <m:rPr>
                              <m:nor/>
                            </m:rPr>
                            <a:rPr lang="en-US" altLang="zh-CN" sz="2700" b="1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黑体" pitchFamily="49" charset="-122"/>
                              <a:cs typeface="Times New Roman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2700" b="1" i="1" dirty="0">
                          <a:solidFill>
                            <a:srgbClr val="000000"/>
                          </a:solidFill>
                          <a:latin typeface="Cambria Math"/>
                          <a:ea typeface="黑体" pitchFamily="49" charset="-122"/>
                          <a:cs typeface="Times New Roman" pitchFamily="18" charset="0"/>
                        </a:rPr>
                        <m:t> </m:t>
                      </m:r>
                    </m:oMath>
                  </a14:m>
                  <a:r>
                    <a:rPr sz="2700" b="1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)</a:t>
                  </a:r>
                  <a:r>
                    <a:rPr sz="2700" b="1" spc="-49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 </a:t>
                  </a:r>
                  <a:r>
                    <a:rPr sz="2700" b="1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//</a:t>
                  </a:r>
                  <a:r>
                    <a:rPr sz="2700" b="1" i="1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S</a:t>
                  </a:r>
                  <a:r>
                    <a:rPr sz="2700" spc="12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分</a:t>
                  </a:r>
                  <a:r>
                    <a:rPr sz="2700" b="1" i="1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A,B,C,D</a:t>
                  </a:r>
                </a:p>
              </p:txBody>
            </p:sp>
          </mc:Choice>
          <mc:Fallback>
            <p:sp>
              <p:nvSpPr>
                <p:cNvPr id="8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209" y="2501428"/>
                  <a:ext cx="8919294" cy="889346"/>
                </a:xfrm>
                <a:prstGeom prst="rect">
                  <a:avLst/>
                </a:prstGeom>
                <a:blipFill>
                  <a:blip r:embed="rId4"/>
                  <a:stretch>
                    <a:fillRect l="-2324" t="-16438" b="-191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直接箭头连接符 31"/>
            <p:cNvCxnSpPr/>
            <p:nvPr/>
          </p:nvCxnSpPr>
          <p:spPr>
            <a:xfrm flipH="1">
              <a:off x="1262442" y="3157082"/>
              <a:ext cx="40272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340209" y="3461796"/>
            <a:ext cx="8919294" cy="859265"/>
            <a:chOff x="340209" y="3461796"/>
            <a:chExt cx="8919294" cy="859265"/>
          </a:xfrm>
        </p:grpSpPr>
        <p:sp>
          <p:nvSpPr>
            <p:cNvPr id="9" name="object 9"/>
            <p:cNvSpPr txBox="1"/>
            <p:nvPr/>
          </p:nvSpPr>
          <p:spPr>
            <a:xfrm>
              <a:off x="340209" y="3461796"/>
              <a:ext cx="8919294" cy="3847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3013"/>
                </a:lnSpc>
              </a:pPr>
              <a:r>
                <a:rPr sz="2700" b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4</a:t>
              </a:r>
              <a:r>
                <a:rPr sz="2700" spc="12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．</a:t>
              </a:r>
              <a:r>
                <a:rPr sz="2700" b="1" i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A</a:t>
              </a:r>
              <a:r>
                <a:rPr sz="2700" b="1" i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,</a:t>
              </a:r>
              <a:r>
                <a:rPr lang="en-US" sz="2700" b="1" i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sz="2700" b="1" i="1" dirty="0" err="1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D</a:t>
              </a:r>
              <a:r>
                <a:rPr sz="2700" spc="12" dirty="0" err="1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元素小于</a:t>
              </a:r>
              <a:r>
                <a:rPr sz="2700" b="1" i="1" dirty="0" err="1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m</a:t>
              </a:r>
              <a:r>
                <a:rPr sz="2700" b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*</a:t>
              </a:r>
              <a:r>
                <a:rPr sz="2700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放</a:t>
              </a:r>
              <a:r>
                <a:rPr sz="2700" spc="12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sz="2700" b="1" i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S</a:t>
              </a:r>
              <a:r>
                <a:rPr lang="en-US" sz="2700" b="1" baseline="-250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1</a:t>
              </a:r>
              <a:r>
                <a:rPr sz="2700" b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,</a:t>
              </a:r>
              <a:r>
                <a:rPr lang="en-US" sz="2700" b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sz="2700" spc="12" dirty="0" err="1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大于</a:t>
              </a:r>
              <a:r>
                <a:rPr sz="2700" b="1" i="1" dirty="0" err="1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m</a:t>
              </a:r>
              <a:r>
                <a:rPr sz="2700" b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*</a:t>
              </a:r>
              <a:r>
                <a:rPr sz="2700" spc="12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放</a:t>
              </a:r>
              <a:r>
                <a:rPr lang="en-US" sz="2700" spc="12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lang="en-US" altLang="zh-CN" sz="2700" b="1" i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S</a:t>
              </a:r>
              <a:r>
                <a:rPr lang="en-US" altLang="zh-CN" sz="2700" b="1" baseline="-250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2</a:t>
              </a:r>
              <a:r>
                <a:rPr lang="en-US" altLang="zh-CN" sz="2700" b="1" i="1" spc="227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endParaRPr sz="27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340210" y="3897868"/>
              <a:ext cx="8640161" cy="42319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3337"/>
                </a:lnSpc>
              </a:pPr>
              <a:r>
                <a:rPr sz="2700" b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5</a:t>
              </a:r>
              <a:r>
                <a:rPr sz="2700" spc="12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．</a:t>
              </a:r>
              <a:r>
                <a:rPr lang="en-US" altLang="zh-CN" sz="2700" b="1" i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S</a:t>
              </a:r>
              <a:r>
                <a:rPr lang="en-US" altLang="zh-CN" sz="2700" b="1" baseline="-250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1</a:t>
              </a:r>
              <a:r>
                <a:rPr sz="2700" b="1" i="1" spc="667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lang="en-US" sz="2700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lang="en-US" sz="27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   </a:t>
              </a:r>
              <a:r>
                <a:rPr sz="27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lang="en-US" altLang="zh-CN" sz="2700" b="1" i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S</a:t>
              </a:r>
              <a:r>
                <a:rPr lang="en-US" altLang="zh-CN" sz="2700" b="1" baseline="-250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1 </a:t>
              </a:r>
              <a:r>
                <a:rPr lang="en-US" altLang="zh-CN" sz="2700" b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U </a:t>
              </a:r>
              <a:r>
                <a:rPr sz="2700" b="1" i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C</a:t>
              </a:r>
              <a:r>
                <a:rPr sz="2700" b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;</a:t>
              </a:r>
              <a:r>
                <a:rPr sz="2700" b="1" spc="1366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lang="en-US" altLang="zh-CN" sz="2700" b="1" i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S</a:t>
              </a:r>
              <a:r>
                <a:rPr lang="en-US" altLang="zh-CN" sz="2700" b="1" baseline="-250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2</a:t>
              </a:r>
              <a:r>
                <a:rPr lang="en-US" altLang="zh-CN" sz="2700" b="1" i="1" spc="680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lang="en-US" altLang="zh-CN" sz="2700" b="1" i="1" spc="68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 </a:t>
              </a:r>
              <a:r>
                <a:rPr sz="27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lang="en-US" altLang="zh-CN" sz="2700" b="1" i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S</a:t>
              </a:r>
              <a:r>
                <a:rPr lang="en-US" altLang="zh-CN" sz="2700" b="1" baseline="-250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2</a:t>
              </a:r>
              <a:r>
                <a:rPr lang="en-US" altLang="zh-CN" sz="2700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lang="en-US" altLang="zh-CN" sz="27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U</a:t>
              </a:r>
              <a:r>
                <a:rPr sz="27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sz="2700" b="1" i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B</a:t>
              </a:r>
              <a:r>
                <a:rPr sz="2700" b="1" i="1" spc="2498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sz="2800" spc="12" dirty="0">
                  <a:solidFill>
                    <a:srgbClr val="C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划分</a:t>
              </a:r>
            </a:p>
          </p:txBody>
        </p:sp>
        <p:cxnSp>
          <p:nvCxnSpPr>
            <p:cNvPr id="34" name="直接箭头连接符 33"/>
            <p:cNvCxnSpPr/>
            <p:nvPr/>
          </p:nvCxnSpPr>
          <p:spPr>
            <a:xfrm flipH="1">
              <a:off x="1300103" y="4107860"/>
              <a:ext cx="40272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 flipH="1">
              <a:off x="3488640" y="4107860"/>
              <a:ext cx="40272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847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  <p:bldP spid="19" grpId="0"/>
      <p:bldP spid="22" grpId="0"/>
      <p:bldP spid="24" grpId="0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727013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1380" y="342691"/>
            <a:ext cx="9153625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000" b="1" spc="1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小结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3216" y="1547612"/>
            <a:ext cx="3590287" cy="10259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14"/>
              </a:lnSpc>
            </a:pPr>
            <a:r>
              <a:rPr sz="3200" b="1" spc="1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选第</a:t>
            </a:r>
            <a:r>
              <a:rPr sz="3200" b="1" spc="-76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 </a:t>
            </a:r>
            <a:r>
              <a:rPr sz="3200" b="1" spc="1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小的算法：</a:t>
            </a:r>
          </a:p>
          <a:p>
            <a:pPr>
              <a:lnSpc>
                <a:spcPts val="3541"/>
              </a:lnSpc>
              <a:spcBef>
                <a:spcPts val="1029"/>
              </a:spcBef>
            </a:pP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•</a:t>
            </a:r>
            <a:r>
              <a:rPr sz="3200" b="1" spc="1155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1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分治策略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3216" y="2841465"/>
            <a:ext cx="2172100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4"/>
              </a:lnSpc>
            </a:pP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•</a:t>
            </a:r>
            <a:r>
              <a:rPr sz="3200" b="1" spc="1155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确定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*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3216" y="3477350"/>
            <a:ext cx="5771668" cy="10387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1"/>
              </a:lnSpc>
            </a:pP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•</a:t>
            </a:r>
            <a:r>
              <a:rPr sz="3200" b="1" spc="1155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1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用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*</a:t>
            </a:r>
            <a:r>
              <a:rPr sz="3200" b="1" spc="1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划分数组归约为子问题</a:t>
            </a:r>
          </a:p>
          <a:p>
            <a:pPr>
              <a:lnSpc>
                <a:spcPts val="3544"/>
              </a:lnSpc>
              <a:spcBef>
                <a:spcPts val="1085"/>
              </a:spcBef>
            </a:pP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•</a:t>
            </a:r>
            <a:r>
              <a:rPr sz="3200" b="1" spc="1155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1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递归实现</a:t>
            </a:r>
          </a:p>
        </p:txBody>
      </p:sp>
    </p:spTree>
    <p:extLst>
      <p:ext uri="{BB962C8B-B14F-4D97-AF65-F5344CB8AC3E}">
        <p14:creationId xmlns:p14="http://schemas.microsoft.com/office/powerpoint/2010/main" val="3346784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727013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60934" y="2501703"/>
            <a:ext cx="4746404" cy="1718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123"/>
              </a:lnSpc>
            </a:pPr>
            <a:r>
              <a:rPr sz="6600" b="1" spc="16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选择问题的</a:t>
            </a:r>
          </a:p>
          <a:p>
            <a:pPr marL="388751">
              <a:lnSpc>
                <a:spcPts val="6123"/>
              </a:lnSpc>
              <a:spcBef>
                <a:spcPts val="1226"/>
              </a:spcBef>
            </a:pPr>
            <a:r>
              <a:rPr sz="6600" b="1" spc="16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算法分析</a:t>
            </a:r>
          </a:p>
        </p:txBody>
      </p:sp>
    </p:spTree>
    <p:extLst>
      <p:ext uri="{BB962C8B-B14F-4D97-AF65-F5344CB8AC3E}">
        <p14:creationId xmlns:p14="http://schemas.microsoft.com/office/powerpoint/2010/main" val="176985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0210" y="196197"/>
            <a:ext cx="8823041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3"/>
              </a:lnSpc>
            </a:pPr>
            <a:r>
              <a:rPr sz="40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伪码</a:t>
            </a:r>
            <a:endParaRPr sz="4500" b="1" dirty="0">
              <a:solidFill>
                <a:srgbClr val="C00000"/>
              </a:solidFill>
              <a:latin typeface="黑体" pitchFamily="49" charset="-122"/>
              <a:ea typeface="黑体" pitchFamily="49" charset="-122"/>
              <a:cs typeface="CNENOB+ËÎÌå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0209" y="686793"/>
            <a:ext cx="411761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spc="12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算法</a:t>
            </a:r>
            <a:r>
              <a:rPr sz="2700" spc="-1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7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Select(</a:t>
            </a:r>
            <a:r>
              <a:rPr sz="2700" b="1" i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S</a:t>
            </a:r>
            <a:r>
              <a:rPr sz="27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, k</a:t>
            </a:r>
            <a:r>
              <a:rPr sz="27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0209" y="1109057"/>
            <a:ext cx="8640162" cy="820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输入：数组</a:t>
            </a:r>
            <a:r>
              <a:rPr sz="2700" spc="-1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7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S</a:t>
            </a:r>
            <a:r>
              <a:rPr sz="2700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，正整数</a:t>
            </a:r>
            <a:r>
              <a:rPr sz="2700" spc="17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7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k </a:t>
            </a:r>
            <a:r>
              <a:rPr sz="27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，</a:t>
            </a:r>
          </a:p>
          <a:p>
            <a:pPr>
              <a:lnSpc>
                <a:spcPts val="3013"/>
              </a:lnSpc>
              <a:spcBef>
                <a:spcPts val="391"/>
              </a:spcBef>
            </a:pPr>
            <a:r>
              <a:rPr sz="2700" spc="1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输出：</a:t>
            </a:r>
            <a:r>
              <a:rPr sz="27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S </a:t>
            </a:r>
            <a:r>
              <a:rPr sz="2700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中的第</a:t>
            </a:r>
            <a:r>
              <a:rPr sz="27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7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k </a:t>
            </a:r>
            <a:r>
              <a:rPr sz="2700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CNENOB+ËÎÌå"/>
              </a:rPr>
              <a:t>小元素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340209" y="1977563"/>
                <a:ext cx="8919294" cy="42319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33"/>
                  </a:lnSpc>
                </a:pPr>
                <a:r>
                  <a:rPr sz="27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1</a:t>
                </a:r>
                <a:r>
                  <a:rPr sz="2700" spc="14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．将</a:t>
                </a:r>
                <a:r>
                  <a:rPr sz="2700" b="1" i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S</a:t>
                </a:r>
                <a:r>
                  <a:rPr sz="2700" spc="12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分</a:t>
                </a:r>
                <a:r>
                  <a:rPr sz="27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5</a:t>
                </a:r>
                <a:r>
                  <a:rPr sz="2700" spc="12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个一组</a:t>
                </a:r>
                <a:r>
                  <a:rPr sz="27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, </a:t>
                </a:r>
                <a:r>
                  <a:rPr sz="2700" dirty="0" err="1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共</a:t>
                </a:r>
                <a:r>
                  <a:rPr lang="en-US" sz="2700" b="1" i="1" dirty="0" err="1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n</a:t>
                </a:r>
                <a:r>
                  <a:rPr lang="en-US" sz="2700" b="1" i="1" baseline="-25000" dirty="0" err="1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M</a:t>
                </a:r>
                <a:r>
                  <a:rPr sz="27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7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itchFamily="49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700" b="1" i="1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itchFamily="49" charset="-122"/>
                            <a:cs typeface="Times New Roman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CN" sz="2700" b="1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itchFamily="49" charset="-122"/>
                            <a:cs typeface="Times New Roman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700" b="1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黑体" pitchFamily="49" charset="-122"/>
                            <a:cs typeface="Times New Roman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700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组</a:t>
                </a: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09" y="1977563"/>
                <a:ext cx="8919294" cy="423193"/>
              </a:xfrm>
              <a:prstGeom prst="rect">
                <a:avLst/>
              </a:prstGeom>
              <a:blipFill rotWithShape="1">
                <a:blip r:embed="rId2"/>
                <a:stretch>
                  <a:fillRect l="-2324" t="-30000" b="-4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17"/>
          <p:cNvSpPr txBox="1"/>
          <p:nvPr/>
        </p:nvSpPr>
        <p:spPr>
          <a:xfrm>
            <a:off x="340209" y="4422142"/>
            <a:ext cx="8495783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6</a:t>
            </a:r>
            <a:r>
              <a:rPr sz="2700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．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if</a:t>
            </a:r>
            <a:r>
              <a:rPr sz="2700" b="1" spc="667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 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</a:t>
            </a:r>
            <a:r>
              <a:rPr sz="2700" b="1" spc="-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spc="-14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</a:t>
            </a:r>
            <a:r>
              <a:rPr lang="en-US" altLang="zh-CN" sz="27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S</a:t>
            </a:r>
            <a:r>
              <a:rPr lang="en-US" altLang="zh-CN" sz="2700" b="1" baseline="-2500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 </a:t>
            </a:r>
            <a:r>
              <a:rPr sz="27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 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+ 1</a:t>
            </a:r>
            <a:r>
              <a:rPr sz="2700" b="1" spc="68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then</a:t>
            </a:r>
            <a:r>
              <a:rPr sz="2700" b="1" spc="688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输出</a:t>
            </a:r>
            <a:r>
              <a:rPr sz="270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9"/>
              <p:cNvSpPr txBox="1"/>
              <p:nvPr/>
            </p:nvSpPr>
            <p:spPr>
              <a:xfrm>
                <a:off x="340210" y="4858343"/>
                <a:ext cx="6657356" cy="42319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333"/>
                  </a:lnSpc>
                </a:pPr>
                <a:r>
                  <a:rPr sz="27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7</a:t>
                </a:r>
                <a:r>
                  <a:rPr sz="2700" spc="12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．</a:t>
                </a:r>
                <a:r>
                  <a:rPr sz="27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else</a:t>
                </a:r>
                <a:r>
                  <a:rPr sz="2700" b="1" spc="-37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</a:t>
                </a:r>
                <a:r>
                  <a:rPr sz="27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if</a:t>
                </a:r>
                <a:r>
                  <a:rPr sz="2700" b="1" spc="68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</a:t>
                </a:r>
                <a:r>
                  <a:rPr sz="2700" b="1" i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k </a:t>
                </a:r>
                <a14:m>
                  <m:oMath xmlns:m="http://schemas.openxmlformats.org/officeDocument/2006/math">
                    <m:r>
                      <a:rPr lang="en-US" sz="2700" b="1" i="1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≤</m:t>
                    </m:r>
                  </m:oMath>
                </a14:m>
                <a:r>
                  <a:rPr sz="27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</a:t>
                </a:r>
                <a:r>
                  <a:rPr sz="2700" b="1" spc="-14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|</a:t>
                </a:r>
                <a:r>
                  <a:rPr lang="en-US" altLang="zh-CN" sz="2700" b="1" i="1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S</a:t>
                </a:r>
                <a:r>
                  <a:rPr lang="en-US" altLang="zh-CN" sz="2700" b="1" baseline="-25000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1 </a:t>
                </a:r>
                <a:r>
                  <a:rPr sz="27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|</a:t>
                </a:r>
                <a:endParaRPr sz="2700" b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10" y="4858343"/>
                <a:ext cx="6657356" cy="423193"/>
              </a:xfrm>
              <a:prstGeom prst="rect">
                <a:avLst/>
              </a:prstGeom>
              <a:blipFill rotWithShape="1">
                <a:blip r:embed="rId3"/>
                <a:stretch>
                  <a:fillRect l="-3114" t="-31884" b="-420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bject 22"/>
          <p:cNvSpPr txBox="1"/>
          <p:nvPr/>
        </p:nvSpPr>
        <p:spPr>
          <a:xfrm>
            <a:off x="340210" y="5324867"/>
            <a:ext cx="8640161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8</a:t>
            </a:r>
            <a:r>
              <a:rPr sz="270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．</a:t>
            </a:r>
            <a:r>
              <a:rPr sz="2700" spc="408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then</a:t>
            </a:r>
            <a:r>
              <a:rPr sz="2700" b="1" spc="68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Select</a:t>
            </a:r>
            <a:r>
              <a:rPr sz="2700" b="1" spc="-2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spc="14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sz="27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700" b="1" baseline="-2500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sz="27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</a:t>
            </a:r>
            <a:r>
              <a:rPr sz="27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40209" y="5785629"/>
            <a:ext cx="72902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9.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468616" y="5766379"/>
            <a:ext cx="8791911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else</a:t>
            </a:r>
            <a:r>
              <a:rPr sz="2700" b="1" spc="653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Select</a:t>
            </a:r>
            <a:r>
              <a:rPr sz="2700" b="1" spc="-23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700" b="1" spc="19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sz="27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700" b="1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27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</a:t>
            </a:r>
            <a:r>
              <a:rPr sz="27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</a:t>
            </a:r>
            <a:r>
              <a:rPr sz="2700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－</a:t>
            </a:r>
            <a:r>
              <a:rPr sz="2700" b="1" spc="-14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</a:t>
            </a:r>
            <a:r>
              <a:rPr lang="en-US" altLang="zh-CN" sz="27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700" b="1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sz="2700" b="1" spc="-14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</a:t>
            </a:r>
            <a:r>
              <a:rPr sz="2700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－</a:t>
            </a:r>
            <a:r>
              <a:rPr sz="27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1)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40209" y="2501428"/>
            <a:ext cx="8919294" cy="889346"/>
            <a:chOff x="340209" y="2501428"/>
            <a:chExt cx="8919294" cy="8893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bject 8"/>
                <p:cNvSpPr txBox="1"/>
                <p:nvPr/>
              </p:nvSpPr>
              <p:spPr>
                <a:xfrm>
                  <a:off x="340209" y="2501428"/>
                  <a:ext cx="8919294" cy="889346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>
                    <a:lnSpc>
                      <a:spcPts val="3016"/>
                    </a:lnSpc>
                    <a:spcBef>
                      <a:spcPts val="600"/>
                    </a:spcBef>
                  </a:pPr>
                  <a:r>
                    <a:rPr sz="2700" b="1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2</a:t>
                  </a:r>
                  <a:r>
                    <a:rPr sz="2700" spc="12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．每组排序</a:t>
                  </a:r>
                  <a:r>
                    <a:rPr sz="2700" b="1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,</a:t>
                  </a:r>
                  <a:r>
                    <a:rPr sz="2700" spc="12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中位数放到集合</a:t>
                  </a:r>
                  <a:r>
                    <a:rPr sz="2700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 </a:t>
                  </a:r>
                  <a:r>
                    <a:rPr sz="2700" b="1" i="1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M</a:t>
                  </a:r>
                </a:p>
                <a:p>
                  <a:pPr>
                    <a:lnSpc>
                      <a:spcPts val="3333"/>
                    </a:lnSpc>
                    <a:spcBef>
                      <a:spcPts val="600"/>
                    </a:spcBef>
                  </a:pPr>
                  <a:r>
                    <a:rPr sz="2700" b="1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3</a:t>
                  </a:r>
                  <a:r>
                    <a:rPr sz="2700" spc="12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．</a:t>
                  </a:r>
                  <a:r>
                    <a:rPr sz="2700" b="1" i="1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m</a:t>
                  </a:r>
                  <a:r>
                    <a:rPr sz="2700" b="1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*</a:t>
                  </a:r>
                  <a:r>
                    <a:rPr sz="2700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</a:t>
                  </a:r>
                  <a:r>
                    <a:rPr lang="en-US" sz="2700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 </a:t>
                  </a:r>
                  <a:r>
                    <a:rPr sz="2700" b="1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Select(</a:t>
                  </a:r>
                  <a:r>
                    <a:rPr sz="2700" b="1" i="1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M</a:t>
                  </a:r>
                  <a:r>
                    <a:rPr sz="2700" b="1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,</a:t>
                  </a:r>
                  <a:r>
                    <a:rPr lang="en-US" altLang="zh-CN" sz="2700" b="1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altLang="zh-CN" sz="2700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itchFamily="49" charset="-122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CN" sz="2700" b="1" spc="-14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黑体" pitchFamily="49" charset="-122"/>
                              <a:cs typeface="Times New Roman" pitchFamily="18" charset="0"/>
                            </a:rPr>
                            <m:t>|</m:t>
                          </m:r>
                          <m:r>
                            <m:rPr>
                              <m:nor/>
                            </m:rPr>
                            <a:rPr lang="en-US" altLang="zh-CN" sz="2700" b="1" i="1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黑体" pitchFamily="49" charset="-122"/>
                              <a:cs typeface="Times New Roman" pitchFamily="18" charset="0"/>
                            </a:rPr>
                            <m:t>M</m:t>
                          </m:r>
                          <m:r>
                            <m:rPr>
                              <m:nor/>
                            </m:rPr>
                            <a:rPr lang="en-US" altLang="zh-CN" sz="2700" b="1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黑体" pitchFamily="49" charset="-122"/>
                              <a:cs typeface="Times New Roman" pitchFamily="18" charset="0"/>
                            </a:rPr>
                            <m:t>|/</m:t>
                          </m:r>
                          <m:r>
                            <m:rPr>
                              <m:nor/>
                            </m:rPr>
                            <a:rPr lang="en-US" altLang="zh-CN" sz="2700" b="1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黑体" pitchFamily="49" charset="-122"/>
                              <a:cs typeface="Times New Roman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2700" b="1" i="1" dirty="0">
                          <a:solidFill>
                            <a:srgbClr val="000000"/>
                          </a:solidFill>
                          <a:latin typeface="Cambria Math"/>
                          <a:ea typeface="黑体" pitchFamily="49" charset="-122"/>
                          <a:cs typeface="Times New Roman" pitchFamily="18" charset="0"/>
                        </a:rPr>
                        <m:t> </m:t>
                      </m:r>
                    </m:oMath>
                  </a14:m>
                  <a:r>
                    <a:rPr sz="2700" b="1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)</a:t>
                  </a:r>
                  <a:r>
                    <a:rPr sz="2700" b="1" spc="-49" dirty="0" smtClean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 </a:t>
                  </a:r>
                  <a:r>
                    <a:rPr sz="2700" b="1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//</a:t>
                  </a:r>
                  <a:r>
                    <a:rPr sz="2700" b="1" i="1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S</a:t>
                  </a:r>
                  <a:r>
                    <a:rPr sz="2700" spc="12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分</a:t>
                  </a:r>
                  <a:r>
                    <a:rPr sz="2700" b="1" i="1" dirty="0">
                      <a:solidFill>
                        <a:srgbClr val="000000"/>
                      </a:solidFill>
                      <a:latin typeface="Times New Roman" pitchFamily="18" charset="0"/>
                      <a:ea typeface="黑体" pitchFamily="49" charset="-122"/>
                      <a:cs typeface="Times New Roman" pitchFamily="18" charset="0"/>
                    </a:rPr>
                    <a:t>A,B,C,D</a:t>
                  </a:r>
                </a:p>
              </p:txBody>
            </p:sp>
          </mc:Choice>
          <mc:Fallback xmlns="">
            <p:sp>
              <p:nvSpPr>
                <p:cNvPr id="8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209" y="2501428"/>
                  <a:ext cx="8919294" cy="889346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2324" t="-15753" b="-191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直接箭头连接符 31"/>
            <p:cNvCxnSpPr/>
            <p:nvPr/>
          </p:nvCxnSpPr>
          <p:spPr>
            <a:xfrm flipH="1">
              <a:off x="1262442" y="3157082"/>
              <a:ext cx="40272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340209" y="3461796"/>
            <a:ext cx="8919294" cy="859265"/>
            <a:chOff x="340209" y="3461796"/>
            <a:chExt cx="8919294" cy="859265"/>
          </a:xfrm>
        </p:grpSpPr>
        <p:sp>
          <p:nvSpPr>
            <p:cNvPr id="9" name="object 9"/>
            <p:cNvSpPr txBox="1"/>
            <p:nvPr/>
          </p:nvSpPr>
          <p:spPr>
            <a:xfrm>
              <a:off x="340209" y="3461796"/>
              <a:ext cx="8919294" cy="3847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3013"/>
                </a:lnSpc>
              </a:pPr>
              <a:r>
                <a:rPr sz="2700" b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4</a:t>
              </a:r>
              <a:r>
                <a:rPr sz="2700" spc="12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．</a:t>
              </a:r>
              <a:r>
                <a:rPr sz="2700" b="1" i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A,D</a:t>
              </a:r>
              <a:r>
                <a:rPr sz="2700" spc="12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元素小于</a:t>
              </a:r>
              <a:r>
                <a:rPr sz="2700" b="1" i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m</a:t>
              </a:r>
              <a:r>
                <a:rPr sz="2700" b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*</a:t>
              </a:r>
              <a:r>
                <a:rPr sz="2700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放</a:t>
              </a:r>
              <a:r>
                <a:rPr sz="2700" spc="12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sz="2700" b="1" i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S</a:t>
              </a:r>
              <a:r>
                <a:rPr lang="en-US" sz="2700" b="1" baseline="-250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1</a:t>
              </a:r>
              <a:r>
                <a:rPr sz="2700" b="1" i="1" spc="227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sz="2700" b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,</a:t>
              </a:r>
              <a:r>
                <a:rPr sz="2700" spc="12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大于</a:t>
              </a:r>
              <a:r>
                <a:rPr sz="2700" b="1" i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m</a:t>
              </a:r>
              <a:r>
                <a:rPr sz="2700" b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*</a:t>
              </a:r>
              <a:r>
                <a:rPr sz="2700" spc="12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放</a:t>
              </a:r>
              <a:r>
                <a:rPr lang="en-US" sz="2700" spc="12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lang="en-US" altLang="zh-CN" sz="2700" b="1" i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S</a:t>
              </a:r>
              <a:r>
                <a:rPr lang="en-US" altLang="zh-CN" sz="2700" b="1" baseline="-250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2</a:t>
              </a:r>
              <a:r>
                <a:rPr lang="en-US" altLang="zh-CN" sz="2700" b="1" i="1" spc="227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endParaRPr sz="27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340210" y="3897868"/>
              <a:ext cx="8640161" cy="42319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3337"/>
                </a:lnSpc>
              </a:pPr>
              <a:r>
                <a:rPr sz="2700" b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5</a:t>
              </a:r>
              <a:r>
                <a:rPr sz="2700" spc="12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．</a:t>
              </a:r>
              <a:r>
                <a:rPr lang="en-US" altLang="zh-CN" sz="2700" b="1" i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S</a:t>
              </a:r>
              <a:r>
                <a:rPr lang="en-US" altLang="zh-CN" sz="2700" b="1" baseline="-250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1</a:t>
              </a:r>
              <a:r>
                <a:rPr sz="2700" b="1" i="1" spc="667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sz="2700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 </a:t>
              </a:r>
              <a:r>
                <a:rPr lang="en-US" altLang="zh-CN" sz="2700" b="1" i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S</a:t>
              </a:r>
              <a:r>
                <a:rPr lang="en-US" altLang="zh-CN" sz="2700" b="1" baseline="-250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1 </a:t>
              </a:r>
              <a:r>
                <a:rPr lang="en-US" altLang="zh-CN" sz="2700" b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U </a:t>
              </a:r>
              <a:r>
                <a:rPr sz="2700" b="1" i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C</a:t>
              </a:r>
              <a:r>
                <a:rPr sz="2700" b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;</a:t>
              </a:r>
              <a:r>
                <a:rPr sz="2700" b="1" spc="1366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lang="en-US" altLang="zh-CN" sz="2700" b="1" i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S</a:t>
              </a:r>
              <a:r>
                <a:rPr lang="en-US" altLang="zh-CN" sz="2700" b="1" baseline="-25000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2</a:t>
              </a:r>
              <a:r>
                <a:rPr sz="2700" b="1" i="1" spc="68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sz="2700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 </a:t>
              </a:r>
              <a:r>
                <a:rPr lang="en-US" altLang="zh-CN" sz="2700" b="1" i="1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S</a:t>
              </a:r>
              <a:r>
                <a:rPr lang="en-US" altLang="zh-CN" sz="2700" b="1" baseline="-250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2</a:t>
              </a:r>
              <a:r>
                <a:rPr lang="en-US" altLang="zh-CN" sz="2700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lang="en-US" altLang="zh-CN" sz="27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U</a:t>
              </a:r>
              <a:r>
                <a:rPr sz="2700" dirty="0" smtClean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sz="2700" b="1" i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B</a:t>
              </a:r>
              <a:r>
                <a:rPr sz="2700" b="1" i="1" spc="2498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sz="2800" spc="12" dirty="0">
                  <a:solidFill>
                    <a:srgbClr val="C00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划分</a:t>
              </a:r>
            </a:p>
          </p:txBody>
        </p:sp>
        <p:cxnSp>
          <p:nvCxnSpPr>
            <p:cNvPr id="34" name="直接箭头连接符 33"/>
            <p:cNvCxnSpPr/>
            <p:nvPr/>
          </p:nvCxnSpPr>
          <p:spPr>
            <a:xfrm flipH="1">
              <a:off x="1300103" y="4107860"/>
              <a:ext cx="40272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 flipH="1">
              <a:off x="3488640" y="4107860"/>
              <a:ext cx="40272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6933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  <p:bldP spid="19" grpId="0"/>
      <p:bldP spid="22" grpId="0"/>
      <p:bldP spid="24" grpId="0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0209" y="284346"/>
            <a:ext cx="8900043" cy="567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017"/>
              </a:lnSpc>
            </a:pPr>
            <a:r>
              <a:rPr sz="40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用</a:t>
            </a:r>
            <a:r>
              <a:rPr sz="4000" b="1" i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m</a:t>
            </a:r>
            <a:r>
              <a:rPr sz="4000" b="1" spc="20" baseline="300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FKJJDH+ËÎÌå"/>
              </a:rPr>
              <a:t>*</a:t>
            </a:r>
            <a:r>
              <a:rPr sz="40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划分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24117" y="4969620"/>
            <a:ext cx="6033643" cy="820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5582">
              <a:lnSpc>
                <a:spcPts val="3013"/>
              </a:lnSpc>
            </a:pP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i="1" spc="-17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 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5(2</a:t>
            </a:r>
            <a:r>
              <a:rPr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 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+1),</a:t>
            </a:r>
            <a:r>
              <a:rPr sz="2800" b="1" spc="136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23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 =</a:t>
            </a:r>
            <a:r>
              <a:rPr sz="2800" b="1" spc="-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</a:t>
            </a:r>
            <a:r>
              <a:rPr sz="2800" b="1" spc="23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</a:t>
            </a:r>
            <a:r>
              <a:rPr sz="2800" b="1" spc="-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</a:t>
            </a:r>
          </a:p>
          <a:p>
            <a:pPr>
              <a:lnSpc>
                <a:spcPts val="3013"/>
              </a:lnSpc>
              <a:spcBef>
                <a:spcPts val="415"/>
              </a:spcBef>
            </a:pPr>
            <a:r>
              <a:rPr sz="2800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子问题规模至多：</a:t>
            </a:r>
            <a:r>
              <a:rPr sz="280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+2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+3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+2</a:t>
            </a:r>
            <a:r>
              <a:rPr sz="2800" b="1" spc="-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 7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+2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84292" y="6139314"/>
            <a:ext cx="333105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19"/>
              </a:lnSpc>
            </a:pPr>
            <a:r>
              <a:rPr sz="1400" b="1" dirty="0">
                <a:solidFill>
                  <a:srgbClr val="898989"/>
                </a:solidFill>
                <a:latin typeface="黑体" pitchFamily="49" charset="-122"/>
                <a:ea typeface="黑体" pitchFamily="49" charset="-122"/>
                <a:cs typeface="Arial"/>
              </a:rPr>
              <a:t>3</a:t>
            </a:r>
          </a:p>
        </p:txBody>
      </p:sp>
      <p:sp>
        <p:nvSpPr>
          <p:cNvPr id="6" name="object 1"/>
          <p:cNvSpPr/>
          <p:nvPr/>
        </p:nvSpPr>
        <p:spPr>
          <a:xfrm>
            <a:off x="1195461" y="952902"/>
            <a:ext cx="7315199" cy="3878980"/>
          </a:xfrm>
          <a:prstGeom prst="rect">
            <a:avLst/>
          </a:prstGeom>
          <a:blipFill>
            <a:blip r:embed="rId2" cstate="print"/>
            <a:srcRect/>
            <a:stretch>
              <a:fillRect t="-26047" r="-68856" b="-37894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733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727013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2013" y="315607"/>
            <a:ext cx="8932244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4375" algn="ctr">
              <a:lnSpc>
                <a:spcPts val="4530"/>
              </a:lnSpc>
            </a:pPr>
            <a:r>
              <a:rPr sz="4000" b="1" dirty="0" err="1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子问题规模估计</a:t>
            </a:r>
            <a:endParaRPr sz="4000" b="1" dirty="0">
              <a:solidFill>
                <a:srgbClr val="C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7089" y="3479372"/>
            <a:ext cx="4121066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21"/>
              </a:lnSpc>
            </a:pPr>
            <a:r>
              <a:rPr sz="2800" b="1" spc="16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划分后子问题规模至多为</a:t>
            </a:r>
          </a:p>
        </p:txBody>
      </p:sp>
      <p:sp>
        <p:nvSpPr>
          <p:cNvPr id="13" name="矩形 12"/>
          <p:cNvSpPr/>
          <p:nvPr/>
        </p:nvSpPr>
        <p:spPr>
          <a:xfrm>
            <a:off x="433787" y="1214716"/>
            <a:ext cx="896047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13"/>
              </a:lnSpc>
              <a:spcBef>
                <a:spcPts val="2413"/>
              </a:spcBef>
            </a:pPr>
            <a:r>
              <a:rPr lang="zh-CN" altLang="en-US" sz="2800" b="1" spc="16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不妨设</a:t>
            </a:r>
            <a:r>
              <a:rPr lang="zh-CN" altLang="en-US" sz="2800" b="1" spc="-19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</a:t>
            </a:r>
            <a:r>
              <a:rPr lang="en-US" altLang="zh-CN" sz="2800" b="1" spc="-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5(2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+1)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lang="en-US" altLang="zh-CN" sz="2800" b="1" spc="-1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|=|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|=2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r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endParaRPr lang="en-US" altLang="zh-CN" sz="2800" b="1" dirty="0">
              <a:solidFill>
                <a:srgbClr val="0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466" y="1999260"/>
            <a:ext cx="3415081" cy="106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665" y="4058904"/>
            <a:ext cx="4290980" cy="1915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416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727013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8758" y="238822"/>
            <a:ext cx="9038122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000" b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时间复杂度递推方程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7481" y="1417310"/>
            <a:ext cx="7939142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32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算法工作量</a:t>
            </a:r>
            <a:r>
              <a:rPr sz="3200" b="1" spc="669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W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7482" y="2070448"/>
            <a:ext cx="8189398" cy="21416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32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行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2: 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O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r>
              <a:rPr sz="3200" b="1" spc="68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//</a:t>
            </a:r>
            <a:r>
              <a:rPr sz="32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每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5</a:t>
            </a:r>
            <a:r>
              <a:rPr sz="3200" b="1" spc="1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个数找中位数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3200" b="1" spc="1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构成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</a:p>
          <a:p>
            <a:pPr>
              <a:lnSpc>
                <a:spcPts val="3013"/>
              </a:lnSpc>
              <a:spcBef>
                <a:spcPts val="1556"/>
              </a:spcBef>
            </a:pPr>
            <a:r>
              <a:rPr sz="32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行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3: 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W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/5)</a:t>
            </a:r>
            <a:r>
              <a:rPr sz="3200" b="1" spc="673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//</a:t>
            </a:r>
            <a:r>
              <a:rPr sz="3200" b="1" spc="-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 </a:t>
            </a:r>
            <a:r>
              <a:rPr sz="32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中找中位数</a:t>
            </a:r>
            <a:r>
              <a:rPr sz="3200" b="1" spc="17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*</a:t>
            </a:r>
          </a:p>
          <a:p>
            <a:pPr>
              <a:lnSpc>
                <a:spcPts val="3013"/>
              </a:lnSpc>
              <a:spcBef>
                <a:spcPts val="1615"/>
              </a:spcBef>
            </a:pPr>
            <a:r>
              <a:rPr sz="32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行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4: 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O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r>
              <a:rPr sz="3200" b="1" spc="340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//</a:t>
            </a:r>
            <a:r>
              <a:rPr sz="3200" b="1" spc="-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用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*</a:t>
            </a:r>
            <a:r>
              <a:rPr sz="32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划分集合</a:t>
            </a:r>
            <a:r>
              <a:rPr sz="3200" b="1" spc="-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</a:p>
          <a:p>
            <a:pPr>
              <a:lnSpc>
                <a:spcPts val="3013"/>
              </a:lnSpc>
              <a:spcBef>
                <a:spcPts val="1488"/>
              </a:spcBef>
            </a:pPr>
            <a:r>
              <a:rPr sz="32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行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8-9</a:t>
            </a:r>
            <a:r>
              <a:rPr sz="32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W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(7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/10)</a:t>
            </a:r>
            <a:r>
              <a:rPr sz="3200" b="1" spc="66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//</a:t>
            </a:r>
            <a:r>
              <a:rPr sz="32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递归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7482" y="4826390"/>
            <a:ext cx="8189398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37"/>
              </a:lnSpc>
            </a:pP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W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 </a:t>
            </a:r>
            <a:r>
              <a:rPr lang="en-US" altLang="zh-CN" sz="32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</a:t>
            </a:r>
            <a:r>
              <a:rPr sz="3200" b="1" spc="-1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W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/5) + 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W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(7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/10) + 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O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8552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05969" y="397020"/>
            <a:ext cx="2431686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30"/>
              </a:lnSpc>
            </a:pPr>
            <a:r>
              <a:rPr sz="45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递归树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15539" y="563761"/>
            <a:ext cx="6378205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16"/>
              </a:lnSpc>
            </a:pPr>
            <a:r>
              <a:rPr sz="32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W(n)=W(n/5)+W(7n/10)+</a:t>
            </a:r>
            <a:r>
              <a:rPr sz="3200" b="1" spc="-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cn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734" y="1263901"/>
            <a:ext cx="6114266" cy="4578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6910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3216" y="305988"/>
            <a:ext cx="8531908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000" b="1" spc="1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讨论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0554" y="1508412"/>
            <a:ext cx="8031947" cy="88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3200" b="1" spc="12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分组时为什么</a:t>
            </a:r>
            <a:r>
              <a:rPr sz="32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5</a:t>
            </a:r>
            <a:r>
              <a:rPr sz="3200" b="1" spc="12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个元素一组？</a:t>
            </a:r>
          </a:p>
          <a:p>
            <a:pPr>
              <a:lnSpc>
                <a:spcPts val="3013"/>
              </a:lnSpc>
              <a:spcBef>
                <a:spcPts val="875"/>
              </a:spcBef>
            </a:pPr>
            <a:r>
              <a:rPr sz="32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3</a:t>
            </a:r>
            <a:r>
              <a:rPr sz="3200" b="1" spc="12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个一组或</a:t>
            </a:r>
            <a:r>
              <a:rPr sz="3200" b="1" spc="-12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32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7</a:t>
            </a:r>
            <a:r>
              <a:rPr sz="3200" b="1" spc="12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个一组行不行？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3216" y="3056962"/>
            <a:ext cx="67031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21"/>
              </a:lnSpc>
            </a:pPr>
            <a:r>
              <a:rPr sz="3200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分析：递归调用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3216" y="3697569"/>
            <a:ext cx="8801416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3016"/>
              </a:lnSpc>
            </a:pP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1.</a:t>
            </a:r>
            <a:r>
              <a:rPr sz="3200" b="1" spc="-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求</a:t>
            </a:r>
            <a:r>
              <a:rPr sz="3200" spc="16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  <a:r>
              <a:rPr sz="32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*</a:t>
            </a:r>
            <a:r>
              <a:rPr lang="en-US" sz="32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spc="12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的工作量与</a:t>
            </a:r>
            <a:r>
              <a:rPr sz="32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-1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</a:t>
            </a:r>
            <a:r>
              <a:rPr sz="3200" b="1" spc="1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 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 </a:t>
            </a:r>
            <a:r>
              <a:rPr sz="3200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相</a:t>
            </a:r>
            <a:r>
              <a:rPr sz="3200" spc="14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关</a:t>
            </a:r>
            <a:r>
              <a:rPr sz="3200" spc="14" dirty="0" err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sz="3200" b="1" i="1" dirty="0" err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spc="1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为每组元素数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  <a:r>
              <a:rPr sz="32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sz="3200" b="1" i="1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3200" b="1" i="1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</a:t>
            </a:r>
            <a:r>
              <a:rPr lang="en-US" sz="32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大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3200" b="1" spc="-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-1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  <a:r>
              <a:rPr sz="3200" b="1" spc="-14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</a:t>
            </a:r>
            <a:r>
              <a:rPr lang="en-US" sz="3200" b="1" spc="-14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小</a:t>
            </a:r>
            <a:endParaRPr sz="3200" dirty="0">
              <a:solidFill>
                <a:srgbClr val="0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3215" y="4869249"/>
            <a:ext cx="8801417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3016"/>
              </a:lnSpc>
            </a:pP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2.</a:t>
            </a:r>
            <a:r>
              <a:rPr sz="3200" b="1" spc="-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spc="12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归约后子问题大小与分组元素</a:t>
            </a:r>
            <a:r>
              <a:rPr sz="3200" spc="16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r>
              <a:rPr lang="en-US" sz="3200" spc="16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 </a:t>
            </a:r>
            <a:r>
              <a:rPr sz="3200" spc="12" dirty="0" err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有关</a:t>
            </a:r>
            <a:r>
              <a:rPr sz="320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 </a:t>
            </a:r>
            <a:r>
              <a:rPr sz="3200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大，子问题规模大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18" y="1617466"/>
            <a:ext cx="820136" cy="775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298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49107" y="435522"/>
            <a:ext cx="8375641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000" b="1" spc="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FKJJDH+ËÎÌå"/>
              </a:rPr>
              <a:t>3</a:t>
            </a:r>
            <a:r>
              <a:rPr sz="4000" b="1" spc="1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分组时的子问题规模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2214" y="1465886"/>
            <a:ext cx="7765887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9"/>
              </a:lnSpc>
            </a:pPr>
            <a:r>
              <a:rPr sz="3200" b="1" spc="17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假设</a:t>
            </a:r>
            <a:r>
              <a:rPr sz="3200" b="1" spc="-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t </a:t>
            </a:r>
            <a:r>
              <a:rPr sz="32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=</a:t>
            </a:r>
            <a:r>
              <a:rPr lang="en-US" sz="32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32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3</a:t>
            </a:r>
            <a:r>
              <a:rPr sz="32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,</a:t>
            </a:r>
            <a:r>
              <a:rPr sz="3200" b="1" spc="723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3</a:t>
            </a:r>
            <a:r>
              <a:rPr sz="3200" b="1" spc="17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个一组</a:t>
            </a:r>
            <a:endParaRPr sz="3200" b="1" spc="17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STLLMM+ËÎÌå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2933" y="1982665"/>
            <a:ext cx="612104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41253" y="1982665"/>
            <a:ext cx="612104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3"/>
              </a:lnSpc>
            </a:pPr>
            <a:r>
              <a:rPr sz="27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3599" y="5446768"/>
            <a:ext cx="8953795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17"/>
              </a:lnSpc>
              <a:spcBef>
                <a:spcPts val="627"/>
              </a:spcBef>
            </a:pPr>
            <a:r>
              <a:rPr sz="3200" b="1" spc="17" dirty="0" err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子问题规模最多为</a:t>
            </a:r>
            <a:endParaRPr sz="2900" b="1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496" y="2041901"/>
            <a:ext cx="5137946" cy="1944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361" y="4101045"/>
            <a:ext cx="4995059" cy="119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368" y="5423894"/>
            <a:ext cx="2501109" cy="532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8416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727013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1026" y="285744"/>
            <a:ext cx="8758852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000" b="1" spc="1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算法的时间复杂度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664218" y="1520600"/>
                <a:ext cx="8585660" cy="138499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2721"/>
                  </a:lnSpc>
                </a:pPr>
                <a:r>
                  <a:rPr sz="2800" b="1" spc="12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算法的时间复杂度满足方程</a:t>
                </a:r>
              </a:p>
              <a:p>
                <a:pPr marL="250546">
                  <a:lnSpc>
                    <a:spcPts val="3013"/>
                  </a:lnSpc>
                  <a:spcBef>
                    <a:spcPts val="834"/>
                  </a:spcBef>
                </a:pPr>
                <a:r>
                  <a:rPr lang="en-US" sz="2800" b="1" i="1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                </a:t>
                </a:r>
                <a:r>
                  <a:rPr sz="2800" b="1" i="1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W</a:t>
                </a:r>
                <a:r>
                  <a:rPr sz="28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(</a:t>
                </a:r>
                <a:r>
                  <a:rPr sz="2800" b="1" i="1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n</a:t>
                </a:r>
                <a:r>
                  <a:rPr sz="28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) =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W</a:t>
                </a:r>
                <a:r>
                  <a:rPr sz="28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(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n</a:t>
                </a:r>
                <a:r>
                  <a:rPr sz="28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/3) +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W</a:t>
                </a:r>
                <a:r>
                  <a:rPr sz="28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(4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n</a:t>
                </a:r>
                <a:r>
                  <a:rPr sz="28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/6) +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cn</a:t>
                </a:r>
              </a:p>
              <a:p>
                <a:pPr>
                  <a:lnSpc>
                    <a:spcPts val="3333"/>
                  </a:lnSpc>
                  <a:spcBef>
                    <a:spcPts val="983"/>
                  </a:spcBef>
                </a:pPr>
                <a:r>
                  <a:rPr sz="2800" b="1" spc="12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由递归树得</a:t>
                </a:r>
                <a:r>
                  <a:rPr sz="2800" b="1" spc="1348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W</a:t>
                </a:r>
                <a:r>
                  <a:rPr sz="2800" b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(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n</a:t>
                </a:r>
                <a:r>
                  <a:rPr sz="28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)=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𝜣</m:t>
                    </m:r>
                  </m:oMath>
                </a14:m>
                <a:r>
                  <a:rPr lang="en-US" sz="2800" b="1" dirty="0" smtClean="0">
                    <a:solidFill>
                      <a:srgbClr val="C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(</a:t>
                </a:r>
                <a:r>
                  <a:rPr lang="en-US" sz="2800" b="1" i="1" dirty="0">
                    <a:solidFill>
                      <a:srgbClr val="C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n</a:t>
                </a:r>
                <a:r>
                  <a:rPr sz="2800" b="1" dirty="0">
                    <a:solidFill>
                      <a:srgbClr val="C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log</a:t>
                </a:r>
                <a:r>
                  <a:rPr sz="2800" b="1" i="1" dirty="0">
                    <a:solidFill>
                      <a:srgbClr val="C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n</a:t>
                </a:r>
                <a:r>
                  <a:rPr sz="2800" b="1" dirty="0">
                    <a:solidFill>
                      <a:srgbClr val="C0000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18" y="1520600"/>
                <a:ext cx="8585660" cy="1384995"/>
              </a:xfrm>
              <a:prstGeom prst="rect">
                <a:avLst/>
              </a:prstGeom>
              <a:blipFill rotWithShape="1">
                <a:blip r:embed="rId3"/>
                <a:stretch>
                  <a:fillRect l="-2557" t="-14912" b="-149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 txBox="1"/>
          <p:nvPr/>
        </p:nvSpPr>
        <p:spPr>
          <a:xfrm>
            <a:off x="664218" y="3662347"/>
            <a:ext cx="1461280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21"/>
              </a:lnSpc>
            </a:pPr>
            <a:r>
              <a:rPr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关键：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4218" y="4107452"/>
            <a:ext cx="8585659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ts val="3013"/>
              </a:lnSpc>
            </a:pPr>
            <a:r>
              <a:rPr sz="2800" b="1" i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|</a:t>
            </a:r>
            <a:r>
              <a:rPr sz="2800" b="1" i="1" dirty="0" err="1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M|</a:t>
            </a:r>
            <a:r>
              <a:rPr sz="2800" b="1" spc="12" dirty="0" err="1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与归约后子问题规模之和小于</a:t>
            </a:r>
            <a:r>
              <a:rPr sz="2800" b="1" i="1" dirty="0" err="1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sz="2800" b="1" spc="12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递归树每行的工作量构成公比小于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1</a:t>
            </a:r>
            <a:r>
              <a:rPr sz="2800" b="1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的等比级数，</a:t>
            </a:r>
            <a:r>
              <a:rPr sz="2800" b="1" spc="14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算法复杂度才是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O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3832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727013" cy="2354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5511" y="313813"/>
            <a:ext cx="8835990" cy="577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530"/>
              </a:lnSpc>
            </a:pPr>
            <a:r>
              <a:rPr sz="4000" b="1" spc="1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小结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3215" y="1542632"/>
            <a:ext cx="8698285" cy="872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6"/>
              </a:lnSpc>
            </a:pPr>
            <a:r>
              <a:rPr sz="32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选第</a:t>
            </a:r>
            <a:r>
              <a:rPr sz="3200" b="1" spc="-78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k </a:t>
            </a:r>
            <a:r>
              <a:rPr sz="32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小算法的时间分析</a:t>
            </a:r>
          </a:p>
          <a:p>
            <a:pPr>
              <a:lnSpc>
                <a:spcPts val="3040"/>
              </a:lnSpc>
              <a:spcBef>
                <a:spcPts val="821"/>
              </a:spcBef>
            </a:pPr>
            <a:r>
              <a:rPr sz="32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Arial"/>
              </a:rPr>
              <a:t>•</a:t>
            </a:r>
            <a:r>
              <a:rPr sz="3200" b="1" spc="12" dirty="0" err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递推方程</a:t>
            </a:r>
            <a:endParaRPr sz="3200" b="1" spc="12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STLLMM+ËÎÌå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215" y="2739229"/>
            <a:ext cx="8936169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40"/>
              </a:lnSpc>
            </a:pPr>
            <a:r>
              <a:rPr sz="32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Arial"/>
              </a:rPr>
              <a:t>•</a:t>
            </a:r>
            <a:r>
              <a:rPr sz="3200" b="1" spc="12" dirty="0" err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STLLMM+ËÎÌå"/>
              </a:rPr>
              <a:t>分组时每组元素数的多少对时间复杂度的影响</a:t>
            </a:r>
            <a:endParaRPr sz="3200" b="1" spc="12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STLLMM+ËÎÌå"/>
            </a:endParaRPr>
          </a:p>
        </p:txBody>
      </p:sp>
    </p:spTree>
    <p:extLst>
      <p:ext uri="{BB962C8B-B14F-4D97-AF65-F5344CB8AC3E}">
        <p14:creationId xmlns:p14="http://schemas.microsoft.com/office/powerpoint/2010/main" val="410391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828" y="2426436"/>
            <a:ext cx="8019393" cy="1029294"/>
          </a:xfrm>
          <a:prstGeom prst="rect">
            <a:avLst/>
          </a:prstGeom>
        </p:spPr>
        <p:txBody>
          <a:bodyPr vert="horz" wrap="square" lIns="0" tIns="13500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6"/>
              </a:spcBef>
            </a:pPr>
            <a:r>
              <a:rPr sz="6600" spc="-21" dirty="0"/>
              <a:t>卷</a:t>
            </a:r>
            <a:r>
              <a:rPr sz="6600" spc="-5" dirty="0"/>
              <a:t>积</a:t>
            </a:r>
            <a:r>
              <a:rPr sz="6600" spc="-21" dirty="0"/>
              <a:t>及</a:t>
            </a:r>
            <a:r>
              <a:rPr sz="6600" spc="-5" dirty="0"/>
              <a:t>其应</a:t>
            </a:r>
            <a:r>
              <a:rPr sz="6600" spc="-21" dirty="0"/>
              <a:t>用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211112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210" y="141828"/>
            <a:ext cx="8923935" cy="652805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向量计算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3739" y="1277516"/>
            <a:ext cx="1894232" cy="444519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给定向量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9257" y="1277516"/>
            <a:ext cx="5517791" cy="936962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27000">
              <a:lnSpc>
                <a:spcPts val="3040"/>
              </a:lnSpc>
              <a:spcBef>
                <a:spcPts val="600"/>
              </a:spcBef>
              <a:spcAft>
                <a:spcPts val="600"/>
              </a:spcAft>
            </a:pP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dirty="0">
                <a:latin typeface="Times New Roman"/>
                <a:cs typeface="Times New Roman"/>
              </a:rPr>
              <a:t>= (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baseline="-20833" dirty="0">
                <a:latin typeface="Times New Roman"/>
                <a:cs typeface="Times New Roman"/>
              </a:rPr>
              <a:t>0</a:t>
            </a:r>
            <a:r>
              <a:rPr sz="2800" b="1" dirty="0">
                <a:latin typeface="Times New Roman"/>
                <a:cs typeface="Times New Roman"/>
              </a:rPr>
              <a:t>,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 …,</a:t>
            </a:r>
            <a:r>
              <a:rPr sz="2800" b="1" spc="-112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-1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49275">
              <a:lnSpc>
                <a:spcPts val="3040"/>
              </a:lnSpc>
              <a:spcBef>
                <a:spcPts val="600"/>
              </a:spcBef>
              <a:spcAft>
                <a:spcPts val="600"/>
              </a:spcAft>
            </a:pPr>
            <a:r>
              <a:rPr sz="2800" b="1" i="1" dirty="0">
                <a:latin typeface="Times New Roman"/>
                <a:cs typeface="Times New Roman"/>
              </a:rPr>
              <a:t>b </a:t>
            </a:r>
            <a:r>
              <a:rPr sz="2800" b="1" dirty="0">
                <a:latin typeface="Times New Roman"/>
                <a:cs typeface="Times New Roman"/>
              </a:rPr>
              <a:t>= (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baseline="-20833" dirty="0">
                <a:latin typeface="Times New Roman"/>
                <a:cs typeface="Times New Roman"/>
              </a:rPr>
              <a:t>0</a:t>
            </a:r>
            <a:r>
              <a:rPr sz="2800" b="1" dirty="0">
                <a:latin typeface="Times New Roman"/>
                <a:cs typeface="Times New Roman"/>
              </a:rPr>
              <a:t>, 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 …,</a:t>
            </a:r>
            <a:r>
              <a:rPr sz="2800" b="1" spc="-96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-1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9182" y="2379142"/>
            <a:ext cx="8797811" cy="1383214"/>
          </a:xfrm>
          <a:prstGeom prst="rect">
            <a:avLst/>
          </a:prstGeom>
        </p:spPr>
        <p:txBody>
          <a:bodyPr vert="horz" wrap="square" lIns="0" tIns="94503" rIns="0" bIns="0" rtlCol="0">
            <a:spAutoFit/>
          </a:bodyPr>
          <a:lstStyle/>
          <a:p>
            <a:pPr marL="54000">
              <a:lnSpc>
                <a:spcPct val="150000"/>
              </a:lnSpc>
              <a:spcBef>
                <a:spcPts val="600"/>
              </a:spcBef>
            </a:pPr>
            <a:r>
              <a:rPr sz="2800" b="1" spc="-5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  <a:cs typeface="宋体"/>
              </a:rPr>
              <a:t>向量</a:t>
            </a:r>
            <a:r>
              <a:rPr sz="2800" b="1" spc="-11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  <a:cs typeface="宋体"/>
              </a:rPr>
              <a:t>和</a:t>
            </a:r>
            <a:r>
              <a:rPr sz="2800" b="1" spc="622" dirty="0">
                <a:solidFill>
                  <a:srgbClr val="CC0000"/>
                </a:solidFill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i="1" spc="-1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6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spc="-16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spc="-16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…,</a:t>
            </a:r>
            <a:r>
              <a:rPr sz="2800" b="1" spc="-1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-1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-1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54000">
              <a:lnSpc>
                <a:spcPct val="150000"/>
              </a:lnSpc>
              <a:spcBef>
                <a:spcPts val="600"/>
              </a:spcBef>
              <a:tabLst>
                <a:tab pos="1351360" algn="l"/>
              </a:tabLst>
            </a:pPr>
            <a:r>
              <a:rPr sz="2800" b="1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  <a:cs typeface="宋体"/>
              </a:rPr>
              <a:t>内</a:t>
            </a:r>
            <a:r>
              <a:rPr sz="2800" b="1" spc="-11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  <a:cs typeface="宋体"/>
              </a:rPr>
              <a:t>积</a:t>
            </a:r>
            <a:r>
              <a:rPr sz="2800" b="1" spc="-11" dirty="0">
                <a:solidFill>
                  <a:srgbClr val="CC0000"/>
                </a:solidFill>
                <a:latin typeface="宋体"/>
                <a:cs typeface="宋体"/>
              </a:rPr>
              <a:t>	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dirty="0">
                <a:latin typeface="Symbol"/>
                <a:cs typeface="Symbol"/>
              </a:rPr>
              <a:t></a:t>
            </a:r>
            <a:r>
              <a:rPr sz="2800" b="1" i="1" dirty="0">
                <a:latin typeface="Times New Roman"/>
                <a:cs typeface="Times New Roman"/>
              </a:rPr>
              <a:t>b </a:t>
            </a:r>
            <a:r>
              <a:rPr sz="2800" b="1" dirty="0">
                <a:latin typeface="Times New Roman"/>
                <a:cs typeface="Times New Roman"/>
              </a:rPr>
              <a:t>=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baseline="-20833" dirty="0">
                <a:latin typeface="Times New Roman"/>
                <a:cs typeface="Times New Roman"/>
              </a:rPr>
              <a:t>0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baseline="-20833" dirty="0">
                <a:latin typeface="Times New Roman"/>
                <a:cs typeface="Times New Roman"/>
              </a:rPr>
              <a:t>0 </a:t>
            </a:r>
            <a:r>
              <a:rPr sz="2800" b="1" dirty="0">
                <a:latin typeface="Times New Roman"/>
                <a:cs typeface="Times New Roman"/>
              </a:rPr>
              <a:t>+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baseline="-20833" dirty="0">
                <a:latin typeface="Times New Roman"/>
                <a:cs typeface="Times New Roman"/>
              </a:rPr>
              <a:t>1 </a:t>
            </a:r>
            <a:r>
              <a:rPr sz="2800" b="1" dirty="0">
                <a:latin typeface="Times New Roman"/>
                <a:cs typeface="Times New Roman"/>
              </a:rPr>
              <a:t>+ … +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b="1" i="1" spc="-5" dirty="0" smtClean="0">
                <a:latin typeface="Times New Roman"/>
                <a:cs typeface="Times New Roman"/>
              </a:rPr>
              <a:t>a</a:t>
            </a:r>
            <a:r>
              <a:rPr sz="2800" b="1" i="1" spc="-7" baseline="-20833" dirty="0" smtClean="0">
                <a:latin typeface="Times New Roman"/>
                <a:cs typeface="Times New Roman"/>
              </a:rPr>
              <a:t>n</a:t>
            </a:r>
            <a:r>
              <a:rPr sz="2800" b="1" spc="-7" baseline="-20833" dirty="0" smtClean="0">
                <a:latin typeface="Times New Roman"/>
                <a:cs typeface="Times New Roman"/>
              </a:rPr>
              <a:t>-1</a:t>
            </a:r>
            <a:r>
              <a:rPr sz="2800" b="1" i="1" spc="-5" dirty="0" smtClean="0">
                <a:latin typeface="Times New Roman"/>
                <a:cs typeface="Times New Roman"/>
              </a:rPr>
              <a:t>b</a:t>
            </a:r>
            <a:r>
              <a:rPr sz="2800" b="1" i="1" spc="-7" baseline="-20833" dirty="0" smtClean="0">
                <a:latin typeface="Times New Roman"/>
                <a:cs typeface="Times New Roman"/>
              </a:rPr>
              <a:t>n</a:t>
            </a:r>
            <a:r>
              <a:rPr sz="2800" b="1" spc="-7" baseline="-20833" dirty="0" smtClean="0">
                <a:latin typeface="Times New Roman"/>
                <a:cs typeface="Times New Roman"/>
              </a:rPr>
              <a:t>-1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891" y="4666778"/>
            <a:ext cx="5110485" cy="1118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363773" y="3971276"/>
            <a:ext cx="8127081" cy="1120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4000">
              <a:spcBef>
                <a:spcPts val="1281"/>
              </a:spcBef>
              <a:tabLst>
                <a:tab pos="1351360" algn="l"/>
              </a:tabLst>
            </a:pPr>
            <a:r>
              <a:rPr lang="zh-CN" altLang="en-US" sz="2800" b="1" spc="-5" dirty="0">
                <a:solidFill>
                  <a:srgbClr val="C00000"/>
                </a:solidFill>
                <a:latin typeface="宋体"/>
                <a:cs typeface="宋体"/>
              </a:rPr>
              <a:t>卷</a:t>
            </a:r>
            <a:r>
              <a:rPr lang="zh-CN" altLang="en-US" sz="2800" b="1" spc="-11" dirty="0">
                <a:solidFill>
                  <a:srgbClr val="C00000"/>
                </a:solidFill>
                <a:latin typeface="宋体"/>
                <a:cs typeface="宋体"/>
              </a:rPr>
              <a:t>积	</a:t>
            </a:r>
            <a:r>
              <a:rPr lang="en-US" altLang="zh-CN" sz="2800" b="1" i="1" spc="-11" dirty="0" err="1">
                <a:latin typeface="Times New Roman"/>
                <a:cs typeface="Times New Roman"/>
              </a:rPr>
              <a:t>a</a:t>
            </a:r>
            <a:r>
              <a:rPr lang="en-US" altLang="zh-CN" sz="2800" b="1" spc="-11" dirty="0" err="1">
                <a:latin typeface="Symbol"/>
                <a:cs typeface="Symbol"/>
              </a:rPr>
              <a:t></a:t>
            </a:r>
            <a:r>
              <a:rPr lang="en-US" altLang="zh-CN" sz="2800" b="1" i="1" spc="-11" dirty="0" err="1">
                <a:latin typeface="Times New Roman"/>
                <a:cs typeface="Times New Roman"/>
              </a:rPr>
              <a:t>b</a:t>
            </a:r>
            <a:r>
              <a:rPr lang="en-US" altLang="zh-CN" sz="2800" b="1" i="1" spc="5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=</a:t>
            </a:r>
            <a:r>
              <a:rPr lang="en-US" altLang="zh-CN" sz="2800" b="1" spc="-11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(</a:t>
            </a:r>
            <a:r>
              <a:rPr lang="en-US" altLang="zh-CN" sz="2800" b="1" i="1" dirty="0">
                <a:latin typeface="Times New Roman"/>
                <a:cs typeface="Times New Roman"/>
              </a:rPr>
              <a:t>c</a:t>
            </a:r>
            <a:r>
              <a:rPr lang="en-US" altLang="zh-CN" sz="2800" b="1" baseline="-20833" dirty="0">
                <a:latin typeface="Times New Roman"/>
                <a:cs typeface="Times New Roman"/>
              </a:rPr>
              <a:t>0</a:t>
            </a:r>
            <a:r>
              <a:rPr lang="en-US" altLang="zh-CN" sz="2800" b="1" dirty="0">
                <a:latin typeface="Times New Roman"/>
                <a:cs typeface="Times New Roman"/>
              </a:rPr>
              <a:t>,</a:t>
            </a:r>
            <a:r>
              <a:rPr lang="en-US" altLang="zh-CN" sz="2800" b="1" spc="-16" dirty="0">
                <a:latin typeface="Times New Roman"/>
                <a:cs typeface="Times New Roman"/>
              </a:rPr>
              <a:t> </a:t>
            </a:r>
            <a:r>
              <a:rPr lang="en-US" altLang="zh-CN" sz="2800" b="1" i="1" dirty="0">
                <a:latin typeface="Times New Roman"/>
                <a:cs typeface="Times New Roman"/>
              </a:rPr>
              <a:t>c</a:t>
            </a:r>
            <a:r>
              <a:rPr lang="en-US" altLang="zh-CN" sz="2800" b="1" baseline="-20833" dirty="0">
                <a:latin typeface="Times New Roman"/>
                <a:cs typeface="Times New Roman"/>
              </a:rPr>
              <a:t>1</a:t>
            </a:r>
            <a:r>
              <a:rPr lang="en-US" altLang="zh-CN" sz="2800" b="1" dirty="0">
                <a:latin typeface="Times New Roman"/>
                <a:cs typeface="Times New Roman"/>
              </a:rPr>
              <a:t>,</a:t>
            </a:r>
            <a:r>
              <a:rPr lang="en-US" altLang="zh-CN" sz="2800" b="1" spc="-21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…,</a:t>
            </a:r>
            <a:r>
              <a:rPr lang="en-US" altLang="zh-CN" sz="2800" b="1" spc="-11" dirty="0">
                <a:latin typeface="Times New Roman"/>
                <a:cs typeface="Times New Roman"/>
              </a:rPr>
              <a:t> </a:t>
            </a:r>
            <a:r>
              <a:rPr lang="en-US" altLang="zh-CN" sz="2800" b="1" i="1" spc="-5" dirty="0">
                <a:latin typeface="Times New Roman"/>
                <a:cs typeface="Times New Roman"/>
              </a:rPr>
              <a:t>c</a:t>
            </a:r>
            <a:r>
              <a:rPr lang="en-US" altLang="zh-CN" sz="2800" b="1" spc="-7" baseline="-20833" dirty="0">
                <a:latin typeface="Times New Roman"/>
                <a:cs typeface="Times New Roman"/>
              </a:rPr>
              <a:t>2</a:t>
            </a:r>
            <a:r>
              <a:rPr lang="en-US" altLang="zh-CN" sz="2800" b="1" i="1" spc="-7" baseline="-20833" dirty="0">
                <a:latin typeface="Times New Roman"/>
                <a:cs typeface="Times New Roman"/>
              </a:rPr>
              <a:t>n</a:t>
            </a:r>
            <a:r>
              <a:rPr lang="en-US" altLang="zh-CN" sz="2800" b="1" spc="-7" baseline="-20833" dirty="0">
                <a:latin typeface="Times New Roman"/>
                <a:cs typeface="Times New Roman"/>
              </a:rPr>
              <a:t>-2</a:t>
            </a:r>
            <a:r>
              <a:rPr lang="en-US" altLang="zh-CN" sz="2800" b="1" spc="-5" dirty="0">
                <a:latin typeface="Times New Roman"/>
                <a:cs typeface="Times New Roman"/>
              </a:rPr>
              <a:t>)</a:t>
            </a:r>
            <a:r>
              <a:rPr lang="zh-CN" altLang="en-US" sz="2800" b="1" spc="-5" dirty="0">
                <a:latin typeface="宋体"/>
                <a:cs typeface="宋体"/>
              </a:rPr>
              <a:t>，其中</a:t>
            </a:r>
            <a:endParaRPr lang="zh-CN" altLang="en-US" sz="2800" dirty="0">
              <a:latin typeface="宋体"/>
              <a:cs typeface="宋体"/>
            </a:endParaRPr>
          </a:p>
          <a:p>
            <a:pPr marL="54000">
              <a:spcBef>
                <a:spcPts val="1281"/>
              </a:spcBef>
              <a:tabLst>
                <a:tab pos="1351360" algn="l"/>
              </a:tabLst>
            </a:pPr>
            <a:r>
              <a:rPr lang="zh-CN" altLang="en-US" sz="2800" b="1" i="1" spc="64" dirty="0">
                <a:latin typeface="宋体"/>
                <a:cs typeface="Times New Roman"/>
              </a:rPr>
              <a:t>       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674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385" y="162087"/>
            <a:ext cx="9053883" cy="652805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b="1" spc="-1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卷积的含义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7729" y="3728540"/>
            <a:ext cx="565665" cy="406175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500">
              <a:spcBef>
                <a:spcPts val="106"/>
              </a:spcBef>
            </a:pPr>
            <a:r>
              <a:rPr sz="2551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551" b="1" spc="-7" baseline="-20833" dirty="0">
                <a:solidFill>
                  <a:srgbClr val="006FC0"/>
                </a:solidFill>
                <a:latin typeface="Times New Roman"/>
                <a:cs typeface="Times New Roman"/>
              </a:rPr>
              <a:t>1</a:t>
            </a:r>
            <a:r>
              <a:rPr sz="2551" b="1" spc="-103" baseline="-20833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551" b="1" i="1" dirty="0">
                <a:solidFill>
                  <a:srgbClr val="006FC0"/>
                </a:solidFill>
                <a:latin typeface="Times New Roman"/>
                <a:cs typeface="Times New Roman"/>
              </a:rPr>
              <a:t>b</a:t>
            </a:r>
            <a:endParaRPr sz="255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75436" y="3262643"/>
            <a:ext cx="2364589" cy="406175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54000">
              <a:spcBef>
                <a:spcPts val="106"/>
              </a:spcBef>
              <a:tabLst>
                <a:tab pos="867381" algn="l"/>
                <a:tab pos="1890689" algn="l"/>
              </a:tabLst>
            </a:pPr>
            <a:r>
              <a:rPr sz="2551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551" b="1" spc="-7" baseline="-20833" dirty="0">
                <a:solidFill>
                  <a:srgbClr val="006FC0"/>
                </a:solidFill>
                <a:latin typeface="Times New Roman"/>
                <a:cs typeface="Times New Roman"/>
              </a:rPr>
              <a:t>0</a:t>
            </a:r>
            <a:r>
              <a:rPr sz="2551" b="1" spc="-16" baseline="-20833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551" b="1" i="1" dirty="0">
                <a:solidFill>
                  <a:srgbClr val="006FC0"/>
                </a:solidFill>
                <a:latin typeface="Times New Roman"/>
                <a:cs typeface="Times New Roman"/>
              </a:rPr>
              <a:t>b	</a:t>
            </a:r>
            <a:r>
              <a:rPr sz="2551" b="1" i="1" dirty="0">
                <a:latin typeface="Times New Roman"/>
                <a:cs typeface="Times New Roman"/>
              </a:rPr>
              <a:t>a</a:t>
            </a:r>
            <a:r>
              <a:rPr sz="2551" b="1" baseline="-20833" dirty="0">
                <a:latin typeface="Times New Roman"/>
                <a:cs typeface="Times New Roman"/>
              </a:rPr>
              <a:t>0</a:t>
            </a:r>
            <a:r>
              <a:rPr sz="2551" b="1" i="1" dirty="0">
                <a:latin typeface="Times New Roman"/>
                <a:cs typeface="Times New Roman"/>
              </a:rPr>
              <a:t>b</a:t>
            </a:r>
            <a:r>
              <a:rPr sz="2551" b="1" baseline="-20833" dirty="0">
                <a:latin typeface="Times New Roman"/>
                <a:cs typeface="Times New Roman"/>
              </a:rPr>
              <a:t>0	</a:t>
            </a:r>
            <a:r>
              <a:rPr sz="2551" b="1" i="1" dirty="0">
                <a:latin typeface="Times New Roman"/>
                <a:cs typeface="Times New Roman"/>
              </a:rPr>
              <a:t>a</a:t>
            </a:r>
            <a:r>
              <a:rPr sz="2551" b="1" i="1" spc="133" dirty="0">
                <a:latin typeface="Times New Roman"/>
                <a:cs typeface="Times New Roman"/>
              </a:rPr>
              <a:t> </a:t>
            </a:r>
            <a:r>
              <a:rPr sz="2551" b="1" i="1" dirty="0">
                <a:latin typeface="Times New Roman"/>
                <a:cs typeface="Times New Roman"/>
              </a:rPr>
              <a:t>b</a:t>
            </a:r>
            <a:endParaRPr sz="255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5341" y="3450566"/>
            <a:ext cx="405686" cy="274689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13500">
              <a:spcBef>
                <a:spcPts val="101"/>
              </a:spcBef>
              <a:tabLst>
                <a:tab pos="283502" algn="l"/>
              </a:tabLst>
            </a:pPr>
            <a:r>
              <a:rPr sz="1701" b="1" spc="-5" dirty="0">
                <a:latin typeface="Times New Roman"/>
                <a:cs typeface="Times New Roman"/>
              </a:rPr>
              <a:t>0	1</a:t>
            </a:r>
            <a:endParaRPr sz="170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98875" y="2856011"/>
            <a:ext cx="1868450" cy="811671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67501">
              <a:spcBef>
                <a:spcPts val="106"/>
              </a:spcBef>
              <a:tabLst>
                <a:tab pos="1177209" algn="l"/>
              </a:tabLst>
            </a:pPr>
            <a:r>
              <a:rPr sz="3827" b="1" i="1" spc="-7" baseline="13888" dirty="0">
                <a:solidFill>
                  <a:srgbClr val="006FC0"/>
                </a:solidFill>
                <a:latin typeface="Times New Roman"/>
                <a:cs typeface="Times New Roman"/>
              </a:rPr>
              <a:t>ab</a:t>
            </a:r>
            <a:r>
              <a:rPr sz="1701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n</a:t>
            </a:r>
            <a:r>
              <a:rPr sz="1701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-2	</a:t>
            </a:r>
            <a:r>
              <a:rPr sz="3827" b="1" i="1" spc="-7" baseline="13888" dirty="0">
                <a:solidFill>
                  <a:srgbClr val="006FC0"/>
                </a:solidFill>
                <a:latin typeface="Times New Roman"/>
                <a:cs typeface="Times New Roman"/>
              </a:rPr>
              <a:t>ab</a:t>
            </a:r>
            <a:r>
              <a:rPr sz="1701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n</a:t>
            </a:r>
            <a:r>
              <a:rPr sz="1701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-1</a:t>
            </a:r>
            <a:endParaRPr sz="1701">
              <a:latin typeface="Times New Roman"/>
              <a:cs typeface="Times New Roman"/>
            </a:endParaRPr>
          </a:p>
          <a:p>
            <a:pPr marL="67501">
              <a:spcBef>
                <a:spcPts val="138"/>
              </a:spcBef>
              <a:tabLst>
                <a:tab pos="1140083" algn="l"/>
              </a:tabLst>
            </a:pPr>
            <a:r>
              <a:rPr sz="2551" b="1" i="1" dirty="0">
                <a:latin typeface="Times New Roman"/>
                <a:cs typeface="Times New Roman"/>
              </a:rPr>
              <a:t>a</a:t>
            </a:r>
            <a:r>
              <a:rPr sz="2551" b="1" i="1" spc="213" dirty="0">
                <a:latin typeface="Times New Roman"/>
                <a:cs typeface="Times New Roman"/>
              </a:rPr>
              <a:t> </a:t>
            </a:r>
            <a:r>
              <a:rPr sz="2551" b="1" i="1" dirty="0">
                <a:latin typeface="Times New Roman"/>
                <a:cs typeface="Times New Roman"/>
              </a:rPr>
              <a:t>b	a</a:t>
            </a:r>
            <a:r>
              <a:rPr sz="2551" b="1" i="1" spc="181" dirty="0">
                <a:latin typeface="Times New Roman"/>
                <a:cs typeface="Times New Roman"/>
              </a:rPr>
              <a:t> </a:t>
            </a:r>
            <a:r>
              <a:rPr sz="2551" b="1" i="1" dirty="0">
                <a:latin typeface="Times New Roman"/>
                <a:cs typeface="Times New Roman"/>
              </a:rPr>
              <a:t>b</a:t>
            </a:r>
            <a:endParaRPr sz="255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4881" y="3450567"/>
            <a:ext cx="1669320" cy="274689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13500">
              <a:spcBef>
                <a:spcPts val="101"/>
              </a:spcBef>
              <a:tabLst>
                <a:tab pos="283502" algn="l"/>
                <a:tab pos="1086083" algn="l"/>
                <a:tab pos="1356085" algn="l"/>
              </a:tabLst>
            </a:pPr>
            <a:r>
              <a:rPr sz="1701" b="1" spc="-5" dirty="0">
                <a:latin typeface="Times New Roman"/>
                <a:cs typeface="Times New Roman"/>
              </a:rPr>
              <a:t>0	</a:t>
            </a:r>
            <a:r>
              <a:rPr sz="1701" b="1" i="1" spc="-5" dirty="0">
                <a:latin typeface="Times New Roman"/>
                <a:cs typeface="Times New Roman"/>
              </a:rPr>
              <a:t>n</a:t>
            </a:r>
            <a:r>
              <a:rPr sz="1701" b="1" spc="-11" dirty="0">
                <a:latin typeface="Times New Roman"/>
                <a:cs typeface="Times New Roman"/>
              </a:rPr>
              <a:t>-</a:t>
            </a:r>
            <a:r>
              <a:rPr sz="1701" b="1" spc="-5" dirty="0">
                <a:latin typeface="Times New Roman"/>
                <a:cs typeface="Times New Roman"/>
              </a:rPr>
              <a:t>2</a:t>
            </a:r>
            <a:r>
              <a:rPr sz="1701" b="1" dirty="0">
                <a:latin typeface="Times New Roman"/>
                <a:cs typeface="Times New Roman"/>
              </a:rPr>
              <a:t>	</a:t>
            </a:r>
            <a:r>
              <a:rPr sz="1701" b="1" spc="-5" dirty="0">
                <a:latin typeface="Times New Roman"/>
                <a:cs typeface="Times New Roman"/>
              </a:rPr>
              <a:t>0</a:t>
            </a:r>
            <a:r>
              <a:rPr sz="1701" b="1" dirty="0">
                <a:latin typeface="Times New Roman"/>
                <a:cs typeface="Times New Roman"/>
              </a:rPr>
              <a:t>	</a:t>
            </a:r>
            <a:r>
              <a:rPr sz="1701" b="1" i="1" spc="-5" dirty="0">
                <a:latin typeface="Times New Roman"/>
                <a:cs typeface="Times New Roman"/>
              </a:rPr>
              <a:t>n</a:t>
            </a:r>
            <a:r>
              <a:rPr sz="1701" b="1" spc="-11" dirty="0">
                <a:latin typeface="Times New Roman"/>
                <a:cs typeface="Times New Roman"/>
              </a:rPr>
              <a:t>-</a:t>
            </a:r>
            <a:r>
              <a:rPr sz="1701" b="1" spc="-5" dirty="0">
                <a:latin typeface="Times New Roman"/>
                <a:cs typeface="Times New Roman"/>
              </a:rPr>
              <a:t>1</a:t>
            </a:r>
            <a:endParaRPr sz="170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2522" y="3743796"/>
            <a:ext cx="621692" cy="406175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500">
              <a:spcBef>
                <a:spcPts val="106"/>
              </a:spcBef>
            </a:pPr>
            <a:r>
              <a:rPr sz="2551" b="1" i="1" dirty="0">
                <a:latin typeface="Times New Roman"/>
                <a:cs typeface="Times New Roman"/>
              </a:rPr>
              <a:t>a</a:t>
            </a:r>
            <a:r>
              <a:rPr sz="2551" b="1" baseline="-20833" dirty="0">
                <a:latin typeface="Times New Roman"/>
                <a:cs typeface="Times New Roman"/>
              </a:rPr>
              <a:t>1</a:t>
            </a:r>
            <a:r>
              <a:rPr sz="2551" b="1" i="1" dirty="0">
                <a:latin typeface="Times New Roman"/>
                <a:cs typeface="Times New Roman"/>
              </a:rPr>
              <a:t>b</a:t>
            </a:r>
            <a:r>
              <a:rPr sz="2551" b="1" baseline="-20833" dirty="0">
                <a:latin typeface="Times New Roman"/>
                <a:cs typeface="Times New Roman"/>
              </a:rPr>
              <a:t>0</a:t>
            </a:r>
            <a:endParaRPr sz="2551" baseline="-2083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26336" y="3743796"/>
            <a:ext cx="621692" cy="406175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500">
              <a:spcBef>
                <a:spcPts val="106"/>
              </a:spcBef>
            </a:pPr>
            <a:r>
              <a:rPr sz="2551" b="1" i="1" dirty="0">
                <a:latin typeface="Times New Roman"/>
                <a:cs typeface="Times New Roman"/>
              </a:rPr>
              <a:t>a</a:t>
            </a:r>
            <a:r>
              <a:rPr sz="2551" b="1" baseline="-20833" dirty="0">
                <a:latin typeface="Times New Roman"/>
                <a:cs typeface="Times New Roman"/>
              </a:rPr>
              <a:t>1</a:t>
            </a:r>
            <a:r>
              <a:rPr sz="2551" b="1" i="1" dirty="0">
                <a:latin typeface="Times New Roman"/>
                <a:cs typeface="Times New Roman"/>
              </a:rPr>
              <a:t>b</a:t>
            </a:r>
            <a:r>
              <a:rPr sz="2551" b="1" baseline="-20833" dirty="0">
                <a:latin typeface="Times New Roman"/>
                <a:cs typeface="Times New Roman"/>
              </a:rPr>
              <a:t>1</a:t>
            </a:r>
            <a:endParaRPr sz="2551" baseline="-2083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25875" y="3823176"/>
            <a:ext cx="812722" cy="406303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500">
              <a:spcBef>
                <a:spcPts val="106"/>
              </a:spcBef>
            </a:pPr>
            <a:r>
              <a:rPr sz="3827" b="1" i="1" spc="-7" baseline="13888" dirty="0">
                <a:latin typeface="Times New Roman"/>
                <a:cs typeface="Times New Roman"/>
              </a:rPr>
              <a:t>a</a:t>
            </a:r>
            <a:r>
              <a:rPr sz="1701" b="1" spc="-5" dirty="0">
                <a:latin typeface="Times New Roman"/>
                <a:cs typeface="Times New Roman"/>
              </a:rPr>
              <a:t>1</a:t>
            </a:r>
            <a:r>
              <a:rPr sz="3827" b="1" i="1" spc="-7" baseline="13888" dirty="0">
                <a:latin typeface="Times New Roman"/>
                <a:cs typeface="Times New Roman"/>
              </a:rPr>
              <a:t>b</a:t>
            </a:r>
            <a:r>
              <a:rPr sz="1701" b="1" i="1" spc="-5" dirty="0">
                <a:latin typeface="Times New Roman"/>
                <a:cs typeface="Times New Roman"/>
              </a:rPr>
              <a:t>n</a:t>
            </a:r>
            <a:r>
              <a:rPr sz="1701" b="1" spc="-5" dirty="0">
                <a:latin typeface="Times New Roman"/>
                <a:cs typeface="Times New Roman"/>
              </a:rPr>
              <a:t>-2</a:t>
            </a:r>
            <a:endParaRPr sz="170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98614" y="3823176"/>
            <a:ext cx="812722" cy="406303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500">
              <a:spcBef>
                <a:spcPts val="106"/>
              </a:spcBef>
            </a:pPr>
            <a:r>
              <a:rPr sz="3827" b="1" i="1" spc="-7" baseline="13888" dirty="0">
                <a:latin typeface="Times New Roman"/>
                <a:cs typeface="Times New Roman"/>
              </a:rPr>
              <a:t>a</a:t>
            </a:r>
            <a:r>
              <a:rPr sz="1701" b="1" spc="-5" dirty="0">
                <a:latin typeface="Times New Roman"/>
                <a:cs typeface="Times New Roman"/>
              </a:rPr>
              <a:t>1</a:t>
            </a:r>
            <a:r>
              <a:rPr sz="3827" b="1" i="1" spc="-7" baseline="13888" dirty="0">
                <a:latin typeface="Times New Roman"/>
                <a:cs typeface="Times New Roman"/>
              </a:rPr>
              <a:t>b</a:t>
            </a:r>
            <a:r>
              <a:rPr sz="1701" b="1" i="1" spc="-5" dirty="0">
                <a:latin typeface="Times New Roman"/>
                <a:cs typeface="Times New Roman"/>
              </a:rPr>
              <a:t>n</a:t>
            </a:r>
            <a:r>
              <a:rPr sz="1701" b="1" spc="-5" dirty="0">
                <a:latin typeface="Times New Roman"/>
                <a:cs typeface="Times New Roman"/>
              </a:rPr>
              <a:t>-1</a:t>
            </a:r>
            <a:endParaRPr sz="170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7892" y="5038533"/>
            <a:ext cx="2107407" cy="406303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500">
              <a:spcBef>
                <a:spcPts val="106"/>
              </a:spcBef>
              <a:tabLst>
                <a:tab pos="1143458" algn="l"/>
              </a:tabLst>
            </a:pPr>
            <a:r>
              <a:rPr sz="3827" b="1" i="1" spc="-7" baseline="13888" dirty="0">
                <a:latin typeface="Times New Roman"/>
                <a:cs typeface="Times New Roman"/>
              </a:rPr>
              <a:t>a</a:t>
            </a:r>
            <a:r>
              <a:rPr sz="1701" b="1" i="1" spc="-5" dirty="0">
                <a:latin typeface="Times New Roman"/>
                <a:cs typeface="Times New Roman"/>
              </a:rPr>
              <a:t>n</a:t>
            </a:r>
            <a:r>
              <a:rPr sz="1701" b="1" spc="-5" dirty="0">
                <a:latin typeface="Times New Roman"/>
                <a:cs typeface="Times New Roman"/>
              </a:rPr>
              <a:t>-1</a:t>
            </a:r>
            <a:r>
              <a:rPr sz="3827" b="1" i="1" spc="-7" baseline="13888" dirty="0">
                <a:latin typeface="Times New Roman"/>
                <a:cs typeface="Times New Roman"/>
              </a:rPr>
              <a:t>b</a:t>
            </a:r>
            <a:r>
              <a:rPr sz="1701" b="1" i="1" spc="-5" dirty="0">
                <a:latin typeface="Times New Roman"/>
                <a:cs typeface="Times New Roman"/>
              </a:rPr>
              <a:t>n</a:t>
            </a:r>
            <a:r>
              <a:rPr sz="1701" b="1" spc="-5" dirty="0">
                <a:latin typeface="Times New Roman"/>
                <a:cs typeface="Times New Roman"/>
              </a:rPr>
              <a:t>-2	</a:t>
            </a:r>
            <a:r>
              <a:rPr sz="3827" b="1" i="1" spc="-7" baseline="13888" dirty="0">
                <a:latin typeface="Times New Roman"/>
                <a:cs typeface="Times New Roman"/>
              </a:rPr>
              <a:t>a</a:t>
            </a:r>
            <a:r>
              <a:rPr sz="1701" b="1" i="1" spc="-5" dirty="0">
                <a:latin typeface="Times New Roman"/>
                <a:cs typeface="Times New Roman"/>
              </a:rPr>
              <a:t>n</a:t>
            </a:r>
            <a:r>
              <a:rPr sz="1701" b="1" spc="-5" dirty="0">
                <a:latin typeface="Times New Roman"/>
                <a:cs typeface="Times New Roman"/>
              </a:rPr>
              <a:t>-1</a:t>
            </a:r>
            <a:r>
              <a:rPr sz="3827" b="1" i="1" spc="-7" baseline="13888" dirty="0">
                <a:latin typeface="Times New Roman"/>
                <a:cs typeface="Times New Roman"/>
              </a:rPr>
              <a:t>b</a:t>
            </a:r>
            <a:r>
              <a:rPr sz="1701" b="1" i="1" spc="-5" dirty="0">
                <a:latin typeface="Times New Roman"/>
                <a:cs typeface="Times New Roman"/>
              </a:rPr>
              <a:t>n</a:t>
            </a:r>
            <a:r>
              <a:rPr sz="1701" b="1" spc="-5" dirty="0">
                <a:latin typeface="Times New Roman"/>
                <a:cs typeface="Times New Roman"/>
              </a:rPr>
              <a:t>-1</a:t>
            </a:r>
            <a:endParaRPr sz="1701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89021" y="2723168"/>
            <a:ext cx="1618694" cy="471024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54000">
              <a:spcBef>
                <a:spcPts val="101"/>
              </a:spcBef>
              <a:tabLst>
                <a:tab pos="782331" algn="l"/>
                <a:tab pos="1132658" algn="l"/>
              </a:tabLst>
            </a:pPr>
            <a:r>
              <a:rPr sz="2551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ab</a:t>
            </a:r>
            <a:r>
              <a:rPr sz="2551" b="1" spc="-7" baseline="-20833" dirty="0">
                <a:solidFill>
                  <a:srgbClr val="006FC0"/>
                </a:solidFill>
                <a:latin typeface="Times New Roman"/>
                <a:cs typeface="Times New Roman"/>
              </a:rPr>
              <a:t>0	</a:t>
            </a:r>
            <a:r>
              <a:rPr sz="4465" b="1" i="1" spc="-7" baseline="-1984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551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ab</a:t>
            </a:r>
            <a:r>
              <a:rPr sz="2551" b="1" spc="-7" baseline="-20833" dirty="0">
                <a:solidFill>
                  <a:srgbClr val="006FC0"/>
                </a:solidFill>
                <a:latin typeface="Times New Roman"/>
                <a:cs typeface="Times New Roman"/>
              </a:rPr>
              <a:t>1</a:t>
            </a:r>
            <a:endParaRPr sz="2551" baseline="-20833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22713" y="3241054"/>
            <a:ext cx="153904" cy="319070"/>
          </a:xfrm>
          <a:prstGeom prst="rect">
            <a:avLst/>
          </a:prstGeom>
        </p:spPr>
        <p:txBody>
          <a:bodyPr vert="horz" wrap="square" lIns="0" tIns="16200" rIns="0" bIns="0" rtlCol="0">
            <a:spAutoFit/>
          </a:bodyPr>
          <a:lstStyle/>
          <a:p>
            <a:pPr marL="13500">
              <a:spcBef>
                <a:spcPts val="128"/>
              </a:spcBef>
            </a:pPr>
            <a:r>
              <a:rPr sz="1967" b="1" spc="11" dirty="0">
                <a:solidFill>
                  <a:srgbClr val="C00000"/>
                </a:solidFill>
                <a:latin typeface="Times New Roman"/>
                <a:cs typeface="Times New Roman"/>
              </a:rPr>
              <a:t>0</a:t>
            </a:r>
            <a:endParaRPr sz="1967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45497" y="3319074"/>
            <a:ext cx="729020" cy="324009"/>
          </a:xfrm>
          <a:custGeom>
            <a:avLst/>
            <a:gdLst/>
            <a:ahLst/>
            <a:cxnLst/>
            <a:rect l="l" t="t" r="r" b="b"/>
            <a:pathLst>
              <a:path w="685800" h="304800">
                <a:moveTo>
                  <a:pt x="0" y="304800"/>
                </a:moveTo>
                <a:lnTo>
                  <a:pt x="685800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17" name="object 17"/>
          <p:cNvSpPr txBox="1"/>
          <p:nvPr/>
        </p:nvSpPr>
        <p:spPr>
          <a:xfrm>
            <a:off x="2062184" y="4034053"/>
            <a:ext cx="95178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1913" b="1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1913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62184" y="4181477"/>
            <a:ext cx="95178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1913" b="1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1913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11175" y="4464362"/>
            <a:ext cx="1622744" cy="98748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500" marR="32400">
              <a:lnSpc>
                <a:spcPct val="123800"/>
              </a:lnSpc>
              <a:spcBef>
                <a:spcPts val="106"/>
              </a:spcBef>
              <a:tabLst>
                <a:tab pos="850506" algn="l"/>
              </a:tabLst>
            </a:pPr>
            <a:r>
              <a:rPr sz="3827" b="1" i="1" spc="-7" baseline="13888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551" b="1" i="1" spc="-7" baseline="1736" dirty="0">
                <a:solidFill>
                  <a:srgbClr val="006FC0"/>
                </a:solidFill>
                <a:latin typeface="Times New Roman"/>
                <a:cs typeface="Times New Roman"/>
              </a:rPr>
              <a:t>n</a:t>
            </a:r>
            <a:r>
              <a:rPr sz="2551" b="1" spc="-7" baseline="1736" dirty="0">
                <a:solidFill>
                  <a:srgbClr val="006FC0"/>
                </a:solidFill>
                <a:latin typeface="Times New Roman"/>
                <a:cs typeface="Times New Roman"/>
              </a:rPr>
              <a:t>-2 </a:t>
            </a:r>
            <a:r>
              <a:rPr sz="3827" b="1" i="1" baseline="13888" dirty="0">
                <a:solidFill>
                  <a:srgbClr val="006FC0"/>
                </a:solidFill>
                <a:latin typeface="Times New Roman"/>
                <a:cs typeface="Times New Roman"/>
              </a:rPr>
              <a:t>b </a:t>
            </a:r>
            <a:r>
              <a:rPr sz="3827" b="1" i="1" spc="-7" baseline="13888" dirty="0">
                <a:latin typeface="Times New Roman"/>
                <a:cs typeface="Times New Roman"/>
              </a:rPr>
              <a:t>a</a:t>
            </a:r>
            <a:r>
              <a:rPr sz="1701" b="1" i="1" spc="-5" dirty="0">
                <a:latin typeface="Times New Roman"/>
                <a:cs typeface="Times New Roman"/>
              </a:rPr>
              <a:t>n</a:t>
            </a:r>
            <a:r>
              <a:rPr sz="1701" b="1" spc="-5" dirty="0">
                <a:latin typeface="Times New Roman"/>
                <a:cs typeface="Times New Roman"/>
              </a:rPr>
              <a:t>-2</a:t>
            </a:r>
            <a:r>
              <a:rPr sz="3827" b="1" i="1" spc="-7" baseline="13888" dirty="0">
                <a:latin typeface="Times New Roman"/>
                <a:cs typeface="Times New Roman"/>
              </a:rPr>
              <a:t>b</a:t>
            </a:r>
            <a:r>
              <a:rPr sz="1701" b="1" spc="-5" dirty="0">
                <a:latin typeface="Times New Roman"/>
                <a:cs typeface="Times New Roman"/>
              </a:rPr>
              <a:t>0  </a:t>
            </a:r>
            <a:r>
              <a:rPr sz="3827" b="1" i="1" baseline="13888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1701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n</a:t>
            </a:r>
            <a:r>
              <a:rPr sz="1701" b="1" spc="-11" dirty="0">
                <a:solidFill>
                  <a:srgbClr val="006FC0"/>
                </a:solidFill>
                <a:latin typeface="Times New Roman"/>
                <a:cs typeface="Times New Roman"/>
              </a:rPr>
              <a:t>-</a:t>
            </a:r>
            <a:r>
              <a:rPr sz="1701" b="1" dirty="0">
                <a:solidFill>
                  <a:srgbClr val="006FC0"/>
                </a:solidFill>
                <a:latin typeface="Times New Roman"/>
                <a:cs typeface="Times New Roman"/>
              </a:rPr>
              <a:t>1</a:t>
            </a:r>
            <a:r>
              <a:rPr sz="3827" b="1" i="1" baseline="13888" dirty="0">
                <a:solidFill>
                  <a:srgbClr val="006FC0"/>
                </a:solidFill>
                <a:latin typeface="Times New Roman"/>
                <a:cs typeface="Times New Roman"/>
              </a:rPr>
              <a:t>b	</a:t>
            </a:r>
            <a:r>
              <a:rPr sz="3827" b="1" i="1" baseline="13888" dirty="0">
                <a:latin typeface="Times New Roman"/>
                <a:cs typeface="Times New Roman"/>
              </a:rPr>
              <a:t>a</a:t>
            </a:r>
            <a:r>
              <a:rPr sz="1701" b="1" i="1" spc="-5" dirty="0">
                <a:latin typeface="Times New Roman"/>
                <a:cs typeface="Times New Roman"/>
              </a:rPr>
              <a:t>n</a:t>
            </a:r>
            <a:r>
              <a:rPr sz="1701" b="1" spc="-11" dirty="0">
                <a:latin typeface="Times New Roman"/>
                <a:cs typeface="Times New Roman"/>
              </a:rPr>
              <a:t>-</a:t>
            </a:r>
            <a:r>
              <a:rPr sz="1701" b="1" dirty="0">
                <a:latin typeface="Times New Roman"/>
                <a:cs typeface="Times New Roman"/>
              </a:rPr>
              <a:t>1</a:t>
            </a:r>
            <a:r>
              <a:rPr sz="3827" b="1" i="1" baseline="13888" dirty="0">
                <a:latin typeface="Times New Roman"/>
                <a:cs typeface="Times New Roman"/>
              </a:rPr>
              <a:t>b</a:t>
            </a:r>
            <a:r>
              <a:rPr sz="1701" b="1" spc="-5" dirty="0">
                <a:latin typeface="Times New Roman"/>
                <a:cs typeface="Times New Roman"/>
              </a:rPr>
              <a:t>0</a:t>
            </a:r>
            <a:endParaRPr sz="1701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22654" y="4465038"/>
            <a:ext cx="812722" cy="98748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500" marR="32400">
              <a:lnSpc>
                <a:spcPct val="123700"/>
              </a:lnSpc>
              <a:spcBef>
                <a:spcPts val="106"/>
              </a:spcBef>
            </a:pPr>
            <a:r>
              <a:rPr sz="3827" b="1" i="1" baseline="13888" dirty="0">
                <a:latin typeface="Times New Roman"/>
                <a:cs typeface="Times New Roman"/>
              </a:rPr>
              <a:t>a</a:t>
            </a:r>
            <a:r>
              <a:rPr sz="1701" b="1" i="1" spc="-5" dirty="0">
                <a:latin typeface="Times New Roman"/>
                <a:cs typeface="Times New Roman"/>
              </a:rPr>
              <a:t>n</a:t>
            </a:r>
            <a:r>
              <a:rPr sz="1701" b="1" spc="-11" dirty="0">
                <a:latin typeface="Times New Roman"/>
                <a:cs typeface="Times New Roman"/>
              </a:rPr>
              <a:t>-</a:t>
            </a:r>
            <a:r>
              <a:rPr sz="1701" b="1" dirty="0">
                <a:latin typeface="Times New Roman"/>
                <a:cs typeface="Times New Roman"/>
              </a:rPr>
              <a:t>2</a:t>
            </a:r>
            <a:r>
              <a:rPr sz="3827" b="1" i="1" baseline="13888" dirty="0">
                <a:latin typeface="Times New Roman"/>
                <a:cs typeface="Times New Roman"/>
              </a:rPr>
              <a:t>b</a:t>
            </a:r>
            <a:r>
              <a:rPr sz="1701" b="1" spc="-5" dirty="0">
                <a:latin typeface="Times New Roman"/>
                <a:cs typeface="Times New Roman"/>
              </a:rPr>
              <a:t>1  </a:t>
            </a:r>
            <a:r>
              <a:rPr sz="3827" b="1" i="1" baseline="13888" dirty="0">
                <a:latin typeface="Times New Roman"/>
                <a:cs typeface="Times New Roman"/>
              </a:rPr>
              <a:t>a</a:t>
            </a:r>
            <a:r>
              <a:rPr sz="1701" b="1" i="1" spc="-5" dirty="0">
                <a:latin typeface="Times New Roman"/>
                <a:cs typeface="Times New Roman"/>
              </a:rPr>
              <a:t>n</a:t>
            </a:r>
            <a:r>
              <a:rPr sz="1701" b="1" spc="-11" dirty="0">
                <a:latin typeface="Times New Roman"/>
                <a:cs typeface="Times New Roman"/>
              </a:rPr>
              <a:t>-</a:t>
            </a:r>
            <a:r>
              <a:rPr sz="1701" b="1" dirty="0">
                <a:latin typeface="Times New Roman"/>
                <a:cs typeface="Times New Roman"/>
              </a:rPr>
              <a:t>1</a:t>
            </a:r>
            <a:r>
              <a:rPr sz="3827" b="1" i="1" baseline="13888" dirty="0">
                <a:latin typeface="Times New Roman"/>
                <a:cs typeface="Times New Roman"/>
              </a:rPr>
              <a:t>b</a:t>
            </a:r>
            <a:r>
              <a:rPr sz="1701" b="1" spc="-5" dirty="0">
                <a:latin typeface="Times New Roman"/>
                <a:cs typeface="Times New Roman"/>
              </a:rPr>
              <a:t>1</a:t>
            </a:r>
            <a:endParaRPr sz="1701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97892" y="4557380"/>
            <a:ext cx="1003751" cy="406303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500">
              <a:spcBef>
                <a:spcPts val="106"/>
              </a:spcBef>
            </a:pPr>
            <a:r>
              <a:rPr sz="3827" b="1" i="1" spc="-7" baseline="13888" dirty="0">
                <a:latin typeface="Times New Roman"/>
                <a:cs typeface="Times New Roman"/>
              </a:rPr>
              <a:t>a</a:t>
            </a:r>
            <a:r>
              <a:rPr sz="1701" b="1" i="1" spc="-5" dirty="0">
                <a:latin typeface="Times New Roman"/>
                <a:cs typeface="Times New Roman"/>
              </a:rPr>
              <a:t>n</a:t>
            </a:r>
            <a:r>
              <a:rPr sz="1701" b="1" spc="-5" dirty="0">
                <a:latin typeface="Times New Roman"/>
                <a:cs typeface="Times New Roman"/>
              </a:rPr>
              <a:t>-2</a:t>
            </a:r>
            <a:r>
              <a:rPr sz="3827" b="1" i="1" spc="-7" baseline="13888" dirty="0">
                <a:latin typeface="Times New Roman"/>
                <a:cs typeface="Times New Roman"/>
              </a:rPr>
              <a:t>b</a:t>
            </a:r>
            <a:r>
              <a:rPr sz="1701" b="1" i="1" spc="-5" dirty="0">
                <a:latin typeface="Times New Roman"/>
                <a:cs typeface="Times New Roman"/>
              </a:rPr>
              <a:t>n</a:t>
            </a:r>
            <a:r>
              <a:rPr sz="1701" b="1" spc="-5" dirty="0">
                <a:latin typeface="Times New Roman"/>
                <a:cs typeface="Times New Roman"/>
              </a:rPr>
              <a:t>-2</a:t>
            </a:r>
            <a:endParaRPr sz="1701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01411" y="4557380"/>
            <a:ext cx="1003751" cy="406303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500">
              <a:spcBef>
                <a:spcPts val="106"/>
              </a:spcBef>
            </a:pPr>
            <a:r>
              <a:rPr sz="3827" b="1" i="1" spc="-7" baseline="13888" dirty="0">
                <a:latin typeface="Times New Roman"/>
                <a:cs typeface="Times New Roman"/>
              </a:rPr>
              <a:t>a</a:t>
            </a:r>
            <a:r>
              <a:rPr sz="1701" b="1" i="1" spc="-5" dirty="0">
                <a:latin typeface="Times New Roman"/>
                <a:cs typeface="Times New Roman"/>
              </a:rPr>
              <a:t>n</a:t>
            </a:r>
            <a:r>
              <a:rPr sz="1701" b="1" spc="-5" dirty="0">
                <a:latin typeface="Times New Roman"/>
                <a:cs typeface="Times New Roman"/>
              </a:rPr>
              <a:t>-2</a:t>
            </a:r>
            <a:r>
              <a:rPr sz="3827" b="1" i="1" spc="-7" baseline="13888" dirty="0">
                <a:latin typeface="Times New Roman"/>
                <a:cs typeface="Times New Roman"/>
              </a:rPr>
              <a:t>b</a:t>
            </a:r>
            <a:r>
              <a:rPr sz="1701" b="1" i="1" spc="-5" dirty="0">
                <a:latin typeface="Times New Roman"/>
                <a:cs typeface="Times New Roman"/>
              </a:rPr>
              <a:t>n</a:t>
            </a:r>
            <a:r>
              <a:rPr sz="1701" b="1" spc="-5" dirty="0">
                <a:latin typeface="Times New Roman"/>
                <a:cs typeface="Times New Roman"/>
              </a:rPr>
              <a:t>-1</a:t>
            </a:r>
            <a:endParaRPr sz="1701" dirty="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07502" y="3400076"/>
            <a:ext cx="1458039" cy="648018"/>
          </a:xfrm>
          <a:custGeom>
            <a:avLst/>
            <a:gdLst/>
            <a:ahLst/>
            <a:cxnLst/>
            <a:rect l="l" t="t" r="r" b="b"/>
            <a:pathLst>
              <a:path w="1371600" h="609600">
                <a:moveTo>
                  <a:pt x="0" y="609600"/>
                </a:moveTo>
                <a:lnTo>
                  <a:pt x="1371600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24" name="object 24"/>
          <p:cNvSpPr txBox="1"/>
          <p:nvPr/>
        </p:nvSpPr>
        <p:spPr>
          <a:xfrm>
            <a:off x="4249514" y="3028005"/>
            <a:ext cx="195080" cy="470896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13500">
              <a:spcBef>
                <a:spcPts val="101"/>
              </a:spcBef>
            </a:pPr>
            <a:r>
              <a:rPr sz="2976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endParaRPr sz="2976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16378" y="3245092"/>
            <a:ext cx="153904" cy="319070"/>
          </a:xfrm>
          <a:prstGeom prst="rect">
            <a:avLst/>
          </a:prstGeom>
        </p:spPr>
        <p:txBody>
          <a:bodyPr vert="horz" wrap="square" lIns="0" tIns="16200" rIns="0" bIns="0" rtlCol="0">
            <a:spAutoFit/>
          </a:bodyPr>
          <a:lstStyle/>
          <a:p>
            <a:pPr marL="13500">
              <a:spcBef>
                <a:spcPts val="128"/>
              </a:spcBef>
            </a:pPr>
            <a:r>
              <a:rPr sz="1967" b="1" spc="1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endParaRPr sz="1967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788504" y="3400076"/>
            <a:ext cx="4374118" cy="1944053"/>
          </a:xfrm>
          <a:custGeom>
            <a:avLst/>
            <a:gdLst/>
            <a:ahLst/>
            <a:cxnLst/>
            <a:rect l="l" t="t" r="r" b="b"/>
            <a:pathLst>
              <a:path w="4114800" h="1828800">
                <a:moveTo>
                  <a:pt x="0" y="1828800"/>
                </a:moveTo>
                <a:lnTo>
                  <a:pt x="4114800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27" name="object 27"/>
          <p:cNvSpPr txBox="1"/>
          <p:nvPr/>
        </p:nvSpPr>
        <p:spPr>
          <a:xfrm>
            <a:off x="7131384" y="3028005"/>
            <a:ext cx="195080" cy="470896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13500">
              <a:spcBef>
                <a:spcPts val="101"/>
              </a:spcBef>
            </a:pPr>
            <a:r>
              <a:rPr sz="2976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endParaRPr sz="2976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98247" y="3245092"/>
            <a:ext cx="378685" cy="319070"/>
          </a:xfrm>
          <a:prstGeom prst="rect">
            <a:avLst/>
          </a:prstGeom>
        </p:spPr>
        <p:txBody>
          <a:bodyPr vert="horz" wrap="square" lIns="0" tIns="16200" rIns="0" bIns="0" rtlCol="0">
            <a:spAutoFit/>
          </a:bodyPr>
          <a:lstStyle/>
          <a:p>
            <a:pPr marL="13500">
              <a:spcBef>
                <a:spcPts val="128"/>
              </a:spcBef>
            </a:pPr>
            <a:r>
              <a:rPr sz="1967" b="1" i="1" spc="11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1967" b="1" spc="5" dirty="0">
                <a:solidFill>
                  <a:srgbClr val="C00000"/>
                </a:solidFill>
                <a:latin typeface="Times New Roman"/>
                <a:cs typeface="Times New Roman"/>
              </a:rPr>
              <a:t>-1</a:t>
            </a:r>
            <a:endParaRPr sz="1967" dirty="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701505" y="4657149"/>
            <a:ext cx="1458039" cy="648018"/>
          </a:xfrm>
          <a:custGeom>
            <a:avLst/>
            <a:gdLst/>
            <a:ahLst/>
            <a:cxnLst/>
            <a:rect l="l" t="t" r="r" b="b"/>
            <a:pathLst>
              <a:path w="1371600" h="609600">
                <a:moveTo>
                  <a:pt x="0" y="609600"/>
                </a:moveTo>
                <a:lnTo>
                  <a:pt x="1371600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30" name="object 30"/>
          <p:cNvSpPr txBox="1"/>
          <p:nvPr/>
        </p:nvSpPr>
        <p:spPr>
          <a:xfrm>
            <a:off x="5076679" y="5246418"/>
            <a:ext cx="726320" cy="471024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40500">
              <a:spcBef>
                <a:spcPts val="101"/>
              </a:spcBef>
            </a:pPr>
            <a:r>
              <a:rPr sz="4465" b="1" i="1" spc="7" baseline="13888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1967" b="1" spc="5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1967" b="1" i="1" spc="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1967" b="1" spc="5" dirty="0">
                <a:solidFill>
                  <a:srgbClr val="C00000"/>
                </a:solidFill>
                <a:latin typeface="Times New Roman"/>
                <a:cs typeface="Times New Roman"/>
              </a:rPr>
              <a:t>-3</a:t>
            </a:r>
            <a:endParaRPr sz="1967" dirty="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715571" y="5020120"/>
            <a:ext cx="729020" cy="324009"/>
          </a:xfrm>
          <a:custGeom>
            <a:avLst/>
            <a:gdLst/>
            <a:ahLst/>
            <a:cxnLst/>
            <a:rect l="l" t="t" r="r" b="b"/>
            <a:pathLst>
              <a:path w="685800" h="304800">
                <a:moveTo>
                  <a:pt x="0" y="304800"/>
                </a:moveTo>
                <a:lnTo>
                  <a:pt x="685800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32" name="object 32"/>
          <p:cNvSpPr txBox="1"/>
          <p:nvPr/>
        </p:nvSpPr>
        <p:spPr>
          <a:xfrm>
            <a:off x="6129979" y="5242079"/>
            <a:ext cx="726320" cy="471024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40500">
              <a:spcBef>
                <a:spcPts val="101"/>
              </a:spcBef>
            </a:pPr>
            <a:r>
              <a:rPr sz="4465" b="1" i="1" spc="7" baseline="13888" dirty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1967" b="1" spc="5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1967" b="1" i="1" spc="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1967" b="1" spc="5" dirty="0">
                <a:solidFill>
                  <a:srgbClr val="C00000"/>
                </a:solidFill>
                <a:latin typeface="Times New Roman"/>
                <a:cs typeface="Times New Roman"/>
              </a:rPr>
              <a:t>-2</a:t>
            </a:r>
            <a:endParaRPr sz="1967" dirty="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4588" y="1580017"/>
            <a:ext cx="9212150" cy="410067"/>
          </a:xfrm>
          <a:prstGeom prst="rect">
            <a:avLst/>
          </a:prstGeom>
        </p:spPr>
        <p:txBody>
          <a:bodyPr vert="horz" wrap="square" lIns="0" tIns="37801" rIns="0" bIns="0" rtlCol="0">
            <a:spAutoFit/>
          </a:bodyPr>
          <a:lstStyle/>
          <a:p>
            <a:pPr marL="13500" marR="5400" algn="just">
              <a:lnSpc>
                <a:spcPts val="2945"/>
              </a:lnSpc>
              <a:spcBef>
                <a:spcPts val="298"/>
              </a:spcBef>
            </a:pPr>
            <a:r>
              <a:rPr lang="zh-CN" altLang="en-US" sz="2800" b="1" dirty="0" smtClean="0">
                <a:latin typeface="黑体" pitchFamily="49" charset="-122"/>
                <a:ea typeface="黑体" pitchFamily="49" charset="-122"/>
                <a:cs typeface="Arial"/>
              </a:rPr>
              <a:t>下述矩阵</a:t>
            </a:r>
            <a:r>
              <a:rPr lang="zh-CN" altLang="en-US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Arial"/>
              </a:rPr>
              <a:t>每个</a:t>
            </a:r>
            <a:r>
              <a:rPr lang="zh-CN" altLang="en-US"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Arial"/>
              </a:rPr>
              <a:t>斜线的项之和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Arial"/>
              </a:rPr>
              <a:t>恰好是卷积中的各个</a:t>
            </a:r>
            <a:r>
              <a:rPr lang="zh-CN" altLang="en-US" sz="2800" b="1" dirty="0" smtClean="0">
                <a:latin typeface="黑体" pitchFamily="49" charset="-122"/>
                <a:ea typeface="黑体" pitchFamily="49" charset="-122"/>
                <a:cs typeface="Arial"/>
              </a:rPr>
              <a:t>分量</a:t>
            </a:r>
            <a:r>
              <a:rPr sz="2800" b="1" dirty="0" smtClean="0">
                <a:latin typeface="黑体" pitchFamily="49" charset="-122"/>
                <a:ea typeface="黑体" pitchFamily="49" charset="-122"/>
                <a:cs typeface="Arial"/>
              </a:rPr>
              <a:t>. </a:t>
            </a:r>
            <a:r>
              <a:rPr sz="2800" b="1" dirty="0">
                <a:latin typeface="黑体" pitchFamily="49" charset="-122"/>
                <a:ea typeface="黑体" pitchFamily="49" charset="-122"/>
                <a:cs typeface="Arial"/>
              </a:rPr>
              <a:t>.</a:t>
            </a:r>
            <a:r>
              <a:rPr sz="2800" b="1" spc="-32" dirty="0">
                <a:latin typeface="黑体" pitchFamily="49" charset="-122"/>
                <a:ea typeface="黑体" pitchFamily="49" charset="-122"/>
                <a:cs typeface="Arial"/>
              </a:rPr>
              <a:t> </a:t>
            </a:r>
            <a:r>
              <a:rPr sz="2800" b="1" dirty="0">
                <a:latin typeface="黑体" pitchFamily="49" charset="-122"/>
                <a:ea typeface="黑体" pitchFamily="49" charset="-122"/>
                <a:cs typeface="Arial"/>
              </a:rPr>
              <a:t>.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740791" y="4894999"/>
            <a:ext cx="549465" cy="470896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13500">
              <a:spcBef>
                <a:spcPts val="101"/>
              </a:spcBef>
            </a:pPr>
            <a:r>
              <a:rPr sz="2976" spc="-5" dirty="0">
                <a:latin typeface="Arial"/>
                <a:cs typeface="Arial"/>
              </a:rPr>
              <a:t>. .</a:t>
            </a:r>
            <a:r>
              <a:rPr sz="2976" spc="-117" dirty="0">
                <a:latin typeface="Arial"/>
                <a:cs typeface="Arial"/>
              </a:rPr>
              <a:t> </a:t>
            </a:r>
            <a:r>
              <a:rPr sz="2976" spc="-5" dirty="0">
                <a:latin typeface="Arial"/>
                <a:cs typeface="Arial"/>
              </a:rPr>
              <a:t>.</a:t>
            </a:r>
            <a:endParaRPr sz="2976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23260" y="4034053"/>
            <a:ext cx="95178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1913" b="1" dirty="0">
                <a:latin typeface="Arial"/>
                <a:cs typeface="Arial"/>
              </a:rPr>
              <a:t>.</a:t>
            </a:r>
            <a:endParaRPr sz="1913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923260" y="4181477"/>
            <a:ext cx="95178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1913" b="1" dirty="0">
                <a:latin typeface="Arial"/>
                <a:cs typeface="Arial"/>
              </a:rPr>
              <a:t>.</a:t>
            </a:r>
            <a:endParaRPr sz="1913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23260" y="4330520"/>
            <a:ext cx="95178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1913" b="1" dirty="0">
                <a:latin typeface="Arial"/>
                <a:cs typeface="Arial"/>
              </a:rPr>
              <a:t>.</a:t>
            </a:r>
            <a:endParaRPr sz="1913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950964" y="4034053"/>
            <a:ext cx="95178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1913" b="1" dirty="0">
                <a:latin typeface="Arial"/>
                <a:cs typeface="Arial"/>
              </a:rPr>
              <a:t>.</a:t>
            </a:r>
            <a:endParaRPr sz="1913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950964" y="4181477"/>
            <a:ext cx="95178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1913" b="1" dirty="0">
                <a:latin typeface="Arial"/>
                <a:cs typeface="Arial"/>
              </a:rPr>
              <a:t>.</a:t>
            </a:r>
            <a:endParaRPr sz="1913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950964" y="4330520"/>
            <a:ext cx="95178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1913" b="1" dirty="0">
                <a:latin typeface="Arial"/>
                <a:cs typeface="Arial"/>
              </a:rPr>
              <a:t>.</a:t>
            </a:r>
            <a:endParaRPr sz="1913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44503" y="4034053"/>
            <a:ext cx="95178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1913" b="1" dirty="0">
                <a:latin typeface="Arial"/>
                <a:cs typeface="Arial"/>
              </a:rPr>
              <a:t>.</a:t>
            </a:r>
            <a:endParaRPr sz="1913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844503" y="4181477"/>
            <a:ext cx="95178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1913" b="1" dirty="0">
                <a:latin typeface="Arial"/>
                <a:cs typeface="Arial"/>
              </a:rPr>
              <a:t>.</a:t>
            </a:r>
            <a:endParaRPr sz="1913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44503" y="4330520"/>
            <a:ext cx="95178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1913" b="1" dirty="0">
                <a:latin typeface="Arial"/>
                <a:cs typeface="Arial"/>
              </a:rPr>
              <a:t>.</a:t>
            </a:r>
            <a:endParaRPr sz="1913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872476" y="4034053"/>
            <a:ext cx="95178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1913" b="1" dirty="0">
                <a:latin typeface="Arial"/>
                <a:cs typeface="Arial"/>
              </a:rPr>
              <a:t>.</a:t>
            </a:r>
            <a:endParaRPr sz="1913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872476" y="4181477"/>
            <a:ext cx="95178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1913" b="1" dirty="0">
                <a:latin typeface="Arial"/>
                <a:cs typeface="Arial"/>
              </a:rPr>
              <a:t>.</a:t>
            </a:r>
            <a:endParaRPr sz="1913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062185" y="4330520"/>
            <a:ext cx="905199" cy="30800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  <a:tabLst>
                <a:tab pos="823506" algn="l"/>
              </a:tabLst>
            </a:pPr>
            <a:r>
              <a:rPr sz="1913" b="1" dirty="0">
                <a:solidFill>
                  <a:srgbClr val="006FC0"/>
                </a:solidFill>
                <a:latin typeface="Arial"/>
                <a:cs typeface="Arial"/>
              </a:rPr>
              <a:t>.	</a:t>
            </a:r>
            <a:r>
              <a:rPr sz="1913" b="1" dirty="0">
                <a:latin typeface="Arial"/>
                <a:cs typeface="Arial"/>
              </a:rPr>
              <a:t>.</a:t>
            </a:r>
            <a:endParaRPr sz="1913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35931" y="3193250"/>
            <a:ext cx="549465" cy="884984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13500">
              <a:lnSpc>
                <a:spcPts val="3380"/>
              </a:lnSpc>
              <a:spcBef>
                <a:spcPts val="101"/>
              </a:spcBef>
            </a:pPr>
            <a:r>
              <a:rPr sz="2976" spc="-5" dirty="0">
                <a:latin typeface="Arial"/>
                <a:cs typeface="Arial"/>
              </a:rPr>
              <a:t>. .</a:t>
            </a:r>
            <a:r>
              <a:rPr sz="2976" spc="-121" dirty="0">
                <a:latin typeface="Arial"/>
                <a:cs typeface="Arial"/>
              </a:rPr>
              <a:t> </a:t>
            </a:r>
            <a:r>
              <a:rPr sz="2976" spc="-5" dirty="0">
                <a:latin typeface="Arial"/>
                <a:cs typeface="Arial"/>
              </a:rPr>
              <a:t>.</a:t>
            </a:r>
            <a:endParaRPr sz="2976">
              <a:latin typeface="Arial"/>
              <a:cs typeface="Arial"/>
            </a:endParaRPr>
          </a:p>
          <a:p>
            <a:pPr marL="13500">
              <a:lnSpc>
                <a:spcPts val="3380"/>
              </a:lnSpc>
            </a:pPr>
            <a:r>
              <a:rPr sz="2976" spc="-5" dirty="0">
                <a:latin typeface="Arial"/>
                <a:cs typeface="Arial"/>
              </a:rPr>
              <a:t>. .</a:t>
            </a:r>
            <a:r>
              <a:rPr sz="2976" spc="-121" dirty="0">
                <a:latin typeface="Arial"/>
                <a:cs typeface="Arial"/>
              </a:rPr>
              <a:t> </a:t>
            </a:r>
            <a:r>
              <a:rPr sz="2976" spc="-5" dirty="0">
                <a:latin typeface="Arial"/>
                <a:cs typeface="Arial"/>
              </a:rPr>
              <a:t>.</a:t>
            </a:r>
            <a:endParaRPr sz="2976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735931" y="4398617"/>
            <a:ext cx="549465" cy="470896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13500">
              <a:spcBef>
                <a:spcPts val="101"/>
              </a:spcBef>
            </a:pPr>
            <a:r>
              <a:rPr sz="2976" spc="-5" dirty="0">
                <a:latin typeface="Arial"/>
                <a:cs typeface="Arial"/>
              </a:rPr>
              <a:t>. .</a:t>
            </a:r>
            <a:r>
              <a:rPr sz="2976" spc="-117" dirty="0">
                <a:latin typeface="Arial"/>
                <a:cs typeface="Arial"/>
              </a:rPr>
              <a:t> </a:t>
            </a:r>
            <a:r>
              <a:rPr sz="2976" spc="-5" dirty="0">
                <a:latin typeface="Arial"/>
                <a:cs typeface="Arial"/>
              </a:rPr>
              <a:t>.</a:t>
            </a:r>
            <a:endParaRPr sz="2976">
              <a:latin typeface="Arial"/>
              <a:cs typeface="Arial"/>
            </a:endParaRPr>
          </a:p>
        </p:txBody>
      </p:sp>
      <p:sp>
        <p:nvSpPr>
          <p:cNvPr id="49" name="object 14"/>
          <p:cNvSpPr txBox="1"/>
          <p:nvPr/>
        </p:nvSpPr>
        <p:spPr>
          <a:xfrm>
            <a:off x="3231239" y="2929565"/>
            <a:ext cx="272367" cy="471024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54000">
              <a:spcBef>
                <a:spcPts val="101"/>
              </a:spcBef>
              <a:tabLst>
                <a:tab pos="782331" algn="l"/>
                <a:tab pos="1132658" algn="l"/>
              </a:tabLst>
            </a:pPr>
            <a:r>
              <a:rPr sz="4465" b="1" i="1" spc="-7" baseline="-19841" dirty="0" smtClean="0">
                <a:solidFill>
                  <a:srgbClr val="C00000"/>
                </a:solidFill>
                <a:latin typeface="Times New Roman"/>
                <a:cs typeface="Times New Roman"/>
              </a:rPr>
              <a:t>c</a:t>
            </a:r>
            <a:r>
              <a:rPr sz="4465" b="1" i="1" spc="-7" baseline="-1984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endParaRPr sz="2551" baseline="-20833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77173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23" grpId="0" animBg="1"/>
      <p:bldP spid="24" grpId="0"/>
      <p:bldP spid="25" grpId="0"/>
      <p:bldP spid="26" grpId="0" animBg="1"/>
      <p:bldP spid="27" grpId="0"/>
      <p:bldP spid="28" grpId="0"/>
      <p:bldP spid="29" grpId="0" animBg="1"/>
      <p:bldP spid="30" grpId="0"/>
      <p:bldP spid="31" grpId="0" animBg="1"/>
      <p:bldP spid="32" grpId="0"/>
      <p:bldP spid="4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073" y="170038"/>
            <a:ext cx="8912076" cy="652805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计算实例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54316" y="3099574"/>
            <a:ext cx="1891862" cy="2166023"/>
          </a:xfrm>
          <a:prstGeom prst="rect">
            <a:avLst/>
          </a:prstGeom>
        </p:spPr>
        <p:txBody>
          <a:bodyPr vert="horz" wrap="square" lIns="0" tIns="11475" rIns="0" bIns="0" rtlCol="0">
            <a:spAutoFit/>
          </a:bodyPr>
          <a:lstStyle/>
          <a:p>
            <a:pPr marL="40500" marR="32400" indent="808656">
              <a:lnSpc>
                <a:spcPct val="100499"/>
              </a:lnSpc>
              <a:spcBef>
                <a:spcPts val="90"/>
              </a:spcBef>
              <a:tabLst>
                <a:tab pos="71415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ab</a:t>
            </a:r>
            <a:r>
              <a:rPr sz="2800" b="1" spc="-7" baseline="-20833" dirty="0">
                <a:latin typeface="Times New Roman"/>
                <a:cs typeface="Times New Roman"/>
              </a:rPr>
              <a:t>0 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baseline="-20833" dirty="0">
                <a:latin typeface="Times New Roman"/>
                <a:cs typeface="Times New Roman"/>
              </a:rPr>
              <a:t>0</a:t>
            </a:r>
            <a:r>
              <a:rPr sz="2800" b="1" i="1" dirty="0">
                <a:latin typeface="Times New Roman"/>
                <a:cs typeface="Times New Roman"/>
              </a:rPr>
              <a:t>b	</a:t>
            </a:r>
            <a:r>
              <a:rPr sz="2800" b="1" dirty="0">
                <a:latin typeface="Times New Roman"/>
                <a:cs typeface="Times New Roman"/>
              </a:rPr>
              <a:t>1 </a:t>
            </a:r>
            <a:r>
              <a:rPr sz="2800" b="1" dirty="0">
                <a:latin typeface="Symbol"/>
                <a:cs typeface="Symbol"/>
              </a:rPr>
              <a:t></a:t>
            </a:r>
            <a:r>
              <a:rPr sz="2800" b="1" spc="-128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  <a:p>
            <a:pPr marL="40500">
              <a:tabLst>
                <a:tab pos="714155" algn="l"/>
              </a:tabLst>
            </a:pP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i="1" dirty="0">
                <a:latin typeface="Times New Roman"/>
                <a:cs typeface="Times New Roman"/>
              </a:rPr>
              <a:t>b	</a:t>
            </a:r>
            <a:r>
              <a:rPr sz="2800" b="1" dirty="0">
                <a:latin typeface="Times New Roman"/>
                <a:cs typeface="Times New Roman"/>
              </a:rPr>
              <a:t>2 </a:t>
            </a:r>
            <a:r>
              <a:rPr sz="2800" b="1" spc="-5" dirty="0">
                <a:latin typeface="Symbol"/>
                <a:cs typeface="Symbol"/>
              </a:rPr>
              <a:t></a:t>
            </a:r>
            <a:r>
              <a:rPr sz="2800" b="1" spc="-11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  <a:p>
            <a:pPr marL="40500">
              <a:tabLst>
                <a:tab pos="714155" algn="l"/>
              </a:tabLst>
            </a:pP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i="1" dirty="0">
                <a:latin typeface="Times New Roman"/>
                <a:cs typeface="Times New Roman"/>
              </a:rPr>
              <a:t>b	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4 </a:t>
            </a:r>
            <a:r>
              <a:rPr sz="2800" b="1" spc="-5" dirty="0">
                <a:solidFill>
                  <a:srgbClr val="C00000"/>
                </a:solidFill>
                <a:latin typeface="Symbol"/>
                <a:cs typeface="Symbol"/>
              </a:rPr>
              <a:t></a:t>
            </a:r>
            <a:r>
              <a:rPr sz="2800" b="1" spc="-117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  <a:p>
            <a:pPr marL="40500">
              <a:tabLst>
                <a:tab pos="714155" algn="l"/>
              </a:tabLst>
            </a:pP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baseline="-20833" dirty="0">
                <a:latin typeface="Times New Roman"/>
                <a:cs typeface="Times New Roman"/>
              </a:rPr>
              <a:t>3</a:t>
            </a:r>
            <a:r>
              <a:rPr sz="2800" b="1" i="1" dirty="0">
                <a:latin typeface="Times New Roman"/>
                <a:cs typeface="Times New Roman"/>
              </a:rPr>
              <a:t>b	</a:t>
            </a:r>
            <a:r>
              <a:rPr sz="2800" b="1" dirty="0">
                <a:latin typeface="Times New Roman"/>
                <a:cs typeface="Times New Roman"/>
              </a:rPr>
              <a:t>3 </a:t>
            </a:r>
            <a:r>
              <a:rPr sz="2800" b="1" dirty="0">
                <a:latin typeface="Symbol"/>
                <a:cs typeface="Symbol"/>
              </a:rPr>
              <a:t></a:t>
            </a:r>
            <a:r>
              <a:rPr sz="2800" b="1" spc="-128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5817" y="3099573"/>
            <a:ext cx="3003831" cy="2168068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74151">
              <a:spcBef>
                <a:spcPts val="106"/>
              </a:spcBef>
              <a:tabLst>
                <a:tab pos="1173834" algn="l"/>
                <a:tab pos="2333492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ab</a:t>
            </a:r>
            <a:r>
              <a:rPr sz="2800" b="1" spc="-7" baseline="-20833" dirty="0">
                <a:latin typeface="Times New Roman"/>
                <a:cs typeface="Times New Roman"/>
              </a:rPr>
              <a:t>1	</a:t>
            </a:r>
            <a:r>
              <a:rPr sz="2800" b="1" i="1" spc="-5" dirty="0">
                <a:latin typeface="Times New Roman"/>
                <a:cs typeface="Times New Roman"/>
              </a:rPr>
              <a:t>ab</a:t>
            </a:r>
            <a:r>
              <a:rPr sz="2800" b="1" spc="-7" baseline="-20833" dirty="0">
                <a:latin typeface="Times New Roman"/>
                <a:cs typeface="Times New Roman"/>
              </a:rPr>
              <a:t>2	</a:t>
            </a:r>
            <a:r>
              <a:rPr sz="2800" b="1" i="1" spc="-5" dirty="0">
                <a:latin typeface="Times New Roman"/>
                <a:cs typeface="Times New Roman"/>
              </a:rPr>
              <a:t>ab</a:t>
            </a:r>
            <a:r>
              <a:rPr sz="2800" b="1" spc="-7" baseline="-20833" dirty="0">
                <a:latin typeface="Times New Roman"/>
                <a:cs typeface="Times New Roman"/>
              </a:rPr>
              <a:t>3</a:t>
            </a:r>
            <a:endParaRPr sz="2800" baseline="-20833" dirty="0">
              <a:latin typeface="Times New Roman"/>
              <a:cs typeface="Times New Roman"/>
            </a:endParaRPr>
          </a:p>
          <a:p>
            <a:pPr marL="54000">
              <a:spcBef>
                <a:spcPts val="11"/>
              </a:spcBef>
              <a:tabLst>
                <a:tab pos="1121858" algn="l"/>
                <a:tab pos="2272067" algn="l"/>
              </a:tabLst>
            </a:pPr>
            <a:r>
              <a:rPr sz="2800" b="1" dirty="0">
                <a:latin typeface="Times New Roman"/>
                <a:cs typeface="Times New Roman"/>
              </a:rPr>
              <a:t>1 </a:t>
            </a:r>
            <a:r>
              <a:rPr sz="2800" b="1" dirty="0">
                <a:latin typeface="Symbol"/>
                <a:cs typeface="Symbol"/>
              </a:rPr>
              <a:t></a:t>
            </a:r>
            <a:r>
              <a:rPr sz="2800" b="1" spc="-1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	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Symbol"/>
                <a:cs typeface="Symbol"/>
              </a:rPr>
              <a:t>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 8	</a:t>
            </a:r>
            <a:r>
              <a:rPr sz="2800" b="1" dirty="0">
                <a:latin typeface="Times New Roman"/>
                <a:cs typeface="Times New Roman"/>
              </a:rPr>
              <a:t>1 </a:t>
            </a:r>
            <a:r>
              <a:rPr sz="2800" b="1" dirty="0">
                <a:latin typeface="Symbol"/>
                <a:cs typeface="Symbol"/>
              </a:rPr>
              <a:t></a:t>
            </a:r>
            <a:r>
              <a:rPr sz="2800" b="1" spc="-12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0</a:t>
            </a:r>
            <a:endParaRPr sz="2800" dirty="0">
              <a:latin typeface="Times New Roman"/>
              <a:cs typeface="Times New Roman"/>
            </a:endParaRPr>
          </a:p>
          <a:p>
            <a:pPr marL="54000">
              <a:tabLst>
                <a:tab pos="1121858" algn="l"/>
                <a:tab pos="2272067" algn="l"/>
              </a:tabLst>
            </a:pP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2 </a:t>
            </a:r>
            <a:r>
              <a:rPr sz="2800" b="1" spc="-5" dirty="0">
                <a:solidFill>
                  <a:srgbClr val="C00000"/>
                </a:solidFill>
                <a:latin typeface="Symbol"/>
                <a:cs typeface="Symbol"/>
              </a:rPr>
              <a:t></a:t>
            </a:r>
            <a:r>
              <a:rPr sz="2800" b="1" spc="-1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2	</a:t>
            </a:r>
            <a:r>
              <a:rPr sz="2800" b="1" dirty="0">
                <a:latin typeface="Times New Roman"/>
                <a:cs typeface="Times New Roman"/>
              </a:rPr>
              <a:t>2 </a:t>
            </a:r>
            <a:r>
              <a:rPr sz="2800" b="1" spc="-5" dirty="0">
                <a:latin typeface="Symbol"/>
                <a:cs typeface="Symbol"/>
              </a:rPr>
              <a:t></a:t>
            </a:r>
            <a:r>
              <a:rPr sz="2800" b="1" dirty="0">
                <a:latin typeface="Times New Roman"/>
                <a:cs typeface="Times New Roman"/>
              </a:rPr>
              <a:t> 8	2 </a:t>
            </a:r>
            <a:r>
              <a:rPr sz="2800" b="1" spc="-5" dirty="0">
                <a:latin typeface="Symbol"/>
                <a:cs typeface="Symbol"/>
              </a:rPr>
              <a:t></a:t>
            </a:r>
            <a:r>
              <a:rPr sz="2800" b="1" spc="-112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0</a:t>
            </a:r>
            <a:endParaRPr sz="2800" dirty="0">
              <a:latin typeface="Times New Roman"/>
              <a:cs typeface="Times New Roman"/>
            </a:endParaRPr>
          </a:p>
          <a:p>
            <a:pPr marL="54000">
              <a:spcBef>
                <a:spcPts val="5"/>
              </a:spcBef>
              <a:tabLst>
                <a:tab pos="1121858" algn="l"/>
                <a:tab pos="2272067" algn="l"/>
              </a:tabLst>
            </a:pPr>
            <a:r>
              <a:rPr sz="2800" b="1" dirty="0">
                <a:latin typeface="Times New Roman"/>
                <a:cs typeface="Times New Roman"/>
              </a:rPr>
              <a:t>4 </a:t>
            </a:r>
            <a:r>
              <a:rPr sz="2800" b="1" spc="-5" dirty="0">
                <a:latin typeface="Symbol"/>
                <a:cs typeface="Symbol"/>
              </a:rPr>
              <a:t></a:t>
            </a:r>
            <a:r>
              <a:rPr sz="2800" b="1" spc="-1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	4 </a:t>
            </a:r>
            <a:r>
              <a:rPr sz="2800" b="1" spc="-5" dirty="0">
                <a:latin typeface="Symbol"/>
                <a:cs typeface="Symbol"/>
              </a:rPr>
              <a:t></a:t>
            </a:r>
            <a:r>
              <a:rPr sz="2800" b="1" dirty="0">
                <a:latin typeface="Times New Roman"/>
                <a:cs typeface="Times New Roman"/>
              </a:rPr>
              <a:t> 8	4 </a:t>
            </a:r>
            <a:r>
              <a:rPr sz="2800" b="1" spc="-5" dirty="0">
                <a:latin typeface="Symbol"/>
                <a:cs typeface="Symbol"/>
              </a:rPr>
              <a:t></a:t>
            </a:r>
            <a:r>
              <a:rPr sz="2800" b="1" spc="-112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0</a:t>
            </a:r>
            <a:endParaRPr sz="2800" dirty="0">
              <a:latin typeface="Times New Roman"/>
              <a:cs typeface="Times New Roman"/>
            </a:endParaRPr>
          </a:p>
          <a:p>
            <a:pPr marL="54000">
              <a:tabLst>
                <a:tab pos="1121858" algn="l"/>
                <a:tab pos="2271392" algn="l"/>
              </a:tabLst>
            </a:pPr>
            <a:r>
              <a:rPr sz="2800" b="1" dirty="0">
                <a:latin typeface="Times New Roman"/>
                <a:cs typeface="Times New Roman"/>
              </a:rPr>
              <a:t>3 </a:t>
            </a:r>
            <a:r>
              <a:rPr sz="2800" b="1" dirty="0">
                <a:latin typeface="Symbol"/>
                <a:cs typeface="Symbol"/>
              </a:rPr>
              <a:t></a:t>
            </a:r>
            <a:r>
              <a:rPr sz="2800" b="1" spc="-1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	3 </a:t>
            </a:r>
            <a:r>
              <a:rPr sz="2800" b="1" dirty="0">
                <a:latin typeface="Symbol"/>
                <a:cs typeface="Symbol"/>
              </a:rPr>
              <a:t></a:t>
            </a:r>
            <a:r>
              <a:rPr sz="2800" b="1" dirty="0">
                <a:latin typeface="Times New Roman"/>
                <a:cs typeface="Times New Roman"/>
              </a:rPr>
              <a:t> 8	3 </a:t>
            </a:r>
            <a:r>
              <a:rPr sz="2800" b="1" dirty="0">
                <a:latin typeface="Symbol"/>
                <a:cs typeface="Symbol"/>
              </a:rPr>
              <a:t></a:t>
            </a:r>
            <a:r>
              <a:rPr sz="2800" b="1" spc="-12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0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8427" y="949635"/>
            <a:ext cx="8678721" cy="2083634"/>
          </a:xfrm>
          <a:prstGeom prst="rect">
            <a:avLst/>
          </a:prstGeom>
        </p:spPr>
        <p:txBody>
          <a:bodyPr vert="horz" wrap="square" lIns="0" tIns="102603" rIns="0" bIns="0" rtlCol="0">
            <a:spAutoFit/>
          </a:bodyPr>
          <a:lstStyle/>
          <a:p>
            <a:pPr marL="13500">
              <a:spcBef>
                <a:spcPts val="808"/>
              </a:spcBef>
              <a:tabLst>
                <a:tab pos="3169823" algn="l"/>
              </a:tabLst>
            </a:pP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向 </a:t>
            </a:r>
            <a:r>
              <a:rPr sz="2800" b="1" spc="-11" dirty="0">
                <a:latin typeface="黑体" pitchFamily="49" charset="-122"/>
                <a:ea typeface="黑体" pitchFamily="49" charset="-122"/>
                <a:cs typeface="宋体"/>
              </a:rPr>
              <a:t>量</a:t>
            </a:r>
            <a:r>
              <a:rPr sz="2800" b="1" spc="-664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dirty="0">
                <a:latin typeface="Times New Roman"/>
                <a:cs typeface="Times New Roman"/>
              </a:rPr>
              <a:t>= (1, 2, 4, 3),	</a:t>
            </a:r>
            <a:r>
              <a:rPr sz="2800" b="1" i="1" dirty="0">
                <a:latin typeface="Times New Roman"/>
                <a:cs typeface="Times New Roman"/>
              </a:rPr>
              <a:t>b </a:t>
            </a:r>
            <a:r>
              <a:rPr sz="2800" b="1" dirty="0">
                <a:latin typeface="Times New Roman"/>
                <a:cs typeface="Times New Roman"/>
              </a:rPr>
              <a:t>= (4, 2, 8,</a:t>
            </a:r>
            <a:r>
              <a:rPr sz="2800" b="1" spc="-106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0)</a:t>
            </a:r>
            <a:endParaRPr sz="2800" dirty="0">
              <a:latin typeface="Times New Roman"/>
              <a:cs typeface="Times New Roman"/>
            </a:endParaRPr>
          </a:p>
          <a:p>
            <a:pPr marL="13500">
              <a:spcBef>
                <a:spcPts val="707"/>
              </a:spcBef>
              <a:tabLst>
                <a:tab pos="699980" algn="l"/>
              </a:tabLst>
            </a:pPr>
            <a:r>
              <a:rPr sz="2800" b="1" spc="-11" dirty="0">
                <a:latin typeface="黑体" pitchFamily="49" charset="-122"/>
                <a:ea typeface="黑体" pitchFamily="49" charset="-122"/>
                <a:cs typeface="宋体"/>
              </a:rPr>
              <a:t>则</a:t>
            </a:r>
            <a:r>
              <a:rPr sz="2800" b="1" spc="-11" dirty="0">
                <a:latin typeface="宋体"/>
                <a:cs typeface="宋体"/>
              </a:rPr>
              <a:t>	</a:t>
            </a:r>
            <a:r>
              <a:rPr lang="en-US" sz="2800" b="1" spc="-11" dirty="0" smtClean="0">
                <a:latin typeface="宋体"/>
                <a:cs typeface="宋体"/>
              </a:rPr>
              <a:t> </a:t>
            </a:r>
            <a:r>
              <a:rPr sz="2800" b="1" i="1" dirty="0" err="1" smtClean="0">
                <a:latin typeface="Times New Roman"/>
                <a:cs typeface="Times New Roman"/>
              </a:rPr>
              <a:t>a</a:t>
            </a:r>
            <a:r>
              <a:rPr sz="2800" b="1" dirty="0" err="1" smtClean="0">
                <a:latin typeface="Times New Roman"/>
                <a:cs typeface="Times New Roman"/>
              </a:rPr>
              <a:t>+</a:t>
            </a:r>
            <a:r>
              <a:rPr sz="2800" b="1" i="1" dirty="0" err="1" smtClean="0">
                <a:latin typeface="Times New Roman"/>
                <a:cs typeface="Times New Roman"/>
              </a:rPr>
              <a:t>b</a:t>
            </a:r>
            <a:r>
              <a:rPr sz="2800" b="1" i="1" dirty="0" smtClean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 </a:t>
            </a:r>
            <a:r>
              <a:rPr sz="2800" b="1" dirty="0" smtClean="0">
                <a:latin typeface="Times New Roman"/>
                <a:cs typeface="Times New Roman"/>
              </a:rPr>
              <a:t>(5</a:t>
            </a:r>
            <a:r>
              <a:rPr sz="2800" b="1" dirty="0">
                <a:latin typeface="Times New Roman"/>
                <a:cs typeface="Times New Roman"/>
              </a:rPr>
              <a:t>, 4, 12, </a:t>
            </a:r>
            <a:r>
              <a:rPr sz="2800" b="1" dirty="0" smtClean="0">
                <a:latin typeface="Times New Roman"/>
                <a:cs typeface="Times New Roman"/>
              </a:rPr>
              <a:t>3)</a:t>
            </a:r>
            <a:endParaRPr sz="2800" dirty="0">
              <a:latin typeface="Times New Roman"/>
              <a:cs typeface="Times New Roman"/>
            </a:endParaRPr>
          </a:p>
          <a:p>
            <a:pPr marL="741155">
              <a:spcBef>
                <a:spcPts val="675"/>
              </a:spcBef>
              <a:tabLst>
                <a:tab pos="1307485" algn="l"/>
              </a:tabLst>
            </a:pPr>
            <a:r>
              <a:rPr lang="en-US" sz="2800" b="1" i="1" dirty="0" smtClean="0">
                <a:latin typeface="Times New Roman"/>
                <a:cs typeface="Times New Roman"/>
              </a:rPr>
              <a:t> </a:t>
            </a:r>
            <a:r>
              <a:rPr sz="2800" b="1" i="1" dirty="0" err="1" smtClean="0">
                <a:latin typeface="Times New Roman"/>
                <a:cs typeface="Times New Roman"/>
              </a:rPr>
              <a:t>a</a:t>
            </a:r>
            <a:r>
              <a:rPr sz="2800" b="1" dirty="0" err="1">
                <a:latin typeface="Symbol"/>
                <a:cs typeface="Symbol"/>
              </a:rPr>
              <a:t></a:t>
            </a:r>
            <a:r>
              <a:rPr sz="2800" b="1" i="1" dirty="0" err="1">
                <a:latin typeface="Times New Roman"/>
                <a:cs typeface="Times New Roman"/>
              </a:rPr>
              <a:t>b</a:t>
            </a:r>
            <a:r>
              <a:rPr sz="2800" b="1" i="1" dirty="0">
                <a:latin typeface="Times New Roman"/>
                <a:cs typeface="Times New Roman"/>
              </a:rPr>
              <a:t>	</a:t>
            </a:r>
            <a:r>
              <a:rPr sz="2800" b="1" dirty="0">
                <a:latin typeface="Times New Roman"/>
                <a:cs typeface="Times New Roman"/>
              </a:rPr>
              <a:t>= </a:t>
            </a:r>
            <a:r>
              <a:rPr sz="2800" b="1" dirty="0" smtClean="0">
                <a:latin typeface="Times New Roman"/>
                <a:cs typeface="Times New Roman"/>
              </a:rPr>
              <a:t>(4</a:t>
            </a:r>
            <a:r>
              <a:rPr sz="2800" b="1" dirty="0">
                <a:latin typeface="Times New Roman"/>
                <a:cs typeface="Times New Roman"/>
              </a:rPr>
              <a:t>, 4, 32, </a:t>
            </a:r>
            <a:r>
              <a:rPr sz="2800" b="1" dirty="0" smtClean="0">
                <a:latin typeface="Times New Roman"/>
                <a:cs typeface="Times New Roman"/>
              </a:rPr>
              <a:t>0)</a:t>
            </a:r>
            <a:endParaRPr sz="2800" dirty="0">
              <a:latin typeface="Times New Roman"/>
              <a:cs typeface="Times New Roman"/>
            </a:endParaRPr>
          </a:p>
          <a:p>
            <a:pPr marL="741155">
              <a:spcBef>
                <a:spcPts val="574"/>
              </a:spcBef>
            </a:pPr>
            <a:r>
              <a:rPr lang="en-US" sz="2800" b="1" i="1" spc="-11" dirty="0" smtClean="0">
                <a:latin typeface="Times New Roman"/>
                <a:cs typeface="Times New Roman"/>
              </a:rPr>
              <a:t> </a:t>
            </a:r>
            <a:r>
              <a:rPr sz="2800" b="1" i="1" spc="-11" dirty="0" err="1" smtClean="0">
                <a:latin typeface="Times New Roman"/>
                <a:cs typeface="Times New Roman"/>
              </a:rPr>
              <a:t>a</a:t>
            </a:r>
            <a:r>
              <a:rPr sz="2800" b="1" spc="-11" dirty="0" err="1">
                <a:latin typeface="Symbol"/>
                <a:cs typeface="Symbol"/>
              </a:rPr>
              <a:t></a:t>
            </a:r>
            <a:r>
              <a:rPr sz="2800" b="1" i="1" spc="-11" dirty="0" err="1">
                <a:latin typeface="Times New Roman"/>
                <a:cs typeface="Times New Roman"/>
              </a:rPr>
              <a:t>b</a:t>
            </a:r>
            <a:r>
              <a:rPr sz="2800" b="1" i="1" spc="-1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 (4, 10,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28</a:t>
            </a:r>
            <a:r>
              <a:rPr sz="2800" b="1" spc="-5" dirty="0">
                <a:latin typeface="Times New Roman"/>
                <a:cs typeface="Times New Roman"/>
              </a:rPr>
              <a:t>, 36, 38, 24, </a:t>
            </a:r>
            <a:r>
              <a:rPr sz="2800" b="1" dirty="0" smtClean="0">
                <a:latin typeface="Times New Roman"/>
                <a:cs typeface="Times New Roman"/>
              </a:rPr>
              <a:t>0)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63816" y="5361341"/>
            <a:ext cx="5024960" cy="444519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500">
              <a:spcBef>
                <a:spcPts val="106"/>
              </a:spcBef>
            </a:pP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baseline="-20833" dirty="0">
                <a:latin typeface="Times New Roman"/>
                <a:cs typeface="Times New Roman"/>
              </a:rPr>
              <a:t>2 </a:t>
            </a:r>
            <a:r>
              <a:rPr sz="2800" b="1" dirty="0">
                <a:latin typeface="Times New Roman"/>
                <a:cs typeface="Times New Roman"/>
              </a:rPr>
              <a:t>= 4</a:t>
            </a:r>
            <a:r>
              <a:rPr sz="2800" b="1" dirty="0">
                <a:latin typeface="Symbol"/>
                <a:cs typeface="Symbol"/>
              </a:rPr>
              <a:t></a:t>
            </a:r>
            <a:r>
              <a:rPr sz="2800" b="1" dirty="0">
                <a:latin typeface="Times New Roman"/>
                <a:cs typeface="Times New Roman"/>
              </a:rPr>
              <a:t>4 + 2</a:t>
            </a:r>
            <a:r>
              <a:rPr sz="2800" b="1" dirty="0">
                <a:latin typeface="Symbol"/>
                <a:cs typeface="Symbol"/>
              </a:rPr>
              <a:t></a:t>
            </a:r>
            <a:r>
              <a:rPr sz="2800" b="1" dirty="0">
                <a:latin typeface="Times New Roman"/>
                <a:cs typeface="Times New Roman"/>
              </a:rPr>
              <a:t>2 +1</a:t>
            </a:r>
            <a:r>
              <a:rPr sz="2800" b="1" dirty="0">
                <a:latin typeface="Symbol"/>
                <a:cs typeface="Symbol"/>
              </a:rPr>
              <a:t></a:t>
            </a:r>
            <a:r>
              <a:rPr sz="2800" b="1" dirty="0">
                <a:latin typeface="Times New Roman"/>
                <a:cs typeface="Times New Roman"/>
              </a:rPr>
              <a:t>8 =</a:t>
            </a:r>
            <a:r>
              <a:rPr sz="2800" b="1" spc="-4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28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653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9214" y="194072"/>
            <a:ext cx="8698869" cy="652805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卷积与多项式乘法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9214" y="1330865"/>
            <a:ext cx="8793462" cy="2018544"/>
          </a:xfrm>
          <a:prstGeom prst="rect">
            <a:avLst/>
          </a:prstGeom>
        </p:spPr>
        <p:txBody>
          <a:bodyPr vert="horz" wrap="square" lIns="0" tIns="86402" rIns="0" bIns="0" rtlCol="0">
            <a:spAutoFit/>
          </a:bodyPr>
          <a:lstStyle/>
          <a:p>
            <a:pPr marL="54000" algn="just">
              <a:spcBef>
                <a:spcPts val="680"/>
              </a:spcBef>
            </a:pP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多项式乘法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i="1" spc="-5" dirty="0">
                <a:latin typeface="Times New Roman"/>
                <a:cs typeface="Times New Roman"/>
              </a:rPr>
              <a:t>C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27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213977" marR="45900" indent="-11475" algn="just">
              <a:lnSpc>
                <a:spcPts val="3678"/>
              </a:lnSpc>
              <a:spcBef>
                <a:spcPts val="186"/>
              </a:spcBef>
            </a:pP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dirty="0">
                <a:latin typeface="Times New Roman"/>
                <a:cs typeface="Times New Roman"/>
              </a:rPr>
              <a:t>) =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0 </a:t>
            </a:r>
            <a:r>
              <a:rPr sz="2800" b="1" dirty="0">
                <a:latin typeface="Times New Roman"/>
                <a:cs typeface="Times New Roman"/>
              </a:rPr>
              <a:t>+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i="1" dirty="0">
                <a:latin typeface="Times New Roman"/>
                <a:cs typeface="Times New Roman"/>
              </a:rPr>
              <a:t>x </a:t>
            </a:r>
            <a:r>
              <a:rPr sz="2800" b="1" dirty="0">
                <a:latin typeface="Times New Roman"/>
                <a:cs typeface="Times New Roman"/>
              </a:rPr>
              <a:t>+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24305" dirty="0">
                <a:latin typeface="Times New Roman"/>
                <a:cs typeface="Times New Roman"/>
              </a:rPr>
              <a:t>2 </a:t>
            </a:r>
            <a:r>
              <a:rPr sz="2800" b="1" dirty="0">
                <a:latin typeface="Times New Roman"/>
                <a:cs typeface="Times New Roman"/>
              </a:rPr>
              <a:t>+ … +</a:t>
            </a:r>
            <a:r>
              <a:rPr sz="2800" b="1" spc="-106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spc="-7" baseline="-20833" dirty="0">
                <a:latin typeface="Times New Roman"/>
                <a:cs typeface="Times New Roman"/>
              </a:rPr>
              <a:t>m</a:t>
            </a:r>
            <a:r>
              <a:rPr sz="2800" b="1" spc="-7" baseline="-20833" dirty="0">
                <a:latin typeface="Symbol"/>
                <a:cs typeface="Symbol"/>
              </a:rPr>
              <a:t>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i="1" spc="-7" baseline="24305" dirty="0">
                <a:latin typeface="Times New Roman"/>
                <a:cs typeface="Times New Roman"/>
              </a:rPr>
              <a:t>m</a:t>
            </a:r>
            <a:r>
              <a:rPr sz="2800" b="1" spc="-7" baseline="24305" dirty="0">
                <a:latin typeface="Symbol"/>
                <a:cs typeface="Symbol"/>
              </a:rPr>
              <a:t></a:t>
            </a:r>
            <a:r>
              <a:rPr sz="2800" b="1" spc="-7" baseline="24305" dirty="0">
                <a:latin typeface="Times New Roman"/>
                <a:cs typeface="Times New Roman"/>
              </a:rPr>
              <a:t>1  </a:t>
            </a:r>
            <a:endParaRPr lang="en-US" sz="2800" b="1" spc="-7" baseline="24305" dirty="0" smtClean="0">
              <a:latin typeface="Times New Roman"/>
              <a:cs typeface="Times New Roman"/>
            </a:endParaRPr>
          </a:p>
          <a:p>
            <a:pPr marL="213977" marR="45900" indent="-11475" algn="just">
              <a:lnSpc>
                <a:spcPts val="3678"/>
              </a:lnSpc>
              <a:spcBef>
                <a:spcPts val="186"/>
              </a:spcBef>
            </a:pPr>
            <a:r>
              <a:rPr sz="2800" b="1" i="1" spc="-5" dirty="0" smtClean="0">
                <a:latin typeface="Times New Roman"/>
                <a:cs typeface="Times New Roman"/>
              </a:rPr>
              <a:t>B</a:t>
            </a:r>
            <a:r>
              <a:rPr sz="2800" b="1" spc="-5" dirty="0" smtClean="0">
                <a:latin typeface="Times New Roman"/>
                <a:cs typeface="Times New Roman"/>
              </a:rPr>
              <a:t>(</a:t>
            </a:r>
            <a:r>
              <a:rPr sz="2800" b="1" i="1" spc="-5" dirty="0" smtClean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 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spc="-7" baseline="-20833" dirty="0">
                <a:latin typeface="Times New Roman"/>
                <a:cs typeface="Times New Roman"/>
              </a:rPr>
              <a:t>0 </a:t>
            </a:r>
            <a:r>
              <a:rPr sz="2800" b="1" dirty="0">
                <a:latin typeface="Times New Roman"/>
                <a:cs typeface="Times New Roman"/>
              </a:rPr>
              <a:t>+ 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i="1" dirty="0">
                <a:latin typeface="Times New Roman"/>
                <a:cs typeface="Times New Roman"/>
              </a:rPr>
              <a:t>x </a:t>
            </a:r>
            <a:r>
              <a:rPr sz="2800" b="1" dirty="0">
                <a:latin typeface="Times New Roman"/>
                <a:cs typeface="Times New Roman"/>
              </a:rPr>
              <a:t>+ 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24305" dirty="0">
                <a:latin typeface="Times New Roman"/>
                <a:cs typeface="Times New Roman"/>
              </a:rPr>
              <a:t>2 </a:t>
            </a:r>
            <a:r>
              <a:rPr sz="2800" b="1" dirty="0">
                <a:latin typeface="Times New Roman"/>
                <a:cs typeface="Times New Roman"/>
              </a:rPr>
              <a:t>+ … + 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i="1" baseline="-20833" dirty="0">
                <a:latin typeface="Times New Roman"/>
                <a:cs typeface="Times New Roman"/>
              </a:rPr>
              <a:t>n</a:t>
            </a:r>
            <a:r>
              <a:rPr sz="2800" b="1" baseline="-20833" dirty="0">
                <a:latin typeface="Symbol"/>
                <a:cs typeface="Symbol"/>
              </a:rPr>
              <a:t>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24305" dirty="0">
                <a:latin typeface="Times New Roman"/>
                <a:cs typeface="Times New Roman"/>
              </a:rPr>
              <a:t>n</a:t>
            </a:r>
            <a:r>
              <a:rPr sz="2800" b="1" baseline="24305" dirty="0">
                <a:latin typeface="Symbol"/>
                <a:cs typeface="Symbol"/>
              </a:rPr>
              <a:t></a:t>
            </a:r>
            <a:r>
              <a:rPr sz="2800" b="1" baseline="24305" dirty="0">
                <a:latin typeface="Times New Roman"/>
                <a:cs typeface="Times New Roman"/>
              </a:rPr>
              <a:t>1  </a:t>
            </a:r>
            <a:endParaRPr lang="en-US" sz="2800" b="1" baseline="24305" dirty="0" smtClean="0">
              <a:latin typeface="Times New Roman"/>
              <a:cs typeface="Times New Roman"/>
            </a:endParaRPr>
          </a:p>
          <a:p>
            <a:pPr marL="213977" marR="45900" indent="-11475" algn="just">
              <a:lnSpc>
                <a:spcPts val="3678"/>
              </a:lnSpc>
              <a:spcBef>
                <a:spcPts val="186"/>
              </a:spcBef>
            </a:pPr>
            <a:r>
              <a:rPr sz="2800" b="1" i="1" spc="-5" dirty="0" smtClean="0">
                <a:latin typeface="Times New Roman"/>
                <a:cs typeface="Times New Roman"/>
              </a:rPr>
              <a:t>C</a:t>
            </a:r>
            <a:r>
              <a:rPr sz="2800" b="1" spc="-5" dirty="0" smtClean="0">
                <a:latin typeface="Times New Roman"/>
                <a:cs typeface="Times New Roman"/>
              </a:rPr>
              <a:t>(</a:t>
            </a:r>
            <a:r>
              <a:rPr sz="2800" b="1" i="1" spc="-5" dirty="0" smtClean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spc="-7" baseline="-20833" dirty="0">
                <a:latin typeface="Times New Roman"/>
                <a:cs typeface="Times New Roman"/>
              </a:rPr>
              <a:t>0 </a:t>
            </a:r>
            <a:r>
              <a:rPr sz="2800" b="1" dirty="0">
                <a:latin typeface="Times New Roman"/>
                <a:cs typeface="Times New Roman"/>
              </a:rPr>
              <a:t>+ 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i="1" dirty="0">
                <a:latin typeface="Times New Roman"/>
                <a:cs typeface="Times New Roman"/>
              </a:rPr>
              <a:t>x 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spc="-282" dirty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Times New Roman"/>
                <a:cs typeface="Times New Roman"/>
              </a:rPr>
              <a:t>…</a:t>
            </a:r>
            <a:r>
              <a:rPr sz="2800" b="1" baseline="13888" dirty="0" smtClean="0">
                <a:latin typeface="Times New Roman"/>
                <a:cs typeface="Times New Roman"/>
              </a:rPr>
              <a:t>+ </a:t>
            </a:r>
            <a:r>
              <a:rPr sz="2800" b="1" i="1" spc="-7" dirty="0">
                <a:latin typeface="Times New Roman"/>
                <a:cs typeface="Times New Roman"/>
              </a:rPr>
              <a:t>a</a:t>
            </a:r>
            <a:r>
              <a:rPr sz="2800" b="1" i="1" spc="-5" baseline="-25000" dirty="0">
                <a:latin typeface="Times New Roman"/>
                <a:cs typeface="Times New Roman"/>
              </a:rPr>
              <a:t>m</a:t>
            </a:r>
            <a:r>
              <a:rPr sz="2800" b="1" spc="-5" baseline="-25000" dirty="0">
                <a:latin typeface="Symbol"/>
                <a:cs typeface="Symbol"/>
              </a:rPr>
              <a:t></a:t>
            </a:r>
            <a:r>
              <a:rPr sz="2800" b="1" spc="-5" baseline="-25000" dirty="0">
                <a:latin typeface="Times New Roman"/>
                <a:cs typeface="Times New Roman"/>
              </a:rPr>
              <a:t>1</a:t>
            </a:r>
            <a:r>
              <a:rPr sz="2800" b="1" i="1" spc="-7" dirty="0">
                <a:latin typeface="Times New Roman"/>
                <a:cs typeface="Times New Roman"/>
              </a:rPr>
              <a:t>b</a:t>
            </a:r>
            <a:r>
              <a:rPr sz="2800" b="1" i="1" spc="-5" baseline="-25000" dirty="0">
                <a:latin typeface="Times New Roman"/>
                <a:cs typeface="Times New Roman"/>
              </a:rPr>
              <a:t>n</a:t>
            </a:r>
            <a:r>
              <a:rPr sz="2800" b="1" spc="-5" baseline="-25000" dirty="0">
                <a:latin typeface="Symbol"/>
                <a:cs typeface="Symbol"/>
              </a:rPr>
              <a:t></a:t>
            </a:r>
            <a:r>
              <a:rPr sz="2800" b="1" spc="-5" baseline="-25000" dirty="0">
                <a:latin typeface="Times New Roman"/>
                <a:cs typeface="Times New Roman"/>
              </a:rPr>
              <a:t>1</a:t>
            </a:r>
            <a:r>
              <a:rPr sz="2800" b="1" spc="-27" baseline="-25000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x</a:t>
            </a:r>
            <a:r>
              <a:rPr sz="2800" b="1" i="1" spc="-7" baseline="45138" dirty="0">
                <a:latin typeface="Times New Roman"/>
                <a:cs typeface="Times New Roman"/>
              </a:rPr>
              <a:t>m+n</a:t>
            </a:r>
            <a:r>
              <a:rPr sz="2800" b="1" spc="-7" baseline="45138" dirty="0">
                <a:latin typeface="Symbol"/>
                <a:cs typeface="Symbol"/>
              </a:rPr>
              <a:t></a:t>
            </a:r>
            <a:r>
              <a:rPr sz="2800" b="1" spc="-7" baseline="45138" dirty="0" smtClean="0">
                <a:latin typeface="Times New Roman"/>
                <a:cs typeface="Times New Roman"/>
              </a:rPr>
              <a:t>2</a:t>
            </a:r>
            <a:endParaRPr sz="2800" baseline="45138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 flipV="1">
            <a:off x="1420351" y="3309979"/>
            <a:ext cx="6231186" cy="45719"/>
          </a:xfrm>
          <a:custGeom>
            <a:avLst/>
            <a:gdLst/>
            <a:ahLst/>
            <a:cxnLst/>
            <a:rect l="l" t="t" r="r" b="b"/>
            <a:pathLst>
              <a:path w="3200400" h="1905">
                <a:moveTo>
                  <a:pt x="0" y="0"/>
                </a:moveTo>
                <a:lnTo>
                  <a:pt x="3200400" y="165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6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074" y="4146000"/>
            <a:ext cx="5829101" cy="1490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368913" y="3566794"/>
            <a:ext cx="24023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4000" algn="just">
              <a:spcBef>
                <a:spcPts val="1329"/>
              </a:spcBef>
            </a:pPr>
            <a:r>
              <a:rPr lang="zh-CN" altLang="en-US" sz="2800" b="1" spc="-5" dirty="0">
                <a:latin typeface="黑体" pitchFamily="49" charset="-122"/>
                <a:ea typeface="黑体" pitchFamily="49" charset="-122"/>
                <a:cs typeface="宋体"/>
              </a:rPr>
              <a:t>其</a:t>
            </a:r>
            <a:r>
              <a:rPr lang="zh-CN" altLang="en-US" sz="2800" b="1" spc="-11" dirty="0">
                <a:latin typeface="黑体" pitchFamily="49" charset="-122"/>
                <a:ea typeface="黑体" pitchFamily="49" charset="-122"/>
                <a:cs typeface="宋体"/>
              </a:rPr>
              <a:t>中</a:t>
            </a:r>
            <a:r>
              <a:rPr lang="zh-CN" altLang="en-US" sz="2800" b="1" spc="-654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2800" b="1" i="1" spc="-5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x</a:t>
            </a:r>
            <a:r>
              <a:rPr lang="en-US" altLang="zh-CN" sz="2800" b="1" i="1" spc="-7" baseline="24305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k</a:t>
            </a:r>
            <a:r>
              <a:rPr lang="en-US" altLang="zh-CN" sz="2800" b="1" i="1" baseline="24305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sz="2800" b="1" spc="-5" dirty="0">
                <a:latin typeface="黑体" pitchFamily="49" charset="-122"/>
                <a:ea typeface="黑体" pitchFamily="49" charset="-122"/>
                <a:cs typeface="宋体"/>
              </a:rPr>
              <a:t>的系数</a:t>
            </a:r>
            <a:endParaRPr lang="zh-CN" altLang="en-US"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16400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8883" y="85679"/>
            <a:ext cx="8944303" cy="628503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L="13500" algn="ctr">
              <a:spcBef>
                <a:spcPts val="101"/>
              </a:spcBef>
            </a:pPr>
            <a:r>
              <a:rPr sz="40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卷积应用：信号平滑处理</a:t>
            </a:r>
            <a:endParaRPr sz="40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00226"/>
            <a:ext cx="183065" cy="3952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4" name="object 4"/>
          <p:cNvSpPr/>
          <p:nvPr/>
        </p:nvSpPr>
        <p:spPr>
          <a:xfrm>
            <a:off x="11339" y="627767"/>
            <a:ext cx="199265" cy="3952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5" name="object 5"/>
          <p:cNvSpPr/>
          <p:nvPr/>
        </p:nvSpPr>
        <p:spPr>
          <a:xfrm>
            <a:off x="0" y="600226"/>
            <a:ext cx="183065" cy="3952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6" name="object 6"/>
          <p:cNvSpPr/>
          <p:nvPr/>
        </p:nvSpPr>
        <p:spPr>
          <a:xfrm>
            <a:off x="11339" y="627767"/>
            <a:ext cx="199265" cy="3952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7" name="object 7"/>
          <p:cNvSpPr/>
          <p:nvPr/>
        </p:nvSpPr>
        <p:spPr>
          <a:xfrm>
            <a:off x="0" y="600226"/>
            <a:ext cx="183065" cy="3952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8" name="object 8"/>
          <p:cNvSpPr/>
          <p:nvPr/>
        </p:nvSpPr>
        <p:spPr>
          <a:xfrm>
            <a:off x="11339" y="627767"/>
            <a:ext cx="199265" cy="3952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9" name="object 9"/>
          <p:cNvSpPr txBox="1"/>
          <p:nvPr/>
        </p:nvSpPr>
        <p:spPr>
          <a:xfrm>
            <a:off x="488714" y="1568202"/>
            <a:ext cx="6733180" cy="444519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由于噪音干扰，对信号需要平滑处理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08349" y="2222939"/>
            <a:ext cx="5044815" cy="26884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6"/>
          </a:p>
        </p:txBody>
      </p:sp>
    </p:spTree>
    <p:extLst>
      <p:ext uri="{BB962C8B-B14F-4D97-AF65-F5344CB8AC3E}">
        <p14:creationId xmlns:p14="http://schemas.microsoft.com/office/powerpoint/2010/main" val="401245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224" y="135715"/>
            <a:ext cx="8992493" cy="652805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平滑处理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4211" y="1318011"/>
            <a:ext cx="8591169" cy="1051993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05976" marR="18900" indent="-79651">
              <a:lnSpc>
                <a:spcPct val="118700"/>
              </a:lnSpc>
              <a:spcBef>
                <a:spcPts val="106"/>
              </a:spcBef>
            </a:pPr>
            <a:r>
              <a:rPr sz="2800" b="1" dirty="0">
                <a:latin typeface="宋体"/>
                <a:cs typeface="宋体"/>
              </a:rPr>
              <a:t>信号向量</a:t>
            </a:r>
            <a:r>
              <a:rPr sz="2800" b="1" spc="-11" dirty="0">
                <a:latin typeface="宋体"/>
                <a:cs typeface="宋体"/>
              </a:rPr>
              <a:t>：</a:t>
            </a:r>
            <a:r>
              <a:rPr sz="2800" b="1" spc="-664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dirty="0">
                <a:latin typeface="Times New Roman"/>
                <a:cs typeface="Times New Roman"/>
              </a:rPr>
              <a:t>=(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baseline="-20833" dirty="0">
                <a:latin typeface="Times New Roman"/>
                <a:cs typeface="Times New Roman"/>
              </a:rPr>
              <a:t>0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6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6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</a:t>
            </a:r>
            <a:r>
              <a:rPr sz="2800" b="1" spc="-1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spc="-7" baseline="-20833" dirty="0">
                <a:latin typeface="Times New Roman"/>
                <a:cs typeface="Times New Roman"/>
              </a:rPr>
              <a:t>m</a:t>
            </a:r>
            <a:r>
              <a:rPr sz="2800" b="1" spc="-7" baseline="-20833" dirty="0">
                <a:latin typeface="Symbol"/>
                <a:cs typeface="Symbol"/>
              </a:rPr>
              <a:t>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)  </a:t>
            </a:r>
            <a:endParaRPr lang="en-US" sz="2800" b="1" spc="-5" dirty="0" smtClean="0">
              <a:latin typeface="Times New Roman"/>
              <a:cs typeface="Times New Roman"/>
            </a:endParaRPr>
          </a:p>
          <a:p>
            <a:pPr marL="105976" marR="18900" indent="-79651">
              <a:lnSpc>
                <a:spcPct val="118700"/>
              </a:lnSpc>
              <a:spcBef>
                <a:spcPts val="106"/>
              </a:spcBef>
            </a:pPr>
            <a:r>
              <a:rPr lang="en-US" sz="2800" b="1" i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                     </a:t>
            </a:r>
            <a:r>
              <a:rPr sz="2800" b="1" i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=(</a:t>
            </a:r>
            <a:r>
              <a:rPr sz="2800" b="1" i="1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2800" b="1" baseline="-20833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2800" b="1" i="1" baseline="-20833" dirty="0">
                <a:solidFill>
                  <a:srgbClr val="C00000"/>
                </a:solidFill>
                <a:latin typeface="Times New Roman"/>
                <a:cs typeface="Times New Roman"/>
              </a:rPr>
              <a:t>k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,</a:t>
            </a:r>
            <a:r>
              <a:rPr sz="2800" b="1" i="1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2800" b="1" baseline="-20833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2800" b="1" i="1" baseline="-20833" dirty="0">
                <a:solidFill>
                  <a:srgbClr val="C00000"/>
                </a:solidFill>
                <a:latin typeface="Times New Roman"/>
                <a:cs typeface="Times New Roman"/>
              </a:rPr>
              <a:t>k</a:t>
            </a:r>
            <a:r>
              <a:rPr sz="2800" b="1" baseline="-20833" dirty="0">
                <a:solidFill>
                  <a:srgbClr val="C00000"/>
                </a:solidFill>
                <a:latin typeface="Symbol"/>
                <a:cs typeface="Symbol"/>
              </a:rPr>
              <a:t></a:t>
            </a:r>
            <a:r>
              <a:rPr sz="2800" b="1" baseline="-20833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,…,</a:t>
            </a:r>
            <a:r>
              <a:rPr sz="2800" b="1" i="1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2800" b="1" baseline="-20833" dirty="0">
                <a:solidFill>
                  <a:srgbClr val="C00000"/>
                </a:solidFill>
                <a:latin typeface="Times New Roman"/>
                <a:cs typeface="Times New Roman"/>
              </a:rPr>
              <a:t>0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)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=(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w</a:t>
            </a:r>
            <a:r>
              <a:rPr sz="2800" b="1" i="1" spc="-7" baseline="-20833" dirty="0">
                <a:solidFill>
                  <a:srgbClr val="C00000"/>
                </a:solidFill>
                <a:latin typeface="Times New Roman"/>
                <a:cs typeface="Times New Roman"/>
              </a:rPr>
              <a:t>-k </a:t>
            </a:r>
            <a:r>
              <a:rPr sz="2800" b="1" i="1" dirty="0">
                <a:solidFill>
                  <a:srgbClr val="C00000"/>
                </a:solidFill>
                <a:latin typeface="Times New Roman"/>
                <a:cs typeface="Times New Roman"/>
              </a:rPr>
              <a:t>, ... ,</a:t>
            </a:r>
            <a:r>
              <a:rPr sz="2800" b="1" i="1" spc="-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w</a:t>
            </a:r>
            <a:r>
              <a:rPr sz="2800" b="1" i="1" spc="-7" baseline="-20833" dirty="0">
                <a:solidFill>
                  <a:srgbClr val="C00000"/>
                </a:solidFill>
                <a:latin typeface="Times New Roman"/>
                <a:cs typeface="Times New Roman"/>
              </a:rPr>
              <a:t>k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1713" y="4403872"/>
            <a:ext cx="8776880" cy="888230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500" marR="32400" algn="just">
              <a:spcBef>
                <a:spcPts val="106"/>
              </a:spcBef>
            </a:pPr>
            <a:r>
              <a:rPr sz="2800" b="1" dirty="0" smtClean="0">
                <a:latin typeface="宋体"/>
                <a:cs typeface="宋体"/>
              </a:rPr>
              <a:t>把向</a:t>
            </a:r>
            <a:r>
              <a:rPr sz="2800" b="1" spc="-11" dirty="0" smtClean="0">
                <a:latin typeface="宋体"/>
                <a:cs typeface="宋体"/>
              </a:rPr>
              <a:t>量</a:t>
            </a:r>
            <a:r>
              <a:rPr sz="2800" b="1" i="1" dirty="0" smtClean="0">
                <a:latin typeface="Times New Roman"/>
                <a:cs typeface="Times New Roman"/>
              </a:rPr>
              <a:t>b</a:t>
            </a:r>
            <a:r>
              <a:rPr sz="2800" b="1" dirty="0" smtClean="0">
                <a:latin typeface="宋体"/>
                <a:cs typeface="宋体"/>
              </a:rPr>
              <a:t>看作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Times New Roman"/>
                <a:cs typeface="Times New Roman"/>
              </a:rPr>
              <a:t>+1</a:t>
            </a:r>
            <a:r>
              <a:rPr sz="2800" b="1" dirty="0">
                <a:latin typeface="宋体"/>
                <a:cs typeface="宋体"/>
              </a:rPr>
              <a:t>长度窗口在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dirty="0" smtClean="0">
                <a:latin typeface="宋体"/>
                <a:cs typeface="宋体"/>
              </a:rPr>
              <a:t>上移动计</a:t>
            </a:r>
            <a:r>
              <a:rPr sz="2800" b="1" spc="-11" dirty="0" smtClean="0">
                <a:latin typeface="宋体"/>
                <a:cs typeface="宋体"/>
              </a:rPr>
              <a:t>算</a:t>
            </a:r>
            <a:r>
              <a:rPr sz="2800" b="1" i="1" spc="-5" dirty="0" smtClean="0">
                <a:latin typeface="Times New Roman"/>
                <a:cs typeface="Times New Roman"/>
              </a:rPr>
              <a:t>a</a:t>
            </a:r>
            <a:r>
              <a:rPr sz="2800" b="1" spc="-5" dirty="0">
                <a:latin typeface="Symbol"/>
                <a:cs typeface="Symbol"/>
              </a:rPr>
              <a:t>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i="1" spc="-5" dirty="0" smtClean="0">
                <a:latin typeface="Times New Roman"/>
                <a:cs typeface="Times New Roman"/>
              </a:rPr>
              <a:t>,</a:t>
            </a:r>
            <a:endParaRPr lang="en-US" sz="2800" b="1" i="1" spc="-5" dirty="0" smtClean="0">
              <a:latin typeface="Times New Roman"/>
              <a:cs typeface="Times New Roman"/>
            </a:endParaRPr>
          </a:p>
          <a:p>
            <a:pPr marL="40500" marR="32400" algn="just">
              <a:spcBef>
                <a:spcPts val="106"/>
              </a:spcBef>
            </a:pPr>
            <a:r>
              <a:rPr sz="2800" b="1" dirty="0" err="1" smtClean="0">
                <a:latin typeface="宋体"/>
                <a:cs typeface="宋体"/>
              </a:rPr>
              <a:t>得</a:t>
            </a:r>
            <a:r>
              <a:rPr sz="2800" b="1" spc="-11" dirty="0" err="1" smtClean="0">
                <a:latin typeface="宋体"/>
                <a:cs typeface="宋体"/>
              </a:rPr>
              <a:t>到</a:t>
            </a:r>
            <a:r>
              <a:rPr sz="2800" b="1" dirty="0" smtClean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baseline="-20833" dirty="0">
                <a:latin typeface="Times New Roman"/>
                <a:cs typeface="Times New Roman"/>
              </a:rPr>
              <a:t>0</a:t>
            </a:r>
            <a:r>
              <a:rPr sz="2800" b="1" dirty="0">
                <a:latin typeface="Symbol"/>
                <a:cs typeface="Symbol"/>
              </a:rPr>
              <a:t>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Symbol"/>
                <a:cs typeface="Symbol"/>
              </a:rPr>
              <a:t></a:t>
            </a:r>
            <a:r>
              <a:rPr sz="2800" b="1" spc="-5" dirty="0">
                <a:latin typeface="Times New Roman"/>
                <a:cs typeface="Times New Roman"/>
              </a:rPr>
              <a:t>,…,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spc="-7" baseline="-20833" dirty="0">
                <a:latin typeface="Times New Roman"/>
                <a:cs typeface="Times New Roman"/>
              </a:rPr>
              <a:t>m</a:t>
            </a:r>
            <a:r>
              <a:rPr sz="2800" b="1" spc="-7" baseline="-20833" dirty="0">
                <a:latin typeface="Times New Roman"/>
                <a:cs typeface="Times New Roman"/>
              </a:rPr>
              <a:t>-1</a:t>
            </a:r>
            <a:r>
              <a:rPr sz="2800" b="1" spc="-5" dirty="0">
                <a:latin typeface="Symbol"/>
                <a:cs typeface="Symbol"/>
              </a:rPr>
              <a:t></a:t>
            </a:r>
            <a:r>
              <a:rPr sz="2800" b="1" spc="-5" dirty="0">
                <a:latin typeface="Times New Roman"/>
                <a:cs typeface="Times New Roman"/>
              </a:rPr>
              <a:t>).</a:t>
            </a:r>
            <a:r>
              <a:rPr sz="2800" b="1" spc="11" dirty="0">
                <a:latin typeface="Times New Roman"/>
                <a:cs typeface="Times New Roman"/>
              </a:rPr>
              <a:t> </a:t>
            </a:r>
            <a:r>
              <a:rPr sz="2800" b="1" spc="-11" dirty="0" err="1" smtClean="0">
                <a:latin typeface="宋体"/>
                <a:cs typeface="宋体"/>
              </a:rPr>
              <a:t>有</a:t>
            </a:r>
            <a:r>
              <a:rPr sz="2800" b="1" dirty="0" err="1" smtClean="0">
                <a:latin typeface="宋体"/>
                <a:cs typeface="宋体"/>
              </a:rPr>
              <a:t>少数项有误差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/>
          </p:nvPr>
        </p:nvGraphicFramePr>
        <p:xfrm>
          <a:off x="540015" y="3476344"/>
          <a:ext cx="5080858" cy="2916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30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2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2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2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2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6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253" y="2503243"/>
            <a:ext cx="4959690" cy="925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9" name="object 17"/>
          <p:cNvGraphicFramePr>
            <a:graphicFrameLocks noGrp="1"/>
          </p:cNvGraphicFramePr>
          <p:nvPr>
            <p:extLst/>
          </p:nvPr>
        </p:nvGraphicFramePr>
        <p:xfrm>
          <a:off x="539410" y="3872729"/>
          <a:ext cx="2534692" cy="356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9050">
                      <a:solidFill>
                        <a:srgbClr val="C00000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093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74 -4.6022E-6 L 0.05486 -4.6022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506 -4.6022E-6 L 0.10303 -4.6022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7711" y="1284395"/>
            <a:ext cx="1868958" cy="954775"/>
          </a:xfrm>
          <a:prstGeom prst="rect">
            <a:avLst/>
          </a:prstGeom>
        </p:spPr>
        <p:txBody>
          <a:bodyPr vert="horz" wrap="square" lIns="0" tIns="54001" rIns="0" bIns="0" rtlCol="0">
            <a:spAutoFit/>
          </a:bodyPr>
          <a:lstStyle/>
          <a:p>
            <a:pPr marL="13500">
              <a:spcBef>
                <a:spcPts val="425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信号向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量</a:t>
            </a:r>
            <a:r>
              <a:rPr sz="2551" b="1" dirty="0">
                <a:latin typeface="Times New Roman"/>
                <a:cs typeface="Times New Roman"/>
              </a:rPr>
              <a:t>:</a:t>
            </a:r>
            <a:endParaRPr sz="2551" dirty="0">
              <a:latin typeface="Times New Roman"/>
              <a:cs typeface="Times New Roman"/>
            </a:endParaRPr>
          </a:p>
          <a:p>
            <a:pPr marL="13500">
              <a:spcBef>
                <a:spcPts val="319"/>
              </a:spcBef>
            </a:pP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步长</a:t>
            </a:r>
            <a:r>
              <a:rPr sz="2551" b="1" dirty="0">
                <a:latin typeface="宋体"/>
                <a:cs typeface="宋体"/>
              </a:rPr>
              <a:t>：</a:t>
            </a:r>
            <a:endParaRPr sz="2551" dirty="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11075" y="1270348"/>
            <a:ext cx="5749380" cy="954775"/>
          </a:xfrm>
          <a:prstGeom prst="rect">
            <a:avLst/>
          </a:prstGeom>
        </p:spPr>
        <p:txBody>
          <a:bodyPr vert="horz" wrap="square" lIns="0" tIns="54001" rIns="0" bIns="0" rtlCol="0">
            <a:spAutoFit/>
          </a:bodyPr>
          <a:lstStyle/>
          <a:p>
            <a:pPr marL="56025">
              <a:spcBef>
                <a:spcPts val="425"/>
              </a:spcBef>
            </a:pP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dirty="0">
                <a:latin typeface="Times New Roman"/>
                <a:cs typeface="Times New Roman"/>
              </a:rPr>
              <a:t>= (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spc="-5" dirty="0">
                <a:latin typeface="Times New Roman"/>
                <a:cs typeface="Times New Roman"/>
              </a:rPr>
              <a:t>,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, </a:t>
            </a:r>
            <a:r>
              <a:rPr sz="2800" b="1" dirty="0">
                <a:latin typeface="Times New Roman"/>
                <a:cs typeface="Times New Roman"/>
              </a:rPr>
              <a:t>… ,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8</a:t>
            </a:r>
            <a:r>
              <a:rPr sz="2800" b="1" spc="-151" baseline="-2083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27000">
              <a:spcBef>
                <a:spcPts val="319"/>
              </a:spcBef>
            </a:pPr>
            <a:r>
              <a:rPr sz="2800" b="1" i="1" dirty="0">
                <a:latin typeface="Times New Roman"/>
                <a:cs typeface="Times New Roman"/>
              </a:rPr>
              <a:t>k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710383" y="2234923"/>
            <a:ext cx="8912076" cy="2194535"/>
          </a:xfrm>
          <a:prstGeom prst="rect">
            <a:avLst/>
          </a:prstGeom>
        </p:spPr>
        <p:txBody>
          <a:bodyPr vert="horz" wrap="square" lIns="0" tIns="48601" rIns="0" bIns="0" rtlCol="0">
            <a:spAutoFit/>
          </a:bodyPr>
          <a:lstStyle/>
          <a:p>
            <a:pPr marR="1034783">
              <a:lnSpc>
                <a:spcPct val="100000"/>
              </a:lnSpc>
              <a:spcBef>
                <a:spcPts val="383"/>
              </a:spcBef>
            </a:pP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权值</a:t>
            </a:r>
            <a:r>
              <a:rPr sz="2800" b="1" spc="-11" dirty="0">
                <a:latin typeface="宋体"/>
                <a:cs typeface="宋体"/>
              </a:rPr>
              <a:t>：</a:t>
            </a:r>
            <a:r>
              <a:rPr sz="2800" b="1" spc="-659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i="1" spc="-11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=</a:t>
            </a:r>
            <a:r>
              <a:rPr sz="2800" b="1" spc="-5" dirty="0" smtClean="0"/>
              <a:t> </a:t>
            </a:r>
            <a:r>
              <a:rPr sz="2800" b="1" dirty="0"/>
              <a:t>(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baseline="-20833" dirty="0">
                <a:latin typeface="Symbol"/>
                <a:cs typeface="Symbol"/>
              </a:rPr>
              <a:t></a:t>
            </a:r>
            <a:r>
              <a:rPr sz="2800" b="1" baseline="-20833" dirty="0"/>
              <a:t>2</a:t>
            </a:r>
            <a:r>
              <a:rPr sz="2800" b="1" dirty="0"/>
              <a:t>,</a:t>
            </a:r>
            <a:r>
              <a:rPr sz="2800" b="1" spc="-21" dirty="0"/>
              <a:t> 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baseline="-20833" dirty="0">
                <a:latin typeface="Symbol"/>
                <a:cs typeface="Symbol"/>
              </a:rPr>
              <a:t></a:t>
            </a:r>
            <a:r>
              <a:rPr sz="2800" b="1" baseline="-20833" dirty="0"/>
              <a:t>1</a:t>
            </a:r>
            <a:r>
              <a:rPr sz="2800" b="1" dirty="0"/>
              <a:t>,</a:t>
            </a:r>
            <a:r>
              <a:rPr sz="2800" b="1" spc="-21" dirty="0"/>
              <a:t> 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spc="-7" baseline="-20833" dirty="0"/>
              <a:t>0</a:t>
            </a:r>
            <a:r>
              <a:rPr sz="2800" b="1" spc="-5" dirty="0"/>
              <a:t>, 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spc="-7" baseline="-20833" dirty="0"/>
              <a:t>1</a:t>
            </a:r>
            <a:r>
              <a:rPr sz="2800" b="1" spc="-5" dirty="0"/>
              <a:t>,</a:t>
            </a:r>
            <a:r>
              <a:rPr sz="2800" b="1" spc="-11" dirty="0"/>
              <a:t> 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spc="-7" baseline="-20833" dirty="0"/>
              <a:t>2</a:t>
            </a:r>
            <a:r>
              <a:rPr sz="2800" b="1" spc="-5" dirty="0"/>
              <a:t>)</a:t>
            </a:r>
            <a:endParaRPr sz="2800" b="1" dirty="0">
              <a:latin typeface="Times New Roman"/>
              <a:cs typeface="Times New Roman"/>
            </a:endParaRPr>
          </a:p>
          <a:p>
            <a:pPr marL="0" marR="9450" indent="0">
              <a:lnSpc>
                <a:spcPct val="100000"/>
              </a:lnSpc>
              <a:spcBef>
                <a:spcPts val="287"/>
              </a:spcBef>
              <a:buNone/>
            </a:pPr>
            <a:r>
              <a:rPr lang="en-US" sz="2800" b="1" dirty="0" smtClean="0"/>
              <a:t>                     </a:t>
            </a:r>
            <a:r>
              <a:rPr lang="en-US" altLang="zh-CN" sz="2800" b="1" dirty="0" smtClean="0">
                <a:latin typeface="Times New Roman"/>
                <a:cs typeface="Times New Roman"/>
              </a:rPr>
              <a:t>=</a:t>
            </a:r>
            <a:r>
              <a:rPr sz="2800" b="1" dirty="0" smtClean="0"/>
              <a:t> </a:t>
            </a:r>
            <a:r>
              <a:rPr sz="2800" b="1" dirty="0"/>
              <a:t>( 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spc="-7" baseline="-20833" dirty="0"/>
              <a:t>4</a:t>
            </a:r>
            <a:r>
              <a:rPr sz="2800" b="1" spc="-5" dirty="0"/>
              <a:t>, 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spc="-7" baseline="-20833" dirty="0"/>
              <a:t>3</a:t>
            </a:r>
            <a:r>
              <a:rPr sz="2800" b="1" spc="-5" dirty="0"/>
              <a:t>, 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spc="-7" baseline="-20833" dirty="0"/>
              <a:t>2</a:t>
            </a:r>
            <a:r>
              <a:rPr sz="2800" b="1" spc="-5" dirty="0"/>
              <a:t>, 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spc="-7" baseline="-20833" dirty="0"/>
              <a:t>1</a:t>
            </a:r>
            <a:r>
              <a:rPr sz="2800" b="1" spc="-5" dirty="0"/>
              <a:t>, 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spc="-7" baseline="-20833" dirty="0"/>
              <a:t>0</a:t>
            </a:r>
            <a:r>
              <a:rPr sz="2800" b="1" spc="-47" baseline="-20833" dirty="0"/>
              <a:t> </a:t>
            </a:r>
            <a:r>
              <a:rPr sz="2800" b="1" dirty="0"/>
              <a:t>)</a:t>
            </a:r>
            <a:endParaRPr sz="2800" b="1" dirty="0">
              <a:latin typeface="Times New Roman"/>
              <a:cs typeface="Times New Roman"/>
            </a:endParaRPr>
          </a:p>
          <a:p>
            <a:pPr marL="40500">
              <a:lnSpc>
                <a:spcPct val="100000"/>
              </a:lnSpc>
              <a:spcBef>
                <a:spcPts val="16"/>
              </a:spcBef>
            </a:pPr>
            <a:endParaRPr lang="en-US" b="1" spc="-5" dirty="0" smtClean="0">
              <a:latin typeface="宋体"/>
              <a:cs typeface="宋体"/>
            </a:endParaRPr>
          </a:p>
          <a:p>
            <a:pPr marL="40500">
              <a:lnSpc>
                <a:spcPct val="100000"/>
              </a:lnSpc>
              <a:spcBef>
                <a:spcPts val="16"/>
              </a:spcBef>
            </a:pPr>
            <a:endParaRPr lang="en-US" b="1" spc="-5" dirty="0">
              <a:latin typeface="宋体"/>
              <a:cs typeface="宋体"/>
            </a:endParaRPr>
          </a:p>
          <a:p>
            <a:pPr marL="40500">
              <a:lnSpc>
                <a:spcPct val="100000"/>
              </a:lnSpc>
              <a:spcBef>
                <a:spcPts val="16"/>
              </a:spcBef>
            </a:pP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下标之和</a:t>
            </a:r>
            <a:r>
              <a:rPr sz="2800" b="1" spc="-11" dirty="0" err="1" smtClean="0">
                <a:latin typeface="黑体" pitchFamily="49" charset="-122"/>
                <a:ea typeface="黑体" pitchFamily="49" charset="-122"/>
                <a:cs typeface="宋体"/>
              </a:rPr>
              <a:t>为</a:t>
            </a:r>
            <a:r>
              <a:rPr sz="2800" b="1" spc="-654" dirty="0" smtClean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dirty="0">
                <a:latin typeface="黑体" pitchFamily="49" charset="-122"/>
                <a:ea typeface="黑体" pitchFamily="49" charset="-122"/>
                <a:cs typeface="Times New Roman"/>
              </a:rPr>
              <a:t>i</a:t>
            </a:r>
            <a:r>
              <a:rPr sz="2800" b="1" i="1" spc="-11" dirty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i="1" dirty="0">
                <a:latin typeface="黑体" pitchFamily="49" charset="-122"/>
                <a:ea typeface="黑体" pitchFamily="49" charset="-122"/>
                <a:cs typeface="Times New Roman"/>
              </a:rPr>
              <a:t>+</a:t>
            </a:r>
            <a:r>
              <a:rPr sz="2800" b="1" i="1" spc="-5" dirty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i="1" dirty="0">
                <a:latin typeface="黑体" pitchFamily="49" charset="-122"/>
                <a:ea typeface="黑体" pitchFamily="49" charset="-122"/>
                <a:cs typeface="Times New Roman"/>
              </a:rPr>
              <a:t>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7201" y="159282"/>
            <a:ext cx="8862413" cy="652805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/>
          </p:nvPr>
        </p:nvGraphicFramePr>
        <p:xfrm>
          <a:off x="378010" y="4954523"/>
          <a:ext cx="5184812" cy="4860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3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8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4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4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4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86013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6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 baseline="-20833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47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6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8476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6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8476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6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8476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6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8476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6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600" baseline="-20833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476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6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8476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6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8476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6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 baseline="-20833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476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701045" y="5554403"/>
            <a:ext cx="243007" cy="263257"/>
          </a:xfrm>
          <a:custGeom>
            <a:avLst/>
            <a:gdLst/>
            <a:ahLst/>
            <a:cxnLst/>
            <a:rect l="l" t="t" r="r" b="b"/>
            <a:pathLst>
              <a:path w="228600" h="247650">
                <a:moveTo>
                  <a:pt x="0" y="114300"/>
                </a:moveTo>
                <a:lnTo>
                  <a:pt x="114300" y="0"/>
                </a:lnTo>
                <a:lnTo>
                  <a:pt x="228600" y="114300"/>
                </a:lnTo>
                <a:lnTo>
                  <a:pt x="171450" y="114300"/>
                </a:lnTo>
                <a:lnTo>
                  <a:pt x="171450" y="247650"/>
                </a:lnTo>
                <a:lnTo>
                  <a:pt x="57150" y="247650"/>
                </a:lnTo>
                <a:lnTo>
                  <a:pt x="57150" y="114300"/>
                </a:lnTo>
                <a:lnTo>
                  <a:pt x="0" y="114300"/>
                </a:lnTo>
                <a:close/>
              </a:path>
            </a:pathLst>
          </a:custGeom>
          <a:ln w="31750">
            <a:solidFill>
              <a:srgbClr val="938953"/>
            </a:solidFill>
          </a:ln>
        </p:spPr>
        <p:txBody>
          <a:bodyPr wrap="square" lIns="0" tIns="0" rIns="0" bIns="0" rtlCol="0"/>
          <a:lstStyle/>
          <a:p>
            <a:endParaRPr sz="1626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31" y="3380677"/>
            <a:ext cx="6304804" cy="543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object 6"/>
          <p:cNvGraphicFramePr>
            <a:graphicFrameLocks noGrp="1"/>
          </p:cNvGraphicFramePr>
          <p:nvPr>
            <p:extLst/>
          </p:nvPr>
        </p:nvGraphicFramePr>
        <p:xfrm>
          <a:off x="398380" y="4439685"/>
          <a:ext cx="2846552" cy="4961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6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6138">
                <a:tc>
                  <a:txBody>
                    <a:bodyPr/>
                    <a:lstStyle/>
                    <a:p>
                      <a:pPr marL="91440">
                        <a:lnSpc>
                          <a:spcPts val="2685"/>
                        </a:lnSpc>
                        <a:spcBef>
                          <a:spcPts val="890"/>
                        </a:spcBef>
                        <a:tabLst>
                          <a:tab pos="683895" algn="l"/>
                          <a:tab pos="1276985" algn="l"/>
                          <a:tab pos="1810385" algn="l"/>
                          <a:tab pos="2267585" algn="l"/>
                        </a:tabLst>
                      </a:pPr>
                      <a:r>
                        <a:rPr sz="3800" b="1" i="1" baseline="13888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700" b="1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2	</a:t>
                      </a:r>
                      <a:r>
                        <a:rPr sz="3800" b="1" i="1" baseline="13888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700" b="1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1	</a:t>
                      </a:r>
                      <a:r>
                        <a:rPr sz="3800" b="1" i="1" spc="-7" baseline="13888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0	</a:t>
                      </a:r>
                      <a:r>
                        <a:rPr sz="3800" b="1" i="1" spc="-7" baseline="13888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1	</a:t>
                      </a:r>
                      <a:r>
                        <a:rPr sz="3800" b="1" i="1" spc="-7" baseline="13888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0153" marB="0">
                    <a:lnL w="53975">
                      <a:solidFill>
                        <a:srgbClr val="C00000"/>
                      </a:solidFill>
                      <a:prstDash val="solid"/>
                    </a:lnL>
                    <a:lnR w="53975">
                      <a:solidFill>
                        <a:srgbClr val="C00000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54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85 1.38311E-6 L 0.06025 1.383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6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9 3.41493E-6 L 0.05536 3.4149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613 1.38311E-6 L 0.11561 1.38311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6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29 3.41493E-6 L 0.11528 0.0012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41" y="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561 4.16157E-6 L 0.18321 4.16157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528 0.00122 L 0.17619 0.00391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7" y="1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322 -4.98164E-6 L 0.23841 0.00123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60" y="4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3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619 0.00391 L 0.23792 0.00097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86" y="-1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7" grpId="3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2026588" y="1500759"/>
          <a:ext cx="4815579" cy="41094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2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214">
                <a:tc>
                  <a:txBody>
                    <a:bodyPr/>
                    <a:lstStyle/>
                    <a:p>
                      <a:pPr marR="51435" algn="ctr">
                        <a:lnSpc>
                          <a:spcPts val="2620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600" b="1" spc="-5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600" baseline="-20833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0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600" b="1" spc="-44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ts val="2620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600" b="1" spc="-44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ts val="2620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600" b="1" spc="-14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ts val="2620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600" b="1" spc="-14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4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117">
                <a:tc>
                  <a:txBody>
                    <a:bodyPr/>
                    <a:lstStyle/>
                    <a:p>
                      <a:pPr marR="51435" algn="ct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600" b="1" spc="-5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600" b="1" spc="-44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600" b="1" spc="-44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600" b="1" spc="-14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600" baseline="-20833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600" b="1" spc="-14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4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711">
                <a:tc>
                  <a:txBody>
                    <a:bodyPr/>
                    <a:lstStyle/>
                    <a:p>
                      <a:pPr marR="51435" algn="ct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600" b="1" spc="-5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600" b="1" spc="-44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600" b="1" spc="-44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600" b="1" spc="-14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600" b="1" spc="-14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4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703">
                <a:tc>
                  <a:txBody>
                    <a:bodyPr/>
                    <a:lstStyle/>
                    <a:p>
                      <a:pPr marR="51435" algn="ct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600" b="1" spc="-5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600" b="1" spc="-44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600" b="1" spc="-44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600" b="1" spc="-14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600" b="1" spc="-14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4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026">
                <a:tc>
                  <a:txBody>
                    <a:bodyPr/>
                    <a:lstStyle/>
                    <a:p>
                      <a:pPr marR="51435" algn="ct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600" b="1" spc="-67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600" baseline="-20833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600" b="1" spc="-5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600" b="1" spc="-5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600" b="1" spc="-157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600" b="1" spc="-165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baseline="-20833" dirty="0">
                          <a:latin typeface="Times New Roman"/>
                          <a:cs typeface="Times New Roman"/>
                        </a:rPr>
                        <a:t>4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677">
                <a:tc>
                  <a:txBody>
                    <a:bodyPr/>
                    <a:lstStyle/>
                    <a:p>
                      <a:pPr marR="51435" algn="ctr">
                        <a:lnSpc>
                          <a:spcPts val="2790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2600" b="1" spc="-5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2600" b="1" spc="-44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ts val="2790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2600" b="1" spc="-44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ts val="2790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2600" b="1" spc="-14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ts val="2790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2600" b="1" spc="-14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4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888">
                <a:tc>
                  <a:txBody>
                    <a:bodyPr/>
                    <a:lstStyle/>
                    <a:p>
                      <a:pPr marR="51435" algn="ct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600" b="1" spc="-5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600" b="1" spc="-44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600" b="1" spc="-44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600" b="1" spc="-14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600" b="1" spc="-14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4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888">
                <a:tc>
                  <a:txBody>
                    <a:bodyPr/>
                    <a:lstStyle/>
                    <a:p>
                      <a:pPr marR="51435" algn="ct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2600" b="1" spc="-5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2600" b="1" spc="-44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2600" b="1" spc="-44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2600" b="1" spc="-14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2600" b="1" spc="-14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4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214">
                <a:tc>
                  <a:txBody>
                    <a:bodyPr/>
                    <a:lstStyle/>
                    <a:p>
                      <a:pPr marR="51435" algn="ct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2600" b="1" spc="-5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2600" b="1" spc="-44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6055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2600" b="1" spc="-44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2600" b="1" spc="-14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6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ts val="2795"/>
                        </a:lnSpc>
                      </a:pP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2600" b="1" spc="-142" baseline="-208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7" baseline="-20833" dirty="0">
                          <a:latin typeface="Times New Roman"/>
                          <a:cs typeface="Times New Roman"/>
                        </a:rPr>
                        <a:t>4</a:t>
                      </a:r>
                      <a:endParaRPr sz="2600" baseline="-20833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287631" y="1683105"/>
            <a:ext cx="4389642" cy="1863050"/>
          </a:xfrm>
          <a:custGeom>
            <a:avLst/>
            <a:gdLst/>
            <a:ahLst/>
            <a:cxnLst/>
            <a:rect l="l" t="t" r="r" b="b"/>
            <a:pathLst>
              <a:path w="4129404" h="1752600">
                <a:moveTo>
                  <a:pt x="4129151" y="0"/>
                </a:moveTo>
                <a:lnTo>
                  <a:pt x="0" y="1752600"/>
                </a:lnTo>
              </a:path>
            </a:pathLst>
          </a:custGeom>
          <a:ln w="254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4" name="object 4"/>
          <p:cNvSpPr/>
          <p:nvPr/>
        </p:nvSpPr>
        <p:spPr>
          <a:xfrm>
            <a:off x="2287631" y="2088117"/>
            <a:ext cx="4308640" cy="1927177"/>
          </a:xfrm>
          <a:custGeom>
            <a:avLst/>
            <a:gdLst/>
            <a:ahLst/>
            <a:cxnLst/>
            <a:rect l="l" t="t" r="r" b="b"/>
            <a:pathLst>
              <a:path w="4053204" h="1812925">
                <a:moveTo>
                  <a:pt x="4052951" y="0"/>
                </a:moveTo>
                <a:lnTo>
                  <a:pt x="0" y="1812925"/>
                </a:lnTo>
              </a:path>
            </a:pathLst>
          </a:custGeom>
          <a:ln w="254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5" name="object 5"/>
          <p:cNvSpPr/>
          <p:nvPr/>
        </p:nvSpPr>
        <p:spPr>
          <a:xfrm>
            <a:off x="2206629" y="2574129"/>
            <a:ext cx="4389642" cy="1944053"/>
          </a:xfrm>
          <a:custGeom>
            <a:avLst/>
            <a:gdLst/>
            <a:ahLst/>
            <a:cxnLst/>
            <a:rect l="l" t="t" r="r" b="b"/>
            <a:pathLst>
              <a:path w="4129404" h="1828800">
                <a:moveTo>
                  <a:pt x="4129151" y="0"/>
                </a:moveTo>
                <a:lnTo>
                  <a:pt x="0" y="1828800"/>
                </a:lnTo>
              </a:path>
            </a:pathLst>
          </a:custGeom>
          <a:ln w="254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6" name="object 6"/>
          <p:cNvSpPr/>
          <p:nvPr/>
        </p:nvSpPr>
        <p:spPr>
          <a:xfrm>
            <a:off x="2206629" y="3465154"/>
            <a:ext cx="4470646" cy="1947428"/>
          </a:xfrm>
          <a:custGeom>
            <a:avLst/>
            <a:gdLst/>
            <a:ahLst/>
            <a:cxnLst/>
            <a:rect l="l" t="t" r="r" b="b"/>
            <a:pathLst>
              <a:path w="4205605" h="1831975">
                <a:moveTo>
                  <a:pt x="4205351" y="0"/>
                </a:moveTo>
                <a:lnTo>
                  <a:pt x="0" y="1831975"/>
                </a:lnTo>
              </a:path>
            </a:pathLst>
          </a:custGeom>
          <a:ln w="254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7" name="object 7"/>
          <p:cNvSpPr/>
          <p:nvPr/>
        </p:nvSpPr>
        <p:spPr>
          <a:xfrm>
            <a:off x="2206629" y="2979140"/>
            <a:ext cx="4455120" cy="2025055"/>
          </a:xfrm>
          <a:custGeom>
            <a:avLst/>
            <a:gdLst/>
            <a:ahLst/>
            <a:cxnLst/>
            <a:rect l="l" t="t" r="r" b="b"/>
            <a:pathLst>
              <a:path w="4191000" h="1905000">
                <a:moveTo>
                  <a:pt x="4191000" y="0"/>
                </a:moveTo>
                <a:lnTo>
                  <a:pt x="0" y="1905000"/>
                </a:lnTo>
              </a:path>
            </a:pathLst>
          </a:custGeom>
          <a:ln w="254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8" name="object 8"/>
          <p:cNvSpPr txBox="1"/>
          <p:nvPr/>
        </p:nvSpPr>
        <p:spPr>
          <a:xfrm>
            <a:off x="6932224" y="1396920"/>
            <a:ext cx="1129427" cy="424001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27000" marR="18900">
              <a:lnSpc>
                <a:spcPts val="3189"/>
              </a:lnSpc>
              <a:spcBef>
                <a:spcPts val="106"/>
              </a:spcBef>
            </a:pPr>
            <a:r>
              <a:rPr sz="2800" b="1" i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800" b="1" baseline="-20833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 smtClean="0">
                <a:solidFill>
                  <a:srgbClr val="C00000"/>
                </a:solidFill>
                <a:latin typeface="Symbol"/>
                <a:cs typeface="Symbol"/>
              </a:rPr>
              <a:t></a:t>
            </a:r>
            <a:endParaRPr sz="2800" dirty="0">
              <a:latin typeface="Symbol"/>
              <a:cs typeface="Symbo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941616" y="601703"/>
            <a:ext cx="5358295" cy="426679"/>
          </a:xfrm>
          <a:prstGeom prst="rect">
            <a:avLst/>
          </a:prstGeom>
        </p:spPr>
        <p:txBody>
          <a:bodyPr vert="horz" wrap="square" lIns="0" tIns="17550" rIns="0" bIns="0" rtlCol="0" anchor="ctr">
            <a:spAutoFit/>
          </a:bodyPr>
          <a:lstStyle/>
          <a:p>
            <a:pPr marL="27000">
              <a:lnSpc>
                <a:spcPct val="100000"/>
              </a:lnSpc>
              <a:spcBef>
                <a:spcPts val="138"/>
              </a:spcBef>
            </a:pPr>
            <a:r>
              <a:rPr sz="3827" b="1" i="1" spc="-16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01" b="1" i="1" spc="-11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3986" b="1" i="1" spc="-16" baseline="13333" dirty="0">
                <a:solidFill>
                  <a:srgbClr val="000000"/>
                </a:solidFill>
                <a:latin typeface="Symbol"/>
                <a:cs typeface="Symbol"/>
              </a:rPr>
              <a:t></a:t>
            </a:r>
            <a:r>
              <a:rPr sz="3986" b="1" i="1" spc="-16" baseline="133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827" b="1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= </a:t>
            </a:r>
            <a:r>
              <a:rPr sz="3827" b="1" i="1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01" b="1" i="1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701" b="1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1701" b="1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3827" b="1" i="1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1701" b="1" dirty="0">
                <a:solidFill>
                  <a:srgbClr val="000000"/>
                </a:solidFill>
                <a:latin typeface="Times New Roman"/>
                <a:cs typeface="Times New Roman"/>
              </a:rPr>
              <a:t>4 </a:t>
            </a:r>
            <a:r>
              <a:rPr sz="3827" b="1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+ </a:t>
            </a:r>
            <a:r>
              <a:rPr sz="3827" b="1" i="1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01" b="1" i="1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701" b="1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1701" b="1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3827" b="1" i="1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1701" b="1" dirty="0">
                <a:solidFill>
                  <a:srgbClr val="000000"/>
                </a:solidFill>
                <a:latin typeface="Times New Roman"/>
                <a:cs typeface="Times New Roman"/>
              </a:rPr>
              <a:t>3 </a:t>
            </a:r>
            <a:r>
              <a:rPr sz="3827" b="1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+ </a:t>
            </a:r>
            <a:r>
              <a:rPr sz="3827" b="1" i="1" spc="-7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01" b="1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3827" b="1" i="1" spc="-7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1701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2 </a:t>
            </a:r>
            <a:r>
              <a:rPr sz="3827" b="1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+ </a:t>
            </a:r>
            <a:r>
              <a:rPr sz="3827" b="1" i="1" spc="-7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01" b="1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701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+1</a:t>
            </a:r>
            <a:r>
              <a:rPr sz="3827" b="1" i="1" spc="-7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1701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1 </a:t>
            </a:r>
            <a:r>
              <a:rPr sz="3827" b="1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+</a:t>
            </a:r>
            <a:r>
              <a:rPr sz="3827" b="1" spc="-87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827" b="1" i="1" spc="-7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01" b="1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701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+2</a:t>
            </a:r>
            <a:r>
              <a:rPr sz="3827" b="1" i="1" spc="-7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1701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  <a:endParaRPr sz="1701" b="1" dirty="0">
              <a:latin typeface="Times New Roman"/>
              <a:cs typeface="Times New Roman"/>
            </a:endParaRPr>
          </a:p>
        </p:txBody>
      </p:sp>
      <p:sp>
        <p:nvSpPr>
          <p:cNvPr id="10" name="object 8"/>
          <p:cNvSpPr txBox="1"/>
          <p:nvPr/>
        </p:nvSpPr>
        <p:spPr>
          <a:xfrm>
            <a:off x="6935338" y="1866785"/>
            <a:ext cx="1129427" cy="424001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27000" marR="18900">
              <a:lnSpc>
                <a:spcPts val="3189"/>
              </a:lnSpc>
              <a:spcBef>
                <a:spcPts val="106"/>
              </a:spcBef>
            </a:pPr>
            <a:r>
              <a:rPr sz="2800" b="1" i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800" b="1" baseline="-20833" dirty="0" smtClean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  <a:r>
              <a:rPr sz="2800" b="1" spc="-5" dirty="0" smtClean="0">
                <a:solidFill>
                  <a:srgbClr val="C00000"/>
                </a:solidFill>
                <a:latin typeface="Symbol"/>
                <a:cs typeface="Symbol"/>
              </a:rPr>
              <a:t></a:t>
            </a:r>
            <a:endParaRPr sz="2800" dirty="0">
              <a:latin typeface="Symbol"/>
              <a:cs typeface="Symbol"/>
            </a:endParaRPr>
          </a:p>
        </p:txBody>
      </p:sp>
      <p:sp>
        <p:nvSpPr>
          <p:cNvPr id="11" name="object 8"/>
          <p:cNvSpPr txBox="1"/>
          <p:nvPr/>
        </p:nvSpPr>
        <p:spPr>
          <a:xfrm>
            <a:off x="6944669" y="2798116"/>
            <a:ext cx="1129427" cy="432529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27000" marR="18900">
              <a:lnSpc>
                <a:spcPct val="104200"/>
              </a:lnSpc>
              <a:spcBef>
                <a:spcPts val="1148"/>
              </a:spcBef>
            </a:pPr>
            <a:r>
              <a:rPr sz="2800" b="1" i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800" b="1" baseline="-20833" dirty="0" smtClean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  <a:r>
              <a:rPr sz="2800" b="1" spc="-5" dirty="0" smtClean="0">
                <a:solidFill>
                  <a:srgbClr val="C00000"/>
                </a:solidFill>
                <a:latin typeface="Symbol"/>
                <a:cs typeface="Symbol"/>
              </a:rPr>
              <a:t></a:t>
            </a:r>
            <a:endParaRPr sz="2800" dirty="0">
              <a:latin typeface="Symbol"/>
              <a:cs typeface="Symbol"/>
            </a:endParaRPr>
          </a:p>
        </p:txBody>
      </p:sp>
      <p:sp>
        <p:nvSpPr>
          <p:cNvPr id="12" name="object 8"/>
          <p:cNvSpPr txBox="1"/>
          <p:nvPr/>
        </p:nvSpPr>
        <p:spPr>
          <a:xfrm>
            <a:off x="6932223" y="2338294"/>
            <a:ext cx="1129427" cy="432529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27000" marR="18900">
              <a:lnSpc>
                <a:spcPct val="104200"/>
              </a:lnSpc>
              <a:spcBef>
                <a:spcPts val="1148"/>
              </a:spcBef>
            </a:pPr>
            <a:r>
              <a:rPr sz="2800" b="1" i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800" b="1" baseline="-20833" dirty="0" smtClean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  <a:r>
              <a:rPr sz="2800" b="1" spc="-5" dirty="0" smtClean="0">
                <a:solidFill>
                  <a:srgbClr val="C00000"/>
                </a:solidFill>
                <a:latin typeface="Symbol"/>
                <a:cs typeface="Symbol"/>
              </a:rPr>
              <a:t></a:t>
            </a:r>
            <a:endParaRPr sz="2800" dirty="0">
              <a:latin typeface="Symbol"/>
              <a:cs typeface="Symbol"/>
            </a:endParaRPr>
          </a:p>
        </p:txBody>
      </p:sp>
      <p:sp>
        <p:nvSpPr>
          <p:cNvPr id="13" name="object 8"/>
          <p:cNvSpPr txBox="1"/>
          <p:nvPr/>
        </p:nvSpPr>
        <p:spPr>
          <a:xfrm>
            <a:off x="6941553" y="3242894"/>
            <a:ext cx="1129427" cy="444519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27000">
              <a:spcBef>
                <a:spcPts val="765"/>
              </a:spcBef>
            </a:pPr>
            <a:r>
              <a:rPr sz="2800" b="1" i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800" b="1" baseline="-20833" dirty="0" smtClean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  <a:r>
              <a:rPr sz="2800" b="1" dirty="0">
                <a:solidFill>
                  <a:srgbClr val="C00000"/>
                </a:solidFill>
                <a:latin typeface="Symbol"/>
                <a:cs typeface="Symbol"/>
              </a:rPr>
              <a:t></a:t>
            </a:r>
            <a:endParaRPr sz="2800" dirty="0">
              <a:latin typeface="Symbol"/>
              <a:cs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294941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/>
      <p:bldP spid="10" grpId="0"/>
      <p:bldP spid="11" grpId="0"/>
      <p:bldP spid="12" grpId="0"/>
      <p:bldP spid="1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634" y="168695"/>
            <a:ext cx="8885532" cy="652805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9716" y="1666038"/>
            <a:ext cx="8742450" cy="1762514"/>
          </a:xfrm>
          <a:prstGeom prst="rect">
            <a:avLst/>
          </a:prstGeom>
        </p:spPr>
        <p:txBody>
          <a:bodyPr vert="horz" wrap="square" lIns="0" tIns="104628" rIns="0" bIns="0" rtlCol="0">
            <a:spAutoFit/>
          </a:bodyPr>
          <a:lstStyle/>
          <a:p>
            <a:pPr marL="378003" indent="-364503">
              <a:spcBef>
                <a:spcPts val="824"/>
              </a:spcBef>
              <a:buFont typeface="Arial"/>
              <a:buChar char="•"/>
              <a:tabLst>
                <a:tab pos="377328" algn="l"/>
                <a:tab pos="378003" algn="l"/>
              </a:tabLst>
            </a:pPr>
            <a:r>
              <a:rPr sz="3200" b="1" spc="-5" dirty="0">
                <a:latin typeface="宋体"/>
                <a:cs typeface="宋体"/>
              </a:rPr>
              <a:t>卷积的定义</a:t>
            </a:r>
            <a:endParaRPr sz="3200" dirty="0">
              <a:latin typeface="宋体"/>
              <a:cs typeface="宋体"/>
            </a:endParaRPr>
          </a:p>
          <a:p>
            <a:pPr marL="378003" indent="-364503">
              <a:spcBef>
                <a:spcPts val="712"/>
              </a:spcBef>
              <a:buFont typeface="Arial"/>
              <a:buChar char="•"/>
              <a:tabLst>
                <a:tab pos="377328" algn="l"/>
                <a:tab pos="378003" algn="l"/>
              </a:tabLst>
            </a:pPr>
            <a:r>
              <a:rPr sz="3200" b="1" spc="-5" dirty="0">
                <a:latin typeface="宋体"/>
                <a:cs typeface="宋体"/>
              </a:rPr>
              <a:t>卷积与多项式乘法的关系</a:t>
            </a:r>
            <a:endParaRPr sz="3200" dirty="0">
              <a:latin typeface="宋体"/>
              <a:cs typeface="宋体"/>
            </a:endParaRPr>
          </a:p>
          <a:p>
            <a:pPr marL="378003" indent="-364503">
              <a:spcBef>
                <a:spcPts val="718"/>
              </a:spcBef>
              <a:buFont typeface="Arial"/>
              <a:buChar char="•"/>
              <a:tabLst>
                <a:tab pos="377328" algn="l"/>
                <a:tab pos="378003" algn="l"/>
              </a:tabLst>
            </a:pPr>
            <a:r>
              <a:rPr sz="3200" b="1" spc="-5" dirty="0">
                <a:latin typeface="宋体"/>
                <a:cs typeface="宋体"/>
              </a:rPr>
              <a:t>卷积的应</a:t>
            </a:r>
            <a:r>
              <a:rPr sz="3200" b="1" spc="-16" dirty="0">
                <a:latin typeface="宋体"/>
                <a:cs typeface="宋体"/>
              </a:rPr>
              <a:t>用</a:t>
            </a:r>
            <a:r>
              <a:rPr sz="3200" b="1" spc="-5" dirty="0">
                <a:latin typeface="Calibri"/>
                <a:cs typeface="Calibri"/>
              </a:rPr>
              <a:t>——</a:t>
            </a:r>
            <a:r>
              <a:rPr sz="3200" b="1" spc="-5" dirty="0">
                <a:latin typeface="宋体"/>
                <a:cs typeface="宋体"/>
              </a:rPr>
              <a:t>信号平滑处理</a:t>
            </a:r>
            <a:endParaRPr sz="32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18025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06264"/>
            <a:ext cx="9727013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6"/>
          </a:p>
        </p:txBody>
      </p:sp>
      <p:sp>
        <p:nvSpPr>
          <p:cNvPr id="3" name="object 3"/>
          <p:cNvSpPr txBox="1"/>
          <p:nvPr/>
        </p:nvSpPr>
        <p:spPr>
          <a:xfrm>
            <a:off x="1334814" y="2542835"/>
            <a:ext cx="7514896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742"/>
              </a:lnSpc>
            </a:pPr>
            <a:r>
              <a:rPr sz="6600" spc="1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卷积计算</a:t>
            </a:r>
          </a:p>
        </p:txBody>
      </p:sp>
    </p:spTree>
    <p:extLst>
      <p:ext uri="{BB962C8B-B14F-4D97-AF65-F5344CB8AC3E}">
        <p14:creationId xmlns:p14="http://schemas.microsoft.com/office/powerpoint/2010/main" val="844095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00593" y="248311"/>
            <a:ext cx="8801062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50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卷积计算：蛮力算法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421211" y="1446590"/>
                <a:ext cx="8806872" cy="35907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2828"/>
                  </a:lnSpc>
                </a:pPr>
                <a:r>
                  <a:rPr lang="zh-CN" altLang="en-US" sz="2800" b="1" spc="12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向量 </a:t>
                </a:r>
                <a14:m>
                  <m:oMath xmlns:m="http://schemas.openxmlformats.org/officeDocument/2006/math">
                    <m:r>
                      <a:rPr lang="zh-CN" altLang="en-US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𝒂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=</m:t>
                    </m:r>
                    <m:d>
                      <m:dPr>
                        <m:ctrlP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spc="-73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lang="zh-CN" altLang="en-US" sz="2800" b="1" spc="12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b="1" i="0" spc="12" smtClean="0">
                        <a:solidFill>
                          <a:srgbClr val="000000"/>
                        </a:solidFill>
                        <a:latin typeface="Cambria Math"/>
                        <a:ea typeface="黑体" panose="02010609060101010101" pitchFamily="49" charset="-122"/>
                        <a:cs typeface="ETFSQW+ËÎÌå"/>
                      </a:rPr>
                      <m:t> 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𝒃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=</m:t>
                    </m:r>
                    <m:d>
                      <m:d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𝒏</m:t>
                            </m:r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sz="28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11" y="1446590"/>
                <a:ext cx="8806872" cy="359073"/>
              </a:xfrm>
              <a:prstGeom prst="rect">
                <a:avLst/>
              </a:prstGeom>
              <a:blipFill rotWithShape="1">
                <a:blip r:embed="rId2"/>
                <a:stretch>
                  <a:fillRect l="-2422" t="-52542" b="-559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1"/>
              <p:cNvSpPr txBox="1"/>
              <p:nvPr/>
            </p:nvSpPr>
            <p:spPr>
              <a:xfrm>
                <a:off x="519255" y="3123699"/>
                <a:ext cx="9050694" cy="82073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62001" algn="just">
                  <a:lnSpc>
                    <a:spcPts val="2824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spc="12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𝑪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(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𝒙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)= 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𝑨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(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𝒙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)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𝑩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(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𝒙</m:t>
                      </m:r>
                      <m:r>
                        <a:rPr lang="en-US" altLang="zh-CN" sz="2800" b="1" i="1" spc="1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ETFSQW+ËÎÌå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/>
                </a:endParaRPr>
              </a:p>
              <a:p>
                <a:pPr>
                  <a:lnSpc>
                    <a:spcPts val="2828"/>
                  </a:lnSpc>
                  <a:spcBef>
                    <a:spcPts val="795"/>
                  </a:spcBef>
                </a:pPr>
                <a:r>
                  <a:rPr lang="en-US" altLang="zh-CN" sz="2800" b="1" spc="12" dirty="0" smtClean="0">
                    <a:solidFill>
                      <a:srgbClr val="000000"/>
                    </a:solidFill>
                    <a:ea typeface="黑体" panose="02010609060101010101" pitchFamily="49" charset="-122"/>
                    <a:cs typeface="ETFSQW+ËÎÌå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=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/>
                        <a:ea typeface="黑体" panose="02010609060101010101" pitchFamily="49" charset="-122"/>
                        <a:cs typeface="ETFSQW+ËÎÌå"/>
                      </a:rPr>
                      <m:t> 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ar-AE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ar-AE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𝒂</m:t>
                            </m:r>
                          </m:e>
                          <m:sub>
                            <m:r>
                              <a:rPr lang="zh-CN" altLang="ar-AE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𝒃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𝟎</m:t>
                        </m:r>
                      </m:sub>
                    </m:sSub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d>
                      <m:dPr>
                        <m:ctrlP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ar-AE" altLang="zh-CN" sz="2800" b="1" i="1" spc="12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ar-AE" sz="2800" b="1" i="1" spc="12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zh-CN" altLang="ar-AE" sz="2800" b="1" i="1" spc="12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sSub>
                          <m:sSubPr>
                            <m:ctrlPr>
                              <a:rPr lang="ar-AE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ar-AE" altLang="zh-CN" sz="2800" b="1" i="1" spc="12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ar-AE" sz="2800" b="1" i="1" spc="12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zh-CN" sz="2800" b="1" i="1" spc="12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𝒃</m:t>
                            </m:r>
                          </m:e>
                          <m:sub>
                            <m:r>
                              <a:rPr lang="zh-CN" altLang="ar-AE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𝒙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+⋯+</m:t>
                    </m:r>
                    <m:sSub>
                      <m:sSubPr>
                        <m:ctrlP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sz="2800" b="1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/>
                </a:endParaRPr>
              </a:p>
            </p:txBody>
          </p:sp>
        </mc:Choice>
        <mc:Fallback xmlns="">
          <p:sp>
            <p:nvSpPr>
              <p:cNvPr id="2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255" y="3123699"/>
                <a:ext cx="9050694" cy="820738"/>
              </a:xfrm>
              <a:prstGeom prst="rect">
                <a:avLst/>
              </a:prstGeom>
              <a:blipFill rotWithShape="1">
                <a:blip r:embed="rId3"/>
                <a:stretch>
                  <a:fillRect t="-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7"/>
              <p:cNvSpPr txBox="1"/>
              <p:nvPr/>
            </p:nvSpPr>
            <p:spPr>
              <a:xfrm>
                <a:off x="680410" y="4184564"/>
                <a:ext cx="7412077" cy="39754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125"/>
                  </a:lnSpc>
                </a:pPr>
                <a14:m>
                  <m:oMath xmlns:m="http://schemas.openxmlformats.org/officeDocument/2006/math"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𝑪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(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𝒙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)</m:t>
                    </m:r>
                  </m:oMath>
                </a14:m>
                <a:r>
                  <a:rPr lang="zh-CN" altLang="en-US" sz="2800" b="1" spc="12" dirty="0" err="1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的系数向量就是</a:t>
                </a:r>
                <a14:m>
                  <m:oMath xmlns:m="http://schemas.openxmlformats.org/officeDocument/2006/math">
                    <m:r>
                      <a:rPr lang="zh-CN" altLang="en-US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𝒂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∗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𝒃</m:t>
                    </m:r>
                  </m:oMath>
                </a14:m>
                <a:r>
                  <a:rPr lang="en-US" altLang="zh-CN" sz="2800" b="1" i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.</a:t>
                </a:r>
                <a:endParaRPr sz="2800" b="1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/>
                </a:endParaRPr>
              </a:p>
            </p:txBody>
          </p:sp>
        </mc:Choice>
        <mc:Fallback xmlns="">
          <p:sp>
            <p:nvSpPr>
              <p:cNvPr id="27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10" y="4184564"/>
                <a:ext cx="7412077" cy="397545"/>
              </a:xfrm>
              <a:prstGeom prst="rect">
                <a:avLst/>
              </a:prstGeom>
              <a:blipFill rotWithShape="1">
                <a:blip r:embed="rId4"/>
                <a:stretch>
                  <a:fillRect t="-37879" b="-48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8"/>
              <p:cNvSpPr txBox="1"/>
              <p:nvPr/>
            </p:nvSpPr>
            <p:spPr>
              <a:xfrm>
                <a:off x="599410" y="4665770"/>
                <a:ext cx="5235481" cy="39754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3125"/>
                  </a:lnSpc>
                </a:pPr>
                <a:r>
                  <a:rPr sz="2800" b="1" spc="12" dirty="0" err="1" smtClean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卷积</a:t>
                </a:r>
                <a14:m>
                  <m:oMath xmlns:m="http://schemas.openxmlformats.org/officeDocument/2006/math"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𝒂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∗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𝒃</m:t>
                    </m:r>
                  </m:oMath>
                </a14:m>
                <a:r>
                  <a:rPr sz="2800" b="1" spc="12" dirty="0" err="1" smtClean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计算等价于多项式相乘</a:t>
                </a:r>
                <a:endParaRPr sz="2800" b="1" spc="12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ETFSQW+ËÎÌå"/>
                </a:endParaRPr>
              </a:p>
            </p:txBody>
          </p:sp>
        </mc:Choice>
        <mc:Fallback xmlns="">
          <p:sp>
            <p:nvSpPr>
              <p:cNvPr id="28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10" y="4665770"/>
                <a:ext cx="5235481" cy="397545"/>
              </a:xfrm>
              <a:prstGeom prst="rect">
                <a:avLst/>
              </a:prstGeom>
              <a:blipFill rotWithShape="1">
                <a:blip r:embed="rId5"/>
                <a:stretch>
                  <a:fillRect l="-4075" t="-37879" r="-1048" b="-48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bject 29"/>
          <p:cNvSpPr txBox="1"/>
          <p:nvPr/>
        </p:nvSpPr>
        <p:spPr>
          <a:xfrm>
            <a:off x="627860" y="5200942"/>
            <a:ext cx="773789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</a:pPr>
            <a:r>
              <a:rPr sz="2800" b="1" spc="13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蛮力算法的时间：</a:t>
            </a:r>
            <a:r>
              <a:rPr sz="2800" b="1" i="1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O</a:t>
            </a:r>
            <a:r>
              <a:rPr sz="28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baseline="29999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599410" y="1841687"/>
                <a:ext cx="6444136" cy="5329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𝑨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(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𝒙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)=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𝒙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p>
                    </m:sSup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p>
                    </m:sSup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10" y="1841687"/>
                <a:ext cx="6444136" cy="532966"/>
              </a:xfrm>
              <a:prstGeom prst="rect">
                <a:avLst/>
              </a:prstGeom>
              <a:blipFill>
                <a:blip r:embed="rId6"/>
                <a:stretch>
                  <a:fillRect t="-7955" b="-3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599410" y="2330537"/>
                <a:ext cx="6444136" cy="5329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𝑩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(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𝒙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)=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𝒙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p>
                    </m:sSup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𝒃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p>
                    </m:sSup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10" y="2330537"/>
                <a:ext cx="6444136" cy="532966"/>
              </a:xfrm>
              <a:prstGeom prst="rect">
                <a:avLst/>
              </a:prstGeom>
              <a:blipFill>
                <a:blip r:embed="rId7"/>
                <a:stretch>
                  <a:fillRect t="-7955" b="-3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77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/>
      <p:bldP spid="28" grpId="0"/>
      <p:bldP spid="2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"/>
          <p:cNvSpPr/>
          <p:nvPr/>
        </p:nvSpPr>
        <p:spPr>
          <a:xfrm>
            <a:off x="421210" y="4758788"/>
            <a:ext cx="727863" cy="779524"/>
          </a:xfrm>
          <a:prstGeom prst="rect">
            <a:avLst/>
          </a:prstGeom>
          <a:blipFill>
            <a:blip r:embed="rId2" cstate="print"/>
            <a:srcRect/>
            <a:stretch>
              <a:fillRect l="-56963" t="-410506" r="-1501969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280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211" y="214002"/>
            <a:ext cx="8932996" cy="60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704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计算</a:t>
            </a: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sz="40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-1</a:t>
            </a: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次多项式</a:t>
            </a:r>
            <a:r>
              <a:rPr sz="40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C</a:t>
            </a: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40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x</a:t>
            </a: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421211" y="1585452"/>
                <a:ext cx="8743810" cy="35907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2824"/>
                  </a:lnSpc>
                </a:pPr>
                <a:r>
                  <a:rPr lang="en-US" altLang="zh-CN" sz="28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1.</a:t>
                </a:r>
                <a:r>
                  <a:rPr lang="zh-CN" altLang="en-US" sz="2800" b="1" spc="625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:r>
                  <a:rPr lang="zh-CN" altLang="en-US" sz="2800" b="1" spc="12" dirty="0" err="1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选择值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𝟎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ar-AE" altLang="zh-CN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ar-AE" altLang="zh-CN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</m:oMath>
                </a14:m>
                <a:endParaRPr sz="2800" b="1" dirty="0">
                  <a:solidFill>
                    <a:srgbClr val="000000"/>
                  </a:solidFill>
                  <a:latin typeface="Times New Roman" pitchFamily="18" charset="0"/>
                  <a:ea typeface="黑体" panose="02010609060101010101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11" y="1585452"/>
                <a:ext cx="8743810" cy="359073"/>
              </a:xfrm>
              <a:prstGeom prst="rect">
                <a:avLst/>
              </a:prstGeom>
              <a:blipFill rotWithShape="1">
                <a:blip r:embed="rId3"/>
                <a:stretch>
                  <a:fillRect l="-2441" t="-54237" b="-610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877153" y="2125595"/>
                <a:ext cx="8245825" cy="35907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2824"/>
                  </a:lnSpc>
                </a:pPr>
                <a:r>
                  <a:rPr lang="zh-CN" altLang="en-US" sz="2800" spc="12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求出</a:t>
                </a:r>
                <a14:m>
                  <m:oMath xmlns:m="http://schemas.openxmlformats.org/officeDocument/2006/math"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𝑨</m:t>
                    </m:r>
                    <m:d>
                      <m:d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ETFSQW+ËÎÌå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ar-AE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ar-AE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en-US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𝑩</m:t>
                    </m:r>
                    <m:d>
                      <m:d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ETFSQW+ËÎÌå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ar-AE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ar-AE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2800" spc="12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:r>
                  <a:rPr lang="ar-AE" sz="2800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，</a:t>
                </a:r>
                <a:r>
                  <a:rPr lang="en-US" sz="2800" b="1" i="1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j </a:t>
                </a:r>
                <a:r>
                  <a:rPr lang="en-US" sz="2800" b="1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= 0, 1, … , 2</a:t>
                </a:r>
                <a:r>
                  <a:rPr lang="en-US" sz="2800" b="1" i="1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n-</a:t>
                </a:r>
                <a:r>
                  <a:rPr lang="en-US" sz="2800" b="1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1</a:t>
                </a:r>
                <a:endParaRPr sz="2800" b="1" dirty="0">
                  <a:solidFill>
                    <a:srgbClr val="000000"/>
                  </a:solidFill>
                  <a:latin typeface="Times New Roman" pitchFamily="18" charset="0"/>
                  <a:ea typeface="黑体" panose="02010609060101010101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53" y="2125595"/>
                <a:ext cx="8245825" cy="359073"/>
              </a:xfrm>
              <a:prstGeom prst="rect">
                <a:avLst/>
              </a:prstGeom>
              <a:blipFill rotWithShape="1">
                <a:blip r:embed="rId4"/>
                <a:stretch>
                  <a:fillRect l="-2661" t="-59322" b="-559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>
              <a:xfrm>
                <a:off x="421211" y="2796977"/>
                <a:ext cx="8848912" cy="35907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2824"/>
                  </a:lnSpc>
                </a:pPr>
                <a:r>
                  <a:rPr lang="en-US" altLang="zh-CN" sz="2800" b="1" dirty="0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2.</a:t>
                </a:r>
                <a:r>
                  <a:rPr lang="zh-CN" altLang="en-US" sz="2800" b="1" spc="625" dirty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 </a:t>
                </a:r>
                <a:r>
                  <a:rPr lang="zh-CN" altLang="en-US" sz="2800" spc="12" dirty="0" err="1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对每个</a:t>
                </a:r>
                <a:r>
                  <a:rPr lang="en-US" altLang="zh-CN" sz="2800" b="1" i="1" dirty="0" err="1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j</a:t>
                </a:r>
                <a:r>
                  <a:rPr lang="en-US" altLang="zh-CN" sz="2800" b="1" dirty="0" err="1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,</a:t>
                </a:r>
                <a:r>
                  <a:rPr lang="zh-CN" altLang="en-US" sz="2800" spc="12" dirty="0" err="1" smtClean="0">
                    <a:solidFill>
                      <a:srgbClr val="000000"/>
                    </a:solidFill>
                    <a:latin typeface="Times New Roman" pitchFamily="18" charset="0"/>
                    <a:ea typeface="黑体" panose="02010609060101010101" pitchFamily="49" charset="-122"/>
                    <a:cs typeface="Times New Roman" pitchFamily="18" charset="0"/>
                  </a:rPr>
                  <a:t>计算</a:t>
                </a:r>
                <a14:m>
                  <m:oMath xmlns:m="http://schemas.openxmlformats.org/officeDocument/2006/math">
                    <m:r>
                      <a:rPr lang="zh-CN" altLang="en-US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𝑪</m:t>
                    </m:r>
                    <m:d>
                      <m:dPr>
                        <m:ctrlP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ETFSQW+ËÎÌå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=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𝑨</m:t>
                    </m:r>
                    <m:d>
                      <m:d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ETFSQW+ËÎÌå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𝑩</m:t>
                    </m:r>
                    <m:d>
                      <m:d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ETFSQW+ËÎÌå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endParaRPr sz="2800" b="1" dirty="0">
                  <a:solidFill>
                    <a:srgbClr val="000000"/>
                  </a:solidFill>
                  <a:latin typeface="Times New Roman" pitchFamily="18" charset="0"/>
                  <a:ea typeface="黑体" panose="02010609060101010101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11" y="2796977"/>
                <a:ext cx="8848912" cy="359073"/>
              </a:xfrm>
              <a:prstGeom prst="rect">
                <a:avLst/>
              </a:prstGeom>
              <a:blipFill rotWithShape="1">
                <a:blip r:embed="rId5"/>
                <a:stretch>
                  <a:fillRect l="-2410" t="-59322" b="-559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bject 16"/>
          <p:cNvSpPr txBox="1"/>
          <p:nvPr/>
        </p:nvSpPr>
        <p:spPr>
          <a:xfrm>
            <a:off x="421210" y="3561285"/>
            <a:ext cx="884891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8"/>
              </a:lnSpc>
            </a:pP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3.</a:t>
            </a:r>
            <a:r>
              <a:rPr sz="2800" b="1" spc="623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 </a:t>
            </a:r>
            <a:r>
              <a:rPr sz="2800" spc="12" dirty="0" err="1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利用多项式插值方法，由</a:t>
            </a:r>
            <a:r>
              <a:rPr sz="2800" b="1" i="1" dirty="0" err="1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C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x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)</a:t>
            </a:r>
            <a:r>
              <a:rPr sz="2800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在</a:t>
            </a:r>
            <a:endParaRPr sz="2800" dirty="0">
              <a:solidFill>
                <a:srgbClr val="000000"/>
              </a:solidFill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2621" y="4125426"/>
            <a:ext cx="816482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</a:pPr>
            <a:r>
              <a:rPr sz="2800" spc="12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的值求出多项式</a:t>
            </a:r>
            <a:r>
              <a:rPr sz="2800" b="1" i="1" dirty="0" err="1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C</a:t>
            </a:r>
            <a:r>
              <a:rPr sz="2800" b="1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(</a:t>
            </a:r>
            <a:r>
              <a:rPr sz="2800" b="1" i="1" dirty="0" smtClean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x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)</a:t>
            </a:r>
            <a:r>
              <a:rPr sz="2800" spc="12" dirty="0">
                <a:solidFill>
                  <a:srgbClr val="0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的系数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41472" y="4799622"/>
            <a:ext cx="809546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</a:pPr>
            <a:r>
              <a:rPr sz="2800" spc="12" dirty="0" err="1" smtClean="0">
                <a:solidFill>
                  <a:srgbClr val="0070C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如何选择</a:t>
            </a:r>
            <a:r>
              <a:rPr lang="en-US" sz="2800" spc="12" dirty="0" smtClean="0">
                <a:solidFill>
                  <a:srgbClr val="0070C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                                    </a:t>
            </a:r>
            <a:r>
              <a:rPr sz="2800" spc="12" dirty="0" err="1" smtClean="0">
                <a:solidFill>
                  <a:srgbClr val="0070C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的值</a:t>
            </a:r>
            <a:r>
              <a:rPr sz="2800" spc="12" dirty="0">
                <a:solidFill>
                  <a:srgbClr val="0070C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？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341472" y="5241601"/>
            <a:ext cx="671861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49"/>
              </a:lnSpc>
            </a:pPr>
            <a:r>
              <a:rPr sz="2800" spc="12" dirty="0" err="1" smtClean="0">
                <a:solidFill>
                  <a:srgbClr val="0070C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高效多项式求值算法</a:t>
            </a:r>
            <a:endParaRPr sz="2800" spc="12" dirty="0">
              <a:solidFill>
                <a:srgbClr val="0070C0"/>
              </a:solidFill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5758344" y="3496945"/>
                <a:ext cx="3511779" cy="4514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2824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𝒙</m:t>
                          </m:r>
                          <m:r>
                            <a:rPr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r>
                            <a:rPr lang="zh-CN" altLang="ar-AE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zh-CN" altLang="ar-AE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𝟎</m:t>
                          </m:r>
                        </m:sub>
                      </m:sSub>
                      <m:r>
                        <a:rPr lang="ar-AE" altLang="zh-CN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ar-AE" altLang="zh-CN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ar-AE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zh-CN" altLang="ar-AE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ar-AE" altLang="zh-CN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ar-AE" altLang="zh-CN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⋯,</m:t>
                      </m:r>
                      <m:sSub>
                        <m:sSubPr>
                          <m:ctrlPr>
                            <a:rPr lang="ar-AE" altLang="zh-CN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ar-AE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zh-CN" altLang="ar-AE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𝟐</m:t>
                          </m:r>
                          <m:r>
                            <a:rPr lang="zh-CN" altLang="ar-AE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  <m:r>
                            <a:rPr lang="zh-CN" altLang="ar-AE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lang="zh-CN" altLang="ar-AE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ar-AE" altLang="zh-CN" sz="2800" b="1" dirty="0">
                  <a:solidFill>
                    <a:srgbClr val="000000"/>
                  </a:solidFill>
                  <a:latin typeface="Times New Roman" pitchFamily="18" charset="0"/>
                  <a:ea typeface="黑体" panose="02010609060101010101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344" y="3496945"/>
                <a:ext cx="3511779" cy="451406"/>
              </a:xfrm>
              <a:prstGeom prst="rect">
                <a:avLst/>
              </a:prstGeom>
              <a:blipFill rotWithShape="1">
                <a:blip r:embed="rId6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2769225" y="4734793"/>
                <a:ext cx="5337516" cy="4514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2824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2800" i="1" spc="12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ETFSQW+ËÎÌå"/>
                            </a:rPr>
                          </m:ctrlPr>
                        </m:sSubPr>
                        <m:e>
                          <m:r>
                            <a:rPr lang="en-US" altLang="zh-CN" sz="2800" spc="12">
                              <a:solidFill>
                                <a:srgbClr val="0070C0"/>
                              </a:solidFill>
                              <a:latin typeface="Cambria Math"/>
                              <a:ea typeface="黑体" panose="02010609060101010101" pitchFamily="49" charset="-122"/>
                              <a:cs typeface="ETFSQW+ËÎÌå"/>
                            </a:rPr>
                            <m:t>𝒙</m:t>
                          </m:r>
                          <m:r>
                            <a:rPr lang="en-US" altLang="zh-CN" sz="2800" spc="12">
                              <a:solidFill>
                                <a:srgbClr val="0070C0"/>
                              </a:solidFill>
                              <a:latin typeface="Cambria Math"/>
                              <a:ea typeface="黑体" panose="02010609060101010101" pitchFamily="49" charset="-122"/>
                              <a:cs typeface="ETFSQW+ËÎÌå"/>
                            </a:rPr>
                            <m:t>=</m:t>
                          </m:r>
                          <m:r>
                            <a:rPr lang="zh-CN" altLang="ar-AE" sz="2800" spc="12">
                              <a:solidFill>
                                <a:srgbClr val="0070C0"/>
                              </a:solidFill>
                              <a:latin typeface="Cambria Math"/>
                              <a:ea typeface="黑体" panose="02010609060101010101" pitchFamily="49" charset="-122"/>
                              <a:cs typeface="ETFSQW+ËÎÌå"/>
                            </a:rPr>
                            <m:t>𝒙</m:t>
                          </m:r>
                        </m:e>
                        <m:sub>
                          <m:r>
                            <a:rPr lang="zh-CN" altLang="ar-AE" sz="2800" spc="12">
                              <a:solidFill>
                                <a:srgbClr val="0070C0"/>
                              </a:solidFill>
                              <a:latin typeface="Cambria Math"/>
                              <a:ea typeface="黑体" panose="02010609060101010101" pitchFamily="49" charset="-122"/>
                              <a:cs typeface="ETFSQW+ËÎÌå"/>
                            </a:rPr>
                            <m:t>𝟎</m:t>
                          </m:r>
                        </m:sub>
                      </m:sSub>
                      <m:r>
                        <a:rPr lang="ar-AE" altLang="zh-CN" sz="2800" spc="12">
                          <a:solidFill>
                            <a:srgbClr val="0070C0"/>
                          </a:solidFill>
                          <a:latin typeface="Cambria Math"/>
                          <a:ea typeface="黑体" panose="02010609060101010101" pitchFamily="49" charset="-122"/>
                          <a:cs typeface="ETFSQW+ËÎÌå"/>
                        </a:rPr>
                        <m:t>,</m:t>
                      </m:r>
                      <m:sSub>
                        <m:sSubPr>
                          <m:ctrlPr>
                            <a:rPr lang="ar-AE" altLang="zh-CN" sz="2800" i="1" spc="12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ETFSQW+ËÎÌå"/>
                            </a:rPr>
                          </m:ctrlPr>
                        </m:sSubPr>
                        <m:e>
                          <m:r>
                            <a:rPr lang="zh-CN" altLang="ar-AE" sz="2800" spc="12">
                              <a:solidFill>
                                <a:srgbClr val="0070C0"/>
                              </a:solidFill>
                              <a:latin typeface="Cambria Math"/>
                              <a:ea typeface="黑体" panose="02010609060101010101" pitchFamily="49" charset="-122"/>
                              <a:cs typeface="ETFSQW+ËÎÌå"/>
                            </a:rPr>
                            <m:t>𝒙</m:t>
                          </m:r>
                        </m:e>
                        <m:sub>
                          <m:r>
                            <a:rPr lang="zh-CN" altLang="ar-AE" sz="2800" spc="12">
                              <a:solidFill>
                                <a:srgbClr val="0070C0"/>
                              </a:solidFill>
                              <a:latin typeface="Cambria Math"/>
                              <a:ea typeface="黑体" panose="02010609060101010101" pitchFamily="49" charset="-122"/>
                              <a:cs typeface="ETFSQW+ËÎÌå"/>
                            </a:rPr>
                            <m:t>𝟏</m:t>
                          </m:r>
                        </m:sub>
                      </m:sSub>
                      <m:r>
                        <a:rPr lang="ar-AE" altLang="zh-CN" sz="2800" spc="12">
                          <a:solidFill>
                            <a:srgbClr val="0070C0"/>
                          </a:solidFill>
                          <a:latin typeface="Cambria Math"/>
                          <a:ea typeface="黑体" panose="02010609060101010101" pitchFamily="49" charset="-122"/>
                          <a:cs typeface="ETFSQW+ËÎÌå"/>
                        </a:rPr>
                        <m:t>,</m:t>
                      </m:r>
                      <m:r>
                        <a:rPr lang="en-US" altLang="zh-CN" sz="2800" b="0" i="0" spc="12" smtClean="0">
                          <a:solidFill>
                            <a:srgbClr val="0070C0"/>
                          </a:solidFill>
                          <a:latin typeface="Cambria Math"/>
                          <a:ea typeface="黑体" panose="02010609060101010101" pitchFamily="49" charset="-122"/>
                          <a:cs typeface="ETFSQW+ËÎÌå"/>
                        </a:rPr>
                        <m:t> </m:t>
                      </m:r>
                      <m:r>
                        <a:rPr lang="ar-AE" altLang="zh-CN" sz="2800" spc="12">
                          <a:solidFill>
                            <a:srgbClr val="0070C0"/>
                          </a:solidFill>
                          <a:latin typeface="Cambria Math"/>
                          <a:ea typeface="黑体" panose="02010609060101010101" pitchFamily="49" charset="-122"/>
                          <a:cs typeface="ETFSQW+ËÎÌå"/>
                        </a:rPr>
                        <m:t>⋯,</m:t>
                      </m:r>
                      <m:sSub>
                        <m:sSubPr>
                          <m:ctrlPr>
                            <a:rPr lang="ar-AE" altLang="zh-CN" sz="2800" i="1" spc="12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ETFSQW+ËÎÌå"/>
                            </a:rPr>
                          </m:ctrlPr>
                        </m:sSubPr>
                        <m:e>
                          <m:r>
                            <a:rPr lang="zh-CN" altLang="ar-AE" sz="2800" spc="12">
                              <a:solidFill>
                                <a:srgbClr val="0070C0"/>
                              </a:solidFill>
                              <a:latin typeface="Cambria Math"/>
                              <a:ea typeface="黑体" panose="02010609060101010101" pitchFamily="49" charset="-122"/>
                              <a:cs typeface="ETFSQW+ËÎÌå"/>
                            </a:rPr>
                            <m:t>𝒙</m:t>
                          </m:r>
                        </m:e>
                        <m:sub>
                          <m:r>
                            <a:rPr lang="zh-CN" altLang="ar-AE" sz="2800" spc="12">
                              <a:solidFill>
                                <a:srgbClr val="0070C0"/>
                              </a:solidFill>
                              <a:latin typeface="Cambria Math"/>
                              <a:ea typeface="黑体" panose="02010609060101010101" pitchFamily="49" charset="-122"/>
                              <a:cs typeface="ETFSQW+ËÎÌå"/>
                            </a:rPr>
                            <m:t>𝟐</m:t>
                          </m:r>
                          <m:r>
                            <a:rPr lang="zh-CN" altLang="ar-AE" sz="2800" spc="12">
                              <a:solidFill>
                                <a:srgbClr val="0070C0"/>
                              </a:solidFill>
                              <a:latin typeface="Cambria Math"/>
                              <a:ea typeface="黑体" panose="02010609060101010101" pitchFamily="49" charset="-122"/>
                              <a:cs typeface="ETFSQW+ËÎÌå"/>
                            </a:rPr>
                            <m:t>𝒏</m:t>
                          </m:r>
                          <m:r>
                            <a:rPr lang="zh-CN" altLang="ar-AE" sz="2800" spc="12">
                              <a:solidFill>
                                <a:srgbClr val="0070C0"/>
                              </a:solidFill>
                              <a:latin typeface="Cambria Math"/>
                              <a:ea typeface="黑体" panose="02010609060101010101" pitchFamily="49" charset="-122"/>
                              <a:cs typeface="ETFSQW+ËÎÌå"/>
                            </a:rPr>
                            <m:t>−</m:t>
                          </m:r>
                          <m:r>
                            <a:rPr lang="zh-CN" altLang="ar-AE" sz="2800" spc="12">
                              <a:solidFill>
                                <a:srgbClr val="0070C0"/>
                              </a:solidFill>
                              <a:latin typeface="Cambria Math"/>
                              <a:ea typeface="黑体" panose="02010609060101010101" pitchFamily="49" charset="-122"/>
                              <a:cs typeface="ETFSQW+ËÎÌå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ar-AE" altLang="zh-CN" sz="2800" spc="12" dirty="0">
                  <a:solidFill>
                    <a:srgbClr val="0070C0"/>
                  </a:solidFill>
                  <a:latin typeface="Times New Roman" pitchFamily="18" charset="0"/>
                  <a:ea typeface="黑体" panose="02010609060101010101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225" y="4734793"/>
                <a:ext cx="5337516" cy="451406"/>
              </a:xfrm>
              <a:prstGeom prst="rect">
                <a:avLst/>
              </a:prstGeom>
              <a:blipFill rotWithShape="1">
                <a:blip r:embed="rId7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1642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06264"/>
            <a:ext cx="9727013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6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73648" y="268596"/>
            <a:ext cx="5678253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247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高斯滤波的权值函数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2214" y="1540998"/>
            <a:ext cx="490021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1"/>
              </a:lnSpc>
            </a:pP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高斯滤波的权值函数为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02213" y="3569792"/>
            <a:ext cx="8242393" cy="743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8"/>
              </a:lnSpc>
            </a:pP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其中</a:t>
            </a:r>
            <a:r>
              <a:rPr sz="2800" spc="-1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z </a:t>
            </a: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用于归一化处理，</a:t>
            </a:r>
            <a:r>
              <a:rPr sz="2800" spc="12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使所有的权值之和为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1.</a:t>
            </a:r>
            <a:r>
              <a:rPr sz="2800" b="1" spc="62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endParaRPr lang="en-US" sz="2800" b="1" spc="625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/>
            </a:endParaRPr>
          </a:p>
          <a:p>
            <a:pPr>
              <a:lnSpc>
                <a:spcPts val="2828"/>
              </a:lnSpc>
            </a:pPr>
            <a:r>
              <a:rPr sz="2800" spc="12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处理结果</a:t>
            </a:r>
            <a:endParaRPr sz="2800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ETFSQW+ËÎÌå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93" y="2884062"/>
            <a:ext cx="4274365" cy="55408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0123" y="4445232"/>
            <a:ext cx="2733333" cy="961905"/>
          </a:xfrm>
          <a:prstGeom prst="rect">
            <a:avLst/>
          </a:prstGeom>
        </p:spPr>
      </p:pic>
      <p:sp>
        <p:nvSpPr>
          <p:cNvPr id="30" name="object 1"/>
          <p:cNvSpPr/>
          <p:nvPr/>
        </p:nvSpPr>
        <p:spPr>
          <a:xfrm>
            <a:off x="5118537" y="1408386"/>
            <a:ext cx="2765830" cy="2161406"/>
          </a:xfrm>
          <a:prstGeom prst="rect">
            <a:avLst/>
          </a:prstGeom>
          <a:blipFill>
            <a:blip r:embed="rId2" cstate="print"/>
            <a:srcRect/>
            <a:stretch>
              <a:fillRect l="-183414" t="-53102" r="-141270" b="-142564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596" y="1915566"/>
            <a:ext cx="3979811" cy="93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805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95696" y="194925"/>
            <a:ext cx="9100552" cy="60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704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sz="40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个数的选择</a:t>
            </a: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:1</a:t>
            </a:r>
            <a:r>
              <a:rPr sz="40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的</a:t>
            </a: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sz="40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40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次根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178" y="1629104"/>
            <a:ext cx="4978833" cy="363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45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062" y="370195"/>
            <a:ext cx="2834585" cy="214891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01" y="2102069"/>
            <a:ext cx="6506069" cy="321506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19856" y="239260"/>
            <a:ext cx="3443537" cy="60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04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n=4</a:t>
            </a:r>
            <a:r>
              <a:rPr sz="4000" b="1" spc="-19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40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的实例</a:t>
            </a:r>
          </a:p>
        </p:txBody>
      </p:sp>
    </p:spTree>
    <p:extLst>
      <p:ext uri="{BB962C8B-B14F-4D97-AF65-F5344CB8AC3E}">
        <p14:creationId xmlns:p14="http://schemas.microsoft.com/office/powerpoint/2010/main" val="384028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06264"/>
            <a:ext cx="9727013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6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6035" y="206933"/>
            <a:ext cx="8708681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快速傅立叶变换</a:t>
            </a:r>
            <a:r>
              <a:rPr sz="4000" b="1" spc="19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PKWMUD+ËÎÌå"/>
              </a:rPr>
              <a:t>FFT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502212" y="1454690"/>
                <a:ext cx="8631277" cy="35907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2828"/>
                  </a:lnSpc>
                </a:pPr>
                <a:r>
                  <a:rPr lang="en-US" altLang="zh-CN" sz="2551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1.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对 </a:t>
                </a:r>
                <a14:m>
                  <m:oMath xmlns:m="http://schemas.openxmlformats.org/officeDocument/2006/math"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𝒙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=</m:t>
                    </m:r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𝟏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ar-AE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ar-AE"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,</a:t>
                </a:r>
                <a:r>
                  <a:rPr lang="zh-CN" altLang="en-US" sz="2800" b="1" spc="12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分别计算</a:t>
                </a:r>
                <a:r>
                  <a:rPr lang="en-US" altLang="zh-CN" sz="2800" b="1" i="1" dirty="0" err="1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A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(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x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)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，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B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(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x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)</a:t>
                </a:r>
                <a:endParaRPr lang="en-US" altLang="zh-CN" sz="28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12" y="1454690"/>
                <a:ext cx="8631277" cy="359073"/>
              </a:xfrm>
              <a:prstGeom prst="rect">
                <a:avLst/>
              </a:prstGeom>
              <a:blipFill>
                <a:blip r:embed="rId3"/>
                <a:stretch>
                  <a:fillRect l="-2260" t="-55932" b="-593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/>
              <p:cNvSpPr txBox="1"/>
              <p:nvPr/>
            </p:nvSpPr>
            <p:spPr>
              <a:xfrm>
                <a:off x="502212" y="2426985"/>
                <a:ext cx="9020159" cy="71814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2828"/>
                  </a:lnSpc>
                </a:pPr>
                <a:r>
                  <a:rPr lang="en-US" altLang="zh-CN" sz="2551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2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.</a:t>
                </a:r>
                <a:r>
                  <a:rPr lang="zh-CN" altLang="en-US" sz="2800" b="1" spc="13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利用</a:t>
                </a:r>
                <a:r>
                  <a:rPr lang="zh-CN" altLang="en-US" sz="2800" b="1" spc="13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步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1</a:t>
                </a:r>
                <a:r>
                  <a:rPr lang="zh-CN" altLang="en-US" sz="2800" b="1" spc="12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的结果对每个 </a:t>
                </a:r>
                <a14:m>
                  <m:oMath xmlns:m="http://schemas.openxmlformats.org/officeDocument/2006/math">
                    <m:r>
                      <a:rPr lang="zh-CN" altLang="en-US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𝒙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=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𝟏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,</m:t>
                    </m:r>
                    <m:sSub>
                      <m:sSubPr>
                        <m:ctrlP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800" b="1" i="1" spc="12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800" b="1" spc="12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 计算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C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(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x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)</a:t>
                </a:r>
                <a:r>
                  <a:rPr lang="zh-CN" altLang="en-US" sz="2800" b="1" spc="12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，得到</a:t>
                </a:r>
                <a:endParaRPr lang="zh-CN" altLang="en-US" sz="2800" b="1" spc="12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ETFSQW+ËÎÌå"/>
                </a:endParaRPr>
              </a:p>
            </p:txBody>
          </p:sp>
        </mc:Choice>
        <mc:Fallback xmlns=""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12" y="2426985"/>
                <a:ext cx="9020159" cy="718145"/>
              </a:xfrm>
              <a:prstGeom prst="rect">
                <a:avLst/>
              </a:prstGeom>
              <a:blipFill rotWithShape="1">
                <a:blip r:embed="rId4"/>
                <a:stretch>
                  <a:fillRect l="-2365" t="-26271" b="-29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bject 20"/>
          <p:cNvSpPr txBox="1"/>
          <p:nvPr/>
        </p:nvSpPr>
        <p:spPr>
          <a:xfrm>
            <a:off x="502213" y="3723291"/>
            <a:ext cx="2516251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8"/>
              </a:lnSpc>
            </a:pPr>
            <a:r>
              <a:rPr sz="2551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3</a:t>
            </a:r>
            <a:r>
              <a:rPr sz="2551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.</a:t>
            </a:r>
            <a:r>
              <a:rPr sz="2551" b="1" spc="12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构造多项式</a:t>
            </a:r>
            <a:endParaRPr sz="2551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ETFSQW+ËÎÌå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6"/>
              <p:cNvSpPr txBox="1"/>
              <p:nvPr/>
            </p:nvSpPr>
            <p:spPr>
              <a:xfrm>
                <a:off x="502214" y="4695695"/>
                <a:ext cx="8862502" cy="35907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2828"/>
                  </a:lnSpc>
                </a:pPr>
                <a:r>
                  <a:rPr sz="2551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4</a:t>
                </a:r>
                <a:r>
                  <a:rPr sz="2551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.</a:t>
                </a:r>
                <a:r>
                  <a:rPr sz="2800" b="1" spc="15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对</a:t>
                </a:r>
                <a14:m>
                  <m:oMath xmlns:m="http://schemas.openxmlformats.org/officeDocument/2006/math"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𝒙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=</m:t>
                    </m:r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𝟏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ar-AE" altLang="zh-CN"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,</a:t>
                </a:r>
                <a:r>
                  <a:rPr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计算</a:t>
                </a:r>
                <a:r>
                  <a:rPr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D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(</a:t>
                </a:r>
                <a:r>
                  <a:rPr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x</a:t>
                </a:r>
                <a:r>
                  <a:rPr sz="2800" b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)</a:t>
                </a:r>
                <a:r>
                  <a:rPr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,</a:t>
                </a:r>
              </a:p>
            </p:txBody>
          </p:sp>
        </mc:Choice>
        <mc:Fallback xmlns="">
          <p:sp>
            <p:nvSpPr>
              <p:cNvPr id="26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14" y="4695695"/>
                <a:ext cx="8862502" cy="359073"/>
              </a:xfrm>
              <a:prstGeom prst="rect">
                <a:avLst/>
              </a:prstGeom>
              <a:blipFill rotWithShape="1">
                <a:blip r:embed="rId5"/>
                <a:stretch>
                  <a:fillRect l="-2201" t="-54237" b="-610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图片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6215" y="3181242"/>
            <a:ext cx="4882861" cy="420379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6215" y="4147860"/>
            <a:ext cx="4662144" cy="47881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2849" y="5263436"/>
            <a:ext cx="3600599" cy="36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32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10334" y="254258"/>
            <a:ext cx="6540983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247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快速傅立叶变换</a:t>
            </a:r>
            <a:r>
              <a:rPr sz="4000" b="1" spc="1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PKWMUD+ËÎÌå"/>
              </a:rPr>
              <a:t>FFT(</a:t>
            </a: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续</a:t>
            </a: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PKWMUD+ËÎÌå"/>
              </a:rPr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4218" y="1708268"/>
            <a:ext cx="2112537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1"/>
              </a:lnSpc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可以证明</a:t>
            </a: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：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48989" y="4776697"/>
            <a:ext cx="588196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8"/>
              </a:lnSpc>
            </a:pPr>
            <a:r>
              <a:rPr sz="2800" b="1" spc="1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知道了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D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x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的值，就能求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C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x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  <a:r>
              <a:rPr sz="2800" b="1" spc="1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的系数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2"/>
          <a:srcRect t="4963" r="53542"/>
          <a:stretch/>
        </p:blipFill>
        <p:spPr>
          <a:xfrm>
            <a:off x="1100008" y="2238703"/>
            <a:ext cx="2927243" cy="253799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46008" t="4963"/>
          <a:stretch/>
        </p:blipFill>
        <p:spPr>
          <a:xfrm>
            <a:off x="4027251" y="2238703"/>
            <a:ext cx="3401905" cy="253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75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78047" y="185561"/>
            <a:ext cx="8823607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算法的关键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664217" y="1323862"/>
                <a:ext cx="8448251" cy="35907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2824"/>
                  </a:lnSpc>
                </a:pPr>
                <a:r>
                  <a:rPr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令</a:t>
                </a:r>
                <a14:m>
                  <m:oMath xmlns:m="http://schemas.openxmlformats.org/officeDocument/2006/math"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𝒙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=</m:t>
                    </m:r>
                    <m:r>
                      <a:rPr lang="zh-CN" altLang="en-US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𝟏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ETFSQW+ËÎÌå"/>
                      </a:rPr>
                      <m:t>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lang="ar-AE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𝝎</m:t>
                        </m:r>
                      </m:e>
                      <m:sub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𝒏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zh-CN" altLang="ar-AE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ETFSQW+ËÎÌå"/>
                  </a:rPr>
                  <a:t>，</a:t>
                </a:r>
                <a:endParaRPr sz="28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ETFSQW+ËÎÌå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17" y="1323862"/>
                <a:ext cx="8448251" cy="359073"/>
              </a:xfrm>
              <a:prstGeom prst="rect">
                <a:avLst/>
              </a:prstGeom>
              <a:blipFill rotWithShape="1">
                <a:blip r:embed="rId2"/>
                <a:stretch>
                  <a:fillRect l="-2597" t="-52542" b="-559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8"/>
          <p:cNvSpPr txBox="1"/>
          <p:nvPr/>
        </p:nvSpPr>
        <p:spPr>
          <a:xfrm>
            <a:off x="664217" y="2299374"/>
            <a:ext cx="7596914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步</a:t>
            </a:r>
            <a:r>
              <a:rPr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</a:t>
            </a:r>
            <a:r>
              <a:rPr lang="en-US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对</a:t>
            </a:r>
            <a:r>
              <a:rPr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sz="2800" b="1" i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个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x</a:t>
            </a:r>
            <a:r>
              <a:rPr sz="2800" b="1" spc="12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值分别</a:t>
            </a:r>
            <a:r>
              <a:rPr sz="2800" b="1" spc="12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求值多项式</a:t>
            </a:r>
            <a:r>
              <a:rPr sz="2800" b="1" i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A</a:t>
            </a:r>
            <a:r>
              <a:rPr sz="28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x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), </a:t>
            </a:r>
            <a:r>
              <a:rPr sz="28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B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x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4218" y="3108224"/>
            <a:ext cx="5946789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步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sz="2800" b="1" spc="-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做</a:t>
            </a:r>
            <a:r>
              <a:rPr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sz="2800" b="1" i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次乘法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64218" y="3891506"/>
            <a:ext cx="8059368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步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3</a:t>
            </a:r>
            <a:r>
              <a:rPr sz="2800" b="1" spc="-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对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个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x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值</a:t>
            </a:r>
            <a:r>
              <a:rPr sz="2800" b="1" spc="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求值多项式</a:t>
            </a:r>
            <a:r>
              <a:rPr sz="2800" b="1" spc="1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D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x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94360" y="4678198"/>
            <a:ext cx="819908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</a:pPr>
            <a:r>
              <a:rPr sz="2800" b="1" spc="1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关键：一个对所有的</a:t>
            </a:r>
            <a:r>
              <a:rPr sz="2800" b="1" spc="-3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x </a:t>
            </a:r>
            <a:r>
              <a:rPr sz="2800" b="1" spc="15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快速多项式求值算法</a:t>
            </a:r>
            <a:endParaRPr sz="2800" b="1" spc="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ETFSQW+ËÎÌå"/>
            </a:endParaRPr>
          </a:p>
        </p:txBody>
      </p:sp>
    </p:spTree>
    <p:extLst>
      <p:ext uri="{BB962C8B-B14F-4D97-AF65-F5344CB8AC3E}">
        <p14:creationId xmlns:p14="http://schemas.microsoft.com/office/powerpoint/2010/main" val="107752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78372" y="236443"/>
            <a:ext cx="8954814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小结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2214" y="1706066"/>
            <a:ext cx="208175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71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卷积计算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2213" y="2224771"/>
            <a:ext cx="2891402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蛮力算法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O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baseline="2999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2214" y="2683219"/>
            <a:ext cx="4831665" cy="12952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2"/>
              </a:lnSpc>
            </a:pPr>
            <a:r>
              <a:rPr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spc="1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快速傅立叶变换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FFT</a:t>
            </a: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算法</a:t>
            </a:r>
          </a:p>
          <a:p>
            <a:pPr marL="361262">
              <a:lnSpc>
                <a:spcPts val="2824"/>
              </a:lnSpc>
              <a:spcBef>
                <a:spcPts val="795"/>
              </a:spcBef>
            </a:pPr>
            <a:r>
              <a:rPr sz="2800" spc="1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确定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x</a:t>
            </a:r>
            <a:r>
              <a:rPr sz="2800" spc="1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的取值：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 </a:t>
            </a:r>
            <a:r>
              <a:rPr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的</a:t>
            </a: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 </a:t>
            </a: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次根</a:t>
            </a:r>
          </a:p>
          <a:p>
            <a:pPr marL="361262">
              <a:lnSpc>
                <a:spcPts val="2828"/>
              </a:lnSpc>
              <a:spcBef>
                <a:spcPts val="847"/>
              </a:spcBef>
            </a:pPr>
            <a:r>
              <a:rPr sz="2800" spc="1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关键步骤：多项式对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x</a:t>
            </a: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求值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69552" y="4383554"/>
            <a:ext cx="5615232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1"/>
              </a:lnSpc>
            </a:pPr>
            <a:r>
              <a:rPr sz="2800" spc="12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TFSQW+ËÎÌå"/>
              </a:rPr>
              <a:t>如何设计多项式求值的快速算法？</a:t>
            </a:r>
          </a:p>
        </p:txBody>
      </p:sp>
    </p:spTree>
    <p:extLst>
      <p:ext uri="{BB962C8B-B14F-4D97-AF65-F5344CB8AC3E}">
        <p14:creationId xmlns:p14="http://schemas.microsoft.com/office/powerpoint/2010/main" val="312495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073" y="1974966"/>
            <a:ext cx="8174272" cy="1767067"/>
          </a:xfrm>
          <a:prstGeom prst="rect">
            <a:avLst/>
          </a:prstGeom>
        </p:spPr>
        <p:txBody>
          <a:bodyPr vert="horz" wrap="square" lIns="0" tIns="73577" rIns="0" bIns="0" rtlCol="0" anchor="ctr">
            <a:spAutoFit/>
          </a:bodyPr>
          <a:lstStyle/>
          <a:p>
            <a:pPr marL="13500" marR="5400" indent="506928" algn="ctr">
              <a:lnSpc>
                <a:spcPts val="6580"/>
              </a:lnSpc>
              <a:spcBef>
                <a:spcPts val="579"/>
              </a:spcBef>
            </a:pPr>
            <a:r>
              <a:rPr sz="6600" spc="-16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快速傅立叶变</a:t>
            </a:r>
            <a:r>
              <a:rPr sz="6600" spc="-21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换</a:t>
            </a:r>
            <a:r>
              <a:rPr sz="6600" spc="-16" dirty="0" smtClean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sz="6600" spc="-16" dirty="0" smtClean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sz="6600" spc="-16" dirty="0" smtClean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sz="6600" dirty="0" err="1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FF</a:t>
            </a:r>
            <a:r>
              <a:rPr sz="6600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T</a:t>
            </a:r>
            <a:r>
              <a:rPr sz="6600" spc="-16" dirty="0" err="1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endParaRPr sz="6600" dirty="0">
              <a:latin typeface="黑体" panose="02010609060101010101" pitchFamily="49" charset="-122"/>
              <a:ea typeface="黑体" panose="02010609060101010101" pitchFamily="49" charset="-122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4487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5213" y="200839"/>
            <a:ext cx="8710828" cy="628503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多项式求值算法</a:t>
            </a:r>
            <a:endParaRPr sz="4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13" y="1243089"/>
            <a:ext cx="8710828" cy="4734292"/>
          </a:xfrm>
          <a:prstGeom prst="rect">
            <a:avLst/>
          </a:prstGeom>
        </p:spPr>
        <p:txBody>
          <a:bodyPr vert="horz" wrap="square" lIns="0" tIns="47926" rIns="0" bIns="0" rtlCol="0">
            <a:spAutoFit/>
          </a:bodyPr>
          <a:lstStyle/>
          <a:p>
            <a:pPr marL="27000">
              <a:spcBef>
                <a:spcPts val="377"/>
              </a:spcBef>
            </a:pPr>
            <a:r>
              <a:rPr sz="2800" b="1" spc="-5" dirty="0">
                <a:latin typeface="宋体"/>
                <a:cs typeface="宋体"/>
              </a:rPr>
              <a:t>给定多项式：</a:t>
            </a:r>
            <a:endParaRPr sz="2800" dirty="0">
              <a:latin typeface="宋体"/>
              <a:cs typeface="宋体"/>
            </a:endParaRPr>
          </a:p>
          <a:p>
            <a:pPr marL="54000" algn="ctr">
              <a:spcBef>
                <a:spcPts val="27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)=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+…+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Symbol"/>
                <a:cs typeface="Symbol"/>
              </a:rPr>
              <a:t>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i="1" spc="-7" baseline="24305" dirty="0"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latin typeface="Symbol"/>
                <a:cs typeface="Symbol"/>
              </a:rPr>
              <a:t></a:t>
            </a:r>
            <a:r>
              <a:rPr sz="2800" b="1" spc="-7" baseline="24305" dirty="0">
                <a:latin typeface="Times New Roman"/>
                <a:cs typeface="Times New Roman"/>
              </a:rPr>
              <a:t>1</a:t>
            </a:r>
            <a:endParaRPr sz="2800" baseline="24305" dirty="0">
              <a:latin typeface="Times New Roman"/>
              <a:cs typeface="Times New Roman"/>
            </a:endParaRPr>
          </a:p>
          <a:p>
            <a:pPr marL="27000">
              <a:spcBef>
                <a:spcPts val="1313"/>
              </a:spcBef>
            </a:pPr>
            <a:r>
              <a:rPr sz="2800" b="1" spc="-11" dirty="0">
                <a:latin typeface="宋体"/>
                <a:cs typeface="宋体"/>
              </a:rPr>
              <a:t>设</a:t>
            </a:r>
            <a:r>
              <a:rPr sz="2800" b="1" spc="-728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spc="-1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为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16" dirty="0">
                <a:latin typeface="Times New Roman"/>
                <a:cs typeface="Times New Roman"/>
              </a:rPr>
              <a:t> </a:t>
            </a:r>
            <a:r>
              <a:rPr sz="2800" b="1" spc="-11" dirty="0">
                <a:latin typeface="宋体"/>
                <a:cs typeface="宋体"/>
              </a:rPr>
              <a:t>的</a:t>
            </a:r>
            <a:r>
              <a:rPr sz="2800" b="1" spc="-648" dirty="0">
                <a:latin typeface="宋体"/>
                <a:cs typeface="宋体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spc="-21" dirty="0">
                <a:latin typeface="Times New Roman"/>
                <a:cs typeface="Times New Roman"/>
              </a:rPr>
              <a:t> </a:t>
            </a:r>
            <a:r>
              <a:rPr sz="2800" b="1" dirty="0" err="1">
                <a:latin typeface="宋体"/>
                <a:cs typeface="宋体"/>
              </a:rPr>
              <a:t>次方</a:t>
            </a:r>
            <a:r>
              <a:rPr sz="2800" b="1" spc="5" dirty="0" err="1">
                <a:latin typeface="宋体"/>
                <a:cs typeface="宋体"/>
              </a:rPr>
              <a:t>根</a:t>
            </a:r>
            <a:r>
              <a:rPr sz="2800" b="1" dirty="0" err="1">
                <a:latin typeface="宋体"/>
                <a:cs typeface="宋体"/>
              </a:rPr>
              <a:t>，对所有</a:t>
            </a:r>
            <a:r>
              <a:rPr sz="2800" b="1" spc="-11" dirty="0" err="1">
                <a:latin typeface="宋体"/>
                <a:cs typeface="宋体"/>
              </a:rPr>
              <a:t>的</a:t>
            </a:r>
            <a:r>
              <a:rPr sz="2800" b="1" spc="-696" dirty="0">
                <a:latin typeface="宋体"/>
                <a:cs typeface="宋体"/>
              </a:rPr>
              <a:t> </a:t>
            </a:r>
            <a:r>
              <a:rPr sz="2800" b="1" i="1" dirty="0" err="1" smtClean="0">
                <a:latin typeface="Times New Roman"/>
                <a:cs typeface="Times New Roman"/>
              </a:rPr>
              <a:t>x</a:t>
            </a:r>
            <a:r>
              <a:rPr sz="2800" b="1" dirty="0" err="1" smtClean="0">
                <a:latin typeface="宋体"/>
                <a:cs typeface="宋体"/>
              </a:rPr>
              <a:t>计</a:t>
            </a:r>
            <a:r>
              <a:rPr sz="2800" b="1" spc="-11" dirty="0" err="1" smtClean="0">
                <a:latin typeface="宋体"/>
                <a:cs typeface="宋体"/>
              </a:rPr>
              <a:t>算</a:t>
            </a:r>
            <a:r>
              <a:rPr sz="2800" b="1" spc="-718" dirty="0" smtClean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dirty="0" err="1">
                <a:latin typeface="宋体"/>
                <a:cs typeface="宋体"/>
              </a:rPr>
              <a:t>的值</a:t>
            </a:r>
            <a:r>
              <a:rPr sz="2800" b="1" dirty="0" smtClean="0">
                <a:latin typeface="Calibri"/>
                <a:cs typeface="Calibri"/>
              </a:rPr>
              <a:t>.</a:t>
            </a:r>
            <a:endParaRPr lang="en-US" sz="2800" b="1" dirty="0" smtClean="0">
              <a:latin typeface="Calibri"/>
              <a:cs typeface="Calibri"/>
            </a:endParaRPr>
          </a:p>
          <a:p>
            <a:pPr marL="27000">
              <a:spcBef>
                <a:spcPts val="1313"/>
              </a:spcBef>
            </a:pPr>
            <a:endParaRPr sz="2800" dirty="0">
              <a:latin typeface="Calibri"/>
              <a:cs typeface="Calibri"/>
            </a:endParaRPr>
          </a:p>
          <a:p>
            <a:pPr marL="27000">
              <a:spcBef>
                <a:spcPts val="840"/>
              </a:spcBef>
            </a:pPr>
            <a:r>
              <a:rPr sz="2800" b="1" dirty="0">
                <a:solidFill>
                  <a:srgbClr val="C00000"/>
                </a:solidFill>
                <a:latin typeface="宋体"/>
                <a:cs typeface="宋体"/>
              </a:rPr>
              <a:t>算法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800" b="1" dirty="0">
                <a:latin typeface="宋体"/>
                <a:cs typeface="宋体"/>
              </a:rPr>
              <a:t>：对每</a:t>
            </a:r>
            <a:r>
              <a:rPr sz="2800" b="1" spc="-11" dirty="0">
                <a:latin typeface="宋体"/>
                <a:cs typeface="宋体"/>
              </a:rPr>
              <a:t>个</a:t>
            </a:r>
            <a:r>
              <a:rPr sz="2800" b="1" spc="-723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spc="-1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做下述运算：</a:t>
            </a:r>
            <a:endParaRPr sz="2800" dirty="0">
              <a:latin typeface="宋体"/>
              <a:cs typeface="宋体"/>
            </a:endParaRPr>
          </a:p>
          <a:p>
            <a:pPr marL="27000">
              <a:spcBef>
                <a:spcPts val="308"/>
              </a:spcBef>
            </a:pPr>
            <a:r>
              <a:rPr sz="2800" b="1" spc="-5" dirty="0">
                <a:latin typeface="宋体"/>
                <a:cs typeface="宋体"/>
              </a:rPr>
              <a:t>依次计算每个</a:t>
            </a:r>
            <a:r>
              <a:rPr sz="2800" b="1" spc="-11" dirty="0">
                <a:latin typeface="宋体"/>
                <a:cs typeface="宋体"/>
              </a:rPr>
              <a:t>项</a:t>
            </a:r>
            <a:r>
              <a:rPr sz="2800" b="1" spc="-154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baseline="-20833" dirty="0">
                <a:latin typeface="Times New Roman"/>
                <a:cs typeface="Times New Roman"/>
              </a:rPr>
              <a:t>i</a:t>
            </a:r>
            <a:r>
              <a:rPr sz="2800" b="1" i="1" spc="622" baseline="-20833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i="1" spc="-7" baseline="24305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i="1" spc="-5" dirty="0">
                <a:latin typeface="Times New Roman"/>
                <a:cs typeface="Times New Roman"/>
              </a:rPr>
              <a:t>i </a:t>
            </a:r>
            <a:r>
              <a:rPr sz="2800" b="1" dirty="0">
                <a:latin typeface="Times New Roman"/>
                <a:cs typeface="Times New Roman"/>
              </a:rPr>
              <a:t>=1,</a:t>
            </a:r>
            <a:r>
              <a:rPr sz="2800" b="1" spc="-2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...</a:t>
            </a:r>
            <a:r>
              <a:rPr sz="2800" b="1" spc="-1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-1</a:t>
            </a:r>
            <a:endParaRPr sz="2800" dirty="0">
              <a:latin typeface="Times New Roman"/>
              <a:cs typeface="Times New Roman"/>
            </a:endParaRPr>
          </a:p>
          <a:p>
            <a:pPr marL="27000">
              <a:spcBef>
                <a:spcPts val="308"/>
              </a:spcBef>
            </a:pPr>
            <a:r>
              <a:rPr sz="2800" b="1" spc="-11" dirty="0">
                <a:latin typeface="宋体"/>
                <a:cs typeface="宋体"/>
              </a:rPr>
              <a:t>对</a:t>
            </a:r>
            <a:r>
              <a:rPr sz="2800" b="1" spc="-718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spc="-7" baseline="-20833" dirty="0">
                <a:latin typeface="Times New Roman"/>
                <a:cs typeface="Times New Roman"/>
              </a:rPr>
              <a:t>i</a:t>
            </a:r>
            <a:r>
              <a:rPr sz="2800" b="1" i="1" baseline="-20833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i="1" spc="-7" baseline="24305" dirty="0">
                <a:latin typeface="Times New Roman"/>
                <a:cs typeface="Times New Roman"/>
              </a:rPr>
              <a:t>i</a:t>
            </a:r>
            <a:r>
              <a:rPr sz="2800" b="1" i="1" spc="319" baseline="243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i=</a:t>
            </a:r>
            <a:r>
              <a:rPr sz="2800" b="1" dirty="0">
                <a:latin typeface="Times New Roman"/>
                <a:cs typeface="Times New Roman"/>
              </a:rPr>
              <a:t>0,1,...,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-1)</a:t>
            </a:r>
            <a:r>
              <a:rPr sz="2800" b="1" dirty="0">
                <a:latin typeface="宋体"/>
                <a:cs typeface="宋体"/>
              </a:rPr>
              <a:t>求和</a:t>
            </a:r>
            <a:r>
              <a:rPr sz="2800" b="1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7000">
              <a:spcBef>
                <a:spcPts val="1993"/>
              </a:spcBef>
            </a:pPr>
            <a:r>
              <a:rPr sz="2800" b="1" spc="-5" dirty="0">
                <a:latin typeface="宋体"/>
                <a:cs typeface="宋体"/>
              </a:rPr>
              <a:t>蛮力算法的时间复杂度</a:t>
            </a:r>
            <a:endParaRPr sz="2800" dirty="0">
              <a:latin typeface="宋体"/>
              <a:cs typeface="宋体"/>
            </a:endParaRPr>
          </a:p>
          <a:p>
            <a:pPr marR="47250" algn="ctr">
              <a:spcBef>
                <a:spcPts val="21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7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67576" y="1764109"/>
            <a:ext cx="4011293" cy="486013"/>
          </a:xfrm>
          <a:custGeom>
            <a:avLst/>
            <a:gdLst/>
            <a:ahLst/>
            <a:cxnLst/>
            <a:rect l="l" t="t" r="r" b="b"/>
            <a:pathLst>
              <a:path w="3505200" h="457200">
                <a:moveTo>
                  <a:pt x="0" y="76200"/>
                </a:moveTo>
                <a:lnTo>
                  <a:pt x="5987" y="46559"/>
                </a:lnTo>
                <a:lnTo>
                  <a:pt x="22317" y="22336"/>
                </a:lnTo>
                <a:lnTo>
                  <a:pt x="46537" y="5994"/>
                </a:lnTo>
                <a:lnTo>
                  <a:pt x="76200" y="0"/>
                </a:lnTo>
                <a:lnTo>
                  <a:pt x="3429000" y="0"/>
                </a:lnTo>
                <a:lnTo>
                  <a:pt x="3458640" y="5994"/>
                </a:lnTo>
                <a:lnTo>
                  <a:pt x="3482863" y="22336"/>
                </a:lnTo>
                <a:lnTo>
                  <a:pt x="3499205" y="46559"/>
                </a:lnTo>
                <a:lnTo>
                  <a:pt x="3505200" y="76200"/>
                </a:lnTo>
                <a:lnTo>
                  <a:pt x="3505200" y="381000"/>
                </a:lnTo>
                <a:lnTo>
                  <a:pt x="3499205" y="410640"/>
                </a:lnTo>
                <a:lnTo>
                  <a:pt x="3482863" y="434863"/>
                </a:lnTo>
                <a:lnTo>
                  <a:pt x="3458640" y="451205"/>
                </a:lnTo>
                <a:lnTo>
                  <a:pt x="3429000" y="457200"/>
                </a:lnTo>
                <a:lnTo>
                  <a:pt x="76200" y="457200"/>
                </a:lnTo>
                <a:lnTo>
                  <a:pt x="46537" y="451205"/>
                </a:lnTo>
                <a:lnTo>
                  <a:pt x="22317" y="434863"/>
                </a:lnTo>
                <a:lnTo>
                  <a:pt x="5987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</p:spTree>
    <p:extLst>
      <p:ext uri="{BB962C8B-B14F-4D97-AF65-F5344CB8AC3E}">
        <p14:creationId xmlns:p14="http://schemas.microsoft.com/office/powerpoint/2010/main" val="3887267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461" y="320814"/>
            <a:ext cx="8849684" cy="628503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改进的求值算法</a:t>
            </a:r>
            <a:endParaRPr sz="4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7210" y="1671297"/>
            <a:ext cx="8471990" cy="4122759"/>
          </a:xfrm>
          <a:prstGeom prst="rect">
            <a:avLst/>
          </a:prstGeom>
        </p:spPr>
        <p:txBody>
          <a:bodyPr vert="horz" wrap="square" lIns="0" tIns="72227" rIns="0" bIns="0" rtlCol="0">
            <a:spAutoFit/>
          </a:bodyPr>
          <a:lstStyle/>
          <a:p>
            <a:pPr marL="54000">
              <a:spcBef>
                <a:spcPts val="569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宋体"/>
                <a:cs typeface="宋体"/>
              </a:rPr>
              <a:t>算法</a:t>
            </a:r>
            <a:r>
              <a:rPr lang="en-US" altLang="zh-CN" sz="2800" b="1" dirty="0">
                <a:solidFill>
                  <a:srgbClr val="C00000"/>
                </a:solidFill>
                <a:latin typeface="宋体"/>
                <a:cs typeface="宋体"/>
              </a:rPr>
              <a:t>2</a:t>
            </a:r>
            <a:r>
              <a:rPr lang="zh-CN" altLang="en-US" sz="2800" b="1" dirty="0">
                <a:latin typeface="宋体"/>
                <a:cs typeface="宋体"/>
              </a:rPr>
              <a:t>：</a:t>
            </a:r>
            <a:r>
              <a:rPr sz="2800" b="1" dirty="0" err="1" smtClean="0">
                <a:latin typeface="宋体"/>
                <a:cs typeface="宋体"/>
              </a:rPr>
              <a:t>依次</a:t>
            </a:r>
            <a:r>
              <a:rPr sz="2800" b="1" spc="-11" dirty="0" err="1" smtClean="0">
                <a:latin typeface="宋体"/>
                <a:cs typeface="宋体"/>
              </a:rPr>
              <a:t>对</a:t>
            </a:r>
            <a:r>
              <a:rPr sz="2800" b="1" spc="-659" dirty="0" smtClean="0">
                <a:latin typeface="宋体"/>
                <a:cs typeface="宋体"/>
              </a:rPr>
              <a:t> </a:t>
            </a:r>
            <a:r>
              <a:rPr sz="2800" b="1" dirty="0">
                <a:latin typeface="宋体"/>
                <a:cs typeface="宋体"/>
              </a:rPr>
              <a:t>每</a:t>
            </a:r>
            <a:r>
              <a:rPr sz="2800" b="1" spc="-11" dirty="0">
                <a:latin typeface="宋体"/>
                <a:cs typeface="宋体"/>
              </a:rPr>
              <a:t>个</a:t>
            </a:r>
            <a:r>
              <a:rPr sz="2800" b="1" spc="-643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做下述计算</a:t>
            </a:r>
            <a:endParaRPr sz="2800" dirty="0">
              <a:latin typeface="宋体"/>
              <a:cs typeface="宋体"/>
            </a:endParaRPr>
          </a:p>
          <a:p>
            <a:pPr marL="135001">
              <a:spcBef>
                <a:spcPts val="461"/>
              </a:spcBef>
            </a:pP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dirty="0">
                <a:latin typeface="Times New Roman"/>
                <a:cs typeface="Times New Roman"/>
              </a:rPr>
              <a:t>)=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baseline="-20833" dirty="0">
                <a:latin typeface="Times New Roman"/>
                <a:cs typeface="Times New Roman"/>
              </a:rPr>
              <a:t>n</a:t>
            </a:r>
            <a:r>
              <a:rPr sz="2800" b="1" baseline="-20833" dirty="0">
                <a:latin typeface="Symbol"/>
                <a:cs typeface="Symbol"/>
              </a:rPr>
              <a:t>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endParaRPr sz="2800" baseline="-20833" dirty="0">
              <a:latin typeface="Times New Roman"/>
              <a:cs typeface="Times New Roman"/>
            </a:endParaRPr>
          </a:p>
          <a:p>
            <a:pPr marL="135001">
              <a:spcBef>
                <a:spcPts val="76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baseline="-20833" dirty="0">
                <a:latin typeface="Times New Roman"/>
                <a:cs typeface="Times New Roman"/>
              </a:rPr>
              <a:t>n</a:t>
            </a:r>
            <a:r>
              <a:rPr sz="2800" b="1" baseline="-20833" dirty="0">
                <a:latin typeface="Symbol"/>
                <a:cs typeface="Symbol"/>
              </a:rPr>
              <a:t>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i="1" dirty="0">
                <a:latin typeface="Times New Roman"/>
                <a:cs typeface="Times New Roman"/>
              </a:rPr>
              <a:t>xA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dirty="0">
                <a:latin typeface="Times New Roman"/>
                <a:cs typeface="Times New Roman"/>
              </a:rPr>
              <a:t>) =</a:t>
            </a:r>
            <a:r>
              <a:rPr sz="2800" b="1" spc="-6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baseline="-20833" dirty="0">
                <a:latin typeface="Times New Roman"/>
                <a:cs typeface="Times New Roman"/>
              </a:rPr>
              <a:t>n</a:t>
            </a:r>
            <a:r>
              <a:rPr sz="2800" b="1" baseline="-20833" dirty="0">
                <a:latin typeface="Symbol"/>
                <a:cs typeface="Symbol"/>
              </a:rPr>
              <a:t>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baseline="-20833" dirty="0">
                <a:latin typeface="Times New Roman"/>
                <a:cs typeface="Times New Roman"/>
              </a:rPr>
              <a:t>n</a:t>
            </a:r>
            <a:r>
              <a:rPr sz="2800" b="1" baseline="-20833" dirty="0">
                <a:latin typeface="Times New Roman"/>
                <a:cs typeface="Times New Roman"/>
              </a:rPr>
              <a:t>-1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endParaRPr sz="2800" dirty="0">
              <a:latin typeface="Times New Roman"/>
              <a:cs typeface="Times New Roman"/>
            </a:endParaRPr>
          </a:p>
          <a:p>
            <a:pPr marL="135001">
              <a:spcBef>
                <a:spcPts val="76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3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baseline="-20833" dirty="0">
                <a:latin typeface="Times New Roman"/>
                <a:cs typeface="Times New Roman"/>
              </a:rPr>
              <a:t>n</a:t>
            </a:r>
            <a:r>
              <a:rPr sz="2800" b="1" baseline="-20833" dirty="0">
                <a:latin typeface="Symbol"/>
                <a:cs typeface="Symbol"/>
              </a:rPr>
              <a:t></a:t>
            </a:r>
            <a:r>
              <a:rPr sz="2800" b="1" baseline="-20833" dirty="0">
                <a:latin typeface="Times New Roman"/>
                <a:cs typeface="Times New Roman"/>
              </a:rPr>
              <a:t>3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i="1" dirty="0">
                <a:latin typeface="Times New Roman"/>
                <a:cs typeface="Times New Roman"/>
              </a:rPr>
              <a:t>xA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dirty="0">
                <a:latin typeface="Times New Roman"/>
                <a:cs typeface="Times New Roman"/>
              </a:rPr>
              <a:t>) =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-3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Symbol"/>
                <a:cs typeface="Symbol"/>
              </a:rPr>
              <a:t>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87" baseline="-20833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-1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24305" dirty="0">
                <a:latin typeface="Times New Roman"/>
                <a:cs typeface="Times New Roman"/>
              </a:rPr>
              <a:t>2</a:t>
            </a:r>
            <a:endParaRPr sz="2800" baseline="24305" dirty="0">
              <a:latin typeface="Times New Roman"/>
              <a:cs typeface="Times New Roman"/>
            </a:endParaRPr>
          </a:p>
          <a:p>
            <a:pPr marL="1347985">
              <a:spcBef>
                <a:spcPts val="128"/>
              </a:spcBef>
            </a:pPr>
            <a:r>
              <a:rPr sz="2800" b="1" dirty="0">
                <a:latin typeface="Times New Roman"/>
                <a:cs typeface="Times New Roman"/>
              </a:rPr>
              <a:t>…</a:t>
            </a:r>
            <a:endParaRPr sz="2800" dirty="0">
              <a:latin typeface="Times New Roman"/>
              <a:cs typeface="Times New Roman"/>
            </a:endParaRPr>
          </a:p>
          <a:p>
            <a:pPr marL="202502">
              <a:spcBef>
                <a:spcPts val="308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) =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spc="-5" dirty="0">
                <a:latin typeface="Times New Roman"/>
                <a:cs typeface="Times New Roman"/>
              </a:rPr>
              <a:t>+ </a:t>
            </a:r>
            <a:r>
              <a:rPr sz="2800" b="1" i="1" dirty="0">
                <a:latin typeface="Times New Roman"/>
                <a:cs typeface="Times New Roman"/>
              </a:rPr>
              <a:t>x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Symbol"/>
                <a:cs typeface="Symbol"/>
              </a:rPr>
              <a:t>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5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135001">
              <a:spcBef>
                <a:spcPts val="1866"/>
              </a:spcBef>
            </a:pPr>
            <a:r>
              <a:rPr sz="2800" b="1" spc="-5" dirty="0">
                <a:latin typeface="宋体"/>
                <a:cs typeface="宋体"/>
              </a:rPr>
              <a:t>时间复杂度</a:t>
            </a:r>
            <a:endParaRPr sz="2800" dirty="0">
              <a:latin typeface="宋体"/>
              <a:cs typeface="宋体"/>
            </a:endParaRPr>
          </a:p>
          <a:p>
            <a:pPr marR="203852" algn="ctr">
              <a:spcBef>
                <a:spcPts val="266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3" y="3213095"/>
            <a:ext cx="1027298" cy="2025"/>
          </a:xfrm>
          <a:custGeom>
            <a:avLst/>
            <a:gdLst/>
            <a:ahLst/>
            <a:cxnLst/>
            <a:rect l="l" t="t" r="r" b="b"/>
            <a:pathLst>
              <a:path w="609600" h="1905">
                <a:moveTo>
                  <a:pt x="0" y="0"/>
                </a:moveTo>
                <a:lnTo>
                  <a:pt x="609600" y="1524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7" name="object 4"/>
          <p:cNvSpPr/>
          <p:nvPr/>
        </p:nvSpPr>
        <p:spPr>
          <a:xfrm>
            <a:off x="367210" y="2724364"/>
            <a:ext cx="1027298" cy="2025"/>
          </a:xfrm>
          <a:custGeom>
            <a:avLst/>
            <a:gdLst/>
            <a:ahLst/>
            <a:cxnLst/>
            <a:rect l="l" t="t" r="r" b="b"/>
            <a:pathLst>
              <a:path w="609600" h="1905">
                <a:moveTo>
                  <a:pt x="0" y="0"/>
                </a:moveTo>
                <a:lnTo>
                  <a:pt x="609600" y="1524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</p:spTree>
    <p:extLst>
      <p:ext uri="{BB962C8B-B14F-4D97-AF65-F5344CB8AC3E}">
        <p14:creationId xmlns:p14="http://schemas.microsoft.com/office/powerpoint/2010/main" val="376023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072" y="223695"/>
            <a:ext cx="8912076" cy="654169"/>
          </a:xfrm>
          <a:prstGeom prst="rect">
            <a:avLst/>
          </a:prstGeom>
        </p:spPr>
        <p:txBody>
          <a:bodyPr vert="horz" wrap="square" lIns="0" tIns="1417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12"/>
              </a:spcBef>
            </a:pPr>
            <a:r>
              <a:rPr sz="40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偶系数与奇系数多项式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83" y="1317263"/>
            <a:ext cx="5714286" cy="3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8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248" y="200839"/>
            <a:ext cx="8424221" cy="628503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分治多项式求值算法</a:t>
            </a:r>
            <a:endParaRPr sz="4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7210" y="1413966"/>
            <a:ext cx="8839852" cy="4168491"/>
          </a:xfrm>
          <a:prstGeom prst="rect">
            <a:avLst/>
          </a:prstGeom>
        </p:spPr>
        <p:txBody>
          <a:bodyPr vert="horz" wrap="square" lIns="0" tIns="86402" rIns="0" bIns="0" rtlCol="0">
            <a:spAutoFit/>
          </a:bodyPr>
          <a:lstStyle/>
          <a:p>
            <a:pPr marL="54000">
              <a:spcBef>
                <a:spcPts val="680"/>
              </a:spcBef>
            </a:pPr>
            <a:r>
              <a:rPr sz="28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一般公式（</a:t>
            </a:r>
            <a:r>
              <a:rPr sz="2800" b="1" i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n</a:t>
            </a:r>
            <a:r>
              <a:rPr sz="28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为偶数）</a:t>
            </a:r>
            <a:endParaRPr sz="2800" b="1" dirty="0">
              <a:solidFill>
                <a:srgbClr val="C00000"/>
              </a:solidFill>
              <a:latin typeface="黑体" pitchFamily="49" charset="-122"/>
              <a:ea typeface="黑体" pitchFamily="49" charset="-122"/>
              <a:cs typeface="宋体"/>
            </a:endParaRPr>
          </a:p>
          <a:p>
            <a:pPr marL="364503">
              <a:spcBef>
                <a:spcPts val="574"/>
              </a:spcBef>
            </a:pP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16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24305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+…+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Symbol"/>
                <a:cs typeface="Symbol"/>
              </a:rPr>
              <a:t>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i="1" spc="-7" baseline="24305" dirty="0"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latin typeface="Symbol"/>
                <a:cs typeface="Symbol"/>
              </a:rPr>
              <a:t></a:t>
            </a:r>
            <a:r>
              <a:rPr sz="2800" b="1" spc="-7" baseline="24305" dirty="0">
                <a:latin typeface="Times New Roman"/>
                <a:cs typeface="Times New Roman"/>
              </a:rPr>
              <a:t>1</a:t>
            </a:r>
            <a:endParaRPr sz="2800" baseline="24305" dirty="0">
              <a:latin typeface="Times New Roman"/>
              <a:cs typeface="Times New Roman"/>
            </a:endParaRPr>
          </a:p>
          <a:p>
            <a:pPr marL="364503">
              <a:spcBef>
                <a:spcPts val="617"/>
              </a:spcBef>
            </a:pP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144" dirty="0">
                <a:latin typeface="Times New Roman"/>
                <a:cs typeface="Times New Roman"/>
              </a:rPr>
              <a:t> </a:t>
            </a:r>
            <a:r>
              <a:rPr sz="2800" b="1" spc="-7" baseline="-20833" dirty="0">
                <a:latin typeface="Times New Roman"/>
                <a:cs typeface="Times New Roman"/>
              </a:rPr>
              <a:t>even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)=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0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4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24305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+…+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Symbol"/>
                <a:cs typeface="Symbol"/>
              </a:rPr>
              <a:t>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24305" dirty="0">
                <a:latin typeface="Times New Roman"/>
                <a:cs typeface="Times New Roman"/>
              </a:rPr>
              <a:t>(</a:t>
            </a:r>
            <a:r>
              <a:rPr sz="2800" b="1" i="1" spc="-7" baseline="24305" dirty="0"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latin typeface="Symbol"/>
                <a:cs typeface="Symbol"/>
              </a:rPr>
              <a:t></a:t>
            </a:r>
            <a:r>
              <a:rPr sz="2800" b="1" spc="-7" baseline="24305" dirty="0">
                <a:latin typeface="Times New Roman"/>
                <a:cs typeface="Times New Roman"/>
              </a:rPr>
              <a:t>2)/2</a:t>
            </a:r>
            <a:endParaRPr sz="2800" baseline="24305" dirty="0">
              <a:latin typeface="Times New Roman"/>
              <a:cs typeface="Times New Roman"/>
            </a:endParaRPr>
          </a:p>
          <a:p>
            <a:pPr marL="770181" marR="384753" indent="-405678">
              <a:lnSpc>
                <a:spcPct val="120000"/>
              </a:lnSpc>
            </a:pP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spc="-7" baseline="-20833" dirty="0">
                <a:latin typeface="Times New Roman"/>
                <a:cs typeface="Times New Roman"/>
              </a:rPr>
              <a:t>odd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)=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3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5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24305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+…+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Symbol"/>
                <a:cs typeface="Symbol"/>
              </a:rPr>
              <a:t>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247" baseline="-20833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24305" dirty="0">
                <a:latin typeface="Times New Roman"/>
                <a:cs typeface="Times New Roman"/>
              </a:rPr>
              <a:t>(</a:t>
            </a:r>
            <a:r>
              <a:rPr sz="2800" b="1" i="1" spc="-7" baseline="24305" dirty="0"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latin typeface="Symbol"/>
                <a:cs typeface="Symbol"/>
              </a:rPr>
              <a:t></a:t>
            </a:r>
            <a:r>
              <a:rPr sz="2800" b="1" spc="-7" baseline="24305" dirty="0">
                <a:latin typeface="Times New Roman"/>
                <a:cs typeface="Times New Roman"/>
              </a:rPr>
              <a:t>2)/2  </a:t>
            </a:r>
            <a:endParaRPr lang="en-US" sz="2800" b="1" spc="-7" baseline="24305" dirty="0" smtClean="0">
              <a:latin typeface="Times New Roman"/>
              <a:cs typeface="Times New Roman"/>
            </a:endParaRPr>
          </a:p>
          <a:p>
            <a:pPr marL="770181" marR="384753" indent="-405678">
              <a:lnSpc>
                <a:spcPct val="120000"/>
              </a:lnSpc>
            </a:pPr>
            <a:r>
              <a:rPr sz="2800" b="1" i="1" spc="-5" dirty="0" smtClean="0">
                <a:latin typeface="Times New Roman"/>
                <a:cs typeface="Times New Roman"/>
              </a:rPr>
              <a:t>A</a:t>
            </a:r>
            <a:r>
              <a:rPr sz="2800" b="1" spc="-5" dirty="0" smtClean="0">
                <a:latin typeface="Times New Roman"/>
                <a:cs typeface="Times New Roman"/>
              </a:rPr>
              <a:t>(</a:t>
            </a:r>
            <a:r>
              <a:rPr sz="2800" b="1" i="1" spc="-5" dirty="0" smtClean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7" baseline="-20833" dirty="0">
                <a:latin typeface="Times New Roman"/>
                <a:cs typeface="Times New Roman"/>
              </a:rPr>
              <a:t>even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24305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spc="-27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xA</a:t>
            </a:r>
            <a:r>
              <a:rPr sz="2800" b="1" spc="-7" baseline="-20833" dirty="0">
                <a:latin typeface="Times New Roman"/>
                <a:cs typeface="Times New Roman"/>
              </a:rPr>
              <a:t>odd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24305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578479" indent="-444153">
              <a:spcBef>
                <a:spcPts val="2057"/>
              </a:spcBef>
              <a:buFont typeface="Arial"/>
              <a:buChar char="•"/>
              <a:tabLst>
                <a:tab pos="578479" algn="l"/>
                <a:tab pos="579154" algn="l"/>
              </a:tabLst>
            </a:pP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sz="2800" b="1" spc="-7" baseline="2430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也是1 </a:t>
            </a:r>
            <a:r>
              <a:rPr sz="2800" b="1" spc="-1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</a:t>
            </a:r>
            <a:r>
              <a:rPr sz="2800" b="1" spc="-64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i="1" spc="1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次根</a:t>
            </a:r>
          </a:p>
          <a:p>
            <a:pPr marL="489379" indent="-355053">
              <a:spcBef>
                <a:spcPts val="611"/>
              </a:spcBef>
              <a:buFont typeface="Arial"/>
              <a:buChar char="•"/>
              <a:tabLst>
                <a:tab pos="489379" algn="l"/>
                <a:tab pos="490053" algn="l"/>
              </a:tabLst>
            </a:pP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偶次数与奇次数多项式计算作</a:t>
            </a:r>
            <a:r>
              <a:rPr sz="2800" b="1" spc="-1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为</a:t>
            </a:r>
            <a:r>
              <a:rPr sz="2800" b="1" spc="-664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/2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规模的子问题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然后利用子问题的</a:t>
            </a:r>
            <a:r>
              <a:rPr lang="zh-CN" altLang="en-US" sz="2800" b="1" spc="-1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解</a:t>
            </a:r>
            <a:r>
              <a:rPr lang="zh-CN" altLang="en-US" sz="2800" b="1" spc="-728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i="1" spc="-5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lang="en-US" altLang="zh-CN" sz="2800" b="1" spc="-7" baseline="-20833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even</a:t>
            </a:r>
            <a:r>
              <a:rPr lang="en-US" altLang="zh-CN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lang="en-US" altLang="zh-CN" sz="2800" b="1" spc="-7" baseline="2430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en-US" altLang="zh-CN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r>
              <a:rPr lang="en-US" altLang="zh-CN" sz="2800" b="1" spc="-16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zh-CN" altLang="en-US" sz="2800" b="1" spc="-1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与</a:t>
            </a:r>
            <a:r>
              <a:rPr lang="zh-CN" altLang="en-US" sz="2800" b="1" spc="-64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i="1" spc="-5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lang="en-US" altLang="zh-CN" sz="2800" b="1" spc="-7" baseline="-20833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odd</a:t>
            </a:r>
            <a:r>
              <a:rPr lang="en-US" altLang="zh-CN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lang="en-US" altLang="zh-CN" sz="2800" b="1" spc="-7" baseline="2430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en-US" altLang="zh-CN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r>
              <a:rPr lang="en-US" altLang="zh-CN" sz="2800" b="1" spc="-16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得</a:t>
            </a:r>
            <a:r>
              <a:rPr lang="zh-CN" altLang="en-US" sz="2800" b="1" spc="-1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</a:t>
            </a:r>
            <a:r>
              <a:rPr lang="zh-CN" altLang="en-US" sz="2800" b="1" spc="-638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lang="en-US" altLang="zh-CN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lang="en-US" altLang="zh-CN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endParaRPr lang="en-US" altLang="zh-CN" sz="28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8248" y="3512235"/>
            <a:ext cx="4136000" cy="405011"/>
          </a:xfrm>
          <a:custGeom>
            <a:avLst/>
            <a:gdLst/>
            <a:ahLst/>
            <a:cxnLst/>
            <a:rect l="l" t="t" r="r" b="b"/>
            <a:pathLst>
              <a:path w="3657600" h="381000">
                <a:moveTo>
                  <a:pt x="0" y="63500"/>
                </a:moveTo>
                <a:lnTo>
                  <a:pt x="4990" y="38790"/>
                </a:lnTo>
                <a:lnTo>
                  <a:pt x="18600" y="18605"/>
                </a:lnTo>
                <a:lnTo>
                  <a:pt x="38785" y="4992"/>
                </a:lnTo>
                <a:lnTo>
                  <a:pt x="63500" y="0"/>
                </a:lnTo>
                <a:lnTo>
                  <a:pt x="3594100" y="0"/>
                </a:lnTo>
                <a:lnTo>
                  <a:pt x="3618809" y="4992"/>
                </a:lnTo>
                <a:lnTo>
                  <a:pt x="3638994" y="18605"/>
                </a:lnTo>
                <a:lnTo>
                  <a:pt x="3652607" y="38790"/>
                </a:lnTo>
                <a:lnTo>
                  <a:pt x="3657600" y="63500"/>
                </a:lnTo>
                <a:lnTo>
                  <a:pt x="3657600" y="317500"/>
                </a:lnTo>
                <a:lnTo>
                  <a:pt x="3652607" y="342209"/>
                </a:lnTo>
                <a:lnTo>
                  <a:pt x="3638994" y="362394"/>
                </a:lnTo>
                <a:lnTo>
                  <a:pt x="3618809" y="376007"/>
                </a:lnTo>
                <a:lnTo>
                  <a:pt x="3594100" y="381000"/>
                </a:lnTo>
                <a:lnTo>
                  <a:pt x="63500" y="381000"/>
                </a:lnTo>
                <a:lnTo>
                  <a:pt x="38785" y="376007"/>
                </a:lnTo>
                <a:lnTo>
                  <a:pt x="18600" y="362394"/>
                </a:lnTo>
                <a:lnTo>
                  <a:pt x="4990" y="342209"/>
                </a:lnTo>
                <a:lnTo>
                  <a:pt x="0" y="317500"/>
                </a:lnTo>
                <a:lnTo>
                  <a:pt x="0" y="635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411875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06718" y="3013751"/>
            <a:ext cx="1224455" cy="486013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990600" y="0"/>
                </a:lnTo>
                <a:lnTo>
                  <a:pt x="1020240" y="5994"/>
                </a:lnTo>
                <a:lnTo>
                  <a:pt x="1044463" y="22336"/>
                </a:lnTo>
                <a:lnTo>
                  <a:pt x="1060805" y="46559"/>
                </a:lnTo>
                <a:lnTo>
                  <a:pt x="1066800" y="76200"/>
                </a:lnTo>
                <a:lnTo>
                  <a:pt x="1066800" y="381000"/>
                </a:lnTo>
                <a:lnTo>
                  <a:pt x="1060805" y="410640"/>
                </a:lnTo>
                <a:lnTo>
                  <a:pt x="1044463" y="434863"/>
                </a:lnTo>
                <a:lnTo>
                  <a:pt x="1020240" y="451205"/>
                </a:lnTo>
                <a:lnTo>
                  <a:pt x="9906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3" name="object 3"/>
          <p:cNvSpPr/>
          <p:nvPr/>
        </p:nvSpPr>
        <p:spPr>
          <a:xfrm>
            <a:off x="3731173" y="4147781"/>
            <a:ext cx="1367615" cy="486013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990600" y="0"/>
                </a:lnTo>
                <a:lnTo>
                  <a:pt x="1020240" y="5994"/>
                </a:lnTo>
                <a:lnTo>
                  <a:pt x="1044463" y="22336"/>
                </a:lnTo>
                <a:lnTo>
                  <a:pt x="1060805" y="46559"/>
                </a:lnTo>
                <a:lnTo>
                  <a:pt x="1066800" y="76200"/>
                </a:lnTo>
                <a:lnTo>
                  <a:pt x="1066800" y="381000"/>
                </a:lnTo>
                <a:lnTo>
                  <a:pt x="1060805" y="410640"/>
                </a:lnTo>
                <a:lnTo>
                  <a:pt x="1044463" y="434863"/>
                </a:lnTo>
                <a:lnTo>
                  <a:pt x="1020240" y="451205"/>
                </a:lnTo>
                <a:lnTo>
                  <a:pt x="9906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4" name="object 4"/>
          <p:cNvSpPr/>
          <p:nvPr/>
        </p:nvSpPr>
        <p:spPr>
          <a:xfrm>
            <a:off x="4067503" y="3034771"/>
            <a:ext cx="1271752" cy="486013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990600" y="0"/>
                </a:lnTo>
                <a:lnTo>
                  <a:pt x="1020240" y="5994"/>
                </a:lnTo>
                <a:lnTo>
                  <a:pt x="1044463" y="22336"/>
                </a:lnTo>
                <a:lnTo>
                  <a:pt x="1060805" y="46559"/>
                </a:lnTo>
                <a:lnTo>
                  <a:pt x="1066800" y="76200"/>
                </a:lnTo>
                <a:lnTo>
                  <a:pt x="1066800" y="381000"/>
                </a:lnTo>
                <a:lnTo>
                  <a:pt x="1060805" y="410640"/>
                </a:lnTo>
                <a:lnTo>
                  <a:pt x="1044463" y="434863"/>
                </a:lnTo>
                <a:lnTo>
                  <a:pt x="1020240" y="451205"/>
                </a:lnTo>
                <a:lnTo>
                  <a:pt x="9906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5" name="object 5"/>
          <p:cNvSpPr/>
          <p:nvPr/>
        </p:nvSpPr>
        <p:spPr>
          <a:xfrm>
            <a:off x="5339255" y="4147781"/>
            <a:ext cx="1471448" cy="486013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990600" y="0"/>
                </a:lnTo>
                <a:lnTo>
                  <a:pt x="1020240" y="5994"/>
                </a:lnTo>
                <a:lnTo>
                  <a:pt x="1044463" y="22336"/>
                </a:lnTo>
                <a:lnTo>
                  <a:pt x="1060805" y="46559"/>
                </a:lnTo>
                <a:lnTo>
                  <a:pt x="1066800" y="76200"/>
                </a:lnTo>
                <a:lnTo>
                  <a:pt x="1066800" y="381000"/>
                </a:lnTo>
                <a:lnTo>
                  <a:pt x="1060805" y="410640"/>
                </a:lnTo>
                <a:lnTo>
                  <a:pt x="1044463" y="434863"/>
                </a:lnTo>
                <a:lnTo>
                  <a:pt x="1020240" y="451205"/>
                </a:lnTo>
                <a:lnTo>
                  <a:pt x="9906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 sz="1626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8212" y="288003"/>
            <a:ext cx="8737829" cy="628503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分治求值算法设计</a:t>
            </a:r>
            <a:endParaRPr sz="4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8212" y="1446400"/>
            <a:ext cx="8737829" cy="4258243"/>
          </a:xfrm>
          <a:prstGeom prst="rect">
            <a:avLst/>
          </a:prstGeom>
        </p:spPr>
        <p:txBody>
          <a:bodyPr vert="horz" wrap="square" lIns="0" tIns="54001" rIns="0" bIns="0" rtlCol="0">
            <a:spAutoFit/>
          </a:bodyPr>
          <a:lstStyle/>
          <a:p>
            <a:pPr marL="135001">
              <a:spcBef>
                <a:spcPts val="425"/>
              </a:spcBef>
            </a:pPr>
            <a:r>
              <a:rPr sz="28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算</a:t>
            </a:r>
            <a:r>
              <a:rPr sz="2800" b="1" spc="-1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法</a:t>
            </a:r>
            <a:r>
              <a:rPr sz="2800" b="1" spc="-654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spc="-1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3</a:t>
            </a:r>
            <a:r>
              <a:rPr sz="2800" b="1" spc="-11" dirty="0">
                <a:latin typeface="宋体"/>
                <a:cs typeface="宋体"/>
              </a:rPr>
              <a:t>：</a:t>
            </a:r>
            <a:endParaRPr sz="2800" dirty="0">
              <a:latin typeface="宋体"/>
              <a:cs typeface="宋体"/>
            </a:endParaRPr>
          </a:p>
          <a:p>
            <a:pPr marL="619655" indent="-485329">
              <a:spcBef>
                <a:spcPts val="319"/>
              </a:spcBef>
              <a:buFont typeface="Times New Roman"/>
              <a:buAutoNum type="arabicPeriod"/>
              <a:tabLst>
                <a:tab pos="618980" algn="l"/>
                <a:tab pos="620330" algn="l"/>
              </a:tabLst>
            </a:pP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计</a:t>
            </a:r>
            <a:r>
              <a:rPr sz="2800" b="1" spc="-1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</a:t>
            </a:r>
            <a:r>
              <a:rPr sz="2800" b="1" spc="-648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的所有</a:t>
            </a:r>
            <a:r>
              <a:rPr sz="2800" b="1" spc="-1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</a:t>
            </a:r>
            <a:r>
              <a:rPr sz="2800" b="1" spc="-638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次根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1023982">
              <a:spcBef>
                <a:spcPts val="282"/>
              </a:spcBef>
            </a:pP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1, 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ω</a:t>
            </a:r>
            <a:r>
              <a:rPr sz="2800" b="1" baseline="-208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</a:t>
            </a: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ω</a:t>
            </a:r>
            <a:r>
              <a:rPr sz="2800" b="1" spc="-7" baseline="-208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… ,</a:t>
            </a:r>
            <a:r>
              <a:rPr sz="2800" b="1" spc="-32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ω</a:t>
            </a:r>
            <a:r>
              <a:rPr sz="2800" b="1" spc="-7" baseline="-208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2800" b="1" i="1" spc="-7" baseline="-208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spc="-7" baseline="-208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-1</a:t>
            </a:r>
            <a:endParaRPr sz="2800" baseline="-20833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619655" indent="-485329">
              <a:spcBef>
                <a:spcPts val="1063"/>
              </a:spcBef>
              <a:buFont typeface="Times New Roman"/>
              <a:buAutoNum type="arabicPeriod" startAt="2"/>
              <a:tabLst>
                <a:tab pos="618980" algn="l"/>
                <a:tab pos="620330" algn="l"/>
              </a:tabLst>
            </a:pP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分别计算</a:t>
            </a: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sz="2800" b="1" spc="-7" baseline="-208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even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sz="2800" b="1" spc="-7" baseline="2430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与</a:t>
            </a: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sz="2800" b="1" spc="-7" baseline="-208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odd</a:t>
            </a:r>
            <a:r>
              <a:rPr sz="2800" b="1" spc="-16" baseline="-208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sz="2800" b="1" baseline="2430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619655" indent="-485329">
              <a:spcBef>
                <a:spcPts val="2041"/>
              </a:spcBef>
              <a:buFont typeface="Times New Roman"/>
              <a:buAutoNum type="arabicPeriod" startAt="2"/>
              <a:tabLst>
                <a:tab pos="618980" algn="l"/>
                <a:tab pos="620330" algn="l"/>
              </a:tabLst>
            </a:pP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利用步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2800" b="1" spc="-1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的结果计</a:t>
            </a:r>
            <a:r>
              <a:rPr sz="2800" b="1" spc="-1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</a:t>
            </a:r>
            <a:r>
              <a:rPr sz="2800" b="1" spc="-64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R="159301" algn="ctr">
              <a:spcBef>
                <a:spcPts val="282"/>
              </a:spcBef>
            </a:pP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 </a:t>
            </a: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sz="2800" b="1" spc="-7" baseline="-208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even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sz="2800" b="1" spc="-7" baseline="2430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+ 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sz="2800" b="1" i="1" spc="-117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sz="2800" b="1" spc="-7" baseline="-20833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odd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sz="2800" b="1" spc="-7" baseline="2430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54000">
              <a:spcBef>
                <a:spcPts val="1892"/>
              </a:spcBef>
            </a:pP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注意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sz="2800" b="1" baseline="2430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不需要重新计算，</a:t>
            </a:r>
            <a:r>
              <a:rPr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所有根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在单位圆间隔分布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，隔一取一即</a:t>
            </a:r>
            <a:r>
              <a:rPr sz="28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可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30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0216" y="192012"/>
            <a:ext cx="8586336" cy="628503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分治求值算法分析</a:t>
            </a:r>
            <a:endParaRPr sz="4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0216" y="1355672"/>
            <a:ext cx="8586336" cy="4045006"/>
          </a:xfrm>
          <a:prstGeom prst="rect">
            <a:avLst/>
          </a:prstGeom>
        </p:spPr>
        <p:txBody>
          <a:bodyPr vert="horz" wrap="square" lIns="0" tIns="58726" rIns="0" bIns="0" rtlCol="0">
            <a:spAutoFit/>
          </a:bodyPr>
          <a:lstStyle/>
          <a:p>
            <a:pPr marL="942981" algn="just">
              <a:spcBef>
                <a:spcPts val="600"/>
              </a:spcBef>
            </a:pPr>
            <a:r>
              <a:rPr sz="2800" b="1" i="1" spc="-5" dirty="0" smtClean="0">
                <a:latin typeface="Times New Roman"/>
                <a:cs typeface="Times New Roman"/>
              </a:rPr>
              <a:t>T</a:t>
            </a:r>
            <a:r>
              <a:rPr sz="2800" b="1" spc="-5" dirty="0" smtClean="0">
                <a:latin typeface="Times New Roman"/>
                <a:cs typeface="Times New Roman"/>
              </a:rPr>
              <a:t>(</a:t>
            </a:r>
            <a:r>
              <a:rPr sz="2800" b="1" i="1" spc="-5" dirty="0" smtClean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 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spc="-2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54000">
              <a:spcBef>
                <a:spcPts val="6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)=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spc="-2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是</a:t>
            </a:r>
            <a:r>
              <a:rPr sz="2800" b="1" spc="-11" dirty="0">
                <a:latin typeface="宋体"/>
                <a:cs typeface="宋体"/>
              </a:rPr>
              <a:t>步</a:t>
            </a:r>
            <a:r>
              <a:rPr sz="2800" b="1" spc="-654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1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计算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宋体"/>
                <a:cs typeface="宋体"/>
              </a:rPr>
              <a:t>次根的时间</a:t>
            </a:r>
            <a:endParaRPr sz="2800" dirty="0">
              <a:latin typeface="宋体"/>
              <a:cs typeface="宋体"/>
            </a:endParaRPr>
          </a:p>
          <a:p>
            <a:pPr>
              <a:spcBef>
                <a:spcPts val="60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54000">
              <a:spcBef>
                <a:spcPts val="600"/>
              </a:spcBef>
            </a:pPr>
            <a:r>
              <a:rPr sz="2800" b="1" spc="-5" dirty="0">
                <a:latin typeface="宋体"/>
                <a:cs typeface="宋体"/>
              </a:rPr>
              <a:t>递归过</a:t>
            </a:r>
            <a:r>
              <a:rPr sz="2800" b="1" spc="-11" dirty="0">
                <a:latin typeface="宋体"/>
                <a:cs typeface="宋体"/>
              </a:rPr>
              <a:t>程</a:t>
            </a:r>
            <a:r>
              <a:rPr sz="2800" b="1" spc="622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dirty="0">
                <a:latin typeface="Times New Roman"/>
                <a:cs typeface="Times New Roman"/>
              </a:rPr>
              <a:t> =</a:t>
            </a:r>
            <a:r>
              <a:rPr sz="2800" b="1" spc="-1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/2) 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spc="-2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spcBef>
                <a:spcPts val="6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(1)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2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(1)</a:t>
            </a:r>
            <a:r>
              <a:rPr sz="2800" b="1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54000" marR="45900">
              <a:spcBef>
                <a:spcPts val="6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g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spc="-2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43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宋体"/>
                <a:cs typeface="宋体"/>
              </a:rPr>
              <a:t>是对所</a:t>
            </a:r>
            <a:r>
              <a:rPr sz="2800" b="1" spc="5" dirty="0">
                <a:latin typeface="宋体"/>
                <a:cs typeface="宋体"/>
              </a:rPr>
              <a:t>有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宋体"/>
                <a:cs typeface="宋体"/>
              </a:rPr>
              <a:t>次根在步</a:t>
            </a:r>
            <a:r>
              <a:rPr sz="2800" b="1" dirty="0">
                <a:latin typeface="Times New Roman"/>
                <a:cs typeface="Times New Roman"/>
              </a:rPr>
              <a:t>3</a:t>
            </a:r>
            <a:r>
              <a:rPr sz="2800" b="1" spc="-11" dirty="0" smtClean="0">
                <a:latin typeface="宋体"/>
                <a:cs typeface="宋体"/>
              </a:rPr>
              <a:t>组</a:t>
            </a:r>
            <a:r>
              <a:rPr sz="2800" b="1" dirty="0" smtClean="0">
                <a:latin typeface="宋体"/>
                <a:cs typeface="宋体"/>
              </a:rPr>
              <a:t>合解的时间</a:t>
            </a:r>
            <a:endParaRPr lang="en-US" sz="2800" b="1" dirty="0" smtClean="0">
              <a:latin typeface="宋体"/>
              <a:cs typeface="宋体"/>
            </a:endParaRPr>
          </a:p>
          <a:p>
            <a:pPr marL="54000" marR="45900">
              <a:spcBef>
                <a:spcPts val="600"/>
              </a:spcBef>
            </a:pPr>
            <a:r>
              <a:rPr sz="2800" b="1" i="1" spc="-5" dirty="0" smtClean="0">
                <a:latin typeface="Times New Roman"/>
                <a:cs typeface="Times New Roman"/>
              </a:rPr>
              <a:t>T</a:t>
            </a:r>
            <a:r>
              <a:rPr sz="2800" b="1" spc="-7" baseline="-20833" dirty="0" smtClean="0">
                <a:latin typeface="Times New Roman"/>
                <a:cs typeface="Times New Roman"/>
              </a:rPr>
              <a:t>1</a:t>
            </a:r>
            <a:r>
              <a:rPr sz="2800" b="1" spc="-5" dirty="0" smtClean="0">
                <a:latin typeface="Times New Roman"/>
                <a:cs typeface="Times New Roman"/>
              </a:rPr>
              <a:t>(</a:t>
            </a:r>
            <a:r>
              <a:rPr sz="2800" b="1" i="1" spc="-5" dirty="0" smtClean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)=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log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 </a:t>
            </a:r>
            <a:endParaRPr lang="en-US" sz="2800" b="1" spc="-5" dirty="0" smtClean="0">
              <a:latin typeface="Times New Roman"/>
              <a:cs typeface="Times New Roman"/>
            </a:endParaRPr>
          </a:p>
          <a:p>
            <a:pPr marL="54000" marR="45900">
              <a:spcBef>
                <a:spcPts val="600"/>
              </a:spcBef>
            </a:pPr>
            <a:r>
              <a:rPr sz="2800" b="1" i="1" spc="-5" dirty="0" smtClean="0">
                <a:latin typeface="Times New Roman"/>
                <a:cs typeface="Times New Roman"/>
              </a:rPr>
              <a:t>T</a:t>
            </a:r>
            <a:r>
              <a:rPr sz="2800" b="1" spc="-5" dirty="0" smtClean="0">
                <a:latin typeface="Times New Roman"/>
                <a:cs typeface="Times New Roman"/>
              </a:rPr>
              <a:t>(</a:t>
            </a:r>
            <a:r>
              <a:rPr sz="2800" b="1" i="1" spc="-5" dirty="0" smtClean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)=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log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i="1" spc="-5" dirty="0">
                <a:latin typeface="Times New Roman"/>
                <a:cs typeface="Times New Roman"/>
              </a:rPr>
              <a:t>+O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i="1" spc="-5" dirty="0">
                <a:latin typeface="Times New Roman"/>
                <a:cs typeface="Times New Roman"/>
              </a:rPr>
              <a:t>=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log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6755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208" y="243907"/>
            <a:ext cx="9072529" cy="628503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b="1" spc="-1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FF</a:t>
            </a:r>
            <a:r>
              <a:rPr sz="40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T</a:t>
            </a:r>
            <a:r>
              <a:rPr sz="40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算法伪码</a:t>
            </a:r>
            <a:endParaRPr sz="4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3209" y="1599128"/>
            <a:ext cx="8851812" cy="448609"/>
          </a:xfrm>
          <a:prstGeom prst="rect">
            <a:avLst/>
          </a:prstGeom>
        </p:spPr>
        <p:txBody>
          <a:bodyPr vert="horz" wrap="square" lIns="0" tIns="17550" rIns="0" bIns="0" rtlCol="0">
            <a:spAutoFit/>
          </a:bodyPr>
          <a:lstStyle/>
          <a:p>
            <a:pPr marL="27000">
              <a:spcBef>
                <a:spcPts val="138"/>
              </a:spcBef>
            </a:pPr>
            <a:r>
              <a:rPr sz="2800" b="1" spc="-5" dirty="0">
                <a:latin typeface="Times New Roman"/>
                <a:cs typeface="Times New Roman"/>
              </a:rPr>
              <a:t>1.</a:t>
            </a:r>
            <a:r>
              <a:rPr sz="2800" b="1" spc="-48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求</a:t>
            </a:r>
            <a:r>
              <a:rPr sz="2800" b="1" dirty="0">
                <a:latin typeface="宋体"/>
                <a:cs typeface="宋体"/>
              </a:rPr>
              <a:t>值</a:t>
            </a:r>
            <a:r>
              <a:rPr sz="2800" b="1" i="1" spc="-27" dirty="0">
                <a:latin typeface="Times New Roman"/>
                <a:cs typeface="Times New Roman"/>
              </a:rPr>
              <a:t>A</a:t>
            </a:r>
            <a:r>
              <a:rPr sz="2800" b="1" spc="-27" dirty="0">
                <a:latin typeface="Times New Roman"/>
                <a:cs typeface="Times New Roman"/>
              </a:rPr>
              <a:t>(</a:t>
            </a:r>
            <a:r>
              <a:rPr sz="2800" b="1" i="1" spc="-27" dirty="0">
                <a:latin typeface="Symbol"/>
                <a:cs typeface="Symbol"/>
              </a:rPr>
              <a:t></a:t>
            </a:r>
            <a:r>
              <a:rPr sz="2800" b="1" i="1" spc="-39" baseline="-20833" dirty="0">
                <a:latin typeface="Times New Roman"/>
                <a:cs typeface="Times New Roman"/>
              </a:rPr>
              <a:t>j</a:t>
            </a:r>
            <a:r>
              <a:rPr sz="2800" b="1" spc="-27" dirty="0">
                <a:latin typeface="Times New Roman"/>
                <a:cs typeface="Times New Roman"/>
              </a:rPr>
              <a:t>)</a:t>
            </a:r>
            <a:r>
              <a:rPr sz="2800" b="1" spc="-5" dirty="0">
                <a:latin typeface="宋体"/>
                <a:cs typeface="宋体"/>
              </a:rPr>
              <a:t>和</a:t>
            </a:r>
            <a:r>
              <a:rPr sz="2800" b="1" i="1" spc="-11" dirty="0">
                <a:latin typeface="Times New Roman"/>
                <a:cs typeface="Times New Roman"/>
              </a:rPr>
              <a:t>B</a:t>
            </a:r>
            <a:r>
              <a:rPr sz="2800" b="1" spc="-11" dirty="0">
                <a:latin typeface="Times New Roman"/>
                <a:cs typeface="Times New Roman"/>
              </a:rPr>
              <a:t>(</a:t>
            </a:r>
            <a:r>
              <a:rPr sz="2800" b="1" i="1" spc="-11" dirty="0">
                <a:latin typeface="Symbol"/>
                <a:cs typeface="Symbol"/>
              </a:rPr>
              <a:t></a:t>
            </a:r>
            <a:r>
              <a:rPr sz="2800" b="1" i="1" spc="-16" baseline="-20833" dirty="0">
                <a:latin typeface="Times New Roman"/>
                <a:cs typeface="Times New Roman"/>
              </a:rPr>
              <a:t>j</a:t>
            </a:r>
            <a:r>
              <a:rPr sz="2800" b="1" spc="-11" dirty="0">
                <a:latin typeface="Times New Roman"/>
                <a:cs typeface="Times New Roman"/>
              </a:rPr>
              <a:t>)</a:t>
            </a:r>
            <a:r>
              <a:rPr sz="2800" b="1" spc="-11" dirty="0">
                <a:latin typeface="宋体"/>
                <a:cs typeface="宋体"/>
              </a:rPr>
              <a:t>，</a:t>
            </a:r>
            <a:r>
              <a:rPr sz="2800" b="1" i="1" spc="-11" dirty="0">
                <a:latin typeface="Times New Roman"/>
                <a:cs typeface="Times New Roman"/>
              </a:rPr>
              <a:t>j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=0,1,…,2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Symbol"/>
                <a:cs typeface="Symbol"/>
              </a:rPr>
              <a:t>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9707" y="2179255"/>
            <a:ext cx="2546129" cy="448609"/>
          </a:xfrm>
          <a:prstGeom prst="rect">
            <a:avLst/>
          </a:prstGeom>
        </p:spPr>
        <p:txBody>
          <a:bodyPr vert="horz" wrap="square" lIns="0" tIns="17550" rIns="0" bIns="0" rtlCol="0">
            <a:spAutoFit/>
          </a:bodyPr>
          <a:lstStyle/>
          <a:p>
            <a:pPr marL="40500">
              <a:spcBef>
                <a:spcPts val="138"/>
              </a:spcBef>
            </a:pPr>
            <a:r>
              <a:rPr sz="2800" b="1" dirty="0">
                <a:latin typeface="Times New Roman"/>
                <a:cs typeface="Times New Roman"/>
              </a:rPr>
              <a:t>2.</a:t>
            </a:r>
            <a:r>
              <a:rPr sz="2800" b="1" spc="-48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计</a:t>
            </a:r>
            <a:r>
              <a:rPr sz="2800" b="1" spc="-11" dirty="0">
                <a:latin typeface="宋体"/>
                <a:cs typeface="宋体"/>
              </a:rPr>
              <a:t>算</a:t>
            </a:r>
            <a:r>
              <a:rPr sz="2800" b="1" spc="-670" dirty="0">
                <a:latin typeface="宋体"/>
                <a:cs typeface="宋体"/>
              </a:rPr>
              <a:t> </a:t>
            </a:r>
            <a:r>
              <a:rPr sz="2800" b="1" i="1" spc="-27" dirty="0">
                <a:latin typeface="Times New Roman"/>
                <a:cs typeface="Times New Roman"/>
              </a:rPr>
              <a:t>C</a:t>
            </a:r>
            <a:r>
              <a:rPr sz="2800" b="1" spc="-27" dirty="0">
                <a:latin typeface="Times New Roman"/>
                <a:cs typeface="Times New Roman"/>
              </a:rPr>
              <a:t>(</a:t>
            </a:r>
            <a:r>
              <a:rPr sz="2800" b="1" i="1" spc="-27" dirty="0">
                <a:latin typeface="Symbol"/>
                <a:cs typeface="Symbol"/>
              </a:rPr>
              <a:t></a:t>
            </a:r>
            <a:r>
              <a:rPr sz="2800" b="1" i="1" spc="-39" baseline="-20833" dirty="0">
                <a:latin typeface="Times New Roman"/>
                <a:cs typeface="Times New Roman"/>
              </a:rPr>
              <a:t>j</a:t>
            </a:r>
            <a:r>
              <a:rPr sz="2800" b="1" spc="-27" dirty="0">
                <a:latin typeface="Times New Roman"/>
                <a:cs typeface="Times New Roman"/>
              </a:rPr>
              <a:t>)</a:t>
            </a:r>
            <a:r>
              <a:rPr sz="2800" b="1" spc="-27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57860" y="2159455"/>
            <a:ext cx="5145149" cy="444519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2800" b="1" i="1" dirty="0">
                <a:latin typeface="Times New Roman"/>
                <a:cs typeface="Times New Roman"/>
              </a:rPr>
              <a:t>j </a:t>
            </a:r>
            <a:r>
              <a:rPr sz="2800" b="1" dirty="0">
                <a:latin typeface="Times New Roman"/>
                <a:cs typeface="Times New Roman"/>
              </a:rPr>
              <a:t>=0, 1, … ,</a:t>
            </a:r>
            <a:r>
              <a:rPr sz="2800" b="1" spc="-96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Symbol"/>
                <a:cs typeface="Symbol"/>
              </a:rPr>
              <a:t></a:t>
            </a: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6207" y="2728732"/>
            <a:ext cx="9004938" cy="2783621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54000">
              <a:spcBef>
                <a:spcPts val="600"/>
              </a:spcBef>
              <a:spcAft>
                <a:spcPts val="600"/>
              </a:spcAft>
            </a:pPr>
            <a:r>
              <a:rPr sz="2800" b="1" dirty="0">
                <a:latin typeface="Times New Roman"/>
                <a:cs typeface="Times New Roman"/>
              </a:rPr>
              <a:t>3.</a:t>
            </a:r>
            <a:r>
              <a:rPr sz="2800" b="1" spc="-2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构造多项式</a:t>
            </a:r>
            <a:endParaRPr sz="2800" dirty="0">
              <a:latin typeface="宋体"/>
              <a:cs typeface="宋体"/>
            </a:endParaRPr>
          </a:p>
          <a:p>
            <a:pPr marL="294977">
              <a:spcBef>
                <a:spcPts val="600"/>
              </a:spcBef>
              <a:spcAft>
                <a:spcPts val="600"/>
              </a:spcAft>
            </a:pPr>
            <a:r>
              <a:rPr sz="2800" b="1" i="1" spc="-11" dirty="0">
                <a:latin typeface="Times New Roman"/>
                <a:cs typeface="Times New Roman"/>
              </a:rPr>
              <a:t>D</a:t>
            </a:r>
            <a:r>
              <a:rPr sz="2800" b="1" spc="-11" dirty="0">
                <a:latin typeface="Times New Roman"/>
                <a:cs typeface="Times New Roman"/>
              </a:rPr>
              <a:t>(</a:t>
            </a:r>
            <a:r>
              <a:rPr sz="2800" b="1" i="1" spc="-11" dirty="0">
                <a:latin typeface="Times New Roman"/>
                <a:cs typeface="Times New Roman"/>
              </a:rPr>
              <a:t>x</a:t>
            </a:r>
            <a:r>
              <a:rPr sz="2800" b="1" spc="-11" dirty="0">
                <a:latin typeface="Times New Roman"/>
                <a:cs typeface="Times New Roman"/>
              </a:rPr>
              <a:t>)=</a:t>
            </a:r>
            <a:r>
              <a:rPr sz="2800" b="1" i="1" spc="-11" dirty="0">
                <a:latin typeface="Times New Roman"/>
                <a:cs typeface="Times New Roman"/>
              </a:rPr>
              <a:t>C</a:t>
            </a:r>
            <a:r>
              <a:rPr sz="2800" b="1" spc="-11" dirty="0">
                <a:latin typeface="Times New Roman"/>
                <a:cs typeface="Times New Roman"/>
              </a:rPr>
              <a:t>(</a:t>
            </a:r>
            <a:r>
              <a:rPr sz="2800" b="1" i="1" spc="-11" dirty="0">
                <a:latin typeface="Symbol"/>
                <a:cs typeface="Symbol"/>
              </a:rPr>
              <a:t></a:t>
            </a:r>
            <a:r>
              <a:rPr sz="2800" b="1" spc="-16" baseline="-20833" dirty="0">
                <a:latin typeface="Times New Roman"/>
                <a:cs typeface="Times New Roman"/>
              </a:rPr>
              <a:t>0</a:t>
            </a:r>
            <a:r>
              <a:rPr sz="2800" b="1" spc="-11" dirty="0">
                <a:latin typeface="Times New Roman"/>
                <a:cs typeface="Times New Roman"/>
              </a:rPr>
              <a:t>)+</a:t>
            </a:r>
            <a:r>
              <a:rPr sz="2800" b="1" i="1" spc="-11" dirty="0">
                <a:latin typeface="Times New Roman"/>
                <a:cs typeface="Times New Roman"/>
              </a:rPr>
              <a:t>C</a:t>
            </a:r>
            <a:r>
              <a:rPr sz="2800" b="1" spc="-11" dirty="0">
                <a:latin typeface="Times New Roman"/>
                <a:cs typeface="Times New Roman"/>
              </a:rPr>
              <a:t>(</a:t>
            </a:r>
            <a:r>
              <a:rPr sz="2800" b="1" i="1" spc="-11" dirty="0">
                <a:latin typeface="Symbol"/>
                <a:cs typeface="Symbol"/>
              </a:rPr>
              <a:t></a:t>
            </a:r>
            <a:r>
              <a:rPr sz="2800" b="1" spc="-16" baseline="-20833" dirty="0">
                <a:latin typeface="Times New Roman"/>
                <a:cs typeface="Times New Roman"/>
              </a:rPr>
              <a:t>1</a:t>
            </a:r>
            <a:r>
              <a:rPr sz="2800" b="1" spc="-11" dirty="0">
                <a:latin typeface="Times New Roman"/>
                <a:cs typeface="Times New Roman"/>
              </a:rPr>
              <a:t>)</a:t>
            </a:r>
            <a:r>
              <a:rPr sz="2800" b="1" i="1" spc="-11" dirty="0">
                <a:latin typeface="Times New Roman"/>
                <a:cs typeface="Times New Roman"/>
              </a:rPr>
              <a:t>x</a:t>
            </a:r>
            <a:r>
              <a:rPr sz="2800" b="1" spc="-11" dirty="0">
                <a:latin typeface="Times New Roman"/>
                <a:cs typeface="Times New Roman"/>
              </a:rPr>
              <a:t>+…+</a:t>
            </a:r>
            <a:r>
              <a:rPr sz="2800" b="1" i="1" spc="-11" dirty="0">
                <a:latin typeface="Times New Roman"/>
                <a:cs typeface="Times New Roman"/>
              </a:rPr>
              <a:t>C</a:t>
            </a:r>
            <a:r>
              <a:rPr sz="2800" b="1" spc="-11" dirty="0">
                <a:latin typeface="Times New Roman"/>
                <a:cs typeface="Times New Roman"/>
              </a:rPr>
              <a:t>(</a:t>
            </a:r>
            <a:r>
              <a:rPr sz="2800" b="1" i="1" spc="-11" dirty="0">
                <a:latin typeface="Symbol"/>
                <a:cs typeface="Symbol"/>
              </a:rPr>
              <a:t></a:t>
            </a:r>
            <a:r>
              <a:rPr sz="2800" b="1" spc="-16" baseline="-20833" dirty="0">
                <a:latin typeface="Times New Roman"/>
                <a:cs typeface="Times New Roman"/>
              </a:rPr>
              <a:t>2</a:t>
            </a:r>
            <a:r>
              <a:rPr sz="2800" b="1" i="1" spc="-16" baseline="-20833" dirty="0">
                <a:latin typeface="Times New Roman"/>
                <a:cs typeface="Times New Roman"/>
              </a:rPr>
              <a:t>n</a:t>
            </a:r>
            <a:r>
              <a:rPr sz="2800" b="1" spc="-16" baseline="-20833" dirty="0">
                <a:latin typeface="Symbol"/>
                <a:cs typeface="Symbol"/>
              </a:rPr>
              <a:t></a:t>
            </a:r>
            <a:r>
              <a:rPr sz="2800" b="1" spc="-16" baseline="-20833" dirty="0">
                <a:latin typeface="Times New Roman"/>
                <a:cs typeface="Times New Roman"/>
              </a:rPr>
              <a:t>1</a:t>
            </a:r>
            <a:r>
              <a:rPr sz="2800" b="1" spc="-11" dirty="0">
                <a:latin typeface="Times New Roman"/>
                <a:cs typeface="Times New Roman"/>
              </a:rPr>
              <a:t>)</a:t>
            </a:r>
            <a:r>
              <a:rPr sz="2800" b="1" i="1" spc="-11" dirty="0">
                <a:latin typeface="Times New Roman"/>
                <a:cs typeface="Times New Roman"/>
              </a:rPr>
              <a:t>x</a:t>
            </a:r>
            <a:r>
              <a:rPr sz="2800" b="1" spc="-16" baseline="24305" dirty="0">
                <a:latin typeface="Times New Roman"/>
                <a:cs typeface="Times New Roman"/>
              </a:rPr>
              <a:t>2</a:t>
            </a:r>
            <a:r>
              <a:rPr sz="2800" b="1" i="1" spc="-16" baseline="24305" dirty="0">
                <a:latin typeface="Times New Roman"/>
                <a:cs typeface="Times New Roman"/>
              </a:rPr>
              <a:t>n</a:t>
            </a:r>
            <a:r>
              <a:rPr sz="2800" b="1" spc="-16" baseline="24305" dirty="0">
                <a:latin typeface="Symbol"/>
                <a:cs typeface="Symbol"/>
              </a:rPr>
              <a:t></a:t>
            </a:r>
            <a:r>
              <a:rPr sz="2800" b="1" spc="-16" baseline="24305" dirty="0">
                <a:latin typeface="Times New Roman"/>
                <a:cs typeface="Times New Roman"/>
              </a:rPr>
              <a:t>1</a:t>
            </a:r>
            <a:endParaRPr sz="2800" baseline="24305" dirty="0">
              <a:latin typeface="Times New Roman"/>
              <a:cs typeface="Times New Roman"/>
            </a:endParaRPr>
          </a:p>
          <a:p>
            <a:pPr marL="54000">
              <a:spcBef>
                <a:spcPts val="600"/>
              </a:spcBef>
              <a:spcAft>
                <a:spcPts val="600"/>
              </a:spcAft>
            </a:pPr>
            <a:r>
              <a:rPr sz="2800" b="1" dirty="0">
                <a:latin typeface="Times New Roman"/>
                <a:cs typeface="Times New Roman"/>
              </a:rPr>
              <a:t>4.</a:t>
            </a:r>
            <a:r>
              <a:rPr sz="2800" b="1" spc="-2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计算所有</a:t>
            </a:r>
            <a:r>
              <a:rPr sz="2800" b="1" spc="-11" dirty="0">
                <a:latin typeface="宋体"/>
                <a:cs typeface="宋体"/>
              </a:rPr>
              <a:t>的</a:t>
            </a:r>
            <a:r>
              <a:rPr sz="2800" b="1" spc="-643" dirty="0">
                <a:latin typeface="宋体"/>
                <a:cs typeface="宋体"/>
              </a:rPr>
              <a:t> </a:t>
            </a:r>
            <a:r>
              <a:rPr sz="2800" b="1" i="1" spc="-16" dirty="0">
                <a:latin typeface="Times New Roman"/>
                <a:cs typeface="Times New Roman"/>
              </a:rPr>
              <a:t>D</a:t>
            </a:r>
            <a:r>
              <a:rPr sz="2800" b="1" spc="-16" dirty="0">
                <a:latin typeface="Times New Roman"/>
                <a:cs typeface="Times New Roman"/>
              </a:rPr>
              <a:t>(</a:t>
            </a:r>
            <a:r>
              <a:rPr sz="2800" b="1" i="1" spc="-16" dirty="0">
                <a:latin typeface="Symbol"/>
                <a:cs typeface="Symbol"/>
              </a:rPr>
              <a:t></a:t>
            </a:r>
            <a:r>
              <a:rPr sz="2800" b="1" i="1" spc="-23" baseline="-20833" dirty="0">
                <a:latin typeface="Times New Roman"/>
                <a:cs typeface="Times New Roman"/>
              </a:rPr>
              <a:t>j</a:t>
            </a:r>
            <a:r>
              <a:rPr sz="2800" b="1" spc="-16" dirty="0">
                <a:latin typeface="Times New Roman"/>
                <a:cs typeface="Times New Roman"/>
              </a:rPr>
              <a:t>)</a:t>
            </a:r>
            <a:r>
              <a:rPr sz="2800" b="1" spc="-16" dirty="0">
                <a:latin typeface="宋体"/>
                <a:cs typeface="宋体"/>
              </a:rPr>
              <a:t>，</a:t>
            </a:r>
            <a:r>
              <a:rPr sz="2800" b="1" i="1" spc="-16" dirty="0">
                <a:latin typeface="Times New Roman"/>
                <a:cs typeface="Times New Roman"/>
              </a:rPr>
              <a:t>j</a:t>
            </a:r>
            <a:r>
              <a:rPr sz="2800" b="1" i="1" spc="37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=0,1,…,2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Symbol"/>
                <a:cs typeface="Symbol"/>
              </a:rPr>
              <a:t></a:t>
            </a: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  <a:p>
            <a:pPr marL="1347985" marR="913282" indent="-1294660">
              <a:spcBef>
                <a:spcPts val="600"/>
              </a:spcBef>
              <a:spcAft>
                <a:spcPts val="600"/>
              </a:spcAft>
            </a:pPr>
            <a:r>
              <a:rPr sz="2800" b="1" dirty="0">
                <a:latin typeface="Times New Roman"/>
                <a:cs typeface="Times New Roman"/>
              </a:rPr>
              <a:t>5.</a:t>
            </a:r>
            <a:r>
              <a:rPr sz="2800" b="1" spc="-64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利用下式计算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r>
              <a:rPr sz="2800" b="1" dirty="0">
                <a:latin typeface="宋体"/>
                <a:cs typeface="宋体"/>
              </a:rPr>
              <a:t>的系</a:t>
            </a:r>
            <a:r>
              <a:rPr sz="2800" b="1" spc="-11" dirty="0">
                <a:latin typeface="宋体"/>
                <a:cs typeface="宋体"/>
              </a:rPr>
              <a:t>数</a:t>
            </a:r>
            <a:r>
              <a:rPr sz="2800" b="1" spc="-686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</a:t>
            </a:r>
            <a:r>
              <a:rPr sz="2800" b="1" i="1" spc="-7" baseline="-20833" dirty="0">
                <a:latin typeface="Times New Roman"/>
                <a:cs typeface="Times New Roman"/>
              </a:rPr>
              <a:t>j</a:t>
            </a:r>
            <a:r>
              <a:rPr sz="2800" b="1" spc="-5" dirty="0">
                <a:latin typeface="宋体"/>
                <a:cs typeface="宋体"/>
              </a:rPr>
              <a:t>， </a:t>
            </a:r>
            <a:r>
              <a:rPr sz="2800" b="1" i="1" spc="-27" dirty="0" smtClean="0">
                <a:latin typeface="Times New Roman"/>
                <a:cs typeface="Times New Roman"/>
              </a:rPr>
              <a:t>D</a:t>
            </a:r>
            <a:r>
              <a:rPr sz="2800" b="1" spc="-27" dirty="0">
                <a:latin typeface="Times New Roman"/>
                <a:cs typeface="Times New Roman"/>
              </a:rPr>
              <a:t>(</a:t>
            </a:r>
            <a:r>
              <a:rPr sz="2800" b="1" i="1" spc="-27" dirty="0">
                <a:latin typeface="Symbol"/>
                <a:cs typeface="Symbol"/>
              </a:rPr>
              <a:t></a:t>
            </a:r>
            <a:r>
              <a:rPr sz="2800" b="1" i="1" spc="-39" baseline="-20833" dirty="0">
                <a:latin typeface="Times New Roman"/>
                <a:cs typeface="Times New Roman"/>
              </a:rPr>
              <a:t>j</a:t>
            </a:r>
            <a:r>
              <a:rPr sz="2800" b="1" spc="-27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69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r>
              <a:rPr sz="2800" b="1" i="1" spc="-5" dirty="0">
                <a:latin typeface="Times New Roman"/>
                <a:cs typeface="Times New Roman"/>
              </a:rPr>
              <a:t>nc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i="1" spc="-7" baseline="-20202" dirty="0">
                <a:latin typeface="Symbol"/>
                <a:cs typeface="Symbol"/>
              </a:rPr>
              <a:t></a:t>
            </a:r>
            <a:r>
              <a:rPr sz="2800" b="1" i="1" spc="-7" baseline="-20833" dirty="0">
                <a:latin typeface="Times New Roman"/>
                <a:cs typeface="Times New Roman"/>
              </a:rPr>
              <a:t>j</a:t>
            </a:r>
            <a:endParaRPr sz="2800" baseline="-20833" dirty="0">
              <a:latin typeface="Times New Roman"/>
              <a:cs typeface="Times New Roman"/>
            </a:endParaRPr>
          </a:p>
          <a:p>
            <a:pPr marL="1428986">
              <a:spcBef>
                <a:spcPts val="600"/>
              </a:spcBef>
              <a:spcAft>
                <a:spcPts val="600"/>
              </a:spcAft>
            </a:pPr>
            <a:r>
              <a:rPr sz="2800" b="1" i="1" dirty="0">
                <a:latin typeface="Times New Roman"/>
                <a:cs typeface="Times New Roman"/>
              </a:rPr>
              <a:t>j </a:t>
            </a:r>
            <a:r>
              <a:rPr sz="2800" b="1" dirty="0">
                <a:latin typeface="Times New Roman"/>
                <a:cs typeface="Times New Roman"/>
              </a:rPr>
              <a:t>= 0, 1, … ,</a:t>
            </a:r>
            <a:r>
              <a:rPr sz="2800" b="1" spc="-3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Symbol"/>
                <a:cs typeface="Symbol"/>
              </a:rPr>
              <a:t>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9020" y="2185438"/>
            <a:ext cx="2349063" cy="2025"/>
          </a:xfrm>
          <a:custGeom>
            <a:avLst/>
            <a:gdLst/>
            <a:ahLst/>
            <a:cxnLst/>
            <a:rect l="l" t="t" r="r" b="b"/>
            <a:pathLst>
              <a:path w="2209800" h="1905">
                <a:moveTo>
                  <a:pt x="0" y="0"/>
                </a:moveTo>
                <a:lnTo>
                  <a:pt x="2209800" y="1524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8" name="object 8"/>
          <p:cNvSpPr/>
          <p:nvPr/>
        </p:nvSpPr>
        <p:spPr>
          <a:xfrm>
            <a:off x="750040" y="4381776"/>
            <a:ext cx="2349063" cy="2025"/>
          </a:xfrm>
          <a:custGeom>
            <a:avLst/>
            <a:gdLst/>
            <a:ahLst/>
            <a:cxnLst/>
            <a:rect l="l" t="t" r="r" b="b"/>
            <a:pathLst>
              <a:path w="2209800" h="1905">
                <a:moveTo>
                  <a:pt x="0" y="0"/>
                </a:moveTo>
                <a:lnTo>
                  <a:pt x="2209800" y="165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</p:spTree>
    <p:extLst>
      <p:ext uri="{BB962C8B-B14F-4D97-AF65-F5344CB8AC3E}">
        <p14:creationId xmlns:p14="http://schemas.microsoft.com/office/powerpoint/2010/main" val="2062189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127" y="194252"/>
            <a:ext cx="9005080" cy="629867"/>
          </a:xfrm>
          <a:prstGeom prst="rect">
            <a:avLst/>
          </a:prstGeom>
        </p:spPr>
        <p:txBody>
          <a:bodyPr vert="horz" wrap="square" lIns="0" tIns="1417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12"/>
              </a:spcBef>
            </a:pPr>
            <a:r>
              <a:rPr sz="40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FF</a:t>
            </a:r>
            <a:r>
              <a:rPr sz="4000" b="1" spc="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T</a:t>
            </a:r>
            <a:r>
              <a:rPr sz="40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算法分析</a:t>
            </a:r>
            <a:endParaRPr sz="4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6870" y="1774248"/>
            <a:ext cx="3010926" cy="1030735"/>
          </a:xfrm>
          <a:prstGeom prst="rect">
            <a:avLst/>
          </a:prstGeom>
        </p:spPr>
        <p:txBody>
          <a:bodyPr vert="horz" wrap="square" lIns="0" tIns="91127" rIns="0" bIns="0" rtlCol="0">
            <a:spAutoFit/>
          </a:bodyPr>
          <a:lstStyle/>
          <a:p>
            <a:pPr marL="13500">
              <a:spcBef>
                <a:spcPts val="718"/>
              </a:spcBef>
            </a:pP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i="1" spc="-58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log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31049">
              <a:spcBef>
                <a:spcPts val="617"/>
              </a:spcBef>
            </a:pP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i="1" spc="-2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715" y="1817682"/>
            <a:ext cx="8643326" cy="2521310"/>
          </a:xfrm>
          <a:prstGeom prst="rect">
            <a:avLst/>
          </a:prstGeom>
        </p:spPr>
        <p:txBody>
          <a:bodyPr vert="horz" wrap="square" lIns="0" tIns="6075" rIns="0" bIns="0" rtlCol="0">
            <a:spAutoFit/>
          </a:bodyPr>
          <a:lstStyle/>
          <a:p>
            <a:pPr marL="40500" marR="32400">
              <a:lnSpc>
                <a:spcPct val="116900"/>
              </a:lnSpc>
              <a:spcBef>
                <a:spcPts val="48"/>
              </a:spcBef>
            </a:pPr>
            <a:r>
              <a:rPr sz="2800" b="1" dirty="0">
                <a:latin typeface="宋体"/>
                <a:cs typeface="宋体"/>
              </a:rPr>
              <a:t>步</a:t>
            </a:r>
            <a:r>
              <a:rPr sz="2800" b="1" dirty="0">
                <a:latin typeface="Times New Roman"/>
                <a:cs typeface="Times New Roman"/>
              </a:rPr>
              <a:t>1:</a:t>
            </a:r>
            <a:r>
              <a:rPr sz="2800" b="1" spc="-2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求</a:t>
            </a:r>
            <a:r>
              <a:rPr sz="2800" b="1" spc="-11" dirty="0">
                <a:latin typeface="宋体"/>
                <a:cs typeface="宋体"/>
              </a:rPr>
              <a:t>值</a:t>
            </a:r>
            <a:r>
              <a:rPr sz="2800" b="1" spc="-659" dirty="0">
                <a:latin typeface="宋体"/>
                <a:cs typeface="宋体"/>
              </a:rPr>
              <a:t> </a:t>
            </a:r>
            <a:r>
              <a:rPr sz="2800" b="1" i="1" spc="-27" dirty="0">
                <a:latin typeface="Times New Roman"/>
                <a:cs typeface="Times New Roman"/>
              </a:rPr>
              <a:t>A</a:t>
            </a:r>
            <a:r>
              <a:rPr sz="2800" b="1" spc="-27" dirty="0">
                <a:latin typeface="Times New Roman"/>
                <a:cs typeface="Times New Roman"/>
              </a:rPr>
              <a:t>(</a:t>
            </a:r>
            <a:r>
              <a:rPr sz="2800" b="1" i="1" spc="-27" dirty="0">
                <a:latin typeface="Symbol"/>
                <a:cs typeface="Symbol"/>
              </a:rPr>
              <a:t></a:t>
            </a:r>
            <a:r>
              <a:rPr sz="2800" b="1" i="1" spc="-39" baseline="-20833" dirty="0">
                <a:latin typeface="Times New Roman"/>
                <a:cs typeface="Times New Roman"/>
              </a:rPr>
              <a:t>j</a:t>
            </a:r>
            <a:r>
              <a:rPr sz="2800" b="1" spc="-27" dirty="0">
                <a:latin typeface="Times New Roman"/>
                <a:cs typeface="Times New Roman"/>
              </a:rPr>
              <a:t>)</a:t>
            </a:r>
            <a:r>
              <a:rPr sz="2800" b="1" spc="21" dirty="0">
                <a:latin typeface="Times New Roman"/>
                <a:cs typeface="Times New Roman"/>
              </a:rPr>
              <a:t> </a:t>
            </a:r>
            <a:r>
              <a:rPr sz="2800" b="1" spc="-11" dirty="0">
                <a:latin typeface="宋体"/>
                <a:cs typeface="宋体"/>
              </a:rPr>
              <a:t>和</a:t>
            </a:r>
            <a:r>
              <a:rPr sz="2800" b="1" spc="-643" dirty="0">
                <a:latin typeface="宋体"/>
                <a:cs typeface="宋体"/>
              </a:rPr>
              <a:t> </a:t>
            </a:r>
            <a:r>
              <a:rPr sz="2800" b="1" i="1" spc="-27" dirty="0">
                <a:latin typeface="Times New Roman"/>
                <a:cs typeface="Times New Roman"/>
              </a:rPr>
              <a:t>B</a:t>
            </a:r>
            <a:r>
              <a:rPr sz="2800" b="1" spc="-27" dirty="0">
                <a:latin typeface="Times New Roman"/>
                <a:cs typeface="Times New Roman"/>
              </a:rPr>
              <a:t>(</a:t>
            </a:r>
            <a:r>
              <a:rPr sz="2800" b="1" i="1" spc="-27" dirty="0">
                <a:latin typeface="Symbol"/>
                <a:cs typeface="Symbol"/>
              </a:rPr>
              <a:t></a:t>
            </a:r>
            <a:r>
              <a:rPr sz="2800" b="1" i="1" spc="-39" baseline="-20833" dirty="0">
                <a:latin typeface="Times New Roman"/>
                <a:cs typeface="Times New Roman"/>
              </a:rPr>
              <a:t>j</a:t>
            </a:r>
            <a:r>
              <a:rPr sz="2800" b="1" spc="-27" dirty="0">
                <a:latin typeface="Times New Roman"/>
                <a:cs typeface="Times New Roman"/>
              </a:rPr>
              <a:t>)  </a:t>
            </a:r>
            <a:endParaRPr lang="en-US" sz="2800" b="1" spc="-27" dirty="0" smtClean="0">
              <a:latin typeface="Times New Roman"/>
              <a:cs typeface="Times New Roman"/>
            </a:endParaRPr>
          </a:p>
          <a:p>
            <a:pPr marL="40500" marR="32400">
              <a:lnSpc>
                <a:spcPct val="116900"/>
              </a:lnSpc>
              <a:spcBef>
                <a:spcPts val="48"/>
              </a:spcBef>
            </a:pPr>
            <a:r>
              <a:rPr sz="2800" b="1" dirty="0" smtClean="0">
                <a:latin typeface="宋体"/>
                <a:cs typeface="宋体"/>
              </a:rPr>
              <a:t>步</a:t>
            </a:r>
            <a:r>
              <a:rPr sz="2800" b="1" dirty="0">
                <a:latin typeface="Times New Roman"/>
                <a:cs typeface="Times New Roman"/>
              </a:rPr>
              <a:t>2:</a:t>
            </a:r>
            <a:r>
              <a:rPr sz="2800" b="1" spc="-2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计算所有</a:t>
            </a:r>
            <a:r>
              <a:rPr sz="2800" b="1" spc="-11" dirty="0">
                <a:latin typeface="宋体"/>
                <a:cs typeface="宋体"/>
              </a:rPr>
              <a:t>的</a:t>
            </a:r>
            <a:r>
              <a:rPr sz="2800" b="1" spc="-654" dirty="0">
                <a:latin typeface="宋体"/>
                <a:cs typeface="宋体"/>
              </a:rPr>
              <a:t> </a:t>
            </a:r>
            <a:r>
              <a:rPr sz="2800" b="1" i="1" spc="-27" dirty="0">
                <a:latin typeface="Times New Roman"/>
                <a:cs typeface="Times New Roman"/>
              </a:rPr>
              <a:t>C</a:t>
            </a:r>
            <a:r>
              <a:rPr sz="2800" b="1" spc="-27" dirty="0">
                <a:latin typeface="Times New Roman"/>
                <a:cs typeface="Times New Roman"/>
              </a:rPr>
              <a:t>(</a:t>
            </a:r>
            <a:r>
              <a:rPr sz="2800" b="1" i="1" spc="-27" dirty="0">
                <a:latin typeface="Symbol"/>
                <a:cs typeface="Symbol"/>
              </a:rPr>
              <a:t></a:t>
            </a:r>
            <a:r>
              <a:rPr sz="2800" b="1" i="1" spc="-39" baseline="-20833" dirty="0">
                <a:latin typeface="Times New Roman"/>
                <a:cs typeface="Times New Roman"/>
              </a:rPr>
              <a:t>j</a:t>
            </a:r>
            <a:r>
              <a:rPr sz="2800" b="1" spc="-27" dirty="0">
                <a:latin typeface="Times New Roman"/>
                <a:cs typeface="Times New Roman"/>
              </a:rPr>
              <a:t>)  </a:t>
            </a:r>
            <a:endParaRPr lang="en-US" sz="2800" b="1" spc="-27" dirty="0" smtClean="0">
              <a:latin typeface="Times New Roman"/>
              <a:cs typeface="Times New Roman"/>
            </a:endParaRPr>
          </a:p>
          <a:p>
            <a:pPr marL="40500" marR="32400">
              <a:lnSpc>
                <a:spcPct val="116900"/>
              </a:lnSpc>
              <a:spcBef>
                <a:spcPts val="48"/>
              </a:spcBef>
            </a:pPr>
            <a:r>
              <a:rPr sz="2800" b="1" dirty="0" smtClean="0">
                <a:latin typeface="宋体" pitchFamily="2" charset="-122"/>
                <a:ea typeface="宋体" pitchFamily="2" charset="-122"/>
                <a:cs typeface="宋体"/>
              </a:rPr>
              <a:t>步</a:t>
            </a:r>
            <a:r>
              <a:rPr sz="2800" b="1" dirty="0">
                <a:latin typeface="宋体" pitchFamily="2" charset="-122"/>
                <a:ea typeface="宋体" pitchFamily="2" charset="-122"/>
                <a:cs typeface="Times New Roman"/>
              </a:rPr>
              <a:t>3</a:t>
            </a:r>
            <a:r>
              <a:rPr sz="2800" b="1" dirty="0" smtClean="0">
                <a:latin typeface="宋体" pitchFamily="2" charset="-122"/>
                <a:ea typeface="宋体" pitchFamily="2" charset="-122"/>
                <a:cs typeface="Times New Roman"/>
              </a:rPr>
              <a:t>:</a:t>
            </a:r>
            <a:r>
              <a:rPr lang="zh-CN" altLang="en-US" sz="2800" b="1" dirty="0">
                <a:latin typeface="宋体" pitchFamily="2" charset="-122"/>
                <a:ea typeface="宋体" pitchFamily="2" charset="-122"/>
                <a:cs typeface="Times New Roman"/>
              </a:rPr>
              <a:t>构造</a:t>
            </a:r>
            <a:r>
              <a:rPr lang="zh-CN" altLang="en-US" sz="2800" b="1" dirty="0" smtClean="0">
                <a:latin typeface="宋体" pitchFamily="2" charset="-122"/>
                <a:ea typeface="宋体" pitchFamily="2" charset="-122"/>
                <a:cs typeface="Times New Roman"/>
              </a:rPr>
              <a:t>多项式</a:t>
            </a:r>
            <a:endParaRPr sz="2800" dirty="0">
              <a:latin typeface="宋体" pitchFamily="2" charset="-122"/>
              <a:ea typeface="宋体" pitchFamily="2" charset="-122"/>
              <a:cs typeface="Times New Roman"/>
            </a:endParaRPr>
          </a:p>
          <a:p>
            <a:pPr marL="40500">
              <a:spcBef>
                <a:spcPts val="505"/>
              </a:spcBef>
            </a:pPr>
            <a:r>
              <a:rPr sz="2800" b="1" dirty="0">
                <a:latin typeface="宋体"/>
                <a:cs typeface="宋体"/>
              </a:rPr>
              <a:t>步</a:t>
            </a:r>
            <a:r>
              <a:rPr sz="2800" b="1" dirty="0">
                <a:latin typeface="Times New Roman"/>
                <a:cs typeface="Times New Roman"/>
              </a:rPr>
              <a:t>4:</a:t>
            </a:r>
            <a:r>
              <a:rPr sz="2800" b="1" spc="-2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计算所有</a:t>
            </a:r>
            <a:r>
              <a:rPr sz="2800" b="1" spc="-11" dirty="0">
                <a:latin typeface="宋体"/>
                <a:cs typeface="宋体"/>
              </a:rPr>
              <a:t>的</a:t>
            </a:r>
            <a:r>
              <a:rPr sz="2800" b="1" spc="-648" dirty="0">
                <a:latin typeface="宋体"/>
                <a:cs typeface="宋体"/>
              </a:rPr>
              <a:t> </a:t>
            </a:r>
            <a:r>
              <a:rPr sz="2800" b="1" i="1" spc="-27" dirty="0">
                <a:latin typeface="Times New Roman"/>
                <a:cs typeface="Times New Roman"/>
              </a:rPr>
              <a:t>D</a:t>
            </a:r>
            <a:r>
              <a:rPr sz="2800" b="1" spc="-27" dirty="0">
                <a:latin typeface="Times New Roman"/>
                <a:cs typeface="Times New Roman"/>
              </a:rPr>
              <a:t>(</a:t>
            </a:r>
            <a:r>
              <a:rPr sz="2800" b="1" i="1" spc="-27" dirty="0">
                <a:latin typeface="Symbol"/>
                <a:cs typeface="Symbol"/>
              </a:rPr>
              <a:t></a:t>
            </a:r>
            <a:r>
              <a:rPr sz="2800" b="1" i="1" spc="-39" baseline="-20833" dirty="0">
                <a:latin typeface="Times New Roman"/>
                <a:cs typeface="Times New Roman"/>
              </a:rPr>
              <a:t>j</a:t>
            </a:r>
            <a:r>
              <a:rPr sz="2800" b="1" spc="-2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40500">
              <a:spcBef>
                <a:spcPts val="595"/>
              </a:spcBef>
            </a:pPr>
            <a:r>
              <a:rPr sz="2800" b="1" spc="-5" dirty="0">
                <a:latin typeface="宋体"/>
                <a:cs typeface="宋体"/>
              </a:rPr>
              <a:t>步</a:t>
            </a:r>
            <a:r>
              <a:rPr sz="2800" b="1" dirty="0">
                <a:latin typeface="Times New Roman"/>
                <a:cs typeface="Times New Roman"/>
              </a:rPr>
              <a:t>5:</a:t>
            </a:r>
            <a:r>
              <a:rPr sz="2800" b="1" spc="-2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计算所有</a:t>
            </a:r>
            <a:r>
              <a:rPr sz="2800" b="1" spc="-11" dirty="0">
                <a:latin typeface="宋体"/>
                <a:cs typeface="宋体"/>
              </a:rPr>
              <a:t>的</a:t>
            </a:r>
            <a:r>
              <a:rPr sz="2800" b="1" spc="-643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i="1" baseline="-20833" dirty="0">
                <a:latin typeface="Times New Roman"/>
                <a:cs typeface="Times New Roman"/>
              </a:rPr>
              <a:t>j</a:t>
            </a:r>
            <a:endParaRPr sz="2800" baseline="-20833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46870" y="3299902"/>
            <a:ext cx="4437334" cy="1043559"/>
          </a:xfrm>
          <a:prstGeom prst="rect">
            <a:avLst/>
          </a:prstGeom>
        </p:spPr>
        <p:txBody>
          <a:bodyPr vert="horz" wrap="square" lIns="0" tIns="91127" rIns="0" bIns="0" rtlCol="0">
            <a:spAutoFit/>
          </a:bodyPr>
          <a:lstStyle/>
          <a:p>
            <a:pPr marL="13500">
              <a:spcBef>
                <a:spcPts val="718"/>
              </a:spcBef>
            </a:pP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i="1" spc="-58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 err="1" smtClean="0">
                <a:latin typeface="Times New Roman"/>
                <a:cs typeface="Times New Roman"/>
              </a:rPr>
              <a:t>n</a:t>
            </a:r>
            <a:r>
              <a:rPr sz="2800" b="1" spc="-5" dirty="0" err="1" smtClean="0">
                <a:latin typeface="Times New Roman"/>
                <a:cs typeface="Times New Roman"/>
              </a:rPr>
              <a:t>log</a:t>
            </a:r>
            <a:r>
              <a:rPr sz="2800" b="1" i="1" spc="-5" dirty="0" err="1" smtClean="0">
                <a:latin typeface="Times New Roman"/>
                <a:cs typeface="Times New Roman"/>
              </a:rPr>
              <a:t>n</a:t>
            </a:r>
            <a:r>
              <a:rPr sz="2800" b="1" spc="-5" dirty="0" smtClean="0">
                <a:latin typeface="Times New Roman"/>
                <a:cs typeface="Times New Roman"/>
              </a:rPr>
              <a:t>)</a:t>
            </a:r>
            <a:endParaRPr lang="en-US" sz="2800" dirty="0">
              <a:latin typeface="Times New Roman"/>
              <a:cs typeface="Times New Roman"/>
            </a:endParaRPr>
          </a:p>
          <a:p>
            <a:pPr marL="13500">
              <a:spcBef>
                <a:spcPts val="718"/>
              </a:spcBef>
            </a:pPr>
            <a:r>
              <a:rPr sz="2800" b="1" i="1" dirty="0" smtClean="0">
                <a:latin typeface="Times New Roman"/>
                <a:cs typeface="Times New Roman"/>
              </a:rPr>
              <a:t>O</a:t>
            </a:r>
            <a:r>
              <a:rPr sz="2800" b="1" i="1" spc="-11" dirty="0" smtClean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9716" y="4390913"/>
            <a:ext cx="8414488" cy="444519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  <a:tabLst>
                <a:tab pos="3260274" algn="l"/>
              </a:tabLst>
            </a:pPr>
            <a:r>
              <a:rPr sz="2800" b="1" dirty="0">
                <a:latin typeface="宋体"/>
                <a:cs typeface="宋体"/>
              </a:rPr>
              <a:t>算法时间</a:t>
            </a:r>
            <a:r>
              <a:rPr sz="2800" b="1" spc="-11" dirty="0">
                <a:latin typeface="宋体"/>
                <a:cs typeface="宋体"/>
              </a:rPr>
              <a:t>为	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800" b="1" i="1" spc="-58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log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055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123" y="264929"/>
            <a:ext cx="8769918" cy="628503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b="1" spc="-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  <a:endParaRPr sz="4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2715" y="1672283"/>
            <a:ext cx="8643326" cy="2762652"/>
          </a:xfrm>
          <a:prstGeom prst="rect">
            <a:avLst/>
          </a:prstGeom>
        </p:spPr>
        <p:txBody>
          <a:bodyPr vert="horz" wrap="square" lIns="0" tIns="106653" rIns="0" bIns="0" rtlCol="0">
            <a:spAutoFit/>
          </a:bodyPr>
          <a:lstStyle/>
          <a:p>
            <a:pPr marL="405003" indent="-364503">
              <a:spcBef>
                <a:spcPts val="840"/>
              </a:spcBef>
              <a:buFont typeface="Arial"/>
              <a:buChar char="•"/>
              <a:tabLst>
                <a:tab pos="404328" algn="l"/>
                <a:tab pos="405003" algn="l"/>
              </a:tabLst>
            </a:pPr>
            <a:r>
              <a:rPr sz="2800" b="1" spc="-5" dirty="0">
                <a:latin typeface="宋体"/>
                <a:cs typeface="宋体"/>
              </a:rPr>
              <a:t>多项式求值算法</a:t>
            </a:r>
            <a:endParaRPr sz="2800" dirty="0">
              <a:latin typeface="宋体"/>
              <a:cs typeface="宋体"/>
            </a:endParaRPr>
          </a:p>
          <a:p>
            <a:pPr marL="444153">
              <a:spcBef>
                <a:spcPts val="627"/>
              </a:spcBef>
            </a:pPr>
            <a:r>
              <a:rPr sz="2800" b="1" dirty="0">
                <a:latin typeface="宋体"/>
                <a:cs typeface="宋体"/>
              </a:rPr>
              <a:t>蛮力算法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latin typeface="Times New Roman"/>
                <a:cs typeface="Times New Roman"/>
              </a:rPr>
              <a:t>3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444153" marR="382728">
              <a:lnSpc>
                <a:spcPts val="3678"/>
              </a:lnSpc>
              <a:spcBef>
                <a:spcPts val="222"/>
              </a:spcBef>
            </a:pPr>
            <a:r>
              <a:rPr sz="2800" b="1" dirty="0">
                <a:latin typeface="宋体"/>
                <a:cs typeface="宋体"/>
              </a:rPr>
              <a:t>改进的求值算法：</a:t>
            </a:r>
            <a:r>
              <a:rPr sz="2800" b="1" i="1" spc="-11" dirty="0">
                <a:latin typeface="Times New Roman"/>
                <a:cs typeface="Times New Roman"/>
              </a:rPr>
              <a:t>O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spc="-11" dirty="0">
                <a:latin typeface="Times New Roman"/>
                <a:cs typeface="Times New Roman"/>
              </a:rPr>
              <a:t>n</a:t>
            </a:r>
            <a:r>
              <a:rPr sz="2800" b="1" baseline="24305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)  </a:t>
            </a:r>
            <a:endParaRPr lang="en-US" sz="2800" b="1" dirty="0" smtClean="0">
              <a:latin typeface="Times New Roman"/>
              <a:cs typeface="Times New Roman"/>
            </a:endParaRPr>
          </a:p>
          <a:p>
            <a:pPr marL="444153" marR="382728">
              <a:lnSpc>
                <a:spcPts val="3678"/>
              </a:lnSpc>
              <a:spcBef>
                <a:spcPts val="222"/>
              </a:spcBef>
            </a:pPr>
            <a:r>
              <a:rPr sz="2800" b="1" spc="-5" dirty="0" err="1" smtClean="0">
                <a:latin typeface="Times New Roman"/>
                <a:cs typeface="Times New Roman"/>
              </a:rPr>
              <a:t>FFT</a:t>
            </a:r>
            <a:r>
              <a:rPr sz="2800" b="1" dirty="0" err="1">
                <a:latin typeface="宋体"/>
                <a:cs typeface="宋体"/>
              </a:rPr>
              <a:t>算法</a:t>
            </a:r>
            <a:r>
              <a:rPr sz="2800" b="1" spc="-5" dirty="0" err="1">
                <a:latin typeface="宋体"/>
                <a:cs typeface="宋体"/>
              </a:rPr>
              <a:t>：</a:t>
            </a:r>
            <a:r>
              <a:rPr sz="2800" b="1" i="1" spc="-5" dirty="0" err="1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log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405003" indent="-364503">
              <a:spcBef>
                <a:spcPts val="2088"/>
              </a:spcBef>
              <a:buFont typeface="Arial"/>
              <a:buChar char="•"/>
              <a:tabLst>
                <a:tab pos="404328" algn="l"/>
                <a:tab pos="405003" algn="l"/>
              </a:tabLst>
            </a:pPr>
            <a:r>
              <a:rPr sz="2800" b="1" spc="-11" dirty="0">
                <a:latin typeface="Times New Roman"/>
                <a:cs typeface="Times New Roman"/>
              </a:rPr>
              <a:t>FFT</a:t>
            </a:r>
            <a:r>
              <a:rPr sz="2800" b="1" spc="-5" dirty="0">
                <a:latin typeface="宋体"/>
                <a:cs typeface="宋体"/>
              </a:rPr>
              <a:t>算法的设计与分析</a:t>
            </a:r>
            <a:endParaRPr sz="28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32449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06264"/>
            <a:ext cx="9727013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6"/>
          </a:p>
        </p:txBody>
      </p:sp>
      <p:sp>
        <p:nvSpPr>
          <p:cNvPr id="3" name="object 3"/>
          <p:cNvSpPr txBox="1"/>
          <p:nvPr/>
        </p:nvSpPr>
        <p:spPr>
          <a:xfrm>
            <a:off x="1901725" y="2647938"/>
            <a:ext cx="6209874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742"/>
              </a:lnSpc>
            </a:pPr>
            <a:r>
              <a:rPr sz="6600" spc="1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平面点集的凸包</a:t>
            </a:r>
          </a:p>
        </p:txBody>
      </p:sp>
    </p:spTree>
    <p:extLst>
      <p:ext uri="{BB962C8B-B14F-4D97-AF65-F5344CB8AC3E}">
        <p14:creationId xmlns:p14="http://schemas.microsoft.com/office/powerpoint/2010/main" val="291171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92716" y="236713"/>
            <a:ext cx="872996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平面点集的凸包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1122" y="1590916"/>
            <a:ext cx="8795429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1"/>
              </a:lnSpc>
            </a:pPr>
            <a:r>
              <a:rPr sz="2800" b="1" spc="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问题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（平面点集的凸包</a:t>
            </a:r>
            <a:r>
              <a:rPr sz="2800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）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1122" y="1993743"/>
            <a:ext cx="8921554" cy="861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给定大量离散点的集合</a:t>
            </a:r>
            <a:r>
              <a:rPr sz="2800" b="1" i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Q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，</a:t>
            </a:r>
            <a:r>
              <a:rPr sz="2800" b="1" spc="12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求一个最小的凸多边形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，使得</a:t>
            </a:r>
            <a:r>
              <a:rPr sz="2800" b="1" i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Q</a:t>
            </a:r>
            <a:r>
              <a:rPr sz="2800" b="1" spc="12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中的点在该多边形内或者边上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MPKDVP+ËÎÌå"/>
              </a:rPr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2124" y="4997224"/>
            <a:ext cx="1786908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1"/>
              </a:lnSpc>
            </a:pPr>
            <a:r>
              <a:rPr sz="2800" b="1" spc="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应用背景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2124" y="5463905"/>
            <a:ext cx="8840552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3"/>
              </a:lnSpc>
            </a:pP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图形处理中用于形状识别：</a:t>
            </a:r>
            <a:r>
              <a:rPr sz="2800" b="1" spc="12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字形识别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、碰撞检测等</a:t>
            </a:r>
            <a:endParaRPr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/>
          <a:srcRect t="10102"/>
          <a:stretch/>
        </p:blipFill>
        <p:spPr>
          <a:xfrm>
            <a:off x="3013093" y="3037542"/>
            <a:ext cx="4311798" cy="206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11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97659" y="174237"/>
            <a:ext cx="8803996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spc="1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分治算法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467964" y="1230892"/>
                <a:ext cx="8833691" cy="168674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just"/>
                <a:r>
                  <a:rPr lang="en-US" altLang="zh-CN" sz="2551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1.</a:t>
                </a:r>
                <a:r>
                  <a:rPr lang="zh-CN" altLang="en-US" sz="2551" b="1" spc="623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以</a:t>
                </a:r>
                <a:r>
                  <a:rPr lang="zh-CN" altLang="en-US" sz="2800" b="1" spc="12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连接最大纵坐标点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𝒎𝒂𝒙</m:t>
                        </m:r>
                      </m:sub>
                    </m:sSub>
                  </m:oMath>
                </a14:m>
                <a:r>
                  <a:rPr lang="zh-CN" altLang="en-US" sz="2800" b="1" spc="12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和最小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纵坐标点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𝒎</m:t>
                        </m:r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800" b="1" spc="13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的</a:t>
                </a:r>
                <a:r>
                  <a:rPr lang="zh-CN" altLang="en-US" sz="2800" b="1" spc="13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线段</a:t>
                </a:r>
                <a14:m>
                  <m:oMath xmlns:m="http://schemas.openxmlformats.org/officeDocument/2006/math"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𝒅</m:t>
                    </m:r>
                    <m:r>
                      <a:rPr lang="en-US" altLang="zh-CN" sz="2800" b="1" i="1" spc="12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ar-AE" altLang="zh-CN" sz="2800" b="1" i="1" spc="12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ar-AE" sz="2800" b="1" i="1" spc="12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800" b="1" i="1" spc="12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𝒎𝒂𝒙</m:t>
                                </m:r>
                              </m:sub>
                            </m:sSub>
                            <m:r>
                              <a:rPr lang="en-US" altLang="zh-CN" sz="2800" b="1" i="1" spc="12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,</m:t>
                            </m:r>
                            <m:r>
                              <a:rPr lang="zh-CN" altLang="ar-AE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800" b="1" i="1" spc="12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𝒎𝒊𝒏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划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分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L</a:t>
                </a:r>
                <a:r>
                  <a:rPr lang="zh-CN" altLang="en-US" sz="2800" b="1" i="1" spc="-117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/>
                  </a:rPr>
                  <a:t> </a:t>
                </a:r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为左点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𝒍𝒆𝒇𝒕</m:t>
                        </m:r>
                      </m:sub>
                    </m:sSub>
                  </m:oMath>
                </a14:m>
                <a:r>
                  <a:rPr lang="zh-CN" altLang="en-US" sz="2800" b="1" spc="12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和右点</a:t>
                </a:r>
                <a:r>
                  <a:rPr lang="zh-CN" altLang="en-US" sz="2800" b="1" spc="12" dirty="0" smtClean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IOQAMC+ËÎÌå"/>
                  </a:rPr>
                  <a:t>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 spc="12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2800" b="1" i="1" spc="12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𝒓𝒊𝒈𝒉𝒕</m:t>
                        </m:r>
                      </m:sub>
                    </m:sSub>
                  </m:oMath>
                </a14:m>
                <a:endParaRPr lang="en-US" altLang="zh-CN" sz="2800" b="1" i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/>
                </a:endParaRPr>
              </a:p>
              <a:p>
                <a:pPr algn="just"/>
                <a:endPara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IOQAMC+ËÎÌå"/>
                </a:endParaRPr>
              </a:p>
              <a:p>
                <a:pPr algn="just">
                  <a:lnSpc>
                    <a:spcPts val="2828"/>
                  </a:lnSpc>
                </a:pPr>
                <a:endParaRPr sz="2551" spc="12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IOQAMC+ËÎÌå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64" y="1230892"/>
                <a:ext cx="8833691" cy="1686744"/>
              </a:xfrm>
              <a:prstGeom prst="rect">
                <a:avLst/>
              </a:prstGeom>
              <a:blipFill>
                <a:blip r:embed="rId2"/>
                <a:stretch>
                  <a:fillRect l="-2484" t="-7220" r="-24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963" y="2139581"/>
            <a:ext cx="4171429" cy="254285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59" y="4987803"/>
            <a:ext cx="4168934" cy="57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9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0333" y="161951"/>
            <a:ext cx="8877446" cy="60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706"/>
              </a:lnSpc>
            </a:pPr>
            <a:r>
              <a:rPr sz="4252" b="1" dirty="0">
                <a:solidFill>
                  <a:srgbClr val="C00000"/>
                </a:solidFill>
                <a:latin typeface="Times New Roman"/>
                <a:cs typeface="Times New Roman"/>
              </a:rPr>
              <a:t>Deal</a:t>
            </a:r>
            <a:r>
              <a:rPr sz="4252" b="1" spc="-1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252" b="1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4252" b="1" i="1" dirty="0" err="1" smtClean="0">
                <a:solidFill>
                  <a:srgbClr val="C00000"/>
                </a:solidFill>
                <a:latin typeface="Times New Roman"/>
                <a:cs typeface="Times New Roman"/>
              </a:rPr>
              <a:t>L</a:t>
            </a:r>
            <a:r>
              <a:rPr lang="en-US" sz="4252" b="1" i="1" baseline="-25000" dirty="0" err="1" smtClean="0">
                <a:solidFill>
                  <a:srgbClr val="C00000"/>
                </a:solidFill>
                <a:latin typeface="Times New Roman"/>
                <a:cs typeface="Times New Roman"/>
              </a:rPr>
              <a:t>left</a:t>
            </a:r>
            <a:r>
              <a:rPr sz="4252" b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4252" b="1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0515" y="1432276"/>
            <a:ext cx="861768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8"/>
              </a:lnSpc>
            </a:pP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考虑</a:t>
            </a:r>
            <a:r>
              <a:rPr sz="2800" b="1" spc="5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/>
                <a:cs typeface="Times New Roman"/>
              </a:rPr>
              <a:t>L</a:t>
            </a:r>
            <a:r>
              <a:rPr lang="en-US" altLang="zh-CN" sz="2800" b="1" i="1" baseline="-25000" dirty="0" err="1">
                <a:solidFill>
                  <a:srgbClr val="C00000"/>
                </a:solidFill>
                <a:latin typeface="Times New Roman"/>
                <a:cs typeface="Times New Roman"/>
              </a:rPr>
              <a:t>left</a:t>
            </a:r>
            <a:r>
              <a:rPr lang="en-US" altLang="zh-CN" sz="2800" b="1" i="1" baseline="-250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12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：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确定距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d</a:t>
            </a:r>
            <a:r>
              <a:rPr sz="2800" b="1" i="1" spc="4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最远的点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3600" y="1896613"/>
            <a:ext cx="41173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1"/>
              </a:lnSpc>
              <a:spcBef>
                <a:spcPts val="522"/>
              </a:spcBef>
            </a:pPr>
            <a:r>
              <a:rPr sz="2800" b="1" spc="12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在三角形内的点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，删除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；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43600" y="2345597"/>
            <a:ext cx="5269051" cy="71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</a:pP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a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外的点与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a 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构成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/>
                <a:cs typeface="Times New Roman"/>
              </a:rPr>
              <a:t>L</a:t>
            </a:r>
            <a:r>
              <a:rPr lang="en-US" altLang="zh-CN" sz="2800" b="1" i="1" baseline="-25000" dirty="0" err="1">
                <a:solidFill>
                  <a:srgbClr val="C00000"/>
                </a:solidFill>
                <a:latin typeface="Times New Roman"/>
                <a:cs typeface="Times New Roman"/>
              </a:rPr>
              <a:t>left</a:t>
            </a:r>
            <a:r>
              <a:rPr sz="2800" b="1" spc="13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的子问题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43600" y="2734813"/>
            <a:ext cx="801151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</a:pP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b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外的点与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b 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构成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/>
                <a:cs typeface="Times New Roman"/>
              </a:rPr>
              <a:t>L</a:t>
            </a:r>
            <a:r>
              <a:rPr lang="en-US" altLang="zh-CN" sz="2800" b="1" i="1" baseline="-25000" dirty="0" err="1">
                <a:solidFill>
                  <a:srgbClr val="C00000"/>
                </a:solidFill>
                <a:latin typeface="Times New Roman"/>
                <a:cs typeface="Times New Roman"/>
              </a:rPr>
              <a:t>left</a:t>
            </a:r>
            <a:r>
              <a:rPr sz="2800" b="1" spc="12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的子问题</a:t>
            </a:r>
            <a:endParaRPr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295" y="3230680"/>
            <a:ext cx="3839518" cy="253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2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06264"/>
            <a:ext cx="9727013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6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8594" y="176270"/>
            <a:ext cx="9130205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伪码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2213" y="1250133"/>
            <a:ext cx="2034507" cy="365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8"/>
              </a:lnSpc>
            </a:pPr>
            <a:r>
              <a:rPr sz="3200" b="1" dirty="0" smtClean="0">
                <a:solidFill>
                  <a:srgbClr val="C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Deal(</a:t>
            </a:r>
            <a:r>
              <a:rPr lang="en-US" altLang="zh-CN" sz="3200" b="1" i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3200" b="1" i="1" baseline="-250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left</a:t>
            </a:r>
            <a:r>
              <a:rPr sz="3200" b="1" dirty="0" smtClean="0">
                <a:solidFill>
                  <a:srgbClr val="C00000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)</a:t>
            </a:r>
            <a:endParaRPr sz="3200" b="1" dirty="0">
              <a:solidFill>
                <a:srgbClr val="C00000"/>
              </a:solidFill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2213" y="2005792"/>
            <a:ext cx="8851993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/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1.</a:t>
            </a:r>
            <a:r>
              <a:rPr sz="2800" b="1" spc="62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以</a:t>
            </a:r>
            <a:r>
              <a:rPr sz="2800" b="1" spc="1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d </a:t>
            </a:r>
            <a:r>
              <a:rPr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和距离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d </a:t>
            </a:r>
            <a:r>
              <a:rPr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最远点</a:t>
            </a:r>
            <a:r>
              <a:rPr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P</a:t>
            </a:r>
            <a:r>
              <a:rPr sz="2800" b="1" i="1" spc="-9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sz="2800" b="1" spc="12" dirty="0" err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构成三角</a:t>
            </a:r>
            <a:r>
              <a:rPr sz="2800" b="1" spc="13" dirty="0" err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形</a:t>
            </a:r>
            <a:r>
              <a:rPr sz="2800" b="1" spc="13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，</a:t>
            </a:r>
            <a:r>
              <a:rPr sz="2800" b="1" i="1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P</a:t>
            </a:r>
            <a:r>
              <a:rPr sz="2800" b="1" spc="12" dirty="0" err="1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加入凸包</a:t>
            </a:r>
            <a:r>
              <a:rPr sz="2800" b="1" spc="12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另外两条边分别记作 </a:t>
            </a:r>
            <a:r>
              <a:rPr lang="en-US" altLang="zh-CN"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a </a:t>
            </a:r>
            <a:r>
              <a:rPr lang="zh-CN" altLang="en-US"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和 </a:t>
            </a:r>
            <a:r>
              <a:rPr lang="en-US" altLang="zh-CN" sz="2800" b="1" spc="12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b</a:t>
            </a:r>
          </a:p>
          <a:p>
            <a:endParaRPr sz="2800" b="1" i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2626" y="3318298"/>
            <a:ext cx="8831580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/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2.</a:t>
            </a:r>
            <a:r>
              <a:rPr sz="2800" b="1" spc="625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12" dirty="0" err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检查</a:t>
            </a:r>
            <a:r>
              <a:rPr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i="1" dirty="0" err="1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L</a:t>
            </a:r>
            <a:r>
              <a:rPr lang="en-US" altLang="zh-CN" sz="2800" b="1" i="1" baseline="-25000" dirty="0" err="1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left</a:t>
            </a:r>
            <a:r>
              <a:rPr lang="en-US" altLang="zh-CN" sz="2800" b="1" i="1" baseline="-25000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12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中其他点是否在三角形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内；在则从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L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中删除；否则</a:t>
            </a:r>
            <a:r>
              <a:rPr lang="zh-CN" altLang="en-US" sz="2800" b="1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根据在 </a:t>
            </a:r>
            <a:r>
              <a:rPr lang="en-US" altLang="zh-CN" sz="2800" b="1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 </a:t>
            </a:r>
            <a:r>
              <a:rPr lang="zh-CN" altLang="en-US" sz="2800" b="1" spc="12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或 </a:t>
            </a:r>
            <a:r>
              <a:rPr lang="en-US" altLang="zh-CN"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b 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边的外侧划分在两个子问题中 </a:t>
            </a:r>
            <a:endParaRPr lang="en-US" altLang="zh-CN" sz="2800" b="1" i="1" dirty="0">
              <a:solidFill>
                <a:srgbClr val="0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endParaRPr sz="3200" spc="12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2213" y="4690834"/>
            <a:ext cx="7223534" cy="9105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8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3.</a:t>
            </a:r>
            <a:r>
              <a:rPr sz="2800" b="1" spc="62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Deal 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a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</a:p>
          <a:p>
            <a:pPr>
              <a:lnSpc>
                <a:spcPts val="2824"/>
              </a:lnSpc>
              <a:spcBef>
                <a:spcPts val="1458"/>
              </a:spcBef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4.</a:t>
            </a:r>
            <a:r>
              <a:rPr sz="2800" b="1" spc="625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Deal 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b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220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1211" y="150333"/>
            <a:ext cx="8848913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50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算法分析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1211" y="1450097"/>
            <a:ext cx="8536177" cy="807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2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初始用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d</a:t>
            </a:r>
            <a:r>
              <a:rPr sz="2800" b="1" i="1" spc="-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划分</a:t>
            </a:r>
            <a:r>
              <a:rPr sz="2800" b="1" spc="319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O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</a:p>
          <a:p>
            <a:pPr>
              <a:lnSpc>
                <a:spcPts val="2850"/>
              </a:lnSpc>
              <a:spcBef>
                <a:spcPts val="529"/>
              </a:spcBef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Deal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递归调用</a:t>
            </a:r>
            <a:r>
              <a:rPr sz="2800" b="1" spc="255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W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7222" y="2309013"/>
            <a:ext cx="7387691" cy="807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–</a:t>
            </a:r>
            <a:r>
              <a:rPr sz="2800" b="1" spc="34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找凸包顶点</a:t>
            </a:r>
            <a:r>
              <a:rPr sz="2800" b="1" spc="-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P</a:t>
            </a:r>
            <a:r>
              <a:rPr sz="2800" b="1" i="1" spc="319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O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</a:p>
          <a:p>
            <a:pPr>
              <a:lnSpc>
                <a:spcPts val="2850"/>
              </a:lnSpc>
              <a:spcBef>
                <a:spcPts val="532"/>
              </a:spcBef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–</a:t>
            </a:r>
            <a:r>
              <a:rPr sz="2800" b="1" spc="34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根据点的位置划分子问题</a:t>
            </a:r>
            <a:r>
              <a:rPr sz="2800" b="1" spc="627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O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1212" y="3308850"/>
            <a:ext cx="59944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94155" y="3314509"/>
            <a:ext cx="5628034" cy="78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</a:pP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W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 =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W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-1)</a:t>
            </a:r>
            <a:r>
              <a:rPr sz="2800" b="1" spc="-1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+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O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</a:p>
          <a:p>
            <a:pPr marL="40500">
              <a:lnSpc>
                <a:spcPts val="2828"/>
              </a:lnSpc>
              <a:spcBef>
                <a:spcPts val="501"/>
              </a:spcBef>
            </a:pP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W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(3) =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O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(1)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24601" y="4176713"/>
            <a:ext cx="7470311" cy="938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最坏情况为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O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2)</a:t>
            </a:r>
          </a:p>
          <a:p>
            <a:pPr>
              <a:spcBef>
                <a:spcPts val="600"/>
              </a:spcBef>
            </a:pP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T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 =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O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  <a:r>
              <a:rPr sz="2800" b="1" spc="1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+ 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W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 = </a:t>
            </a:r>
            <a:r>
              <a:rPr sz="28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O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1212" y="5177409"/>
            <a:ext cx="4857005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Graham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扫描算法</a:t>
            </a:r>
            <a:r>
              <a:rPr sz="2800" b="1" spc="-2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O 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log</a:t>
            </a:r>
            <a:r>
              <a:rPr sz="2800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9356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06264"/>
            <a:ext cx="9727013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6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3216" y="236959"/>
            <a:ext cx="8760481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47"/>
              </a:lnSpc>
            </a:pPr>
            <a:r>
              <a:rPr sz="4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小结：分治算法设计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3216" y="1628595"/>
            <a:ext cx="4494049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55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551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55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将原问题归约为子问题</a:t>
            </a:r>
          </a:p>
          <a:p>
            <a:pPr marL="653188">
              <a:lnSpc>
                <a:spcPts val="2551"/>
              </a:lnSpc>
              <a:spcBef>
                <a:spcPts val="510"/>
              </a:spcBef>
            </a:pPr>
            <a:r>
              <a:rPr sz="255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直接划分注意尽量均衡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36417" y="2421087"/>
            <a:ext cx="5240760" cy="1128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1"/>
              </a:lnSpc>
            </a:pPr>
            <a:r>
              <a:rPr sz="255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通过计算归约为特殊的子问题</a:t>
            </a:r>
          </a:p>
          <a:p>
            <a:pPr>
              <a:lnSpc>
                <a:spcPts val="2551"/>
              </a:lnSpc>
              <a:spcBef>
                <a:spcPts val="511"/>
              </a:spcBef>
            </a:pPr>
            <a:r>
              <a:rPr sz="255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子问题与原问题具有相同的性质</a:t>
            </a:r>
          </a:p>
          <a:p>
            <a:pPr>
              <a:lnSpc>
                <a:spcPts val="2551"/>
              </a:lnSpc>
              <a:spcBef>
                <a:spcPts val="510"/>
              </a:spcBef>
            </a:pPr>
            <a:r>
              <a:rPr sz="255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子问题之间独立计算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3216" y="3897196"/>
            <a:ext cx="2477046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55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551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55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算法实现：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36416" y="4300878"/>
            <a:ext cx="3415375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1"/>
              </a:lnSpc>
            </a:pPr>
            <a:r>
              <a:rPr sz="255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递归或迭代实现</a:t>
            </a:r>
          </a:p>
          <a:p>
            <a:pPr>
              <a:lnSpc>
                <a:spcPts val="2553"/>
              </a:lnSpc>
              <a:spcBef>
                <a:spcPts val="510"/>
              </a:spcBef>
            </a:pPr>
            <a:r>
              <a:rPr sz="255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注意递归执行的边界</a:t>
            </a:r>
          </a:p>
        </p:txBody>
      </p:sp>
    </p:spTree>
    <p:extLst>
      <p:ext uri="{BB962C8B-B14F-4D97-AF65-F5344CB8AC3E}">
        <p14:creationId xmlns:p14="http://schemas.microsoft.com/office/powerpoint/2010/main" val="72075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06264"/>
            <a:ext cx="9727013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6"/>
          </a:p>
        </p:txBody>
      </p:sp>
      <p:sp>
        <p:nvSpPr>
          <p:cNvPr id="3" name="object 3"/>
          <p:cNvSpPr txBox="1"/>
          <p:nvPr/>
        </p:nvSpPr>
        <p:spPr>
          <a:xfrm>
            <a:off x="831730" y="626938"/>
            <a:ext cx="8196656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250"/>
              </a:lnSpc>
            </a:pPr>
            <a:r>
              <a:rPr sz="4000" b="1" spc="11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小结：</a:t>
            </a:r>
            <a:r>
              <a:rPr sz="4000" b="1" spc="11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分治算法的分析及改进</a:t>
            </a:r>
            <a:endParaRPr sz="4000" b="1" spc="1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3216" y="2151869"/>
            <a:ext cx="5242995" cy="116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时间复杂度分析</a:t>
            </a:r>
          </a:p>
          <a:p>
            <a:pPr marL="653188">
              <a:lnSpc>
                <a:spcPts val="2551"/>
              </a:lnSpc>
              <a:spcBef>
                <a:spcPts val="510"/>
              </a:spcBef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给出关于时间复杂度函数的</a:t>
            </a:r>
          </a:p>
          <a:p>
            <a:pPr marL="653188">
              <a:lnSpc>
                <a:spcPts val="2553"/>
              </a:lnSpc>
              <a:spcBef>
                <a:spcPts val="456"/>
              </a:spcBef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递推方程和初值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36416" y="3333442"/>
            <a:ext cx="1786908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1"/>
              </a:lnSpc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求解方程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3216" y="3978198"/>
            <a:ext cx="3416996" cy="116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提高效率的途径</a:t>
            </a:r>
          </a:p>
          <a:p>
            <a:pPr marL="653188">
              <a:lnSpc>
                <a:spcPts val="2551"/>
              </a:lnSpc>
              <a:spcBef>
                <a:spcPts val="510"/>
              </a:spcBef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减少子问题个数</a:t>
            </a:r>
          </a:p>
          <a:p>
            <a:pPr marL="653188">
              <a:lnSpc>
                <a:spcPts val="2553"/>
              </a:lnSpc>
              <a:spcBef>
                <a:spcPts val="457"/>
              </a:spcBef>
            </a:pP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预处理</a:t>
            </a:r>
          </a:p>
        </p:txBody>
      </p:sp>
    </p:spTree>
    <p:extLst>
      <p:ext uri="{BB962C8B-B14F-4D97-AF65-F5344CB8AC3E}">
        <p14:creationId xmlns:p14="http://schemas.microsoft.com/office/powerpoint/2010/main" val="420710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506264"/>
            <a:ext cx="9727013" cy="250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6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5339" y="230547"/>
            <a:ext cx="8633763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50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重要的分治算法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3216" y="1847301"/>
            <a:ext cx="3787580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检索算法：二分检索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3216" y="2338174"/>
            <a:ext cx="7656894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2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排序算法：快速排序、</a:t>
            </a:r>
            <a:r>
              <a:rPr sz="2800" b="1" spc="12" dirty="0" err="1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二分归并排序</a:t>
            </a:r>
            <a:endParaRPr sz="2800" b="1" spc="12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IOQAMC+ËÎÌå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3216" y="3169526"/>
            <a:ext cx="2151418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0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选择算法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3216" y="3636075"/>
            <a:ext cx="4660637" cy="846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2"/>
              </a:lnSpc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快速傅立叶变换</a:t>
            </a:r>
            <a:r>
              <a:rPr sz="2800" b="1" spc="-7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FFT</a:t>
            </a:r>
            <a:r>
              <a:rPr sz="2800" b="1" spc="-4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算法</a:t>
            </a:r>
          </a:p>
          <a:p>
            <a:pPr>
              <a:lnSpc>
                <a:spcPts val="2850"/>
              </a:lnSpc>
              <a:spcBef>
                <a:spcPts val="770"/>
              </a:spcBef>
            </a:pPr>
            <a:r>
              <a:rPr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•</a:t>
            </a:r>
            <a:r>
              <a:rPr sz="2800" b="1" spc="1339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12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IOQAMC+ËÎÌå"/>
              </a:rPr>
              <a:t>平面点集的凸包</a:t>
            </a:r>
          </a:p>
        </p:txBody>
      </p:sp>
    </p:spTree>
    <p:extLst>
      <p:ext uri="{BB962C8B-B14F-4D97-AF65-F5344CB8AC3E}">
        <p14:creationId xmlns:p14="http://schemas.microsoft.com/office/powerpoint/2010/main" val="2187026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</TotalTime>
  <Words>2979</Words>
  <Application>Microsoft Office PowerPoint</Application>
  <PresentationFormat>自定义</PresentationFormat>
  <Paragraphs>708</Paragraphs>
  <Slides>83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83</vt:i4>
      </vt:variant>
    </vt:vector>
  </HeadingPairs>
  <TitlesOfParts>
    <vt:vector size="108" baseType="lpstr">
      <vt:lpstr>CNENOB+ËÎÌå</vt:lpstr>
      <vt:lpstr>CNFSOI+ËÎÌå</vt:lpstr>
      <vt:lpstr>ERJIHT+ËÎÌå</vt:lpstr>
      <vt:lpstr>ETFSQW+ËÎÌå</vt:lpstr>
      <vt:lpstr>FATJSN+Symbol</vt:lpstr>
      <vt:lpstr>FKJJDH+ËÎÌå</vt:lpstr>
      <vt:lpstr>FLNVWC+ËÎÌå</vt:lpstr>
      <vt:lpstr>FQUWNM+Symbol</vt:lpstr>
      <vt:lpstr>IOQAMC+ËÎÌå</vt:lpstr>
      <vt:lpstr>MPKDVP+ËÎÌå</vt:lpstr>
      <vt:lpstr>PEJORU+Symbol</vt:lpstr>
      <vt:lpstr>PKWMUD+ËÎÌå</vt:lpstr>
      <vt:lpstr>STLLMM+ËÎÌå</vt:lpstr>
      <vt:lpstr>UNAWTJ+ËÎÌå</vt:lpstr>
      <vt:lpstr>等线</vt:lpstr>
      <vt:lpstr>等线 Light</vt:lpstr>
      <vt:lpstr>黑体</vt:lpstr>
      <vt:lpstr>宋体</vt:lpstr>
      <vt:lpstr>Arial</vt:lpstr>
      <vt:lpstr>Calibri</vt:lpstr>
      <vt:lpstr>Calibri Light</vt:lpstr>
      <vt:lpstr>Cambria Math</vt:lpstr>
      <vt:lpstr>Symbol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卷积及其应用</vt:lpstr>
      <vt:lpstr>向量计算</vt:lpstr>
      <vt:lpstr>卷积的含义</vt:lpstr>
      <vt:lpstr>计算实例</vt:lpstr>
      <vt:lpstr>卷积与多项式乘法</vt:lpstr>
      <vt:lpstr>PowerPoint 演示文稿</vt:lpstr>
      <vt:lpstr>平滑处理</vt:lpstr>
      <vt:lpstr>实例</vt:lpstr>
      <vt:lpstr>ai = ai2b4 + ai1b3 + aib2 + ai+1b1 + ai+2b0</vt:lpstr>
      <vt:lpstr>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快速傅立叶变换: FFT算法</vt:lpstr>
      <vt:lpstr>多项式求值算法</vt:lpstr>
      <vt:lpstr>改进的求值算法</vt:lpstr>
      <vt:lpstr>偶系数与奇系数多项式</vt:lpstr>
      <vt:lpstr>分治多项式求值算法</vt:lpstr>
      <vt:lpstr>分治求值算法设计</vt:lpstr>
      <vt:lpstr>分治求值算法分析</vt:lpstr>
      <vt:lpstr>FFT算法伪码</vt:lpstr>
      <vt:lpstr>FFT算法分析</vt:lpstr>
      <vt:lpstr>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boo</dc:creator>
  <cp:lastModifiedBy>boo</cp:lastModifiedBy>
  <cp:revision>52</cp:revision>
  <dcterms:created xsi:type="dcterms:W3CDTF">2019-04-02T12:55:30Z</dcterms:created>
  <dcterms:modified xsi:type="dcterms:W3CDTF">2019-04-17T00:20:59Z</dcterms:modified>
</cp:coreProperties>
</file>