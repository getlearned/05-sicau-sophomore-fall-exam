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7" r:id="rId3"/>
    <p:sldId id="258" r:id="rId4"/>
    <p:sldId id="259" r:id="rId5"/>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31" r:id="rId70"/>
    <p:sldId id="333" r:id="rId71"/>
    <p:sldId id="335" r:id="rId72"/>
    <p:sldId id="336" r:id="rId73"/>
    <p:sldId id="323" r:id="rId74"/>
    <p:sldId id="324" r:id="rId75"/>
    <p:sldId id="325" r:id="rId76"/>
    <p:sldId id="326" r:id="rId77"/>
    <p:sldId id="327" r:id="rId78"/>
    <p:sldId id="328" r:id="rId79"/>
    <p:sldId id="329" r:id="rId80"/>
    <p:sldId id="330" r:id="rId8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varScale="1">
        <p:scale>
          <a:sx n="110" d="100"/>
          <a:sy n="110" d="100"/>
        </p:scale>
        <p:origin x="1132" y="52"/>
      </p:cViewPr>
      <p:guideLst>
        <p:guide orient="horz" pos="2160"/>
        <p:guide pos="287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4958F0-92BF-4BC0-B88C-C4DFF608323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196B44-3996-4644-988F-4769542CA5A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0E2C61F-14C0-4283-B832-78F48B15E28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9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30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2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3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4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5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6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7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8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9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0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1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2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3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4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5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6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7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8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9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0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51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52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53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54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55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56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57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p:spTree>
      <p:nvGrpSpPr>
        <p:cNvPr id="1" name=""/>
        <p:cNvGrpSpPr/>
        <p:nvPr/>
      </p:nvGrpSpPr>
      <p:grpSpPr>
        <a:xfrm>
          <a:off x="0" y="0"/>
          <a:ext cx="0" cy="0"/>
          <a:chOff x="0" y="0"/>
          <a:chExt cx="0" cy="0"/>
        </a:xfrm>
      </p:grpSpPr>
      <p:sp>
        <p:nvSpPr>
          <p:cNvPr id="4" name="Date 3"/>
          <p:cNvSpPr>
            <a:spLocks noGrp="1"/>
          </p:cNvSpPr>
          <p:nvPr>
            <p:ph type="dt" sz="half" idx="10"/>
          </p:nvPr>
        </p:nvSpPr>
        <p:spPr/>
        <p:txBody>
          <a:bodyPr/>
          <a:lstStyle/>
          <a:p>
            <a:fld id="{C16525B2-4347-4F72-BAF7-76B19438D329}" type="datetimeFigureOut">
              <a:rPr lang="en-US" smtClean="0"/>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8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E66F4F1E-4407-4186-83A4-CB342CF56C8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E5AFCD4-219A-4D01-ACD6-2E02CC0DDCCE}"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1_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50" b="1" i="0">
                <a:solidFill>
                  <a:srgbClr val="C00000"/>
                </a:solidFill>
                <a:latin typeface="宋体" panose="02010600030101010101" pitchFamily="2" charset="-122"/>
                <a:cs typeface="宋体" panose="02010600030101010101" pitchFamily="2" charset="-122"/>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defRPr sz="1275" b="1" i="0">
                <a:solidFill>
                  <a:srgbClr val="888888"/>
                </a:solidFill>
                <a:latin typeface="Arial" panose="020B0604020202020204"/>
                <a:cs typeface="Arial" panose="020B0604020202020204"/>
              </a:defRPr>
            </a:lvl1pPr>
          </a:lstStyle>
          <a:p>
            <a:pPr marL="27305">
              <a:lnSpc>
                <a:spcPts val="1515"/>
              </a:lnSpc>
            </a:pPr>
            <a:fld id="{81D60167-4931-47E6-BA6A-407CBD079E47}" type="slidenum">
              <a:rPr lang="en-US" altLang="zh-CN" spc="-5" smtClean="0"/>
            </a:fld>
            <a:endParaRPr lang="en-US" altLang="zh-CN" spc="-5"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7147FCC2-3A0E-491F-AE70-F2950C65A46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B693222-C051-4729-BF3E-DCFC29DC49CF}"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4" Type="http://schemas.openxmlformats.org/officeDocument/2006/relationships/theme" Target="../theme/theme1.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9"/>
          <p:cNvSpPr>
            <a:spLocks noChangeArrowheads="1"/>
          </p:cNvSpPr>
          <p:nvPr userDrawn="1"/>
        </p:nvSpPr>
        <p:spPr bwMode="gray">
          <a:xfrm>
            <a:off x="457200" y="0"/>
            <a:ext cx="8477250" cy="768350"/>
          </a:xfrm>
          <a:prstGeom prst="rect">
            <a:avLst/>
          </a:prstGeom>
          <a:gradFill rotWithShape="1">
            <a:gsLst>
              <a:gs pos="0">
                <a:schemeClr val="bg2">
                  <a:gamma/>
                  <a:tint val="0"/>
                  <a:invGamma/>
                </a:schemeClr>
              </a:gs>
              <a:gs pos="100000">
                <a:schemeClr val="bg2"/>
              </a:gs>
            </a:gsLst>
            <a:lin ang="0" scaled="1"/>
          </a:gradFill>
          <a:ln w="9525">
            <a:noFill/>
            <a:miter lim="800000"/>
          </a:ln>
          <a:effectLst/>
        </p:spPr>
        <p:txBody>
          <a:bodyPr wrap="none" anchor="ctr"/>
          <a:lstStyle/>
          <a:p>
            <a:pPr>
              <a:defRPr/>
            </a:pPr>
            <a:endParaRPr lang="zh-CN" altLang="en-US" sz="1350">
              <a:ea typeface="宋体" panose="02010600030101010101" pitchFamily="2" charset="-122"/>
            </a:endParaRPr>
          </a:p>
        </p:txBody>
      </p:sp>
      <p:sp>
        <p:nvSpPr>
          <p:cNvPr id="10" name="Rectangle 28"/>
          <p:cNvSpPr>
            <a:spLocks noChangeArrowheads="1"/>
          </p:cNvSpPr>
          <p:nvPr userDrawn="1"/>
        </p:nvSpPr>
        <p:spPr bwMode="gray">
          <a:xfrm>
            <a:off x="0" y="0"/>
            <a:ext cx="457200" cy="768350"/>
          </a:xfrm>
          <a:prstGeom prst="rect">
            <a:avLst/>
          </a:prstGeom>
          <a:solidFill>
            <a:schemeClr val="hlink"/>
          </a:solidFill>
          <a:ln w="9525">
            <a:noFill/>
            <a:miter lim="800000"/>
          </a:ln>
          <a:effectLst/>
        </p:spPr>
        <p:txBody>
          <a:bodyPr wrap="none" anchor="ctr"/>
          <a:lstStyle/>
          <a:p>
            <a:pPr algn="ctr">
              <a:defRPr/>
            </a:pPr>
            <a:endParaRPr lang="zh-CN" altLang="zh-CN" sz="1350">
              <a:ea typeface="宋体" panose="02010600030101010101" pitchFamily="2" charset="-122"/>
            </a:endParaRPr>
          </a:p>
        </p:txBody>
      </p:sp>
      <p:sp>
        <p:nvSpPr>
          <p:cNvPr id="11" name="Rectangle 30"/>
          <p:cNvSpPr>
            <a:spLocks noChangeArrowheads="1"/>
          </p:cNvSpPr>
          <p:nvPr userDrawn="1"/>
        </p:nvSpPr>
        <p:spPr bwMode="gray">
          <a:xfrm>
            <a:off x="0" y="762000"/>
            <a:ext cx="457200" cy="152400"/>
          </a:xfrm>
          <a:prstGeom prst="rect">
            <a:avLst/>
          </a:prstGeom>
          <a:solidFill>
            <a:schemeClr val="bg2"/>
          </a:solidFill>
          <a:ln w="9525">
            <a:noFill/>
            <a:miter lim="800000"/>
          </a:ln>
          <a:effectLst/>
        </p:spPr>
        <p:txBody>
          <a:bodyPr wrap="none" anchor="ctr"/>
          <a:lstStyle/>
          <a:p>
            <a:pPr algn="ctr">
              <a:defRPr/>
            </a:pPr>
            <a:endParaRPr lang="zh-CN" altLang="zh-CN" sz="1350">
              <a:ea typeface="宋体" panose="02010600030101010101" pitchFamily="2" charset="-122"/>
            </a:endParaRPr>
          </a:p>
        </p:txBody>
      </p:sp>
      <p:sp>
        <p:nvSpPr>
          <p:cNvPr id="12" name="Rectangle 32"/>
          <p:cNvSpPr>
            <a:spLocks noChangeArrowheads="1"/>
          </p:cNvSpPr>
          <p:nvPr userDrawn="1"/>
        </p:nvSpPr>
        <p:spPr bwMode="gray">
          <a:xfrm>
            <a:off x="0" y="914400"/>
            <a:ext cx="457200" cy="4191000"/>
          </a:xfrm>
          <a:prstGeom prst="rect">
            <a:avLst/>
          </a:prstGeom>
          <a:gradFill rotWithShape="1">
            <a:gsLst>
              <a:gs pos="0">
                <a:schemeClr val="bg2"/>
              </a:gs>
              <a:gs pos="100000">
                <a:schemeClr val="bg2">
                  <a:gamma/>
                  <a:tint val="42353"/>
                  <a:invGamma/>
                </a:schemeClr>
              </a:gs>
            </a:gsLst>
            <a:lin ang="5400000" scaled="1"/>
          </a:gradFill>
          <a:ln w="9525">
            <a:noFill/>
            <a:miter lim="800000"/>
          </a:ln>
          <a:effectLst/>
        </p:spPr>
        <p:txBody>
          <a:bodyPr wrap="none" anchor="ctr"/>
          <a:lstStyle/>
          <a:p>
            <a:pPr algn="ctr">
              <a:defRPr/>
            </a:pPr>
            <a:endParaRPr lang="zh-CN" altLang="zh-CN" sz="1350">
              <a:ea typeface="宋体" panose="02010600030101010101" pitchFamily="2" charset="-122"/>
            </a:endParaRPr>
          </a:p>
        </p:txBody>
      </p:sp>
      <p:sp>
        <p:nvSpPr>
          <p:cNvPr id="13" name="Rectangle 49"/>
          <p:cNvSpPr>
            <a:spLocks noChangeArrowheads="1"/>
          </p:cNvSpPr>
          <p:nvPr userDrawn="1"/>
        </p:nvSpPr>
        <p:spPr bwMode="gray">
          <a:xfrm>
            <a:off x="0" y="5105400"/>
            <a:ext cx="457200" cy="1383311"/>
          </a:xfrm>
          <a:prstGeom prst="rect">
            <a:avLst/>
          </a:prstGeom>
          <a:gradFill rotWithShape="1">
            <a:gsLst>
              <a:gs pos="0">
                <a:schemeClr val="accent2">
                  <a:gamma/>
                  <a:tint val="42353"/>
                  <a:invGamma/>
                </a:schemeClr>
              </a:gs>
              <a:gs pos="100000">
                <a:schemeClr val="accent2"/>
              </a:gs>
            </a:gsLst>
            <a:lin ang="5400000" scaled="1"/>
          </a:gradFill>
          <a:ln w="9525">
            <a:noFill/>
            <a:miter lim="800000"/>
          </a:ln>
          <a:effectLst/>
        </p:spPr>
        <p:txBody>
          <a:bodyPr wrap="none" anchor="ctr"/>
          <a:lstStyle/>
          <a:p>
            <a:pPr algn="ctr">
              <a:defRPr/>
            </a:pPr>
            <a:endParaRPr lang="zh-CN" altLang="zh-CN" sz="1350">
              <a:ea typeface="宋体" panose="02010600030101010101" pitchFamily="2" charset="-122"/>
            </a:endParaRPr>
          </a:p>
        </p:txBody>
      </p:sp>
      <p:sp>
        <p:nvSpPr>
          <p:cNvPr id="19" name="Rectangle 65"/>
          <p:cNvSpPr>
            <a:spLocks noChangeArrowheads="1"/>
          </p:cNvSpPr>
          <p:nvPr userDrawn="1"/>
        </p:nvSpPr>
        <p:spPr bwMode="gray">
          <a:xfrm>
            <a:off x="8763000" y="914400"/>
            <a:ext cx="381000" cy="5105400"/>
          </a:xfrm>
          <a:prstGeom prst="rect">
            <a:avLst/>
          </a:prstGeom>
          <a:gradFill rotWithShape="1">
            <a:gsLst>
              <a:gs pos="0">
                <a:schemeClr val="hlink"/>
              </a:gs>
              <a:gs pos="100000">
                <a:schemeClr val="hlink">
                  <a:gamma/>
                  <a:tint val="51373"/>
                  <a:invGamma/>
                </a:schemeClr>
              </a:gs>
            </a:gsLst>
            <a:lin ang="5400000" scaled="1"/>
          </a:gradFill>
          <a:ln w="9525">
            <a:noFill/>
            <a:miter lim="800000"/>
          </a:ln>
          <a:effectLst/>
        </p:spPr>
        <p:txBody>
          <a:bodyPr wrap="none" anchor="ctr"/>
          <a:lstStyle/>
          <a:p>
            <a:pPr>
              <a:defRPr/>
            </a:pPr>
            <a:endParaRPr lang="zh-CN" altLang="en-US" sz="1350">
              <a:ea typeface="宋体" panose="02010600030101010101" pitchFamily="2" charset="-122"/>
            </a:endParaRPr>
          </a:p>
        </p:txBody>
      </p:sp>
      <p:sp>
        <p:nvSpPr>
          <p:cNvPr id="20" name="Rectangle 66"/>
          <p:cNvSpPr>
            <a:spLocks noChangeArrowheads="1"/>
          </p:cNvSpPr>
          <p:nvPr userDrawn="1"/>
        </p:nvSpPr>
        <p:spPr bwMode="gray">
          <a:xfrm>
            <a:off x="8763000" y="762000"/>
            <a:ext cx="381000" cy="152400"/>
          </a:xfrm>
          <a:prstGeom prst="rect">
            <a:avLst/>
          </a:prstGeom>
          <a:solidFill>
            <a:schemeClr val="folHlink"/>
          </a:solidFill>
          <a:ln w="9525">
            <a:noFill/>
            <a:miter lim="800000"/>
          </a:ln>
          <a:effectLst/>
        </p:spPr>
        <p:txBody>
          <a:bodyPr wrap="none" anchor="ctr"/>
          <a:lstStyle/>
          <a:p>
            <a:pPr algn="ctr">
              <a:defRPr/>
            </a:pPr>
            <a:endParaRPr lang="zh-CN" altLang="zh-CN" sz="1350">
              <a:ea typeface="宋体" panose="02010600030101010101" pitchFamily="2" charset="-122"/>
            </a:endParaRPr>
          </a:p>
        </p:txBody>
      </p:sp>
      <p:sp>
        <p:nvSpPr>
          <p:cNvPr id="21" name="Rectangle 67"/>
          <p:cNvSpPr>
            <a:spLocks noChangeArrowheads="1"/>
          </p:cNvSpPr>
          <p:nvPr userDrawn="1"/>
        </p:nvSpPr>
        <p:spPr bwMode="gray">
          <a:xfrm>
            <a:off x="8770938" y="0"/>
            <a:ext cx="373062" cy="762000"/>
          </a:xfrm>
          <a:prstGeom prst="rect">
            <a:avLst/>
          </a:prstGeom>
          <a:gradFill rotWithShape="1">
            <a:gsLst>
              <a:gs pos="0">
                <a:schemeClr val="accent2"/>
              </a:gs>
              <a:gs pos="100000">
                <a:schemeClr val="accent2">
                  <a:gamma/>
                  <a:tint val="0"/>
                  <a:invGamma/>
                </a:schemeClr>
              </a:gs>
            </a:gsLst>
            <a:lin ang="5400000" scaled="1"/>
          </a:gradFill>
          <a:ln w="9525">
            <a:noFill/>
            <a:miter lim="800000"/>
          </a:ln>
          <a:effectLst/>
        </p:spPr>
        <p:txBody>
          <a:bodyPr wrap="none" anchor="ctr"/>
          <a:lstStyle/>
          <a:p>
            <a:pPr>
              <a:defRPr/>
            </a:pPr>
            <a:endParaRPr lang="zh-CN" altLang="en-US" sz="1350">
              <a:ea typeface="宋体" panose="02010600030101010101" pitchFamily="2" charset="-122"/>
            </a:endParaRPr>
          </a:p>
        </p:txBody>
      </p:sp>
      <p:sp>
        <p:nvSpPr>
          <p:cNvPr id="22" name="Rectangle 68"/>
          <p:cNvSpPr>
            <a:spLocks noChangeArrowheads="1"/>
          </p:cNvSpPr>
          <p:nvPr userDrawn="1"/>
        </p:nvSpPr>
        <p:spPr bwMode="gray">
          <a:xfrm>
            <a:off x="457201" y="762000"/>
            <a:ext cx="8315325" cy="152400"/>
          </a:xfrm>
          <a:prstGeom prst="rect">
            <a:avLst/>
          </a:prstGeom>
          <a:gradFill rotWithShape="1">
            <a:gsLst>
              <a:gs pos="0">
                <a:schemeClr val="accent1"/>
              </a:gs>
              <a:gs pos="100000">
                <a:schemeClr val="accent1">
                  <a:gamma/>
                  <a:tint val="33333"/>
                  <a:invGamma/>
                </a:schemeClr>
              </a:gs>
            </a:gsLst>
            <a:lin ang="0" scaled="1"/>
          </a:gradFill>
          <a:ln w="9525">
            <a:noFill/>
            <a:miter lim="800000"/>
          </a:ln>
          <a:effectLst/>
        </p:spPr>
        <p:txBody>
          <a:bodyPr wrap="none" anchor="ctr"/>
          <a:lstStyle/>
          <a:p>
            <a:pPr algn="ctr">
              <a:defRPr/>
            </a:pPr>
            <a:endParaRPr lang="zh-CN" altLang="zh-CN" sz="1350">
              <a:ea typeface="宋体" panose="02010600030101010101" pitchFamily="2" charset="-122"/>
            </a:endParaRPr>
          </a:p>
        </p:txBody>
      </p:sp>
      <p:grpSp>
        <p:nvGrpSpPr>
          <p:cNvPr id="24" name="Group 104"/>
          <p:cNvGrpSpPr/>
          <p:nvPr userDrawn="1"/>
        </p:nvGrpSpPr>
        <p:grpSpPr bwMode="auto">
          <a:xfrm>
            <a:off x="8002589" y="69850"/>
            <a:ext cx="657225" cy="636588"/>
            <a:chOff x="5041" y="44"/>
            <a:chExt cx="414" cy="401"/>
          </a:xfrm>
        </p:grpSpPr>
        <p:sp>
          <p:nvSpPr>
            <p:cNvPr id="25" name="Oval 105"/>
            <p:cNvSpPr>
              <a:spLocks noChangeArrowheads="1"/>
            </p:cNvSpPr>
            <p:nvPr userDrawn="1"/>
          </p:nvSpPr>
          <p:spPr bwMode="gray">
            <a:xfrm rot="149948">
              <a:off x="5161" y="161"/>
              <a:ext cx="175" cy="170"/>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grpSp>
          <p:nvGrpSpPr>
            <p:cNvPr id="26" name="Group 106"/>
            <p:cNvGrpSpPr/>
            <p:nvPr userDrawn="1"/>
          </p:nvGrpSpPr>
          <p:grpSpPr bwMode="auto">
            <a:xfrm rot="334874">
              <a:off x="5321" y="313"/>
              <a:ext cx="98" cy="75"/>
              <a:chOff x="3452" y="878"/>
              <a:chExt cx="402" cy="342"/>
            </a:xfrm>
          </p:grpSpPr>
          <p:sp>
            <p:nvSpPr>
              <p:cNvPr id="55" name="Oval 107"/>
              <p:cNvSpPr>
                <a:spLocks noChangeArrowheads="1"/>
              </p:cNvSpPr>
              <p:nvPr userDrawn="1"/>
            </p:nvSpPr>
            <p:spPr bwMode="gray">
              <a:xfrm>
                <a:off x="3640" y="1024"/>
                <a:ext cx="111" cy="128"/>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sp>
            <p:nvSpPr>
              <p:cNvPr id="56" name="Oval 108"/>
              <p:cNvSpPr>
                <a:spLocks noChangeArrowheads="1"/>
              </p:cNvSpPr>
              <p:nvPr userDrawn="1"/>
            </p:nvSpPr>
            <p:spPr bwMode="gray">
              <a:xfrm>
                <a:off x="3762" y="1122"/>
                <a:ext cx="90" cy="87"/>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sp>
            <p:nvSpPr>
              <p:cNvPr id="57" name="Oval 109"/>
              <p:cNvSpPr>
                <a:spLocks noChangeArrowheads="1"/>
              </p:cNvSpPr>
              <p:nvPr userDrawn="1"/>
            </p:nvSpPr>
            <p:spPr bwMode="gray">
              <a:xfrm>
                <a:off x="3427" y="874"/>
                <a:ext cx="180" cy="178"/>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grpSp>
        <p:grpSp>
          <p:nvGrpSpPr>
            <p:cNvPr id="27" name="Group 110"/>
            <p:cNvGrpSpPr/>
            <p:nvPr userDrawn="1"/>
          </p:nvGrpSpPr>
          <p:grpSpPr bwMode="auto">
            <a:xfrm rot="-2104554">
              <a:off x="5358" y="218"/>
              <a:ext cx="97" cy="75"/>
              <a:chOff x="3452" y="878"/>
              <a:chExt cx="402" cy="342"/>
            </a:xfrm>
          </p:grpSpPr>
          <p:sp>
            <p:nvSpPr>
              <p:cNvPr id="52" name="Oval 111"/>
              <p:cNvSpPr>
                <a:spLocks noChangeArrowheads="1"/>
              </p:cNvSpPr>
              <p:nvPr userDrawn="1"/>
            </p:nvSpPr>
            <p:spPr bwMode="gray">
              <a:xfrm>
                <a:off x="3630" y="997"/>
                <a:ext cx="112" cy="128"/>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sp>
            <p:nvSpPr>
              <p:cNvPr id="53" name="Oval 112"/>
              <p:cNvSpPr>
                <a:spLocks noChangeArrowheads="1"/>
              </p:cNvSpPr>
              <p:nvPr userDrawn="1"/>
            </p:nvSpPr>
            <p:spPr bwMode="gray">
              <a:xfrm>
                <a:off x="3761" y="1124"/>
                <a:ext cx="91" cy="91"/>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sp>
            <p:nvSpPr>
              <p:cNvPr id="54" name="Oval 113"/>
              <p:cNvSpPr>
                <a:spLocks noChangeArrowheads="1"/>
              </p:cNvSpPr>
              <p:nvPr userDrawn="1"/>
            </p:nvSpPr>
            <p:spPr bwMode="gray">
              <a:xfrm>
                <a:off x="3446" y="857"/>
                <a:ext cx="174" cy="182"/>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grpSp>
        <p:grpSp>
          <p:nvGrpSpPr>
            <p:cNvPr id="28" name="Group 114"/>
            <p:cNvGrpSpPr/>
            <p:nvPr userDrawn="1"/>
          </p:nvGrpSpPr>
          <p:grpSpPr bwMode="auto">
            <a:xfrm rot="-4646600">
              <a:off x="5335" y="107"/>
              <a:ext cx="88" cy="82"/>
              <a:chOff x="3452" y="878"/>
              <a:chExt cx="402" cy="342"/>
            </a:xfrm>
          </p:grpSpPr>
          <p:sp>
            <p:nvSpPr>
              <p:cNvPr id="49" name="Oval 115"/>
              <p:cNvSpPr>
                <a:spLocks noChangeArrowheads="1"/>
              </p:cNvSpPr>
              <p:nvPr userDrawn="1"/>
            </p:nvSpPr>
            <p:spPr bwMode="gray">
              <a:xfrm>
                <a:off x="3656" y="1009"/>
                <a:ext cx="110" cy="129"/>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sp>
            <p:nvSpPr>
              <p:cNvPr id="50" name="Oval 116"/>
              <p:cNvSpPr>
                <a:spLocks noChangeArrowheads="1"/>
              </p:cNvSpPr>
              <p:nvPr userDrawn="1"/>
            </p:nvSpPr>
            <p:spPr bwMode="gray">
              <a:xfrm>
                <a:off x="3768" y="1107"/>
                <a:ext cx="91" cy="92"/>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sp>
            <p:nvSpPr>
              <p:cNvPr id="51" name="Oval 117"/>
              <p:cNvSpPr>
                <a:spLocks noChangeArrowheads="1"/>
              </p:cNvSpPr>
              <p:nvPr userDrawn="1"/>
            </p:nvSpPr>
            <p:spPr bwMode="gray">
              <a:xfrm>
                <a:off x="3453" y="877"/>
                <a:ext cx="183" cy="184"/>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grpSp>
        <p:grpSp>
          <p:nvGrpSpPr>
            <p:cNvPr id="29" name="Group 118"/>
            <p:cNvGrpSpPr/>
            <p:nvPr userDrawn="1"/>
          </p:nvGrpSpPr>
          <p:grpSpPr bwMode="auto">
            <a:xfrm rot="2913403">
              <a:off x="5210" y="359"/>
              <a:ext cx="88" cy="83"/>
              <a:chOff x="3452" y="878"/>
              <a:chExt cx="402" cy="342"/>
            </a:xfrm>
          </p:grpSpPr>
          <p:sp>
            <p:nvSpPr>
              <p:cNvPr id="46" name="Oval 119"/>
              <p:cNvSpPr>
                <a:spLocks noChangeArrowheads="1"/>
              </p:cNvSpPr>
              <p:nvPr userDrawn="1"/>
            </p:nvSpPr>
            <p:spPr bwMode="gray">
              <a:xfrm>
                <a:off x="3621" y="1033"/>
                <a:ext cx="110" cy="128"/>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sp>
            <p:nvSpPr>
              <p:cNvPr id="47" name="Oval 120"/>
              <p:cNvSpPr>
                <a:spLocks noChangeArrowheads="1"/>
              </p:cNvSpPr>
              <p:nvPr userDrawn="1"/>
            </p:nvSpPr>
            <p:spPr bwMode="gray">
              <a:xfrm>
                <a:off x="3763" y="1128"/>
                <a:ext cx="91" cy="91"/>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sp>
            <p:nvSpPr>
              <p:cNvPr id="48" name="Oval 121"/>
              <p:cNvSpPr>
                <a:spLocks noChangeArrowheads="1"/>
              </p:cNvSpPr>
              <p:nvPr userDrawn="1"/>
            </p:nvSpPr>
            <p:spPr bwMode="gray">
              <a:xfrm>
                <a:off x="3434" y="889"/>
                <a:ext cx="183" cy="177"/>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grpSp>
        <p:grpSp>
          <p:nvGrpSpPr>
            <p:cNvPr id="30" name="Group 122"/>
            <p:cNvGrpSpPr/>
            <p:nvPr userDrawn="1"/>
          </p:nvGrpSpPr>
          <p:grpSpPr bwMode="auto">
            <a:xfrm rot="-7888389">
              <a:off x="5212" y="46"/>
              <a:ext cx="88" cy="83"/>
              <a:chOff x="3452" y="878"/>
              <a:chExt cx="402" cy="342"/>
            </a:xfrm>
          </p:grpSpPr>
          <p:sp>
            <p:nvSpPr>
              <p:cNvPr id="43" name="Oval 123"/>
              <p:cNvSpPr>
                <a:spLocks noChangeArrowheads="1"/>
              </p:cNvSpPr>
              <p:nvPr userDrawn="1"/>
            </p:nvSpPr>
            <p:spPr bwMode="gray">
              <a:xfrm>
                <a:off x="3641" y="1021"/>
                <a:ext cx="110" cy="124"/>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sp>
            <p:nvSpPr>
              <p:cNvPr id="44" name="Oval 124"/>
              <p:cNvSpPr>
                <a:spLocks noChangeArrowheads="1"/>
              </p:cNvSpPr>
              <p:nvPr userDrawn="1"/>
            </p:nvSpPr>
            <p:spPr bwMode="gray">
              <a:xfrm>
                <a:off x="3769" y="1116"/>
                <a:ext cx="91" cy="91"/>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sp>
            <p:nvSpPr>
              <p:cNvPr id="45" name="Oval 125"/>
              <p:cNvSpPr>
                <a:spLocks noChangeArrowheads="1"/>
              </p:cNvSpPr>
              <p:nvPr userDrawn="1"/>
            </p:nvSpPr>
            <p:spPr bwMode="gray">
              <a:xfrm>
                <a:off x="3471" y="863"/>
                <a:ext cx="183" cy="177"/>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grpSp>
        <p:grpSp>
          <p:nvGrpSpPr>
            <p:cNvPr id="31" name="Group 126"/>
            <p:cNvGrpSpPr/>
            <p:nvPr userDrawn="1"/>
          </p:nvGrpSpPr>
          <p:grpSpPr bwMode="auto">
            <a:xfrm rot="-10069553">
              <a:off x="5089" y="95"/>
              <a:ext cx="97" cy="76"/>
              <a:chOff x="3452" y="878"/>
              <a:chExt cx="402" cy="342"/>
            </a:xfrm>
          </p:grpSpPr>
          <p:sp>
            <p:nvSpPr>
              <p:cNvPr id="40" name="Oval 127"/>
              <p:cNvSpPr>
                <a:spLocks noChangeArrowheads="1"/>
              </p:cNvSpPr>
              <p:nvPr userDrawn="1"/>
            </p:nvSpPr>
            <p:spPr bwMode="gray">
              <a:xfrm>
                <a:off x="3639" y="1027"/>
                <a:ext cx="112" cy="126"/>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sp>
            <p:nvSpPr>
              <p:cNvPr id="41" name="Oval 128"/>
              <p:cNvSpPr>
                <a:spLocks noChangeArrowheads="1"/>
              </p:cNvSpPr>
              <p:nvPr userDrawn="1"/>
            </p:nvSpPr>
            <p:spPr bwMode="gray">
              <a:xfrm>
                <a:off x="3748" y="1146"/>
                <a:ext cx="91" cy="90"/>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sp>
            <p:nvSpPr>
              <p:cNvPr id="42" name="Oval 129"/>
              <p:cNvSpPr>
                <a:spLocks noChangeArrowheads="1"/>
              </p:cNvSpPr>
              <p:nvPr userDrawn="1"/>
            </p:nvSpPr>
            <p:spPr bwMode="gray">
              <a:xfrm>
                <a:off x="3451" y="879"/>
                <a:ext cx="182" cy="180"/>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grpSp>
        <p:grpSp>
          <p:nvGrpSpPr>
            <p:cNvPr id="32" name="Group 130"/>
            <p:cNvGrpSpPr/>
            <p:nvPr userDrawn="1"/>
          </p:nvGrpSpPr>
          <p:grpSpPr bwMode="auto">
            <a:xfrm rot="8885358">
              <a:off x="5041" y="204"/>
              <a:ext cx="97" cy="75"/>
              <a:chOff x="3452" y="878"/>
              <a:chExt cx="402" cy="342"/>
            </a:xfrm>
          </p:grpSpPr>
          <p:sp>
            <p:nvSpPr>
              <p:cNvPr id="37" name="Oval 131"/>
              <p:cNvSpPr>
                <a:spLocks noChangeArrowheads="1"/>
              </p:cNvSpPr>
              <p:nvPr userDrawn="1"/>
            </p:nvSpPr>
            <p:spPr bwMode="gray">
              <a:xfrm>
                <a:off x="3640" y="1022"/>
                <a:ext cx="112" cy="128"/>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sp>
            <p:nvSpPr>
              <p:cNvPr id="38" name="Oval 132"/>
              <p:cNvSpPr>
                <a:spLocks noChangeArrowheads="1"/>
              </p:cNvSpPr>
              <p:nvPr userDrawn="1"/>
            </p:nvSpPr>
            <p:spPr bwMode="gray">
              <a:xfrm>
                <a:off x="3744" y="1131"/>
                <a:ext cx="91" cy="87"/>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sp>
            <p:nvSpPr>
              <p:cNvPr id="39" name="Oval 133"/>
              <p:cNvSpPr>
                <a:spLocks noChangeArrowheads="1"/>
              </p:cNvSpPr>
              <p:nvPr userDrawn="1"/>
            </p:nvSpPr>
            <p:spPr bwMode="gray">
              <a:xfrm>
                <a:off x="3451" y="874"/>
                <a:ext cx="182" cy="182"/>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grpSp>
        <p:grpSp>
          <p:nvGrpSpPr>
            <p:cNvPr id="33" name="Group 134"/>
            <p:cNvGrpSpPr/>
            <p:nvPr userDrawn="1"/>
          </p:nvGrpSpPr>
          <p:grpSpPr bwMode="auto">
            <a:xfrm rot="6558351">
              <a:off x="5085" y="304"/>
              <a:ext cx="88" cy="82"/>
              <a:chOff x="3452" y="878"/>
              <a:chExt cx="402" cy="342"/>
            </a:xfrm>
          </p:grpSpPr>
          <p:sp>
            <p:nvSpPr>
              <p:cNvPr id="34" name="Oval 135"/>
              <p:cNvSpPr>
                <a:spLocks noChangeArrowheads="1"/>
              </p:cNvSpPr>
              <p:nvPr userDrawn="1"/>
            </p:nvSpPr>
            <p:spPr bwMode="gray">
              <a:xfrm>
                <a:off x="3639" y="1066"/>
                <a:ext cx="110" cy="129"/>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sp>
            <p:nvSpPr>
              <p:cNvPr id="35" name="Oval 136"/>
              <p:cNvSpPr>
                <a:spLocks noChangeArrowheads="1"/>
              </p:cNvSpPr>
              <p:nvPr userDrawn="1"/>
            </p:nvSpPr>
            <p:spPr bwMode="gray">
              <a:xfrm>
                <a:off x="3763" y="1130"/>
                <a:ext cx="91" cy="92"/>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sp>
            <p:nvSpPr>
              <p:cNvPr id="36" name="Oval 137"/>
              <p:cNvSpPr>
                <a:spLocks noChangeArrowheads="1"/>
              </p:cNvSpPr>
              <p:nvPr userDrawn="1"/>
            </p:nvSpPr>
            <p:spPr bwMode="gray">
              <a:xfrm>
                <a:off x="3444" y="901"/>
                <a:ext cx="187" cy="184"/>
              </a:xfrm>
              <a:prstGeom prst="ellipse">
                <a:avLst/>
              </a:prstGeom>
              <a:gradFill rotWithShape="1">
                <a:gsLst>
                  <a:gs pos="0">
                    <a:schemeClr val="bg2">
                      <a:gamma/>
                      <a:tint val="0"/>
                      <a:invGamma/>
                    </a:schemeClr>
                  </a:gs>
                  <a:gs pos="100000">
                    <a:schemeClr val="bg2"/>
                  </a:gs>
                </a:gsLst>
                <a:path path="shape">
                  <a:fillToRect l="50000" t="50000" r="50000" b="50000"/>
                </a:path>
              </a:gradFill>
              <a:ln w="0" algn="ctr">
                <a:noFill/>
                <a:round/>
              </a:ln>
              <a:effectLst/>
            </p:spPr>
            <p:txBody>
              <a:bodyPr wrap="none" anchor="ctr"/>
              <a:lstStyle/>
              <a:p>
                <a:pPr>
                  <a:defRPr/>
                </a:pPr>
                <a:endParaRPr lang="zh-CN" altLang="en-US" sz="1350">
                  <a:ea typeface="宋体" panose="02010600030101010101" pitchFamily="2" charset="-122"/>
                </a:endParaRPr>
              </a:p>
            </p:txBody>
          </p:sp>
        </p:grpSp>
      </p:grpSp>
      <p:sp>
        <p:nvSpPr>
          <p:cNvPr id="58" name="Line 151"/>
          <p:cNvSpPr>
            <a:spLocks noChangeShapeType="1"/>
          </p:cNvSpPr>
          <p:nvPr userDrawn="1"/>
        </p:nvSpPr>
        <p:spPr bwMode="auto">
          <a:xfrm>
            <a:off x="0" y="762000"/>
            <a:ext cx="9144000" cy="0"/>
          </a:xfrm>
          <a:prstGeom prst="line">
            <a:avLst/>
          </a:prstGeom>
          <a:noFill/>
          <a:ln w="9525">
            <a:solidFill>
              <a:schemeClr val="tx2"/>
            </a:solidFill>
            <a:round/>
          </a:ln>
          <a:effectLst/>
        </p:spPr>
        <p:txBody>
          <a:bodyPr/>
          <a:lstStyle/>
          <a:p>
            <a:pPr>
              <a:defRPr/>
            </a:pPr>
            <a:endParaRPr lang="zh-CN" altLang="en-US" sz="1350"/>
          </a:p>
        </p:txBody>
      </p:sp>
      <p:sp>
        <p:nvSpPr>
          <p:cNvPr id="59" name="Line 152"/>
          <p:cNvSpPr>
            <a:spLocks noChangeShapeType="1"/>
          </p:cNvSpPr>
          <p:nvPr userDrawn="1"/>
        </p:nvSpPr>
        <p:spPr bwMode="auto">
          <a:xfrm>
            <a:off x="0" y="914400"/>
            <a:ext cx="9144000" cy="0"/>
          </a:xfrm>
          <a:prstGeom prst="line">
            <a:avLst/>
          </a:prstGeom>
          <a:noFill/>
          <a:ln w="9525">
            <a:solidFill>
              <a:schemeClr val="tx1"/>
            </a:solidFill>
            <a:round/>
          </a:ln>
          <a:effectLst/>
        </p:spPr>
        <p:txBody>
          <a:bodyPr/>
          <a:lstStyle/>
          <a:p>
            <a:pPr>
              <a:defRPr/>
            </a:pPr>
            <a:endParaRPr lang="zh-CN" altLang="en-US" sz="1350"/>
          </a:p>
        </p:txBody>
      </p:sp>
      <p:sp>
        <p:nvSpPr>
          <p:cNvPr id="61" name="Line 154"/>
          <p:cNvSpPr>
            <a:spLocks noChangeShapeType="1"/>
          </p:cNvSpPr>
          <p:nvPr userDrawn="1"/>
        </p:nvSpPr>
        <p:spPr bwMode="auto">
          <a:xfrm>
            <a:off x="457200" y="0"/>
            <a:ext cx="0" cy="6858000"/>
          </a:xfrm>
          <a:prstGeom prst="line">
            <a:avLst/>
          </a:prstGeom>
          <a:noFill/>
          <a:ln w="9525">
            <a:solidFill>
              <a:schemeClr val="tx1"/>
            </a:solidFill>
            <a:round/>
          </a:ln>
          <a:effectLst/>
        </p:spPr>
        <p:txBody>
          <a:bodyPr/>
          <a:lstStyle/>
          <a:p>
            <a:pPr>
              <a:defRPr/>
            </a:pPr>
            <a:endParaRPr lang="zh-CN" altLang="en-US" sz="1350"/>
          </a:p>
        </p:txBody>
      </p:sp>
      <p:sp>
        <p:nvSpPr>
          <p:cNvPr id="62" name="Line 155"/>
          <p:cNvSpPr>
            <a:spLocks noChangeShapeType="1"/>
          </p:cNvSpPr>
          <p:nvPr userDrawn="1"/>
        </p:nvSpPr>
        <p:spPr bwMode="auto">
          <a:xfrm>
            <a:off x="8763000" y="0"/>
            <a:ext cx="0" cy="6858000"/>
          </a:xfrm>
          <a:prstGeom prst="line">
            <a:avLst/>
          </a:prstGeom>
          <a:noFill/>
          <a:ln w="9525">
            <a:solidFill>
              <a:schemeClr val="tx1"/>
            </a:solidFill>
            <a:round/>
          </a:ln>
          <a:effectLst/>
        </p:spPr>
        <p:txBody>
          <a:bodyPr/>
          <a:lstStyle/>
          <a:p>
            <a:pPr>
              <a:defRPr/>
            </a:pPr>
            <a:endParaRPr lang="zh-CN" altLang="en-US" sz="1350"/>
          </a:p>
        </p:txBody>
      </p:sp>
      <p:sp>
        <p:nvSpPr>
          <p:cNvPr id="63" name="Line 157"/>
          <p:cNvSpPr>
            <a:spLocks noChangeShapeType="1"/>
          </p:cNvSpPr>
          <p:nvPr userDrawn="1"/>
        </p:nvSpPr>
        <p:spPr bwMode="auto">
          <a:xfrm flipH="1">
            <a:off x="0" y="5105400"/>
            <a:ext cx="457200" cy="0"/>
          </a:xfrm>
          <a:prstGeom prst="line">
            <a:avLst/>
          </a:prstGeom>
          <a:noFill/>
          <a:ln w="9525">
            <a:solidFill>
              <a:schemeClr val="tx1"/>
            </a:solidFill>
            <a:round/>
          </a:ln>
          <a:effectLst/>
        </p:spPr>
        <p:txBody>
          <a:bodyPr/>
          <a:lstStyle/>
          <a:p>
            <a:pPr>
              <a:defRPr/>
            </a:pPr>
            <a:endParaRPr lang="zh-CN" altLang="en-US" sz="1350"/>
          </a:p>
        </p:txBody>
      </p:sp>
      <p:sp>
        <p:nvSpPr>
          <p:cNvPr id="66" name="Rectangle 60"/>
          <p:cNvSpPr>
            <a:spLocks noChangeArrowheads="1"/>
          </p:cNvSpPr>
          <p:nvPr userDrawn="1"/>
        </p:nvSpPr>
        <p:spPr bwMode="gray">
          <a:xfrm>
            <a:off x="457669" y="6475213"/>
            <a:ext cx="8686801" cy="383745"/>
          </a:xfrm>
          <a:prstGeom prst="rect">
            <a:avLst/>
          </a:prstGeom>
          <a:gradFill rotWithShape="1">
            <a:gsLst>
              <a:gs pos="0">
                <a:schemeClr val="folHlink">
                  <a:gamma/>
                  <a:tint val="54510"/>
                  <a:invGamma/>
                </a:schemeClr>
              </a:gs>
              <a:gs pos="100000">
                <a:schemeClr val="folHlink"/>
              </a:gs>
            </a:gsLst>
            <a:lin ang="0" scaled="1"/>
          </a:gradFill>
          <a:ln w="9525">
            <a:noFill/>
            <a:miter lim="800000"/>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a:ea typeface="宋体" panose="02010600030101010101" pitchFamily="2" charset="-122"/>
            </a:endParaRPr>
          </a:p>
        </p:txBody>
      </p:sp>
      <p:sp>
        <p:nvSpPr>
          <p:cNvPr id="67" name="矩形 66"/>
          <p:cNvSpPr/>
          <p:nvPr userDrawn="1"/>
        </p:nvSpPr>
        <p:spPr>
          <a:xfrm>
            <a:off x="353300" y="6387619"/>
            <a:ext cx="2646879"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3200" b="1" cap="none" spc="0" dirty="0">
                <a:solidFill>
                  <a:schemeClr val="accent4"/>
                </a:solidFill>
                <a:effectLst/>
                <a:latin typeface="华文行楷" panose="02010800040101010101" pitchFamily="2" charset="-122"/>
                <a:ea typeface="华文行楷" panose="02010800040101010101" pitchFamily="2" charset="-122"/>
              </a:rPr>
              <a:t>四川农业大学</a:t>
            </a:r>
            <a:endParaRPr lang="zh-CN" altLang="en-US" sz="3200" b="1" cap="none" spc="0" dirty="0">
              <a:solidFill>
                <a:schemeClr val="accent4"/>
              </a:solidFill>
              <a:effectLst/>
              <a:latin typeface="华文行楷" panose="02010800040101010101" pitchFamily="2" charset="-122"/>
              <a:ea typeface="华文行楷" panose="02010800040101010101" pitchFamily="2" charset="-122"/>
            </a:endParaRPr>
          </a:p>
        </p:txBody>
      </p:sp>
      <p:sp>
        <p:nvSpPr>
          <p:cNvPr id="68" name="Rectangle 61"/>
          <p:cNvSpPr>
            <a:spLocks noChangeArrowheads="1"/>
          </p:cNvSpPr>
          <p:nvPr userDrawn="1"/>
        </p:nvSpPr>
        <p:spPr bwMode="gray">
          <a:xfrm>
            <a:off x="8769028" y="6488711"/>
            <a:ext cx="391714" cy="392803"/>
          </a:xfrm>
          <a:prstGeom prst="rect">
            <a:avLst/>
          </a:prstGeom>
          <a:gradFill rotWithShape="1">
            <a:gsLst>
              <a:gs pos="0">
                <a:schemeClr val="bg1"/>
              </a:gs>
              <a:gs pos="100000">
                <a:schemeClr val="bg1">
                  <a:gamma/>
                  <a:shade val="84706"/>
                  <a:invGamma/>
                </a:schemeClr>
              </a:gs>
            </a:gsLst>
            <a:lin ang="5400000" scaled="1"/>
          </a:gradFill>
          <a:ln w="9525">
            <a:noFill/>
            <a:miter lim="800000"/>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a:ea typeface="宋体" panose="02010600030101010101" pitchFamily="2" charset="-122"/>
            </a:endParaRPr>
          </a:p>
        </p:txBody>
      </p:sp>
      <p:sp>
        <p:nvSpPr>
          <p:cNvPr id="69" name="Line 153"/>
          <p:cNvSpPr>
            <a:spLocks noChangeShapeType="1"/>
          </p:cNvSpPr>
          <p:nvPr userDrawn="1"/>
        </p:nvSpPr>
        <p:spPr bwMode="auto">
          <a:xfrm>
            <a:off x="470" y="6475214"/>
            <a:ext cx="9144000" cy="0"/>
          </a:xfrm>
          <a:prstGeom prst="line">
            <a:avLst/>
          </a:prstGeom>
          <a:noFill/>
          <a:ln w="9525">
            <a:solidFill>
              <a:schemeClr val="tx1"/>
            </a:solidFill>
            <a:roun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a:p>
        </p:txBody>
      </p:sp>
      <p:sp>
        <p:nvSpPr>
          <p:cNvPr id="71" name="Text Box 1027"/>
          <p:cNvSpPr txBox="1">
            <a:spLocks noChangeArrowheads="1"/>
          </p:cNvSpPr>
          <p:nvPr userDrawn="1"/>
        </p:nvSpPr>
        <p:spPr bwMode="auto">
          <a:xfrm>
            <a:off x="5607072" y="6468504"/>
            <a:ext cx="3097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50000"/>
              </a:spcBef>
            </a:pPr>
            <a:r>
              <a:rPr lang="en-US" altLang="zh-CN" sz="2000" dirty="0">
                <a:solidFill>
                  <a:srgbClr val="990000"/>
                </a:solidFill>
                <a:latin typeface="Monotype Corsiva" panose="03010101010201010101" pitchFamily="66" charset="0"/>
                <a:ea typeface="楷体_GB2312" panose="02010609030101010101" pitchFamily="49" charset="-122"/>
              </a:rPr>
              <a:t>© </a:t>
            </a:r>
            <a:r>
              <a:rPr lang="en-US" altLang="zh-CN" b="1" dirty="0">
                <a:solidFill>
                  <a:srgbClr val="990000"/>
                </a:solidFill>
                <a:latin typeface="Monotype Corsiva" panose="03010101010201010101" pitchFamily="66" charset="0"/>
                <a:ea typeface="楷体_GB2312" panose="02010609030101010101" pitchFamily="49" charset="-122"/>
              </a:rPr>
              <a:t>Copyright by </a:t>
            </a:r>
            <a:r>
              <a:rPr lang="en-US" altLang="zh-CN" b="1" dirty="0" err="1">
                <a:solidFill>
                  <a:srgbClr val="990000"/>
                </a:solidFill>
                <a:latin typeface="Monotype Corsiva" panose="03010101010201010101" pitchFamily="66" charset="0"/>
                <a:ea typeface="楷体_GB2312" panose="02010609030101010101" pitchFamily="49" charset="-122"/>
              </a:rPr>
              <a:t>Zhiyong</a:t>
            </a:r>
            <a:r>
              <a:rPr lang="en-US" altLang="zh-CN" b="1" dirty="0">
                <a:solidFill>
                  <a:srgbClr val="990000"/>
                </a:solidFill>
                <a:latin typeface="Monotype Corsiva" panose="03010101010201010101" pitchFamily="66" charset="0"/>
                <a:ea typeface="楷体_GB2312" panose="02010609030101010101" pitchFamily="49" charset="-122"/>
              </a:rPr>
              <a:t> Li</a:t>
            </a:r>
            <a:endParaRPr lang="en-US" altLang="zh-CN" b="1" dirty="0">
              <a:solidFill>
                <a:srgbClr val="990000"/>
              </a:solidFill>
              <a:latin typeface="Monotype Corsiva" panose="03010101010201010101" pitchFamily="66" charset="0"/>
              <a:ea typeface="楷体_GB2312" panose="02010609030101010101" pitchFamily="49" charset="-122"/>
            </a:endParaRPr>
          </a:p>
        </p:txBody>
      </p:sp>
      <p:sp>
        <p:nvSpPr>
          <p:cNvPr id="72" name="文本框 8"/>
          <p:cNvSpPr txBox="1"/>
          <p:nvPr userDrawn="1"/>
        </p:nvSpPr>
        <p:spPr>
          <a:xfrm>
            <a:off x="2790628" y="6502832"/>
            <a:ext cx="237490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rgbClr val="00B050"/>
                </a:solidFill>
                <a:latin typeface="华文行楷" panose="02010800040101010101" pitchFamily="2" charset="-122"/>
                <a:ea typeface="华文行楷" panose="02010800040101010101" pitchFamily="2" charset="-122"/>
              </a:rPr>
              <a:t>信息工程学院</a:t>
            </a:r>
            <a:endParaRPr lang="zh-CN" altLang="en-US" sz="2000" b="1" dirty="0">
              <a:solidFill>
                <a:srgbClr val="00B050"/>
              </a:solidFill>
              <a:latin typeface="华文行楷" panose="02010800040101010101" pitchFamily="2" charset="-122"/>
              <a:ea typeface="华文行楷" panose="02010800040101010101" pitchFamily="2" charset="-122"/>
            </a:endParaRPr>
          </a:p>
        </p:txBody>
      </p:sp>
      <p:sp>
        <p:nvSpPr>
          <p:cNvPr id="18" name="Rectangle 63"/>
          <p:cNvSpPr>
            <a:spLocks noChangeArrowheads="1"/>
          </p:cNvSpPr>
          <p:nvPr userDrawn="1"/>
        </p:nvSpPr>
        <p:spPr bwMode="gray">
          <a:xfrm>
            <a:off x="8769351" y="5205846"/>
            <a:ext cx="374649" cy="1255872"/>
          </a:xfrm>
          <a:prstGeom prst="rect">
            <a:avLst/>
          </a:prstGeom>
          <a:solidFill>
            <a:schemeClr val="bg2"/>
          </a:solidFill>
          <a:ln w="9525">
            <a:noFill/>
            <a:miter lim="800000"/>
          </a:ln>
          <a:effectLst/>
        </p:spPr>
        <p:txBody>
          <a:bodyPr wrap="none" anchor="ctr"/>
          <a:lstStyle/>
          <a:p>
            <a:pPr>
              <a:defRPr/>
            </a:pPr>
            <a:endParaRPr lang="zh-CN" altLang="en-US" sz="1350">
              <a:ea typeface="宋体" panose="02010600030101010101" pitchFamily="2" charset="-122"/>
            </a:endParaRPr>
          </a:p>
        </p:txBody>
      </p:sp>
      <p:sp>
        <p:nvSpPr>
          <p:cNvPr id="73" name="Line 157"/>
          <p:cNvSpPr>
            <a:spLocks noChangeShapeType="1"/>
          </p:cNvSpPr>
          <p:nvPr userDrawn="1"/>
        </p:nvSpPr>
        <p:spPr bwMode="auto">
          <a:xfrm flipH="1">
            <a:off x="8754341" y="5205846"/>
            <a:ext cx="400050" cy="0"/>
          </a:xfrm>
          <a:prstGeom prst="line">
            <a:avLst/>
          </a:prstGeom>
          <a:noFill/>
          <a:ln w="9525">
            <a:solidFill>
              <a:schemeClr val="tx1"/>
            </a:solidFill>
            <a:round/>
          </a:ln>
          <a:effectLst/>
        </p:spPr>
        <p:txBody>
          <a:bodyPr/>
          <a:lstStyle/>
          <a:p>
            <a:pPr>
              <a:defRPr/>
            </a:pP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6.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6.png"/><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8.pn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7.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image" Target="../media/image19.png"/><Relationship Id="rId1"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image" Target="../media/image6.png"/><Relationship Id="rId1"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image" Target="../media/image6.png"/><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image" Target="../media/image21.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image" Target="../media/image24.png"/><Relationship Id="rId1"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30.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0.png"/><Relationship Id="rId1" Type="http://schemas.openxmlformats.org/officeDocument/2006/relationships/image" Target="../media/image29.pn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3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33.xml"/><Relationship Id="rId1" Type="http://schemas.openxmlformats.org/officeDocument/2006/relationships/image" Target="../media/image3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7.png"/><Relationship Id="rId1" Type="http://schemas.openxmlformats.org/officeDocument/2006/relationships/image" Target="../media/image36.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9.png"/><Relationship Id="rId1" Type="http://schemas.openxmlformats.org/officeDocument/2006/relationships/image" Target="../media/image3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1.png"/><Relationship Id="rId1" Type="http://schemas.openxmlformats.org/officeDocument/2006/relationships/image" Target="../media/image4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4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5" Type="http://schemas.openxmlformats.org/officeDocument/2006/relationships/slideLayout" Target="../slideLayouts/slideLayout17.xml"/><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2713038"/>
            <a:ext cx="9144000" cy="1030287"/>
          </a:xfrm>
          <a:prstGeom prst="rect">
            <a:avLst/>
          </a:prstGeom>
        </p:spPr>
        <p:txBody>
          <a:bodyPr vert="horz" wrap="square" lIns="0" tIns="13500" rIns="0" bIns="0" rtlCol="0" anchor="ctr">
            <a:spAutoFit/>
          </a:bodyPr>
          <a:lstStyle/>
          <a:p>
            <a:pPr marL="13335" algn="ctr">
              <a:lnSpc>
                <a:spcPct val="100000"/>
              </a:lnSpc>
              <a:spcBef>
                <a:spcPts val="105"/>
              </a:spcBef>
            </a:pPr>
            <a:r>
              <a:rPr sz="6600" b="1" spc="-27" dirty="0">
                <a:solidFill>
                  <a:srgbClr val="C00000"/>
                </a:solidFill>
                <a:latin typeface="黑体" panose="02010609060101010101" pitchFamily="49" charset="-122"/>
                <a:ea typeface="黑体" panose="02010609060101010101" pitchFamily="49" charset="-122"/>
              </a:rPr>
              <a:t>本</a:t>
            </a:r>
            <a:r>
              <a:rPr sz="6600" b="1" spc="-11" dirty="0">
                <a:solidFill>
                  <a:srgbClr val="C00000"/>
                </a:solidFill>
                <a:latin typeface="黑体" panose="02010609060101010101" pitchFamily="49" charset="-122"/>
                <a:ea typeface="黑体" panose="02010609060101010101" pitchFamily="49" charset="-122"/>
              </a:rPr>
              <a:t>周</a:t>
            </a:r>
            <a:r>
              <a:rPr sz="6600" b="1" dirty="0">
                <a:solidFill>
                  <a:srgbClr val="C00000"/>
                </a:solidFill>
                <a:latin typeface="黑体" panose="02010609060101010101" pitchFamily="49" charset="-122"/>
                <a:ea typeface="黑体" panose="02010609060101010101" pitchFamily="49" charset="-122"/>
              </a:rPr>
              <a:t>教</a:t>
            </a:r>
            <a:r>
              <a:rPr sz="6600" b="1" spc="-11" dirty="0">
                <a:solidFill>
                  <a:srgbClr val="C00000"/>
                </a:solidFill>
                <a:latin typeface="黑体" panose="02010609060101010101" pitchFamily="49" charset="-122"/>
                <a:ea typeface="黑体" panose="02010609060101010101" pitchFamily="49" charset="-122"/>
              </a:rPr>
              <a:t>学内</a:t>
            </a:r>
            <a:r>
              <a:rPr sz="6600" b="1" spc="-27" dirty="0">
                <a:solidFill>
                  <a:srgbClr val="C00000"/>
                </a:solidFill>
                <a:latin typeface="黑体" panose="02010609060101010101" pitchFamily="49" charset="-122"/>
                <a:ea typeface="黑体" panose="02010609060101010101" pitchFamily="49" charset="-122"/>
              </a:rPr>
              <a:t>容</a:t>
            </a:r>
            <a:endParaRPr sz="6600" b="1" dirty="0">
              <a:solidFill>
                <a:srgbClr val="C00000"/>
              </a:solidFill>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77858" y="1169848"/>
            <a:ext cx="463333" cy="222756"/>
          </a:xfrm>
          <a:prstGeom prst="rect">
            <a:avLst/>
          </a:prstGeom>
          <a:blipFill>
            <a:blip r:embed="rId1" cstate="print"/>
            <a:stretch>
              <a:fillRect/>
            </a:stretch>
          </a:blipFill>
        </p:spPr>
        <p:txBody>
          <a:bodyPr wrap="square" lIns="0" tIns="0" rIns="0" bIns="0" rtlCol="0"/>
          <a:lstStyle/>
          <a:p>
            <a:endParaRPr sz="1625"/>
          </a:p>
        </p:txBody>
      </p:sp>
      <p:sp>
        <p:nvSpPr>
          <p:cNvPr id="4" name="object 4"/>
          <p:cNvSpPr/>
          <p:nvPr/>
        </p:nvSpPr>
        <p:spPr>
          <a:xfrm>
            <a:off x="804591" y="1197390"/>
            <a:ext cx="464141" cy="222756"/>
          </a:xfrm>
          <a:prstGeom prst="rect">
            <a:avLst/>
          </a:prstGeom>
          <a:blipFill>
            <a:blip r:embed="rId2" cstate="print"/>
            <a:stretch>
              <a:fillRect/>
            </a:stretch>
          </a:blipFill>
        </p:spPr>
        <p:txBody>
          <a:bodyPr wrap="square" lIns="0" tIns="0" rIns="0" bIns="0" rtlCol="0"/>
          <a:lstStyle/>
          <a:p>
            <a:endParaRPr sz="1625"/>
          </a:p>
        </p:txBody>
      </p:sp>
      <p:sp>
        <p:nvSpPr>
          <p:cNvPr id="5" name="object 5"/>
          <p:cNvSpPr txBox="1"/>
          <p:nvPr/>
        </p:nvSpPr>
        <p:spPr>
          <a:xfrm>
            <a:off x="1088638" y="1217640"/>
            <a:ext cx="52651" cy="136294"/>
          </a:xfrm>
          <a:prstGeom prst="rect">
            <a:avLst/>
          </a:prstGeom>
        </p:spPr>
        <p:txBody>
          <a:bodyPr vert="horz" wrap="square" lIns="0" tIns="13500" rIns="0" bIns="0" rtlCol="0">
            <a:spAutoFit/>
          </a:bodyPr>
          <a:lstStyle/>
          <a:p>
            <a:pPr marL="13335">
              <a:spcBef>
                <a:spcPts val="105"/>
              </a:spcBef>
            </a:pPr>
            <a:r>
              <a:rPr sz="795" dirty="0">
                <a:latin typeface="Times New Roman" panose="02020603050405020304"/>
                <a:cs typeface="Times New Roman" panose="02020603050405020304"/>
              </a:rPr>
              <a:t>.</a:t>
            </a:r>
            <a:endParaRPr sz="795">
              <a:latin typeface="Times New Roman" panose="02020603050405020304"/>
              <a:cs typeface="Times New Roman" panose="02020603050405020304"/>
            </a:endParaRPr>
          </a:p>
        </p:txBody>
      </p:sp>
      <p:sp>
        <p:nvSpPr>
          <p:cNvPr id="6" name="object 6"/>
          <p:cNvSpPr/>
          <p:nvPr/>
        </p:nvSpPr>
        <p:spPr>
          <a:xfrm>
            <a:off x="777857" y="695178"/>
            <a:ext cx="196834" cy="184685"/>
          </a:xfrm>
          <a:prstGeom prst="rect">
            <a:avLst/>
          </a:prstGeom>
          <a:blipFill>
            <a:blip r:embed="rId3" cstate="print"/>
            <a:stretch>
              <a:fillRect/>
            </a:stretch>
          </a:blipFill>
        </p:spPr>
        <p:txBody>
          <a:bodyPr wrap="square" lIns="0" tIns="0" rIns="0" bIns="0" rtlCol="0"/>
          <a:lstStyle/>
          <a:p>
            <a:endParaRPr sz="1625"/>
          </a:p>
        </p:txBody>
      </p:sp>
      <p:sp>
        <p:nvSpPr>
          <p:cNvPr id="7" name="object 7"/>
          <p:cNvSpPr/>
          <p:nvPr/>
        </p:nvSpPr>
        <p:spPr>
          <a:xfrm>
            <a:off x="804590" y="695176"/>
            <a:ext cx="197645" cy="211416"/>
          </a:xfrm>
          <a:prstGeom prst="rect">
            <a:avLst/>
          </a:prstGeom>
          <a:blipFill>
            <a:blip r:embed="rId4" cstate="print"/>
            <a:stretch>
              <a:fillRect/>
            </a:stretch>
          </a:blipFill>
        </p:spPr>
        <p:txBody>
          <a:bodyPr wrap="square" lIns="0" tIns="0" rIns="0" bIns="0" rtlCol="0"/>
          <a:lstStyle/>
          <a:p>
            <a:endParaRPr sz="1625"/>
          </a:p>
        </p:txBody>
      </p:sp>
      <p:sp>
        <p:nvSpPr>
          <p:cNvPr id="8" name="object 8"/>
          <p:cNvSpPr/>
          <p:nvPr/>
        </p:nvSpPr>
        <p:spPr>
          <a:xfrm>
            <a:off x="1886967" y="4819621"/>
            <a:ext cx="5049136" cy="914650"/>
          </a:xfrm>
          <a:custGeom>
            <a:avLst/>
            <a:gdLst/>
            <a:ahLst/>
            <a:cxnLst/>
            <a:rect l="l" t="t" r="r" b="b"/>
            <a:pathLst>
              <a:path w="4749800" h="860425">
                <a:moveTo>
                  <a:pt x="0" y="143408"/>
                </a:moveTo>
                <a:lnTo>
                  <a:pt x="7311" y="98101"/>
                </a:lnTo>
                <a:lnTo>
                  <a:pt x="27670" y="58737"/>
                </a:lnTo>
                <a:lnTo>
                  <a:pt x="58715" y="27685"/>
                </a:lnTo>
                <a:lnTo>
                  <a:pt x="98082" y="7316"/>
                </a:lnTo>
                <a:lnTo>
                  <a:pt x="143408" y="0"/>
                </a:lnTo>
                <a:lnTo>
                  <a:pt x="4606417" y="0"/>
                </a:lnTo>
                <a:lnTo>
                  <a:pt x="4651711" y="7316"/>
                </a:lnTo>
                <a:lnTo>
                  <a:pt x="4691068" y="27685"/>
                </a:lnTo>
                <a:lnTo>
                  <a:pt x="4722116" y="58737"/>
                </a:lnTo>
                <a:lnTo>
                  <a:pt x="4742483" y="98101"/>
                </a:lnTo>
                <a:lnTo>
                  <a:pt x="4749800" y="143408"/>
                </a:lnTo>
                <a:lnTo>
                  <a:pt x="4749800" y="717016"/>
                </a:lnTo>
                <a:lnTo>
                  <a:pt x="4742483" y="762342"/>
                </a:lnTo>
                <a:lnTo>
                  <a:pt x="4722116" y="801709"/>
                </a:lnTo>
                <a:lnTo>
                  <a:pt x="4691068" y="832754"/>
                </a:lnTo>
                <a:lnTo>
                  <a:pt x="4651711" y="853113"/>
                </a:lnTo>
                <a:lnTo>
                  <a:pt x="4606417" y="860425"/>
                </a:lnTo>
                <a:lnTo>
                  <a:pt x="143408" y="860425"/>
                </a:lnTo>
                <a:lnTo>
                  <a:pt x="98082" y="853113"/>
                </a:lnTo>
                <a:lnTo>
                  <a:pt x="58715" y="832754"/>
                </a:lnTo>
                <a:lnTo>
                  <a:pt x="27670" y="801709"/>
                </a:lnTo>
                <a:lnTo>
                  <a:pt x="7311" y="762342"/>
                </a:lnTo>
                <a:lnTo>
                  <a:pt x="0" y="717016"/>
                </a:lnTo>
                <a:lnTo>
                  <a:pt x="0" y="143408"/>
                </a:lnTo>
                <a:close/>
              </a:path>
            </a:pathLst>
          </a:custGeom>
          <a:ln w="25400">
            <a:solidFill>
              <a:srgbClr val="385D89"/>
            </a:solidFill>
          </a:ln>
        </p:spPr>
        <p:txBody>
          <a:bodyPr wrap="square" lIns="0" tIns="0" rIns="0" bIns="0" rtlCol="0"/>
          <a:lstStyle/>
          <a:p>
            <a:endParaRPr sz="2800">
              <a:latin typeface="黑体" panose="02010609060101010101" pitchFamily="49" charset="-122"/>
              <a:ea typeface="黑体" panose="02010609060101010101" pitchFamily="49" charset="-122"/>
            </a:endParaRPr>
          </a:p>
        </p:txBody>
      </p:sp>
      <p:sp>
        <p:nvSpPr>
          <p:cNvPr id="9" name="object 9"/>
          <p:cNvSpPr/>
          <p:nvPr/>
        </p:nvSpPr>
        <p:spPr>
          <a:xfrm>
            <a:off x="1903458" y="3785515"/>
            <a:ext cx="5022136" cy="881807"/>
          </a:xfrm>
          <a:custGeom>
            <a:avLst/>
            <a:gdLst/>
            <a:ahLst/>
            <a:cxnLst/>
            <a:rect l="l" t="t" r="r" b="b"/>
            <a:pathLst>
              <a:path w="4724400" h="703579">
                <a:moveTo>
                  <a:pt x="0" y="117220"/>
                </a:moveTo>
                <a:lnTo>
                  <a:pt x="9210" y="71580"/>
                </a:lnTo>
                <a:lnTo>
                  <a:pt x="34329" y="34321"/>
                </a:lnTo>
                <a:lnTo>
                  <a:pt x="71585" y="9207"/>
                </a:lnTo>
                <a:lnTo>
                  <a:pt x="117208" y="0"/>
                </a:lnTo>
                <a:lnTo>
                  <a:pt x="4607179" y="0"/>
                </a:lnTo>
                <a:lnTo>
                  <a:pt x="4652819" y="9207"/>
                </a:lnTo>
                <a:lnTo>
                  <a:pt x="4690078" y="34321"/>
                </a:lnTo>
                <a:lnTo>
                  <a:pt x="4715192" y="71580"/>
                </a:lnTo>
                <a:lnTo>
                  <a:pt x="4724400" y="117220"/>
                </a:lnTo>
                <a:lnTo>
                  <a:pt x="4724400" y="586105"/>
                </a:lnTo>
                <a:lnTo>
                  <a:pt x="4715192" y="631692"/>
                </a:lnTo>
                <a:lnTo>
                  <a:pt x="4690078" y="668956"/>
                </a:lnTo>
                <a:lnTo>
                  <a:pt x="4652819" y="694100"/>
                </a:lnTo>
                <a:lnTo>
                  <a:pt x="4607179" y="703326"/>
                </a:lnTo>
                <a:lnTo>
                  <a:pt x="117208" y="703326"/>
                </a:lnTo>
                <a:lnTo>
                  <a:pt x="71585" y="694100"/>
                </a:lnTo>
                <a:lnTo>
                  <a:pt x="34329" y="668956"/>
                </a:lnTo>
                <a:lnTo>
                  <a:pt x="9210" y="631692"/>
                </a:lnTo>
                <a:lnTo>
                  <a:pt x="0" y="586105"/>
                </a:lnTo>
                <a:lnTo>
                  <a:pt x="0" y="117220"/>
                </a:lnTo>
                <a:close/>
              </a:path>
            </a:pathLst>
          </a:custGeom>
          <a:ln w="25400">
            <a:solidFill>
              <a:srgbClr val="385D89"/>
            </a:solidFill>
          </a:ln>
        </p:spPr>
        <p:txBody>
          <a:bodyPr wrap="square" lIns="0" tIns="0" rIns="0" bIns="0" rtlCol="0"/>
          <a:lstStyle/>
          <a:p>
            <a:endParaRPr sz="2800">
              <a:latin typeface="黑体" panose="02010609060101010101" pitchFamily="49" charset="-122"/>
              <a:ea typeface="黑体" panose="02010609060101010101" pitchFamily="49" charset="-122"/>
            </a:endParaRPr>
          </a:p>
        </p:txBody>
      </p:sp>
      <p:sp>
        <p:nvSpPr>
          <p:cNvPr id="10" name="object 10"/>
          <p:cNvSpPr/>
          <p:nvPr/>
        </p:nvSpPr>
        <p:spPr>
          <a:xfrm>
            <a:off x="1920334" y="2038114"/>
            <a:ext cx="2413190" cy="825547"/>
          </a:xfrm>
          <a:custGeom>
            <a:avLst/>
            <a:gdLst/>
            <a:ahLst/>
            <a:cxnLst/>
            <a:rect l="l" t="t" r="r" b="b"/>
            <a:pathLst>
              <a:path w="2270125" h="776605">
                <a:moveTo>
                  <a:pt x="0" y="129286"/>
                </a:moveTo>
                <a:lnTo>
                  <a:pt x="10167" y="78974"/>
                </a:lnTo>
                <a:lnTo>
                  <a:pt x="37895" y="37877"/>
                </a:lnTo>
                <a:lnTo>
                  <a:pt x="79022" y="10163"/>
                </a:lnTo>
                <a:lnTo>
                  <a:pt x="129387" y="0"/>
                </a:lnTo>
                <a:lnTo>
                  <a:pt x="2140712" y="0"/>
                </a:lnTo>
                <a:lnTo>
                  <a:pt x="2191097" y="10163"/>
                </a:lnTo>
                <a:lnTo>
                  <a:pt x="2232231" y="37877"/>
                </a:lnTo>
                <a:lnTo>
                  <a:pt x="2259959" y="78974"/>
                </a:lnTo>
                <a:lnTo>
                  <a:pt x="2270125" y="129286"/>
                </a:lnTo>
                <a:lnTo>
                  <a:pt x="2270125" y="646811"/>
                </a:lnTo>
                <a:lnTo>
                  <a:pt x="2259959" y="697196"/>
                </a:lnTo>
                <a:lnTo>
                  <a:pt x="2232231" y="738330"/>
                </a:lnTo>
                <a:lnTo>
                  <a:pt x="2191097" y="766058"/>
                </a:lnTo>
                <a:lnTo>
                  <a:pt x="2140712" y="776224"/>
                </a:lnTo>
                <a:lnTo>
                  <a:pt x="129387" y="776224"/>
                </a:lnTo>
                <a:lnTo>
                  <a:pt x="79022" y="766058"/>
                </a:lnTo>
                <a:lnTo>
                  <a:pt x="37895" y="738330"/>
                </a:lnTo>
                <a:lnTo>
                  <a:pt x="10167" y="697196"/>
                </a:lnTo>
                <a:lnTo>
                  <a:pt x="0" y="646811"/>
                </a:lnTo>
                <a:lnTo>
                  <a:pt x="0" y="129286"/>
                </a:lnTo>
                <a:close/>
              </a:path>
            </a:pathLst>
          </a:custGeom>
          <a:ln w="25400">
            <a:solidFill>
              <a:srgbClr val="385D89"/>
            </a:solidFill>
          </a:ln>
        </p:spPr>
        <p:txBody>
          <a:bodyPr wrap="square" lIns="0" tIns="0" rIns="0" bIns="0" rtlCol="0"/>
          <a:lstStyle/>
          <a:p>
            <a:endParaRPr sz="2800">
              <a:latin typeface="黑体" panose="02010609060101010101" pitchFamily="49" charset="-122"/>
              <a:ea typeface="黑体" panose="02010609060101010101" pitchFamily="49" charset="-122"/>
            </a:endParaRPr>
          </a:p>
        </p:txBody>
      </p:sp>
      <p:sp>
        <p:nvSpPr>
          <p:cNvPr id="11" name="object 11"/>
          <p:cNvSpPr txBox="1"/>
          <p:nvPr/>
        </p:nvSpPr>
        <p:spPr>
          <a:xfrm>
            <a:off x="1972886" y="2007516"/>
            <a:ext cx="2289963" cy="874725"/>
          </a:xfrm>
          <a:prstGeom prst="rect">
            <a:avLst/>
          </a:prstGeom>
        </p:spPr>
        <p:txBody>
          <a:bodyPr vert="horz" wrap="square" lIns="0" tIns="12825" rIns="0" bIns="0" rtlCol="0">
            <a:spAutoFit/>
          </a:bodyPr>
          <a:lstStyle/>
          <a:p>
            <a:pPr marR="5715" algn="ctr">
              <a:spcBef>
                <a:spcPts val="100"/>
              </a:spcBef>
            </a:pPr>
            <a:r>
              <a:rPr sz="2800" b="1" spc="-5" dirty="0">
                <a:latin typeface="黑体" panose="02010609060101010101" pitchFamily="49" charset="-122"/>
                <a:ea typeface="黑体" panose="02010609060101010101" pitchFamily="49" charset="-122"/>
                <a:cs typeface="宋体" panose="02010600030101010101" pitchFamily="2" charset="-122"/>
              </a:rPr>
              <a:t>改进</a:t>
            </a:r>
            <a:r>
              <a:rPr sz="2800" b="1" dirty="0">
                <a:latin typeface="黑体" panose="02010609060101010101" pitchFamily="49" charset="-122"/>
                <a:ea typeface="黑体" panose="02010609060101010101" pitchFamily="49" charset="-122"/>
                <a:cs typeface="宋体" panose="02010600030101010101" pitchFamily="2" charset="-122"/>
              </a:rPr>
              <a:t>分治算</a:t>
            </a:r>
            <a:r>
              <a:rPr sz="2800" b="1" spc="-11" dirty="0">
                <a:latin typeface="黑体" panose="02010609060101010101" pitchFamily="49" charset="-122"/>
                <a:ea typeface="黑体" panose="02010609060101010101" pitchFamily="49" charset="-122"/>
                <a:cs typeface="宋体" panose="02010600030101010101" pitchFamily="2" charset="-122"/>
              </a:rPr>
              <a:t>法</a:t>
            </a:r>
            <a:r>
              <a:rPr sz="2800" b="1" spc="-5" dirty="0">
                <a:latin typeface="黑体" panose="02010609060101010101" pitchFamily="49" charset="-122"/>
                <a:ea typeface="黑体" panose="02010609060101010101" pitchFamily="49" charset="-122"/>
                <a:cs typeface="宋体" panose="02010600030101010101" pitchFamily="2" charset="-122"/>
              </a:rPr>
              <a:t>的途</a:t>
            </a:r>
            <a:r>
              <a:rPr sz="2800" b="1" spc="-11" dirty="0">
                <a:latin typeface="黑体" panose="02010609060101010101" pitchFamily="49" charset="-122"/>
                <a:ea typeface="黑体" panose="02010609060101010101" pitchFamily="49" charset="-122"/>
                <a:cs typeface="宋体" panose="02010600030101010101" pitchFamily="2" charset="-122"/>
              </a:rPr>
              <a:t>径</a:t>
            </a:r>
            <a:r>
              <a:rPr sz="2800" b="1" spc="-5" dirty="0">
                <a:latin typeface="黑体" panose="02010609060101010101" pitchFamily="49" charset="-122"/>
                <a:ea typeface="黑体" panose="02010609060101010101" pitchFamily="49" charset="-122"/>
                <a:cs typeface="Calibri" panose="020F0502020204030204"/>
              </a:rPr>
              <a:t>1</a:t>
            </a:r>
            <a:endParaRPr sz="2800" dirty="0">
              <a:latin typeface="黑体" panose="02010609060101010101" pitchFamily="49" charset="-122"/>
              <a:ea typeface="黑体" panose="02010609060101010101" pitchFamily="49" charset="-122"/>
              <a:cs typeface="Calibri" panose="020F0502020204030204"/>
            </a:endParaRPr>
          </a:p>
        </p:txBody>
      </p:sp>
      <p:sp>
        <p:nvSpPr>
          <p:cNvPr id="12" name="object 12"/>
          <p:cNvSpPr/>
          <p:nvPr/>
        </p:nvSpPr>
        <p:spPr>
          <a:xfrm>
            <a:off x="3523502" y="2998564"/>
            <a:ext cx="1701046" cy="646667"/>
          </a:xfrm>
          <a:custGeom>
            <a:avLst/>
            <a:gdLst/>
            <a:ahLst/>
            <a:cxnLst/>
            <a:rect l="l" t="t" r="r" b="b"/>
            <a:pathLst>
              <a:path w="1600200" h="608330">
                <a:moveTo>
                  <a:pt x="0" y="101218"/>
                </a:moveTo>
                <a:lnTo>
                  <a:pt x="7959" y="61829"/>
                </a:lnTo>
                <a:lnTo>
                  <a:pt x="29670" y="29654"/>
                </a:lnTo>
                <a:lnTo>
                  <a:pt x="61882" y="7957"/>
                </a:lnTo>
                <a:lnTo>
                  <a:pt x="101345" y="0"/>
                </a:lnTo>
                <a:lnTo>
                  <a:pt x="1498853" y="0"/>
                </a:lnTo>
                <a:lnTo>
                  <a:pt x="1538317" y="7957"/>
                </a:lnTo>
                <a:lnTo>
                  <a:pt x="1570529" y="29654"/>
                </a:lnTo>
                <a:lnTo>
                  <a:pt x="1592240" y="61829"/>
                </a:lnTo>
                <a:lnTo>
                  <a:pt x="1600200" y="101218"/>
                </a:lnTo>
                <a:lnTo>
                  <a:pt x="1600200" y="506603"/>
                </a:lnTo>
                <a:lnTo>
                  <a:pt x="1592240" y="546066"/>
                </a:lnTo>
                <a:lnTo>
                  <a:pt x="1570529" y="578278"/>
                </a:lnTo>
                <a:lnTo>
                  <a:pt x="1538317" y="599989"/>
                </a:lnTo>
                <a:lnTo>
                  <a:pt x="1498853" y="607949"/>
                </a:lnTo>
                <a:lnTo>
                  <a:pt x="101345" y="607949"/>
                </a:lnTo>
                <a:lnTo>
                  <a:pt x="61882" y="599989"/>
                </a:lnTo>
                <a:lnTo>
                  <a:pt x="29670" y="578278"/>
                </a:lnTo>
                <a:lnTo>
                  <a:pt x="7959" y="546066"/>
                </a:lnTo>
                <a:lnTo>
                  <a:pt x="0" y="506603"/>
                </a:lnTo>
                <a:lnTo>
                  <a:pt x="0" y="101218"/>
                </a:lnTo>
                <a:close/>
              </a:path>
            </a:pathLst>
          </a:custGeom>
          <a:ln w="25400">
            <a:solidFill>
              <a:srgbClr val="385D89"/>
            </a:solidFill>
          </a:ln>
        </p:spPr>
        <p:txBody>
          <a:bodyPr wrap="square" lIns="0" tIns="0" rIns="0" bIns="0" rtlCol="0"/>
          <a:lstStyle/>
          <a:p>
            <a:endParaRPr sz="2800">
              <a:latin typeface="黑体" panose="02010609060101010101" pitchFamily="49" charset="-122"/>
              <a:ea typeface="黑体" panose="02010609060101010101" pitchFamily="49" charset="-122"/>
            </a:endParaRPr>
          </a:p>
        </p:txBody>
      </p:sp>
      <p:sp>
        <p:nvSpPr>
          <p:cNvPr id="13" name="object 13"/>
          <p:cNvSpPr txBox="1">
            <a:spLocks noGrp="1"/>
          </p:cNvSpPr>
          <p:nvPr>
            <p:ph type="title"/>
          </p:nvPr>
        </p:nvSpPr>
        <p:spPr>
          <a:xfrm>
            <a:off x="198488" y="14993"/>
            <a:ext cx="8920139" cy="690740"/>
          </a:xfrm>
          <a:prstGeom prst="rect">
            <a:avLst/>
          </a:prstGeom>
        </p:spPr>
        <p:txBody>
          <a:bodyPr vert="horz" wrap="square" lIns="0" tIns="13500" rIns="0" bIns="0" rtlCol="0" anchor="ctr">
            <a:spAutoFit/>
          </a:bodyPr>
          <a:lstStyle/>
          <a:p>
            <a:pPr marL="13335" marR="5715" algn="ctr">
              <a:lnSpc>
                <a:spcPct val="100000"/>
              </a:lnSpc>
              <a:spcBef>
                <a:spcPts val="105"/>
              </a:spcBef>
            </a:pPr>
            <a:r>
              <a:rPr sz="4400" b="1" spc="-5" dirty="0" err="1">
                <a:solidFill>
                  <a:srgbClr val="C00000"/>
                </a:solidFill>
                <a:latin typeface="黑体" panose="02010609060101010101" pitchFamily="49" charset="-122"/>
                <a:ea typeface="黑体" panose="02010609060101010101" pitchFamily="49" charset="-122"/>
              </a:rPr>
              <a:t>分治算法的设计</a:t>
            </a:r>
            <a:r>
              <a:rPr sz="4400" b="1" spc="-11" dirty="0" err="1">
                <a:solidFill>
                  <a:srgbClr val="C00000"/>
                </a:solidFill>
                <a:latin typeface="黑体" panose="02010609060101010101" pitchFamily="49" charset="-122"/>
                <a:ea typeface="黑体" panose="02010609060101010101" pitchFamily="49" charset="-122"/>
              </a:rPr>
              <a:t>思想与分析方法</a:t>
            </a:r>
            <a:endParaRPr sz="4400" b="1" spc="-11" dirty="0">
              <a:solidFill>
                <a:srgbClr val="C00000"/>
              </a:solidFill>
              <a:latin typeface="黑体" panose="02010609060101010101" pitchFamily="49" charset="-122"/>
              <a:ea typeface="黑体" panose="02010609060101010101" pitchFamily="49" charset="-122"/>
            </a:endParaRPr>
          </a:p>
        </p:txBody>
      </p:sp>
      <p:sp>
        <p:nvSpPr>
          <p:cNvPr id="14" name="object 14"/>
          <p:cNvSpPr/>
          <p:nvPr/>
        </p:nvSpPr>
        <p:spPr>
          <a:xfrm>
            <a:off x="1903458" y="2998564"/>
            <a:ext cx="1539042" cy="646667"/>
          </a:xfrm>
          <a:custGeom>
            <a:avLst/>
            <a:gdLst/>
            <a:ahLst/>
            <a:cxnLst/>
            <a:rect l="l" t="t" r="r" b="b"/>
            <a:pathLst>
              <a:path w="1447800" h="608330">
                <a:moveTo>
                  <a:pt x="0" y="101218"/>
                </a:moveTo>
                <a:lnTo>
                  <a:pt x="7962" y="61829"/>
                </a:lnTo>
                <a:lnTo>
                  <a:pt x="29678" y="29654"/>
                </a:lnTo>
                <a:lnTo>
                  <a:pt x="61888" y="7957"/>
                </a:lnTo>
                <a:lnTo>
                  <a:pt x="101333" y="0"/>
                </a:lnTo>
                <a:lnTo>
                  <a:pt x="1346454" y="0"/>
                </a:lnTo>
                <a:lnTo>
                  <a:pt x="1385917" y="7957"/>
                </a:lnTo>
                <a:lnTo>
                  <a:pt x="1418129" y="29654"/>
                </a:lnTo>
                <a:lnTo>
                  <a:pt x="1439840" y="61829"/>
                </a:lnTo>
                <a:lnTo>
                  <a:pt x="1447800" y="101218"/>
                </a:lnTo>
                <a:lnTo>
                  <a:pt x="1447800" y="506603"/>
                </a:lnTo>
                <a:lnTo>
                  <a:pt x="1439840" y="546066"/>
                </a:lnTo>
                <a:lnTo>
                  <a:pt x="1418129" y="578278"/>
                </a:lnTo>
                <a:lnTo>
                  <a:pt x="1385917" y="599989"/>
                </a:lnTo>
                <a:lnTo>
                  <a:pt x="1346454" y="607949"/>
                </a:lnTo>
                <a:lnTo>
                  <a:pt x="101333" y="607949"/>
                </a:lnTo>
                <a:lnTo>
                  <a:pt x="61888" y="599989"/>
                </a:lnTo>
                <a:lnTo>
                  <a:pt x="29678" y="578278"/>
                </a:lnTo>
                <a:lnTo>
                  <a:pt x="7962" y="546066"/>
                </a:lnTo>
                <a:lnTo>
                  <a:pt x="0" y="506603"/>
                </a:lnTo>
                <a:lnTo>
                  <a:pt x="0" y="101218"/>
                </a:lnTo>
                <a:close/>
              </a:path>
            </a:pathLst>
          </a:custGeom>
          <a:ln w="25400">
            <a:solidFill>
              <a:srgbClr val="385D89"/>
            </a:solidFill>
          </a:ln>
        </p:spPr>
        <p:txBody>
          <a:bodyPr wrap="square" lIns="0" tIns="0" rIns="0" bIns="0" rtlCol="0"/>
          <a:lstStyle/>
          <a:p>
            <a:endParaRPr sz="2800">
              <a:latin typeface="黑体" panose="02010609060101010101" pitchFamily="49" charset="-122"/>
              <a:ea typeface="黑体" panose="02010609060101010101" pitchFamily="49" charset="-122"/>
            </a:endParaRPr>
          </a:p>
        </p:txBody>
      </p:sp>
      <p:sp>
        <p:nvSpPr>
          <p:cNvPr id="15" name="object 15"/>
          <p:cNvSpPr/>
          <p:nvPr/>
        </p:nvSpPr>
        <p:spPr>
          <a:xfrm>
            <a:off x="5305550" y="2998564"/>
            <a:ext cx="1620044" cy="646667"/>
          </a:xfrm>
          <a:custGeom>
            <a:avLst/>
            <a:gdLst/>
            <a:ahLst/>
            <a:cxnLst/>
            <a:rect l="l" t="t" r="r" b="b"/>
            <a:pathLst>
              <a:path w="1524000" h="608330">
                <a:moveTo>
                  <a:pt x="0" y="101218"/>
                </a:moveTo>
                <a:lnTo>
                  <a:pt x="7959" y="61829"/>
                </a:lnTo>
                <a:lnTo>
                  <a:pt x="29670" y="29654"/>
                </a:lnTo>
                <a:lnTo>
                  <a:pt x="61882" y="7957"/>
                </a:lnTo>
                <a:lnTo>
                  <a:pt x="101346" y="0"/>
                </a:lnTo>
                <a:lnTo>
                  <a:pt x="1422653" y="0"/>
                </a:lnTo>
                <a:lnTo>
                  <a:pt x="1462117" y="7957"/>
                </a:lnTo>
                <a:lnTo>
                  <a:pt x="1494329" y="29654"/>
                </a:lnTo>
                <a:lnTo>
                  <a:pt x="1516040" y="61829"/>
                </a:lnTo>
                <a:lnTo>
                  <a:pt x="1524000" y="101218"/>
                </a:lnTo>
                <a:lnTo>
                  <a:pt x="1524000" y="506603"/>
                </a:lnTo>
                <a:lnTo>
                  <a:pt x="1516040" y="546066"/>
                </a:lnTo>
                <a:lnTo>
                  <a:pt x="1494329" y="578278"/>
                </a:lnTo>
                <a:lnTo>
                  <a:pt x="1462117" y="599989"/>
                </a:lnTo>
                <a:lnTo>
                  <a:pt x="1422653" y="607949"/>
                </a:lnTo>
                <a:lnTo>
                  <a:pt x="101346" y="607949"/>
                </a:lnTo>
                <a:lnTo>
                  <a:pt x="61882" y="599989"/>
                </a:lnTo>
                <a:lnTo>
                  <a:pt x="29670" y="578278"/>
                </a:lnTo>
                <a:lnTo>
                  <a:pt x="7959" y="546066"/>
                </a:lnTo>
                <a:lnTo>
                  <a:pt x="0" y="506603"/>
                </a:lnTo>
                <a:lnTo>
                  <a:pt x="0" y="101218"/>
                </a:lnTo>
                <a:close/>
              </a:path>
            </a:pathLst>
          </a:custGeom>
          <a:ln w="25400">
            <a:solidFill>
              <a:srgbClr val="385D89"/>
            </a:solidFill>
          </a:ln>
        </p:spPr>
        <p:txBody>
          <a:bodyPr wrap="square" lIns="0" tIns="0" rIns="0" bIns="0" rtlCol="0"/>
          <a:lstStyle/>
          <a:p>
            <a:endParaRPr sz="2800">
              <a:latin typeface="黑体" panose="02010609060101010101" pitchFamily="49" charset="-122"/>
              <a:ea typeface="黑体" panose="02010609060101010101" pitchFamily="49" charset="-122"/>
            </a:endParaRPr>
          </a:p>
        </p:txBody>
      </p:sp>
      <p:sp>
        <p:nvSpPr>
          <p:cNvPr id="17" name="object 17"/>
          <p:cNvSpPr/>
          <p:nvPr/>
        </p:nvSpPr>
        <p:spPr>
          <a:xfrm>
            <a:off x="4414526" y="2038114"/>
            <a:ext cx="2511068" cy="825547"/>
          </a:xfrm>
          <a:custGeom>
            <a:avLst/>
            <a:gdLst/>
            <a:ahLst/>
            <a:cxnLst/>
            <a:rect l="l" t="t" r="r" b="b"/>
            <a:pathLst>
              <a:path w="2362200" h="776605">
                <a:moveTo>
                  <a:pt x="0" y="129286"/>
                </a:moveTo>
                <a:lnTo>
                  <a:pt x="10165" y="78974"/>
                </a:lnTo>
                <a:lnTo>
                  <a:pt x="37893" y="37877"/>
                </a:lnTo>
                <a:lnTo>
                  <a:pt x="79027" y="10163"/>
                </a:lnTo>
                <a:lnTo>
                  <a:pt x="129412" y="0"/>
                </a:lnTo>
                <a:lnTo>
                  <a:pt x="2232787" y="0"/>
                </a:lnTo>
                <a:lnTo>
                  <a:pt x="2283172" y="10163"/>
                </a:lnTo>
                <a:lnTo>
                  <a:pt x="2324306" y="37877"/>
                </a:lnTo>
                <a:lnTo>
                  <a:pt x="2352034" y="78974"/>
                </a:lnTo>
                <a:lnTo>
                  <a:pt x="2362200" y="129286"/>
                </a:lnTo>
                <a:lnTo>
                  <a:pt x="2362200" y="646811"/>
                </a:lnTo>
                <a:lnTo>
                  <a:pt x="2352034" y="697196"/>
                </a:lnTo>
                <a:lnTo>
                  <a:pt x="2324306" y="738330"/>
                </a:lnTo>
                <a:lnTo>
                  <a:pt x="2283172" y="766058"/>
                </a:lnTo>
                <a:lnTo>
                  <a:pt x="2232787" y="776224"/>
                </a:lnTo>
                <a:lnTo>
                  <a:pt x="129412" y="776224"/>
                </a:lnTo>
                <a:lnTo>
                  <a:pt x="79027" y="766058"/>
                </a:lnTo>
                <a:lnTo>
                  <a:pt x="37893" y="738330"/>
                </a:lnTo>
                <a:lnTo>
                  <a:pt x="10165" y="697196"/>
                </a:lnTo>
                <a:lnTo>
                  <a:pt x="0" y="646811"/>
                </a:lnTo>
                <a:lnTo>
                  <a:pt x="0" y="129286"/>
                </a:lnTo>
                <a:close/>
              </a:path>
            </a:pathLst>
          </a:custGeom>
          <a:ln w="25400">
            <a:solidFill>
              <a:srgbClr val="385D89"/>
            </a:solidFill>
          </a:ln>
        </p:spPr>
        <p:txBody>
          <a:bodyPr wrap="square" lIns="0" tIns="0" rIns="0" bIns="0" rtlCol="0"/>
          <a:lstStyle/>
          <a:p>
            <a:endParaRPr sz="2800">
              <a:latin typeface="黑体" panose="02010609060101010101" pitchFamily="49" charset="-122"/>
              <a:ea typeface="黑体" panose="02010609060101010101" pitchFamily="49" charset="-122"/>
            </a:endParaRPr>
          </a:p>
        </p:txBody>
      </p:sp>
      <p:sp>
        <p:nvSpPr>
          <p:cNvPr id="18" name="object 18"/>
          <p:cNvSpPr txBox="1"/>
          <p:nvPr/>
        </p:nvSpPr>
        <p:spPr>
          <a:xfrm>
            <a:off x="4414527" y="1997006"/>
            <a:ext cx="2511066" cy="874725"/>
          </a:xfrm>
          <a:prstGeom prst="rect">
            <a:avLst/>
          </a:prstGeom>
        </p:spPr>
        <p:txBody>
          <a:bodyPr vert="horz" wrap="square" lIns="0" tIns="12825" rIns="0" bIns="0" rtlCol="0">
            <a:spAutoFit/>
          </a:bodyPr>
          <a:lstStyle/>
          <a:p>
            <a:pPr marR="5715" algn="ctr">
              <a:spcBef>
                <a:spcPts val="100"/>
              </a:spcBef>
            </a:pPr>
            <a:r>
              <a:rPr sz="2800" b="1" spc="-5" dirty="0">
                <a:latin typeface="黑体" panose="02010609060101010101" pitchFamily="49" charset="-122"/>
                <a:ea typeface="黑体" panose="02010609060101010101" pitchFamily="49" charset="-122"/>
                <a:cs typeface="宋体" panose="02010600030101010101" pitchFamily="2" charset="-122"/>
              </a:rPr>
              <a:t>改进分治算法 的途径2</a:t>
            </a:r>
            <a:endParaRPr sz="2800" b="1" spc="-5" dirty="0">
              <a:latin typeface="黑体" panose="02010609060101010101" pitchFamily="49" charset="-122"/>
              <a:ea typeface="黑体" panose="02010609060101010101" pitchFamily="49" charset="-122"/>
              <a:cs typeface="宋体" panose="02010600030101010101" pitchFamily="2" charset="-122"/>
            </a:endParaRPr>
          </a:p>
        </p:txBody>
      </p:sp>
      <p:sp>
        <p:nvSpPr>
          <p:cNvPr id="2" name="矩形 1"/>
          <p:cNvSpPr/>
          <p:nvPr/>
        </p:nvSpPr>
        <p:spPr>
          <a:xfrm>
            <a:off x="1880991" y="3079048"/>
            <a:ext cx="1616725" cy="523220"/>
          </a:xfrm>
          <a:prstGeom prst="rect">
            <a:avLst/>
          </a:prstGeom>
        </p:spPr>
        <p:txBody>
          <a:bodyPr wrap="none">
            <a:spAutoFit/>
          </a:bodyPr>
          <a:lstStyle/>
          <a:p>
            <a:pPr algn="just"/>
            <a:r>
              <a:rPr lang="zh-CN" altLang="en-US" sz="2800" b="1" spc="-11" dirty="0">
                <a:latin typeface="黑体" panose="02010609060101010101" pitchFamily="49" charset="-122"/>
                <a:ea typeface="黑体" panose="02010609060101010101" pitchFamily="49" charset="-122"/>
                <a:cs typeface="宋体" panose="02010600030101010101" pitchFamily="2" charset="-122"/>
              </a:rPr>
              <a:t>芯片</a:t>
            </a:r>
            <a:r>
              <a:rPr lang="zh-CN" altLang="en-US" sz="2800" b="1" dirty="0">
                <a:latin typeface="黑体" panose="02010609060101010101" pitchFamily="49" charset="-122"/>
                <a:ea typeface="黑体" panose="02010609060101010101" pitchFamily="49" charset="-122"/>
                <a:cs typeface="宋体" panose="02010600030101010101" pitchFamily="2" charset="-122"/>
              </a:rPr>
              <a:t>测</a:t>
            </a:r>
            <a:r>
              <a:rPr lang="zh-CN" altLang="en-US" sz="2800" b="1" spc="-11" dirty="0">
                <a:latin typeface="黑体" panose="02010609060101010101" pitchFamily="49" charset="-122"/>
                <a:ea typeface="黑体" panose="02010609060101010101" pitchFamily="49" charset="-122"/>
                <a:cs typeface="宋体" panose="02010600030101010101" pitchFamily="2" charset="-122"/>
              </a:rPr>
              <a:t>试</a:t>
            </a:r>
            <a:endParaRPr lang="zh-CN" altLang="en-US" sz="2800" dirty="0">
              <a:latin typeface="黑体" panose="02010609060101010101" pitchFamily="49" charset="-122"/>
              <a:ea typeface="黑体" panose="02010609060101010101" pitchFamily="49" charset="-122"/>
            </a:endParaRPr>
          </a:p>
        </p:txBody>
      </p:sp>
      <p:sp>
        <p:nvSpPr>
          <p:cNvPr id="19" name="矩形 18"/>
          <p:cNvSpPr/>
          <p:nvPr/>
        </p:nvSpPr>
        <p:spPr>
          <a:xfrm>
            <a:off x="3578718" y="3065482"/>
            <a:ext cx="1616725" cy="523220"/>
          </a:xfrm>
          <a:prstGeom prst="rect">
            <a:avLst/>
          </a:prstGeom>
        </p:spPr>
        <p:txBody>
          <a:bodyPr wrap="none">
            <a:spAutoFit/>
          </a:bodyPr>
          <a:lstStyle/>
          <a:p>
            <a:r>
              <a:rPr lang="zh-CN" altLang="en-US" sz="2800" b="1" spc="-11" dirty="0">
                <a:latin typeface="黑体" panose="02010609060101010101" pitchFamily="49" charset="-122"/>
                <a:ea typeface="黑体" panose="02010609060101010101" pitchFamily="49" charset="-122"/>
                <a:cs typeface="宋体" panose="02010600030101010101" pitchFamily="2" charset="-122"/>
              </a:rPr>
              <a:t>幂乘</a:t>
            </a:r>
            <a:r>
              <a:rPr lang="zh-CN" altLang="en-US" sz="2800" b="1" dirty="0">
                <a:latin typeface="黑体" panose="02010609060101010101" pitchFamily="49" charset="-122"/>
                <a:ea typeface="黑体" panose="02010609060101010101" pitchFamily="49" charset="-122"/>
                <a:cs typeface="宋体" panose="02010600030101010101" pitchFamily="2" charset="-122"/>
              </a:rPr>
              <a:t>算</a:t>
            </a:r>
            <a:r>
              <a:rPr lang="zh-CN" altLang="en-US" sz="2800" b="1" spc="-11" dirty="0">
                <a:latin typeface="黑体" panose="02010609060101010101" pitchFamily="49" charset="-122"/>
                <a:ea typeface="黑体" panose="02010609060101010101" pitchFamily="49" charset="-122"/>
                <a:cs typeface="宋体" panose="02010600030101010101" pitchFamily="2" charset="-122"/>
              </a:rPr>
              <a:t>法</a:t>
            </a:r>
            <a:endParaRPr lang="zh-CN" altLang="en-US" sz="2800" dirty="0">
              <a:latin typeface="黑体" panose="02010609060101010101" pitchFamily="49" charset="-122"/>
              <a:ea typeface="黑体" panose="02010609060101010101" pitchFamily="49" charset="-122"/>
            </a:endParaRPr>
          </a:p>
        </p:txBody>
      </p:sp>
      <p:sp>
        <p:nvSpPr>
          <p:cNvPr id="20" name="矩形 19"/>
          <p:cNvSpPr/>
          <p:nvPr/>
        </p:nvSpPr>
        <p:spPr>
          <a:xfrm>
            <a:off x="5281868" y="3049463"/>
            <a:ext cx="1616725" cy="523220"/>
          </a:xfrm>
          <a:prstGeom prst="rect">
            <a:avLst/>
          </a:prstGeom>
        </p:spPr>
        <p:txBody>
          <a:bodyPr wrap="none">
            <a:spAutoFit/>
          </a:bodyPr>
          <a:lstStyle/>
          <a:p>
            <a:pPr algn="ctr">
              <a:spcBef>
                <a:spcPts val="100"/>
              </a:spcBef>
              <a:tabLst>
                <a:tab pos="1699895" algn="l"/>
                <a:tab pos="3442335" algn="l"/>
              </a:tabLst>
            </a:pPr>
            <a:r>
              <a:rPr lang="zh-CN" altLang="en-US" sz="2800" b="1" spc="-11" dirty="0">
                <a:latin typeface="黑体" panose="02010609060101010101" pitchFamily="49" charset="-122"/>
                <a:ea typeface="黑体" panose="02010609060101010101" pitchFamily="49" charset="-122"/>
                <a:cs typeface="宋体" panose="02010600030101010101" pitchFamily="2" charset="-122"/>
              </a:rPr>
              <a:t>快速</a:t>
            </a:r>
            <a:r>
              <a:rPr lang="zh-CN" altLang="en-US" sz="2800" b="1" dirty="0">
                <a:latin typeface="黑体" panose="02010609060101010101" pitchFamily="49" charset="-122"/>
                <a:ea typeface="黑体" panose="02010609060101010101" pitchFamily="49" charset="-122"/>
                <a:cs typeface="宋体" panose="02010600030101010101" pitchFamily="2" charset="-122"/>
              </a:rPr>
              <a:t>排</a:t>
            </a:r>
            <a:r>
              <a:rPr lang="zh-CN" altLang="en-US" sz="2800" b="1" spc="-11" dirty="0">
                <a:latin typeface="黑体" panose="02010609060101010101" pitchFamily="49" charset="-122"/>
                <a:ea typeface="黑体" panose="02010609060101010101" pitchFamily="49" charset="-122"/>
                <a:cs typeface="宋体" panose="02010600030101010101" pitchFamily="2" charset="-122"/>
              </a:rPr>
              <a:t>序</a:t>
            </a:r>
            <a:endParaRPr lang="zh-CN" altLang="en-US" sz="2800" dirty="0">
              <a:latin typeface="黑体" panose="02010609060101010101" pitchFamily="49" charset="-122"/>
              <a:ea typeface="黑体" panose="02010609060101010101" pitchFamily="49" charset="-122"/>
              <a:cs typeface="宋体" panose="02010600030101010101" pitchFamily="2" charset="-122"/>
            </a:endParaRPr>
          </a:p>
        </p:txBody>
      </p:sp>
      <p:sp>
        <p:nvSpPr>
          <p:cNvPr id="22" name="矩形 21"/>
          <p:cNvSpPr/>
          <p:nvPr/>
        </p:nvSpPr>
        <p:spPr>
          <a:xfrm>
            <a:off x="1920336" y="4829366"/>
            <a:ext cx="4994749" cy="892552"/>
          </a:xfrm>
          <a:prstGeom prst="rect">
            <a:avLst/>
          </a:prstGeom>
        </p:spPr>
        <p:txBody>
          <a:bodyPr wrap="square">
            <a:spAutoFit/>
          </a:bodyPr>
          <a:lstStyle/>
          <a:p>
            <a:pPr marL="11430" algn="ctr"/>
            <a:r>
              <a:rPr lang="zh-CN" altLang="en-US" sz="2800" b="1" spc="-11" dirty="0">
                <a:latin typeface="黑体" panose="02010609060101010101" pitchFamily="49" charset="-122"/>
                <a:ea typeface="黑体" panose="02010609060101010101" pitchFamily="49" charset="-122"/>
                <a:cs typeface="宋体" panose="02010600030101010101" pitchFamily="2" charset="-122"/>
              </a:rPr>
              <a:t>分治</a:t>
            </a:r>
            <a:r>
              <a:rPr lang="zh-CN" altLang="en-US" sz="2800" b="1" dirty="0">
                <a:latin typeface="黑体" panose="02010609060101010101" pitchFamily="49" charset="-122"/>
                <a:ea typeface="黑体" panose="02010609060101010101" pitchFamily="49" charset="-122"/>
                <a:cs typeface="宋体" panose="02010600030101010101" pitchFamily="2" charset="-122"/>
              </a:rPr>
              <a:t>算法的</a:t>
            </a:r>
            <a:r>
              <a:rPr lang="zh-CN" altLang="en-US" sz="2800" b="1" spc="5" dirty="0">
                <a:latin typeface="黑体" panose="02010609060101010101" pitchFamily="49" charset="-122"/>
                <a:ea typeface="黑体" panose="02010609060101010101" pitchFamily="49" charset="-122"/>
                <a:cs typeface="宋体" panose="02010600030101010101" pitchFamily="2" charset="-122"/>
              </a:rPr>
              <a:t>设</a:t>
            </a:r>
            <a:r>
              <a:rPr lang="zh-CN" altLang="en-US" sz="2800" b="1" dirty="0">
                <a:latin typeface="黑体" panose="02010609060101010101" pitchFamily="49" charset="-122"/>
                <a:ea typeface="黑体" panose="02010609060101010101" pitchFamily="49" charset="-122"/>
                <a:cs typeface="宋体" panose="02010600030101010101" pitchFamily="2" charset="-122"/>
              </a:rPr>
              <a:t>计思</a:t>
            </a:r>
            <a:r>
              <a:rPr lang="zh-CN" altLang="en-US" sz="2800" b="1" spc="5" dirty="0">
                <a:latin typeface="黑体" panose="02010609060101010101" pitchFamily="49" charset="-122"/>
                <a:ea typeface="黑体" panose="02010609060101010101" pitchFamily="49" charset="-122"/>
                <a:cs typeface="宋体" panose="02010600030101010101" pitchFamily="2" charset="-122"/>
              </a:rPr>
              <a:t>想</a:t>
            </a:r>
            <a:r>
              <a:rPr lang="zh-CN" altLang="en-US" sz="2800" b="1" spc="-11" dirty="0">
                <a:latin typeface="黑体" panose="02010609060101010101" pitchFamily="49" charset="-122"/>
                <a:ea typeface="黑体" panose="02010609060101010101" pitchFamily="49" charset="-122"/>
                <a:cs typeface="宋体" panose="02010600030101010101" pitchFamily="2" charset="-122"/>
              </a:rPr>
              <a:t>：</a:t>
            </a:r>
            <a:endParaRPr lang="zh-CN" altLang="en-US" sz="2800" dirty="0">
              <a:latin typeface="黑体" panose="02010609060101010101" pitchFamily="49" charset="-122"/>
              <a:ea typeface="黑体" panose="02010609060101010101" pitchFamily="49" charset="-122"/>
              <a:cs typeface="宋体" panose="02010600030101010101" pitchFamily="2" charset="-122"/>
            </a:endParaRPr>
          </a:p>
          <a:p>
            <a:pPr marL="14605" algn="ctr"/>
            <a:r>
              <a:rPr lang="zh-CN" altLang="en-US" sz="2400" b="1" spc="-11" dirty="0">
                <a:latin typeface="黑体" panose="02010609060101010101" pitchFamily="49" charset="-122"/>
                <a:ea typeface="黑体" panose="02010609060101010101" pitchFamily="49" charset="-122"/>
                <a:cs typeface="宋体" panose="02010600030101010101" pitchFamily="2" charset="-122"/>
              </a:rPr>
              <a:t>二分</a:t>
            </a:r>
            <a:r>
              <a:rPr lang="zh-CN" altLang="en-US" sz="2400" b="1" dirty="0">
                <a:latin typeface="黑体" panose="02010609060101010101" pitchFamily="49" charset="-122"/>
                <a:ea typeface="黑体" panose="02010609060101010101" pitchFamily="49" charset="-122"/>
                <a:cs typeface="宋体" panose="02010600030101010101" pitchFamily="2" charset="-122"/>
              </a:rPr>
              <a:t>检索、</a:t>
            </a:r>
            <a:r>
              <a:rPr lang="zh-CN" altLang="en-US" sz="2400" b="1" spc="5" dirty="0">
                <a:latin typeface="黑体" panose="02010609060101010101" pitchFamily="49" charset="-122"/>
                <a:ea typeface="黑体" panose="02010609060101010101" pitchFamily="49" charset="-122"/>
                <a:cs typeface="宋体" panose="02010600030101010101" pitchFamily="2" charset="-122"/>
              </a:rPr>
              <a:t>二</a:t>
            </a:r>
            <a:r>
              <a:rPr lang="zh-CN" altLang="en-US" sz="2400" b="1" dirty="0">
                <a:latin typeface="黑体" panose="02010609060101010101" pitchFamily="49" charset="-122"/>
                <a:ea typeface="黑体" panose="02010609060101010101" pitchFamily="49" charset="-122"/>
                <a:cs typeface="宋体" panose="02010600030101010101" pitchFamily="2" charset="-122"/>
              </a:rPr>
              <a:t>分归</a:t>
            </a:r>
            <a:r>
              <a:rPr lang="zh-CN" altLang="en-US" sz="2400" b="1" spc="5" dirty="0">
                <a:latin typeface="黑体" panose="02010609060101010101" pitchFamily="49" charset="-122"/>
                <a:ea typeface="黑体" panose="02010609060101010101" pitchFamily="49" charset="-122"/>
                <a:cs typeface="宋体" panose="02010600030101010101" pitchFamily="2" charset="-122"/>
              </a:rPr>
              <a:t>并</a:t>
            </a:r>
            <a:r>
              <a:rPr lang="zh-CN" altLang="en-US" sz="2400" b="1" dirty="0">
                <a:latin typeface="黑体" panose="02010609060101010101" pitchFamily="49" charset="-122"/>
                <a:ea typeface="黑体" panose="02010609060101010101" pitchFamily="49" charset="-122"/>
                <a:cs typeface="宋体" panose="02010600030101010101" pitchFamily="2" charset="-122"/>
              </a:rPr>
              <a:t>排</a:t>
            </a:r>
            <a:r>
              <a:rPr lang="zh-CN" altLang="en-US" sz="2400" b="1" spc="5" dirty="0">
                <a:latin typeface="黑体" panose="02010609060101010101" pitchFamily="49" charset="-122"/>
                <a:ea typeface="黑体" panose="02010609060101010101" pitchFamily="49" charset="-122"/>
                <a:cs typeface="宋体" panose="02010600030101010101" pitchFamily="2" charset="-122"/>
              </a:rPr>
              <a:t>序</a:t>
            </a:r>
            <a:r>
              <a:rPr lang="zh-CN" altLang="en-US" sz="2400" b="1" spc="21" dirty="0">
                <a:latin typeface="黑体" panose="02010609060101010101" pitchFamily="49" charset="-122"/>
                <a:ea typeface="黑体" panose="02010609060101010101" pitchFamily="49" charset="-122"/>
                <a:cs typeface="宋体" panose="02010600030101010101" pitchFamily="2" charset="-122"/>
              </a:rPr>
              <a:t>、</a:t>
            </a:r>
            <a:r>
              <a:rPr lang="en-US" altLang="zh-CN" sz="2400" b="1" dirty="0">
                <a:latin typeface="黑体" panose="02010609060101010101" pitchFamily="49" charset="-122"/>
                <a:ea typeface="黑体" panose="02010609060101010101" pitchFamily="49" charset="-122"/>
                <a:cs typeface="Calibri" panose="020F0502020204030204"/>
              </a:rPr>
              <a:t>Hanoi</a:t>
            </a:r>
            <a:r>
              <a:rPr lang="zh-CN" altLang="en-US" sz="2400" b="1" spc="-11" dirty="0">
                <a:latin typeface="黑体" panose="02010609060101010101" pitchFamily="49" charset="-122"/>
                <a:ea typeface="黑体" panose="02010609060101010101" pitchFamily="49" charset="-122"/>
                <a:cs typeface="宋体" panose="02010600030101010101" pitchFamily="2" charset="-122"/>
              </a:rPr>
              <a:t>塔</a:t>
            </a:r>
            <a:endParaRPr lang="zh-CN" altLang="en-US" sz="2400" dirty="0">
              <a:latin typeface="黑体" panose="02010609060101010101" pitchFamily="49" charset="-122"/>
              <a:ea typeface="黑体" panose="02010609060101010101" pitchFamily="49" charset="-122"/>
              <a:cs typeface="宋体" panose="02010600030101010101" pitchFamily="2" charset="-122"/>
            </a:endParaRPr>
          </a:p>
        </p:txBody>
      </p:sp>
      <p:sp>
        <p:nvSpPr>
          <p:cNvPr id="23" name="矩形 22"/>
          <p:cNvSpPr/>
          <p:nvPr/>
        </p:nvSpPr>
        <p:spPr>
          <a:xfrm>
            <a:off x="2425388" y="3758987"/>
            <a:ext cx="4466341" cy="954107"/>
          </a:xfrm>
          <a:prstGeom prst="rect">
            <a:avLst/>
          </a:prstGeom>
        </p:spPr>
        <p:txBody>
          <a:bodyPr wrap="square">
            <a:spAutoFit/>
          </a:bodyPr>
          <a:lstStyle/>
          <a:p>
            <a:pPr marR="1029335" algn="ctr"/>
            <a:r>
              <a:rPr lang="zh-CN" altLang="en-US" sz="2800" b="1" spc="-11" dirty="0">
                <a:latin typeface="黑体" panose="02010609060101010101" pitchFamily="49" charset="-122"/>
                <a:ea typeface="黑体" panose="02010609060101010101" pitchFamily="49" charset="-122"/>
                <a:cs typeface="宋体" panose="02010600030101010101" pitchFamily="2" charset="-122"/>
              </a:rPr>
              <a:t>分治</a:t>
            </a:r>
            <a:r>
              <a:rPr lang="zh-CN" altLang="en-US" sz="2800" b="1" dirty="0">
                <a:latin typeface="黑体" panose="02010609060101010101" pitchFamily="49" charset="-122"/>
                <a:ea typeface="黑体" panose="02010609060101010101" pitchFamily="49" charset="-122"/>
                <a:cs typeface="宋体" panose="02010600030101010101" pitchFamily="2" charset="-122"/>
              </a:rPr>
              <a:t>算法的</a:t>
            </a:r>
            <a:r>
              <a:rPr lang="zh-CN" altLang="en-US" sz="2800" b="1" spc="5" dirty="0">
                <a:latin typeface="黑体" panose="02010609060101010101" pitchFamily="49" charset="-122"/>
                <a:ea typeface="黑体" panose="02010609060101010101" pitchFamily="49" charset="-122"/>
                <a:cs typeface="宋体" panose="02010600030101010101" pitchFamily="2" charset="-122"/>
              </a:rPr>
              <a:t>一</a:t>
            </a:r>
            <a:r>
              <a:rPr lang="zh-CN" altLang="en-US" sz="2800" b="1" dirty="0">
                <a:latin typeface="黑体" panose="02010609060101010101" pitchFamily="49" charset="-122"/>
                <a:ea typeface="黑体" panose="02010609060101010101" pitchFamily="49" charset="-122"/>
                <a:cs typeface="宋体" panose="02010600030101010101" pitchFamily="2" charset="-122"/>
              </a:rPr>
              <a:t>般描</a:t>
            </a:r>
            <a:r>
              <a:rPr lang="zh-CN" altLang="en-US" sz="2800" b="1" spc="-11" dirty="0">
                <a:latin typeface="黑体" panose="02010609060101010101" pitchFamily="49" charset="-122"/>
                <a:ea typeface="黑体" panose="02010609060101010101" pitchFamily="49" charset="-122"/>
                <a:cs typeface="宋体" panose="02010600030101010101" pitchFamily="2" charset="-122"/>
              </a:rPr>
              <a:t>述</a:t>
            </a:r>
            <a:endParaRPr lang="en-US" altLang="zh-CN" sz="2800" b="1" spc="-11" dirty="0">
              <a:latin typeface="黑体" panose="02010609060101010101" pitchFamily="49" charset="-122"/>
              <a:ea typeface="黑体" panose="02010609060101010101" pitchFamily="49" charset="-122"/>
              <a:cs typeface="宋体" panose="02010600030101010101" pitchFamily="2" charset="-122"/>
            </a:endParaRPr>
          </a:p>
          <a:p>
            <a:pPr marR="1029335" algn="ctr"/>
            <a:r>
              <a:rPr lang="zh-CN" altLang="en-US" sz="2800" b="1" spc="-11" dirty="0">
                <a:latin typeface="黑体" panose="02010609060101010101" pitchFamily="49" charset="-122"/>
                <a:ea typeface="黑体" panose="02010609060101010101" pitchFamily="49" charset="-122"/>
                <a:cs typeface="宋体" panose="02010600030101010101" pitchFamily="2" charset="-122"/>
              </a:rPr>
              <a:t>分治</a:t>
            </a:r>
            <a:r>
              <a:rPr lang="zh-CN" altLang="en-US" sz="2800" b="1" dirty="0">
                <a:latin typeface="黑体" panose="02010609060101010101" pitchFamily="49" charset="-122"/>
                <a:ea typeface="黑体" panose="02010609060101010101" pitchFamily="49" charset="-122"/>
                <a:cs typeface="宋体" panose="02010600030101010101" pitchFamily="2" charset="-122"/>
              </a:rPr>
              <a:t>算法的</a:t>
            </a:r>
            <a:r>
              <a:rPr lang="zh-CN" altLang="en-US" sz="2800" b="1" spc="5" dirty="0">
                <a:latin typeface="黑体" panose="02010609060101010101" pitchFamily="49" charset="-122"/>
                <a:ea typeface="黑体" panose="02010609060101010101" pitchFamily="49" charset="-122"/>
                <a:cs typeface="宋体" panose="02010600030101010101" pitchFamily="2" charset="-122"/>
              </a:rPr>
              <a:t>分</a:t>
            </a:r>
            <a:r>
              <a:rPr lang="zh-CN" altLang="en-US" sz="2800" b="1" dirty="0">
                <a:latin typeface="黑体" panose="02010609060101010101" pitchFamily="49" charset="-122"/>
                <a:ea typeface="黑体" panose="02010609060101010101" pitchFamily="49" charset="-122"/>
                <a:cs typeface="宋体" panose="02010600030101010101" pitchFamily="2" charset="-122"/>
              </a:rPr>
              <a:t>析方</a:t>
            </a:r>
            <a:r>
              <a:rPr lang="zh-CN" altLang="en-US" sz="2800" b="1" spc="-11" dirty="0">
                <a:latin typeface="黑体" panose="02010609060101010101" pitchFamily="49" charset="-122"/>
                <a:ea typeface="黑体" panose="02010609060101010101" pitchFamily="49" charset="-122"/>
                <a:cs typeface="宋体" panose="02010600030101010101" pitchFamily="2" charset="-122"/>
              </a:rPr>
              <a:t>法</a:t>
            </a:r>
            <a:endParaRPr lang="zh-CN" altLang="en-US" sz="2800" dirty="0">
              <a:latin typeface="黑体" panose="02010609060101010101" pitchFamily="49" charset="-122"/>
              <a:ea typeface="黑体" panose="02010609060101010101" pitchFamily="49" charset="-122"/>
              <a:cs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P spid="12" grpId="0" animBg="1"/>
      <p:bldP spid="14" grpId="0" animBg="1"/>
      <p:bldP spid="15" grpId="0" animBg="1"/>
      <p:bldP spid="17" grpId="0" animBg="1"/>
      <p:bldP spid="18" grpId="0"/>
      <p:bldP spid="2" grpId="0"/>
      <p:bldP spid="19" grpId="0"/>
      <p:bldP spid="20" grpId="0"/>
      <p:bldP spid="22" grpId="0"/>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txBox="1">
            <a:spLocks noGrp="1"/>
          </p:cNvSpPr>
          <p:nvPr>
            <p:ph type="title" idx="4294967295"/>
          </p:nvPr>
        </p:nvSpPr>
        <p:spPr>
          <a:xfrm>
            <a:off x="0" y="1970088"/>
            <a:ext cx="8588375" cy="2047875"/>
          </a:xfrm>
          <a:prstGeom prst="rect">
            <a:avLst/>
          </a:prstGeom>
        </p:spPr>
        <p:txBody>
          <a:bodyPr vert="horz" wrap="square" lIns="0" tIns="16933" rIns="0" bIns="0" rtlCol="0" anchor="ctr">
            <a:spAutoFit/>
          </a:bodyPr>
          <a:lstStyle/>
          <a:p>
            <a:pPr marR="6985" algn="ctr">
              <a:lnSpc>
                <a:spcPct val="100000"/>
              </a:lnSpc>
              <a:spcBef>
                <a:spcPts val="135"/>
              </a:spcBef>
            </a:pPr>
            <a:r>
              <a:rPr sz="6600" b="1" spc="-20" dirty="0" err="1">
                <a:solidFill>
                  <a:srgbClr val="C00000"/>
                </a:solidFill>
                <a:latin typeface="黑体" panose="02010609060101010101" pitchFamily="49" charset="-122"/>
                <a:ea typeface="黑体" panose="02010609060101010101" pitchFamily="49" charset="-122"/>
              </a:rPr>
              <a:t>分治</a:t>
            </a:r>
            <a:r>
              <a:rPr sz="6600" b="1" spc="7" dirty="0" err="1">
                <a:solidFill>
                  <a:srgbClr val="C00000"/>
                </a:solidFill>
                <a:latin typeface="黑体" panose="02010609060101010101" pitchFamily="49" charset="-122"/>
                <a:ea typeface="黑体" panose="02010609060101010101" pitchFamily="49" charset="-122"/>
              </a:rPr>
              <a:t>策略</a:t>
            </a:r>
            <a:br>
              <a:rPr lang="en-US" sz="6600" b="1" spc="7" dirty="0">
                <a:solidFill>
                  <a:srgbClr val="C00000"/>
                </a:solidFill>
                <a:latin typeface="黑体" panose="02010609060101010101" pitchFamily="49" charset="-122"/>
                <a:ea typeface="黑体" panose="02010609060101010101" pitchFamily="49" charset="-122"/>
              </a:rPr>
            </a:br>
            <a:r>
              <a:rPr sz="6600" b="1" spc="-27" dirty="0" err="1">
                <a:solidFill>
                  <a:srgbClr val="C00000"/>
                </a:solidFill>
                <a:latin typeface="黑体" panose="02010609060101010101" pitchFamily="49" charset="-122"/>
                <a:ea typeface="黑体" panose="02010609060101010101" pitchFamily="49" charset="-122"/>
              </a:rPr>
              <a:t>的</a:t>
            </a:r>
            <a:r>
              <a:rPr sz="6600" b="1" spc="-7" dirty="0" err="1">
                <a:solidFill>
                  <a:srgbClr val="C00000"/>
                </a:solidFill>
                <a:latin typeface="黑体" panose="02010609060101010101" pitchFamily="49" charset="-122"/>
                <a:ea typeface="黑体" panose="02010609060101010101" pitchFamily="49" charset="-122"/>
              </a:rPr>
              <a:t>设</a:t>
            </a:r>
            <a:r>
              <a:rPr sz="6600" b="1" dirty="0" err="1">
                <a:solidFill>
                  <a:srgbClr val="C00000"/>
                </a:solidFill>
                <a:latin typeface="黑体" panose="02010609060101010101" pitchFamily="49" charset="-122"/>
                <a:ea typeface="黑体" panose="02010609060101010101" pitchFamily="49" charset="-122"/>
              </a:rPr>
              <a:t>计</a:t>
            </a:r>
            <a:r>
              <a:rPr sz="6600" b="1" spc="-7" dirty="0" err="1">
                <a:solidFill>
                  <a:srgbClr val="C00000"/>
                </a:solidFill>
                <a:latin typeface="黑体" panose="02010609060101010101" pitchFamily="49" charset="-122"/>
                <a:ea typeface="黑体" panose="02010609060101010101" pitchFamily="49" charset="-122"/>
              </a:rPr>
              <a:t>思</a:t>
            </a:r>
            <a:r>
              <a:rPr sz="6600" b="1" spc="-27" dirty="0" err="1">
                <a:solidFill>
                  <a:srgbClr val="C00000"/>
                </a:solidFill>
                <a:latin typeface="黑体" panose="02010609060101010101" pitchFamily="49" charset="-122"/>
                <a:ea typeface="黑体" panose="02010609060101010101" pitchFamily="49" charset="-122"/>
              </a:rPr>
              <a:t>想</a:t>
            </a:r>
            <a:endParaRPr sz="6600" b="1" dirty="0">
              <a:solidFill>
                <a:srgbClr val="C00000"/>
              </a:solidFill>
              <a:latin typeface="黑体" panose="02010609060101010101" pitchFamily="49" charset="-122"/>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125" y="-30778"/>
            <a:ext cx="8905875" cy="694207"/>
          </a:xfrm>
          <a:prstGeom prst="rect">
            <a:avLst/>
          </a:prstGeom>
        </p:spPr>
        <p:txBody>
          <a:bodyPr vert="horz" wrap="square" lIns="0" tIns="16933" rIns="0" bIns="0" rtlCol="0" anchor="ctr">
            <a:spAutoFit/>
          </a:bodyPr>
          <a:lstStyle/>
          <a:p>
            <a:pPr marL="17145" algn="ctr">
              <a:lnSpc>
                <a:spcPct val="100000"/>
              </a:lnSpc>
              <a:spcBef>
                <a:spcPts val="135"/>
              </a:spcBef>
            </a:pPr>
            <a:r>
              <a:rPr sz="4400" b="1" spc="-20" dirty="0">
                <a:solidFill>
                  <a:srgbClr val="C00000"/>
                </a:solidFill>
                <a:latin typeface="黑体" panose="02010609060101010101" pitchFamily="49" charset="-122"/>
                <a:ea typeface="黑体" panose="02010609060101010101" pitchFamily="49" charset="-122"/>
              </a:rPr>
              <a:t>分治</a:t>
            </a:r>
            <a:r>
              <a:rPr sz="4400" b="1" spc="-7" dirty="0">
                <a:solidFill>
                  <a:srgbClr val="C00000"/>
                </a:solidFill>
                <a:latin typeface="黑体" panose="02010609060101010101" pitchFamily="49" charset="-122"/>
                <a:ea typeface="黑体" panose="02010609060101010101" pitchFamily="49" charset="-122"/>
              </a:rPr>
              <a:t>策</a:t>
            </a:r>
            <a:r>
              <a:rPr sz="4400" b="1" spc="-20" dirty="0">
                <a:solidFill>
                  <a:srgbClr val="C00000"/>
                </a:solidFill>
                <a:latin typeface="黑体" panose="02010609060101010101" pitchFamily="49" charset="-122"/>
                <a:ea typeface="黑体" panose="02010609060101010101" pitchFamily="49" charset="-122"/>
              </a:rPr>
              <a:t>略的</a:t>
            </a:r>
            <a:r>
              <a:rPr sz="4400" b="1" spc="-7" dirty="0">
                <a:solidFill>
                  <a:srgbClr val="C00000"/>
                </a:solidFill>
                <a:latin typeface="黑体" panose="02010609060101010101" pitchFamily="49" charset="-122"/>
                <a:ea typeface="黑体" panose="02010609060101010101" pitchFamily="49" charset="-122"/>
              </a:rPr>
              <a:t>基</a:t>
            </a:r>
            <a:r>
              <a:rPr sz="4400" b="1" spc="-20" dirty="0">
                <a:solidFill>
                  <a:srgbClr val="C00000"/>
                </a:solidFill>
                <a:latin typeface="黑体" panose="02010609060101010101" pitchFamily="49" charset="-122"/>
                <a:ea typeface="黑体" panose="02010609060101010101" pitchFamily="49" charset="-122"/>
              </a:rPr>
              <a:t>本</a:t>
            </a:r>
            <a:r>
              <a:rPr sz="4400" b="1" spc="7" dirty="0">
                <a:solidFill>
                  <a:srgbClr val="C00000"/>
                </a:solidFill>
                <a:latin typeface="黑体" panose="02010609060101010101" pitchFamily="49" charset="-122"/>
                <a:ea typeface="黑体" panose="02010609060101010101" pitchFamily="49" charset="-122"/>
              </a:rPr>
              <a:t>思</a:t>
            </a:r>
            <a:r>
              <a:rPr sz="4400" b="1" spc="-20" dirty="0">
                <a:solidFill>
                  <a:srgbClr val="C00000"/>
                </a:solidFill>
                <a:latin typeface="黑体" panose="02010609060101010101" pitchFamily="49" charset="-122"/>
                <a:ea typeface="黑体" panose="02010609060101010101" pitchFamily="49" charset="-122"/>
              </a:rPr>
              <a:t>想</a:t>
            </a:r>
            <a:endParaRPr sz="4400" b="1" spc="-20"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475656" y="1160925"/>
            <a:ext cx="8307659" cy="4408044"/>
          </a:xfrm>
          <a:prstGeom prst="rect">
            <a:avLst/>
          </a:prstGeom>
        </p:spPr>
        <p:txBody>
          <a:bodyPr vert="horz" wrap="square" lIns="0" tIns="67733" rIns="0" bIns="0" rtlCol="0">
            <a:spAutoFit/>
          </a:bodyPr>
          <a:lstStyle/>
          <a:p>
            <a:pPr marL="17145">
              <a:spcBef>
                <a:spcPts val="600"/>
              </a:spcBef>
            </a:pPr>
            <a:r>
              <a:rPr sz="3200" b="1" spc="-7" dirty="0" err="1">
                <a:solidFill>
                  <a:srgbClr val="C00000"/>
                </a:solidFill>
                <a:latin typeface="黑体" panose="02010609060101010101" pitchFamily="49" charset="-122"/>
                <a:ea typeface="黑体" panose="02010609060101010101" pitchFamily="49" charset="-122"/>
                <a:cs typeface="宋体" panose="02010600030101010101" pitchFamily="2" charset="-122"/>
              </a:rPr>
              <a:t>分治策略</a:t>
            </a:r>
            <a:r>
              <a:rPr sz="3200" b="1" spc="-13" dirty="0" err="1">
                <a:solidFill>
                  <a:srgbClr val="C00000"/>
                </a:solidFill>
                <a:latin typeface="黑体" panose="02010609060101010101" pitchFamily="49" charset="-122"/>
                <a:ea typeface="黑体" panose="02010609060101010101" pitchFamily="49" charset="-122"/>
                <a:cs typeface="宋体" panose="02010600030101010101" pitchFamily="2" charset="-122"/>
              </a:rPr>
              <a:t>（</a:t>
            </a:r>
            <a:r>
              <a:rPr sz="3200" b="1" spc="-7" dirty="0" err="1">
                <a:solidFill>
                  <a:srgbClr val="C00000"/>
                </a:solidFill>
                <a:latin typeface="黑体" panose="02010609060101010101" pitchFamily="49" charset="-122"/>
                <a:ea typeface="黑体" panose="02010609060101010101" pitchFamily="49" charset="-122"/>
                <a:cs typeface="Times New Roman" panose="02020603050405020304"/>
              </a:rPr>
              <a:t>Divide</a:t>
            </a:r>
            <a:r>
              <a:rPr sz="3200" b="1" dirty="0">
                <a:solidFill>
                  <a:srgbClr val="C00000"/>
                </a:solidFill>
                <a:latin typeface="黑体" panose="02010609060101010101" pitchFamily="49" charset="-122"/>
                <a:ea typeface="黑体" panose="02010609060101010101" pitchFamily="49" charset="-122"/>
                <a:cs typeface="Times New Roman" panose="02020603050405020304"/>
              </a:rPr>
              <a:t> </a:t>
            </a:r>
            <a:r>
              <a:rPr sz="3200" b="1" spc="-7" dirty="0">
                <a:solidFill>
                  <a:srgbClr val="C00000"/>
                </a:solidFill>
                <a:latin typeface="黑体" panose="02010609060101010101" pitchFamily="49" charset="-122"/>
                <a:ea typeface="黑体" panose="02010609060101010101" pitchFamily="49" charset="-122"/>
                <a:cs typeface="Times New Roman" panose="02020603050405020304"/>
              </a:rPr>
              <a:t>and Conquer</a:t>
            </a:r>
            <a:r>
              <a:rPr sz="3200" b="1" spc="-13" dirty="0">
                <a:solidFill>
                  <a:srgbClr val="C00000"/>
                </a:solidFill>
                <a:latin typeface="黑体" panose="02010609060101010101" pitchFamily="49" charset="-122"/>
                <a:ea typeface="黑体" panose="02010609060101010101" pitchFamily="49" charset="-122"/>
                <a:cs typeface="宋体" panose="02010600030101010101" pitchFamily="2" charset="-122"/>
              </a:rPr>
              <a:t>）</a:t>
            </a:r>
            <a:endParaRPr sz="3200" dirty="0">
              <a:latin typeface="黑体" panose="02010609060101010101" pitchFamily="49" charset="-122"/>
              <a:ea typeface="黑体" panose="02010609060101010101" pitchFamily="49" charset="-122"/>
              <a:cs typeface="宋体" panose="02010600030101010101" pitchFamily="2" charset="-122"/>
            </a:endParaRPr>
          </a:p>
          <a:p>
            <a:pPr marL="523240" marR="8255" indent="-507365">
              <a:spcBef>
                <a:spcPts val="600"/>
              </a:spcBef>
              <a:tabLst>
                <a:tab pos="531495" algn="l"/>
              </a:tabLst>
            </a:pPr>
            <a:r>
              <a:rPr lang="en-US" sz="2800" b="1" dirty="0">
                <a:latin typeface="黑体" panose="02010609060101010101" pitchFamily="49" charset="-122"/>
                <a:ea typeface="黑体" panose="02010609060101010101" pitchFamily="49" charset="-122"/>
                <a:cs typeface="Times New Roman" panose="02020603050405020304"/>
              </a:rPr>
              <a:t>  </a:t>
            </a:r>
            <a:r>
              <a:rPr sz="2800" b="1" dirty="0">
                <a:latin typeface="黑体" panose="02010609060101010101" pitchFamily="49" charset="-122"/>
                <a:ea typeface="黑体" panose="02010609060101010101" pitchFamily="49" charset="-122"/>
                <a:cs typeface="Times New Roman" panose="02020603050405020304"/>
              </a:rPr>
              <a:t>1.</a:t>
            </a:r>
            <a:r>
              <a:rPr sz="2800" b="1" spc="-13" dirty="0">
                <a:latin typeface="黑体" panose="02010609060101010101" pitchFamily="49" charset="-122"/>
                <a:ea typeface="黑体" panose="02010609060101010101" pitchFamily="49" charset="-122"/>
                <a:cs typeface="宋体" panose="02010600030101010101" pitchFamily="2" charset="-122"/>
              </a:rPr>
              <a:t>将</a:t>
            </a:r>
            <a:r>
              <a:rPr sz="2800" b="1" spc="-7" dirty="0">
                <a:latin typeface="黑体" panose="02010609060101010101" pitchFamily="49" charset="-122"/>
                <a:ea typeface="黑体" panose="02010609060101010101" pitchFamily="49" charset="-122"/>
                <a:cs typeface="宋体" panose="02010600030101010101" pitchFamily="2" charset="-122"/>
              </a:rPr>
              <a:t>原</a:t>
            </a:r>
            <a:r>
              <a:rPr sz="2800" b="1" spc="-13" dirty="0">
                <a:latin typeface="黑体" panose="02010609060101010101" pitchFamily="49" charset="-122"/>
                <a:ea typeface="黑体" panose="02010609060101010101" pitchFamily="49" charset="-122"/>
                <a:cs typeface="宋体" panose="02010600030101010101" pitchFamily="2" charset="-122"/>
              </a:rPr>
              <a:t>始</a:t>
            </a:r>
            <a:r>
              <a:rPr sz="2800" b="1" spc="-7" dirty="0">
                <a:latin typeface="黑体" panose="02010609060101010101" pitchFamily="49" charset="-122"/>
                <a:ea typeface="黑体" panose="02010609060101010101" pitchFamily="49" charset="-122"/>
                <a:cs typeface="宋体" panose="02010600030101010101" pitchFamily="2" charset="-122"/>
              </a:rPr>
              <a:t>问题</a:t>
            </a:r>
            <a:r>
              <a:rPr sz="2800" b="1" spc="7" dirty="0">
                <a:latin typeface="黑体" panose="02010609060101010101" pitchFamily="49" charset="-122"/>
                <a:ea typeface="黑体" panose="02010609060101010101" pitchFamily="49" charset="-122"/>
                <a:cs typeface="宋体" panose="02010600030101010101" pitchFamily="2" charset="-122"/>
              </a:rPr>
              <a:t>划</a:t>
            </a:r>
            <a:r>
              <a:rPr sz="2800" b="1" spc="-7" dirty="0">
                <a:latin typeface="黑体" panose="02010609060101010101" pitchFamily="49" charset="-122"/>
                <a:ea typeface="黑体" panose="02010609060101010101" pitchFamily="49" charset="-122"/>
                <a:cs typeface="宋体" panose="02010600030101010101" pitchFamily="2" charset="-122"/>
              </a:rPr>
              <a:t>分或者归结为规</a:t>
            </a:r>
            <a:r>
              <a:rPr sz="2800" b="1" spc="40" dirty="0">
                <a:latin typeface="黑体" panose="02010609060101010101" pitchFamily="49" charset="-122"/>
                <a:ea typeface="黑体" panose="02010609060101010101" pitchFamily="49" charset="-122"/>
                <a:cs typeface="宋体" panose="02010600030101010101" pitchFamily="2" charset="-122"/>
              </a:rPr>
              <a:t>模</a:t>
            </a:r>
            <a:r>
              <a:rPr sz="2800" b="1" spc="-13" dirty="0">
                <a:latin typeface="黑体" panose="02010609060101010101" pitchFamily="49" charset="-122"/>
                <a:ea typeface="黑体" panose="02010609060101010101" pitchFamily="49" charset="-122"/>
                <a:cs typeface="宋体" panose="02010600030101010101" pitchFamily="2" charset="-122"/>
              </a:rPr>
              <a:t>较</a:t>
            </a:r>
            <a:r>
              <a:rPr sz="2800" b="1" spc="-7" dirty="0">
                <a:latin typeface="黑体" panose="02010609060101010101" pitchFamily="49" charset="-122"/>
                <a:ea typeface="黑体" panose="02010609060101010101" pitchFamily="49" charset="-122"/>
                <a:cs typeface="宋体" panose="02010600030101010101" pitchFamily="2" charset="-122"/>
              </a:rPr>
              <a:t>小</a:t>
            </a:r>
            <a:r>
              <a:rPr sz="2800" b="1" spc="-13" dirty="0">
                <a:latin typeface="黑体" panose="02010609060101010101" pitchFamily="49" charset="-122"/>
                <a:ea typeface="黑体" panose="02010609060101010101" pitchFamily="49" charset="-122"/>
                <a:cs typeface="宋体" panose="02010600030101010101" pitchFamily="2" charset="-122"/>
              </a:rPr>
              <a:t>的</a:t>
            </a:r>
            <a:r>
              <a:rPr sz="2800" b="1" spc="-7" dirty="0">
                <a:latin typeface="黑体" panose="02010609060101010101" pitchFamily="49" charset="-122"/>
                <a:ea typeface="黑体" panose="02010609060101010101" pitchFamily="49" charset="-122"/>
                <a:cs typeface="宋体" panose="02010600030101010101" pitchFamily="2" charset="-122"/>
              </a:rPr>
              <a:t>子问</a:t>
            </a:r>
            <a:r>
              <a:rPr sz="2800" b="1" spc="-13" dirty="0">
                <a:latin typeface="黑体" panose="02010609060101010101" pitchFamily="49" charset="-122"/>
                <a:ea typeface="黑体" panose="02010609060101010101" pitchFamily="49" charset="-122"/>
                <a:cs typeface="宋体" panose="02010600030101010101" pitchFamily="2" charset="-122"/>
              </a:rPr>
              <a:t>题</a:t>
            </a:r>
            <a:endParaRPr lang="en-US" sz="2800" dirty="0">
              <a:latin typeface="黑体" panose="02010609060101010101" pitchFamily="49" charset="-122"/>
              <a:ea typeface="黑体" panose="02010609060101010101" pitchFamily="49" charset="-122"/>
              <a:cs typeface="宋体" panose="02010600030101010101" pitchFamily="2" charset="-122"/>
            </a:endParaRPr>
          </a:p>
          <a:p>
            <a:pPr marL="523240" marR="8255" indent="-507365">
              <a:spcBef>
                <a:spcPts val="600"/>
              </a:spcBef>
              <a:tabLst>
                <a:tab pos="531495" algn="l"/>
              </a:tabLst>
            </a:pPr>
            <a:r>
              <a:rPr lang="en-US" sz="2800" b="1" spc="-13" dirty="0">
                <a:latin typeface="黑体" panose="02010609060101010101" pitchFamily="49" charset="-122"/>
                <a:ea typeface="黑体" panose="02010609060101010101" pitchFamily="49" charset="-122"/>
                <a:cs typeface="宋体" panose="02010600030101010101" pitchFamily="2" charset="-122"/>
              </a:rPr>
              <a:t>  2.</a:t>
            </a:r>
            <a:r>
              <a:rPr sz="2800" b="1" spc="-13" dirty="0">
                <a:latin typeface="黑体" panose="02010609060101010101" pitchFamily="49" charset="-122"/>
                <a:ea typeface="黑体" panose="02010609060101010101" pitchFamily="49" charset="-122"/>
                <a:cs typeface="宋体" panose="02010600030101010101" pitchFamily="2" charset="-122"/>
              </a:rPr>
              <a:t>递</a:t>
            </a:r>
            <a:r>
              <a:rPr sz="2800" b="1" spc="-7" dirty="0">
                <a:latin typeface="黑体" panose="02010609060101010101" pitchFamily="49" charset="-122"/>
                <a:ea typeface="黑体" panose="02010609060101010101" pitchFamily="49" charset="-122"/>
                <a:cs typeface="宋体" panose="02010600030101010101" pitchFamily="2" charset="-122"/>
              </a:rPr>
              <a:t>归</a:t>
            </a:r>
            <a:r>
              <a:rPr sz="2800" b="1" spc="-13" dirty="0">
                <a:latin typeface="黑体" panose="02010609060101010101" pitchFamily="49" charset="-122"/>
                <a:ea typeface="黑体" panose="02010609060101010101" pitchFamily="49" charset="-122"/>
                <a:cs typeface="宋体" panose="02010600030101010101" pitchFamily="2" charset="-122"/>
              </a:rPr>
              <a:t>或</a:t>
            </a:r>
            <a:r>
              <a:rPr sz="2800" b="1" spc="-7" dirty="0">
                <a:latin typeface="黑体" panose="02010609060101010101" pitchFamily="49" charset="-122"/>
                <a:ea typeface="黑体" panose="02010609060101010101" pitchFamily="49" charset="-122"/>
                <a:cs typeface="宋体" panose="02010600030101010101" pitchFamily="2" charset="-122"/>
              </a:rPr>
              <a:t>迭代</a:t>
            </a:r>
            <a:r>
              <a:rPr sz="2800" b="1" spc="7" dirty="0">
                <a:latin typeface="黑体" panose="02010609060101010101" pitchFamily="49" charset="-122"/>
                <a:ea typeface="黑体" panose="02010609060101010101" pitchFamily="49" charset="-122"/>
                <a:cs typeface="宋体" panose="02010600030101010101" pitchFamily="2" charset="-122"/>
              </a:rPr>
              <a:t>求</a:t>
            </a:r>
            <a:r>
              <a:rPr sz="2800" b="1" spc="13" dirty="0">
                <a:latin typeface="黑体" panose="02010609060101010101" pitchFamily="49" charset="-122"/>
                <a:ea typeface="黑体" panose="02010609060101010101" pitchFamily="49" charset="-122"/>
                <a:cs typeface="宋体" panose="02010600030101010101" pitchFamily="2" charset="-122"/>
              </a:rPr>
              <a:t>解</a:t>
            </a:r>
            <a:r>
              <a:rPr sz="2800" b="1" dirty="0">
                <a:latin typeface="黑体" panose="02010609060101010101" pitchFamily="49" charset="-122"/>
                <a:ea typeface="黑体" panose="02010609060101010101" pitchFamily="49" charset="-122"/>
                <a:cs typeface="宋体" panose="02010600030101010101" pitchFamily="2" charset="-122"/>
              </a:rPr>
              <a:t>每个子问题</a:t>
            </a:r>
            <a:endParaRPr sz="2800" dirty="0">
              <a:latin typeface="黑体" panose="02010609060101010101" pitchFamily="49" charset="-122"/>
              <a:ea typeface="黑体" panose="02010609060101010101" pitchFamily="49" charset="-122"/>
              <a:cs typeface="宋体" panose="02010600030101010101" pitchFamily="2" charset="-122"/>
            </a:endParaRPr>
          </a:p>
          <a:p>
            <a:pPr marL="15875">
              <a:spcBef>
                <a:spcPts val="600"/>
              </a:spcBef>
              <a:tabLst>
                <a:tab pos="531495" algn="l"/>
                <a:tab pos="532130" algn="l"/>
              </a:tabLst>
            </a:pPr>
            <a:r>
              <a:rPr lang="en-US" sz="2800" b="1" spc="-13" dirty="0">
                <a:latin typeface="黑体" panose="02010609060101010101" pitchFamily="49" charset="-122"/>
                <a:ea typeface="黑体" panose="02010609060101010101" pitchFamily="49" charset="-122"/>
                <a:cs typeface="宋体" panose="02010600030101010101" pitchFamily="2" charset="-122"/>
              </a:rPr>
              <a:t>  3.</a:t>
            </a:r>
            <a:r>
              <a:rPr sz="2800" b="1" spc="-13" dirty="0">
                <a:latin typeface="黑体" panose="02010609060101010101" pitchFamily="49" charset="-122"/>
                <a:ea typeface="黑体" panose="02010609060101010101" pitchFamily="49" charset="-122"/>
                <a:cs typeface="宋体" panose="02010600030101010101" pitchFamily="2" charset="-122"/>
              </a:rPr>
              <a:t>将子问题</a:t>
            </a:r>
            <a:r>
              <a:rPr sz="2800" b="1" dirty="0">
                <a:latin typeface="黑体" panose="02010609060101010101" pitchFamily="49" charset="-122"/>
                <a:ea typeface="黑体" panose="02010609060101010101" pitchFamily="49" charset="-122"/>
                <a:cs typeface="宋体" panose="02010600030101010101" pitchFamily="2" charset="-122"/>
              </a:rPr>
              <a:t>的解</a:t>
            </a:r>
            <a:r>
              <a:rPr sz="2800" b="1" spc="-7" dirty="0">
                <a:latin typeface="黑体" panose="02010609060101010101" pitchFamily="49" charset="-122"/>
                <a:ea typeface="黑体" panose="02010609060101010101" pitchFamily="49" charset="-122"/>
                <a:cs typeface="宋体" panose="02010600030101010101" pitchFamily="2" charset="-122"/>
              </a:rPr>
              <a:t>综</a:t>
            </a:r>
            <a:r>
              <a:rPr sz="2800" b="1" dirty="0">
                <a:latin typeface="黑体" panose="02010609060101010101" pitchFamily="49" charset="-122"/>
                <a:ea typeface="黑体" panose="02010609060101010101" pitchFamily="49" charset="-122"/>
                <a:cs typeface="宋体" panose="02010600030101010101" pitchFamily="2" charset="-122"/>
              </a:rPr>
              <a:t>合得到原问题的解</a:t>
            </a:r>
            <a:endParaRPr sz="2800" dirty="0">
              <a:latin typeface="黑体" panose="02010609060101010101" pitchFamily="49" charset="-122"/>
              <a:ea typeface="黑体" panose="02010609060101010101" pitchFamily="49" charset="-122"/>
              <a:cs typeface="宋体" panose="02010600030101010101" pitchFamily="2" charset="-122"/>
            </a:endParaRPr>
          </a:p>
          <a:p>
            <a:pPr marL="17145">
              <a:spcBef>
                <a:spcPts val="2400"/>
              </a:spcBef>
            </a:pPr>
            <a:r>
              <a:rPr sz="3200" b="1" spc="-7" dirty="0">
                <a:solidFill>
                  <a:srgbClr val="C00000"/>
                </a:solidFill>
                <a:latin typeface="黑体" panose="02010609060101010101" pitchFamily="49" charset="-122"/>
                <a:ea typeface="黑体" panose="02010609060101010101" pitchFamily="49" charset="-122"/>
                <a:cs typeface="宋体" panose="02010600030101010101" pitchFamily="2" charset="-122"/>
              </a:rPr>
              <a:t>注意：</a:t>
            </a:r>
            <a:endParaRPr sz="3200" dirty="0">
              <a:latin typeface="黑体" panose="02010609060101010101" pitchFamily="49" charset="-122"/>
              <a:ea typeface="黑体" panose="02010609060101010101" pitchFamily="49" charset="-122"/>
              <a:cs typeface="宋体" panose="02010600030101010101" pitchFamily="2" charset="-122"/>
            </a:endParaRPr>
          </a:p>
          <a:p>
            <a:pPr marL="15875">
              <a:spcBef>
                <a:spcPts val="600"/>
              </a:spcBef>
              <a:tabLst>
                <a:tab pos="531495" algn="l"/>
                <a:tab pos="532130" algn="l"/>
              </a:tabLst>
            </a:pPr>
            <a:r>
              <a:rPr lang="en-US" sz="2800" b="1" spc="-13" dirty="0">
                <a:latin typeface="黑体" panose="02010609060101010101" pitchFamily="49" charset="-122"/>
                <a:ea typeface="黑体" panose="02010609060101010101" pitchFamily="49" charset="-122"/>
                <a:cs typeface="宋体" panose="02010600030101010101" pitchFamily="2" charset="-122"/>
              </a:rPr>
              <a:t>  1.</a:t>
            </a:r>
            <a:r>
              <a:rPr sz="2800" b="1" spc="-13" dirty="0">
                <a:latin typeface="黑体" panose="02010609060101010101" pitchFamily="49" charset="-122"/>
                <a:ea typeface="黑体" panose="02010609060101010101" pitchFamily="49" charset="-122"/>
                <a:cs typeface="宋体" panose="02010600030101010101" pitchFamily="2" charset="-122"/>
              </a:rPr>
              <a:t>子</a:t>
            </a:r>
            <a:r>
              <a:rPr sz="2800" b="1" spc="-7" dirty="0">
                <a:latin typeface="黑体" panose="02010609060101010101" pitchFamily="49" charset="-122"/>
                <a:ea typeface="黑体" panose="02010609060101010101" pitchFamily="49" charset="-122"/>
                <a:cs typeface="宋体" panose="02010600030101010101" pitchFamily="2" charset="-122"/>
              </a:rPr>
              <a:t>问</a:t>
            </a:r>
            <a:r>
              <a:rPr sz="2800" b="1" spc="-13" dirty="0">
                <a:latin typeface="黑体" panose="02010609060101010101" pitchFamily="49" charset="-122"/>
                <a:ea typeface="黑体" panose="02010609060101010101" pitchFamily="49" charset="-122"/>
                <a:cs typeface="宋体" panose="02010600030101010101" pitchFamily="2" charset="-122"/>
              </a:rPr>
              <a:t>题</a:t>
            </a:r>
            <a:r>
              <a:rPr sz="2800" b="1" spc="-7" dirty="0">
                <a:latin typeface="黑体" panose="02010609060101010101" pitchFamily="49" charset="-122"/>
                <a:ea typeface="黑体" panose="02010609060101010101" pitchFamily="49" charset="-122"/>
                <a:cs typeface="宋体" panose="02010600030101010101" pitchFamily="2" charset="-122"/>
              </a:rPr>
              <a:t>与原</a:t>
            </a:r>
            <a:r>
              <a:rPr sz="2800" b="1" spc="7" dirty="0">
                <a:latin typeface="黑体" panose="02010609060101010101" pitchFamily="49" charset="-122"/>
                <a:ea typeface="黑体" panose="02010609060101010101" pitchFamily="49" charset="-122"/>
                <a:cs typeface="宋体" panose="02010600030101010101" pitchFamily="2" charset="-122"/>
              </a:rPr>
              <a:t>始</a:t>
            </a:r>
            <a:r>
              <a:rPr sz="2800" b="1" spc="-7" dirty="0">
                <a:latin typeface="黑体" panose="02010609060101010101" pitchFamily="49" charset="-122"/>
                <a:ea typeface="黑体" panose="02010609060101010101" pitchFamily="49" charset="-122"/>
                <a:cs typeface="宋体" panose="02010600030101010101" pitchFamily="2" charset="-122"/>
              </a:rPr>
              <a:t>问题性质完全一</a:t>
            </a:r>
            <a:r>
              <a:rPr sz="2800" b="1" spc="-13" dirty="0">
                <a:latin typeface="黑体" panose="02010609060101010101" pitchFamily="49" charset="-122"/>
                <a:ea typeface="黑体" panose="02010609060101010101" pitchFamily="49" charset="-122"/>
                <a:cs typeface="宋体" panose="02010600030101010101" pitchFamily="2" charset="-122"/>
              </a:rPr>
              <a:t>样</a:t>
            </a:r>
            <a:endParaRPr sz="2800" dirty="0">
              <a:latin typeface="黑体" panose="02010609060101010101" pitchFamily="49" charset="-122"/>
              <a:ea typeface="黑体" panose="02010609060101010101" pitchFamily="49" charset="-122"/>
              <a:cs typeface="宋体" panose="02010600030101010101" pitchFamily="2" charset="-122"/>
            </a:endParaRPr>
          </a:p>
          <a:p>
            <a:pPr marL="15875">
              <a:spcBef>
                <a:spcPts val="600"/>
              </a:spcBef>
              <a:tabLst>
                <a:tab pos="531495" algn="l"/>
                <a:tab pos="532130" algn="l"/>
              </a:tabLst>
            </a:pPr>
            <a:r>
              <a:rPr lang="en-US" sz="2800" b="1" spc="-13" dirty="0">
                <a:latin typeface="黑体" panose="02010609060101010101" pitchFamily="49" charset="-122"/>
                <a:ea typeface="黑体" panose="02010609060101010101" pitchFamily="49" charset="-122"/>
                <a:cs typeface="宋体" panose="02010600030101010101" pitchFamily="2" charset="-122"/>
              </a:rPr>
              <a:t>  2.</a:t>
            </a:r>
            <a:r>
              <a:rPr sz="2800" b="1" spc="-13" dirty="0">
                <a:latin typeface="黑体" panose="02010609060101010101" pitchFamily="49" charset="-122"/>
                <a:ea typeface="黑体" panose="02010609060101010101" pitchFamily="49" charset="-122"/>
                <a:cs typeface="宋体" panose="02010600030101010101" pitchFamily="2" charset="-122"/>
              </a:rPr>
              <a:t>子</a:t>
            </a:r>
            <a:r>
              <a:rPr sz="2800" b="1" spc="-7" dirty="0">
                <a:latin typeface="黑体" panose="02010609060101010101" pitchFamily="49" charset="-122"/>
                <a:ea typeface="黑体" panose="02010609060101010101" pitchFamily="49" charset="-122"/>
                <a:cs typeface="宋体" panose="02010600030101010101" pitchFamily="2" charset="-122"/>
              </a:rPr>
              <a:t>问</a:t>
            </a:r>
            <a:r>
              <a:rPr sz="2800" b="1" spc="-13" dirty="0">
                <a:latin typeface="黑体" panose="02010609060101010101" pitchFamily="49" charset="-122"/>
                <a:ea typeface="黑体" panose="02010609060101010101" pitchFamily="49" charset="-122"/>
                <a:cs typeface="宋体" panose="02010600030101010101" pitchFamily="2" charset="-122"/>
              </a:rPr>
              <a:t>题</a:t>
            </a:r>
            <a:r>
              <a:rPr sz="2800" b="1" spc="-7" dirty="0">
                <a:latin typeface="黑体" panose="02010609060101010101" pitchFamily="49" charset="-122"/>
                <a:ea typeface="黑体" panose="02010609060101010101" pitchFamily="49" charset="-122"/>
                <a:cs typeface="宋体" panose="02010600030101010101" pitchFamily="2" charset="-122"/>
              </a:rPr>
              <a:t>之间</a:t>
            </a:r>
            <a:r>
              <a:rPr sz="2800" b="1" spc="7" dirty="0">
                <a:latin typeface="黑体" panose="02010609060101010101" pitchFamily="49" charset="-122"/>
                <a:ea typeface="黑体" panose="02010609060101010101" pitchFamily="49" charset="-122"/>
                <a:cs typeface="宋体" panose="02010600030101010101" pitchFamily="2" charset="-122"/>
              </a:rPr>
              <a:t>可</a:t>
            </a:r>
            <a:r>
              <a:rPr sz="2800" b="1" spc="-7" dirty="0">
                <a:latin typeface="黑体" panose="02010609060101010101" pitchFamily="49" charset="-122"/>
                <a:ea typeface="黑体" panose="02010609060101010101" pitchFamily="49" charset="-122"/>
                <a:cs typeface="宋体" panose="02010600030101010101" pitchFamily="2" charset="-122"/>
              </a:rPr>
              <a:t>彼此独立地求</a:t>
            </a:r>
            <a:r>
              <a:rPr sz="2800" b="1" spc="-13" dirty="0">
                <a:latin typeface="黑体" panose="02010609060101010101" pitchFamily="49" charset="-122"/>
                <a:ea typeface="黑体" panose="02010609060101010101" pitchFamily="49" charset="-122"/>
                <a:cs typeface="宋体" panose="02010600030101010101" pitchFamily="2" charset="-122"/>
              </a:rPr>
              <a:t>解</a:t>
            </a:r>
            <a:endParaRPr sz="2800" dirty="0">
              <a:latin typeface="黑体" panose="02010609060101010101" pitchFamily="49" charset="-122"/>
              <a:ea typeface="黑体" panose="02010609060101010101" pitchFamily="49" charset="-122"/>
              <a:cs typeface="宋体" panose="02010600030101010101" pitchFamily="2" charset="-122"/>
            </a:endParaRPr>
          </a:p>
          <a:p>
            <a:pPr marL="15875">
              <a:spcBef>
                <a:spcPts val="600"/>
              </a:spcBef>
              <a:tabLst>
                <a:tab pos="531495" algn="l"/>
                <a:tab pos="532130" algn="l"/>
              </a:tabLst>
            </a:pPr>
            <a:r>
              <a:rPr lang="en-US" sz="2800" b="1" spc="-13" dirty="0">
                <a:latin typeface="黑体" panose="02010609060101010101" pitchFamily="49" charset="-122"/>
                <a:ea typeface="黑体" panose="02010609060101010101" pitchFamily="49" charset="-122"/>
                <a:cs typeface="宋体" panose="02010600030101010101" pitchFamily="2" charset="-122"/>
              </a:rPr>
              <a:t>  3.</a:t>
            </a:r>
            <a:r>
              <a:rPr sz="2800" b="1" spc="-13" dirty="0">
                <a:latin typeface="黑体" panose="02010609060101010101" pitchFamily="49" charset="-122"/>
                <a:ea typeface="黑体" panose="02010609060101010101" pitchFamily="49" charset="-122"/>
                <a:cs typeface="宋体" panose="02010600030101010101" pitchFamily="2" charset="-122"/>
              </a:rPr>
              <a:t>递归停止</a:t>
            </a:r>
            <a:r>
              <a:rPr sz="2800" b="1" spc="-7" dirty="0">
                <a:latin typeface="黑体" panose="02010609060101010101" pitchFamily="49" charset="-122"/>
                <a:ea typeface="黑体" panose="02010609060101010101" pitchFamily="49" charset="-122"/>
                <a:cs typeface="宋体" panose="02010600030101010101" pitchFamily="2" charset="-122"/>
              </a:rPr>
              <a:t>时</a:t>
            </a:r>
            <a:r>
              <a:rPr sz="2800" b="1" dirty="0">
                <a:latin typeface="黑体" panose="02010609060101010101" pitchFamily="49" charset="-122"/>
                <a:ea typeface="黑体" panose="02010609060101010101" pitchFamily="49" charset="-122"/>
                <a:cs typeface="宋体" panose="02010600030101010101" pitchFamily="2" charset="-122"/>
              </a:rPr>
              <a:t>子</a:t>
            </a:r>
            <a:r>
              <a:rPr sz="2800" b="1" spc="-7" dirty="0">
                <a:latin typeface="黑体" panose="02010609060101010101" pitchFamily="49" charset="-122"/>
                <a:ea typeface="黑体" panose="02010609060101010101" pitchFamily="49" charset="-122"/>
                <a:cs typeface="宋体" panose="02010600030101010101" pitchFamily="2" charset="-122"/>
              </a:rPr>
              <a:t>问题可直接求</a:t>
            </a:r>
            <a:r>
              <a:rPr sz="2800" b="1" spc="-13" dirty="0">
                <a:latin typeface="黑体" panose="02010609060101010101" pitchFamily="49" charset="-122"/>
                <a:ea typeface="黑体" panose="02010609060101010101" pitchFamily="49" charset="-122"/>
                <a:cs typeface="宋体" panose="02010600030101010101" pitchFamily="2" charset="-122"/>
              </a:rPr>
              <a:t>解</a:t>
            </a:r>
            <a:endParaRPr sz="2800" dirty="0">
              <a:latin typeface="黑体" panose="02010609060101010101" pitchFamily="49" charset="-122"/>
              <a:ea typeface="黑体" panose="02010609060101010101" pitchFamily="49" charset="-122"/>
              <a:cs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304" y="2394"/>
            <a:ext cx="8902261" cy="695062"/>
          </a:xfrm>
          <a:prstGeom prst="rect">
            <a:avLst/>
          </a:prstGeom>
        </p:spPr>
        <p:txBody>
          <a:bodyPr vert="horz" wrap="square" lIns="0" tIns="17780" rIns="0" bIns="0" rtlCol="0" anchor="ctr">
            <a:spAutoFit/>
          </a:bodyPr>
          <a:lstStyle/>
          <a:p>
            <a:pPr marL="17145" algn="ctr">
              <a:lnSpc>
                <a:spcPct val="100000"/>
              </a:lnSpc>
              <a:spcBef>
                <a:spcPts val="140"/>
              </a:spcBef>
            </a:pPr>
            <a:r>
              <a:rPr sz="4400" b="1" spc="-20" dirty="0">
                <a:solidFill>
                  <a:srgbClr val="C00000"/>
                </a:solidFill>
                <a:latin typeface="黑体" panose="02010609060101010101" pitchFamily="49" charset="-122"/>
                <a:ea typeface="黑体" panose="02010609060101010101" pitchFamily="49" charset="-122"/>
              </a:rPr>
              <a:t>二分检索</a:t>
            </a:r>
            <a:endParaRPr sz="4400" b="1" spc="-20"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485916" y="1144729"/>
            <a:ext cx="8933794" cy="1309760"/>
          </a:xfrm>
          <a:prstGeom prst="rect">
            <a:avLst/>
          </a:prstGeom>
        </p:spPr>
        <p:txBody>
          <a:bodyPr vert="horz" wrap="square" lIns="0" tIns="16933" rIns="0" bIns="0" rtlCol="0">
            <a:spAutoFit/>
          </a:bodyPr>
          <a:lstStyle/>
          <a:p>
            <a:pPr marL="17145">
              <a:spcBef>
                <a:spcPts val="135"/>
              </a:spcBef>
            </a:pPr>
            <a:r>
              <a:rPr sz="2800" b="1" spc="-7" dirty="0">
                <a:latin typeface="Times New Roman" panose="02020603050405020304" pitchFamily="18" charset="0"/>
                <a:ea typeface="黑体" panose="02010609060101010101" pitchFamily="49" charset="-122"/>
                <a:cs typeface="Times New Roman" panose="02020603050405020304" pitchFamily="18" charset="0"/>
              </a:rPr>
              <a:t>算</a:t>
            </a:r>
            <a:r>
              <a:rPr sz="2800" b="1" spc="-13" dirty="0">
                <a:latin typeface="Times New Roman" panose="02020603050405020304" pitchFamily="18" charset="0"/>
                <a:ea typeface="黑体" panose="02010609060101010101" pitchFamily="49" charset="-122"/>
                <a:cs typeface="Times New Roman" panose="02020603050405020304" pitchFamily="18" charset="0"/>
              </a:rPr>
              <a:t>法 </a:t>
            </a:r>
            <a:r>
              <a:rPr sz="2800" b="1" dirty="0">
                <a:latin typeface="Times New Roman" panose="02020603050405020304" pitchFamily="18" charset="0"/>
                <a:ea typeface="黑体" panose="02010609060101010101" pitchFamily="49" charset="-122"/>
                <a:cs typeface="Times New Roman" panose="02020603050405020304" pitchFamily="18" charset="0"/>
              </a:rPr>
              <a:t>Binary </a:t>
            </a:r>
            <a:r>
              <a:rPr sz="2800" b="1" spc="-13" dirty="0">
                <a:latin typeface="Times New Roman" panose="02020603050405020304" pitchFamily="18" charset="0"/>
                <a:ea typeface="黑体" panose="02010609060101010101" pitchFamily="49" charset="-122"/>
                <a:cs typeface="Times New Roman" panose="02020603050405020304" pitchFamily="18" charset="0"/>
              </a:rPr>
              <a:t>Search</a:t>
            </a:r>
            <a:r>
              <a:rPr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spc="-107" dirty="0">
                <a:latin typeface="Times New Roman" panose="02020603050405020304" pitchFamily="18" charset="0"/>
                <a:ea typeface="黑体" panose="02010609060101010101" pitchFamily="49" charset="-122"/>
                <a:cs typeface="Times New Roman" panose="02020603050405020304" pitchFamily="18" charset="0"/>
              </a:rPr>
              <a:t>(</a:t>
            </a:r>
            <a:r>
              <a:rPr sz="2800" b="1" i="1" spc="-107" dirty="0">
                <a:latin typeface="Times New Roman" panose="02020603050405020304" pitchFamily="18" charset="0"/>
                <a:ea typeface="黑体" panose="02010609060101010101" pitchFamily="49" charset="-122"/>
                <a:cs typeface="Times New Roman" panose="02020603050405020304" pitchFamily="18" charset="0"/>
              </a:rPr>
              <a:t>T,</a:t>
            </a:r>
            <a:r>
              <a:rPr sz="2800" b="1" i="1" dirty="0">
                <a:latin typeface="Times New Roman" panose="02020603050405020304" pitchFamily="18" charset="0"/>
                <a:ea typeface="黑体" panose="02010609060101010101" pitchFamily="49" charset="-122"/>
                <a:cs typeface="Times New Roman" panose="02020603050405020304" pitchFamily="18" charset="0"/>
              </a:rPr>
              <a:t> l</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i="1" spc="-7" dirty="0">
                <a:latin typeface="Times New Roman" panose="02020603050405020304" pitchFamily="18" charset="0"/>
                <a:ea typeface="黑体" panose="02010609060101010101" pitchFamily="49" charset="-122"/>
                <a:cs typeface="Times New Roman" panose="02020603050405020304" pitchFamily="18" charset="0"/>
              </a:rPr>
              <a:t>r</a:t>
            </a:r>
            <a:r>
              <a:rPr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x</a:t>
            </a:r>
            <a:r>
              <a:rPr sz="2800" b="1" dirty="0">
                <a:latin typeface="Times New Roman" panose="02020603050405020304" pitchFamily="18" charset="0"/>
                <a:ea typeface="黑体" panose="02010609060101010101" pitchFamily="49" charset="-122"/>
                <a:cs typeface="Times New Roman" panose="02020603050405020304" pitchFamily="18" charset="0"/>
              </a:rPr>
              <a:t>)</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17145"/>
            <a:r>
              <a:rPr lang="en-US"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err="1">
                <a:latin typeface="Times New Roman" panose="02020603050405020304" pitchFamily="18" charset="0"/>
                <a:ea typeface="黑体" panose="02010609060101010101" pitchFamily="49" charset="-122"/>
                <a:cs typeface="Times New Roman" panose="02020603050405020304" pitchFamily="18" charset="0"/>
              </a:rPr>
              <a:t>输入：数</a:t>
            </a:r>
            <a:r>
              <a:rPr sz="2800" b="1" spc="-13" dirty="0" err="1">
                <a:latin typeface="Times New Roman" panose="02020603050405020304" pitchFamily="18" charset="0"/>
                <a:ea typeface="黑体" panose="02010609060101010101" pitchFamily="49" charset="-122"/>
                <a:cs typeface="Times New Roman" panose="02020603050405020304" pitchFamily="18" charset="0"/>
              </a:rPr>
              <a:t>组</a:t>
            </a:r>
            <a:r>
              <a:rPr sz="2800" b="1" spc="-787" dirty="0">
                <a:latin typeface="Times New Roman" panose="02020603050405020304" pitchFamily="18" charset="0"/>
                <a:ea typeface="黑体" panose="02010609060101010101" pitchFamily="49" charset="-122"/>
                <a:cs typeface="Times New Roman" panose="02020603050405020304" pitchFamily="18" charset="0"/>
              </a:rPr>
              <a:t> </a:t>
            </a:r>
            <a:r>
              <a:rPr sz="2800" b="1" i="1" spc="-13" dirty="0">
                <a:latin typeface="Times New Roman" panose="02020603050405020304" pitchFamily="18" charset="0"/>
                <a:ea typeface="黑体" panose="02010609060101010101" pitchFamily="49" charset="-122"/>
                <a:cs typeface="Times New Roman" panose="02020603050405020304" pitchFamily="18" charset="0"/>
              </a:rPr>
              <a:t>T</a:t>
            </a:r>
            <a:r>
              <a:rPr sz="2800" b="1" spc="-13" dirty="0">
                <a:latin typeface="Times New Roman" panose="02020603050405020304" pitchFamily="18" charset="0"/>
                <a:ea typeface="黑体" panose="02010609060101010101" pitchFamily="49" charset="-122"/>
                <a:cs typeface="Times New Roman" panose="02020603050405020304" pitchFamily="18" charset="0"/>
              </a:rPr>
              <a:t>，</a:t>
            </a:r>
            <a:r>
              <a:rPr sz="2800" b="1" spc="-7" dirty="0">
                <a:latin typeface="Times New Roman" panose="02020603050405020304" pitchFamily="18" charset="0"/>
                <a:ea typeface="黑体" panose="02010609060101010101" pitchFamily="49" charset="-122"/>
                <a:cs typeface="Times New Roman" panose="02020603050405020304" pitchFamily="18" charset="0"/>
              </a:rPr>
              <a:t>下标</a:t>
            </a:r>
            <a:r>
              <a:rPr sz="2800" b="1" spc="-13" dirty="0">
                <a:latin typeface="Times New Roman" panose="02020603050405020304" pitchFamily="18" charset="0"/>
                <a:ea typeface="黑体" panose="02010609060101010101" pitchFamily="49" charset="-122"/>
                <a:cs typeface="Times New Roman" panose="02020603050405020304" pitchFamily="18" charset="0"/>
              </a:rPr>
              <a:t>从</a:t>
            </a:r>
            <a:r>
              <a:rPr sz="2800" b="1" spc="-773"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l</a:t>
            </a:r>
            <a:r>
              <a:rPr sz="2800" b="1" i="1" spc="-20" dirty="0">
                <a:latin typeface="Times New Roman" panose="02020603050405020304" pitchFamily="18" charset="0"/>
                <a:ea typeface="黑体" panose="02010609060101010101" pitchFamily="49" charset="-122"/>
                <a:cs typeface="Times New Roman" panose="02020603050405020304" pitchFamily="18" charset="0"/>
              </a:rPr>
              <a:t> </a:t>
            </a:r>
            <a:r>
              <a:rPr sz="2800" b="1" spc="-13" dirty="0">
                <a:latin typeface="Times New Roman" panose="02020603050405020304" pitchFamily="18" charset="0"/>
                <a:ea typeface="黑体" panose="02010609060101010101" pitchFamily="49" charset="-122"/>
                <a:cs typeface="Times New Roman" panose="02020603050405020304" pitchFamily="18" charset="0"/>
              </a:rPr>
              <a:t>到</a:t>
            </a:r>
            <a:r>
              <a:rPr sz="2800" b="1" spc="-807" dirty="0">
                <a:latin typeface="Times New Roman" panose="02020603050405020304" pitchFamily="18" charset="0"/>
                <a:ea typeface="黑体" panose="02010609060101010101" pitchFamily="49" charset="-122"/>
                <a:cs typeface="Times New Roman" panose="02020603050405020304" pitchFamily="18" charset="0"/>
              </a:rPr>
              <a:t> </a:t>
            </a:r>
            <a:r>
              <a:rPr sz="2800" b="1" i="1" spc="-7" dirty="0">
                <a:latin typeface="Times New Roman" panose="02020603050405020304" pitchFamily="18" charset="0"/>
                <a:ea typeface="黑体" panose="02010609060101010101" pitchFamily="49" charset="-122"/>
                <a:cs typeface="Times New Roman" panose="02020603050405020304" pitchFamily="18" charset="0"/>
              </a:rPr>
              <a:t>r</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r>
              <a:rPr sz="2800" b="1" spc="-13" dirty="0">
                <a:latin typeface="Times New Roman" panose="02020603050405020304" pitchFamily="18" charset="0"/>
                <a:ea typeface="黑体" panose="02010609060101010101" pitchFamily="49" charset="-122"/>
                <a:cs typeface="Times New Roman" panose="02020603050405020304" pitchFamily="18" charset="0"/>
              </a:rPr>
              <a:t>数</a:t>
            </a:r>
            <a:r>
              <a:rPr sz="2800" b="1" spc="-800"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x</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17145">
              <a:tabLst>
                <a:tab pos="1657985" algn="l"/>
              </a:tabLst>
            </a:pPr>
            <a:r>
              <a:rPr lang="en-US"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err="1">
                <a:latin typeface="Times New Roman" panose="02020603050405020304" pitchFamily="18" charset="0"/>
                <a:ea typeface="黑体" panose="02010609060101010101" pitchFamily="49" charset="-122"/>
                <a:cs typeface="Times New Roman" panose="02020603050405020304" pitchFamily="18" charset="0"/>
              </a:rPr>
              <a:t>输出：</a:t>
            </a:r>
            <a:r>
              <a:rPr sz="2800" b="1" i="1" spc="-7" dirty="0" err="1">
                <a:latin typeface="Times New Roman" panose="02020603050405020304" pitchFamily="18" charset="0"/>
                <a:ea typeface="黑体" panose="02010609060101010101" pitchFamily="49" charset="-122"/>
                <a:cs typeface="Times New Roman" panose="02020603050405020304" pitchFamily="18" charset="0"/>
              </a:rPr>
              <a:t>j</a:t>
            </a:r>
            <a:r>
              <a:rPr sz="2800" b="1" i="1" spc="-7"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r>
              <a:rPr sz="2800" b="1" spc="-27"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a:latin typeface="Times New Roman" panose="02020603050405020304" pitchFamily="18" charset="0"/>
                <a:ea typeface="黑体" panose="02010609060101010101" pitchFamily="49" charset="-122"/>
                <a:cs typeface="Times New Roman" panose="02020603050405020304" pitchFamily="18" charset="0"/>
              </a:rPr>
              <a:t>若</a:t>
            </a:r>
            <a:r>
              <a:rPr sz="2800" b="1" i="1" dirty="0">
                <a:latin typeface="Times New Roman" panose="02020603050405020304" pitchFamily="18" charset="0"/>
                <a:ea typeface="黑体" panose="02010609060101010101" pitchFamily="49" charset="-122"/>
                <a:cs typeface="Times New Roman" panose="02020603050405020304" pitchFamily="18" charset="0"/>
              </a:rPr>
              <a:t>x</a:t>
            </a:r>
            <a:r>
              <a:rPr sz="2800" b="1" spc="-7" dirty="0">
                <a:latin typeface="Times New Roman" panose="02020603050405020304" pitchFamily="18" charset="0"/>
                <a:ea typeface="黑体" panose="02010609060101010101" pitchFamily="49" charset="-122"/>
                <a:cs typeface="Times New Roman" panose="02020603050405020304" pitchFamily="18" charset="0"/>
              </a:rPr>
              <a:t>在</a:t>
            </a:r>
            <a:r>
              <a:rPr sz="2800" b="1" i="1" dirty="0">
                <a:latin typeface="Times New Roman" panose="02020603050405020304" pitchFamily="18" charset="0"/>
                <a:ea typeface="黑体" panose="02010609060101010101" pitchFamily="49" charset="-122"/>
                <a:cs typeface="Times New Roman" panose="02020603050405020304" pitchFamily="18" charset="0"/>
              </a:rPr>
              <a:t>T</a:t>
            </a:r>
            <a:r>
              <a:rPr sz="2800" b="1" i="1" spc="-20"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a:latin typeface="Times New Roman" panose="02020603050405020304" pitchFamily="18" charset="0"/>
                <a:ea typeface="黑体" panose="02010609060101010101" pitchFamily="49" charset="-122"/>
                <a:cs typeface="Times New Roman" panose="02020603050405020304" pitchFamily="18" charset="0"/>
              </a:rPr>
              <a:t>中</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sz="2800" b="1" spc="-7" dirty="0">
                <a:latin typeface="Times New Roman" panose="02020603050405020304" pitchFamily="18" charset="0"/>
                <a:ea typeface="黑体" panose="02010609060101010101" pitchFamily="49" charset="-122"/>
                <a:cs typeface="Times New Roman" panose="02020603050405020304" pitchFamily="18" charset="0"/>
              </a:rPr>
              <a:t> </a:t>
            </a:r>
            <a:r>
              <a:rPr lang="en-US"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j</a:t>
            </a:r>
            <a:r>
              <a:rPr sz="2800" b="1" i="1" spc="-33"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a:latin typeface="Times New Roman" panose="02020603050405020304" pitchFamily="18" charset="0"/>
                <a:ea typeface="黑体" panose="02010609060101010101" pitchFamily="49" charset="-122"/>
                <a:cs typeface="Times New Roman" panose="02020603050405020304" pitchFamily="18" charset="0"/>
              </a:rPr>
              <a:t>为下标</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a:latin typeface="Times New Roman" panose="02020603050405020304" pitchFamily="18" charset="0"/>
                <a:ea typeface="黑体" panose="02010609060101010101" pitchFamily="49" charset="-122"/>
                <a:cs typeface="Times New Roman" panose="02020603050405020304" pitchFamily="18" charset="0"/>
              </a:rPr>
              <a:t>否则</a:t>
            </a:r>
            <a:r>
              <a:rPr sz="2800" b="1" spc="-13" dirty="0">
                <a:latin typeface="Times New Roman" panose="02020603050405020304" pitchFamily="18" charset="0"/>
                <a:ea typeface="黑体" panose="02010609060101010101" pitchFamily="49" charset="-122"/>
                <a:cs typeface="Times New Roman" panose="02020603050405020304" pitchFamily="18" charset="0"/>
              </a:rPr>
              <a:t>为</a:t>
            </a:r>
            <a:r>
              <a:rPr sz="2800" b="1" spc="-800"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0</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object 5"/>
          <p:cNvSpPr txBox="1"/>
          <p:nvPr/>
        </p:nvSpPr>
        <p:spPr>
          <a:xfrm>
            <a:off x="485915" y="2804465"/>
            <a:ext cx="8902262" cy="3297484"/>
          </a:xfrm>
          <a:prstGeom prst="rect">
            <a:avLst/>
          </a:prstGeom>
        </p:spPr>
        <p:txBody>
          <a:bodyPr vert="horz" wrap="square" lIns="0" tIns="16933" rIns="0" bIns="0" rtlCol="0">
            <a:spAutoFit/>
          </a:bodyPr>
          <a:lstStyle/>
          <a:p>
            <a:pPr marL="17145">
              <a:spcBef>
                <a:spcPts val="135"/>
              </a:spcBef>
              <a:tabLst>
                <a:tab pos="624205" algn="l"/>
                <a:tab pos="1680845" algn="l"/>
              </a:tabLst>
            </a:pPr>
            <a:r>
              <a:rPr lang="en-US" sz="2800" b="1"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1.</a:t>
            </a:r>
            <a:r>
              <a:rPr lang="en-US" sz="2800" b="1"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 </a:t>
            </a:r>
            <a:r>
              <a:rPr sz="2800" b="1" i="1" spc="-7" dirty="0">
                <a:latin typeface="Times New Roman" panose="02020603050405020304"/>
                <a:cs typeface="Times New Roman" panose="02020603050405020304"/>
              </a:rPr>
              <a:t>l</a:t>
            </a:r>
            <a:r>
              <a:rPr sz="2800" b="1" spc="-7" dirty="0">
                <a:latin typeface="Symbol" panose="05050102010706020507"/>
                <a:cs typeface="Symbol" panose="05050102010706020507"/>
              </a:rPr>
              <a:t></a:t>
            </a:r>
            <a:r>
              <a:rPr sz="2800" b="1" spc="-7" dirty="0">
                <a:latin typeface="Times New Roman" panose="02020603050405020304"/>
                <a:cs typeface="Times New Roman" panose="02020603050405020304"/>
              </a:rPr>
              <a:t>1;	</a:t>
            </a:r>
            <a:r>
              <a:rPr sz="2800" b="1" i="1" dirty="0">
                <a:latin typeface="Times New Roman" panose="02020603050405020304"/>
                <a:cs typeface="Times New Roman" panose="02020603050405020304"/>
              </a:rPr>
              <a:t>r</a:t>
            </a:r>
            <a:r>
              <a:rPr sz="2800" b="1" dirty="0">
                <a:latin typeface="Symbol" panose="05050102010706020507"/>
                <a:cs typeface="Symbol" panose="05050102010706020507"/>
              </a:rPr>
              <a:t></a:t>
            </a:r>
            <a:r>
              <a:rPr sz="2800" b="1" i="1" dirty="0">
                <a:latin typeface="Times New Roman" panose="02020603050405020304"/>
                <a:cs typeface="Times New Roman" panose="02020603050405020304"/>
              </a:rPr>
              <a:t>n</a:t>
            </a:r>
            <a:endParaRPr sz="2800" dirty="0">
              <a:latin typeface="Times New Roman" panose="02020603050405020304"/>
              <a:cs typeface="Times New Roman" panose="02020603050405020304"/>
            </a:endParaRPr>
          </a:p>
          <a:p>
            <a:pPr marL="17145">
              <a:tabLst>
                <a:tab pos="625475" algn="l"/>
              </a:tabLst>
            </a:pPr>
            <a:r>
              <a:rPr lang="en-US" sz="2800" b="1"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2.	</a:t>
            </a:r>
            <a:r>
              <a:rPr sz="2800" b="1" spc="-7" dirty="0">
                <a:latin typeface="Times New Roman" panose="02020603050405020304"/>
                <a:cs typeface="Times New Roman" panose="02020603050405020304"/>
              </a:rPr>
              <a:t>while </a:t>
            </a:r>
            <a:r>
              <a:rPr sz="2800" b="1" i="1" dirty="0">
                <a:latin typeface="Times New Roman" panose="02020603050405020304"/>
                <a:cs typeface="Times New Roman" panose="02020603050405020304"/>
              </a:rPr>
              <a:t>l</a:t>
            </a:r>
            <a:r>
              <a:rPr sz="2800" b="1" dirty="0">
                <a:latin typeface="Symbol" panose="05050102010706020507"/>
                <a:cs typeface="Symbol" panose="05050102010706020507"/>
              </a:rPr>
              <a:t></a:t>
            </a:r>
            <a:r>
              <a:rPr sz="2800" b="1" i="1" dirty="0">
                <a:latin typeface="Times New Roman" panose="02020603050405020304"/>
                <a:cs typeface="Times New Roman" panose="02020603050405020304"/>
              </a:rPr>
              <a:t>r</a:t>
            </a:r>
            <a:r>
              <a:rPr sz="2800" b="1" i="1" spc="-33" dirty="0">
                <a:latin typeface="Times New Roman" panose="02020603050405020304"/>
                <a:cs typeface="Times New Roman" panose="02020603050405020304"/>
              </a:rPr>
              <a:t> </a:t>
            </a:r>
            <a:r>
              <a:rPr sz="2800" b="1" spc="-7" dirty="0">
                <a:latin typeface="Times New Roman" panose="02020603050405020304"/>
                <a:cs typeface="Times New Roman" panose="02020603050405020304"/>
              </a:rPr>
              <a:t>do</a:t>
            </a:r>
            <a:endParaRPr sz="2800" dirty="0">
              <a:latin typeface="Times New Roman" panose="02020603050405020304"/>
              <a:cs typeface="Times New Roman" panose="02020603050405020304"/>
            </a:endParaRPr>
          </a:p>
          <a:p>
            <a:pPr marL="17145">
              <a:spcBef>
                <a:spcPts val="25"/>
              </a:spcBef>
              <a:tabLst>
                <a:tab pos="929005" algn="l"/>
              </a:tabLst>
            </a:pPr>
            <a:r>
              <a:rPr lang="en-US" sz="2800" b="1"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3.	</a:t>
            </a:r>
            <a:r>
              <a:rPr lang="en-US" sz="2800" b="1" dirty="0">
                <a:latin typeface="Times New Roman" panose="02020603050405020304"/>
                <a:cs typeface="Times New Roman" panose="02020603050405020304"/>
              </a:rPr>
              <a:t>     </a:t>
            </a:r>
            <a:r>
              <a:rPr sz="2800" b="1" i="1" dirty="0">
                <a:uFill>
                  <a:solidFill>
                    <a:srgbClr val="C00000"/>
                  </a:solidFill>
                </a:uFill>
                <a:latin typeface="Times New Roman" panose="02020603050405020304"/>
                <a:cs typeface="Times New Roman" panose="02020603050405020304"/>
              </a:rPr>
              <a:t>m</a:t>
            </a:r>
            <a:r>
              <a:rPr sz="2800" b="1" dirty="0">
                <a:uFill>
                  <a:solidFill>
                    <a:srgbClr val="C00000"/>
                  </a:solidFill>
                </a:uFill>
                <a:latin typeface="Symbol" panose="05050102010706020507"/>
                <a:cs typeface="Symbol" panose="05050102010706020507"/>
              </a:rPr>
              <a:t></a:t>
            </a:r>
            <a:r>
              <a:rPr sz="2800" b="1" dirty="0">
                <a:uFill>
                  <a:solidFill>
                    <a:srgbClr val="C00000"/>
                  </a:solidFill>
                </a:uFill>
                <a:latin typeface="Times New Roman" panose="02020603050405020304"/>
                <a:cs typeface="Times New Roman" panose="02020603050405020304"/>
              </a:rPr>
              <a:t>(</a:t>
            </a:r>
            <a:r>
              <a:rPr sz="2800" b="1" i="1" dirty="0">
                <a:uFill>
                  <a:solidFill>
                    <a:srgbClr val="C00000"/>
                  </a:solidFill>
                </a:uFill>
                <a:latin typeface="Times New Roman" panose="02020603050405020304"/>
                <a:cs typeface="Times New Roman" panose="02020603050405020304"/>
              </a:rPr>
              <a:t>l</a:t>
            </a:r>
            <a:r>
              <a:rPr sz="2800" b="1" i="1" spc="-27" dirty="0">
                <a:uFill>
                  <a:solidFill>
                    <a:srgbClr val="C00000"/>
                  </a:solidFill>
                </a:uFill>
                <a:latin typeface="Times New Roman" panose="02020603050405020304"/>
                <a:cs typeface="Times New Roman" panose="02020603050405020304"/>
              </a:rPr>
              <a:t> </a:t>
            </a:r>
            <a:r>
              <a:rPr sz="2800" b="1" spc="-7" dirty="0">
                <a:uFill>
                  <a:solidFill>
                    <a:srgbClr val="C00000"/>
                  </a:solidFill>
                </a:uFill>
                <a:latin typeface="Times New Roman" panose="02020603050405020304"/>
                <a:cs typeface="Times New Roman" panose="02020603050405020304"/>
              </a:rPr>
              <a:t>+</a:t>
            </a:r>
            <a:r>
              <a:rPr sz="2800" b="1" i="1" spc="-7" dirty="0">
                <a:uFill>
                  <a:solidFill>
                    <a:srgbClr val="C00000"/>
                  </a:solidFill>
                </a:uFill>
                <a:latin typeface="Times New Roman" panose="02020603050405020304"/>
                <a:cs typeface="Times New Roman" panose="02020603050405020304"/>
              </a:rPr>
              <a:t>r</a:t>
            </a:r>
            <a:r>
              <a:rPr sz="2800" b="1" spc="-7" dirty="0">
                <a:uFill>
                  <a:solidFill>
                    <a:srgbClr val="C00000"/>
                  </a:solidFill>
                </a:uFill>
                <a:latin typeface="Times New Roman" panose="02020603050405020304"/>
                <a:cs typeface="Times New Roman" panose="02020603050405020304"/>
              </a:rPr>
              <a:t>)/2</a:t>
            </a:r>
            <a:r>
              <a:rPr sz="2800" b="1" spc="-7" dirty="0">
                <a:uFill>
                  <a:solidFill>
                    <a:srgbClr val="C00000"/>
                  </a:solidFill>
                </a:uFill>
                <a:latin typeface="Symbol" panose="05050102010706020507"/>
                <a:cs typeface="Symbol" panose="05050102010706020507"/>
              </a:rPr>
              <a:t></a:t>
            </a:r>
            <a:r>
              <a:rPr lang="en-US" sz="2800" b="1" spc="-7" dirty="0">
                <a:uFill>
                  <a:solidFill>
                    <a:srgbClr val="C00000"/>
                  </a:solidFill>
                </a:uFill>
                <a:latin typeface="Symbol" panose="05050102010706020507"/>
                <a:cs typeface="Symbol" panose="05050102010706020507"/>
              </a:rPr>
              <a:t>    </a:t>
            </a:r>
            <a:r>
              <a:rPr lang="en-US" altLang="zh-CN" sz="2800" b="1" spc="-7"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b="1" spc="-12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b="1" i="1" spc="-7" dirty="0">
                <a:latin typeface="Times New Roman" panose="02020603050405020304" pitchFamily="18" charset="0"/>
                <a:ea typeface="黑体" panose="02010609060101010101" pitchFamily="49" charset="-122"/>
                <a:cs typeface="Times New Roman" panose="02020603050405020304" pitchFamily="18" charset="0"/>
              </a:rPr>
              <a:t>m</a:t>
            </a:r>
            <a:r>
              <a:rPr lang="zh-CN" altLang="en-US" sz="2800" b="1" spc="-13" dirty="0">
                <a:latin typeface="Times New Roman" panose="02020603050405020304" pitchFamily="18" charset="0"/>
                <a:ea typeface="黑体" panose="02010609060101010101" pitchFamily="49" charset="-122"/>
                <a:cs typeface="Times New Roman" panose="02020603050405020304" pitchFamily="18" charset="0"/>
              </a:rPr>
              <a:t>为</a:t>
            </a:r>
            <a:r>
              <a:rPr lang="zh-CN" altLang="en-US" sz="2800" b="1" spc="-7" dirty="0">
                <a:latin typeface="Times New Roman" panose="02020603050405020304" pitchFamily="18" charset="0"/>
                <a:ea typeface="黑体" panose="02010609060101010101" pitchFamily="49" charset="-122"/>
                <a:cs typeface="Times New Roman" panose="02020603050405020304" pitchFamily="18" charset="0"/>
              </a:rPr>
              <a:t>中</a:t>
            </a:r>
            <a:r>
              <a:rPr lang="zh-CN" altLang="en-US" sz="2800" b="1" spc="-13" dirty="0">
                <a:latin typeface="Times New Roman" panose="02020603050405020304" pitchFamily="18" charset="0"/>
                <a:ea typeface="黑体" panose="02010609060101010101" pitchFamily="49" charset="-122"/>
                <a:cs typeface="Times New Roman" panose="02020603050405020304" pitchFamily="18" charset="0"/>
              </a:rPr>
              <a:t>间</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位</a:t>
            </a:r>
            <a:r>
              <a:rPr lang="zh-CN" altLang="en-US" sz="2800" b="1" spc="-13" dirty="0">
                <a:latin typeface="Times New Roman" panose="02020603050405020304" pitchFamily="18" charset="0"/>
                <a:ea typeface="黑体" panose="02010609060101010101" pitchFamily="49" charset="-122"/>
                <a:cs typeface="Times New Roman" panose="02020603050405020304" pitchFamily="18" charset="0"/>
              </a:rPr>
              <a:t>置</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17145">
              <a:lnSpc>
                <a:spcPts val="3825"/>
              </a:lnSpc>
              <a:tabLst>
                <a:tab pos="930275" algn="l"/>
                <a:tab pos="930910" algn="l"/>
              </a:tabLst>
            </a:pPr>
            <a:r>
              <a:rPr lang="en-US" sz="2800" b="1" spc="-7" dirty="0">
                <a:latin typeface="Times New Roman" panose="02020603050405020304"/>
                <a:cs typeface="Times New Roman" panose="02020603050405020304"/>
              </a:rPr>
              <a:t>    4.         </a:t>
            </a:r>
            <a:r>
              <a:rPr sz="2800" b="1" spc="-7" dirty="0">
                <a:latin typeface="Times New Roman" panose="02020603050405020304"/>
                <a:cs typeface="Times New Roman" panose="02020603050405020304"/>
              </a:rPr>
              <a:t>if</a:t>
            </a:r>
            <a:r>
              <a:rPr sz="2800" b="1" spc="-20" dirty="0">
                <a:latin typeface="Times New Roman" panose="02020603050405020304"/>
                <a:cs typeface="Times New Roman" panose="02020603050405020304"/>
              </a:rPr>
              <a:t> </a:t>
            </a:r>
            <a:r>
              <a:rPr sz="2800" b="1" i="1" spc="-7" dirty="0">
                <a:latin typeface="Times New Roman" panose="02020603050405020304"/>
                <a:cs typeface="Times New Roman" panose="02020603050405020304"/>
              </a:rPr>
              <a:t>T</a:t>
            </a:r>
            <a:r>
              <a:rPr sz="2800" b="1" spc="-7" dirty="0">
                <a:latin typeface="Times New Roman" panose="02020603050405020304"/>
                <a:cs typeface="Times New Roman" panose="02020603050405020304"/>
              </a:rPr>
              <a:t>[</a:t>
            </a:r>
            <a:r>
              <a:rPr sz="2800" b="1" i="1" spc="-7" dirty="0">
                <a:latin typeface="Times New Roman" panose="02020603050405020304"/>
                <a:cs typeface="Times New Roman" panose="02020603050405020304"/>
              </a:rPr>
              <a:t>m</a:t>
            </a:r>
            <a:r>
              <a:rPr sz="2800" b="1" spc="-7" dirty="0">
                <a:latin typeface="Times New Roman" panose="02020603050405020304"/>
                <a:cs typeface="Times New Roman" panose="02020603050405020304"/>
              </a:rPr>
              <a:t>]</a:t>
            </a:r>
            <a:r>
              <a:rPr lang="en-US" sz="2800" b="1" spc="-7" dirty="0">
                <a:latin typeface="Times New Roman" panose="02020603050405020304"/>
                <a:cs typeface="Times New Roman" panose="02020603050405020304"/>
              </a:rPr>
              <a:t> </a:t>
            </a:r>
            <a:r>
              <a:rPr sz="2800" b="1" spc="-7" dirty="0">
                <a:latin typeface="Times New Roman" panose="02020603050405020304"/>
                <a:cs typeface="Times New Roman" panose="02020603050405020304"/>
              </a:rPr>
              <a:t>=</a:t>
            </a:r>
            <a:r>
              <a:rPr lang="en-US" sz="2800" b="1" spc="-7" dirty="0">
                <a:latin typeface="Times New Roman" panose="02020603050405020304"/>
                <a:cs typeface="Times New Roman" panose="02020603050405020304"/>
              </a:rPr>
              <a:t> </a:t>
            </a:r>
            <a:r>
              <a:rPr sz="2800" b="1" i="1" spc="-7" dirty="0">
                <a:latin typeface="Times New Roman" panose="02020603050405020304"/>
                <a:cs typeface="Times New Roman" panose="02020603050405020304"/>
              </a:rPr>
              <a:t>x</a:t>
            </a:r>
            <a:r>
              <a:rPr sz="2800" b="1" i="1" spc="-20" dirty="0">
                <a:latin typeface="Times New Roman" panose="02020603050405020304"/>
                <a:cs typeface="Times New Roman" panose="02020603050405020304"/>
              </a:rPr>
              <a:t> </a:t>
            </a:r>
            <a:r>
              <a:rPr lang="en-US" sz="2800" b="1" i="1" spc="-20" dirty="0">
                <a:latin typeface="Times New Roman" panose="02020603050405020304"/>
                <a:cs typeface="Times New Roman" panose="02020603050405020304"/>
              </a:rPr>
              <a:t>  </a:t>
            </a:r>
            <a:r>
              <a:rPr sz="2800" b="1" spc="-7" dirty="0">
                <a:latin typeface="Times New Roman" panose="02020603050405020304"/>
                <a:cs typeface="Times New Roman" panose="02020603050405020304"/>
              </a:rPr>
              <a:t>then </a:t>
            </a:r>
            <a:r>
              <a:rPr lang="en-US" sz="2800" b="1" spc="-7" dirty="0">
                <a:latin typeface="Times New Roman" panose="02020603050405020304"/>
                <a:cs typeface="Times New Roman" panose="02020603050405020304"/>
              </a:rPr>
              <a:t>  </a:t>
            </a:r>
            <a:r>
              <a:rPr sz="2800" b="1" spc="-13" dirty="0">
                <a:latin typeface="Times New Roman" panose="02020603050405020304"/>
                <a:cs typeface="Times New Roman" panose="02020603050405020304"/>
              </a:rPr>
              <a:t>return</a:t>
            </a:r>
            <a:r>
              <a:rPr sz="2800" b="1" spc="-20" dirty="0">
                <a:latin typeface="Times New Roman" panose="02020603050405020304"/>
                <a:cs typeface="Times New Roman" panose="02020603050405020304"/>
              </a:rPr>
              <a:t> </a:t>
            </a:r>
            <a:r>
              <a:rPr sz="2800" b="1" i="1" dirty="0">
                <a:latin typeface="Times New Roman" panose="02020603050405020304"/>
                <a:cs typeface="Times New Roman" panose="02020603050405020304"/>
              </a:rPr>
              <a:t>m</a:t>
            </a:r>
            <a:r>
              <a:rPr sz="2800" b="1" i="1" spc="-20" dirty="0">
                <a:latin typeface="Times New Roman" panose="02020603050405020304"/>
                <a:cs typeface="Times New Roman" panose="02020603050405020304"/>
              </a:rPr>
              <a:t> </a:t>
            </a:r>
            <a:r>
              <a:rPr lang="en-US" sz="2800" b="1" i="1" spc="-20" dirty="0">
                <a:latin typeface="Times New Roman" panose="02020603050405020304"/>
                <a:cs typeface="Times New Roman" panose="02020603050405020304"/>
              </a:rPr>
              <a:t>   </a:t>
            </a:r>
            <a:r>
              <a:rPr sz="2800" b="1" spc="-7" dirty="0">
                <a:latin typeface="Times New Roman" panose="02020603050405020304"/>
                <a:cs typeface="Times New Roman" panose="02020603050405020304"/>
              </a:rPr>
              <a:t>//</a:t>
            </a:r>
            <a:r>
              <a:rPr sz="2800" b="1" spc="-27" dirty="0">
                <a:latin typeface="Times New Roman" panose="02020603050405020304"/>
                <a:cs typeface="Times New Roman" panose="02020603050405020304"/>
              </a:rPr>
              <a:t> </a:t>
            </a:r>
            <a:r>
              <a:rPr sz="2800" b="1" i="1" dirty="0">
                <a:latin typeface="Times New Roman" panose="02020603050405020304"/>
                <a:cs typeface="Times New Roman" panose="02020603050405020304"/>
              </a:rPr>
              <a:t>x</a:t>
            </a:r>
            <a:r>
              <a:rPr sz="2800" b="1" spc="-13" dirty="0">
                <a:latin typeface="Times New Roman" panose="02020603050405020304" pitchFamily="18" charset="0"/>
                <a:ea typeface="黑体" panose="02010609060101010101" pitchFamily="49" charset="-122"/>
                <a:cs typeface="Times New Roman" panose="02020603050405020304" pitchFamily="18" charset="0"/>
              </a:rPr>
              <a:t>是</a:t>
            </a:r>
            <a:r>
              <a:rPr sz="2800" b="1" spc="-7" dirty="0">
                <a:latin typeface="Times New Roman" panose="02020603050405020304" pitchFamily="18" charset="0"/>
                <a:ea typeface="黑体" panose="02010609060101010101" pitchFamily="49" charset="-122"/>
                <a:cs typeface="Times New Roman" panose="02020603050405020304" pitchFamily="18" charset="0"/>
              </a:rPr>
              <a:t>中位</a:t>
            </a:r>
            <a:r>
              <a:rPr sz="2800" b="1" spc="-13" dirty="0">
                <a:latin typeface="Times New Roman" panose="02020603050405020304" pitchFamily="18" charset="0"/>
                <a:ea typeface="黑体" panose="02010609060101010101" pitchFamily="49" charset="-122"/>
                <a:cs typeface="Times New Roman" panose="02020603050405020304" pitchFamily="18" charset="0"/>
              </a:rPr>
              <a:t>数</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17145" marR="1664335">
              <a:lnSpc>
                <a:spcPts val="3840"/>
              </a:lnSpc>
              <a:spcBef>
                <a:spcPts val="115"/>
              </a:spcBef>
              <a:tabLst>
                <a:tab pos="929005" algn="l"/>
                <a:tab pos="930275" algn="l"/>
                <a:tab pos="1764665" algn="l"/>
              </a:tabLst>
            </a:pPr>
            <a:r>
              <a:rPr lang="en-US" sz="2800" b="1" spc="-7" dirty="0">
                <a:latin typeface="Times New Roman" panose="02020603050405020304"/>
                <a:cs typeface="Times New Roman" panose="02020603050405020304"/>
              </a:rPr>
              <a:t>    5.         </a:t>
            </a:r>
            <a:r>
              <a:rPr sz="2800" b="1" spc="-7" dirty="0">
                <a:latin typeface="Times New Roman" panose="02020603050405020304"/>
                <a:cs typeface="Times New Roman" panose="02020603050405020304"/>
              </a:rPr>
              <a:t>else</a:t>
            </a:r>
            <a:r>
              <a:rPr lang="en-US" sz="2800" b="1" spc="-7" dirty="0">
                <a:latin typeface="Times New Roman" panose="02020603050405020304"/>
                <a:cs typeface="Times New Roman" panose="02020603050405020304"/>
              </a:rPr>
              <a:t> </a:t>
            </a:r>
            <a:r>
              <a:rPr sz="2800" b="1" spc="-7" dirty="0">
                <a:latin typeface="Times New Roman" panose="02020603050405020304"/>
                <a:cs typeface="Times New Roman" panose="02020603050405020304"/>
              </a:rPr>
              <a:t>if </a:t>
            </a:r>
            <a:r>
              <a:rPr sz="2800" b="1" i="1" spc="-7" dirty="0">
                <a:latin typeface="Times New Roman" panose="02020603050405020304"/>
                <a:cs typeface="Times New Roman" panose="02020603050405020304"/>
              </a:rPr>
              <a:t>T</a:t>
            </a:r>
            <a:r>
              <a:rPr sz="2800" b="1" spc="-7" dirty="0">
                <a:latin typeface="Times New Roman" panose="02020603050405020304"/>
                <a:cs typeface="Times New Roman" panose="02020603050405020304"/>
              </a:rPr>
              <a:t>[</a:t>
            </a:r>
            <a:r>
              <a:rPr sz="2800" b="1" i="1" spc="-7" dirty="0">
                <a:latin typeface="Times New Roman" panose="02020603050405020304"/>
                <a:cs typeface="Times New Roman" panose="02020603050405020304"/>
              </a:rPr>
              <a:t>m</a:t>
            </a:r>
            <a:r>
              <a:rPr sz="2800" b="1" spc="-7" dirty="0">
                <a:latin typeface="Times New Roman" panose="02020603050405020304"/>
                <a:cs typeface="Times New Roman" panose="02020603050405020304"/>
              </a:rPr>
              <a:t>]</a:t>
            </a:r>
            <a:r>
              <a:rPr lang="en-US" sz="2800" b="1" spc="-7" dirty="0">
                <a:latin typeface="Times New Roman" panose="02020603050405020304"/>
                <a:cs typeface="Times New Roman" panose="02020603050405020304"/>
              </a:rPr>
              <a:t> </a:t>
            </a:r>
            <a:r>
              <a:rPr sz="2800" b="1" spc="-7" dirty="0">
                <a:latin typeface="Times New Roman" panose="02020603050405020304"/>
                <a:cs typeface="Times New Roman" panose="02020603050405020304"/>
              </a:rPr>
              <a:t>&gt;</a:t>
            </a:r>
            <a:r>
              <a:rPr lang="en-US" sz="2800" b="1" spc="-7" dirty="0">
                <a:latin typeface="Times New Roman" panose="02020603050405020304"/>
                <a:cs typeface="Times New Roman" panose="02020603050405020304"/>
              </a:rPr>
              <a:t> </a:t>
            </a:r>
            <a:r>
              <a:rPr sz="2800" b="1" i="1" spc="-7" dirty="0">
                <a:latin typeface="Times New Roman" panose="02020603050405020304"/>
                <a:cs typeface="Times New Roman" panose="02020603050405020304"/>
              </a:rPr>
              <a:t>x </a:t>
            </a:r>
            <a:r>
              <a:rPr lang="en-US" sz="2800" b="1" i="1" spc="-7" dirty="0">
                <a:latin typeface="Times New Roman" panose="02020603050405020304"/>
                <a:cs typeface="Times New Roman" panose="02020603050405020304"/>
              </a:rPr>
              <a:t> </a:t>
            </a:r>
            <a:r>
              <a:rPr sz="2800" b="1" spc="-7" dirty="0">
                <a:latin typeface="Times New Roman" panose="02020603050405020304"/>
                <a:cs typeface="Times New Roman" panose="02020603050405020304"/>
              </a:rPr>
              <a:t>then</a:t>
            </a:r>
            <a:r>
              <a:rPr lang="en-US" sz="2800" b="1" spc="-93" dirty="0">
                <a:latin typeface="Times New Roman" panose="02020603050405020304"/>
                <a:cs typeface="Times New Roman" panose="02020603050405020304"/>
              </a:rPr>
              <a:t> </a:t>
            </a:r>
            <a:r>
              <a:rPr sz="2800" b="1" i="1" dirty="0">
                <a:latin typeface="Times New Roman" panose="02020603050405020304"/>
                <a:cs typeface="Times New Roman" panose="02020603050405020304"/>
              </a:rPr>
              <a:t>r</a:t>
            </a:r>
            <a:r>
              <a:rPr sz="2800" b="1" dirty="0">
                <a:latin typeface="Symbol" panose="05050102010706020507"/>
                <a:cs typeface="Symbol" panose="05050102010706020507"/>
              </a:rPr>
              <a:t></a:t>
            </a:r>
            <a:r>
              <a:rPr sz="2800" b="1" i="1" dirty="0">
                <a:latin typeface="Times New Roman" panose="02020603050405020304"/>
                <a:cs typeface="Times New Roman" panose="02020603050405020304"/>
              </a:rPr>
              <a:t>m</a:t>
            </a:r>
            <a:r>
              <a:rPr sz="2800" b="1" dirty="0">
                <a:latin typeface="Symbol" panose="05050102010706020507"/>
                <a:cs typeface="Symbol" panose="05050102010706020507"/>
              </a:rPr>
              <a:t></a:t>
            </a:r>
            <a:r>
              <a:rPr sz="2800" b="1" dirty="0">
                <a:latin typeface="Times New Roman" panose="02020603050405020304"/>
                <a:cs typeface="Times New Roman" panose="02020603050405020304"/>
              </a:rPr>
              <a:t>1 </a:t>
            </a:r>
            <a:endParaRPr lang="en-US" sz="2800" b="1" dirty="0">
              <a:latin typeface="Times New Roman" panose="02020603050405020304"/>
              <a:cs typeface="Times New Roman" panose="02020603050405020304"/>
            </a:endParaRPr>
          </a:p>
          <a:p>
            <a:pPr marL="17145" marR="1664335">
              <a:lnSpc>
                <a:spcPts val="3840"/>
              </a:lnSpc>
              <a:spcBef>
                <a:spcPts val="115"/>
              </a:spcBef>
              <a:tabLst>
                <a:tab pos="929005" algn="l"/>
                <a:tab pos="930275" algn="l"/>
                <a:tab pos="1764665" algn="l"/>
              </a:tabLst>
            </a:pPr>
            <a:r>
              <a:rPr lang="en-US" altLang="zh-CN" sz="2800" b="1" spc="-7" dirty="0">
                <a:latin typeface="Times New Roman" panose="02020603050405020304"/>
                <a:cs typeface="Times New Roman" panose="02020603050405020304"/>
              </a:rPr>
              <a:t>    6.         else</a:t>
            </a:r>
            <a:r>
              <a:rPr lang="en-US" altLang="zh-CN" sz="2800" b="1" spc="-87" dirty="0">
                <a:latin typeface="Times New Roman" panose="02020603050405020304"/>
                <a:cs typeface="Times New Roman" panose="02020603050405020304"/>
              </a:rPr>
              <a:t>  </a:t>
            </a:r>
            <a:r>
              <a:rPr lang="en-US" altLang="zh-CN" sz="2800" b="1" i="1" spc="-7" dirty="0">
                <a:latin typeface="Times New Roman" panose="02020603050405020304"/>
                <a:cs typeface="Times New Roman" panose="02020603050405020304"/>
              </a:rPr>
              <a:t>l</a:t>
            </a:r>
            <a:r>
              <a:rPr lang="en-US" altLang="zh-CN" sz="2800" b="1" spc="-7" dirty="0">
                <a:latin typeface="Symbol" panose="05050102010706020507"/>
                <a:cs typeface="Symbol" panose="05050102010706020507"/>
              </a:rPr>
              <a:t></a:t>
            </a:r>
            <a:r>
              <a:rPr lang="en-US" altLang="zh-CN" sz="2800" b="1" i="1" spc="-7" dirty="0">
                <a:latin typeface="Times New Roman" panose="02020603050405020304"/>
                <a:cs typeface="Times New Roman" panose="02020603050405020304"/>
              </a:rPr>
              <a:t>m</a:t>
            </a:r>
            <a:r>
              <a:rPr lang="en-US" altLang="zh-CN" sz="2800" b="1" spc="-7" dirty="0">
                <a:latin typeface="Times New Roman" panose="02020603050405020304"/>
                <a:cs typeface="Times New Roman" panose="02020603050405020304"/>
              </a:rPr>
              <a:t>+1</a:t>
            </a:r>
            <a:endParaRPr lang="en-US" altLang="zh-CN" sz="2800" b="1" spc="-7" dirty="0">
              <a:latin typeface="Times New Roman" panose="02020603050405020304"/>
              <a:cs typeface="Times New Roman" panose="02020603050405020304"/>
            </a:endParaRPr>
          </a:p>
          <a:p>
            <a:pPr marL="17145" marR="1664335">
              <a:lnSpc>
                <a:spcPts val="3840"/>
              </a:lnSpc>
              <a:spcBef>
                <a:spcPts val="115"/>
              </a:spcBef>
              <a:tabLst>
                <a:tab pos="929005" algn="l"/>
                <a:tab pos="930275" algn="l"/>
                <a:tab pos="1764665" algn="l"/>
              </a:tabLst>
            </a:pPr>
            <a:r>
              <a:rPr lang="en-US" altLang="zh-CN" sz="2800" b="1" spc="-13" dirty="0">
                <a:latin typeface="Times New Roman" panose="02020603050405020304"/>
                <a:cs typeface="Times New Roman" panose="02020603050405020304"/>
              </a:rPr>
              <a:t>    7.   return</a:t>
            </a:r>
            <a:r>
              <a:rPr lang="en-US" altLang="zh-CN" sz="2800" b="1" spc="-113" dirty="0">
                <a:latin typeface="Times New Roman" panose="02020603050405020304"/>
                <a:cs typeface="Times New Roman" panose="02020603050405020304"/>
              </a:rPr>
              <a:t> </a:t>
            </a:r>
            <a:r>
              <a:rPr lang="en-US" altLang="zh-CN" sz="2800" b="1" dirty="0">
                <a:latin typeface="Times New Roman" panose="02020603050405020304"/>
                <a:cs typeface="Times New Roman" panose="02020603050405020304"/>
              </a:rPr>
              <a:t>0</a:t>
            </a:r>
            <a:endParaRPr lang="en-US" sz="2800" b="1" dirty="0">
              <a:latin typeface="Times New Roman" panose="02020603050405020304"/>
              <a:cs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307" y="-18626"/>
            <a:ext cx="8878692" cy="694207"/>
          </a:xfrm>
          <a:prstGeom prst="rect">
            <a:avLst/>
          </a:prstGeom>
        </p:spPr>
        <p:txBody>
          <a:bodyPr vert="horz" wrap="square" lIns="0" tIns="16933" rIns="0" bIns="0" rtlCol="0" anchor="ctr">
            <a:spAutoFit/>
          </a:bodyPr>
          <a:lstStyle/>
          <a:p>
            <a:pPr marL="17145" algn="ctr">
              <a:lnSpc>
                <a:spcPct val="100000"/>
              </a:lnSpc>
              <a:spcBef>
                <a:spcPts val="135"/>
              </a:spcBef>
            </a:pPr>
            <a:r>
              <a:rPr sz="4400" b="1" spc="-20" dirty="0">
                <a:solidFill>
                  <a:srgbClr val="C00000"/>
                </a:solidFill>
                <a:latin typeface="黑体" panose="02010609060101010101" pitchFamily="49" charset="-122"/>
                <a:ea typeface="黑体" panose="02010609060101010101" pitchFamily="49" charset="-122"/>
              </a:rPr>
              <a:t>二分</a:t>
            </a:r>
            <a:r>
              <a:rPr sz="4400" b="1" spc="-7" dirty="0">
                <a:solidFill>
                  <a:srgbClr val="C00000"/>
                </a:solidFill>
                <a:latin typeface="黑体" panose="02010609060101010101" pitchFamily="49" charset="-122"/>
                <a:ea typeface="黑体" panose="02010609060101010101" pitchFamily="49" charset="-122"/>
              </a:rPr>
              <a:t>检</a:t>
            </a:r>
            <a:r>
              <a:rPr sz="4400" b="1" spc="-20" dirty="0">
                <a:solidFill>
                  <a:srgbClr val="C00000"/>
                </a:solidFill>
                <a:latin typeface="黑体" panose="02010609060101010101" pitchFamily="49" charset="-122"/>
                <a:ea typeface="黑体" panose="02010609060101010101" pitchFamily="49" charset="-122"/>
              </a:rPr>
              <a:t>索算</a:t>
            </a:r>
            <a:r>
              <a:rPr sz="4400" b="1" spc="-7" dirty="0">
                <a:solidFill>
                  <a:srgbClr val="C00000"/>
                </a:solidFill>
                <a:latin typeface="黑体" panose="02010609060101010101" pitchFamily="49" charset="-122"/>
                <a:ea typeface="黑体" panose="02010609060101010101" pitchFamily="49" charset="-122"/>
              </a:rPr>
              <a:t>法</a:t>
            </a:r>
            <a:r>
              <a:rPr sz="4400" b="1" spc="-20" dirty="0">
                <a:solidFill>
                  <a:srgbClr val="C00000"/>
                </a:solidFill>
                <a:latin typeface="黑体" panose="02010609060101010101" pitchFamily="49" charset="-122"/>
                <a:ea typeface="黑体" panose="02010609060101010101" pitchFamily="49" charset="-122"/>
              </a:rPr>
              <a:t>设</a:t>
            </a:r>
            <a:r>
              <a:rPr sz="4400" b="1" spc="7" dirty="0">
                <a:solidFill>
                  <a:srgbClr val="C00000"/>
                </a:solidFill>
                <a:latin typeface="黑体" panose="02010609060101010101" pitchFamily="49" charset="-122"/>
                <a:ea typeface="黑体" panose="02010609060101010101" pitchFamily="49" charset="-122"/>
              </a:rPr>
              <a:t>计</a:t>
            </a:r>
            <a:r>
              <a:rPr sz="4400" b="1" spc="-20" dirty="0">
                <a:solidFill>
                  <a:srgbClr val="C00000"/>
                </a:solidFill>
                <a:latin typeface="黑体" panose="02010609060101010101" pitchFamily="49" charset="-122"/>
                <a:ea typeface="黑体" panose="02010609060101010101" pitchFamily="49" charset="-122"/>
              </a:rPr>
              <a:t>思想</a:t>
            </a:r>
            <a:endParaRPr sz="3600" b="1" spc="-20" dirty="0">
              <a:solidFill>
                <a:srgbClr val="C00000"/>
              </a:solidFill>
              <a:latin typeface="黑体" panose="02010609060101010101" pitchFamily="49" charset="-122"/>
              <a:ea typeface="黑体" panose="02010609060101010101" pitchFamily="49" charset="-122"/>
            </a:endParaRPr>
          </a:p>
        </p:txBody>
      </p:sp>
      <p:sp>
        <p:nvSpPr>
          <p:cNvPr id="3" name="object 3"/>
          <p:cNvSpPr/>
          <p:nvPr/>
        </p:nvSpPr>
        <p:spPr>
          <a:xfrm>
            <a:off x="1028619" y="4899264"/>
            <a:ext cx="844077" cy="1021848"/>
          </a:xfrm>
          <a:prstGeom prst="rect">
            <a:avLst/>
          </a:prstGeom>
          <a:blipFill>
            <a:blip r:embed="rId1" cstate="print"/>
            <a:stretch>
              <a:fillRect/>
            </a:stretch>
          </a:blipFill>
        </p:spPr>
        <p:txBody>
          <a:bodyPr wrap="square" lIns="0" tIns="0" rIns="0" bIns="0" rtlCol="0"/>
          <a:lstStyle/>
          <a:p>
            <a:endParaRPr sz="2400"/>
          </a:p>
        </p:txBody>
      </p:sp>
      <p:sp>
        <p:nvSpPr>
          <p:cNvPr id="4" name="object 4"/>
          <p:cNvSpPr txBox="1"/>
          <p:nvPr/>
        </p:nvSpPr>
        <p:spPr>
          <a:xfrm>
            <a:off x="596900" y="1162202"/>
            <a:ext cx="8077200" cy="3217120"/>
          </a:xfrm>
          <a:prstGeom prst="rect">
            <a:avLst/>
          </a:prstGeom>
        </p:spPr>
        <p:txBody>
          <a:bodyPr vert="horz" wrap="square" lIns="0" tIns="16087" rIns="0" bIns="0" rtlCol="0">
            <a:spAutoFit/>
          </a:bodyPr>
          <a:lstStyle/>
          <a:p>
            <a:pPr marR="6985" algn="just">
              <a:spcBef>
                <a:spcPts val="2400"/>
              </a:spcBef>
              <a:buFont typeface="Arial" panose="020B0604020202020204"/>
              <a:buChar char="•"/>
              <a:tabLst>
                <a:tab pos="473710" algn="l"/>
              </a:tabLst>
            </a:pPr>
            <a:r>
              <a:rPr sz="2800" b="1" spc="-7" dirty="0">
                <a:latin typeface="Times New Roman" panose="02020603050405020304" pitchFamily="18" charset="0"/>
                <a:ea typeface="黑体" panose="02010609060101010101" pitchFamily="49" charset="-122"/>
                <a:cs typeface="Times New Roman" panose="02020603050405020304" pitchFamily="18" charset="0"/>
              </a:rPr>
              <a:t>通</a:t>
            </a:r>
            <a:r>
              <a:rPr sz="2800" b="1" spc="-13" dirty="0">
                <a:latin typeface="Times New Roman" panose="02020603050405020304" pitchFamily="18" charset="0"/>
                <a:ea typeface="黑体" panose="02010609060101010101" pitchFamily="49" charset="-122"/>
                <a:cs typeface="Times New Roman" panose="02020603050405020304" pitchFamily="18" charset="0"/>
              </a:rPr>
              <a:t>过</a:t>
            </a:r>
            <a:r>
              <a:rPr sz="2800" b="1" spc="-860"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x</a:t>
            </a:r>
            <a:r>
              <a:rPr sz="2800" b="1" spc="-53" dirty="0">
                <a:latin typeface="Times New Roman" panose="02020603050405020304" pitchFamily="18" charset="0"/>
                <a:ea typeface="黑体" panose="02010609060101010101" pitchFamily="49" charset="-122"/>
                <a:cs typeface="Times New Roman" panose="02020603050405020304" pitchFamily="18" charset="0"/>
              </a:rPr>
              <a:t> </a:t>
            </a:r>
            <a:r>
              <a:rPr sz="2800" b="1" spc="-13" dirty="0" err="1">
                <a:latin typeface="Times New Roman" panose="02020603050405020304" pitchFamily="18" charset="0"/>
                <a:ea typeface="黑体" panose="02010609060101010101" pitchFamily="49" charset="-122"/>
                <a:cs typeface="Times New Roman" panose="02020603050405020304" pitchFamily="18" charset="0"/>
              </a:rPr>
              <a:t>与</a:t>
            </a:r>
            <a:r>
              <a:rPr sz="2800" b="1" spc="-7" dirty="0" err="1">
                <a:latin typeface="Times New Roman" panose="02020603050405020304" pitchFamily="18" charset="0"/>
                <a:ea typeface="黑体" panose="02010609060101010101" pitchFamily="49" charset="-122"/>
                <a:cs typeface="Times New Roman" panose="02020603050405020304" pitchFamily="18" charset="0"/>
              </a:rPr>
              <a:t>中位数的比较，将原问题归</a:t>
            </a:r>
            <a:r>
              <a:rPr sz="2800" b="1" spc="-13" dirty="0" err="1">
                <a:latin typeface="Times New Roman" panose="02020603050405020304" pitchFamily="18" charset="0"/>
                <a:ea typeface="黑体" panose="02010609060101010101" pitchFamily="49" charset="-122"/>
                <a:cs typeface="Times New Roman" panose="02020603050405020304" pitchFamily="18" charset="0"/>
              </a:rPr>
              <a:t>结为</a:t>
            </a:r>
            <a:r>
              <a:rPr sz="2800" b="1" spc="-7" dirty="0" err="1">
                <a:latin typeface="Times New Roman" panose="02020603050405020304" pitchFamily="18" charset="0"/>
                <a:ea typeface="黑体" panose="02010609060101010101" pitchFamily="49" charset="-122"/>
                <a:cs typeface="Times New Roman" panose="02020603050405020304" pitchFamily="18" charset="0"/>
              </a:rPr>
              <a:t>规</a:t>
            </a:r>
            <a:r>
              <a:rPr sz="2800" b="1" spc="-13" dirty="0" err="1">
                <a:latin typeface="Times New Roman" panose="02020603050405020304" pitchFamily="18" charset="0"/>
                <a:ea typeface="黑体" panose="02010609060101010101" pitchFamily="49" charset="-122"/>
                <a:cs typeface="Times New Roman" panose="02020603050405020304" pitchFamily="18" charset="0"/>
              </a:rPr>
              <a:t>模</a:t>
            </a:r>
            <a:r>
              <a:rPr sz="2800" b="1" spc="-7" dirty="0" err="1">
                <a:latin typeface="Times New Roman" panose="02020603050405020304" pitchFamily="18" charset="0"/>
                <a:ea typeface="黑体" panose="02010609060101010101" pitchFamily="49" charset="-122"/>
                <a:cs typeface="Times New Roman" panose="02020603050405020304" pitchFamily="18" charset="0"/>
              </a:rPr>
              <a:t>减半</a:t>
            </a:r>
            <a:r>
              <a:rPr sz="2800" b="1" spc="7" dirty="0" err="1">
                <a:latin typeface="Times New Roman" panose="02020603050405020304" pitchFamily="18" charset="0"/>
                <a:ea typeface="黑体" panose="02010609060101010101" pitchFamily="49" charset="-122"/>
                <a:cs typeface="Times New Roman" panose="02020603050405020304" pitchFamily="18" charset="0"/>
              </a:rPr>
              <a:t>的</a:t>
            </a:r>
            <a:r>
              <a:rPr sz="2800" b="1" spc="-7" dirty="0" err="1">
                <a:latin typeface="Times New Roman" panose="02020603050405020304" pitchFamily="18" charset="0"/>
                <a:ea typeface="黑体" panose="02010609060101010101" pitchFamily="49" charset="-122"/>
                <a:cs typeface="Times New Roman" panose="02020603050405020304" pitchFamily="18" charset="0"/>
              </a:rPr>
              <a:t>子问题</a:t>
            </a:r>
            <a:r>
              <a:rPr lang="en-US"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err="1">
                <a:latin typeface="Times New Roman" panose="02020603050405020304" pitchFamily="18" charset="0"/>
                <a:ea typeface="黑体" panose="02010609060101010101" pitchFamily="49" charset="-122"/>
                <a:cs typeface="Times New Roman" panose="02020603050405020304" pitchFamily="18" charset="0"/>
              </a:rPr>
              <a:t>如</a:t>
            </a:r>
            <a:r>
              <a:rPr sz="2800" b="1" spc="-13" dirty="0" err="1">
                <a:latin typeface="Times New Roman" panose="02020603050405020304" pitchFamily="18" charset="0"/>
                <a:ea typeface="黑体" panose="02010609060101010101" pitchFamily="49" charset="-122"/>
                <a:cs typeface="Times New Roman" panose="02020603050405020304" pitchFamily="18" charset="0"/>
              </a:rPr>
              <a:t>果</a:t>
            </a:r>
            <a:r>
              <a:rPr sz="2800" b="1" spc="-807"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x</a:t>
            </a:r>
            <a:r>
              <a:rPr sz="2800" b="1" spc="-60"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err="1">
                <a:latin typeface="Times New Roman" panose="02020603050405020304" pitchFamily="18" charset="0"/>
                <a:ea typeface="黑体" panose="02010609060101010101" pitchFamily="49" charset="-122"/>
                <a:cs typeface="Times New Roman" panose="02020603050405020304" pitchFamily="18" charset="0"/>
              </a:rPr>
              <a:t>小于中位</a:t>
            </a:r>
            <a:r>
              <a:rPr sz="2800" b="1" spc="-13" dirty="0" err="1">
                <a:latin typeface="Times New Roman" panose="02020603050405020304" pitchFamily="18" charset="0"/>
                <a:ea typeface="黑体" panose="02010609060101010101" pitchFamily="49" charset="-122"/>
                <a:cs typeface="Times New Roman" panose="02020603050405020304" pitchFamily="18" charset="0"/>
              </a:rPr>
              <a:t>数</a:t>
            </a:r>
            <a:r>
              <a:rPr sz="2800" b="1" spc="-7" dirty="0" err="1">
                <a:latin typeface="Times New Roman" panose="02020603050405020304" pitchFamily="18" charset="0"/>
                <a:ea typeface="黑体" panose="02010609060101010101" pitchFamily="49" charset="-122"/>
                <a:cs typeface="Times New Roman" panose="02020603050405020304" pitchFamily="18" charset="0"/>
              </a:rPr>
              <a:t>，</a:t>
            </a:r>
            <a:r>
              <a:rPr sz="2800" b="1" spc="-13" dirty="0" err="1">
                <a:latin typeface="Times New Roman" panose="02020603050405020304" pitchFamily="18" charset="0"/>
                <a:ea typeface="黑体" panose="02010609060101010101" pitchFamily="49" charset="-122"/>
                <a:cs typeface="Times New Roman" panose="02020603050405020304" pitchFamily="18" charset="0"/>
              </a:rPr>
              <a:t>则</a:t>
            </a:r>
            <a:r>
              <a:rPr sz="2800" b="1" spc="-7" dirty="0" err="1">
                <a:latin typeface="Times New Roman" panose="02020603050405020304" pitchFamily="18" charset="0"/>
                <a:ea typeface="黑体" panose="02010609060101010101" pitchFamily="49" charset="-122"/>
                <a:cs typeface="Times New Roman" panose="02020603050405020304" pitchFamily="18" charset="0"/>
              </a:rPr>
              <a:t>子问</a:t>
            </a:r>
            <a:r>
              <a:rPr sz="2800" b="1" spc="7" dirty="0" err="1">
                <a:latin typeface="Times New Roman" panose="02020603050405020304" pitchFamily="18" charset="0"/>
                <a:ea typeface="黑体" panose="02010609060101010101" pitchFamily="49" charset="-122"/>
                <a:cs typeface="Times New Roman" panose="02020603050405020304" pitchFamily="18" charset="0"/>
              </a:rPr>
              <a:t>题</a:t>
            </a:r>
            <a:r>
              <a:rPr sz="2800" b="1" spc="-7" dirty="0" err="1">
                <a:latin typeface="Times New Roman" panose="02020603050405020304" pitchFamily="18" charset="0"/>
                <a:ea typeface="黑体" panose="02010609060101010101" pitchFamily="49" charset="-122"/>
                <a:cs typeface="Times New Roman" panose="02020603050405020304" pitchFamily="18" charset="0"/>
              </a:rPr>
              <a:t>由小</a:t>
            </a:r>
            <a:r>
              <a:rPr sz="2800" b="1" spc="-13" dirty="0" err="1">
                <a:latin typeface="Times New Roman" panose="02020603050405020304" pitchFamily="18" charset="0"/>
                <a:ea typeface="黑体" panose="02010609060101010101" pitchFamily="49" charset="-122"/>
                <a:cs typeface="Times New Roman" panose="02020603050405020304" pitchFamily="18" charset="0"/>
              </a:rPr>
              <a:t>于</a:t>
            </a:r>
            <a:r>
              <a:rPr sz="2800" b="1" spc="-813"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x</a:t>
            </a:r>
            <a:r>
              <a:rPr sz="2800" b="1" spc="-60" dirty="0">
                <a:latin typeface="Times New Roman" panose="02020603050405020304" pitchFamily="18" charset="0"/>
                <a:ea typeface="黑体" panose="02010609060101010101" pitchFamily="49" charset="-122"/>
                <a:cs typeface="Times New Roman" panose="02020603050405020304" pitchFamily="18" charset="0"/>
              </a:rPr>
              <a:t> </a:t>
            </a:r>
            <a:r>
              <a:rPr sz="2800" b="1" spc="-13" dirty="0" err="1">
                <a:latin typeface="Times New Roman" panose="02020603050405020304" pitchFamily="18" charset="0"/>
                <a:ea typeface="黑体" panose="02010609060101010101" pitchFamily="49" charset="-122"/>
                <a:cs typeface="Times New Roman" panose="02020603050405020304" pitchFamily="18" charset="0"/>
              </a:rPr>
              <a:t>的</a:t>
            </a:r>
            <a:r>
              <a:rPr sz="2800" b="1" spc="-7" dirty="0" err="1">
                <a:latin typeface="Times New Roman" panose="02020603050405020304" pitchFamily="18" charset="0"/>
                <a:ea typeface="黑体" panose="02010609060101010101" pitchFamily="49" charset="-122"/>
                <a:cs typeface="Times New Roman" panose="02020603050405020304" pitchFamily="18" charset="0"/>
              </a:rPr>
              <a:t>数</a:t>
            </a:r>
            <a:r>
              <a:rPr sz="2800" b="1" spc="-13" dirty="0" err="1">
                <a:latin typeface="Times New Roman" panose="02020603050405020304" pitchFamily="18" charset="0"/>
                <a:ea typeface="黑体" panose="02010609060101010101" pitchFamily="49" charset="-122"/>
                <a:cs typeface="Times New Roman" panose="02020603050405020304" pitchFamily="18" charset="0"/>
              </a:rPr>
              <a:t>构</a:t>
            </a:r>
            <a:r>
              <a:rPr sz="2800" b="1" dirty="0" err="1">
                <a:latin typeface="Times New Roman" panose="02020603050405020304" pitchFamily="18" charset="0"/>
                <a:ea typeface="黑体" panose="02010609060101010101" pitchFamily="49" charset="-122"/>
                <a:cs typeface="Times New Roman" panose="02020603050405020304" pitchFamily="18" charset="0"/>
              </a:rPr>
              <a:t>成</a:t>
            </a:r>
            <a:r>
              <a:rPr sz="2800" b="1" spc="-7" dirty="0" err="1">
                <a:latin typeface="Times New Roman" panose="02020603050405020304" pitchFamily="18" charset="0"/>
                <a:ea typeface="黑体" panose="02010609060101010101" pitchFamily="49" charset="-122"/>
                <a:cs typeface="Times New Roman" panose="02020603050405020304" pitchFamily="18" charset="0"/>
              </a:rPr>
              <a:t>，否</a:t>
            </a:r>
            <a:r>
              <a:rPr sz="2800" b="1" spc="-13" dirty="0" err="1">
                <a:latin typeface="Times New Roman" panose="02020603050405020304" pitchFamily="18" charset="0"/>
                <a:ea typeface="黑体" panose="02010609060101010101" pitchFamily="49" charset="-122"/>
                <a:cs typeface="Times New Roman" panose="02020603050405020304" pitchFamily="18" charset="0"/>
              </a:rPr>
              <a:t>则子</a:t>
            </a:r>
            <a:r>
              <a:rPr sz="2800" b="1" spc="-7" dirty="0" err="1">
                <a:latin typeface="Times New Roman" panose="02020603050405020304" pitchFamily="18" charset="0"/>
                <a:ea typeface="黑体" panose="02010609060101010101" pitchFamily="49" charset="-122"/>
                <a:cs typeface="Times New Roman" panose="02020603050405020304" pitchFamily="18" charset="0"/>
              </a:rPr>
              <a:t>问</a:t>
            </a:r>
            <a:r>
              <a:rPr sz="2800" b="1" spc="-13" dirty="0" err="1">
                <a:latin typeface="Times New Roman" panose="02020603050405020304" pitchFamily="18" charset="0"/>
                <a:ea typeface="黑体" panose="02010609060101010101" pitchFamily="49" charset="-122"/>
                <a:cs typeface="Times New Roman" panose="02020603050405020304" pitchFamily="18" charset="0"/>
              </a:rPr>
              <a:t>题</a:t>
            </a:r>
            <a:r>
              <a:rPr sz="2800" b="1" spc="-7" dirty="0" err="1">
                <a:latin typeface="Times New Roman" panose="02020603050405020304" pitchFamily="18" charset="0"/>
                <a:ea typeface="黑体" panose="02010609060101010101" pitchFamily="49" charset="-122"/>
                <a:cs typeface="Times New Roman" panose="02020603050405020304" pitchFamily="18" charset="0"/>
              </a:rPr>
              <a:t>由大</a:t>
            </a:r>
            <a:r>
              <a:rPr sz="2800" b="1" spc="-13" dirty="0" err="1">
                <a:latin typeface="Times New Roman" panose="02020603050405020304" pitchFamily="18" charset="0"/>
                <a:ea typeface="黑体" panose="02010609060101010101" pitchFamily="49" charset="-122"/>
                <a:cs typeface="Times New Roman" panose="02020603050405020304" pitchFamily="18" charset="0"/>
              </a:rPr>
              <a:t>于</a:t>
            </a:r>
            <a:r>
              <a:rPr lang="en-US" sz="2800" b="1" spc="-760"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x</a:t>
            </a:r>
            <a:r>
              <a:rPr sz="2800" b="1" spc="-7" dirty="0">
                <a:latin typeface="Times New Roman" panose="02020603050405020304" pitchFamily="18" charset="0"/>
                <a:ea typeface="黑体" panose="02010609060101010101" pitchFamily="49" charset="-122"/>
                <a:cs typeface="Times New Roman" panose="02020603050405020304" pitchFamily="18" charset="0"/>
              </a:rPr>
              <a:t> 的数构成</a:t>
            </a:r>
            <a:r>
              <a:rPr sz="2800" b="1" dirty="0">
                <a:latin typeface="Times New Roman" panose="02020603050405020304" pitchFamily="18" charset="0"/>
                <a:ea typeface="黑体" panose="02010609060101010101" pitchFamily="49" charset="-122"/>
                <a:cs typeface="Times New Roman" panose="02020603050405020304" pitchFamily="18" charset="0"/>
              </a:rPr>
              <a:t>.</a:t>
            </a:r>
            <a:endParaRPr sz="2800" b="1" dirty="0">
              <a:latin typeface="Times New Roman" panose="02020603050405020304" pitchFamily="18" charset="0"/>
              <a:ea typeface="黑体" panose="02010609060101010101" pitchFamily="49" charset="-122"/>
              <a:cs typeface="Times New Roman" panose="02020603050405020304" pitchFamily="18" charset="0"/>
            </a:endParaRPr>
          </a:p>
          <a:p>
            <a:pPr marL="0" lvl="1" algn="just">
              <a:spcBef>
                <a:spcPts val="2400"/>
              </a:spcBef>
              <a:buFont typeface="Arial" panose="020B0604020202020204"/>
              <a:buChar char="•"/>
              <a:tabLst>
                <a:tab pos="575310" algn="l"/>
              </a:tabLst>
            </a:pPr>
            <a:r>
              <a:rPr sz="2800" b="1" spc="-13" dirty="0">
                <a:latin typeface="Times New Roman" panose="02020603050405020304" pitchFamily="18" charset="0"/>
                <a:ea typeface="黑体" panose="02010609060101010101" pitchFamily="49" charset="-122"/>
                <a:cs typeface="Times New Roman" panose="02020603050405020304" pitchFamily="18" charset="0"/>
              </a:rPr>
              <a:t>对</a:t>
            </a:r>
            <a:r>
              <a:rPr sz="2800" b="1" spc="-7" dirty="0">
                <a:latin typeface="Times New Roman" panose="02020603050405020304" pitchFamily="18" charset="0"/>
                <a:ea typeface="黑体" panose="02010609060101010101" pitchFamily="49" charset="-122"/>
                <a:cs typeface="Times New Roman" panose="02020603050405020304" pitchFamily="18" charset="0"/>
              </a:rPr>
              <a:t>子</a:t>
            </a:r>
            <a:r>
              <a:rPr sz="2800" b="1" spc="-13" dirty="0">
                <a:latin typeface="Times New Roman" panose="02020603050405020304" pitchFamily="18" charset="0"/>
                <a:ea typeface="黑体" panose="02010609060101010101" pitchFamily="49" charset="-122"/>
                <a:cs typeface="Times New Roman" panose="02020603050405020304" pitchFamily="18" charset="0"/>
              </a:rPr>
              <a:t>问</a:t>
            </a:r>
            <a:r>
              <a:rPr sz="2800" b="1" spc="-7" dirty="0">
                <a:latin typeface="Times New Roman" panose="02020603050405020304" pitchFamily="18" charset="0"/>
                <a:ea typeface="黑体" panose="02010609060101010101" pitchFamily="49" charset="-122"/>
                <a:cs typeface="Times New Roman" panose="02020603050405020304" pitchFamily="18" charset="0"/>
              </a:rPr>
              <a:t>题进</a:t>
            </a:r>
            <a:r>
              <a:rPr sz="2800" b="1" spc="7" dirty="0">
                <a:latin typeface="Times New Roman" panose="02020603050405020304" pitchFamily="18" charset="0"/>
                <a:ea typeface="黑体" panose="02010609060101010101" pitchFamily="49" charset="-122"/>
                <a:cs typeface="Times New Roman" panose="02020603050405020304" pitchFamily="18" charset="0"/>
              </a:rPr>
              <a:t>行</a:t>
            </a:r>
            <a:r>
              <a:rPr sz="2800" b="1" spc="-7" dirty="0">
                <a:latin typeface="Times New Roman" panose="02020603050405020304" pitchFamily="18" charset="0"/>
                <a:ea typeface="黑体" panose="02010609060101010101" pitchFamily="49" charset="-122"/>
                <a:cs typeface="Times New Roman" panose="02020603050405020304" pitchFamily="18" charset="0"/>
              </a:rPr>
              <a:t>二分检</a:t>
            </a:r>
            <a:r>
              <a:rPr sz="2800" b="1" spc="13" dirty="0">
                <a:latin typeface="Times New Roman" panose="02020603050405020304" pitchFamily="18" charset="0"/>
                <a:ea typeface="黑体" panose="02010609060101010101" pitchFamily="49" charset="-122"/>
                <a:cs typeface="Times New Roman" panose="02020603050405020304" pitchFamily="18" charset="0"/>
              </a:rPr>
              <a:t>索</a:t>
            </a:r>
            <a:r>
              <a:rPr sz="2800" b="1" dirty="0">
                <a:latin typeface="Times New Roman" panose="02020603050405020304" pitchFamily="18" charset="0"/>
                <a:ea typeface="黑体" panose="02010609060101010101" pitchFamily="49" charset="-122"/>
                <a:cs typeface="Times New Roman" panose="02020603050405020304" pitchFamily="18" charset="0"/>
              </a:rPr>
              <a:t>.</a:t>
            </a:r>
            <a:endParaRPr sz="2800" b="1" dirty="0">
              <a:latin typeface="Times New Roman" panose="02020603050405020304" pitchFamily="18" charset="0"/>
              <a:ea typeface="黑体" panose="02010609060101010101" pitchFamily="49" charset="-122"/>
              <a:cs typeface="Times New Roman" panose="02020603050405020304" pitchFamily="18" charset="0"/>
            </a:endParaRPr>
          </a:p>
          <a:p>
            <a:pPr marL="0" marR="283845" lvl="1" algn="just">
              <a:spcBef>
                <a:spcPts val="2400"/>
              </a:spcBef>
              <a:buFont typeface="Arial" panose="020B0604020202020204"/>
              <a:buChar char="•"/>
              <a:tabLst>
                <a:tab pos="574675" algn="l"/>
                <a:tab pos="575310" algn="l"/>
              </a:tabLst>
            </a:pPr>
            <a:r>
              <a:rPr sz="2800" b="1" spc="-13" dirty="0">
                <a:latin typeface="Times New Roman" panose="02020603050405020304" pitchFamily="18" charset="0"/>
                <a:ea typeface="黑体" panose="02010609060101010101" pitchFamily="49" charset="-122"/>
                <a:cs typeface="Times New Roman" panose="02020603050405020304" pitchFamily="18" charset="0"/>
              </a:rPr>
              <a:t>当</a:t>
            </a:r>
            <a:r>
              <a:rPr sz="2800" b="1" spc="-7" dirty="0">
                <a:latin typeface="Times New Roman" panose="02020603050405020304" pitchFamily="18" charset="0"/>
                <a:ea typeface="黑体" panose="02010609060101010101" pitchFamily="49" charset="-122"/>
                <a:cs typeface="Times New Roman" panose="02020603050405020304" pitchFamily="18" charset="0"/>
              </a:rPr>
              <a:t>子</a:t>
            </a:r>
            <a:r>
              <a:rPr sz="2800" b="1" spc="-13" dirty="0">
                <a:latin typeface="Times New Roman" panose="02020603050405020304" pitchFamily="18" charset="0"/>
                <a:ea typeface="黑体" panose="02010609060101010101" pitchFamily="49" charset="-122"/>
                <a:cs typeface="Times New Roman" panose="02020603050405020304" pitchFamily="18" charset="0"/>
              </a:rPr>
              <a:t>问</a:t>
            </a:r>
            <a:r>
              <a:rPr sz="2800" b="1" spc="-7" dirty="0">
                <a:latin typeface="Times New Roman" panose="02020603050405020304" pitchFamily="18" charset="0"/>
                <a:ea typeface="黑体" panose="02010609060101010101" pitchFamily="49" charset="-122"/>
                <a:cs typeface="Times New Roman" panose="02020603050405020304" pitchFamily="18" charset="0"/>
              </a:rPr>
              <a:t>题规</a:t>
            </a:r>
            <a:r>
              <a:rPr sz="2800" b="1" spc="7" dirty="0">
                <a:latin typeface="Times New Roman" panose="02020603050405020304" pitchFamily="18" charset="0"/>
                <a:ea typeface="黑体" panose="02010609060101010101" pitchFamily="49" charset="-122"/>
                <a:cs typeface="Times New Roman" panose="02020603050405020304" pitchFamily="18" charset="0"/>
              </a:rPr>
              <a:t>模</a:t>
            </a:r>
            <a:r>
              <a:rPr sz="2800" b="1" spc="-13" dirty="0">
                <a:latin typeface="Times New Roman" panose="02020603050405020304" pitchFamily="18" charset="0"/>
                <a:ea typeface="黑体" panose="02010609060101010101" pitchFamily="49" charset="-122"/>
                <a:cs typeface="Times New Roman" panose="02020603050405020304" pitchFamily="18" charset="0"/>
              </a:rPr>
              <a:t>为</a:t>
            </a:r>
            <a:r>
              <a:rPr sz="2800" b="1" spc="-793"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1</a:t>
            </a:r>
            <a:r>
              <a:rPr sz="2800" b="1" spc="-27" dirty="0">
                <a:latin typeface="Times New Roman" panose="02020603050405020304" pitchFamily="18" charset="0"/>
                <a:ea typeface="黑体" panose="02010609060101010101" pitchFamily="49" charset="-122"/>
                <a:cs typeface="Times New Roman" panose="02020603050405020304" pitchFamily="18" charset="0"/>
              </a:rPr>
              <a:t> </a:t>
            </a:r>
            <a:r>
              <a:rPr sz="2800" b="1" spc="-13" dirty="0">
                <a:latin typeface="Times New Roman" panose="02020603050405020304" pitchFamily="18" charset="0"/>
                <a:ea typeface="黑体" panose="02010609060101010101" pitchFamily="49" charset="-122"/>
                <a:cs typeface="Times New Roman" panose="02020603050405020304" pitchFamily="18" charset="0"/>
              </a:rPr>
              <a:t>时</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r>
              <a:rPr sz="2800" b="1" spc="-13" dirty="0">
                <a:latin typeface="Times New Roman" panose="02020603050405020304" pitchFamily="18" charset="0"/>
                <a:ea typeface="黑体" panose="02010609060101010101" pitchFamily="49" charset="-122"/>
                <a:cs typeface="Times New Roman" panose="02020603050405020304" pitchFamily="18" charset="0"/>
              </a:rPr>
              <a:t>直</a:t>
            </a:r>
            <a:r>
              <a:rPr sz="2800" b="1" dirty="0">
                <a:latin typeface="Times New Roman" panose="02020603050405020304" pitchFamily="18" charset="0"/>
                <a:ea typeface="黑体" panose="02010609060101010101" pitchFamily="49" charset="-122"/>
                <a:cs typeface="Times New Roman" panose="02020603050405020304" pitchFamily="18" charset="0"/>
              </a:rPr>
              <a:t>接</a:t>
            </a:r>
            <a:r>
              <a:rPr sz="2800" b="1" spc="-7" dirty="0">
                <a:latin typeface="Times New Roman" panose="02020603050405020304" pitchFamily="18" charset="0"/>
                <a:ea typeface="黑体" panose="02010609060101010101" pitchFamily="49" charset="-122"/>
                <a:cs typeface="Times New Roman" panose="02020603050405020304" pitchFamily="18" charset="0"/>
              </a:rPr>
              <a:t>比</a:t>
            </a:r>
            <a:r>
              <a:rPr sz="2800" b="1" spc="-13" dirty="0">
                <a:latin typeface="Times New Roman" panose="02020603050405020304" pitchFamily="18" charset="0"/>
                <a:ea typeface="黑体" panose="02010609060101010101" pitchFamily="49" charset="-122"/>
                <a:cs typeface="Times New Roman" panose="02020603050405020304" pitchFamily="18" charset="0"/>
              </a:rPr>
              <a:t>较</a:t>
            </a:r>
            <a:r>
              <a:rPr sz="2800" b="1" spc="-787"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x</a:t>
            </a:r>
            <a:r>
              <a:rPr sz="2800" b="1" spc="-13" dirty="0">
                <a:latin typeface="Times New Roman" panose="02020603050405020304" pitchFamily="18" charset="0"/>
                <a:ea typeface="黑体" panose="02010609060101010101" pitchFamily="49" charset="-122"/>
                <a:cs typeface="Times New Roman" panose="02020603050405020304" pitchFamily="18" charset="0"/>
              </a:rPr>
              <a:t>与 T[m]，</a:t>
            </a:r>
            <a:r>
              <a:rPr lang="zh-CN" altLang="en-US" sz="2800" b="1" spc="-13" dirty="0">
                <a:latin typeface="Times New Roman" panose="02020603050405020304" pitchFamily="18" charset="0"/>
                <a:ea typeface="黑体" panose="02010609060101010101" pitchFamily="49" charset="-122"/>
                <a:cs typeface="Times New Roman" panose="02020603050405020304" pitchFamily="18" charset="0"/>
              </a:rPr>
              <a:t>若相等则返回 </a:t>
            </a:r>
            <a:r>
              <a:rPr lang="en-US" altLang="zh-CN" sz="2800" b="1" spc="-13" dirty="0">
                <a:latin typeface="Times New Roman" panose="02020603050405020304" pitchFamily="18" charset="0"/>
                <a:ea typeface="黑体" panose="02010609060101010101" pitchFamily="49" charset="-122"/>
                <a:cs typeface="Times New Roman" panose="02020603050405020304" pitchFamily="18" charset="0"/>
              </a:rPr>
              <a:t>m</a:t>
            </a:r>
            <a:r>
              <a:rPr lang="zh-CN" altLang="en-US" sz="2800" b="1" spc="-13" dirty="0">
                <a:latin typeface="Times New Roman" panose="02020603050405020304" pitchFamily="18" charset="0"/>
                <a:ea typeface="黑体" panose="02010609060101010101" pitchFamily="49" charset="-122"/>
                <a:cs typeface="Times New Roman" panose="02020603050405020304" pitchFamily="18" charset="0"/>
              </a:rPr>
              <a:t>，否则返回 </a:t>
            </a:r>
            <a:r>
              <a:rPr lang="en-US" altLang="zh-CN" sz="2800" b="1" spc="-13" dirty="0">
                <a:latin typeface="Times New Roman" panose="02020603050405020304" pitchFamily="18" charset="0"/>
                <a:ea typeface="黑体" panose="02010609060101010101" pitchFamily="49" charset="-122"/>
                <a:cs typeface="Times New Roman" panose="02020603050405020304" pitchFamily="18" charset="0"/>
              </a:rPr>
              <a:t>0.</a:t>
            </a:r>
            <a:endParaRPr lang="en-US" altLang="zh-CN" sz="2800" b="1" spc="-7"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矩形 4"/>
          <p:cNvSpPr/>
          <p:nvPr/>
        </p:nvSpPr>
        <p:spPr>
          <a:xfrm>
            <a:off x="1607775" y="5091335"/>
            <a:ext cx="3411127" cy="523220"/>
          </a:xfrm>
          <a:prstGeom prst="rect">
            <a:avLst/>
          </a:prstGeom>
        </p:spPr>
        <p:txBody>
          <a:bodyPr wrap="none">
            <a:spAutoFit/>
          </a:bodyPr>
          <a:lstStyle/>
          <a:p>
            <a:r>
              <a:rPr lang="zh-CN" altLang="en-US" sz="2800" b="1" spc="-13" dirty="0">
                <a:solidFill>
                  <a:srgbClr val="006FC0"/>
                </a:solidFill>
                <a:latin typeface="宋体" panose="02010600030101010101" pitchFamily="2" charset="-122"/>
                <a:cs typeface="宋体" panose="02010600030101010101" pitchFamily="2" charset="-122"/>
              </a:rPr>
              <a:t> 是</a:t>
            </a:r>
            <a:r>
              <a:rPr lang="zh-CN" altLang="en-US" sz="2800" b="1" spc="-7" dirty="0">
                <a:solidFill>
                  <a:srgbClr val="006FC0"/>
                </a:solidFill>
                <a:latin typeface="宋体" panose="02010600030101010101" pitchFamily="2" charset="-122"/>
                <a:cs typeface="宋体" panose="02010600030101010101" pitchFamily="2" charset="-122"/>
              </a:rPr>
              <a:t>否</a:t>
            </a:r>
            <a:r>
              <a:rPr lang="zh-CN" altLang="en-US" sz="2800" b="1" spc="-13" dirty="0">
                <a:solidFill>
                  <a:srgbClr val="006FC0"/>
                </a:solidFill>
                <a:latin typeface="宋体" panose="02010600030101010101" pitchFamily="2" charset="-122"/>
                <a:cs typeface="宋体" panose="02010600030101010101" pitchFamily="2" charset="-122"/>
              </a:rPr>
              <a:t>能</a:t>
            </a:r>
            <a:r>
              <a:rPr lang="zh-CN" altLang="en-US" sz="2800" b="1" spc="-7" dirty="0">
                <a:solidFill>
                  <a:srgbClr val="006FC0"/>
                </a:solidFill>
                <a:latin typeface="宋体" panose="02010600030101010101" pitchFamily="2" charset="-122"/>
                <a:cs typeface="宋体" panose="02010600030101010101" pitchFamily="2" charset="-122"/>
              </a:rPr>
              <a:t>够递</a:t>
            </a:r>
            <a:r>
              <a:rPr lang="zh-CN" altLang="en-US" sz="2800" b="1" spc="7" dirty="0">
                <a:solidFill>
                  <a:srgbClr val="006FC0"/>
                </a:solidFill>
                <a:latin typeface="宋体" panose="02010600030101010101" pitchFamily="2" charset="-122"/>
                <a:cs typeface="宋体" panose="02010600030101010101" pitchFamily="2" charset="-122"/>
              </a:rPr>
              <a:t>归</a:t>
            </a:r>
            <a:r>
              <a:rPr lang="zh-CN" altLang="en-US" sz="2800" b="1" spc="-7" dirty="0">
                <a:solidFill>
                  <a:srgbClr val="006FC0"/>
                </a:solidFill>
                <a:latin typeface="宋体" panose="02010600030101010101" pitchFamily="2" charset="-122"/>
                <a:cs typeface="宋体" panose="02010600030101010101" pitchFamily="2" charset="-122"/>
              </a:rPr>
              <a:t>实</a:t>
            </a:r>
            <a:r>
              <a:rPr lang="zh-CN" altLang="en-US" sz="2800" b="1" spc="7" dirty="0">
                <a:solidFill>
                  <a:srgbClr val="006FC0"/>
                </a:solidFill>
                <a:latin typeface="宋体" panose="02010600030101010101" pitchFamily="2" charset="-122"/>
                <a:cs typeface="宋体" panose="02010600030101010101" pitchFamily="2" charset="-122"/>
              </a:rPr>
              <a:t>现</a:t>
            </a:r>
            <a:r>
              <a:rPr lang="en-US" altLang="zh-CN" sz="2800" b="1" dirty="0">
                <a:solidFill>
                  <a:srgbClr val="006FC0"/>
                </a:solidFill>
                <a:latin typeface="Times New Roman" panose="02020603050405020304"/>
                <a:cs typeface="Times New Roman" panose="02020603050405020304"/>
              </a:rPr>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9700" y="84030"/>
            <a:ext cx="8939392" cy="694207"/>
          </a:xfrm>
          <a:prstGeom prst="rect">
            <a:avLst/>
          </a:prstGeom>
        </p:spPr>
        <p:txBody>
          <a:bodyPr vert="horz" wrap="square" lIns="0" tIns="16933" rIns="0" bIns="0" rtlCol="0" anchor="ctr">
            <a:spAutoFit/>
          </a:bodyPr>
          <a:lstStyle/>
          <a:p>
            <a:pPr marL="17145" algn="ctr">
              <a:lnSpc>
                <a:spcPct val="100000"/>
              </a:lnSpc>
              <a:spcBef>
                <a:spcPts val="135"/>
              </a:spcBef>
            </a:pPr>
            <a:r>
              <a:rPr sz="4400" b="1" spc="-20" dirty="0">
                <a:solidFill>
                  <a:srgbClr val="C00000"/>
                </a:solidFill>
                <a:latin typeface="黑体" panose="02010609060101010101" pitchFamily="49" charset="-122"/>
                <a:ea typeface="黑体" panose="02010609060101010101" pitchFamily="49" charset="-122"/>
              </a:rPr>
              <a:t>二分</a:t>
            </a:r>
            <a:r>
              <a:rPr sz="4400" b="1" spc="-7" dirty="0">
                <a:solidFill>
                  <a:srgbClr val="C00000"/>
                </a:solidFill>
                <a:latin typeface="黑体" panose="02010609060101010101" pitchFamily="49" charset="-122"/>
                <a:ea typeface="黑体" panose="02010609060101010101" pitchFamily="49" charset="-122"/>
              </a:rPr>
              <a:t>检</a:t>
            </a:r>
            <a:r>
              <a:rPr sz="4400" b="1" spc="-20" dirty="0">
                <a:solidFill>
                  <a:srgbClr val="C00000"/>
                </a:solidFill>
                <a:latin typeface="黑体" panose="02010609060101010101" pitchFamily="49" charset="-122"/>
                <a:ea typeface="黑体" panose="02010609060101010101" pitchFamily="49" charset="-122"/>
              </a:rPr>
              <a:t>索时</a:t>
            </a:r>
            <a:r>
              <a:rPr sz="4400" b="1" spc="-7" dirty="0">
                <a:solidFill>
                  <a:srgbClr val="C00000"/>
                </a:solidFill>
                <a:latin typeface="黑体" panose="02010609060101010101" pitchFamily="49" charset="-122"/>
                <a:ea typeface="黑体" panose="02010609060101010101" pitchFamily="49" charset="-122"/>
              </a:rPr>
              <a:t>间</a:t>
            </a:r>
            <a:r>
              <a:rPr sz="4400" b="1" spc="-20" dirty="0">
                <a:solidFill>
                  <a:srgbClr val="C00000"/>
                </a:solidFill>
                <a:latin typeface="黑体" panose="02010609060101010101" pitchFamily="49" charset="-122"/>
                <a:ea typeface="黑体" panose="02010609060101010101" pitchFamily="49" charset="-122"/>
              </a:rPr>
              <a:t>复</a:t>
            </a:r>
            <a:r>
              <a:rPr sz="4400" b="1" spc="7" dirty="0">
                <a:solidFill>
                  <a:srgbClr val="C00000"/>
                </a:solidFill>
                <a:latin typeface="黑体" panose="02010609060101010101" pitchFamily="49" charset="-122"/>
                <a:ea typeface="黑体" panose="02010609060101010101" pitchFamily="49" charset="-122"/>
              </a:rPr>
              <a:t>杂</a:t>
            </a:r>
            <a:r>
              <a:rPr sz="4400" b="1" spc="-20" dirty="0">
                <a:solidFill>
                  <a:srgbClr val="C00000"/>
                </a:solidFill>
                <a:latin typeface="黑体" panose="02010609060101010101" pitchFamily="49" charset="-122"/>
                <a:ea typeface="黑体" panose="02010609060101010101" pitchFamily="49" charset="-122"/>
              </a:rPr>
              <a:t>度</a:t>
            </a:r>
            <a:r>
              <a:rPr sz="4400" b="1" spc="-7" dirty="0">
                <a:solidFill>
                  <a:srgbClr val="C00000"/>
                </a:solidFill>
                <a:latin typeface="黑体" panose="02010609060101010101" pitchFamily="49" charset="-122"/>
                <a:ea typeface="黑体" panose="02010609060101010101" pitchFamily="49" charset="-122"/>
              </a:rPr>
              <a:t>分</a:t>
            </a:r>
            <a:r>
              <a:rPr sz="4400" b="1" spc="-20" dirty="0">
                <a:solidFill>
                  <a:srgbClr val="C00000"/>
                </a:solidFill>
                <a:latin typeface="黑体" panose="02010609060101010101" pitchFamily="49" charset="-122"/>
                <a:ea typeface="黑体" panose="02010609060101010101" pitchFamily="49" charset="-122"/>
              </a:rPr>
              <a:t>析</a:t>
            </a:r>
            <a:endParaRPr sz="4400" b="1" spc="-20" dirty="0">
              <a:solidFill>
                <a:srgbClr val="C00000"/>
              </a:solidFill>
              <a:latin typeface="黑体" panose="02010609060101010101" pitchFamily="49" charset="-122"/>
              <a:ea typeface="黑体" panose="02010609060101010101" pitchFamily="49" charset="-122"/>
            </a:endParaRPr>
          </a:p>
        </p:txBody>
      </p:sp>
      <p:sp>
        <p:nvSpPr>
          <p:cNvPr id="3" name="object 3"/>
          <p:cNvSpPr/>
          <p:nvPr/>
        </p:nvSpPr>
        <p:spPr>
          <a:xfrm>
            <a:off x="-269908" y="0"/>
            <a:ext cx="247904" cy="229616"/>
          </a:xfrm>
          <a:prstGeom prst="rect">
            <a:avLst/>
          </a:prstGeom>
          <a:blipFill>
            <a:blip r:embed="rId1" cstate="print"/>
            <a:stretch>
              <a:fillRect/>
            </a:stretch>
          </a:blipFill>
        </p:spPr>
        <p:txBody>
          <a:bodyPr wrap="square" lIns="0" tIns="0" rIns="0" bIns="0" rtlCol="0"/>
          <a:lstStyle/>
          <a:p>
            <a:endParaRPr sz="2400"/>
          </a:p>
        </p:txBody>
      </p:sp>
      <p:sp>
        <p:nvSpPr>
          <p:cNvPr id="4" name="object 4"/>
          <p:cNvSpPr/>
          <p:nvPr/>
        </p:nvSpPr>
        <p:spPr>
          <a:xfrm>
            <a:off x="16257" y="0"/>
            <a:ext cx="246887" cy="263144"/>
          </a:xfrm>
          <a:prstGeom prst="rect">
            <a:avLst/>
          </a:prstGeom>
          <a:blipFill>
            <a:blip r:embed="rId2" cstate="print"/>
            <a:stretch>
              <a:fillRect/>
            </a:stretch>
          </a:blipFill>
        </p:spPr>
        <p:txBody>
          <a:bodyPr wrap="square" lIns="0" tIns="0" rIns="0" bIns="0" rtlCol="0"/>
          <a:lstStyle/>
          <a:p>
            <a:endParaRPr sz="2400"/>
          </a:p>
        </p:txBody>
      </p:sp>
      <p:sp>
        <p:nvSpPr>
          <p:cNvPr id="5" name="object 5"/>
          <p:cNvSpPr/>
          <p:nvPr/>
        </p:nvSpPr>
        <p:spPr>
          <a:xfrm>
            <a:off x="-269908" y="0"/>
            <a:ext cx="247904" cy="229616"/>
          </a:xfrm>
          <a:prstGeom prst="rect">
            <a:avLst/>
          </a:prstGeom>
          <a:blipFill>
            <a:blip r:embed="rId1" cstate="print"/>
            <a:stretch>
              <a:fillRect/>
            </a:stretch>
          </a:blipFill>
        </p:spPr>
        <p:txBody>
          <a:bodyPr wrap="square" lIns="0" tIns="0" rIns="0" bIns="0" rtlCol="0"/>
          <a:lstStyle/>
          <a:p>
            <a:endParaRPr sz="2400"/>
          </a:p>
        </p:txBody>
      </p:sp>
      <p:sp>
        <p:nvSpPr>
          <p:cNvPr id="6" name="object 6"/>
          <p:cNvSpPr/>
          <p:nvPr/>
        </p:nvSpPr>
        <p:spPr>
          <a:xfrm>
            <a:off x="16257" y="0"/>
            <a:ext cx="246887" cy="263144"/>
          </a:xfrm>
          <a:prstGeom prst="rect">
            <a:avLst/>
          </a:prstGeom>
          <a:blipFill>
            <a:blip r:embed="rId2" cstate="print"/>
            <a:stretch>
              <a:fillRect/>
            </a:stretch>
          </a:blipFill>
        </p:spPr>
        <p:txBody>
          <a:bodyPr wrap="square" lIns="0" tIns="0" rIns="0" bIns="0" rtlCol="0"/>
          <a:lstStyle/>
          <a:p>
            <a:endParaRPr sz="2400"/>
          </a:p>
        </p:txBody>
      </p:sp>
      <p:sp>
        <p:nvSpPr>
          <p:cNvPr id="7" name="object 7"/>
          <p:cNvSpPr txBox="1"/>
          <p:nvPr/>
        </p:nvSpPr>
        <p:spPr>
          <a:xfrm>
            <a:off x="459496" y="1156322"/>
            <a:ext cx="8307658" cy="3418949"/>
          </a:xfrm>
          <a:prstGeom prst="rect">
            <a:avLst/>
          </a:prstGeom>
        </p:spPr>
        <p:txBody>
          <a:bodyPr vert="horz" wrap="square" lIns="0" tIns="114300" rIns="0" bIns="0" rtlCol="0">
            <a:spAutoFit/>
          </a:bodyPr>
          <a:lstStyle/>
          <a:p>
            <a:pPr marL="17145">
              <a:spcBef>
                <a:spcPts val="900"/>
              </a:spcBef>
            </a:pPr>
            <a:r>
              <a:rPr sz="3200" b="1" spc="-20" dirty="0">
                <a:latin typeface="黑体" panose="02010609060101010101" pitchFamily="49" charset="-122"/>
                <a:ea typeface="黑体" panose="02010609060101010101" pitchFamily="49" charset="-122"/>
                <a:cs typeface="宋体" panose="02010600030101010101" pitchFamily="2" charset="-122"/>
              </a:rPr>
              <a:t>二</a:t>
            </a:r>
            <a:r>
              <a:rPr sz="3200" b="1" spc="-7" dirty="0">
                <a:latin typeface="黑体" panose="02010609060101010101" pitchFamily="49" charset="-122"/>
                <a:ea typeface="黑体" panose="02010609060101010101" pitchFamily="49" charset="-122"/>
                <a:cs typeface="宋体" panose="02010600030101010101" pitchFamily="2" charset="-122"/>
              </a:rPr>
              <a:t>分检索问</a:t>
            </a:r>
            <a:r>
              <a:rPr sz="3200" b="1" dirty="0">
                <a:latin typeface="黑体" panose="02010609060101010101" pitchFamily="49" charset="-122"/>
                <a:ea typeface="黑体" panose="02010609060101010101" pitchFamily="49" charset="-122"/>
                <a:cs typeface="宋体" panose="02010600030101010101" pitchFamily="2" charset="-122"/>
              </a:rPr>
              <a:t>题</a:t>
            </a:r>
            <a:r>
              <a:rPr sz="3200" b="1" spc="-7" dirty="0">
                <a:latin typeface="黑体" panose="02010609060101010101" pitchFamily="49" charset="-122"/>
                <a:ea typeface="黑体" panose="02010609060101010101" pitchFamily="49" charset="-122"/>
                <a:cs typeface="宋体" panose="02010600030101010101" pitchFamily="2" charset="-122"/>
              </a:rPr>
              <a:t>最坏</a:t>
            </a:r>
            <a:r>
              <a:rPr sz="3200" b="1" dirty="0">
                <a:latin typeface="黑体" panose="02010609060101010101" pitchFamily="49" charset="-122"/>
                <a:ea typeface="黑体" panose="02010609060101010101" pitchFamily="49" charset="-122"/>
                <a:cs typeface="宋体" panose="02010600030101010101" pitchFamily="2" charset="-122"/>
              </a:rPr>
              <a:t>情</a:t>
            </a:r>
            <a:r>
              <a:rPr sz="3200" b="1" spc="-7" dirty="0">
                <a:latin typeface="黑体" panose="02010609060101010101" pitchFamily="49" charset="-122"/>
                <a:ea typeface="黑体" panose="02010609060101010101" pitchFamily="49" charset="-122"/>
                <a:cs typeface="宋体" panose="02010600030101010101" pitchFamily="2" charset="-122"/>
              </a:rPr>
              <a:t>况</a:t>
            </a:r>
            <a:r>
              <a:rPr sz="3200" b="1" dirty="0">
                <a:latin typeface="黑体" panose="02010609060101010101" pitchFamily="49" charset="-122"/>
                <a:ea typeface="黑体" panose="02010609060101010101" pitchFamily="49" charset="-122"/>
                <a:cs typeface="宋体" panose="02010600030101010101" pitchFamily="2" charset="-122"/>
              </a:rPr>
              <a:t>下</a:t>
            </a:r>
            <a:r>
              <a:rPr sz="3200" b="1" spc="-7" dirty="0">
                <a:latin typeface="黑体" panose="02010609060101010101" pitchFamily="49" charset="-122"/>
                <a:ea typeface="黑体" panose="02010609060101010101" pitchFamily="49" charset="-122"/>
                <a:cs typeface="宋体" panose="02010600030101010101" pitchFamily="2" charset="-122"/>
              </a:rPr>
              <a:t>时间</a:t>
            </a:r>
            <a:r>
              <a:rPr sz="3200" b="1" dirty="0">
                <a:latin typeface="黑体" panose="02010609060101010101" pitchFamily="49" charset="-122"/>
                <a:ea typeface="黑体" panose="02010609060101010101" pitchFamily="49" charset="-122"/>
                <a:cs typeface="宋体" panose="02010600030101010101" pitchFamily="2" charset="-122"/>
              </a:rPr>
              <a:t>复</a:t>
            </a:r>
            <a:r>
              <a:rPr sz="3200" b="1" spc="-7" dirty="0">
                <a:latin typeface="黑体" panose="02010609060101010101" pitchFamily="49" charset="-122"/>
                <a:ea typeface="黑体" panose="02010609060101010101" pitchFamily="49" charset="-122"/>
                <a:cs typeface="宋体" panose="02010600030101010101" pitchFamily="2" charset="-122"/>
              </a:rPr>
              <a:t>杂</a:t>
            </a:r>
            <a:r>
              <a:rPr sz="3200" b="1" spc="-20" dirty="0">
                <a:latin typeface="黑体" panose="02010609060101010101" pitchFamily="49" charset="-122"/>
                <a:ea typeface="黑体" panose="02010609060101010101" pitchFamily="49" charset="-122"/>
                <a:cs typeface="宋体" panose="02010600030101010101" pitchFamily="2" charset="-122"/>
              </a:rPr>
              <a:t>度</a:t>
            </a:r>
            <a:endParaRPr sz="3200" dirty="0">
              <a:latin typeface="黑体" panose="02010609060101010101" pitchFamily="49" charset="-122"/>
              <a:ea typeface="黑体" panose="02010609060101010101" pitchFamily="49" charset="-122"/>
              <a:cs typeface="宋体" panose="02010600030101010101" pitchFamily="2" charset="-122"/>
            </a:endParaRPr>
          </a:p>
          <a:p>
            <a:pPr marL="675640">
              <a:spcBef>
                <a:spcPts val="765"/>
              </a:spcBef>
            </a:pPr>
            <a:r>
              <a:rPr lang="en-US" sz="3200" b="1" i="1" spc="-7" dirty="0">
                <a:latin typeface="Times New Roman" panose="02020603050405020304"/>
                <a:cs typeface="Times New Roman" panose="02020603050405020304"/>
              </a:rPr>
              <a:t>       </a:t>
            </a:r>
            <a:r>
              <a:rPr sz="3200" b="1" i="1" spc="-7" dirty="0">
                <a:latin typeface="Times New Roman" panose="02020603050405020304"/>
                <a:cs typeface="Times New Roman" panose="02020603050405020304"/>
              </a:rPr>
              <a:t>W</a:t>
            </a:r>
            <a:r>
              <a:rPr sz="3200" b="1" spc="-7"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 = </a:t>
            </a:r>
            <a:r>
              <a:rPr sz="3200" b="1" i="1" spc="-7" dirty="0">
                <a:latin typeface="Times New Roman" panose="02020603050405020304"/>
                <a:cs typeface="Times New Roman" panose="02020603050405020304"/>
              </a:rPr>
              <a:t>W</a:t>
            </a:r>
            <a:r>
              <a:rPr sz="3200" b="1" spc="-7" dirty="0">
                <a:latin typeface="Times New Roman" panose="02020603050405020304"/>
                <a:cs typeface="Times New Roman" panose="02020603050405020304"/>
              </a:rPr>
              <a:t>( </a:t>
            </a:r>
            <a:r>
              <a:rPr sz="3200" b="1" spc="-7" dirty="0">
                <a:latin typeface="Symbol" panose="05050102010706020507"/>
                <a:cs typeface="Symbol" panose="05050102010706020507"/>
              </a:rPr>
              <a:t></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/2</a:t>
            </a:r>
            <a:r>
              <a:rPr sz="3200" b="1" spc="-7" dirty="0">
                <a:latin typeface="Symbol" panose="05050102010706020507"/>
                <a:cs typeface="Symbol" panose="05050102010706020507"/>
              </a:rPr>
              <a:t></a:t>
            </a:r>
            <a:r>
              <a:rPr sz="3200" b="1" spc="13" dirty="0">
                <a:latin typeface="Times New Roman" panose="02020603050405020304"/>
                <a:cs typeface="Times New Roman" panose="02020603050405020304"/>
              </a:rPr>
              <a:t> </a:t>
            </a:r>
            <a:r>
              <a:rPr sz="3200" b="1" spc="-7" dirty="0">
                <a:latin typeface="Times New Roman" panose="02020603050405020304"/>
                <a:cs typeface="Times New Roman" panose="02020603050405020304"/>
              </a:rPr>
              <a:t>)+1</a:t>
            </a:r>
            <a:endParaRPr sz="3200" dirty="0">
              <a:latin typeface="Times New Roman" panose="02020603050405020304"/>
              <a:cs typeface="Times New Roman" panose="02020603050405020304"/>
            </a:endParaRPr>
          </a:p>
          <a:p>
            <a:pPr marL="668020">
              <a:spcBef>
                <a:spcPts val="795"/>
              </a:spcBef>
            </a:pPr>
            <a:r>
              <a:rPr lang="en-US" sz="3200" b="1" i="1" spc="-7" dirty="0">
                <a:latin typeface="Times New Roman" panose="02020603050405020304"/>
                <a:cs typeface="Times New Roman" panose="02020603050405020304"/>
              </a:rPr>
              <a:t>       </a:t>
            </a:r>
            <a:r>
              <a:rPr sz="3200" b="1" i="1" spc="-7" dirty="0">
                <a:latin typeface="Times New Roman" panose="02020603050405020304"/>
                <a:cs typeface="Times New Roman" panose="02020603050405020304"/>
              </a:rPr>
              <a:t>W</a:t>
            </a:r>
            <a:r>
              <a:rPr sz="3200" b="1" spc="-7" dirty="0">
                <a:latin typeface="Times New Roman" panose="02020603050405020304"/>
                <a:cs typeface="Times New Roman" panose="02020603050405020304"/>
              </a:rPr>
              <a:t>(1) = 1</a:t>
            </a:r>
            <a:endParaRPr sz="3200" dirty="0">
              <a:latin typeface="Times New Roman" panose="02020603050405020304"/>
              <a:cs typeface="Times New Roman" panose="02020603050405020304"/>
            </a:endParaRPr>
          </a:p>
          <a:p>
            <a:pPr>
              <a:spcBef>
                <a:spcPts val="40"/>
              </a:spcBef>
            </a:pPr>
            <a:endParaRPr sz="3465" dirty="0">
              <a:latin typeface="Times New Roman" panose="02020603050405020304"/>
              <a:cs typeface="Times New Roman" panose="02020603050405020304"/>
            </a:endParaRPr>
          </a:p>
          <a:p>
            <a:pPr marL="118745"/>
            <a:r>
              <a:rPr sz="3200" b="1" spc="-20" dirty="0">
                <a:latin typeface="黑体" panose="02010609060101010101" pitchFamily="49" charset="-122"/>
                <a:ea typeface="黑体" panose="02010609060101010101" pitchFamily="49" charset="-122"/>
                <a:cs typeface="宋体" panose="02010600030101010101" pitchFamily="2" charset="-122"/>
              </a:rPr>
              <a:t>可</a:t>
            </a:r>
            <a:r>
              <a:rPr sz="3200" b="1" spc="-7" dirty="0">
                <a:latin typeface="黑体" panose="02010609060101010101" pitchFamily="49" charset="-122"/>
                <a:ea typeface="黑体" panose="02010609060101010101" pitchFamily="49" charset="-122"/>
                <a:cs typeface="宋体" panose="02010600030101010101" pitchFamily="2" charset="-122"/>
              </a:rPr>
              <a:t>以解</a:t>
            </a:r>
            <a:r>
              <a:rPr sz="3200" b="1" spc="-20" dirty="0">
                <a:latin typeface="黑体" panose="02010609060101010101" pitchFamily="49" charset="-122"/>
                <a:ea typeface="黑体" panose="02010609060101010101" pitchFamily="49" charset="-122"/>
                <a:cs typeface="宋体" panose="02010600030101010101" pitchFamily="2" charset="-122"/>
              </a:rPr>
              <a:t>出</a:t>
            </a:r>
            <a:endParaRPr sz="3200" dirty="0">
              <a:latin typeface="黑体" panose="02010609060101010101" pitchFamily="49" charset="-122"/>
              <a:ea typeface="黑体" panose="02010609060101010101" pitchFamily="49" charset="-122"/>
              <a:cs typeface="宋体" panose="02010600030101010101" pitchFamily="2" charset="-122"/>
            </a:endParaRPr>
          </a:p>
          <a:p>
            <a:pPr marL="769620">
              <a:spcBef>
                <a:spcPts val="775"/>
              </a:spcBef>
            </a:pPr>
            <a:r>
              <a:rPr lang="en-US" sz="3200" b="1" i="1" spc="-7" dirty="0">
                <a:latin typeface="Times New Roman" panose="02020603050405020304"/>
                <a:cs typeface="Times New Roman" panose="02020603050405020304"/>
              </a:rPr>
              <a:t>      </a:t>
            </a:r>
            <a:r>
              <a:rPr sz="3200" b="1" i="1" spc="-7" dirty="0">
                <a:latin typeface="Times New Roman" panose="02020603050405020304"/>
                <a:cs typeface="Times New Roman" panose="02020603050405020304"/>
              </a:rPr>
              <a:t>W</a:t>
            </a:r>
            <a:r>
              <a:rPr sz="3200" b="1" spc="-7"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 </a:t>
            </a:r>
            <a:r>
              <a:rPr sz="3200" b="1" spc="-7" dirty="0">
                <a:latin typeface="Symbol" panose="05050102010706020507"/>
                <a:cs typeface="Symbol" panose="05050102010706020507"/>
              </a:rPr>
              <a:t></a:t>
            </a:r>
            <a:r>
              <a:rPr sz="3200" b="1" spc="-7" dirty="0">
                <a:latin typeface="Times New Roman" panose="02020603050405020304"/>
                <a:cs typeface="Times New Roman" panose="02020603050405020304"/>
              </a:rPr>
              <a:t>log</a:t>
            </a:r>
            <a:r>
              <a:rPr sz="3200" b="1" i="1" spc="-7" dirty="0">
                <a:latin typeface="Times New Roman" panose="02020603050405020304"/>
                <a:cs typeface="Times New Roman" panose="02020603050405020304"/>
              </a:rPr>
              <a:t>n</a:t>
            </a:r>
            <a:r>
              <a:rPr sz="3200" b="1" spc="-7" dirty="0">
                <a:latin typeface="Symbol" panose="05050102010706020507"/>
                <a:cs typeface="Symbol" panose="05050102010706020507"/>
              </a:rPr>
              <a:t></a:t>
            </a:r>
            <a:r>
              <a:rPr sz="3200" b="1" spc="-7" dirty="0">
                <a:latin typeface="Times New Roman" panose="02020603050405020304"/>
                <a:cs typeface="Times New Roman" panose="02020603050405020304"/>
              </a:rPr>
              <a:t> +</a:t>
            </a:r>
            <a:r>
              <a:rPr sz="3200" b="1" spc="20" dirty="0">
                <a:latin typeface="Times New Roman" panose="02020603050405020304"/>
                <a:cs typeface="Times New Roman" panose="02020603050405020304"/>
              </a:rPr>
              <a:t> </a:t>
            </a:r>
            <a:r>
              <a:rPr sz="3200" b="1" spc="-7" dirty="0">
                <a:latin typeface="Times New Roman" panose="02020603050405020304"/>
                <a:cs typeface="Times New Roman" panose="02020603050405020304"/>
              </a:rPr>
              <a:t>1</a:t>
            </a:r>
            <a:endParaRPr sz="3200" dirty="0">
              <a:latin typeface="Times New Roman" panose="02020603050405020304"/>
              <a:cs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1706" y="23654"/>
            <a:ext cx="8841049" cy="694207"/>
          </a:xfrm>
          <a:prstGeom prst="rect">
            <a:avLst/>
          </a:prstGeom>
        </p:spPr>
        <p:txBody>
          <a:bodyPr vert="horz" wrap="square" lIns="0" tIns="16933" rIns="0" bIns="0" rtlCol="0" anchor="ctr">
            <a:spAutoFit/>
          </a:bodyPr>
          <a:lstStyle/>
          <a:p>
            <a:pPr marL="17145" algn="ctr">
              <a:lnSpc>
                <a:spcPct val="100000"/>
              </a:lnSpc>
              <a:spcBef>
                <a:spcPts val="135"/>
              </a:spcBef>
            </a:pPr>
            <a:r>
              <a:rPr sz="4400" b="1" spc="-13" dirty="0">
                <a:solidFill>
                  <a:srgbClr val="C00000"/>
                </a:solidFill>
                <a:latin typeface="黑体" panose="02010609060101010101" pitchFamily="49" charset="-122"/>
                <a:ea typeface="黑体" panose="02010609060101010101" pitchFamily="49" charset="-122"/>
              </a:rPr>
              <a:t>二分归并排序</a:t>
            </a:r>
            <a:endParaRPr sz="3600" b="1" spc="-13"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461766" y="1036154"/>
            <a:ext cx="8820029" cy="4472164"/>
          </a:xfrm>
          <a:prstGeom prst="rect">
            <a:avLst/>
          </a:prstGeom>
        </p:spPr>
        <p:txBody>
          <a:bodyPr vert="horz" wrap="square" lIns="0" tIns="80433" rIns="0" bIns="0" rtlCol="0">
            <a:spAutoFit/>
          </a:bodyPr>
          <a:lstStyle/>
          <a:p>
            <a:pPr>
              <a:spcBef>
                <a:spcPts val="600"/>
              </a:spcBef>
              <a:tabLst>
                <a:tab pos="1229995" algn="l"/>
              </a:tabLst>
            </a:pPr>
            <a:r>
              <a:rPr sz="2800" b="1" spc="-13" dirty="0">
                <a:latin typeface="Times New Roman" panose="02020603050405020304" pitchFamily="18" charset="0"/>
                <a:ea typeface="黑体" panose="02010609060101010101" pitchFamily="49" charset="-122"/>
                <a:cs typeface="Times New Roman" panose="02020603050405020304" pitchFamily="18" charset="0"/>
              </a:rPr>
              <a:t>算</a:t>
            </a:r>
            <a:r>
              <a:rPr sz="2800" b="1" spc="-20" dirty="0">
                <a:latin typeface="Times New Roman" panose="02020603050405020304" pitchFamily="18" charset="0"/>
                <a:ea typeface="黑体" panose="02010609060101010101" pitchFamily="49" charset="-122"/>
                <a:cs typeface="Times New Roman" panose="02020603050405020304" pitchFamily="18" charset="0"/>
              </a:rPr>
              <a:t>法	</a:t>
            </a:r>
            <a:r>
              <a:rPr sz="2800" b="1" spc="-7" dirty="0">
                <a:latin typeface="Times New Roman" panose="02020603050405020304" pitchFamily="18" charset="0"/>
                <a:ea typeface="黑体" panose="02010609060101010101" pitchFamily="49" charset="-122"/>
                <a:cs typeface="Times New Roman" panose="02020603050405020304" pitchFamily="18" charset="0"/>
              </a:rPr>
              <a:t>Merge Sort (</a:t>
            </a:r>
            <a:r>
              <a:rPr sz="2800" b="1" i="1" spc="-7" dirty="0">
                <a:latin typeface="Times New Roman" panose="02020603050405020304" pitchFamily="18" charset="0"/>
                <a:ea typeface="黑体" panose="02010609060101010101" pitchFamily="49" charset="-122"/>
                <a:cs typeface="Times New Roman" panose="02020603050405020304" pitchFamily="18" charset="0"/>
              </a:rPr>
              <a:t>A</a:t>
            </a:r>
            <a:r>
              <a:rPr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i="1" spc="-7" dirty="0">
                <a:latin typeface="Times New Roman" panose="02020603050405020304" pitchFamily="18" charset="0"/>
                <a:ea typeface="黑体" panose="02010609060101010101" pitchFamily="49" charset="-122"/>
                <a:cs typeface="Times New Roman" panose="02020603050405020304" pitchFamily="18" charset="0"/>
              </a:rPr>
              <a:t>p</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r>
              <a:rPr sz="2800" b="1" spc="-13" dirty="0">
                <a:latin typeface="Times New Roman" panose="02020603050405020304" pitchFamily="18" charset="0"/>
                <a:ea typeface="黑体" panose="02010609060101010101" pitchFamily="49" charset="-122"/>
                <a:cs typeface="Times New Roman" panose="02020603050405020304" pitchFamily="18" charset="0"/>
              </a:rPr>
              <a:t> </a:t>
            </a:r>
            <a:r>
              <a:rPr sz="2800" b="1" i="1" spc="-7" dirty="0">
                <a:latin typeface="Times New Roman" panose="02020603050405020304" pitchFamily="18" charset="0"/>
                <a:ea typeface="黑体" panose="02010609060101010101" pitchFamily="49" charset="-122"/>
                <a:cs typeface="Times New Roman" panose="02020603050405020304" pitchFamily="18" charset="0"/>
              </a:rPr>
              <a:t>r</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600"/>
              </a:spcBef>
            </a:pPr>
            <a:r>
              <a:rPr lang="en-US" sz="2800" b="1" spc="-20" dirty="0">
                <a:latin typeface="Times New Roman" panose="02020603050405020304" pitchFamily="18" charset="0"/>
                <a:ea typeface="黑体" panose="02010609060101010101" pitchFamily="49" charset="-122"/>
                <a:cs typeface="Times New Roman" panose="02020603050405020304" pitchFamily="18" charset="0"/>
              </a:rPr>
              <a:t>    </a:t>
            </a:r>
            <a:r>
              <a:rPr sz="2800" b="1" spc="-20" dirty="0" err="1">
                <a:latin typeface="Times New Roman" panose="02020603050405020304" pitchFamily="18" charset="0"/>
                <a:ea typeface="黑体" panose="02010609060101010101" pitchFamily="49" charset="-122"/>
                <a:cs typeface="Times New Roman" panose="02020603050405020304" pitchFamily="18" charset="0"/>
              </a:rPr>
              <a:t>输</a:t>
            </a:r>
            <a:r>
              <a:rPr sz="2800" b="1" spc="-7" dirty="0" err="1">
                <a:latin typeface="Times New Roman" panose="02020603050405020304" pitchFamily="18" charset="0"/>
                <a:ea typeface="黑体" panose="02010609060101010101" pitchFamily="49" charset="-122"/>
                <a:cs typeface="Times New Roman" panose="02020603050405020304" pitchFamily="18" charset="0"/>
              </a:rPr>
              <a:t>入：数</a:t>
            </a:r>
            <a:r>
              <a:rPr sz="2800" b="1" spc="-20" dirty="0" err="1">
                <a:latin typeface="Times New Roman" panose="02020603050405020304" pitchFamily="18" charset="0"/>
                <a:ea typeface="黑体" panose="02010609060101010101" pitchFamily="49" charset="-122"/>
                <a:cs typeface="Times New Roman" panose="02020603050405020304" pitchFamily="18" charset="0"/>
              </a:rPr>
              <a:t>组</a:t>
            </a:r>
            <a:r>
              <a:rPr sz="2800" b="1" spc="27" dirty="0">
                <a:latin typeface="Times New Roman" panose="02020603050405020304" pitchFamily="18" charset="0"/>
                <a:ea typeface="黑体" panose="02010609060101010101" pitchFamily="49" charset="-122"/>
                <a:cs typeface="Times New Roman" panose="02020603050405020304" pitchFamily="18" charset="0"/>
              </a:rPr>
              <a:t> </a:t>
            </a:r>
            <a:r>
              <a:rPr sz="2800" b="1" i="1" spc="-7" dirty="0">
                <a:latin typeface="Times New Roman" panose="02020603050405020304" pitchFamily="18" charset="0"/>
                <a:ea typeface="黑体" panose="02010609060101010101" pitchFamily="49" charset="-122"/>
                <a:cs typeface="Times New Roman" panose="02020603050405020304" pitchFamily="18" charset="0"/>
              </a:rPr>
              <a:t>A</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r>
              <a:rPr sz="2800" b="1" spc="-13" dirty="0">
                <a:latin typeface="Times New Roman" panose="02020603050405020304" pitchFamily="18" charset="0"/>
                <a:ea typeface="黑体" panose="02010609060101010101" pitchFamily="49" charset="-122"/>
                <a:cs typeface="Times New Roman" panose="02020603050405020304" pitchFamily="18" charset="0"/>
              </a:rPr>
              <a:t> </a:t>
            </a:r>
            <a:r>
              <a:rPr sz="2800" b="1" i="1" spc="-7" dirty="0">
                <a:latin typeface="Times New Roman" panose="02020603050405020304" pitchFamily="18" charset="0"/>
                <a:ea typeface="黑体" panose="02010609060101010101" pitchFamily="49" charset="-122"/>
                <a:cs typeface="Times New Roman" panose="02020603050405020304" pitchFamily="18" charset="0"/>
              </a:rPr>
              <a:t>p</a:t>
            </a:r>
            <a:r>
              <a:rPr sz="2800" b="1" i="1"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r>
              <a:rPr sz="2800" b="1" dirty="0">
                <a:latin typeface="Times New Roman" panose="02020603050405020304" pitchFamily="18" charset="0"/>
                <a:ea typeface="黑体" panose="02010609060101010101" pitchFamily="49" charset="-122"/>
                <a:cs typeface="Times New Roman" panose="02020603050405020304" pitchFamily="18" charset="0"/>
              </a:rPr>
              <a:t> </a:t>
            </a:r>
            <a:r>
              <a:rPr sz="2800" b="1" i="1" spc="-7" dirty="0">
                <a:latin typeface="Times New Roman" panose="02020603050405020304" pitchFamily="18" charset="0"/>
                <a:ea typeface="黑体" panose="02010609060101010101" pitchFamily="49" charset="-122"/>
                <a:cs typeface="Times New Roman" panose="02020603050405020304" pitchFamily="18" charset="0"/>
              </a:rPr>
              <a:t>r</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600"/>
              </a:spcBef>
            </a:pPr>
            <a:r>
              <a:rPr lang="en-US" sz="2800" b="1" spc="-20" dirty="0">
                <a:latin typeface="Times New Roman" panose="02020603050405020304" pitchFamily="18" charset="0"/>
                <a:ea typeface="黑体" panose="02010609060101010101" pitchFamily="49" charset="-122"/>
                <a:cs typeface="Times New Roman" panose="02020603050405020304" pitchFamily="18" charset="0"/>
              </a:rPr>
              <a:t>    </a:t>
            </a:r>
            <a:r>
              <a:rPr sz="2800" b="1" spc="-20" dirty="0" err="1">
                <a:latin typeface="Times New Roman" panose="02020603050405020304" pitchFamily="18" charset="0"/>
                <a:ea typeface="黑体" panose="02010609060101010101" pitchFamily="49" charset="-122"/>
                <a:cs typeface="Times New Roman" panose="02020603050405020304" pitchFamily="18" charset="0"/>
              </a:rPr>
              <a:t>输</a:t>
            </a:r>
            <a:r>
              <a:rPr sz="2800" b="1" spc="-7" dirty="0" err="1">
                <a:latin typeface="Times New Roman" panose="02020603050405020304" pitchFamily="18" charset="0"/>
                <a:ea typeface="黑体" panose="02010609060101010101" pitchFamily="49" charset="-122"/>
                <a:cs typeface="Times New Roman" panose="02020603050405020304" pitchFamily="18" charset="0"/>
              </a:rPr>
              <a:t>出：元</a:t>
            </a:r>
            <a:r>
              <a:rPr sz="2800" b="1" dirty="0" err="1">
                <a:latin typeface="Times New Roman" panose="02020603050405020304" pitchFamily="18" charset="0"/>
                <a:ea typeface="黑体" panose="02010609060101010101" pitchFamily="49" charset="-122"/>
                <a:cs typeface="Times New Roman" panose="02020603050405020304" pitchFamily="18" charset="0"/>
              </a:rPr>
              <a:t>素按</a:t>
            </a:r>
            <a:r>
              <a:rPr sz="2800" b="1" spc="-7" dirty="0" err="1">
                <a:latin typeface="Times New Roman" panose="02020603050405020304" pitchFamily="18" charset="0"/>
                <a:ea typeface="黑体" panose="02010609060101010101" pitchFamily="49" charset="-122"/>
                <a:cs typeface="Times New Roman" panose="02020603050405020304" pitchFamily="18" charset="0"/>
              </a:rPr>
              <a:t>从</a:t>
            </a:r>
            <a:r>
              <a:rPr sz="2800" b="1" dirty="0" err="1">
                <a:latin typeface="Times New Roman" panose="02020603050405020304" pitchFamily="18" charset="0"/>
                <a:ea typeface="黑体" panose="02010609060101010101" pitchFamily="49" charset="-122"/>
                <a:cs typeface="Times New Roman" panose="02020603050405020304" pitchFamily="18" charset="0"/>
              </a:rPr>
              <a:t>小到</a:t>
            </a:r>
            <a:r>
              <a:rPr sz="2800" b="1" spc="-7" dirty="0" err="1">
                <a:latin typeface="Times New Roman" panose="02020603050405020304" pitchFamily="18" charset="0"/>
                <a:ea typeface="黑体" panose="02010609060101010101" pitchFamily="49" charset="-122"/>
                <a:cs typeface="Times New Roman" panose="02020603050405020304" pitchFamily="18" charset="0"/>
              </a:rPr>
              <a:t>大</a:t>
            </a:r>
            <a:r>
              <a:rPr sz="2800" b="1" dirty="0" err="1">
                <a:latin typeface="Times New Roman" panose="02020603050405020304" pitchFamily="18" charset="0"/>
                <a:ea typeface="黑体" panose="02010609060101010101" pitchFamily="49" charset="-122"/>
                <a:cs typeface="Times New Roman" panose="02020603050405020304" pitchFamily="18" charset="0"/>
              </a:rPr>
              <a:t>排</a:t>
            </a:r>
            <a:r>
              <a:rPr sz="2800" b="1" spc="-7" dirty="0" err="1">
                <a:latin typeface="Times New Roman" panose="02020603050405020304" pitchFamily="18" charset="0"/>
                <a:ea typeface="黑体" panose="02010609060101010101" pitchFamily="49" charset="-122"/>
                <a:cs typeface="Times New Roman" panose="02020603050405020304" pitchFamily="18" charset="0"/>
              </a:rPr>
              <a:t>序的</a:t>
            </a:r>
            <a:r>
              <a:rPr sz="2800" b="1" dirty="0" err="1">
                <a:latin typeface="Times New Roman" panose="02020603050405020304" pitchFamily="18" charset="0"/>
                <a:ea typeface="黑体" panose="02010609060101010101" pitchFamily="49" charset="-122"/>
                <a:cs typeface="Times New Roman" panose="02020603050405020304" pitchFamily="18" charset="0"/>
              </a:rPr>
              <a:t>数</a:t>
            </a:r>
            <a:r>
              <a:rPr sz="2800" b="1" spc="-20" dirty="0" err="1">
                <a:latin typeface="Times New Roman" panose="02020603050405020304" pitchFamily="18" charset="0"/>
                <a:ea typeface="黑体" panose="02010609060101010101" pitchFamily="49" charset="-122"/>
                <a:cs typeface="Times New Roman" panose="02020603050405020304" pitchFamily="18" charset="0"/>
              </a:rPr>
              <a:t>组</a:t>
            </a:r>
            <a:r>
              <a:rPr sz="2800" b="1" spc="-900" dirty="0">
                <a:latin typeface="Times New Roman" panose="02020603050405020304" pitchFamily="18" charset="0"/>
                <a:ea typeface="黑体" panose="02010609060101010101" pitchFamily="49" charset="-122"/>
                <a:cs typeface="Times New Roman" panose="02020603050405020304" pitchFamily="18" charset="0"/>
              </a:rPr>
              <a:t> </a:t>
            </a:r>
            <a:r>
              <a:rPr sz="2800" b="1" i="1" spc="-7" dirty="0">
                <a:latin typeface="Times New Roman" panose="02020603050405020304" pitchFamily="18" charset="0"/>
                <a:ea typeface="黑体" panose="02010609060101010101" pitchFamily="49" charset="-122"/>
                <a:cs typeface="Times New Roman" panose="02020603050405020304" pitchFamily="18" charset="0"/>
              </a:rPr>
              <a:t>A</a:t>
            </a:r>
            <a:endParaRPr lang="en-US" sz="2800" b="1" i="1" spc="-7" dirty="0">
              <a:latin typeface="Times New Roman" panose="02020603050405020304" pitchFamily="18" charset="0"/>
              <a:ea typeface="黑体" panose="02010609060101010101" pitchFamily="49" charset="-122"/>
              <a:cs typeface="Times New Roman" panose="02020603050405020304" pitchFamily="18" charset="0"/>
            </a:endParaRPr>
          </a:p>
          <a:p>
            <a:pPr marL="17145">
              <a:spcBef>
                <a:spcPts val="505"/>
              </a:spcBef>
            </a:pPr>
            <a:endParaRPr sz="2800" dirty="0">
              <a:latin typeface="Times New Roman" panose="02020603050405020304"/>
              <a:cs typeface="Times New Roman" panose="02020603050405020304"/>
            </a:endParaRPr>
          </a:p>
          <a:p>
            <a:pPr marL="17145">
              <a:spcBef>
                <a:spcPts val="505"/>
              </a:spcBef>
              <a:tabLst>
                <a:tab pos="565785" algn="l"/>
                <a:tab pos="1054735" algn="l"/>
              </a:tabLst>
            </a:pPr>
            <a:r>
              <a:rPr lang="en-US" sz="2800" b="1" spc="-7" dirty="0">
                <a:latin typeface="Times New Roman" panose="02020603050405020304"/>
                <a:cs typeface="Times New Roman" panose="02020603050405020304"/>
              </a:rPr>
              <a:t>    </a:t>
            </a:r>
            <a:r>
              <a:rPr sz="2800" b="1" spc="-7" dirty="0">
                <a:latin typeface="Times New Roman" panose="02020603050405020304"/>
                <a:cs typeface="Times New Roman" panose="02020603050405020304"/>
              </a:rPr>
              <a:t>1.	if	</a:t>
            </a:r>
            <a:r>
              <a:rPr sz="2800" b="1" i="1" spc="-7" dirty="0">
                <a:latin typeface="Times New Roman" panose="02020603050405020304"/>
                <a:cs typeface="Times New Roman" panose="02020603050405020304"/>
              </a:rPr>
              <a:t>p </a:t>
            </a:r>
            <a:r>
              <a:rPr sz="2800" b="1" spc="-7" dirty="0">
                <a:latin typeface="Times New Roman" panose="02020603050405020304"/>
                <a:cs typeface="Times New Roman" panose="02020603050405020304"/>
              </a:rPr>
              <a:t>&lt;</a:t>
            </a:r>
            <a:r>
              <a:rPr sz="2800" b="1" spc="7" dirty="0">
                <a:latin typeface="Times New Roman" panose="02020603050405020304"/>
                <a:cs typeface="Times New Roman" panose="02020603050405020304"/>
              </a:rPr>
              <a:t> </a:t>
            </a:r>
            <a:r>
              <a:rPr sz="2800" b="1" i="1" spc="-7" dirty="0">
                <a:latin typeface="Times New Roman" panose="02020603050405020304"/>
                <a:cs typeface="Times New Roman" panose="02020603050405020304"/>
              </a:rPr>
              <a:t>r</a:t>
            </a:r>
            <a:endParaRPr lang="en-US" sz="2800" b="1" i="1" spc="-7" dirty="0">
              <a:latin typeface="Times New Roman" panose="02020603050405020304"/>
              <a:cs typeface="Times New Roman" panose="02020603050405020304"/>
            </a:endParaRPr>
          </a:p>
          <a:p>
            <a:pPr marL="17145">
              <a:spcBef>
                <a:spcPts val="505"/>
              </a:spcBef>
              <a:tabLst>
                <a:tab pos="565785" algn="l"/>
                <a:tab pos="1054735" algn="l"/>
              </a:tabLst>
            </a:pPr>
            <a:r>
              <a:rPr lang="en-US" altLang="zh-CN" sz="2800" b="1" spc="-7" dirty="0">
                <a:latin typeface="Times New Roman" panose="02020603050405020304"/>
                <a:cs typeface="Times New Roman" panose="02020603050405020304"/>
              </a:rPr>
              <a:t>    2.     then	</a:t>
            </a:r>
            <a:r>
              <a:rPr lang="en-US" altLang="zh-CN" sz="2800" b="1" i="1" spc="-7" dirty="0">
                <a:latin typeface="Times New Roman" panose="02020603050405020304"/>
                <a:cs typeface="Times New Roman" panose="02020603050405020304"/>
              </a:rPr>
              <a:t>q </a:t>
            </a:r>
            <a:r>
              <a:rPr lang="en-US" altLang="zh-CN" sz="2800" b="1" spc="-7" dirty="0">
                <a:latin typeface="Symbol" panose="05050102010706020507"/>
                <a:cs typeface="Symbol" panose="05050102010706020507"/>
              </a:rPr>
              <a:t></a:t>
            </a:r>
            <a:r>
              <a:rPr lang="en-US" altLang="zh-CN" sz="2800" b="1" spc="-7" dirty="0">
                <a:latin typeface="Times New Roman" panose="02020603050405020304"/>
                <a:cs typeface="Times New Roman" panose="02020603050405020304"/>
              </a:rPr>
              <a:t> </a:t>
            </a:r>
            <a:r>
              <a:rPr lang="en-US" altLang="zh-CN" sz="2800" b="1" spc="-7" dirty="0">
                <a:latin typeface="Symbol" panose="05050102010706020507"/>
                <a:cs typeface="Symbol" panose="05050102010706020507"/>
              </a:rPr>
              <a:t></a:t>
            </a:r>
            <a:r>
              <a:rPr lang="en-US" altLang="zh-CN" sz="2800" b="1" spc="-7" dirty="0">
                <a:latin typeface="Times New Roman" panose="02020603050405020304"/>
                <a:cs typeface="Times New Roman" panose="02020603050405020304"/>
              </a:rPr>
              <a:t>( </a:t>
            </a:r>
            <a:r>
              <a:rPr lang="en-US" altLang="zh-CN" sz="2800" b="1" i="1" spc="-7" dirty="0">
                <a:latin typeface="Times New Roman" panose="02020603050405020304"/>
                <a:cs typeface="Times New Roman" panose="02020603050405020304"/>
              </a:rPr>
              <a:t>p +</a:t>
            </a:r>
            <a:r>
              <a:rPr lang="en-US" altLang="zh-CN" sz="2800" b="1" i="1" spc="-53" dirty="0">
                <a:latin typeface="Times New Roman" panose="02020603050405020304"/>
                <a:cs typeface="Times New Roman" panose="02020603050405020304"/>
              </a:rPr>
              <a:t> </a:t>
            </a:r>
            <a:r>
              <a:rPr lang="en-US" altLang="zh-CN" sz="2800" b="1" i="1" spc="-7" dirty="0">
                <a:latin typeface="Times New Roman" panose="02020603050405020304"/>
                <a:cs typeface="Times New Roman" panose="02020603050405020304"/>
              </a:rPr>
              <a:t>r</a:t>
            </a:r>
            <a:r>
              <a:rPr lang="en-US" altLang="zh-CN" sz="2800" b="1" spc="-7" dirty="0">
                <a:latin typeface="Times New Roman" panose="02020603050405020304"/>
                <a:cs typeface="Times New Roman" panose="02020603050405020304"/>
              </a:rPr>
              <a:t>)/2</a:t>
            </a:r>
            <a:r>
              <a:rPr lang="en-US" altLang="zh-CN" sz="2800" b="1" spc="-7" dirty="0">
                <a:latin typeface="Symbol" panose="05050102010706020507"/>
                <a:cs typeface="Symbol" panose="05050102010706020507"/>
              </a:rPr>
              <a:t></a:t>
            </a:r>
            <a:endParaRPr lang="en-US" altLang="zh-CN" sz="2800" b="1" spc="-7" dirty="0">
              <a:latin typeface="Symbol" panose="05050102010706020507"/>
              <a:cs typeface="Symbol" panose="05050102010706020507"/>
            </a:endParaRPr>
          </a:p>
          <a:p>
            <a:pPr marL="17145">
              <a:spcBef>
                <a:spcPts val="505"/>
              </a:spcBef>
              <a:tabLst>
                <a:tab pos="565785" algn="l"/>
                <a:tab pos="1054735" algn="l"/>
              </a:tabLst>
            </a:pPr>
            <a:r>
              <a:rPr lang="fr-FR" altLang="zh-CN" sz="2800" b="1" spc="-7" dirty="0">
                <a:latin typeface="Times New Roman" panose="02020603050405020304"/>
                <a:cs typeface="Times New Roman" panose="02020603050405020304"/>
              </a:rPr>
              <a:t>    3.     Merge Sort (</a:t>
            </a:r>
            <a:r>
              <a:rPr lang="fr-FR" altLang="zh-CN" sz="2800" b="1" i="1" spc="-7" dirty="0">
                <a:latin typeface="Times New Roman" panose="02020603050405020304"/>
                <a:cs typeface="Times New Roman" panose="02020603050405020304"/>
              </a:rPr>
              <a:t>A, p,</a:t>
            </a:r>
            <a:r>
              <a:rPr lang="fr-FR" altLang="zh-CN" sz="2800" b="1" i="1" spc="-73" dirty="0">
                <a:latin typeface="Times New Roman" panose="02020603050405020304"/>
                <a:cs typeface="Times New Roman" panose="02020603050405020304"/>
              </a:rPr>
              <a:t> </a:t>
            </a:r>
            <a:r>
              <a:rPr lang="fr-FR" altLang="zh-CN" sz="2800" b="1" i="1" dirty="0">
                <a:latin typeface="Times New Roman" panose="02020603050405020304"/>
                <a:cs typeface="Times New Roman" panose="02020603050405020304"/>
              </a:rPr>
              <a:t>q</a:t>
            </a:r>
            <a:r>
              <a:rPr lang="fr-FR" altLang="zh-CN" sz="2800" b="1" dirty="0">
                <a:latin typeface="Times New Roman" panose="02020603050405020304"/>
                <a:cs typeface="Times New Roman" panose="02020603050405020304"/>
              </a:rPr>
              <a:t>)</a:t>
            </a:r>
            <a:endParaRPr lang="fr-FR" altLang="zh-CN" sz="2800" b="1" dirty="0">
              <a:latin typeface="Times New Roman" panose="02020603050405020304"/>
              <a:cs typeface="Times New Roman" panose="02020603050405020304"/>
            </a:endParaRPr>
          </a:p>
          <a:p>
            <a:pPr marL="17145">
              <a:spcBef>
                <a:spcPts val="505"/>
              </a:spcBef>
              <a:tabLst>
                <a:tab pos="565785" algn="l"/>
                <a:tab pos="1054735" algn="l"/>
              </a:tabLst>
            </a:pPr>
            <a:r>
              <a:rPr lang="pt-BR" altLang="zh-CN" sz="2800" b="1" spc="-7" dirty="0">
                <a:latin typeface="Times New Roman" panose="02020603050405020304"/>
                <a:cs typeface="Times New Roman" panose="02020603050405020304"/>
              </a:rPr>
              <a:t>    4.     Merge</a:t>
            </a:r>
            <a:r>
              <a:rPr lang="pt-BR" altLang="zh-CN" sz="2800" b="1" spc="-33" dirty="0">
                <a:latin typeface="Times New Roman" panose="02020603050405020304"/>
                <a:cs typeface="Times New Roman" panose="02020603050405020304"/>
              </a:rPr>
              <a:t> </a:t>
            </a:r>
            <a:r>
              <a:rPr lang="pt-BR" altLang="zh-CN" sz="2800" b="1" spc="-7" dirty="0">
                <a:latin typeface="Times New Roman" panose="02020603050405020304"/>
                <a:cs typeface="Times New Roman" panose="02020603050405020304"/>
              </a:rPr>
              <a:t>Sort</a:t>
            </a:r>
            <a:r>
              <a:rPr lang="pt-BR" altLang="zh-CN" sz="2800" b="1" spc="-13" dirty="0">
                <a:latin typeface="Times New Roman" panose="02020603050405020304"/>
                <a:cs typeface="Times New Roman" panose="02020603050405020304"/>
              </a:rPr>
              <a:t> </a:t>
            </a:r>
            <a:r>
              <a:rPr lang="pt-BR" altLang="zh-CN" sz="2800" b="1" spc="-7" dirty="0">
                <a:latin typeface="Times New Roman" panose="02020603050405020304"/>
                <a:cs typeface="Times New Roman" panose="02020603050405020304"/>
              </a:rPr>
              <a:t>(</a:t>
            </a:r>
            <a:r>
              <a:rPr lang="pt-BR" altLang="zh-CN" sz="2800" b="1" i="1" spc="-7" dirty="0">
                <a:latin typeface="Times New Roman" panose="02020603050405020304"/>
                <a:cs typeface="Times New Roman" panose="02020603050405020304"/>
              </a:rPr>
              <a:t>A,</a:t>
            </a:r>
            <a:r>
              <a:rPr lang="pt-BR" altLang="zh-CN" sz="2800" b="1" i="1" spc="-13" dirty="0">
                <a:latin typeface="Times New Roman" panose="02020603050405020304"/>
                <a:cs typeface="Times New Roman" panose="02020603050405020304"/>
              </a:rPr>
              <a:t> </a:t>
            </a:r>
            <a:r>
              <a:rPr lang="pt-BR" altLang="zh-CN" sz="2800" b="1" i="1" dirty="0">
                <a:latin typeface="Times New Roman" panose="02020603050405020304"/>
                <a:cs typeface="Times New Roman" panose="02020603050405020304"/>
              </a:rPr>
              <a:t>q</a:t>
            </a:r>
            <a:r>
              <a:rPr lang="pt-BR" altLang="zh-CN" sz="2800" b="1" dirty="0">
                <a:latin typeface="Times New Roman" panose="02020603050405020304"/>
                <a:cs typeface="Times New Roman" panose="02020603050405020304"/>
              </a:rPr>
              <a:t>+1, </a:t>
            </a:r>
            <a:r>
              <a:rPr lang="pt-BR" altLang="zh-CN" sz="2800" b="1" i="1" spc="-7" dirty="0">
                <a:latin typeface="Times New Roman" panose="02020603050405020304"/>
                <a:cs typeface="Times New Roman" panose="02020603050405020304"/>
              </a:rPr>
              <a:t>r</a:t>
            </a:r>
            <a:r>
              <a:rPr lang="pt-BR" altLang="zh-CN" sz="2800" b="1" spc="-7" dirty="0">
                <a:latin typeface="Times New Roman" panose="02020603050405020304"/>
                <a:cs typeface="Times New Roman" panose="02020603050405020304"/>
              </a:rPr>
              <a:t>)</a:t>
            </a:r>
            <a:endParaRPr lang="pt-BR" altLang="zh-CN" sz="2800" b="1" spc="-7" dirty="0">
              <a:latin typeface="Times New Roman" panose="02020603050405020304"/>
              <a:cs typeface="Times New Roman" panose="02020603050405020304"/>
            </a:endParaRPr>
          </a:p>
          <a:p>
            <a:pPr marL="17145">
              <a:spcBef>
                <a:spcPts val="505"/>
              </a:spcBef>
              <a:tabLst>
                <a:tab pos="565785" algn="l"/>
                <a:tab pos="1054735" algn="l"/>
              </a:tabLst>
            </a:pPr>
            <a:r>
              <a:rPr lang="pt-BR" altLang="zh-CN" sz="2800" b="1" spc="-7" dirty="0">
                <a:latin typeface="Times New Roman" panose="02020603050405020304"/>
                <a:cs typeface="Times New Roman" panose="02020603050405020304"/>
              </a:rPr>
              <a:t>    5.     Merge (</a:t>
            </a:r>
            <a:r>
              <a:rPr lang="pt-BR" altLang="zh-CN" sz="2800" b="1" i="1" spc="-7" dirty="0">
                <a:latin typeface="Times New Roman" panose="02020603050405020304"/>
                <a:cs typeface="Times New Roman" panose="02020603050405020304"/>
              </a:rPr>
              <a:t>A, p, q,</a:t>
            </a:r>
            <a:r>
              <a:rPr lang="pt-BR" altLang="zh-CN" sz="2800" b="1" i="1" spc="-73" dirty="0">
                <a:latin typeface="Times New Roman" panose="02020603050405020304"/>
                <a:cs typeface="Times New Roman" panose="02020603050405020304"/>
              </a:rPr>
              <a:t> </a:t>
            </a:r>
            <a:r>
              <a:rPr lang="pt-BR" altLang="zh-CN" sz="2800" b="1" i="1" dirty="0">
                <a:latin typeface="Times New Roman" panose="02020603050405020304"/>
                <a:cs typeface="Times New Roman" panose="02020603050405020304"/>
              </a:rPr>
              <a:t>r</a:t>
            </a:r>
            <a:r>
              <a:rPr lang="pt-BR" altLang="zh-CN" sz="2800" b="1" dirty="0">
                <a:latin typeface="Times New Roman" panose="02020603050405020304"/>
                <a:cs typeface="Times New Roman" panose="02020603050405020304"/>
              </a:rPr>
              <a:t>)</a:t>
            </a:r>
            <a:endParaRPr lang="en-US" altLang="zh-CN" sz="2800" dirty="0">
              <a:latin typeface="Symbol" panose="05050102010706020507"/>
              <a:cs typeface="Symbol" panose="05050102010706020507"/>
            </a:endParaRPr>
          </a:p>
        </p:txBody>
      </p:sp>
      <p:sp>
        <p:nvSpPr>
          <p:cNvPr id="8" name="object 8"/>
          <p:cNvSpPr txBox="1"/>
          <p:nvPr/>
        </p:nvSpPr>
        <p:spPr>
          <a:xfrm>
            <a:off x="4807803" y="4017973"/>
            <a:ext cx="1663700" cy="555707"/>
          </a:xfrm>
          <a:prstGeom prst="rect">
            <a:avLst/>
          </a:prstGeom>
        </p:spPr>
        <p:txBody>
          <a:bodyPr vert="horz" wrap="square" lIns="0" tIns="16933" rIns="0" bIns="0" rtlCol="0">
            <a:spAutoFit/>
          </a:bodyPr>
          <a:lstStyle/>
          <a:p>
            <a:pPr marL="118745" marR="6985" indent="-101600">
              <a:lnSpc>
                <a:spcPct val="125000"/>
              </a:lnSpc>
              <a:spcBef>
                <a:spcPts val="135"/>
              </a:spcBef>
            </a:pPr>
            <a:r>
              <a:rPr sz="2800" b="1" spc="-7" dirty="0">
                <a:solidFill>
                  <a:srgbClr val="C00000"/>
                </a:solidFill>
                <a:latin typeface="黑体" panose="02010609060101010101" pitchFamily="49" charset="-122"/>
                <a:ea typeface="黑体" panose="02010609060101010101" pitchFamily="49" charset="-122"/>
                <a:cs typeface="宋体" panose="02010600030101010101" pitchFamily="2" charset="-122"/>
              </a:rPr>
              <a:t>子问</a:t>
            </a:r>
            <a:r>
              <a:rPr sz="2800" b="1" spc="-13" dirty="0">
                <a:solidFill>
                  <a:srgbClr val="C00000"/>
                </a:solidFill>
                <a:latin typeface="黑体" panose="02010609060101010101" pitchFamily="49" charset="-122"/>
                <a:ea typeface="黑体" panose="02010609060101010101" pitchFamily="49" charset="-122"/>
                <a:cs typeface="宋体" panose="02010600030101010101" pitchFamily="2" charset="-122"/>
              </a:rPr>
              <a:t>题</a:t>
            </a:r>
            <a:r>
              <a:rPr sz="2800" b="1" spc="-7" dirty="0">
                <a:solidFill>
                  <a:srgbClr val="C00000"/>
                </a:solidFill>
                <a:latin typeface="黑体" panose="02010609060101010101" pitchFamily="49" charset="-122"/>
                <a:ea typeface="黑体" panose="02010609060101010101" pitchFamily="49" charset="-122"/>
                <a:cs typeface="Arial" panose="020B0604020202020204"/>
              </a:rPr>
              <a:t>1</a:t>
            </a:r>
            <a:endParaRPr sz="2800" dirty="0">
              <a:latin typeface="黑体" panose="02010609060101010101" pitchFamily="49" charset="-122"/>
              <a:ea typeface="黑体" panose="02010609060101010101" pitchFamily="49" charset="-122"/>
              <a:cs typeface="Arial" panose="020B0604020202020204"/>
            </a:endParaRPr>
          </a:p>
        </p:txBody>
      </p:sp>
      <p:sp>
        <p:nvSpPr>
          <p:cNvPr id="12" name="矩形 11"/>
          <p:cNvSpPr/>
          <p:nvPr/>
        </p:nvSpPr>
        <p:spPr>
          <a:xfrm>
            <a:off x="4682231" y="4513836"/>
            <a:ext cx="1495538" cy="523220"/>
          </a:xfrm>
          <a:prstGeom prst="rect">
            <a:avLst/>
          </a:prstGeom>
        </p:spPr>
        <p:txBody>
          <a:bodyPr wrap="none">
            <a:spAutoFit/>
          </a:bodyPr>
          <a:lstStyle/>
          <a:p>
            <a:pPr marL="50800">
              <a:spcBef>
                <a:spcPts val="125"/>
              </a:spcBef>
            </a:pPr>
            <a:r>
              <a:rPr lang="zh-CN" altLang="en-US" sz="2800" b="1" spc="-7" dirty="0">
                <a:solidFill>
                  <a:srgbClr val="C00000"/>
                </a:solidFill>
                <a:latin typeface="黑体" panose="02010609060101010101" pitchFamily="49" charset="-122"/>
                <a:ea typeface="黑体" panose="02010609060101010101" pitchFamily="49" charset="-122"/>
                <a:cs typeface="宋体" panose="02010600030101010101" pitchFamily="2" charset="-122"/>
              </a:rPr>
              <a:t>子问题</a:t>
            </a:r>
            <a:r>
              <a:rPr lang="en-US" altLang="zh-CN" sz="2800" b="1" spc="-7" dirty="0">
                <a:solidFill>
                  <a:srgbClr val="C00000"/>
                </a:solidFill>
                <a:latin typeface="黑体" panose="02010609060101010101" pitchFamily="49" charset="-122"/>
                <a:ea typeface="黑体" panose="02010609060101010101" pitchFamily="49" charset="-122"/>
                <a:cs typeface="宋体" panose="02010600030101010101" pitchFamily="2" charset="-122"/>
              </a:rPr>
              <a:t>2</a:t>
            </a:r>
            <a:endParaRPr lang="zh-CN" altLang="en-US" sz="2800" b="1" spc="-7" dirty="0">
              <a:solidFill>
                <a:srgbClr val="C00000"/>
              </a:solidFill>
              <a:latin typeface="黑体" panose="02010609060101010101" pitchFamily="49" charset="-122"/>
              <a:ea typeface="黑体" panose="02010609060101010101" pitchFamily="49" charset="-122"/>
              <a:cs typeface="宋体" panose="02010600030101010101" pitchFamily="2" charset="-122"/>
            </a:endParaRPr>
          </a:p>
        </p:txBody>
      </p:sp>
      <p:sp>
        <p:nvSpPr>
          <p:cNvPr id="13" name="矩形 12"/>
          <p:cNvSpPr/>
          <p:nvPr/>
        </p:nvSpPr>
        <p:spPr>
          <a:xfrm>
            <a:off x="4807805" y="5010359"/>
            <a:ext cx="1276503" cy="523220"/>
          </a:xfrm>
          <a:prstGeom prst="rect">
            <a:avLst/>
          </a:prstGeom>
        </p:spPr>
        <p:txBody>
          <a:bodyPr wrap="none">
            <a:spAutoFit/>
          </a:bodyPr>
          <a:lstStyle/>
          <a:p>
            <a:pPr marL="17145">
              <a:spcBef>
                <a:spcPts val="135"/>
              </a:spcBef>
            </a:pPr>
            <a:r>
              <a:rPr lang="zh-CN" altLang="en-US" sz="2800" b="1" spc="-7" dirty="0">
                <a:solidFill>
                  <a:srgbClr val="C00000"/>
                </a:solidFill>
                <a:latin typeface="黑体" panose="02010609060101010101" pitchFamily="49" charset="-122"/>
                <a:ea typeface="黑体" panose="02010609060101010101" pitchFamily="49" charset="-122"/>
                <a:cs typeface="宋体" panose="02010600030101010101" pitchFamily="2" charset="-122"/>
              </a:rPr>
              <a:t>综合解</a:t>
            </a:r>
            <a:endParaRPr lang="zh-CN" altLang="en-US" sz="2800" dirty="0">
              <a:latin typeface="黑体" panose="02010609060101010101" pitchFamily="49" charset="-122"/>
              <a:ea typeface="黑体" panose="02010609060101010101" pitchFamily="49" charset="-122"/>
              <a:cs typeface="宋体" panose="02010600030101010101" pitchFamily="2" charset="-122"/>
            </a:endParaRPr>
          </a:p>
        </p:txBody>
      </p:sp>
      <p:sp>
        <p:nvSpPr>
          <p:cNvPr id="9" name="矩形 8"/>
          <p:cNvSpPr/>
          <p:nvPr/>
        </p:nvSpPr>
        <p:spPr>
          <a:xfrm>
            <a:off x="4807803" y="3514884"/>
            <a:ext cx="1623778" cy="523220"/>
          </a:xfrm>
          <a:prstGeom prst="rect">
            <a:avLst/>
          </a:prstGeom>
        </p:spPr>
        <p:txBody>
          <a:bodyPr wrap="none">
            <a:spAutoFit/>
          </a:bodyPr>
          <a:lstStyle/>
          <a:p>
            <a:r>
              <a:rPr lang="zh-CN" altLang="en-US" sz="2800" b="1" spc="-7" dirty="0">
                <a:solidFill>
                  <a:srgbClr val="C00000"/>
                </a:solidFill>
                <a:latin typeface="黑体" panose="02010609060101010101" pitchFamily="49" charset="-122"/>
                <a:ea typeface="黑体" panose="02010609060101010101" pitchFamily="49" charset="-122"/>
                <a:cs typeface="宋体" panose="02010600030101010101" pitchFamily="2" charset="-122"/>
              </a:rPr>
              <a:t>对半划分</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3"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456" y="77507"/>
            <a:ext cx="8915544" cy="656954"/>
          </a:xfrm>
          <a:prstGeom prst="rect">
            <a:avLst/>
          </a:prstGeom>
        </p:spPr>
        <p:txBody>
          <a:bodyPr vert="horz" wrap="square" lIns="0" tIns="16933" rIns="0" bIns="0" rtlCol="0" anchor="ctr">
            <a:spAutoFit/>
          </a:bodyPr>
          <a:lstStyle/>
          <a:p>
            <a:pPr marL="17145" algn="ctr">
              <a:lnSpc>
                <a:spcPct val="100000"/>
              </a:lnSpc>
              <a:spcBef>
                <a:spcPts val="135"/>
              </a:spcBef>
            </a:pPr>
            <a:r>
              <a:rPr sz="4000" b="1" spc="-13" dirty="0">
                <a:solidFill>
                  <a:srgbClr val="C00000"/>
                </a:solidFill>
                <a:latin typeface="黑体" panose="02010609060101010101" pitchFamily="49" charset="-122"/>
                <a:ea typeface="黑体" panose="02010609060101010101" pitchFamily="49" charset="-122"/>
              </a:rPr>
              <a:t>二分</a:t>
            </a:r>
            <a:r>
              <a:rPr sz="4000" b="1" spc="-20" dirty="0">
                <a:solidFill>
                  <a:srgbClr val="C00000"/>
                </a:solidFill>
                <a:latin typeface="黑体" panose="02010609060101010101" pitchFamily="49" charset="-122"/>
                <a:ea typeface="黑体" panose="02010609060101010101" pitchFamily="49" charset="-122"/>
              </a:rPr>
              <a:t>归并</a:t>
            </a:r>
            <a:r>
              <a:rPr sz="4000" b="1" spc="-7" dirty="0">
                <a:solidFill>
                  <a:srgbClr val="C00000"/>
                </a:solidFill>
                <a:latin typeface="黑体" panose="02010609060101010101" pitchFamily="49" charset="-122"/>
                <a:ea typeface="黑体" panose="02010609060101010101" pitchFamily="49" charset="-122"/>
              </a:rPr>
              <a:t>排</a:t>
            </a:r>
            <a:r>
              <a:rPr sz="4000" b="1" spc="-20" dirty="0">
                <a:solidFill>
                  <a:srgbClr val="C00000"/>
                </a:solidFill>
                <a:latin typeface="黑体" panose="02010609060101010101" pitchFamily="49" charset="-122"/>
                <a:ea typeface="黑体" panose="02010609060101010101" pitchFamily="49" charset="-122"/>
              </a:rPr>
              <a:t>序</a:t>
            </a:r>
            <a:r>
              <a:rPr sz="4000" b="1" spc="-7" dirty="0">
                <a:solidFill>
                  <a:srgbClr val="C00000"/>
                </a:solidFill>
                <a:latin typeface="黑体" panose="02010609060101010101" pitchFamily="49" charset="-122"/>
                <a:ea typeface="黑体" panose="02010609060101010101" pitchFamily="49" charset="-122"/>
              </a:rPr>
              <a:t>设</a:t>
            </a:r>
            <a:r>
              <a:rPr sz="4000" b="1" spc="13" dirty="0">
                <a:solidFill>
                  <a:srgbClr val="C00000"/>
                </a:solidFill>
                <a:latin typeface="黑体" panose="02010609060101010101" pitchFamily="49" charset="-122"/>
                <a:ea typeface="黑体" panose="02010609060101010101" pitchFamily="49" charset="-122"/>
              </a:rPr>
              <a:t>计</a:t>
            </a:r>
            <a:r>
              <a:rPr sz="4000" b="1" spc="-7" dirty="0">
                <a:solidFill>
                  <a:srgbClr val="C00000"/>
                </a:solidFill>
                <a:latin typeface="黑体" panose="02010609060101010101" pitchFamily="49" charset="-122"/>
                <a:ea typeface="黑体" panose="02010609060101010101" pitchFamily="49" charset="-122"/>
              </a:rPr>
              <a:t>思想</a:t>
            </a:r>
            <a:endParaRPr sz="4000" b="1" spc="-7" dirty="0">
              <a:solidFill>
                <a:srgbClr val="C00000"/>
              </a:solidFill>
              <a:latin typeface="黑体" panose="02010609060101010101" pitchFamily="49" charset="-122"/>
              <a:ea typeface="黑体" panose="02010609060101010101" pitchFamily="49" charset="-122"/>
            </a:endParaRPr>
          </a:p>
        </p:txBody>
      </p:sp>
      <p:sp>
        <p:nvSpPr>
          <p:cNvPr id="4" name="矩形 3"/>
          <p:cNvSpPr/>
          <p:nvPr/>
        </p:nvSpPr>
        <p:spPr>
          <a:xfrm>
            <a:off x="584200" y="1270338"/>
            <a:ext cx="8013700" cy="4493538"/>
          </a:xfrm>
          <a:prstGeom prst="rect">
            <a:avLst/>
          </a:prstGeom>
        </p:spPr>
        <p:txBody>
          <a:bodyPr wrap="square">
            <a:spAutoFit/>
          </a:bodyPr>
          <a:lstStyle/>
          <a:p>
            <a:pPr marL="457200" indent="-457200" algn="just">
              <a:spcBef>
                <a:spcPts val="1800"/>
              </a:spcBef>
              <a:buFont typeface="Arial" panose="020B0604020202020204" pitchFamily="34" charset="0"/>
              <a:buChar char="•"/>
            </a:pPr>
            <a:r>
              <a:rPr lang="zh-CN" altLang="en-US" sz="3200" b="1" dirty="0"/>
              <a:t>划分将原问题归结为规模为</a:t>
            </a:r>
            <a:r>
              <a:rPr lang="en-US" altLang="zh-CN" sz="3200" b="1" dirty="0"/>
              <a:t>n/2</a:t>
            </a:r>
            <a:r>
              <a:rPr lang="zh-CN" altLang="en-US" sz="3200" b="1" dirty="0"/>
              <a:t>的</a:t>
            </a:r>
            <a:r>
              <a:rPr lang="en-US" altLang="zh-CN" sz="3200" b="1" dirty="0"/>
              <a:t>2</a:t>
            </a:r>
            <a:r>
              <a:rPr lang="zh-CN" altLang="en-US" sz="3200" b="1" dirty="0"/>
              <a:t>个子问题</a:t>
            </a:r>
            <a:endParaRPr lang="zh-CN" altLang="en-US" sz="3200" b="1" dirty="0"/>
          </a:p>
          <a:p>
            <a:pPr marL="457200" indent="-457200" algn="just">
              <a:spcBef>
                <a:spcPts val="1800"/>
              </a:spcBef>
              <a:buFont typeface="Arial" panose="020B0604020202020204" pitchFamily="34" charset="0"/>
              <a:buChar char="•"/>
            </a:pPr>
            <a:r>
              <a:rPr lang="zh-CN" altLang="en-US" sz="3200" b="1" dirty="0"/>
              <a:t>继续划分，将原问题归结为规模为</a:t>
            </a:r>
            <a:r>
              <a:rPr lang="en-US" altLang="zh-CN" sz="3200" b="1" dirty="0"/>
              <a:t>n/4</a:t>
            </a:r>
            <a:r>
              <a:rPr lang="zh-CN" altLang="en-US" sz="3200" b="1" dirty="0"/>
              <a:t>的</a:t>
            </a:r>
            <a:r>
              <a:rPr lang="en-US" altLang="zh-CN" sz="3200" b="1" dirty="0"/>
              <a:t>4 </a:t>
            </a:r>
            <a:r>
              <a:rPr lang="zh-CN" altLang="en-US" sz="3200" b="1" dirty="0"/>
              <a:t>个子问题</a:t>
            </a:r>
            <a:r>
              <a:rPr lang="en-US" altLang="zh-CN" sz="3200" b="1" dirty="0"/>
              <a:t>. </a:t>
            </a:r>
            <a:r>
              <a:rPr lang="zh-CN" altLang="en-US" sz="3200" b="1" dirty="0"/>
              <a:t>继续</a:t>
            </a:r>
            <a:r>
              <a:rPr lang="en-US" altLang="zh-CN" sz="3200" b="1" dirty="0"/>
              <a:t>...</a:t>
            </a:r>
            <a:r>
              <a:rPr lang="zh-CN" altLang="en-US" sz="3200" b="1" dirty="0"/>
              <a:t>，当子问题规模为</a:t>
            </a:r>
            <a:r>
              <a:rPr lang="en-US" altLang="zh-CN" sz="3200" b="1" dirty="0"/>
              <a:t>1</a:t>
            </a:r>
            <a:r>
              <a:rPr lang="zh-CN" altLang="en-US" sz="3200" b="1" dirty="0"/>
              <a:t>时，划分结束</a:t>
            </a:r>
            <a:r>
              <a:rPr lang="en-US" altLang="zh-CN" sz="3200" b="1" dirty="0"/>
              <a:t>.</a:t>
            </a:r>
            <a:endParaRPr lang="en-US" altLang="zh-CN" sz="3200" b="1" dirty="0"/>
          </a:p>
          <a:p>
            <a:pPr marL="457200" indent="-457200" algn="just">
              <a:spcBef>
                <a:spcPts val="1800"/>
              </a:spcBef>
              <a:buFont typeface="Arial" panose="020B0604020202020204" pitchFamily="34" charset="0"/>
              <a:buChar char="•"/>
            </a:pPr>
            <a:r>
              <a:rPr lang="zh-CN" altLang="en-US" sz="3200" b="1" dirty="0"/>
              <a:t>从规模</a:t>
            </a:r>
            <a:r>
              <a:rPr lang="en-US" altLang="zh-CN" sz="3200" b="1" dirty="0"/>
              <a:t>1</a:t>
            </a:r>
            <a:r>
              <a:rPr lang="zh-CN" altLang="en-US" sz="3200" b="1" dirty="0"/>
              <a:t>到</a:t>
            </a:r>
            <a:r>
              <a:rPr lang="en-US" altLang="zh-CN" sz="3200" b="1" dirty="0"/>
              <a:t>n/2</a:t>
            </a:r>
            <a:r>
              <a:rPr lang="zh-CN" altLang="en-US" sz="3200" b="1" dirty="0"/>
              <a:t>，陆续归并被排好序的两个子数组</a:t>
            </a:r>
            <a:r>
              <a:rPr lang="en-US" altLang="zh-CN" sz="3200" b="1" dirty="0"/>
              <a:t>. </a:t>
            </a:r>
            <a:r>
              <a:rPr lang="zh-CN" altLang="en-US" sz="3200" b="1" dirty="0"/>
              <a:t>每归并一次，数组规模扩大一倍，直到原始数组</a:t>
            </a:r>
            <a:r>
              <a:rPr lang="en-US" altLang="zh-CN" sz="3200" b="1" dirty="0"/>
              <a:t>.</a:t>
            </a:r>
            <a:endParaRPr lang="en-US" altLang="zh-CN" sz="32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760" y="-1356"/>
            <a:ext cx="8867992" cy="694207"/>
          </a:xfrm>
          <a:prstGeom prst="rect">
            <a:avLst/>
          </a:prstGeom>
        </p:spPr>
        <p:txBody>
          <a:bodyPr vert="horz" wrap="square" lIns="0" tIns="16933" rIns="0" bIns="0" rtlCol="0" anchor="ctr">
            <a:spAutoFit/>
          </a:bodyPr>
          <a:lstStyle/>
          <a:p>
            <a:pPr marL="355600" marR="6985" indent="-339725" algn="ctr">
              <a:lnSpc>
                <a:spcPct val="100000"/>
              </a:lnSpc>
              <a:spcBef>
                <a:spcPts val="135"/>
              </a:spcBef>
            </a:pPr>
            <a:r>
              <a:rPr sz="4400" b="1" spc="-13" dirty="0" err="1">
                <a:solidFill>
                  <a:srgbClr val="C00000"/>
                </a:solidFill>
                <a:latin typeface="黑体" panose="02010609060101010101" pitchFamily="49" charset="-122"/>
                <a:ea typeface="黑体" panose="02010609060101010101" pitchFamily="49" charset="-122"/>
              </a:rPr>
              <a:t>二分归并排序时</a:t>
            </a:r>
            <a:r>
              <a:rPr sz="4400" b="1" spc="-20" dirty="0" err="1">
                <a:solidFill>
                  <a:srgbClr val="C00000"/>
                </a:solidFill>
                <a:latin typeface="黑体" panose="02010609060101010101" pitchFamily="49" charset="-122"/>
                <a:ea typeface="黑体" panose="02010609060101010101" pitchFamily="49" charset="-122"/>
              </a:rPr>
              <a:t>间复杂度分析</a:t>
            </a:r>
            <a:endParaRPr sz="4400" b="1" spc="-20" dirty="0">
              <a:solidFill>
                <a:srgbClr val="C00000"/>
              </a:solidFill>
              <a:latin typeface="黑体" panose="02010609060101010101" pitchFamily="49" charset="-122"/>
              <a:ea typeface="黑体" panose="02010609060101010101" pitchFamily="49" charset="-122"/>
            </a:endParaRPr>
          </a:p>
        </p:txBody>
      </p:sp>
      <p:sp>
        <p:nvSpPr>
          <p:cNvPr id="3" name="object 3"/>
          <p:cNvSpPr/>
          <p:nvPr/>
        </p:nvSpPr>
        <p:spPr>
          <a:xfrm>
            <a:off x="-269908" y="0"/>
            <a:ext cx="247904" cy="229616"/>
          </a:xfrm>
          <a:prstGeom prst="rect">
            <a:avLst/>
          </a:prstGeom>
          <a:blipFill>
            <a:blip r:embed="rId1" cstate="print"/>
            <a:stretch>
              <a:fillRect/>
            </a:stretch>
          </a:blipFill>
        </p:spPr>
        <p:txBody>
          <a:bodyPr wrap="square" lIns="0" tIns="0" rIns="0" bIns="0" rtlCol="0"/>
          <a:lstStyle/>
          <a:p>
            <a:endParaRPr sz="2400"/>
          </a:p>
        </p:txBody>
      </p:sp>
      <p:sp>
        <p:nvSpPr>
          <p:cNvPr id="4" name="object 4"/>
          <p:cNvSpPr/>
          <p:nvPr/>
        </p:nvSpPr>
        <p:spPr>
          <a:xfrm>
            <a:off x="16257" y="0"/>
            <a:ext cx="246887" cy="263144"/>
          </a:xfrm>
          <a:prstGeom prst="rect">
            <a:avLst/>
          </a:prstGeom>
          <a:blipFill>
            <a:blip r:embed="rId2" cstate="print"/>
            <a:stretch>
              <a:fillRect/>
            </a:stretch>
          </a:blipFill>
        </p:spPr>
        <p:txBody>
          <a:bodyPr wrap="square" lIns="0" tIns="0" rIns="0" bIns="0" rtlCol="0"/>
          <a:lstStyle/>
          <a:p>
            <a:endParaRPr sz="2400"/>
          </a:p>
        </p:txBody>
      </p:sp>
      <p:sp>
        <p:nvSpPr>
          <p:cNvPr id="5" name="object 5"/>
          <p:cNvSpPr/>
          <p:nvPr/>
        </p:nvSpPr>
        <p:spPr>
          <a:xfrm>
            <a:off x="-269908" y="0"/>
            <a:ext cx="247904" cy="229616"/>
          </a:xfrm>
          <a:prstGeom prst="rect">
            <a:avLst/>
          </a:prstGeom>
          <a:blipFill>
            <a:blip r:embed="rId1" cstate="print"/>
            <a:stretch>
              <a:fillRect/>
            </a:stretch>
          </a:blipFill>
        </p:spPr>
        <p:txBody>
          <a:bodyPr wrap="square" lIns="0" tIns="0" rIns="0" bIns="0" rtlCol="0"/>
          <a:lstStyle/>
          <a:p>
            <a:endParaRPr sz="2400"/>
          </a:p>
        </p:txBody>
      </p:sp>
      <p:sp>
        <p:nvSpPr>
          <p:cNvPr id="6" name="object 6"/>
          <p:cNvSpPr/>
          <p:nvPr/>
        </p:nvSpPr>
        <p:spPr>
          <a:xfrm>
            <a:off x="16257" y="0"/>
            <a:ext cx="246887" cy="263144"/>
          </a:xfrm>
          <a:prstGeom prst="rect">
            <a:avLst/>
          </a:prstGeom>
          <a:blipFill>
            <a:blip r:embed="rId2" cstate="print"/>
            <a:stretch>
              <a:fillRect/>
            </a:stretch>
          </a:blipFill>
        </p:spPr>
        <p:txBody>
          <a:bodyPr wrap="square" lIns="0" tIns="0" rIns="0" bIns="0" rtlCol="0"/>
          <a:lstStyle/>
          <a:p>
            <a:endParaRPr sz="2400"/>
          </a:p>
        </p:txBody>
      </p:sp>
      <p:sp>
        <p:nvSpPr>
          <p:cNvPr id="7" name="object 7"/>
          <p:cNvSpPr txBox="1"/>
          <p:nvPr/>
        </p:nvSpPr>
        <p:spPr>
          <a:xfrm>
            <a:off x="412594" y="1247254"/>
            <a:ext cx="8318811" cy="2402367"/>
          </a:xfrm>
          <a:prstGeom prst="rect">
            <a:avLst/>
          </a:prstGeom>
        </p:spPr>
        <p:txBody>
          <a:bodyPr vert="horz" wrap="square" lIns="0" tIns="42333" rIns="0" bIns="0" rtlCol="0">
            <a:spAutoFit/>
          </a:bodyPr>
          <a:lstStyle/>
          <a:p>
            <a:pPr marL="17145" marR="6985" algn="just">
              <a:lnSpc>
                <a:spcPts val="4080"/>
              </a:lnSpc>
              <a:spcBef>
                <a:spcPts val="335"/>
              </a:spcBef>
            </a:pPr>
            <a:r>
              <a:rPr sz="3200" b="1" spc="-13" dirty="0" err="1">
                <a:latin typeface="Times New Roman" panose="02020603050405020304" pitchFamily="18" charset="0"/>
                <a:ea typeface="黑体" panose="02010609060101010101" pitchFamily="49" charset="-122"/>
                <a:cs typeface="Times New Roman" panose="02020603050405020304" pitchFamily="18" charset="0"/>
              </a:rPr>
              <a:t>假设</a:t>
            </a:r>
            <a:r>
              <a:rPr lang="en-US" sz="3200" b="1" spc="-13"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n</a:t>
            </a:r>
            <a:r>
              <a:rPr lang="en-US"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spc="-13" dirty="0">
                <a:latin typeface="Times New Roman" panose="02020603050405020304" pitchFamily="18" charset="0"/>
                <a:ea typeface="黑体" panose="02010609060101010101" pitchFamily="49" charset="-122"/>
                <a:cs typeface="Times New Roman" panose="02020603050405020304" pitchFamily="18" charset="0"/>
              </a:rPr>
              <a:t>为</a:t>
            </a:r>
            <a:r>
              <a:rPr lang="en-US" sz="3200" b="1" spc="-13"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latin typeface="Times New Roman" panose="02020603050405020304" pitchFamily="18" charset="0"/>
                <a:ea typeface="黑体" panose="02010609060101010101" pitchFamily="49" charset="-122"/>
                <a:cs typeface="Times New Roman" panose="02020603050405020304" pitchFamily="18" charset="0"/>
              </a:rPr>
              <a:t>2</a:t>
            </a:r>
            <a:r>
              <a:rPr lang="en-US"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err="1">
                <a:latin typeface="Times New Roman" panose="02020603050405020304" pitchFamily="18" charset="0"/>
                <a:ea typeface="黑体" panose="02010609060101010101" pitchFamily="49" charset="-122"/>
                <a:cs typeface="Times New Roman" panose="02020603050405020304" pitchFamily="18" charset="0"/>
              </a:rPr>
              <a:t>的幂</a:t>
            </a:r>
            <a:r>
              <a:rPr sz="3200" b="1" dirty="0" err="1">
                <a:latin typeface="Times New Roman" panose="02020603050405020304" pitchFamily="18" charset="0"/>
                <a:ea typeface="黑体" panose="02010609060101010101" pitchFamily="49" charset="-122"/>
                <a:cs typeface="Times New Roman" panose="02020603050405020304" pitchFamily="18" charset="0"/>
              </a:rPr>
              <a:t>，</a:t>
            </a:r>
            <a:r>
              <a:rPr sz="3200" b="1" spc="-7" dirty="0" err="1">
                <a:latin typeface="Times New Roman" panose="02020603050405020304" pitchFamily="18" charset="0"/>
                <a:ea typeface="黑体" panose="02010609060101010101" pitchFamily="49" charset="-122"/>
                <a:cs typeface="Times New Roman" panose="02020603050405020304" pitchFamily="18" charset="0"/>
              </a:rPr>
              <a:t>二</a:t>
            </a:r>
            <a:r>
              <a:rPr sz="3200" b="1" dirty="0" err="1">
                <a:latin typeface="Times New Roman" panose="02020603050405020304" pitchFamily="18" charset="0"/>
                <a:ea typeface="黑体" panose="02010609060101010101" pitchFamily="49" charset="-122"/>
                <a:cs typeface="Times New Roman" panose="02020603050405020304" pitchFamily="18" charset="0"/>
              </a:rPr>
              <a:t>分</a:t>
            </a:r>
            <a:r>
              <a:rPr sz="3200" b="1" spc="-7" dirty="0" err="1">
                <a:latin typeface="Times New Roman" panose="02020603050405020304" pitchFamily="18" charset="0"/>
                <a:ea typeface="黑体" panose="02010609060101010101" pitchFamily="49" charset="-122"/>
                <a:cs typeface="Times New Roman" panose="02020603050405020304" pitchFamily="18" charset="0"/>
              </a:rPr>
              <a:t>归</a:t>
            </a:r>
            <a:r>
              <a:rPr sz="3200" b="1" dirty="0" err="1">
                <a:latin typeface="Times New Roman" panose="02020603050405020304" pitchFamily="18" charset="0"/>
                <a:ea typeface="黑体" panose="02010609060101010101" pitchFamily="49" charset="-122"/>
                <a:cs typeface="Times New Roman" panose="02020603050405020304" pitchFamily="18" charset="0"/>
              </a:rPr>
              <a:t>并</a:t>
            </a:r>
            <a:r>
              <a:rPr sz="3200" b="1" spc="-7" dirty="0" err="1">
                <a:latin typeface="Times New Roman" panose="02020603050405020304" pitchFamily="18" charset="0"/>
                <a:ea typeface="黑体" panose="02010609060101010101" pitchFamily="49" charset="-122"/>
                <a:cs typeface="Times New Roman" panose="02020603050405020304" pitchFamily="18" charset="0"/>
              </a:rPr>
              <a:t>排序</a:t>
            </a:r>
            <a:r>
              <a:rPr sz="3200" b="1" dirty="0" err="1">
                <a:latin typeface="Times New Roman" panose="02020603050405020304" pitchFamily="18" charset="0"/>
                <a:ea typeface="黑体" panose="02010609060101010101" pitchFamily="49" charset="-122"/>
                <a:cs typeface="Times New Roman" panose="02020603050405020304" pitchFamily="18" charset="0"/>
              </a:rPr>
              <a:t>最</a:t>
            </a:r>
            <a:r>
              <a:rPr sz="3200" b="1" spc="-13" dirty="0" err="1">
                <a:latin typeface="Times New Roman" panose="02020603050405020304" pitchFamily="18" charset="0"/>
                <a:ea typeface="黑体" panose="02010609060101010101" pitchFamily="49" charset="-122"/>
                <a:cs typeface="Times New Roman" panose="02020603050405020304" pitchFamily="18" charset="0"/>
              </a:rPr>
              <a:t>坏</a:t>
            </a:r>
            <a:r>
              <a:rPr sz="3200" b="1" spc="-20" dirty="0" err="1">
                <a:latin typeface="Times New Roman" panose="02020603050405020304" pitchFamily="18" charset="0"/>
                <a:ea typeface="黑体" panose="02010609060101010101" pitchFamily="49" charset="-122"/>
                <a:cs typeface="Times New Roman" panose="02020603050405020304" pitchFamily="18" charset="0"/>
              </a:rPr>
              <a:t>情</a:t>
            </a:r>
            <a:r>
              <a:rPr sz="3200" b="1" spc="-7" dirty="0" err="1">
                <a:latin typeface="Times New Roman" panose="02020603050405020304" pitchFamily="18" charset="0"/>
                <a:ea typeface="黑体" panose="02010609060101010101" pitchFamily="49" charset="-122"/>
                <a:cs typeface="Times New Roman" panose="02020603050405020304" pitchFamily="18" charset="0"/>
              </a:rPr>
              <a:t>况下时间</a:t>
            </a:r>
            <a:r>
              <a:rPr sz="3200" b="1" dirty="0" err="1">
                <a:latin typeface="Times New Roman" panose="02020603050405020304" pitchFamily="18" charset="0"/>
                <a:ea typeface="黑体" panose="02010609060101010101" pitchFamily="49" charset="-122"/>
                <a:cs typeface="Times New Roman" panose="02020603050405020304" pitchFamily="18" charset="0"/>
              </a:rPr>
              <a:t>复</a:t>
            </a:r>
            <a:r>
              <a:rPr sz="3200" b="1" spc="-7" dirty="0" err="1">
                <a:latin typeface="Times New Roman" panose="02020603050405020304" pitchFamily="18" charset="0"/>
                <a:ea typeface="黑体" panose="02010609060101010101" pitchFamily="49" charset="-122"/>
                <a:cs typeface="Times New Roman" panose="02020603050405020304" pitchFamily="18" charset="0"/>
              </a:rPr>
              <a:t>杂</a:t>
            </a:r>
            <a:r>
              <a:rPr sz="3200" b="1" spc="-20" dirty="0" err="1">
                <a:latin typeface="Times New Roman" panose="02020603050405020304" pitchFamily="18" charset="0"/>
                <a:ea typeface="黑体" panose="02010609060101010101" pitchFamily="49" charset="-122"/>
                <a:cs typeface="Times New Roman" panose="02020603050405020304" pitchFamily="18" charset="0"/>
              </a:rPr>
              <a:t>度</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R="1931035">
              <a:lnSpc>
                <a:spcPts val="4945"/>
              </a:lnSpc>
              <a:spcBef>
                <a:spcPts val="235"/>
              </a:spcBef>
            </a:pPr>
            <a:r>
              <a:rPr lang="en-US" sz="3200" b="1" i="1" spc="-7" dirty="0">
                <a:latin typeface="Times New Roman" panose="02020603050405020304"/>
                <a:cs typeface="Times New Roman" panose="02020603050405020304"/>
              </a:rPr>
              <a:t>                       </a:t>
            </a:r>
            <a:r>
              <a:rPr sz="3200" b="1" i="1" spc="-7" dirty="0">
                <a:latin typeface="Times New Roman" panose="02020603050405020304"/>
                <a:cs typeface="Times New Roman" panose="02020603050405020304"/>
              </a:rPr>
              <a:t>W</a:t>
            </a:r>
            <a:r>
              <a:rPr sz="3200" b="1" spc="-7"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 = 2</a:t>
            </a:r>
            <a:r>
              <a:rPr sz="3200" b="1" i="1" spc="-7" dirty="0">
                <a:latin typeface="Times New Roman" panose="02020603050405020304"/>
                <a:cs typeface="Times New Roman" panose="02020603050405020304"/>
              </a:rPr>
              <a:t>W</a:t>
            </a:r>
            <a:r>
              <a:rPr sz="3200" b="1" spc="-7"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/2) + </a:t>
            </a:r>
            <a:r>
              <a:rPr sz="3200" b="1" i="1" dirty="0">
                <a:latin typeface="Times New Roman" panose="02020603050405020304"/>
                <a:cs typeface="Times New Roman" panose="02020603050405020304"/>
              </a:rPr>
              <a:t>n</a:t>
            </a:r>
            <a:r>
              <a:rPr sz="3200" b="1" dirty="0">
                <a:latin typeface="Symbol" panose="05050102010706020507"/>
                <a:cs typeface="Symbol" panose="05050102010706020507"/>
              </a:rPr>
              <a:t></a:t>
            </a:r>
            <a:r>
              <a:rPr sz="3200" b="1" dirty="0">
                <a:latin typeface="Times New Roman" panose="02020603050405020304"/>
                <a:cs typeface="Times New Roman" panose="02020603050405020304"/>
              </a:rPr>
              <a:t>1  </a:t>
            </a:r>
            <a:r>
              <a:rPr lang="en-US" sz="3200" b="1" dirty="0">
                <a:latin typeface="Times New Roman" panose="02020603050405020304"/>
                <a:cs typeface="Times New Roman" panose="02020603050405020304"/>
              </a:rPr>
              <a:t>    </a:t>
            </a:r>
            <a:endParaRPr lang="en-US" sz="3200" b="1" dirty="0">
              <a:latin typeface="Times New Roman" panose="02020603050405020304"/>
              <a:cs typeface="Times New Roman" panose="02020603050405020304"/>
            </a:endParaRPr>
          </a:p>
          <a:p>
            <a:pPr marR="1931035">
              <a:lnSpc>
                <a:spcPts val="4945"/>
              </a:lnSpc>
              <a:spcBef>
                <a:spcPts val="235"/>
              </a:spcBef>
            </a:pPr>
            <a:r>
              <a:rPr lang="en-US" sz="3200" b="1" i="1" spc="-7" dirty="0">
                <a:latin typeface="Times New Roman" panose="02020603050405020304"/>
                <a:cs typeface="Times New Roman" panose="02020603050405020304"/>
              </a:rPr>
              <a:t>                       </a:t>
            </a:r>
            <a:r>
              <a:rPr sz="3200" b="1" i="1" spc="-7" dirty="0">
                <a:latin typeface="Times New Roman" panose="02020603050405020304"/>
                <a:cs typeface="Times New Roman" panose="02020603050405020304"/>
              </a:rPr>
              <a:t>W</a:t>
            </a:r>
            <a:r>
              <a:rPr sz="3200" b="1" spc="-7" dirty="0">
                <a:latin typeface="Times New Roman" panose="02020603050405020304"/>
                <a:cs typeface="Times New Roman" panose="02020603050405020304"/>
              </a:rPr>
              <a:t>(1) =</a:t>
            </a:r>
            <a:r>
              <a:rPr sz="3200" b="1" spc="-13" dirty="0">
                <a:latin typeface="Times New Roman" panose="02020603050405020304"/>
                <a:cs typeface="Times New Roman" panose="02020603050405020304"/>
              </a:rPr>
              <a:t> </a:t>
            </a:r>
            <a:r>
              <a:rPr sz="3200" b="1" spc="-7" dirty="0">
                <a:latin typeface="Times New Roman" panose="02020603050405020304"/>
                <a:cs typeface="Times New Roman" panose="02020603050405020304"/>
              </a:rPr>
              <a:t>0</a:t>
            </a:r>
            <a:endParaRPr sz="3200" dirty="0">
              <a:latin typeface="宋体" panose="02010600030101010101" pitchFamily="2" charset="-122"/>
              <a:cs typeface="宋体" panose="02010600030101010101" pitchFamily="2" charset="-122"/>
            </a:endParaRPr>
          </a:p>
        </p:txBody>
      </p:sp>
      <p:sp>
        <p:nvSpPr>
          <p:cNvPr id="8" name="object 8"/>
          <p:cNvSpPr txBox="1"/>
          <p:nvPr/>
        </p:nvSpPr>
        <p:spPr>
          <a:xfrm>
            <a:off x="2615209" y="4328488"/>
            <a:ext cx="3887893" cy="511251"/>
          </a:xfrm>
          <a:prstGeom prst="rect">
            <a:avLst/>
          </a:prstGeom>
        </p:spPr>
        <p:txBody>
          <a:bodyPr vert="horz" wrap="square" lIns="0" tIns="18627" rIns="0" bIns="0" rtlCol="0">
            <a:spAutoFit/>
          </a:bodyPr>
          <a:lstStyle/>
          <a:p>
            <a:pPr marL="17145">
              <a:spcBef>
                <a:spcPts val="145"/>
              </a:spcBef>
            </a:pPr>
            <a:r>
              <a:rPr sz="3200" b="1" i="1" spc="-7" dirty="0">
                <a:latin typeface="Times New Roman" panose="02020603050405020304"/>
                <a:cs typeface="Times New Roman" panose="02020603050405020304"/>
              </a:rPr>
              <a:t>W</a:t>
            </a:r>
            <a:r>
              <a:rPr sz="3200" b="1" spc="-7"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 = </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log</a:t>
            </a:r>
            <a:r>
              <a:rPr sz="3200" b="1" i="1" spc="-7" dirty="0">
                <a:latin typeface="Times New Roman" panose="02020603050405020304"/>
                <a:cs typeface="Times New Roman" panose="02020603050405020304"/>
              </a:rPr>
              <a:t>n </a:t>
            </a:r>
            <a:r>
              <a:rPr sz="3200" b="1" spc="-7" dirty="0">
                <a:latin typeface="Symbol" panose="05050102010706020507"/>
                <a:cs typeface="Symbol" panose="05050102010706020507"/>
              </a:rPr>
              <a:t></a:t>
            </a:r>
            <a:r>
              <a:rPr sz="3200" b="1" spc="-7" dirty="0">
                <a:latin typeface="Times New Roman" panose="02020603050405020304"/>
                <a:cs typeface="Times New Roman" panose="02020603050405020304"/>
              </a:rPr>
              <a:t> </a:t>
            </a:r>
            <a:r>
              <a:rPr sz="3200" b="1" i="1" spc="-7" dirty="0">
                <a:latin typeface="Times New Roman" panose="02020603050405020304"/>
                <a:cs typeface="Times New Roman" panose="02020603050405020304"/>
              </a:rPr>
              <a:t>n </a:t>
            </a:r>
            <a:r>
              <a:rPr sz="3200" b="1" spc="-7" dirty="0">
                <a:latin typeface="Times New Roman" panose="02020603050405020304"/>
                <a:cs typeface="Times New Roman" panose="02020603050405020304"/>
              </a:rPr>
              <a:t>+</a:t>
            </a:r>
            <a:r>
              <a:rPr sz="3200" b="1" spc="-20" dirty="0">
                <a:latin typeface="Times New Roman" panose="02020603050405020304"/>
                <a:cs typeface="Times New Roman" panose="02020603050405020304"/>
              </a:rPr>
              <a:t> </a:t>
            </a:r>
            <a:r>
              <a:rPr sz="3200" b="1" spc="-7" dirty="0">
                <a:latin typeface="Times New Roman" panose="02020603050405020304"/>
                <a:cs typeface="Times New Roman" panose="02020603050405020304"/>
              </a:rPr>
              <a:t>1</a:t>
            </a:r>
            <a:endParaRPr sz="3200" dirty="0">
              <a:latin typeface="Times New Roman" panose="02020603050405020304"/>
              <a:cs typeface="Times New Roman" panose="02020603050405020304"/>
            </a:endParaRPr>
          </a:p>
        </p:txBody>
      </p:sp>
      <p:sp>
        <p:nvSpPr>
          <p:cNvPr id="10" name="矩形 9"/>
          <p:cNvSpPr/>
          <p:nvPr/>
        </p:nvSpPr>
        <p:spPr>
          <a:xfrm>
            <a:off x="412594" y="4245885"/>
            <a:ext cx="4215162" cy="720710"/>
          </a:xfrm>
          <a:prstGeom prst="rect">
            <a:avLst/>
          </a:prstGeom>
        </p:spPr>
        <p:txBody>
          <a:bodyPr wrap="square">
            <a:spAutoFit/>
          </a:bodyPr>
          <a:lstStyle/>
          <a:p>
            <a:pPr marR="1931035">
              <a:lnSpc>
                <a:spcPts val="4945"/>
              </a:lnSpc>
              <a:spcBef>
                <a:spcPts val="235"/>
              </a:spcBef>
            </a:pPr>
            <a:r>
              <a:rPr lang="zh-CN" altLang="en-US" sz="3200" b="1" spc="-20" dirty="0">
                <a:latin typeface="黑体" panose="02010609060101010101" pitchFamily="49" charset="-122"/>
                <a:ea typeface="黑体" panose="02010609060101010101" pitchFamily="49" charset="-122"/>
                <a:cs typeface="宋体" panose="02010600030101010101" pitchFamily="2" charset="-122"/>
              </a:rPr>
              <a:t>可</a:t>
            </a:r>
            <a:r>
              <a:rPr lang="zh-CN" altLang="en-US" sz="3200" b="1" spc="-7" dirty="0">
                <a:latin typeface="黑体" panose="02010609060101010101" pitchFamily="49" charset="-122"/>
                <a:ea typeface="黑体" panose="02010609060101010101" pitchFamily="49" charset="-122"/>
                <a:cs typeface="宋体" panose="02010600030101010101" pitchFamily="2" charset="-122"/>
              </a:rPr>
              <a:t>以解</a:t>
            </a:r>
            <a:r>
              <a:rPr lang="zh-CN" altLang="en-US" sz="3200" b="1" spc="-20" dirty="0">
                <a:latin typeface="黑体" panose="02010609060101010101" pitchFamily="49" charset="-122"/>
                <a:ea typeface="黑体" panose="02010609060101010101" pitchFamily="49" charset="-122"/>
                <a:cs typeface="宋体" panose="02010600030101010101" pitchFamily="2" charset="-122"/>
              </a:rPr>
              <a:t>出</a:t>
            </a:r>
            <a:endParaRPr lang="zh-CN" altLang="en-US" sz="3200" dirty="0">
              <a:latin typeface="黑体" panose="02010609060101010101" pitchFamily="49" charset="-122"/>
              <a:ea typeface="黑体" panose="02010609060101010101" pitchFamily="49" charset="-122"/>
              <a:cs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45063" y="39459"/>
            <a:ext cx="8852543" cy="694207"/>
          </a:xfrm>
          <a:prstGeom prst="rect">
            <a:avLst/>
          </a:prstGeom>
        </p:spPr>
        <p:txBody>
          <a:bodyPr vert="horz" wrap="square" lIns="0" tIns="16933" rIns="0" bIns="0" rtlCol="0" anchor="ctr">
            <a:spAutoFit/>
          </a:bodyPr>
          <a:lstStyle/>
          <a:p>
            <a:pPr marL="17145" algn="ctr">
              <a:lnSpc>
                <a:spcPct val="100000"/>
              </a:lnSpc>
              <a:spcBef>
                <a:spcPts val="135"/>
              </a:spcBef>
            </a:pPr>
            <a:r>
              <a:rPr sz="4400" b="1" spc="-13" dirty="0">
                <a:solidFill>
                  <a:srgbClr val="C00000"/>
                </a:solidFill>
                <a:latin typeface="黑体" panose="02010609060101010101" pitchFamily="49" charset="-122"/>
                <a:ea typeface="黑体" panose="02010609060101010101" pitchFamily="49" charset="-122"/>
              </a:rPr>
              <a:t>Hanoi</a:t>
            </a:r>
            <a:r>
              <a:rPr sz="4400" b="1" spc="-20" dirty="0">
                <a:solidFill>
                  <a:srgbClr val="C00000"/>
                </a:solidFill>
                <a:latin typeface="黑体" panose="02010609060101010101" pitchFamily="49" charset="-122"/>
                <a:ea typeface="黑体" panose="02010609060101010101" pitchFamily="49" charset="-122"/>
              </a:rPr>
              <a:t>塔的</a:t>
            </a:r>
            <a:r>
              <a:rPr sz="4400" b="1" spc="-7" dirty="0">
                <a:solidFill>
                  <a:srgbClr val="C00000"/>
                </a:solidFill>
                <a:latin typeface="黑体" panose="02010609060101010101" pitchFamily="49" charset="-122"/>
                <a:ea typeface="黑体" panose="02010609060101010101" pitchFamily="49" charset="-122"/>
              </a:rPr>
              <a:t>递</a:t>
            </a:r>
            <a:r>
              <a:rPr sz="4400" b="1" spc="-20" dirty="0">
                <a:solidFill>
                  <a:srgbClr val="C00000"/>
                </a:solidFill>
                <a:latin typeface="黑体" panose="02010609060101010101" pitchFamily="49" charset="-122"/>
                <a:ea typeface="黑体" panose="02010609060101010101" pitchFamily="49" charset="-122"/>
              </a:rPr>
              <a:t>归</a:t>
            </a:r>
            <a:r>
              <a:rPr sz="4400" b="1" spc="7" dirty="0">
                <a:solidFill>
                  <a:srgbClr val="C00000"/>
                </a:solidFill>
                <a:latin typeface="黑体" panose="02010609060101010101" pitchFamily="49" charset="-122"/>
                <a:ea typeface="黑体" panose="02010609060101010101" pitchFamily="49" charset="-122"/>
              </a:rPr>
              <a:t>算</a:t>
            </a:r>
            <a:r>
              <a:rPr sz="4400" b="1" spc="-20" dirty="0">
                <a:solidFill>
                  <a:srgbClr val="C00000"/>
                </a:solidFill>
                <a:latin typeface="黑体" panose="02010609060101010101" pitchFamily="49" charset="-122"/>
                <a:ea typeface="黑体" panose="02010609060101010101" pitchFamily="49" charset="-122"/>
              </a:rPr>
              <a:t>法</a:t>
            </a:r>
            <a:endParaRPr sz="4400" b="1" spc="-20" dirty="0">
              <a:solidFill>
                <a:srgbClr val="C00000"/>
              </a:solidFill>
              <a:latin typeface="黑体" panose="02010609060101010101" pitchFamily="49" charset="-122"/>
              <a:ea typeface="黑体" panose="02010609060101010101" pitchFamily="49" charset="-122"/>
            </a:endParaRPr>
          </a:p>
        </p:txBody>
      </p:sp>
      <p:sp>
        <p:nvSpPr>
          <p:cNvPr id="4" name="object 4"/>
          <p:cNvSpPr txBox="1">
            <a:spLocks noGrp="1"/>
          </p:cNvSpPr>
          <p:nvPr>
            <p:ph idx="4294967295"/>
          </p:nvPr>
        </p:nvSpPr>
        <p:spPr>
          <a:xfrm>
            <a:off x="609600" y="1160463"/>
            <a:ext cx="8077200" cy="1562100"/>
          </a:xfrm>
          <a:prstGeom prst="rect">
            <a:avLst/>
          </a:prstGeom>
          <a:noFill/>
        </p:spPr>
        <p:txBody>
          <a:bodyPr vert="horz" wrap="square" lIns="0" tIns="101600" rIns="0" bIns="0" rtlCol="0">
            <a:spAutoFit/>
          </a:bodyPr>
          <a:lstStyle/>
          <a:p>
            <a:pPr marL="0" indent="0">
              <a:lnSpc>
                <a:spcPct val="100000"/>
              </a:lnSpc>
              <a:spcBef>
                <a:spcPts val="800"/>
              </a:spcBef>
              <a:buNone/>
              <a:tabLst>
                <a:tab pos="4150995" algn="l"/>
              </a:tabLst>
            </a:pPr>
            <a:r>
              <a:rPr sz="2800" b="1" spc="-13" dirty="0">
                <a:latin typeface="Times New Roman" panose="02020603050405020304" pitchFamily="18" charset="0"/>
                <a:ea typeface="宋体" panose="02010600030101010101" pitchFamily="2" charset="-122"/>
                <a:cs typeface="Times New Roman" panose="02020603050405020304" pitchFamily="18" charset="0"/>
              </a:rPr>
              <a:t>算法</a:t>
            </a:r>
            <a:r>
              <a:rPr sz="2800" b="1" spc="13" dirty="0">
                <a:latin typeface="Times New Roman" panose="02020603050405020304" pitchFamily="18" charset="0"/>
                <a:ea typeface="宋体" panose="02010600030101010101" pitchFamily="2" charset="-122"/>
                <a:cs typeface="Times New Roman" panose="02020603050405020304" pitchFamily="18" charset="0"/>
              </a:rPr>
              <a:t> </a:t>
            </a:r>
            <a:r>
              <a:rPr sz="2800" b="1" spc="-7" dirty="0">
                <a:latin typeface="Times New Roman" panose="02020603050405020304" pitchFamily="18" charset="0"/>
                <a:ea typeface="宋体" panose="02010600030101010101" pitchFamily="2" charset="-122"/>
                <a:cs typeface="Times New Roman" panose="02020603050405020304" pitchFamily="18" charset="0"/>
              </a:rPr>
              <a:t>Hanoi</a:t>
            </a:r>
            <a:r>
              <a:rPr sz="2800" b="1" spc="7" dirty="0">
                <a:latin typeface="Times New Roman" panose="02020603050405020304" pitchFamily="18" charset="0"/>
                <a:ea typeface="宋体" panose="02010600030101010101" pitchFamily="2" charset="-122"/>
                <a:cs typeface="Times New Roman" panose="02020603050405020304" pitchFamily="18" charset="0"/>
              </a:rPr>
              <a:t> </a:t>
            </a:r>
            <a:r>
              <a:rPr sz="2800" b="1" spc="-7" dirty="0">
                <a:latin typeface="Times New Roman" panose="02020603050405020304" pitchFamily="18" charset="0"/>
                <a:ea typeface="宋体" panose="02010600030101010101" pitchFamily="2" charset="-122"/>
                <a:cs typeface="Times New Roman" panose="02020603050405020304" pitchFamily="18" charset="0"/>
              </a:rPr>
              <a:t>(</a:t>
            </a:r>
            <a:r>
              <a:rPr sz="2800" b="1" i="1" spc="-7" dirty="0">
                <a:latin typeface="Times New Roman" panose="02020603050405020304" pitchFamily="18" charset="0"/>
                <a:ea typeface="宋体" panose="02010600030101010101" pitchFamily="2" charset="-122"/>
                <a:cs typeface="Times New Roman" panose="02020603050405020304" pitchFamily="18" charset="0"/>
              </a:rPr>
              <a:t>A</a:t>
            </a:r>
            <a:r>
              <a:rPr sz="2800" b="1" spc="-7" dirty="0">
                <a:latin typeface="Times New Roman" panose="02020603050405020304" pitchFamily="18" charset="0"/>
                <a:ea typeface="宋体" panose="02010600030101010101" pitchFamily="2" charset="-122"/>
                <a:cs typeface="Times New Roman" panose="02020603050405020304" pitchFamily="18" charset="0"/>
              </a:rPr>
              <a:t>,</a:t>
            </a:r>
            <a:r>
              <a:rPr sz="2800" b="1" dirty="0">
                <a:latin typeface="Times New Roman" panose="02020603050405020304" pitchFamily="18" charset="0"/>
                <a:ea typeface="宋体" panose="02010600030101010101" pitchFamily="2" charset="-122"/>
                <a:cs typeface="Times New Roman" panose="02020603050405020304" pitchFamily="18" charset="0"/>
              </a:rPr>
              <a:t> </a:t>
            </a:r>
            <a:r>
              <a:rPr sz="2800" b="1" i="1" spc="-7" dirty="0">
                <a:latin typeface="Times New Roman" panose="02020603050405020304" pitchFamily="18" charset="0"/>
                <a:ea typeface="宋体" panose="02010600030101010101" pitchFamily="2" charset="-122"/>
                <a:cs typeface="Times New Roman" panose="02020603050405020304" pitchFamily="18" charset="0"/>
              </a:rPr>
              <a:t>C</a:t>
            </a:r>
            <a:r>
              <a:rPr sz="2800" b="1" spc="-7" dirty="0">
                <a:latin typeface="Times New Roman" panose="02020603050405020304" pitchFamily="18" charset="0"/>
                <a:ea typeface="宋体" panose="02010600030101010101" pitchFamily="2" charset="-122"/>
                <a:cs typeface="Times New Roman" panose="02020603050405020304" pitchFamily="18" charset="0"/>
              </a:rPr>
              <a:t>,</a:t>
            </a:r>
            <a:r>
              <a:rPr sz="2800" b="1" dirty="0">
                <a:latin typeface="Times New Roman" panose="02020603050405020304" pitchFamily="18" charset="0"/>
                <a:ea typeface="宋体" panose="02010600030101010101" pitchFamily="2" charset="-122"/>
                <a:cs typeface="Times New Roman" panose="02020603050405020304" pitchFamily="18" charset="0"/>
              </a:rPr>
              <a:t> </a:t>
            </a:r>
            <a:r>
              <a:rPr sz="2800" b="1" i="1" spc="-7" dirty="0">
                <a:latin typeface="Times New Roman" panose="02020603050405020304" pitchFamily="18" charset="0"/>
                <a:ea typeface="宋体" panose="02010600030101010101" pitchFamily="2" charset="-122"/>
                <a:cs typeface="Times New Roman" panose="02020603050405020304" pitchFamily="18" charset="0"/>
              </a:rPr>
              <a:t>n</a:t>
            </a:r>
            <a:r>
              <a:rPr sz="2800" b="1" spc="-7" dirty="0">
                <a:latin typeface="Times New Roman" panose="02020603050405020304" pitchFamily="18" charset="0"/>
                <a:ea typeface="宋体" panose="02010600030101010101" pitchFamily="2" charset="-122"/>
                <a:cs typeface="Times New Roman" panose="02020603050405020304" pitchFamily="18" charset="0"/>
              </a:rPr>
              <a:t>)	</a:t>
            </a:r>
            <a:r>
              <a:rPr sz="2800" b="1" dirty="0">
                <a:latin typeface="Times New Roman" panose="02020603050405020304" pitchFamily="18" charset="0"/>
                <a:ea typeface="宋体" panose="02010600030101010101" pitchFamily="2" charset="-122"/>
                <a:cs typeface="Times New Roman" panose="02020603050405020304" pitchFamily="18" charset="0"/>
              </a:rPr>
              <a:t>//</a:t>
            </a:r>
            <a:r>
              <a:rPr sz="2800" b="1" spc="-27" dirty="0">
                <a:latin typeface="Times New Roman" panose="02020603050405020304" pitchFamily="18" charset="0"/>
                <a:ea typeface="宋体" panose="02010600030101010101" pitchFamily="2" charset="-122"/>
                <a:cs typeface="Times New Roman" panose="02020603050405020304" pitchFamily="18" charset="0"/>
              </a:rPr>
              <a:t> </a:t>
            </a:r>
            <a:r>
              <a:rPr sz="2800" b="1" i="1" spc="-7" dirty="0">
                <a:latin typeface="Times New Roman" panose="02020603050405020304" pitchFamily="18" charset="0"/>
                <a:ea typeface="宋体" panose="02010600030101010101" pitchFamily="2" charset="-122"/>
                <a:cs typeface="Times New Roman" panose="02020603050405020304" pitchFamily="18" charset="0"/>
              </a:rPr>
              <a:t>n</a:t>
            </a:r>
            <a:r>
              <a:rPr sz="2800" b="1" spc="-13" dirty="0">
                <a:latin typeface="Times New Roman" panose="02020603050405020304" pitchFamily="18" charset="0"/>
                <a:ea typeface="宋体" panose="02010600030101010101" pitchFamily="2" charset="-122"/>
                <a:cs typeface="Times New Roman" panose="02020603050405020304" pitchFamily="18" charset="0"/>
              </a:rPr>
              <a:t>个盘子</a:t>
            </a:r>
            <a:r>
              <a:rPr sz="2800" b="1" i="1" spc="7" dirty="0">
                <a:latin typeface="Times New Roman" panose="02020603050405020304" pitchFamily="18" charset="0"/>
                <a:ea typeface="宋体" panose="02010600030101010101" pitchFamily="2" charset="-122"/>
                <a:cs typeface="Times New Roman" panose="02020603050405020304" pitchFamily="18" charset="0"/>
              </a:rPr>
              <a:t>A</a:t>
            </a:r>
            <a:r>
              <a:rPr sz="2800" b="1" spc="-7" dirty="0">
                <a:latin typeface="Times New Roman" panose="02020603050405020304" pitchFamily="18" charset="0"/>
                <a:ea typeface="宋体" panose="02010600030101010101" pitchFamily="2" charset="-122"/>
                <a:cs typeface="Times New Roman" panose="02020603050405020304" pitchFamily="18" charset="0"/>
              </a:rPr>
              <a:t>到</a:t>
            </a:r>
            <a:r>
              <a:rPr sz="2800" b="1" i="1" dirty="0">
                <a:latin typeface="Times New Roman" panose="02020603050405020304" pitchFamily="18" charset="0"/>
                <a:ea typeface="宋体" panose="02010600030101010101" pitchFamily="2" charset="-122"/>
                <a:cs typeface="Times New Roman" panose="02020603050405020304" pitchFamily="18" charset="0"/>
              </a:rPr>
              <a:t>C</a:t>
            </a:r>
            <a:endParaRPr sz="2800" b="1" i="1" dirty="0">
              <a:latin typeface="Times New Roman" panose="02020603050405020304" pitchFamily="18" charset="0"/>
              <a:ea typeface="宋体" panose="02010600030101010101" pitchFamily="2" charset="-122"/>
              <a:cs typeface="Times New Roman" panose="02020603050405020304" pitchFamily="18" charset="0"/>
            </a:endParaRPr>
          </a:p>
          <a:p>
            <a:pPr marL="525145" indent="-508000">
              <a:lnSpc>
                <a:spcPct val="100000"/>
              </a:lnSpc>
              <a:spcBef>
                <a:spcPts val="660"/>
              </a:spcBef>
              <a:buAutoNum type="arabicPeriod"/>
              <a:tabLst>
                <a:tab pos="523875" algn="l"/>
                <a:tab pos="524510" algn="l"/>
                <a:tab pos="4750435" algn="l"/>
              </a:tabLst>
            </a:pPr>
            <a:r>
              <a:rPr sz="2800" b="1" spc="-13" dirty="0">
                <a:latin typeface="Times New Roman" panose="02020603050405020304" pitchFamily="18" charset="0"/>
                <a:ea typeface="宋体" panose="02010600030101010101" pitchFamily="2" charset="-122"/>
                <a:cs typeface="Times New Roman" panose="02020603050405020304" pitchFamily="18" charset="0"/>
              </a:rPr>
              <a:t>i</a:t>
            </a:r>
            <a:r>
              <a:rPr sz="2800" b="1" dirty="0">
                <a:latin typeface="Times New Roman" panose="02020603050405020304" pitchFamily="18" charset="0"/>
                <a:ea typeface="宋体" panose="02010600030101010101" pitchFamily="2" charset="-122"/>
                <a:cs typeface="Times New Roman" panose="02020603050405020304" pitchFamily="18" charset="0"/>
              </a:rPr>
              <a:t>f</a:t>
            </a:r>
            <a:r>
              <a:rPr sz="2800" b="1" spc="-7" dirty="0">
                <a:latin typeface="Times New Roman" panose="02020603050405020304" pitchFamily="18" charset="0"/>
                <a:ea typeface="宋体" panose="02010600030101010101" pitchFamily="2" charset="-122"/>
                <a:cs typeface="Times New Roman" panose="02020603050405020304" pitchFamily="18" charset="0"/>
              </a:rPr>
              <a:t> </a:t>
            </a:r>
            <a:r>
              <a:rPr sz="2800" b="1" i="1" spc="-13" dirty="0">
                <a:latin typeface="Times New Roman" panose="02020603050405020304" pitchFamily="18" charset="0"/>
                <a:ea typeface="宋体" panose="02010600030101010101" pitchFamily="2" charset="-122"/>
                <a:cs typeface="Times New Roman" panose="02020603050405020304" pitchFamily="18" charset="0"/>
              </a:rPr>
              <a:t>n</a:t>
            </a:r>
            <a:r>
              <a:rPr sz="2800" b="1" dirty="0">
                <a:latin typeface="Times New Roman" panose="02020603050405020304" pitchFamily="18" charset="0"/>
                <a:ea typeface="宋体" panose="02010600030101010101" pitchFamily="2" charset="-122"/>
                <a:cs typeface="Times New Roman" panose="02020603050405020304" pitchFamily="18" charset="0"/>
              </a:rPr>
              <a:t>=1 </a:t>
            </a:r>
            <a:r>
              <a:rPr sz="2800" b="1" spc="-7" dirty="0">
                <a:latin typeface="Times New Roman" panose="02020603050405020304" pitchFamily="18" charset="0"/>
                <a:ea typeface="宋体" panose="02010600030101010101" pitchFamily="2" charset="-122"/>
                <a:cs typeface="Times New Roman" panose="02020603050405020304" pitchFamily="18" charset="0"/>
              </a:rPr>
              <a:t>then</a:t>
            </a:r>
            <a:r>
              <a:rPr sz="2800" b="1" dirty="0">
                <a:latin typeface="Times New Roman" panose="02020603050405020304" pitchFamily="18" charset="0"/>
                <a:ea typeface="宋体" panose="02010600030101010101" pitchFamily="2" charset="-122"/>
                <a:cs typeface="Times New Roman" panose="02020603050405020304" pitchFamily="18" charset="0"/>
              </a:rPr>
              <a:t> move </a:t>
            </a:r>
            <a:r>
              <a:rPr sz="2800" b="1" spc="-7" dirty="0">
                <a:latin typeface="Times New Roman" panose="02020603050405020304" pitchFamily="18" charset="0"/>
                <a:ea typeface="宋体" panose="02010600030101010101" pitchFamily="2" charset="-122"/>
                <a:cs typeface="Times New Roman" panose="02020603050405020304" pitchFamily="18" charset="0"/>
              </a:rPr>
              <a:t>(</a:t>
            </a:r>
            <a:r>
              <a:rPr sz="2800" b="1" i="1" dirty="0">
                <a:latin typeface="Times New Roman" panose="02020603050405020304" pitchFamily="18" charset="0"/>
                <a:ea typeface="宋体" panose="02010600030101010101" pitchFamily="2" charset="-122"/>
                <a:cs typeface="Times New Roman" panose="02020603050405020304" pitchFamily="18" charset="0"/>
              </a:rPr>
              <a:t>A</a:t>
            </a:r>
            <a:r>
              <a:rPr sz="2800" b="1" dirty="0">
                <a:latin typeface="Times New Roman" panose="02020603050405020304" pitchFamily="18" charset="0"/>
                <a:ea typeface="宋体" panose="02010600030101010101" pitchFamily="2" charset="-122"/>
                <a:cs typeface="Times New Roman" panose="02020603050405020304" pitchFamily="18" charset="0"/>
              </a:rPr>
              <a:t>, </a:t>
            </a:r>
            <a:r>
              <a:rPr sz="2800" b="1" i="1" dirty="0">
                <a:latin typeface="Times New Roman" panose="02020603050405020304" pitchFamily="18" charset="0"/>
                <a:ea typeface="宋体" panose="02010600030101010101" pitchFamily="2" charset="-122"/>
                <a:cs typeface="Times New Roman" panose="02020603050405020304" pitchFamily="18" charset="0"/>
              </a:rPr>
              <a:t>C</a:t>
            </a:r>
            <a:r>
              <a:rPr sz="2800" b="1" dirty="0">
                <a:latin typeface="Times New Roman" panose="02020603050405020304" pitchFamily="18" charset="0"/>
                <a:ea typeface="宋体" panose="02010600030101010101" pitchFamily="2" charset="-122"/>
                <a:cs typeface="Times New Roman" panose="02020603050405020304" pitchFamily="18" charset="0"/>
              </a:rPr>
              <a:t>)	/</a:t>
            </a:r>
            <a:r>
              <a:rPr sz="2800" b="1" spc="-7" dirty="0">
                <a:latin typeface="Times New Roman" panose="02020603050405020304" pitchFamily="18" charset="0"/>
                <a:ea typeface="宋体" panose="02010600030101010101" pitchFamily="2" charset="-122"/>
                <a:cs typeface="Times New Roman" panose="02020603050405020304" pitchFamily="18" charset="0"/>
              </a:rPr>
              <a:t>/</a:t>
            </a:r>
            <a:r>
              <a:rPr sz="2800" b="1" dirty="0">
                <a:latin typeface="Times New Roman" panose="02020603050405020304" pitchFamily="18" charset="0"/>
                <a:ea typeface="宋体" panose="02010600030101010101" pitchFamily="2" charset="-122"/>
                <a:cs typeface="Times New Roman" panose="02020603050405020304" pitchFamily="18" charset="0"/>
              </a:rPr>
              <a:t>1</a:t>
            </a:r>
            <a:r>
              <a:rPr sz="2800" b="1" spc="-7" dirty="0">
                <a:latin typeface="Times New Roman" panose="02020603050405020304" pitchFamily="18" charset="0"/>
                <a:ea typeface="宋体" panose="02010600030101010101" pitchFamily="2" charset="-122"/>
                <a:cs typeface="Times New Roman" panose="02020603050405020304" pitchFamily="18" charset="0"/>
              </a:rPr>
              <a:t>个盘子</a:t>
            </a:r>
            <a:r>
              <a:rPr sz="2800" b="1" i="1" dirty="0">
                <a:latin typeface="Times New Roman" panose="02020603050405020304" pitchFamily="18" charset="0"/>
                <a:ea typeface="宋体" panose="02010600030101010101" pitchFamily="2" charset="-122"/>
                <a:cs typeface="Times New Roman" panose="02020603050405020304" pitchFamily="18" charset="0"/>
              </a:rPr>
              <a:t>A</a:t>
            </a:r>
            <a:r>
              <a:rPr sz="2800" b="1" spc="-7" dirty="0">
                <a:latin typeface="Times New Roman" panose="02020603050405020304" pitchFamily="18" charset="0"/>
                <a:ea typeface="宋体" panose="02010600030101010101" pitchFamily="2" charset="-122"/>
                <a:cs typeface="Times New Roman" panose="02020603050405020304" pitchFamily="18" charset="0"/>
              </a:rPr>
              <a:t>到</a:t>
            </a:r>
            <a:r>
              <a:rPr sz="2800" b="1" i="1" dirty="0">
                <a:latin typeface="Times New Roman" panose="02020603050405020304" pitchFamily="18" charset="0"/>
                <a:ea typeface="宋体" panose="02010600030101010101" pitchFamily="2" charset="-122"/>
                <a:cs typeface="Times New Roman" panose="02020603050405020304" pitchFamily="18" charset="0"/>
              </a:rPr>
              <a:t>C</a:t>
            </a:r>
            <a:endParaRPr sz="2800" b="1" i="1" dirty="0">
              <a:latin typeface="Times New Roman" panose="02020603050405020304" pitchFamily="18" charset="0"/>
              <a:ea typeface="宋体" panose="02010600030101010101" pitchFamily="2" charset="-122"/>
              <a:cs typeface="Times New Roman" panose="02020603050405020304" pitchFamily="18" charset="0"/>
            </a:endParaRPr>
          </a:p>
          <a:p>
            <a:pPr marL="525145" indent="-508000">
              <a:lnSpc>
                <a:spcPct val="100000"/>
              </a:lnSpc>
              <a:spcBef>
                <a:spcPts val="640"/>
              </a:spcBef>
              <a:buAutoNum type="arabicPeriod"/>
              <a:tabLst>
                <a:tab pos="523875" algn="l"/>
                <a:tab pos="524510" algn="l"/>
                <a:tab pos="1356995" algn="l"/>
              </a:tabLst>
            </a:pPr>
            <a:r>
              <a:rPr sz="2800" b="1" spc="-7" dirty="0">
                <a:latin typeface="Times New Roman" panose="02020603050405020304" pitchFamily="18" charset="0"/>
                <a:ea typeface="宋体" panose="02010600030101010101" pitchFamily="2" charset="-122"/>
                <a:cs typeface="Times New Roman" panose="02020603050405020304" pitchFamily="18" charset="0"/>
              </a:rPr>
              <a:t>else	</a:t>
            </a:r>
            <a:r>
              <a:rPr sz="2800" b="1" dirty="0">
                <a:latin typeface="Times New Roman" panose="02020603050405020304" pitchFamily="18" charset="0"/>
                <a:ea typeface="宋体" panose="02010600030101010101" pitchFamily="2" charset="-122"/>
                <a:cs typeface="Times New Roman" panose="02020603050405020304" pitchFamily="18" charset="0"/>
              </a:rPr>
              <a:t>Hanoi </a:t>
            </a:r>
            <a:r>
              <a:rPr sz="2800" b="1" spc="-7" dirty="0">
                <a:latin typeface="Times New Roman" panose="02020603050405020304" pitchFamily="18" charset="0"/>
                <a:ea typeface="宋体" panose="02010600030101010101" pitchFamily="2" charset="-122"/>
                <a:cs typeface="Times New Roman" panose="02020603050405020304" pitchFamily="18" charset="0"/>
              </a:rPr>
              <a:t>(</a:t>
            </a:r>
            <a:r>
              <a:rPr sz="2800" b="1" i="1" spc="-7" dirty="0">
                <a:latin typeface="Times New Roman" panose="02020603050405020304" pitchFamily="18" charset="0"/>
                <a:ea typeface="宋体" panose="02010600030101010101" pitchFamily="2" charset="-122"/>
                <a:cs typeface="Times New Roman" panose="02020603050405020304" pitchFamily="18" charset="0"/>
              </a:rPr>
              <a:t>A</a:t>
            </a:r>
            <a:r>
              <a:rPr sz="2800" b="1" spc="-7" dirty="0">
                <a:latin typeface="Times New Roman" panose="02020603050405020304" pitchFamily="18" charset="0"/>
                <a:ea typeface="宋体" panose="02010600030101010101" pitchFamily="2" charset="-122"/>
                <a:cs typeface="Times New Roman" panose="02020603050405020304" pitchFamily="18" charset="0"/>
              </a:rPr>
              <a:t>, </a:t>
            </a:r>
            <a:r>
              <a:rPr sz="2800" b="1" i="1" dirty="0">
                <a:latin typeface="Times New Roman" panose="02020603050405020304" pitchFamily="18" charset="0"/>
                <a:ea typeface="宋体" panose="02010600030101010101" pitchFamily="2" charset="-122"/>
                <a:cs typeface="Times New Roman" panose="02020603050405020304" pitchFamily="18" charset="0"/>
              </a:rPr>
              <a:t>B</a:t>
            </a:r>
            <a:r>
              <a:rPr sz="2800" b="1" dirty="0">
                <a:latin typeface="Times New Roman" panose="02020603050405020304" pitchFamily="18" charset="0"/>
                <a:ea typeface="宋体" panose="02010600030101010101" pitchFamily="2" charset="-122"/>
                <a:cs typeface="Times New Roman" panose="02020603050405020304" pitchFamily="18" charset="0"/>
              </a:rPr>
              <a:t>,</a:t>
            </a:r>
            <a:r>
              <a:rPr sz="2800" b="1" spc="-20" dirty="0">
                <a:latin typeface="Times New Roman" panose="02020603050405020304" pitchFamily="18" charset="0"/>
                <a:ea typeface="宋体" panose="02010600030101010101" pitchFamily="2" charset="-122"/>
                <a:cs typeface="Times New Roman" panose="02020603050405020304" pitchFamily="18" charset="0"/>
              </a:rPr>
              <a:t> </a:t>
            </a:r>
            <a:r>
              <a:rPr sz="2800" b="1" i="1" spc="-7" dirty="0">
                <a:latin typeface="Times New Roman" panose="02020603050405020304" pitchFamily="18" charset="0"/>
                <a:ea typeface="宋体" panose="02010600030101010101" pitchFamily="2" charset="-122"/>
                <a:cs typeface="Times New Roman" panose="02020603050405020304" pitchFamily="18" charset="0"/>
              </a:rPr>
              <a:t>n</a:t>
            </a:r>
            <a:r>
              <a:rPr lang="zh-CN" altLang="en-US" sz="2800" b="1" spc="-7" dirty="0">
                <a:latin typeface="Symbol" panose="05050102010706020507"/>
                <a:cs typeface="Symbol" panose="05050102010706020507"/>
              </a:rPr>
              <a:t>  </a:t>
            </a:r>
            <a:r>
              <a:rPr sz="2800" b="1" spc="-7" dirty="0">
                <a:latin typeface="Times New Roman" panose="02020603050405020304" pitchFamily="18" charset="0"/>
                <a:ea typeface="宋体" panose="02010600030101010101" pitchFamily="2" charset="-122"/>
                <a:cs typeface="Times New Roman" panose="02020603050405020304" pitchFamily="18" charset="0"/>
              </a:rPr>
              <a:t>1)</a:t>
            </a:r>
            <a:endParaRPr sz="2800" b="1" spc="-7"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object 5"/>
          <p:cNvSpPr txBox="1"/>
          <p:nvPr/>
        </p:nvSpPr>
        <p:spPr>
          <a:xfrm>
            <a:off x="603932" y="2618872"/>
            <a:ext cx="476148" cy="1054135"/>
          </a:xfrm>
          <a:prstGeom prst="rect">
            <a:avLst/>
          </a:prstGeom>
        </p:spPr>
        <p:txBody>
          <a:bodyPr vert="horz" wrap="square" lIns="0" tIns="101600" rIns="0" bIns="0" rtlCol="0">
            <a:spAutoFit/>
          </a:bodyPr>
          <a:lstStyle/>
          <a:p>
            <a:pPr marL="17145">
              <a:spcBef>
                <a:spcPts val="800"/>
              </a:spcBef>
            </a:pPr>
            <a:r>
              <a:rPr sz="2800" b="1" dirty="0">
                <a:latin typeface="Times New Roman" panose="02020603050405020304"/>
                <a:cs typeface="Times New Roman" panose="02020603050405020304"/>
              </a:rPr>
              <a:t>3.</a:t>
            </a:r>
            <a:endParaRPr sz="2800" dirty="0">
              <a:latin typeface="Times New Roman" panose="02020603050405020304"/>
              <a:cs typeface="Times New Roman" panose="02020603050405020304"/>
            </a:endParaRPr>
          </a:p>
          <a:p>
            <a:pPr marL="17145">
              <a:spcBef>
                <a:spcPts val="680"/>
              </a:spcBef>
            </a:pPr>
            <a:r>
              <a:rPr sz="2800" b="1" dirty="0">
                <a:latin typeface="Times New Roman" panose="02020603050405020304"/>
                <a:cs typeface="Times New Roman" panose="02020603050405020304"/>
              </a:rPr>
              <a:t>4.</a:t>
            </a:r>
            <a:endParaRPr sz="2800" dirty="0">
              <a:latin typeface="Times New Roman" panose="02020603050405020304"/>
              <a:cs typeface="Times New Roman" panose="02020603050405020304"/>
            </a:endParaRPr>
          </a:p>
        </p:txBody>
      </p:sp>
      <p:sp>
        <p:nvSpPr>
          <p:cNvPr id="6" name="object 6"/>
          <p:cNvSpPr txBox="1"/>
          <p:nvPr/>
        </p:nvSpPr>
        <p:spPr>
          <a:xfrm>
            <a:off x="1938274" y="2659807"/>
            <a:ext cx="6685026" cy="1046013"/>
          </a:xfrm>
          <a:prstGeom prst="rect">
            <a:avLst/>
          </a:prstGeom>
        </p:spPr>
        <p:txBody>
          <a:bodyPr vert="horz" wrap="square" lIns="0" tIns="16087" rIns="0" bIns="0" rtlCol="0">
            <a:spAutoFit/>
          </a:bodyPr>
          <a:lstStyle/>
          <a:p>
            <a:pPr marL="17145" marR="6985">
              <a:lnSpc>
                <a:spcPct val="118000"/>
              </a:lnSpc>
              <a:spcBef>
                <a:spcPts val="125"/>
              </a:spcBef>
            </a:pPr>
            <a:r>
              <a:rPr sz="2800" b="1" spc="-7" dirty="0">
                <a:latin typeface="Times New Roman" panose="02020603050405020304"/>
                <a:cs typeface="Times New Roman" panose="02020603050405020304"/>
              </a:rPr>
              <a:t>move (</a:t>
            </a:r>
            <a:r>
              <a:rPr sz="2800" b="1" i="1" spc="-7" dirty="0">
                <a:latin typeface="Times New Roman" panose="02020603050405020304"/>
                <a:cs typeface="Times New Roman" panose="02020603050405020304"/>
              </a:rPr>
              <a:t>A</a:t>
            </a:r>
            <a:r>
              <a:rPr sz="2800" b="1" spc="-7" dirty="0">
                <a:latin typeface="Times New Roman" panose="02020603050405020304"/>
                <a:cs typeface="Times New Roman" panose="02020603050405020304"/>
              </a:rPr>
              <a:t>, </a:t>
            </a:r>
            <a:r>
              <a:rPr sz="2800" b="1" i="1" dirty="0">
                <a:latin typeface="Times New Roman" panose="02020603050405020304"/>
                <a:cs typeface="Times New Roman" panose="02020603050405020304"/>
              </a:rPr>
              <a:t>C</a:t>
            </a:r>
            <a:r>
              <a:rPr sz="2800" b="1" dirty="0">
                <a:latin typeface="Times New Roman" panose="02020603050405020304"/>
                <a:cs typeface="Times New Roman" panose="02020603050405020304"/>
              </a:rPr>
              <a:t>)  </a:t>
            </a:r>
            <a:endParaRPr lang="en-US" sz="2800" b="1" dirty="0">
              <a:latin typeface="Times New Roman" panose="02020603050405020304"/>
              <a:cs typeface="Times New Roman" panose="02020603050405020304"/>
            </a:endParaRPr>
          </a:p>
          <a:p>
            <a:pPr marL="17145" marR="6985">
              <a:lnSpc>
                <a:spcPct val="118000"/>
              </a:lnSpc>
              <a:spcBef>
                <a:spcPts val="125"/>
              </a:spcBef>
            </a:pPr>
            <a:r>
              <a:rPr sz="2800" b="1" spc="-7" dirty="0">
                <a:latin typeface="Times New Roman" panose="02020603050405020304"/>
                <a:cs typeface="Times New Roman" panose="02020603050405020304"/>
              </a:rPr>
              <a:t>Hanoi (</a:t>
            </a:r>
            <a:r>
              <a:rPr sz="2800" b="1" i="1" spc="-7" dirty="0">
                <a:latin typeface="Times New Roman" panose="02020603050405020304"/>
                <a:cs typeface="Times New Roman" panose="02020603050405020304"/>
              </a:rPr>
              <a:t>B</a:t>
            </a:r>
            <a:r>
              <a:rPr sz="2800" b="1" spc="-7" dirty="0">
                <a:latin typeface="Times New Roman" panose="02020603050405020304"/>
                <a:cs typeface="Times New Roman" panose="02020603050405020304"/>
              </a:rPr>
              <a:t>, </a:t>
            </a:r>
            <a:r>
              <a:rPr sz="2800" b="1" i="1" spc="-7" dirty="0">
                <a:latin typeface="Times New Roman" panose="02020603050405020304"/>
                <a:cs typeface="Times New Roman" panose="02020603050405020304"/>
              </a:rPr>
              <a:t>C</a:t>
            </a:r>
            <a:r>
              <a:rPr sz="2800" b="1" spc="-7" dirty="0">
                <a:latin typeface="Times New Roman" panose="02020603050405020304"/>
                <a:cs typeface="Times New Roman" panose="02020603050405020304"/>
              </a:rPr>
              <a:t>,</a:t>
            </a:r>
            <a:r>
              <a:rPr sz="2800" b="1" spc="-93" dirty="0">
                <a:latin typeface="Times New Roman" panose="02020603050405020304"/>
                <a:cs typeface="Times New Roman" panose="02020603050405020304"/>
              </a:rPr>
              <a:t> </a:t>
            </a:r>
            <a:r>
              <a:rPr sz="2800" b="1" i="1" spc="-7" dirty="0">
                <a:latin typeface="Times New Roman" panose="02020603050405020304"/>
                <a:cs typeface="Times New Roman" panose="02020603050405020304"/>
              </a:rPr>
              <a:t>n</a:t>
            </a:r>
            <a:r>
              <a:rPr sz="2800" b="1" spc="-7" dirty="0">
                <a:latin typeface="Symbol" panose="05050102010706020507"/>
                <a:cs typeface="Symbol" panose="05050102010706020507"/>
              </a:rPr>
              <a:t></a:t>
            </a:r>
            <a:r>
              <a:rPr sz="2800" b="1" spc="-7" dirty="0">
                <a:latin typeface="Times New Roman" panose="02020603050405020304"/>
                <a:cs typeface="Times New Roman" panose="02020603050405020304"/>
              </a:rPr>
              <a:t>1)</a:t>
            </a:r>
            <a:endParaRPr sz="2800" dirty="0">
              <a:latin typeface="Times New Roman" panose="02020603050405020304"/>
              <a:cs typeface="Times New Roman" panose="02020603050405020304"/>
            </a:endParaRPr>
          </a:p>
        </p:txBody>
      </p:sp>
      <p:sp>
        <p:nvSpPr>
          <p:cNvPr id="7" name="object 7"/>
          <p:cNvSpPr txBox="1"/>
          <p:nvPr/>
        </p:nvSpPr>
        <p:spPr>
          <a:xfrm>
            <a:off x="422191" y="3683518"/>
            <a:ext cx="8675415" cy="2210006"/>
          </a:xfrm>
          <a:prstGeom prst="rect">
            <a:avLst/>
          </a:prstGeom>
        </p:spPr>
        <p:txBody>
          <a:bodyPr vert="horz" wrap="square" lIns="0" tIns="16933" rIns="0" bIns="0" rtlCol="0">
            <a:spAutoFit/>
          </a:bodyPr>
          <a:lstStyle/>
          <a:p>
            <a:pPr marL="957580" marR="40640" indent="-907415">
              <a:lnSpc>
                <a:spcPct val="125000"/>
              </a:lnSpc>
              <a:spcBef>
                <a:spcPts val="135"/>
              </a:spcBef>
            </a:pPr>
            <a:r>
              <a:rPr sz="2800" b="1" spc="-13" dirty="0">
                <a:latin typeface="宋体" panose="02010600030101010101" pitchFamily="2" charset="-122"/>
                <a:cs typeface="宋体" panose="02010600030101010101" pitchFamily="2" charset="-122"/>
              </a:rPr>
              <a:t>设</a:t>
            </a:r>
            <a:r>
              <a:rPr sz="2800" b="1" spc="-860" dirty="0">
                <a:latin typeface="宋体" panose="02010600030101010101" pitchFamily="2" charset="-122"/>
                <a:cs typeface="宋体" panose="02010600030101010101" pitchFamily="2" charset="-122"/>
              </a:rPr>
              <a:t> </a:t>
            </a:r>
            <a:r>
              <a:rPr sz="2800" b="1" i="1" spc="-13" dirty="0">
                <a:latin typeface="Times New Roman" panose="02020603050405020304"/>
                <a:cs typeface="Times New Roman" panose="02020603050405020304"/>
              </a:rPr>
              <a:t>n</a:t>
            </a:r>
            <a:r>
              <a:rPr sz="2800" b="1" spc="-13" dirty="0">
                <a:latin typeface="宋体" panose="02010600030101010101" pitchFamily="2" charset="-122"/>
                <a:cs typeface="宋体" panose="02010600030101010101" pitchFamily="2" charset="-122"/>
              </a:rPr>
              <a:t>个</a:t>
            </a:r>
            <a:r>
              <a:rPr sz="2800" b="1" spc="-7" dirty="0">
                <a:latin typeface="宋体" panose="02010600030101010101" pitchFamily="2" charset="-122"/>
                <a:cs typeface="宋体" panose="02010600030101010101" pitchFamily="2" charset="-122"/>
              </a:rPr>
              <a:t>盘子的移</a:t>
            </a:r>
            <a:r>
              <a:rPr sz="2800" b="1" spc="7" dirty="0">
                <a:latin typeface="宋体" panose="02010600030101010101" pitchFamily="2" charset="-122"/>
                <a:cs typeface="宋体" panose="02010600030101010101" pitchFamily="2" charset="-122"/>
              </a:rPr>
              <a:t>动</a:t>
            </a:r>
            <a:r>
              <a:rPr sz="2800" b="1" spc="-7" dirty="0">
                <a:latin typeface="宋体" panose="02010600030101010101" pitchFamily="2" charset="-122"/>
                <a:cs typeface="宋体" panose="02010600030101010101" pitchFamily="2" charset="-122"/>
              </a:rPr>
              <a:t>次数</a:t>
            </a:r>
            <a:r>
              <a:rPr sz="2800" b="1" spc="-13" dirty="0">
                <a:latin typeface="宋体" panose="02010600030101010101" pitchFamily="2" charset="-122"/>
                <a:cs typeface="宋体" panose="02010600030101010101" pitchFamily="2" charset="-122"/>
              </a:rPr>
              <a:t>为</a:t>
            </a:r>
            <a:r>
              <a:rPr sz="2800" b="1" spc="-813" dirty="0">
                <a:latin typeface="宋体" panose="02010600030101010101" pitchFamily="2" charset="-122"/>
                <a:cs typeface="宋体" panose="02010600030101010101" pitchFamily="2" charset="-122"/>
              </a:rPr>
              <a:t> </a:t>
            </a:r>
            <a:r>
              <a:rPr sz="2800" b="1" i="1" spc="-7" dirty="0">
                <a:latin typeface="Times New Roman" panose="02020603050405020304"/>
                <a:cs typeface="Times New Roman" panose="02020603050405020304"/>
              </a:rPr>
              <a:t>T</a:t>
            </a:r>
            <a:r>
              <a:rPr sz="2800" b="1" spc="-7" dirty="0">
                <a:latin typeface="Times New Roman" panose="02020603050405020304"/>
                <a:cs typeface="Times New Roman" panose="02020603050405020304"/>
              </a:rPr>
              <a:t>(</a:t>
            </a:r>
            <a:r>
              <a:rPr sz="2800" b="1" i="1" spc="-7" dirty="0">
                <a:latin typeface="Times New Roman" panose="02020603050405020304"/>
                <a:cs typeface="Times New Roman" panose="02020603050405020304"/>
              </a:rPr>
              <a:t>n</a:t>
            </a:r>
            <a:r>
              <a:rPr sz="2800" b="1" spc="-7" dirty="0">
                <a:latin typeface="Times New Roman" panose="02020603050405020304"/>
                <a:cs typeface="Times New Roman" panose="02020603050405020304"/>
              </a:rPr>
              <a:t>)  </a:t>
            </a:r>
            <a:endParaRPr lang="en-US" sz="2800" b="1" spc="-7" dirty="0">
              <a:latin typeface="Times New Roman" panose="02020603050405020304"/>
              <a:cs typeface="Times New Roman" panose="02020603050405020304"/>
            </a:endParaRPr>
          </a:p>
          <a:p>
            <a:pPr marL="957580" marR="40640" indent="-907415" algn="ctr">
              <a:lnSpc>
                <a:spcPct val="125000"/>
              </a:lnSpc>
              <a:spcBef>
                <a:spcPts val="135"/>
              </a:spcBef>
            </a:pPr>
            <a:r>
              <a:rPr sz="2800" b="1" i="1" spc="-7" dirty="0">
                <a:latin typeface="Times New Roman" panose="02020603050405020304"/>
                <a:cs typeface="Times New Roman" panose="02020603050405020304"/>
              </a:rPr>
              <a:t>T</a:t>
            </a:r>
            <a:r>
              <a:rPr sz="2800" b="1" spc="-7" dirty="0">
                <a:latin typeface="Times New Roman" panose="02020603050405020304"/>
                <a:cs typeface="Times New Roman" panose="02020603050405020304"/>
              </a:rPr>
              <a:t>(</a:t>
            </a:r>
            <a:r>
              <a:rPr sz="2800" b="1" i="1" spc="-7" dirty="0">
                <a:latin typeface="Times New Roman" panose="02020603050405020304"/>
                <a:cs typeface="Times New Roman" panose="02020603050405020304"/>
              </a:rPr>
              <a:t>n</a:t>
            </a:r>
            <a:r>
              <a:rPr sz="2800" b="1" spc="-7"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 2</a:t>
            </a:r>
            <a:r>
              <a:rPr sz="2800" b="1" i="1" spc="-7" dirty="0">
                <a:latin typeface="Times New Roman" panose="02020603050405020304"/>
                <a:cs typeface="Times New Roman" panose="02020603050405020304"/>
              </a:rPr>
              <a:t>T</a:t>
            </a:r>
            <a:r>
              <a:rPr sz="2800" b="1" spc="-7" dirty="0">
                <a:latin typeface="Times New Roman" panose="02020603050405020304"/>
                <a:cs typeface="Times New Roman" panose="02020603050405020304"/>
              </a:rPr>
              <a:t>(</a:t>
            </a:r>
            <a:r>
              <a:rPr sz="2800" b="1" i="1" spc="-7" dirty="0">
                <a:latin typeface="Times New Roman" panose="02020603050405020304"/>
                <a:cs typeface="Times New Roman" panose="02020603050405020304"/>
              </a:rPr>
              <a:t>n</a:t>
            </a:r>
            <a:r>
              <a:rPr sz="2800" b="1" spc="-7" dirty="0">
                <a:latin typeface="Symbol" panose="05050102010706020507"/>
                <a:cs typeface="Symbol" panose="05050102010706020507"/>
              </a:rPr>
              <a:t></a:t>
            </a:r>
            <a:r>
              <a:rPr sz="2800" b="1" spc="-7" dirty="0">
                <a:latin typeface="Times New Roman" panose="02020603050405020304"/>
                <a:cs typeface="Times New Roman" panose="02020603050405020304"/>
              </a:rPr>
              <a:t>1) </a:t>
            </a:r>
            <a:r>
              <a:rPr sz="2800" b="1" dirty="0">
                <a:latin typeface="Times New Roman" panose="02020603050405020304"/>
                <a:cs typeface="Times New Roman" panose="02020603050405020304"/>
              </a:rPr>
              <a:t>+</a:t>
            </a:r>
            <a:r>
              <a:rPr sz="2800" b="1" spc="-47" dirty="0">
                <a:latin typeface="Times New Roman" panose="02020603050405020304"/>
                <a:cs typeface="Times New Roman" panose="02020603050405020304"/>
              </a:rPr>
              <a:t> </a:t>
            </a:r>
            <a:r>
              <a:rPr sz="2800" b="1" spc="-13" dirty="0">
                <a:latin typeface="Times New Roman" panose="02020603050405020304"/>
                <a:cs typeface="Times New Roman" panose="02020603050405020304"/>
              </a:rPr>
              <a:t>1</a:t>
            </a:r>
            <a:r>
              <a:rPr sz="2800" b="1" spc="-13" dirty="0">
                <a:latin typeface="宋体" panose="02010600030101010101" pitchFamily="2" charset="-122"/>
                <a:cs typeface="宋体" panose="02010600030101010101" pitchFamily="2" charset="-122"/>
              </a:rPr>
              <a:t>，</a:t>
            </a:r>
            <a:endParaRPr lang="en-US" sz="2800" dirty="0">
              <a:latin typeface="宋体" panose="02010600030101010101" pitchFamily="2" charset="-122"/>
              <a:cs typeface="宋体" panose="02010600030101010101" pitchFamily="2" charset="-122"/>
            </a:endParaRPr>
          </a:p>
          <a:p>
            <a:pPr marL="957580" marR="40640" indent="-907415">
              <a:lnSpc>
                <a:spcPct val="125000"/>
              </a:lnSpc>
              <a:spcBef>
                <a:spcPts val="135"/>
              </a:spcBef>
            </a:pPr>
            <a:r>
              <a:rPr lang="en-US" sz="2800" b="1" i="1" spc="-7" dirty="0">
                <a:latin typeface="Times New Roman" panose="02020603050405020304"/>
                <a:cs typeface="Times New Roman" panose="02020603050405020304"/>
              </a:rPr>
              <a:t>                               </a:t>
            </a:r>
            <a:r>
              <a:rPr sz="2800" b="1" i="1" spc="-7" dirty="0">
                <a:latin typeface="Times New Roman" panose="02020603050405020304"/>
                <a:cs typeface="Times New Roman" panose="02020603050405020304"/>
              </a:rPr>
              <a:t>T</a:t>
            </a:r>
            <a:r>
              <a:rPr sz="2800" b="1" spc="-7" dirty="0">
                <a:latin typeface="Times New Roman" panose="02020603050405020304"/>
                <a:cs typeface="Times New Roman" panose="02020603050405020304"/>
              </a:rPr>
              <a:t>(1) </a:t>
            </a:r>
            <a:r>
              <a:rPr sz="2800" b="1" dirty="0">
                <a:latin typeface="Times New Roman" panose="02020603050405020304"/>
                <a:cs typeface="Times New Roman" panose="02020603050405020304"/>
              </a:rPr>
              <a:t>=</a:t>
            </a:r>
            <a:r>
              <a:rPr sz="2800" b="1" spc="-100" dirty="0">
                <a:latin typeface="Times New Roman" panose="02020603050405020304"/>
                <a:cs typeface="Times New Roman" panose="02020603050405020304"/>
              </a:rPr>
              <a:t> </a:t>
            </a:r>
            <a:r>
              <a:rPr sz="2800" b="1" spc="-13" dirty="0">
                <a:latin typeface="Times New Roman" panose="02020603050405020304"/>
                <a:cs typeface="Times New Roman" panose="02020603050405020304"/>
              </a:rPr>
              <a:t>1</a:t>
            </a:r>
            <a:r>
              <a:rPr lang="en-US" sz="2800" b="1" spc="-13" dirty="0">
                <a:latin typeface="宋体" panose="02010600030101010101" pitchFamily="2" charset="-122"/>
                <a:cs typeface="Times New Roman" panose="02020603050405020304"/>
              </a:rPr>
              <a:t>,</a:t>
            </a:r>
            <a:endParaRPr lang="en-US" sz="2800" b="1" spc="-13" dirty="0">
              <a:latin typeface="宋体" panose="02010600030101010101" pitchFamily="2" charset="-122"/>
              <a:cs typeface="Times New Roman" panose="02020603050405020304"/>
            </a:endParaRPr>
          </a:p>
          <a:p>
            <a:pPr marL="957580" marR="40640" indent="-907415">
              <a:lnSpc>
                <a:spcPct val="125000"/>
              </a:lnSpc>
              <a:spcBef>
                <a:spcPts val="135"/>
              </a:spcBef>
            </a:pPr>
            <a:r>
              <a:rPr lang="en-US" sz="2800" b="1" i="1" spc="-13" dirty="0">
                <a:latin typeface="宋体" panose="02010600030101010101" pitchFamily="2" charset="-122"/>
                <a:cs typeface="Times New Roman" panose="02020603050405020304"/>
              </a:rPr>
              <a:t>               </a:t>
            </a:r>
            <a:r>
              <a:rPr sz="2800" b="1" i="1" spc="-7" dirty="0">
                <a:latin typeface="Times New Roman" panose="02020603050405020304"/>
                <a:cs typeface="Times New Roman" panose="02020603050405020304"/>
              </a:rPr>
              <a:t>T</a:t>
            </a:r>
            <a:r>
              <a:rPr sz="2800" b="1" spc="-7" dirty="0">
                <a:latin typeface="Times New Roman" panose="02020603050405020304"/>
                <a:cs typeface="Times New Roman" panose="02020603050405020304"/>
              </a:rPr>
              <a:t>(</a:t>
            </a:r>
            <a:r>
              <a:rPr sz="2800" b="1" i="1" spc="-7" dirty="0">
                <a:latin typeface="Times New Roman" panose="02020603050405020304"/>
                <a:cs typeface="Times New Roman" panose="02020603050405020304"/>
              </a:rPr>
              <a:t>n</a:t>
            </a:r>
            <a:r>
              <a:rPr sz="2800" b="1" spc="-7" dirty="0">
                <a:latin typeface="Times New Roman" panose="02020603050405020304"/>
                <a:cs typeface="Times New Roman" panose="02020603050405020304"/>
              </a:rPr>
              <a:t>)</a:t>
            </a:r>
            <a:r>
              <a:rPr lang="en-US" sz="2800" b="1" spc="-7" dirty="0">
                <a:latin typeface="Times New Roman" panose="02020603050405020304"/>
                <a:cs typeface="Times New Roman" panose="02020603050405020304"/>
              </a:rPr>
              <a:t> </a:t>
            </a:r>
            <a:r>
              <a:rPr sz="2800" b="1" spc="-7" dirty="0">
                <a:latin typeface="Times New Roman" panose="02020603050405020304"/>
                <a:cs typeface="Times New Roman" panose="02020603050405020304"/>
              </a:rPr>
              <a:t>=</a:t>
            </a:r>
            <a:r>
              <a:rPr lang="en-US" sz="2800" b="1" spc="-7" dirty="0">
                <a:latin typeface="Times New Roman" panose="02020603050405020304"/>
                <a:cs typeface="Times New Roman" panose="02020603050405020304"/>
              </a:rPr>
              <a:t> </a:t>
            </a:r>
            <a:r>
              <a:rPr sz="2800" b="1" spc="-7" dirty="0">
                <a:latin typeface="Times New Roman" panose="02020603050405020304"/>
                <a:cs typeface="Times New Roman" panose="02020603050405020304"/>
              </a:rPr>
              <a:t>2</a:t>
            </a:r>
            <a:r>
              <a:rPr sz="2800" b="1" i="1" spc="-9" baseline="24000" dirty="0">
                <a:latin typeface="Times New Roman" panose="02020603050405020304"/>
                <a:cs typeface="Times New Roman" panose="02020603050405020304"/>
              </a:rPr>
              <a:t>n</a:t>
            </a:r>
            <a:r>
              <a:rPr sz="2800" b="1" spc="-7" dirty="0">
                <a:latin typeface="Symbol" panose="05050102010706020507"/>
                <a:cs typeface="Symbol" panose="05050102010706020507"/>
              </a:rPr>
              <a:t></a:t>
            </a:r>
            <a:r>
              <a:rPr sz="2800" b="1" spc="-7" dirty="0">
                <a:latin typeface="Times New Roman" panose="02020603050405020304"/>
                <a:cs typeface="Times New Roman" panose="02020603050405020304"/>
              </a:rPr>
              <a:t>1</a:t>
            </a:r>
            <a:endParaRPr sz="2800" dirty="0">
              <a:latin typeface="Times New Roman" panose="02020603050405020304"/>
              <a:cs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1774" y="54213"/>
            <a:ext cx="9122979" cy="694207"/>
          </a:xfrm>
          <a:prstGeom prst="rect">
            <a:avLst/>
          </a:prstGeom>
        </p:spPr>
        <p:txBody>
          <a:bodyPr vert="horz" wrap="square" lIns="0" tIns="16933" rIns="0" bIns="0" rtlCol="0" anchor="ctr">
            <a:spAutoFit/>
          </a:bodyPr>
          <a:lstStyle/>
          <a:p>
            <a:pPr marL="17145" algn="ctr">
              <a:lnSpc>
                <a:spcPct val="100000"/>
              </a:lnSpc>
              <a:spcBef>
                <a:spcPts val="135"/>
              </a:spcBef>
            </a:pPr>
            <a:r>
              <a:rPr sz="4400" b="1" spc="-13" dirty="0">
                <a:solidFill>
                  <a:srgbClr val="C00000"/>
                </a:solidFill>
                <a:latin typeface="黑体" panose="02010609060101010101" pitchFamily="49" charset="-122"/>
                <a:ea typeface="黑体" panose="02010609060101010101" pitchFamily="49" charset="-122"/>
              </a:rPr>
              <a:t>算法设计思想</a:t>
            </a:r>
            <a:endParaRPr sz="4400" b="1" spc="-13" dirty="0">
              <a:solidFill>
                <a:srgbClr val="C00000"/>
              </a:solidFill>
              <a:latin typeface="黑体" panose="02010609060101010101" pitchFamily="49" charset="-122"/>
              <a:ea typeface="黑体" panose="02010609060101010101" pitchFamily="49" charset="-122"/>
            </a:endParaRPr>
          </a:p>
        </p:txBody>
      </p:sp>
      <p:sp>
        <p:nvSpPr>
          <p:cNvPr id="2" name="矩形 1"/>
          <p:cNvSpPr/>
          <p:nvPr/>
        </p:nvSpPr>
        <p:spPr>
          <a:xfrm>
            <a:off x="584200" y="1154837"/>
            <a:ext cx="8013700" cy="3508653"/>
          </a:xfrm>
          <a:prstGeom prst="rect">
            <a:avLst/>
          </a:prstGeom>
        </p:spPr>
        <p:txBody>
          <a:bodyPr wrap="square">
            <a:spAutoFit/>
          </a:bodyPr>
          <a:lstStyle/>
          <a:p>
            <a:pPr marL="457200" indent="-457200" algn="just">
              <a:spcBef>
                <a:spcPts val="1800"/>
              </a:spcBef>
              <a:buFont typeface="Arial" panose="020B0604020202020204" pitchFamily="34" charset="0"/>
              <a:buChar char="•"/>
            </a:pPr>
            <a:r>
              <a:rPr lang="zh-CN" altLang="en-US" sz="3200" b="1" dirty="0"/>
              <a:t>将原问题归结为规模为  </a:t>
            </a:r>
            <a:r>
              <a:rPr lang="en-US" altLang="zh-CN" sz="3200" b="1" dirty="0"/>
              <a:t>n-1 </a:t>
            </a:r>
            <a:r>
              <a:rPr lang="zh-CN" altLang="en-US" sz="3200" b="1" dirty="0"/>
              <a:t>的</a:t>
            </a:r>
            <a:r>
              <a:rPr lang="en-US" altLang="zh-CN" sz="3200" b="1" dirty="0"/>
              <a:t>2</a:t>
            </a:r>
            <a:r>
              <a:rPr lang="zh-CN" altLang="en-US" sz="3200" b="1" dirty="0"/>
              <a:t>个子问题</a:t>
            </a:r>
            <a:r>
              <a:rPr lang="en-US" altLang="zh-CN" sz="3200" b="1" dirty="0"/>
              <a:t>.</a:t>
            </a:r>
            <a:endParaRPr lang="en-US" altLang="zh-CN" sz="3200" b="1" dirty="0"/>
          </a:p>
          <a:p>
            <a:pPr marL="457200" indent="-457200" algn="just">
              <a:spcBef>
                <a:spcPts val="1800"/>
              </a:spcBef>
              <a:buFont typeface="Arial" panose="020B0604020202020204" pitchFamily="34" charset="0"/>
              <a:buChar char="•"/>
            </a:pPr>
            <a:r>
              <a:rPr lang="zh-CN" altLang="en-US" sz="3200" b="1" dirty="0"/>
              <a:t>继续归约，将原问题归结为规模为 </a:t>
            </a:r>
            <a:r>
              <a:rPr lang="en-US" altLang="zh-CN" sz="3200" b="1" dirty="0"/>
              <a:t>n-2 </a:t>
            </a:r>
            <a:r>
              <a:rPr lang="zh-CN" altLang="en-US" sz="3200" b="1" dirty="0"/>
              <a:t>的 </a:t>
            </a:r>
            <a:r>
              <a:rPr lang="en-US" altLang="zh-CN" sz="3200" b="1" dirty="0"/>
              <a:t>4 </a:t>
            </a:r>
            <a:r>
              <a:rPr lang="zh-CN" altLang="en-US" sz="3200" b="1" dirty="0"/>
              <a:t>个子问题</a:t>
            </a:r>
            <a:r>
              <a:rPr lang="en-US" altLang="zh-CN" sz="3200" b="1" dirty="0"/>
              <a:t>. </a:t>
            </a:r>
            <a:r>
              <a:rPr lang="zh-CN" altLang="en-US" sz="3200" b="1" dirty="0"/>
              <a:t>继续</a:t>
            </a:r>
            <a:r>
              <a:rPr lang="en-US" altLang="zh-CN" sz="3200" b="1" dirty="0"/>
              <a:t>...</a:t>
            </a:r>
            <a:r>
              <a:rPr lang="zh-CN" altLang="en-US" sz="3200" b="1" dirty="0"/>
              <a:t>，当子问题规模为 </a:t>
            </a:r>
            <a:r>
              <a:rPr lang="en-US" altLang="zh-CN" sz="3200" b="1" dirty="0"/>
              <a:t>1 </a:t>
            </a:r>
            <a:r>
              <a:rPr lang="zh-CN" altLang="en-US" sz="3200" b="1" dirty="0"/>
              <a:t>时，归约过程截止</a:t>
            </a:r>
            <a:r>
              <a:rPr lang="en-US" altLang="zh-CN" sz="3200" b="1" dirty="0"/>
              <a:t>.</a:t>
            </a:r>
            <a:endParaRPr lang="en-US" altLang="zh-CN" sz="3200" b="1" dirty="0"/>
          </a:p>
          <a:p>
            <a:pPr marL="457200" indent="-457200" algn="just">
              <a:spcBef>
                <a:spcPts val="1800"/>
              </a:spcBef>
              <a:buFont typeface="Arial" panose="020B0604020202020204" pitchFamily="34" charset="0"/>
              <a:buChar char="•"/>
            </a:pPr>
            <a:r>
              <a:rPr lang="zh-CN" altLang="en-US" sz="3200" b="1" dirty="0"/>
              <a:t>从规模 </a:t>
            </a:r>
            <a:r>
              <a:rPr lang="en-US" altLang="zh-CN" sz="3200" b="1" dirty="0"/>
              <a:t>1 </a:t>
            </a:r>
            <a:r>
              <a:rPr lang="zh-CN" altLang="en-US" sz="3200" b="1" dirty="0"/>
              <a:t>到 </a:t>
            </a:r>
            <a:r>
              <a:rPr lang="en-US" altLang="zh-CN" sz="3200" b="1" dirty="0"/>
              <a:t>n-1</a:t>
            </a:r>
            <a:r>
              <a:rPr lang="zh-CN" altLang="en-US" sz="3200" b="1" dirty="0"/>
              <a:t>，陆续组合两个子问题的解</a:t>
            </a:r>
            <a:r>
              <a:rPr lang="en-US" altLang="zh-CN" sz="3200" b="1" dirty="0"/>
              <a:t>. </a:t>
            </a:r>
            <a:r>
              <a:rPr lang="zh-CN" altLang="en-US" sz="3200" b="1" dirty="0"/>
              <a:t>直到规模为 </a:t>
            </a:r>
            <a:r>
              <a:rPr lang="en-US" altLang="zh-CN" sz="3200" b="1" dirty="0"/>
              <a:t>n.</a:t>
            </a:r>
            <a:endParaRPr lang="en-US" altLang="zh-CN" sz="32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1500" y="1148462"/>
            <a:ext cx="8089900" cy="4140450"/>
          </a:xfrm>
          <a:prstGeom prst="rect">
            <a:avLst/>
          </a:prstGeom>
        </p:spPr>
        <p:txBody>
          <a:bodyPr vert="horz" wrap="square" lIns="0" tIns="165947" rIns="0" bIns="0" rtlCol="0">
            <a:spAutoFit/>
          </a:bodyPr>
          <a:lstStyle/>
          <a:p>
            <a:pPr marL="17145">
              <a:spcBef>
                <a:spcPts val="1200"/>
              </a:spcBef>
            </a:pPr>
            <a:r>
              <a:rPr sz="3200" b="1" spc="-13" dirty="0" err="1">
                <a:latin typeface="Times New Roman" panose="02020603050405020304" pitchFamily="18" charset="0"/>
                <a:ea typeface="黑体" panose="02010609060101010101" pitchFamily="49" charset="-122"/>
                <a:cs typeface="Times New Roman" panose="02020603050405020304" pitchFamily="18" charset="0"/>
              </a:rPr>
              <a:t>通</a:t>
            </a:r>
            <a:r>
              <a:rPr sz="3200" b="1" spc="-7" dirty="0" err="1">
                <a:latin typeface="Times New Roman" panose="02020603050405020304" pitchFamily="18" charset="0"/>
                <a:ea typeface="黑体" panose="02010609060101010101" pitchFamily="49" charset="-122"/>
                <a:cs typeface="Times New Roman" panose="02020603050405020304" pitchFamily="18" charset="0"/>
              </a:rPr>
              <a:t>过</a:t>
            </a:r>
            <a:r>
              <a:rPr sz="3200" b="1" spc="-13" dirty="0" err="1">
                <a:latin typeface="Times New Roman" panose="02020603050405020304" pitchFamily="18" charset="0"/>
                <a:ea typeface="黑体" panose="02010609060101010101" pitchFamily="49" charset="-122"/>
                <a:cs typeface="Times New Roman" panose="02020603050405020304" pitchFamily="18" charset="0"/>
              </a:rPr>
              <a:t>几</a:t>
            </a:r>
            <a:r>
              <a:rPr sz="3200" b="1" spc="-7" dirty="0" err="1">
                <a:latin typeface="Times New Roman" panose="02020603050405020304" pitchFamily="18" charset="0"/>
                <a:ea typeface="黑体" panose="02010609060101010101" pitchFamily="49" charset="-122"/>
                <a:cs typeface="Times New Roman" panose="02020603050405020304" pitchFamily="18" charset="0"/>
              </a:rPr>
              <a:t>个</a:t>
            </a:r>
            <a:r>
              <a:rPr sz="3200" b="1" spc="-13" dirty="0" err="1">
                <a:latin typeface="Times New Roman" panose="02020603050405020304" pitchFamily="18" charset="0"/>
                <a:ea typeface="黑体" panose="02010609060101010101" pitchFamily="49" charset="-122"/>
                <a:cs typeface="Times New Roman" panose="02020603050405020304" pitchFamily="18" charset="0"/>
              </a:rPr>
              <a:t>例</a:t>
            </a:r>
            <a:r>
              <a:rPr sz="3200" b="1" spc="-7" dirty="0" err="1">
                <a:latin typeface="Times New Roman" panose="02020603050405020304" pitchFamily="18" charset="0"/>
                <a:ea typeface="黑体" panose="02010609060101010101" pitchFamily="49" charset="-122"/>
                <a:cs typeface="Times New Roman" panose="02020603050405020304" pitchFamily="18" charset="0"/>
              </a:rPr>
              <a:t>子展示分</a:t>
            </a:r>
            <a:r>
              <a:rPr sz="3200" b="1" spc="-13" dirty="0" err="1">
                <a:latin typeface="Times New Roman" panose="02020603050405020304" pitchFamily="18" charset="0"/>
                <a:ea typeface="黑体" panose="02010609060101010101" pitchFamily="49" charset="-122"/>
                <a:cs typeface="Times New Roman" panose="02020603050405020304" pitchFamily="18" charset="0"/>
              </a:rPr>
              <a:t>治</a:t>
            </a:r>
            <a:r>
              <a:rPr sz="3200" b="1" dirty="0" err="1">
                <a:latin typeface="Times New Roman" panose="02020603050405020304" pitchFamily="18" charset="0"/>
                <a:ea typeface="黑体" panose="02010609060101010101" pitchFamily="49" charset="-122"/>
                <a:cs typeface="Times New Roman" panose="02020603050405020304" pitchFamily="18" charset="0"/>
              </a:rPr>
              <a:t>算</a:t>
            </a:r>
            <a:r>
              <a:rPr sz="3200" b="1" spc="-7" dirty="0" err="1">
                <a:latin typeface="Times New Roman" panose="02020603050405020304" pitchFamily="18" charset="0"/>
                <a:ea typeface="黑体" panose="02010609060101010101" pitchFamily="49" charset="-122"/>
                <a:cs typeface="Times New Roman" panose="02020603050405020304" pitchFamily="18" charset="0"/>
              </a:rPr>
              <a:t>法的</a:t>
            </a:r>
            <a:r>
              <a:rPr sz="3200" b="1" spc="-13" dirty="0" err="1">
                <a:latin typeface="Times New Roman" panose="02020603050405020304" pitchFamily="18" charset="0"/>
                <a:ea typeface="黑体" panose="02010609060101010101" pitchFamily="49" charset="-122"/>
                <a:cs typeface="Times New Roman" panose="02020603050405020304" pitchFamily="18" charset="0"/>
              </a:rPr>
              <a:t>特</a:t>
            </a:r>
            <a:r>
              <a:rPr sz="3200" b="1" dirty="0" err="1">
                <a:latin typeface="Times New Roman" panose="02020603050405020304" pitchFamily="18" charset="0"/>
                <a:ea typeface="黑体" panose="02010609060101010101" pitchFamily="49" charset="-122"/>
                <a:cs typeface="Times New Roman" panose="02020603050405020304" pitchFamily="18" charset="0"/>
              </a:rPr>
              <a:t>点</a:t>
            </a:r>
            <a:r>
              <a:rPr sz="3200" b="1" spc="-13" dirty="0">
                <a:latin typeface="Times New Roman" panose="02020603050405020304" pitchFamily="18" charset="0"/>
                <a:ea typeface="黑体" panose="02010609060101010101" pitchFamily="49" charset="-122"/>
                <a:cs typeface="Times New Roman" panose="02020603050405020304" pitchFamily="18" charset="0"/>
              </a:rPr>
              <a:t>：</a:t>
            </a:r>
            <a:endParaRPr lang="en-US" sz="3200" b="1" spc="-13" dirty="0">
              <a:latin typeface="Times New Roman" panose="02020603050405020304" pitchFamily="18" charset="0"/>
              <a:ea typeface="黑体" panose="02010609060101010101" pitchFamily="49" charset="-122"/>
              <a:cs typeface="Times New Roman" panose="02020603050405020304" pitchFamily="18" charset="0"/>
            </a:endParaRPr>
          </a:p>
          <a:p>
            <a:pPr marL="835025" indent="-457200" algn="just">
              <a:spcBef>
                <a:spcPts val="1200"/>
              </a:spcBef>
              <a:buFont typeface="Wingdings" panose="05000000000000000000" pitchFamily="2" charset="2"/>
              <a:buChar char="Ø"/>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将原问题归约为规模小的子问题，子问题与原问题具有相同的性质</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a:p>
            <a:pPr marL="835025" indent="-457200" algn="just">
              <a:spcBef>
                <a:spcPts val="1200"/>
              </a:spcBef>
              <a:buFont typeface="Wingdings" panose="05000000000000000000" pitchFamily="2" charset="2"/>
              <a:buChar char="Ø"/>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子问题规模足够小时可直接求解</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a:p>
            <a:pPr marL="835025" indent="-457200" algn="just">
              <a:spcBef>
                <a:spcPts val="1200"/>
              </a:spcBef>
              <a:buFont typeface="Wingdings" panose="05000000000000000000" pitchFamily="2" charset="2"/>
              <a:buChar char="Ø"/>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算法可以递归也可以迭代实现</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a:p>
            <a:pPr marL="835025" indent="-457200" algn="just">
              <a:spcBef>
                <a:spcPts val="1200"/>
              </a:spcBef>
              <a:buFont typeface="Wingdings" panose="05000000000000000000" pitchFamily="2" charset="2"/>
              <a:buChar char="Ø"/>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算法的分析方法：求解递推方程</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a:p>
            <a:pPr marL="17145">
              <a:spcBef>
                <a:spcPts val="1305"/>
              </a:spcBef>
            </a:pPr>
            <a:endParaRPr sz="3200" b="1" dirty="0">
              <a:latin typeface="黑体" panose="02010609060101010101" pitchFamily="49" charset="-122"/>
              <a:ea typeface="黑体" panose="02010609060101010101" pitchFamily="49" charset="-122"/>
              <a:cs typeface="宋体" panose="02010600030101010101" pitchFamily="2" charset="-122"/>
            </a:endParaRPr>
          </a:p>
        </p:txBody>
      </p:sp>
      <p:sp>
        <p:nvSpPr>
          <p:cNvPr id="3" name="object 3"/>
          <p:cNvSpPr txBox="1">
            <a:spLocks noGrp="1"/>
          </p:cNvSpPr>
          <p:nvPr>
            <p:ph type="title"/>
          </p:nvPr>
        </p:nvSpPr>
        <p:spPr>
          <a:xfrm>
            <a:off x="94271" y="-10510"/>
            <a:ext cx="8944305" cy="656954"/>
          </a:xfrm>
          <a:prstGeom prst="rect">
            <a:avLst/>
          </a:prstGeom>
        </p:spPr>
        <p:txBody>
          <a:bodyPr vert="horz" wrap="square" lIns="0" tIns="16933" rIns="0" bIns="0" rtlCol="0" anchor="ctr">
            <a:spAutoFit/>
          </a:bodyPr>
          <a:lstStyle/>
          <a:p>
            <a:pPr marL="17145" algn="ctr">
              <a:lnSpc>
                <a:spcPct val="100000"/>
              </a:lnSpc>
              <a:spcBef>
                <a:spcPts val="135"/>
              </a:spcBef>
            </a:pPr>
            <a:r>
              <a:rPr sz="4000" b="1" spc="-13" dirty="0">
                <a:solidFill>
                  <a:srgbClr val="C00000"/>
                </a:solidFill>
                <a:latin typeface="黑体" panose="02010609060101010101" pitchFamily="49" charset="-122"/>
                <a:ea typeface="黑体" panose="02010609060101010101" pitchFamily="49" charset="-122"/>
              </a:rPr>
              <a:t>小结</a:t>
            </a:r>
            <a:endParaRPr sz="4000" b="1" spc="-13" dirty="0">
              <a:solidFill>
                <a:srgbClr val="C0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483476" y="2143125"/>
            <a:ext cx="8282152" cy="2049463"/>
          </a:xfrm>
          <a:prstGeom prst="rect">
            <a:avLst/>
          </a:prstGeom>
        </p:spPr>
        <p:txBody>
          <a:bodyPr vert="horz" wrap="square" lIns="0" tIns="16933" rIns="0" bIns="0" rtlCol="0" anchor="ctr">
            <a:spAutoFit/>
          </a:bodyPr>
          <a:lstStyle/>
          <a:p>
            <a:pPr marL="17145" marR="6985" algn="ctr">
              <a:lnSpc>
                <a:spcPct val="100000"/>
              </a:lnSpc>
              <a:spcBef>
                <a:spcPts val="135"/>
              </a:spcBef>
            </a:pPr>
            <a:r>
              <a:rPr sz="6600" b="1" spc="-33" dirty="0" err="1">
                <a:solidFill>
                  <a:srgbClr val="C00000"/>
                </a:solidFill>
                <a:latin typeface="黑体" panose="02010609060101010101" pitchFamily="49" charset="-122"/>
                <a:ea typeface="黑体" panose="02010609060101010101" pitchFamily="49" charset="-122"/>
              </a:rPr>
              <a:t>分</a:t>
            </a:r>
            <a:r>
              <a:rPr sz="6600" b="1" spc="-7" dirty="0" err="1">
                <a:solidFill>
                  <a:srgbClr val="C00000"/>
                </a:solidFill>
                <a:latin typeface="黑体" panose="02010609060101010101" pitchFamily="49" charset="-122"/>
                <a:ea typeface="黑体" panose="02010609060101010101" pitchFamily="49" charset="-122"/>
              </a:rPr>
              <a:t>治</a:t>
            </a:r>
            <a:r>
              <a:rPr sz="6600" b="1" spc="-33" dirty="0" err="1">
                <a:solidFill>
                  <a:srgbClr val="C00000"/>
                </a:solidFill>
                <a:latin typeface="黑体" panose="02010609060101010101" pitchFamily="49" charset="-122"/>
                <a:ea typeface="黑体" panose="02010609060101010101" pitchFamily="49" charset="-122"/>
              </a:rPr>
              <a:t>算</a:t>
            </a:r>
            <a:r>
              <a:rPr sz="6600" b="1" spc="-7" dirty="0" err="1">
                <a:solidFill>
                  <a:srgbClr val="C00000"/>
                </a:solidFill>
                <a:latin typeface="黑体" panose="02010609060101010101" pitchFamily="49" charset="-122"/>
                <a:ea typeface="黑体" panose="02010609060101010101" pitchFamily="49" charset="-122"/>
              </a:rPr>
              <a:t>法的</a:t>
            </a:r>
            <a:r>
              <a:rPr sz="6600" b="1" spc="7" dirty="0" err="1">
                <a:solidFill>
                  <a:srgbClr val="C00000"/>
                </a:solidFill>
                <a:latin typeface="黑体" panose="02010609060101010101" pitchFamily="49" charset="-122"/>
                <a:ea typeface="黑体" panose="02010609060101010101" pitchFamily="49" charset="-122"/>
              </a:rPr>
              <a:t>一</a:t>
            </a:r>
            <a:r>
              <a:rPr sz="6600" b="1" spc="-27" dirty="0" err="1">
                <a:solidFill>
                  <a:srgbClr val="C00000"/>
                </a:solidFill>
                <a:latin typeface="黑体" panose="02010609060101010101" pitchFamily="49" charset="-122"/>
                <a:ea typeface="黑体" panose="02010609060101010101" pitchFamily="49" charset="-122"/>
              </a:rPr>
              <a:t>般描</a:t>
            </a:r>
            <a:r>
              <a:rPr sz="6600" b="1" spc="-7" dirty="0" err="1">
                <a:solidFill>
                  <a:srgbClr val="C00000"/>
                </a:solidFill>
                <a:latin typeface="黑体" panose="02010609060101010101" pitchFamily="49" charset="-122"/>
                <a:ea typeface="黑体" panose="02010609060101010101" pitchFamily="49" charset="-122"/>
              </a:rPr>
              <a:t>述</a:t>
            </a:r>
            <a:r>
              <a:rPr sz="6600" b="1" spc="-33" dirty="0" err="1">
                <a:solidFill>
                  <a:srgbClr val="C00000"/>
                </a:solidFill>
                <a:latin typeface="黑体" panose="02010609060101010101" pitchFamily="49" charset="-122"/>
                <a:ea typeface="黑体" panose="02010609060101010101" pitchFamily="49" charset="-122"/>
              </a:rPr>
              <a:t>和</a:t>
            </a:r>
            <a:r>
              <a:rPr sz="6600" b="1" spc="-7" dirty="0" err="1">
                <a:solidFill>
                  <a:srgbClr val="C00000"/>
                </a:solidFill>
                <a:latin typeface="黑体" panose="02010609060101010101" pitchFamily="49" charset="-122"/>
                <a:ea typeface="黑体" panose="02010609060101010101" pitchFamily="49" charset="-122"/>
              </a:rPr>
              <a:t>分析</a:t>
            </a:r>
            <a:r>
              <a:rPr sz="6600" b="1" spc="7" dirty="0" err="1">
                <a:solidFill>
                  <a:srgbClr val="C00000"/>
                </a:solidFill>
                <a:latin typeface="黑体" panose="02010609060101010101" pitchFamily="49" charset="-122"/>
                <a:ea typeface="黑体" panose="02010609060101010101" pitchFamily="49" charset="-122"/>
              </a:rPr>
              <a:t>方</a:t>
            </a:r>
            <a:r>
              <a:rPr sz="6600" b="1" spc="-33" dirty="0" err="1">
                <a:solidFill>
                  <a:srgbClr val="C00000"/>
                </a:solidFill>
                <a:latin typeface="黑体" panose="02010609060101010101" pitchFamily="49" charset="-122"/>
                <a:ea typeface="黑体" panose="02010609060101010101" pitchFamily="49" charset="-122"/>
              </a:rPr>
              <a:t>法</a:t>
            </a:r>
            <a:endParaRPr sz="6600" b="1" dirty="0">
              <a:solidFill>
                <a:srgbClr val="C00000"/>
              </a:solidFill>
              <a:latin typeface="黑体" panose="02010609060101010101" pitchFamily="49" charset="-122"/>
              <a:ea typeface="黑体"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9701" y="38952"/>
            <a:ext cx="8865820"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分治算法的一般性描述</a:t>
            </a:r>
            <a:endParaRPr sz="3600" b="1" spc="-13"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433830" y="1241615"/>
            <a:ext cx="6716497" cy="510396"/>
          </a:xfrm>
          <a:prstGeom prst="rect">
            <a:avLst/>
          </a:prstGeom>
        </p:spPr>
        <p:txBody>
          <a:bodyPr vert="horz" wrap="square" lIns="0" tIns="17780" rIns="0" bIns="0" rtlCol="0">
            <a:spAutoFit/>
          </a:bodyPr>
          <a:lstStyle/>
          <a:p>
            <a:pPr marL="17145">
              <a:spcBef>
                <a:spcPts val="140"/>
              </a:spcBef>
            </a:pPr>
            <a:r>
              <a:rPr sz="3200" b="1" dirty="0">
                <a:solidFill>
                  <a:srgbClr val="C00000"/>
                </a:solidFill>
                <a:latin typeface="黑体" panose="02010609060101010101" pitchFamily="49" charset="-122"/>
                <a:ea typeface="黑体" panose="02010609060101010101" pitchFamily="49" charset="-122"/>
                <a:cs typeface="宋体" panose="02010600030101010101" pitchFamily="2" charset="-122"/>
              </a:rPr>
              <a:t>分治算</a:t>
            </a:r>
            <a:r>
              <a:rPr sz="3200" b="1" spc="-13" dirty="0">
                <a:solidFill>
                  <a:srgbClr val="C00000"/>
                </a:solidFill>
                <a:latin typeface="黑体" panose="02010609060101010101" pitchFamily="49" charset="-122"/>
                <a:ea typeface="黑体" panose="02010609060101010101" pitchFamily="49" charset="-122"/>
                <a:cs typeface="宋体" panose="02010600030101010101" pitchFamily="2" charset="-122"/>
              </a:rPr>
              <a:t>法</a:t>
            </a:r>
            <a:r>
              <a:rPr sz="3200" b="1" spc="-93" dirty="0">
                <a:solidFill>
                  <a:srgbClr val="C00000"/>
                </a:solidFill>
                <a:latin typeface="黑体" panose="02010609060101010101" pitchFamily="49" charset="-122"/>
                <a:ea typeface="黑体" panose="02010609060101010101" pitchFamily="49" charset="-122"/>
                <a:cs typeface="宋体" panose="02010600030101010101" pitchFamily="2" charset="-122"/>
              </a:rPr>
              <a:t> </a:t>
            </a:r>
            <a:r>
              <a:rPr sz="3200" b="1" dirty="0">
                <a:latin typeface="Times New Roman" panose="02020603050405020304"/>
                <a:cs typeface="Times New Roman" panose="02020603050405020304"/>
              </a:rPr>
              <a:t>D</a:t>
            </a:r>
            <a:r>
              <a:rPr sz="3200" b="1" u="sng" dirty="0">
                <a:uFill>
                  <a:solidFill>
                    <a:srgbClr val="C00000"/>
                  </a:solidFill>
                </a:uFill>
                <a:latin typeface="Times New Roman" panose="02020603050405020304"/>
                <a:cs typeface="Times New Roman" panose="02020603050405020304"/>
              </a:rPr>
              <a:t>ivide-and-Conquer</a:t>
            </a:r>
            <a:r>
              <a:rPr sz="3200" b="1" dirty="0">
                <a:latin typeface="Times New Roman" panose="02020603050405020304"/>
                <a:cs typeface="Times New Roman" panose="02020603050405020304"/>
              </a:rPr>
              <a:t>(</a:t>
            </a:r>
            <a:r>
              <a:rPr sz="3200" b="1" i="1" dirty="0">
                <a:latin typeface="Times New Roman" panose="02020603050405020304"/>
                <a:cs typeface="Times New Roman" panose="02020603050405020304"/>
              </a:rPr>
              <a:t>P</a:t>
            </a:r>
            <a:r>
              <a:rPr sz="3200" b="1" dirty="0">
                <a:latin typeface="Times New Roman" panose="02020603050405020304"/>
                <a:cs typeface="Times New Roman" panose="02020603050405020304"/>
              </a:rPr>
              <a:t>)</a:t>
            </a:r>
            <a:endParaRPr sz="3200" dirty="0">
              <a:latin typeface="Times New Roman" panose="02020603050405020304"/>
              <a:cs typeface="Times New Roman" panose="02020603050405020304"/>
            </a:endParaRPr>
          </a:p>
        </p:txBody>
      </p:sp>
      <p:sp>
        <p:nvSpPr>
          <p:cNvPr id="4" name="object 4"/>
          <p:cNvSpPr txBox="1"/>
          <p:nvPr/>
        </p:nvSpPr>
        <p:spPr>
          <a:xfrm>
            <a:off x="622300" y="1858042"/>
            <a:ext cx="8650340" cy="2401512"/>
          </a:xfrm>
          <a:prstGeom prst="rect">
            <a:avLst/>
          </a:prstGeom>
        </p:spPr>
        <p:txBody>
          <a:bodyPr vert="horz" wrap="square" lIns="0" tIns="122767" rIns="0" bIns="0" rtlCol="0">
            <a:spAutoFit/>
          </a:bodyPr>
          <a:lstStyle/>
          <a:p>
            <a:pPr indent="-508635">
              <a:spcBef>
                <a:spcPts val="965"/>
              </a:spcBef>
              <a:buAutoNum type="arabicPeriod"/>
              <a:tabLst>
                <a:tab pos="582930" algn="l"/>
                <a:tab pos="583565" algn="l"/>
                <a:tab pos="1034415" algn="l"/>
                <a:tab pos="2355215" algn="l"/>
                <a:tab pos="3326765" algn="l"/>
              </a:tabLst>
            </a:pPr>
            <a:r>
              <a:rPr sz="3200" b="1" dirty="0">
                <a:latin typeface="Times New Roman" panose="02020603050405020304"/>
                <a:cs typeface="Times New Roman" panose="02020603050405020304"/>
              </a:rPr>
              <a:t>if	</a:t>
            </a:r>
            <a:r>
              <a:rPr sz="3200" b="1" spc="-7" dirty="0">
                <a:latin typeface="Times New Roman" panose="02020603050405020304"/>
                <a:cs typeface="Times New Roman" panose="02020603050405020304"/>
              </a:rPr>
              <a:t>| </a:t>
            </a:r>
            <a:r>
              <a:rPr sz="3200" b="1" i="1" dirty="0">
                <a:latin typeface="Times New Roman" panose="02020603050405020304"/>
                <a:cs typeface="Times New Roman" panose="02020603050405020304"/>
              </a:rPr>
              <a:t>P</a:t>
            </a:r>
            <a:r>
              <a:rPr sz="3200" b="1" i="1" spc="-127" dirty="0">
                <a:latin typeface="Times New Roman" panose="02020603050405020304"/>
                <a:cs typeface="Times New Roman" panose="02020603050405020304"/>
              </a:rPr>
              <a:t> </a:t>
            </a:r>
            <a:r>
              <a:rPr sz="3200" b="1" spc="-13" dirty="0">
                <a:latin typeface="Times New Roman" panose="02020603050405020304"/>
                <a:cs typeface="Times New Roman" panose="02020603050405020304"/>
              </a:rPr>
              <a:t>|</a:t>
            </a:r>
            <a:r>
              <a:rPr sz="3200" b="1" spc="-13" dirty="0">
                <a:latin typeface="Symbol" panose="05050102010706020507"/>
                <a:cs typeface="Symbol" panose="05050102010706020507"/>
              </a:rPr>
              <a:t></a:t>
            </a:r>
            <a:r>
              <a:rPr sz="3200" b="1" dirty="0">
                <a:latin typeface="Times New Roman" panose="02020603050405020304"/>
                <a:cs typeface="Times New Roman" panose="02020603050405020304"/>
              </a:rPr>
              <a:t> </a:t>
            </a:r>
            <a:r>
              <a:rPr sz="3200" b="1" i="1" dirty="0">
                <a:latin typeface="Times New Roman" panose="02020603050405020304"/>
                <a:cs typeface="Times New Roman" panose="02020603050405020304"/>
              </a:rPr>
              <a:t>c	</a:t>
            </a:r>
            <a:r>
              <a:rPr sz="3200" b="1" spc="-7" dirty="0">
                <a:latin typeface="Times New Roman" panose="02020603050405020304"/>
                <a:cs typeface="Times New Roman" panose="02020603050405020304"/>
              </a:rPr>
              <a:t>then	</a:t>
            </a:r>
            <a:r>
              <a:rPr sz="3200" b="1" i="1" spc="-7" dirty="0">
                <a:latin typeface="Times New Roman" panose="02020603050405020304"/>
                <a:cs typeface="Times New Roman" panose="02020603050405020304"/>
              </a:rPr>
              <a:t>S</a:t>
            </a:r>
            <a:r>
              <a:rPr sz="3200" b="1" spc="-7"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P</a:t>
            </a:r>
            <a:r>
              <a:rPr sz="3200" b="1" spc="-7" dirty="0">
                <a:latin typeface="Times New Roman" panose="02020603050405020304"/>
                <a:cs typeface="Times New Roman" panose="02020603050405020304"/>
              </a:rPr>
              <a:t>)</a:t>
            </a:r>
            <a:endParaRPr sz="3200" dirty="0">
              <a:latin typeface="Times New Roman" panose="02020603050405020304"/>
              <a:cs typeface="Times New Roman" panose="02020603050405020304"/>
            </a:endParaRPr>
          </a:p>
          <a:p>
            <a:pPr indent="-508000">
              <a:spcBef>
                <a:spcPts val="825"/>
              </a:spcBef>
              <a:buAutoNum type="arabicPeriod"/>
              <a:tabLst>
                <a:tab pos="574675" algn="l"/>
                <a:tab pos="575310" algn="l"/>
                <a:tab pos="1839595" algn="l"/>
                <a:tab pos="2273935" algn="l"/>
                <a:tab pos="3155950" algn="l"/>
              </a:tabLst>
            </a:pPr>
            <a:r>
              <a:rPr sz="3200" b="1" spc="-7" dirty="0">
                <a:latin typeface="Times New Roman" panose="02020603050405020304"/>
                <a:cs typeface="Times New Roman" panose="02020603050405020304"/>
              </a:rPr>
              <a:t>divide	</a:t>
            </a:r>
            <a:r>
              <a:rPr sz="3200" b="1" i="1" dirty="0">
                <a:latin typeface="Times New Roman" panose="02020603050405020304"/>
                <a:cs typeface="Times New Roman" panose="02020603050405020304"/>
              </a:rPr>
              <a:t>P	</a:t>
            </a:r>
            <a:r>
              <a:rPr sz="3200" b="1" dirty="0">
                <a:latin typeface="Times New Roman" panose="02020603050405020304"/>
                <a:cs typeface="Times New Roman" panose="02020603050405020304"/>
              </a:rPr>
              <a:t>into	</a:t>
            </a:r>
            <a:r>
              <a:rPr sz="3200" b="1" i="1" dirty="0">
                <a:latin typeface="Times New Roman" panose="02020603050405020304"/>
                <a:cs typeface="Times New Roman" panose="02020603050405020304"/>
              </a:rPr>
              <a:t>P</a:t>
            </a:r>
            <a:r>
              <a:rPr sz="3200" b="1" baseline="-21000" dirty="0">
                <a:latin typeface="Times New Roman" panose="02020603050405020304"/>
                <a:cs typeface="Times New Roman" panose="02020603050405020304"/>
              </a:rPr>
              <a:t>1</a:t>
            </a:r>
            <a:r>
              <a:rPr sz="3200" b="1" dirty="0">
                <a:latin typeface="Times New Roman" panose="02020603050405020304"/>
                <a:cs typeface="Times New Roman" panose="02020603050405020304"/>
              </a:rPr>
              <a:t>, </a:t>
            </a:r>
            <a:r>
              <a:rPr sz="3200" b="1" i="1" spc="-7" dirty="0">
                <a:latin typeface="Times New Roman" panose="02020603050405020304"/>
                <a:cs typeface="Times New Roman" panose="02020603050405020304"/>
              </a:rPr>
              <a:t>P</a:t>
            </a:r>
            <a:r>
              <a:rPr sz="3200" b="1" spc="-9" baseline="-21000" dirty="0">
                <a:latin typeface="Times New Roman" panose="02020603050405020304"/>
                <a:cs typeface="Times New Roman" panose="02020603050405020304"/>
              </a:rPr>
              <a:t>2</a:t>
            </a:r>
            <a:r>
              <a:rPr sz="3200" b="1" spc="-7" dirty="0">
                <a:latin typeface="Times New Roman" panose="02020603050405020304"/>
                <a:cs typeface="Times New Roman" panose="02020603050405020304"/>
              </a:rPr>
              <a:t>, </a:t>
            </a:r>
            <a:r>
              <a:rPr sz="3200" b="1" dirty="0">
                <a:latin typeface="Times New Roman" panose="02020603050405020304"/>
                <a:cs typeface="Times New Roman" panose="02020603050405020304"/>
              </a:rPr>
              <a:t>…,</a:t>
            </a:r>
            <a:r>
              <a:rPr sz="3200" b="1" spc="-47" dirty="0">
                <a:latin typeface="Times New Roman" panose="02020603050405020304"/>
                <a:cs typeface="Times New Roman" panose="02020603050405020304"/>
              </a:rPr>
              <a:t> </a:t>
            </a:r>
            <a:r>
              <a:rPr sz="3200" b="1" i="1" spc="-7" dirty="0">
                <a:latin typeface="Times New Roman" panose="02020603050405020304"/>
                <a:cs typeface="Times New Roman" panose="02020603050405020304"/>
              </a:rPr>
              <a:t>P</a:t>
            </a:r>
            <a:r>
              <a:rPr sz="3200" b="1" i="1" spc="-9" baseline="-21000" dirty="0">
                <a:latin typeface="Times New Roman" panose="02020603050405020304"/>
                <a:cs typeface="Times New Roman" panose="02020603050405020304"/>
              </a:rPr>
              <a:t>k</a:t>
            </a:r>
            <a:endParaRPr sz="3200" baseline="-21000" dirty="0">
              <a:latin typeface="Times New Roman" panose="02020603050405020304"/>
              <a:cs typeface="Times New Roman" panose="02020603050405020304"/>
            </a:endParaRPr>
          </a:p>
          <a:p>
            <a:pPr indent="-508000">
              <a:spcBef>
                <a:spcPts val="785"/>
              </a:spcBef>
              <a:buAutoNum type="arabicPeriod"/>
              <a:tabLst>
                <a:tab pos="574675" algn="l"/>
                <a:tab pos="575310" algn="l"/>
                <a:tab pos="1290955" algn="l"/>
                <a:tab pos="2211070" algn="l"/>
                <a:tab pos="2751455" algn="l"/>
              </a:tabLst>
            </a:pPr>
            <a:r>
              <a:rPr sz="3200" b="1" dirty="0">
                <a:latin typeface="Times New Roman" panose="02020603050405020304"/>
                <a:cs typeface="Times New Roman" panose="02020603050405020304"/>
              </a:rPr>
              <a:t>for	</a:t>
            </a:r>
            <a:r>
              <a:rPr sz="3200" b="1" i="1" dirty="0">
                <a:latin typeface="Times New Roman" panose="02020603050405020304"/>
                <a:cs typeface="Times New Roman" panose="02020603050405020304"/>
              </a:rPr>
              <a:t>i</a:t>
            </a:r>
            <a:r>
              <a:rPr sz="3200" b="1" dirty="0">
                <a:latin typeface="Symbol" panose="05050102010706020507"/>
                <a:cs typeface="Symbol" panose="05050102010706020507"/>
              </a:rPr>
              <a:t></a:t>
            </a:r>
            <a:r>
              <a:rPr sz="3200" b="1" dirty="0">
                <a:latin typeface="Times New Roman" panose="02020603050405020304"/>
                <a:cs typeface="Times New Roman" panose="02020603050405020304"/>
              </a:rPr>
              <a:t>1	to	</a:t>
            </a:r>
            <a:r>
              <a:rPr sz="3200" b="1" i="1" dirty="0">
                <a:latin typeface="Times New Roman" panose="02020603050405020304"/>
                <a:cs typeface="Times New Roman" panose="02020603050405020304"/>
              </a:rPr>
              <a:t>k</a:t>
            </a:r>
            <a:endParaRPr sz="3200" b="1" dirty="0">
              <a:latin typeface="Times New Roman" panose="02020603050405020304"/>
              <a:cs typeface="Times New Roman" panose="02020603050405020304"/>
            </a:endParaRPr>
          </a:p>
          <a:p>
            <a:pPr indent="-1016635">
              <a:spcBef>
                <a:spcPts val="775"/>
              </a:spcBef>
              <a:buFont typeface="Times New Roman" panose="02020603050405020304"/>
              <a:buAutoNum type="arabicPeriod"/>
              <a:tabLst>
                <a:tab pos="1083310" algn="l"/>
                <a:tab pos="1083945" algn="l"/>
              </a:tabLst>
            </a:pPr>
            <a:r>
              <a:rPr lang="en-US" sz="3200" b="1" i="1" spc="-7" dirty="0">
                <a:latin typeface="Times New Roman" panose="02020603050405020304"/>
                <a:cs typeface="Times New Roman" panose="02020603050405020304"/>
              </a:rPr>
              <a:t>  </a:t>
            </a:r>
            <a:r>
              <a:rPr sz="3200" b="1" i="1" spc="-7" dirty="0" err="1">
                <a:latin typeface="Times New Roman" panose="02020603050405020304"/>
                <a:cs typeface="Times New Roman" panose="02020603050405020304"/>
              </a:rPr>
              <a:t>y</a:t>
            </a:r>
            <a:r>
              <a:rPr sz="3200" b="1" i="1" spc="-9" baseline="-21000" dirty="0" err="1">
                <a:latin typeface="Times New Roman" panose="02020603050405020304"/>
                <a:cs typeface="Times New Roman" panose="02020603050405020304"/>
              </a:rPr>
              <a:t>i</a:t>
            </a:r>
            <a:r>
              <a:rPr sz="3200" b="1" i="1" spc="409" baseline="-21000" dirty="0">
                <a:latin typeface="Times New Roman" panose="02020603050405020304"/>
                <a:cs typeface="Times New Roman" panose="02020603050405020304"/>
              </a:rPr>
              <a:t> </a:t>
            </a:r>
            <a:r>
              <a:rPr sz="3200" b="1" spc="-7" dirty="0">
                <a:latin typeface="Symbol" panose="05050102010706020507"/>
                <a:cs typeface="Symbol" panose="05050102010706020507"/>
              </a:rPr>
              <a:t></a:t>
            </a:r>
            <a:r>
              <a:rPr sz="3200" b="1" spc="-7" dirty="0">
                <a:latin typeface="Times New Roman" panose="02020603050405020304"/>
                <a:cs typeface="Times New Roman" panose="02020603050405020304"/>
              </a:rPr>
              <a:t>D</a:t>
            </a:r>
            <a:r>
              <a:rPr sz="3200" b="1" u="sng" spc="-7" dirty="0">
                <a:uFill>
                  <a:solidFill>
                    <a:srgbClr val="C00000"/>
                  </a:solidFill>
                </a:uFill>
                <a:latin typeface="Times New Roman" panose="02020603050405020304"/>
                <a:cs typeface="Times New Roman" panose="02020603050405020304"/>
              </a:rPr>
              <a:t>ivide-and-Conquer(</a:t>
            </a:r>
            <a:r>
              <a:rPr sz="3200" b="1" i="1" u="sng" spc="-7" dirty="0">
                <a:uFill>
                  <a:solidFill>
                    <a:srgbClr val="C00000"/>
                  </a:solidFill>
                </a:uFill>
                <a:latin typeface="Times New Roman" panose="02020603050405020304"/>
                <a:cs typeface="Times New Roman" panose="02020603050405020304"/>
              </a:rPr>
              <a:t>P</a:t>
            </a:r>
            <a:r>
              <a:rPr sz="3200" b="1" i="1" spc="-9" baseline="-21000" dirty="0">
                <a:latin typeface="Times New Roman" panose="02020603050405020304"/>
                <a:cs typeface="Times New Roman" panose="02020603050405020304"/>
              </a:rPr>
              <a:t>i</a:t>
            </a:r>
            <a:r>
              <a:rPr sz="3200" b="1" spc="-7" dirty="0">
                <a:latin typeface="Times New Roman" panose="02020603050405020304"/>
                <a:cs typeface="Times New Roman" panose="02020603050405020304"/>
              </a:rPr>
              <a:t>)</a:t>
            </a:r>
            <a:endParaRPr sz="3200" dirty="0">
              <a:latin typeface="Times New Roman" panose="02020603050405020304"/>
              <a:cs typeface="Times New Roman" panose="02020603050405020304"/>
            </a:endParaRPr>
          </a:p>
        </p:txBody>
      </p:sp>
      <p:sp>
        <p:nvSpPr>
          <p:cNvPr id="5" name="object 5"/>
          <p:cNvSpPr txBox="1"/>
          <p:nvPr/>
        </p:nvSpPr>
        <p:spPr>
          <a:xfrm>
            <a:off x="622300" y="4355149"/>
            <a:ext cx="8008004" cy="509541"/>
          </a:xfrm>
          <a:prstGeom prst="rect">
            <a:avLst/>
          </a:prstGeom>
        </p:spPr>
        <p:txBody>
          <a:bodyPr vert="horz" wrap="square" lIns="0" tIns="16933" rIns="0" bIns="0" rtlCol="0">
            <a:spAutoFit/>
          </a:bodyPr>
          <a:lstStyle/>
          <a:p>
            <a:pPr>
              <a:spcBef>
                <a:spcPts val="135"/>
              </a:spcBef>
              <a:tabLst>
                <a:tab pos="557530" algn="l"/>
              </a:tabLst>
            </a:pPr>
            <a:r>
              <a:rPr sz="3200" b="1" dirty="0">
                <a:latin typeface="Times New Roman" panose="02020603050405020304"/>
                <a:cs typeface="Times New Roman" panose="02020603050405020304"/>
              </a:rPr>
              <a:t>5.	</a:t>
            </a:r>
            <a:r>
              <a:rPr sz="3200" b="1" spc="-7" dirty="0">
                <a:latin typeface="Times New Roman" panose="02020603050405020304"/>
                <a:cs typeface="Times New Roman" panose="02020603050405020304"/>
              </a:rPr>
              <a:t>Return </a:t>
            </a:r>
            <a:r>
              <a:rPr sz="3200" b="1" dirty="0">
                <a:latin typeface="Times New Roman" panose="02020603050405020304"/>
                <a:cs typeface="Times New Roman" panose="02020603050405020304"/>
              </a:rPr>
              <a:t>Merge ( </a:t>
            </a:r>
            <a:r>
              <a:rPr sz="3200" b="1" i="1" dirty="0">
                <a:latin typeface="Times New Roman" panose="02020603050405020304"/>
                <a:cs typeface="Times New Roman" panose="02020603050405020304"/>
              </a:rPr>
              <a:t>y</a:t>
            </a:r>
            <a:r>
              <a:rPr sz="3200" b="1" baseline="-21000" dirty="0">
                <a:latin typeface="Times New Roman" panose="02020603050405020304"/>
                <a:cs typeface="Times New Roman" panose="02020603050405020304"/>
              </a:rPr>
              <a:t>1</a:t>
            </a:r>
            <a:r>
              <a:rPr sz="3200" b="1" dirty="0">
                <a:latin typeface="Times New Roman" panose="02020603050405020304"/>
                <a:cs typeface="Times New Roman" panose="02020603050405020304"/>
              </a:rPr>
              <a:t>, </a:t>
            </a:r>
            <a:r>
              <a:rPr sz="3200" b="1" i="1" dirty="0">
                <a:latin typeface="Times New Roman" panose="02020603050405020304"/>
                <a:cs typeface="Times New Roman" panose="02020603050405020304"/>
              </a:rPr>
              <a:t>y</a:t>
            </a:r>
            <a:r>
              <a:rPr sz="3200" b="1" baseline="-21000" dirty="0">
                <a:latin typeface="Times New Roman" panose="02020603050405020304"/>
                <a:cs typeface="Times New Roman" panose="02020603050405020304"/>
              </a:rPr>
              <a:t>2</a:t>
            </a:r>
            <a:r>
              <a:rPr sz="3200" b="1" dirty="0">
                <a:latin typeface="Times New Roman" panose="02020603050405020304"/>
                <a:cs typeface="Times New Roman" panose="02020603050405020304"/>
              </a:rPr>
              <a:t>, … , </a:t>
            </a:r>
            <a:r>
              <a:rPr sz="3200" b="1" i="1" spc="-7" dirty="0">
                <a:latin typeface="Times New Roman" panose="02020603050405020304"/>
                <a:cs typeface="Times New Roman" panose="02020603050405020304"/>
              </a:rPr>
              <a:t>y</a:t>
            </a:r>
            <a:r>
              <a:rPr sz="3200" b="1" i="1" spc="-9" baseline="-21000" dirty="0">
                <a:latin typeface="Times New Roman" panose="02020603050405020304"/>
                <a:cs typeface="Times New Roman" panose="02020603050405020304"/>
              </a:rPr>
              <a:t>k</a:t>
            </a:r>
            <a:r>
              <a:rPr sz="3200" b="1" i="1" spc="-160" baseline="-21000" dirty="0">
                <a:latin typeface="Times New Roman" panose="02020603050405020304"/>
                <a:cs typeface="Times New Roman" panose="02020603050405020304"/>
              </a:rPr>
              <a:t> </a:t>
            </a:r>
            <a:r>
              <a:rPr sz="3200" b="1" dirty="0">
                <a:latin typeface="Times New Roman" panose="02020603050405020304"/>
                <a:cs typeface="Times New Roman" panose="02020603050405020304"/>
              </a:rPr>
              <a:t>)</a:t>
            </a:r>
            <a:endParaRPr sz="3200" dirty="0">
              <a:latin typeface="Times New Roman" panose="02020603050405020304"/>
              <a:cs typeface="Times New Roman" panose="02020603050405020304"/>
            </a:endParaRPr>
          </a:p>
        </p:txBody>
      </p:sp>
      <p:sp>
        <p:nvSpPr>
          <p:cNvPr id="6" name="object 6"/>
          <p:cNvSpPr/>
          <p:nvPr/>
        </p:nvSpPr>
        <p:spPr>
          <a:xfrm>
            <a:off x="-269908" y="0"/>
            <a:ext cx="247904" cy="229616"/>
          </a:xfrm>
          <a:prstGeom prst="rect">
            <a:avLst/>
          </a:prstGeom>
          <a:blipFill>
            <a:blip r:embed="rId1" cstate="print"/>
            <a:stretch>
              <a:fillRect/>
            </a:stretch>
          </a:blipFill>
        </p:spPr>
        <p:txBody>
          <a:bodyPr wrap="square" lIns="0" tIns="0" rIns="0" bIns="0" rtlCol="0"/>
          <a:lstStyle/>
          <a:p>
            <a:endParaRPr sz="2400"/>
          </a:p>
        </p:txBody>
      </p:sp>
      <p:sp>
        <p:nvSpPr>
          <p:cNvPr id="7" name="object 7"/>
          <p:cNvSpPr/>
          <p:nvPr/>
        </p:nvSpPr>
        <p:spPr>
          <a:xfrm>
            <a:off x="14223" y="0"/>
            <a:ext cx="249936" cy="264160"/>
          </a:xfrm>
          <a:prstGeom prst="rect">
            <a:avLst/>
          </a:prstGeom>
          <a:blipFill>
            <a:blip r:embed="rId2" cstate="print"/>
            <a:stretch>
              <a:fillRect/>
            </a:stretch>
          </a:blipFill>
        </p:spPr>
        <p:txBody>
          <a:bodyPr wrap="square" lIns="0" tIns="0" rIns="0" bIns="0" rtlCol="0"/>
          <a:lstStyle/>
          <a:p>
            <a:endParaRPr sz="2400"/>
          </a:p>
        </p:txBody>
      </p:sp>
      <p:sp>
        <p:nvSpPr>
          <p:cNvPr id="8" name="object 8"/>
          <p:cNvSpPr/>
          <p:nvPr/>
        </p:nvSpPr>
        <p:spPr>
          <a:xfrm>
            <a:off x="5819633" y="1876114"/>
            <a:ext cx="1522307" cy="906780"/>
          </a:xfrm>
          <a:custGeom>
            <a:avLst/>
            <a:gdLst/>
            <a:ahLst/>
            <a:cxnLst/>
            <a:rect l="l" t="t" r="r" b="b"/>
            <a:pathLst>
              <a:path w="1141729" h="680085">
                <a:moveTo>
                  <a:pt x="667465" y="0"/>
                </a:moveTo>
                <a:lnTo>
                  <a:pt x="616784" y="3125"/>
                </a:lnTo>
                <a:lnTo>
                  <a:pt x="566378" y="10131"/>
                </a:lnTo>
                <a:lnTo>
                  <a:pt x="516712" y="21113"/>
                </a:lnTo>
                <a:lnTo>
                  <a:pt x="468249" y="36165"/>
                </a:lnTo>
                <a:lnTo>
                  <a:pt x="415552" y="58286"/>
                </a:lnTo>
                <a:lnTo>
                  <a:pt x="368861" y="84316"/>
                </a:lnTo>
                <a:lnTo>
                  <a:pt x="328400" y="113762"/>
                </a:lnTo>
                <a:lnTo>
                  <a:pt x="294390" y="146128"/>
                </a:lnTo>
                <a:lnTo>
                  <a:pt x="267055" y="180921"/>
                </a:lnTo>
                <a:lnTo>
                  <a:pt x="246618" y="217648"/>
                </a:lnTo>
                <a:lnTo>
                  <a:pt x="233300" y="255813"/>
                </a:lnTo>
                <a:lnTo>
                  <a:pt x="227325" y="294925"/>
                </a:lnTo>
                <a:lnTo>
                  <a:pt x="228915" y="334488"/>
                </a:lnTo>
                <a:lnTo>
                  <a:pt x="238293" y="374008"/>
                </a:lnTo>
                <a:lnTo>
                  <a:pt x="255682" y="412992"/>
                </a:lnTo>
                <a:lnTo>
                  <a:pt x="281304" y="450947"/>
                </a:lnTo>
                <a:lnTo>
                  <a:pt x="0" y="680055"/>
                </a:lnTo>
                <a:lnTo>
                  <a:pt x="391540" y="541625"/>
                </a:lnTo>
                <a:lnTo>
                  <a:pt x="975509" y="541625"/>
                </a:lnTo>
                <a:lnTo>
                  <a:pt x="999690" y="528144"/>
                </a:lnTo>
                <a:lnTo>
                  <a:pt x="1040151" y="498699"/>
                </a:lnTo>
                <a:lnTo>
                  <a:pt x="1074161" y="466332"/>
                </a:lnTo>
                <a:lnTo>
                  <a:pt x="1101496" y="431539"/>
                </a:lnTo>
                <a:lnTo>
                  <a:pt x="1121933" y="394813"/>
                </a:lnTo>
                <a:lnTo>
                  <a:pt x="1135251" y="356647"/>
                </a:lnTo>
                <a:lnTo>
                  <a:pt x="1141226" y="317535"/>
                </a:lnTo>
                <a:lnTo>
                  <a:pt x="1139636" y="277973"/>
                </a:lnTo>
                <a:lnTo>
                  <a:pt x="1130258" y="238452"/>
                </a:lnTo>
                <a:lnTo>
                  <a:pt x="1112869" y="199468"/>
                </a:lnTo>
                <a:lnTo>
                  <a:pt x="1087247" y="161514"/>
                </a:lnTo>
                <a:lnTo>
                  <a:pt x="1059353" y="131003"/>
                </a:lnTo>
                <a:lnTo>
                  <a:pt x="1027092" y="103432"/>
                </a:lnTo>
                <a:lnTo>
                  <a:pt x="990927" y="78895"/>
                </a:lnTo>
                <a:lnTo>
                  <a:pt x="951322" y="57486"/>
                </a:lnTo>
                <a:lnTo>
                  <a:pt x="908743" y="39300"/>
                </a:lnTo>
                <a:lnTo>
                  <a:pt x="863652" y="24430"/>
                </a:lnTo>
                <a:lnTo>
                  <a:pt x="816514" y="12971"/>
                </a:lnTo>
                <a:lnTo>
                  <a:pt x="767794" y="5017"/>
                </a:lnTo>
                <a:lnTo>
                  <a:pt x="717957" y="662"/>
                </a:lnTo>
                <a:lnTo>
                  <a:pt x="667465" y="0"/>
                </a:lnTo>
                <a:close/>
              </a:path>
              <a:path w="1141729" h="680085">
                <a:moveTo>
                  <a:pt x="975509" y="541625"/>
                </a:moveTo>
                <a:lnTo>
                  <a:pt x="391540" y="541625"/>
                </a:lnTo>
                <a:lnTo>
                  <a:pt x="431946" y="561765"/>
                </a:lnTo>
                <a:lnTo>
                  <a:pt x="474808" y="578596"/>
                </a:lnTo>
                <a:lnTo>
                  <a:pt x="519696" y="592087"/>
                </a:lnTo>
                <a:lnTo>
                  <a:pt x="566181" y="602210"/>
                </a:lnTo>
                <a:lnTo>
                  <a:pt x="613836" y="608935"/>
                </a:lnTo>
                <a:lnTo>
                  <a:pt x="662231" y="612233"/>
                </a:lnTo>
                <a:lnTo>
                  <a:pt x="710938" y="612075"/>
                </a:lnTo>
                <a:lnTo>
                  <a:pt x="759527" y="608431"/>
                </a:lnTo>
                <a:lnTo>
                  <a:pt x="807570" y="601273"/>
                </a:lnTo>
                <a:lnTo>
                  <a:pt x="854638" y="590571"/>
                </a:lnTo>
                <a:lnTo>
                  <a:pt x="900302" y="576296"/>
                </a:lnTo>
                <a:lnTo>
                  <a:pt x="952999" y="554174"/>
                </a:lnTo>
                <a:lnTo>
                  <a:pt x="975509" y="541625"/>
                </a:lnTo>
                <a:close/>
              </a:path>
            </a:pathLst>
          </a:custGeom>
          <a:solidFill>
            <a:srgbClr val="4F81BC"/>
          </a:solidFill>
        </p:spPr>
        <p:txBody>
          <a:bodyPr wrap="square" lIns="0" tIns="0" rIns="0" bIns="0" rtlCol="0"/>
          <a:lstStyle/>
          <a:p>
            <a:endParaRPr sz="3200"/>
          </a:p>
        </p:txBody>
      </p:sp>
      <p:sp>
        <p:nvSpPr>
          <p:cNvPr id="9" name="object 9"/>
          <p:cNvSpPr/>
          <p:nvPr/>
        </p:nvSpPr>
        <p:spPr>
          <a:xfrm>
            <a:off x="5819633" y="1876114"/>
            <a:ext cx="1522307" cy="906780"/>
          </a:xfrm>
          <a:custGeom>
            <a:avLst/>
            <a:gdLst/>
            <a:ahLst/>
            <a:cxnLst/>
            <a:rect l="l" t="t" r="r" b="b"/>
            <a:pathLst>
              <a:path w="1141729" h="680085">
                <a:moveTo>
                  <a:pt x="0" y="680055"/>
                </a:moveTo>
                <a:lnTo>
                  <a:pt x="281304" y="450947"/>
                </a:lnTo>
                <a:lnTo>
                  <a:pt x="255682" y="412992"/>
                </a:lnTo>
                <a:lnTo>
                  <a:pt x="238293" y="374008"/>
                </a:lnTo>
                <a:lnTo>
                  <a:pt x="228915" y="334488"/>
                </a:lnTo>
                <a:lnTo>
                  <a:pt x="227325" y="294925"/>
                </a:lnTo>
                <a:lnTo>
                  <a:pt x="233300" y="255813"/>
                </a:lnTo>
                <a:lnTo>
                  <a:pt x="246618" y="217648"/>
                </a:lnTo>
                <a:lnTo>
                  <a:pt x="267055" y="180921"/>
                </a:lnTo>
                <a:lnTo>
                  <a:pt x="294390" y="146128"/>
                </a:lnTo>
                <a:lnTo>
                  <a:pt x="328400" y="113762"/>
                </a:lnTo>
                <a:lnTo>
                  <a:pt x="368861" y="84316"/>
                </a:lnTo>
                <a:lnTo>
                  <a:pt x="415552" y="58286"/>
                </a:lnTo>
                <a:lnTo>
                  <a:pt x="468249" y="36165"/>
                </a:lnTo>
                <a:lnTo>
                  <a:pt x="516712" y="21113"/>
                </a:lnTo>
                <a:lnTo>
                  <a:pt x="566378" y="10131"/>
                </a:lnTo>
                <a:lnTo>
                  <a:pt x="616784" y="3125"/>
                </a:lnTo>
                <a:lnTo>
                  <a:pt x="667465" y="0"/>
                </a:lnTo>
                <a:lnTo>
                  <a:pt x="717957" y="662"/>
                </a:lnTo>
                <a:lnTo>
                  <a:pt x="767794" y="5017"/>
                </a:lnTo>
                <a:lnTo>
                  <a:pt x="816514" y="12971"/>
                </a:lnTo>
                <a:lnTo>
                  <a:pt x="863652" y="24430"/>
                </a:lnTo>
                <a:lnTo>
                  <a:pt x="908743" y="39300"/>
                </a:lnTo>
                <a:lnTo>
                  <a:pt x="951322" y="57486"/>
                </a:lnTo>
                <a:lnTo>
                  <a:pt x="990927" y="78895"/>
                </a:lnTo>
                <a:lnTo>
                  <a:pt x="1027092" y="103432"/>
                </a:lnTo>
                <a:lnTo>
                  <a:pt x="1059353" y="131003"/>
                </a:lnTo>
                <a:lnTo>
                  <a:pt x="1087247" y="161514"/>
                </a:lnTo>
                <a:lnTo>
                  <a:pt x="1112869" y="199468"/>
                </a:lnTo>
                <a:lnTo>
                  <a:pt x="1130258" y="238452"/>
                </a:lnTo>
                <a:lnTo>
                  <a:pt x="1139636" y="277973"/>
                </a:lnTo>
                <a:lnTo>
                  <a:pt x="1141226" y="317535"/>
                </a:lnTo>
                <a:lnTo>
                  <a:pt x="1135251" y="356647"/>
                </a:lnTo>
                <a:lnTo>
                  <a:pt x="1121933" y="394813"/>
                </a:lnTo>
                <a:lnTo>
                  <a:pt x="1101496" y="431539"/>
                </a:lnTo>
                <a:lnTo>
                  <a:pt x="1074161" y="466332"/>
                </a:lnTo>
                <a:lnTo>
                  <a:pt x="1040151" y="498699"/>
                </a:lnTo>
                <a:lnTo>
                  <a:pt x="999690" y="528144"/>
                </a:lnTo>
                <a:lnTo>
                  <a:pt x="952999" y="554174"/>
                </a:lnTo>
                <a:lnTo>
                  <a:pt x="900302" y="576296"/>
                </a:lnTo>
                <a:lnTo>
                  <a:pt x="854638" y="590571"/>
                </a:lnTo>
                <a:lnTo>
                  <a:pt x="807570" y="601273"/>
                </a:lnTo>
                <a:lnTo>
                  <a:pt x="759527" y="608431"/>
                </a:lnTo>
                <a:lnTo>
                  <a:pt x="710938" y="612075"/>
                </a:lnTo>
                <a:lnTo>
                  <a:pt x="662231" y="612233"/>
                </a:lnTo>
                <a:lnTo>
                  <a:pt x="613836" y="608935"/>
                </a:lnTo>
                <a:lnTo>
                  <a:pt x="566181" y="602210"/>
                </a:lnTo>
                <a:lnTo>
                  <a:pt x="519696" y="592087"/>
                </a:lnTo>
                <a:lnTo>
                  <a:pt x="474808" y="578596"/>
                </a:lnTo>
                <a:lnTo>
                  <a:pt x="431946" y="561765"/>
                </a:lnTo>
                <a:lnTo>
                  <a:pt x="391540" y="541625"/>
                </a:lnTo>
                <a:lnTo>
                  <a:pt x="0" y="680055"/>
                </a:lnTo>
                <a:close/>
              </a:path>
            </a:pathLst>
          </a:custGeom>
          <a:ln w="25400">
            <a:solidFill>
              <a:srgbClr val="385D89"/>
            </a:solidFill>
          </a:ln>
        </p:spPr>
        <p:txBody>
          <a:bodyPr wrap="square" lIns="0" tIns="0" rIns="0" bIns="0" rtlCol="0"/>
          <a:lstStyle/>
          <a:p>
            <a:endParaRPr sz="3200"/>
          </a:p>
        </p:txBody>
      </p:sp>
      <p:sp>
        <p:nvSpPr>
          <p:cNvPr id="10" name="object 10"/>
          <p:cNvSpPr txBox="1"/>
          <p:nvPr/>
        </p:nvSpPr>
        <p:spPr>
          <a:xfrm>
            <a:off x="6336320" y="2029113"/>
            <a:ext cx="1273963" cy="509541"/>
          </a:xfrm>
          <a:prstGeom prst="rect">
            <a:avLst/>
          </a:prstGeom>
        </p:spPr>
        <p:txBody>
          <a:bodyPr vert="horz" wrap="square" lIns="0" tIns="16933" rIns="0" bIns="0" rtlCol="0">
            <a:spAutoFit/>
          </a:bodyPr>
          <a:lstStyle/>
          <a:p>
            <a:pPr marL="17145">
              <a:spcBef>
                <a:spcPts val="135"/>
              </a:spcBef>
            </a:pPr>
            <a:r>
              <a:rPr sz="3200" b="1" dirty="0">
                <a:solidFill>
                  <a:srgbClr val="FFFFFF"/>
                </a:solidFill>
                <a:latin typeface="宋体" panose="02010600030101010101" pitchFamily="2" charset="-122"/>
                <a:cs typeface="宋体" panose="02010600030101010101" pitchFamily="2" charset="-122"/>
              </a:rPr>
              <a:t>划分</a:t>
            </a:r>
            <a:endParaRPr sz="3200" dirty="0">
              <a:latin typeface="宋体" panose="02010600030101010101" pitchFamily="2" charset="-122"/>
              <a:cs typeface="宋体" panose="02010600030101010101" pitchFamily="2" charset="-122"/>
            </a:endParaRPr>
          </a:p>
        </p:txBody>
      </p:sp>
      <p:sp>
        <p:nvSpPr>
          <p:cNvPr id="11" name="object 11"/>
          <p:cNvSpPr/>
          <p:nvPr/>
        </p:nvSpPr>
        <p:spPr>
          <a:xfrm>
            <a:off x="6451234" y="2965243"/>
            <a:ext cx="2267970" cy="857673"/>
          </a:xfrm>
          <a:custGeom>
            <a:avLst/>
            <a:gdLst/>
            <a:ahLst/>
            <a:cxnLst/>
            <a:rect l="l" t="t" r="r" b="b"/>
            <a:pathLst>
              <a:path w="1487804" h="643255">
                <a:moveTo>
                  <a:pt x="782422" y="0"/>
                </a:moveTo>
                <a:lnTo>
                  <a:pt x="729521" y="1541"/>
                </a:lnTo>
                <a:lnTo>
                  <a:pt x="676792" y="4887"/>
                </a:lnTo>
                <a:lnTo>
                  <a:pt x="624482" y="10059"/>
                </a:lnTo>
                <a:lnTo>
                  <a:pt x="572833" y="17079"/>
                </a:lnTo>
                <a:lnTo>
                  <a:pt x="522092" y="25969"/>
                </a:lnTo>
                <a:lnTo>
                  <a:pt x="472501" y="36750"/>
                </a:lnTo>
                <a:lnTo>
                  <a:pt x="424307" y="49445"/>
                </a:lnTo>
                <a:lnTo>
                  <a:pt x="364186" y="68898"/>
                </a:lnTo>
                <a:lnTo>
                  <a:pt x="310293" y="90615"/>
                </a:lnTo>
                <a:lnTo>
                  <a:pt x="262745" y="114344"/>
                </a:lnTo>
                <a:lnTo>
                  <a:pt x="221662" y="139831"/>
                </a:lnTo>
                <a:lnTo>
                  <a:pt x="187160" y="166825"/>
                </a:lnTo>
                <a:lnTo>
                  <a:pt x="159358" y="195074"/>
                </a:lnTo>
                <a:lnTo>
                  <a:pt x="124327" y="254324"/>
                </a:lnTo>
                <a:lnTo>
                  <a:pt x="117333" y="284820"/>
                </a:lnTo>
                <a:lnTo>
                  <a:pt x="117512" y="315561"/>
                </a:lnTo>
                <a:lnTo>
                  <a:pt x="139859" y="376767"/>
                </a:lnTo>
                <a:lnTo>
                  <a:pt x="192312" y="435922"/>
                </a:lnTo>
                <a:lnTo>
                  <a:pt x="230124" y="464100"/>
                </a:lnTo>
                <a:lnTo>
                  <a:pt x="0" y="642662"/>
                </a:lnTo>
                <a:lnTo>
                  <a:pt x="413512" y="545634"/>
                </a:lnTo>
                <a:lnTo>
                  <a:pt x="1190288" y="545634"/>
                </a:lnTo>
                <a:lnTo>
                  <a:pt x="1240585" y="529377"/>
                </a:lnTo>
                <a:lnTo>
                  <a:pt x="1294478" y="507676"/>
                </a:lnTo>
                <a:lnTo>
                  <a:pt x="1342026" y="483958"/>
                </a:lnTo>
                <a:lnTo>
                  <a:pt x="1383109" y="458477"/>
                </a:lnTo>
                <a:lnTo>
                  <a:pt x="1417611" y="431484"/>
                </a:lnTo>
                <a:lnTo>
                  <a:pt x="1445413" y="403234"/>
                </a:lnTo>
                <a:lnTo>
                  <a:pt x="1480444" y="343974"/>
                </a:lnTo>
                <a:lnTo>
                  <a:pt x="1487438" y="313469"/>
                </a:lnTo>
                <a:lnTo>
                  <a:pt x="1487259" y="282720"/>
                </a:lnTo>
                <a:lnTo>
                  <a:pt x="1464912" y="221498"/>
                </a:lnTo>
                <a:lnTo>
                  <a:pt x="1412459" y="162332"/>
                </a:lnTo>
                <a:lnTo>
                  <a:pt x="1374648" y="134154"/>
                </a:lnTo>
                <a:lnTo>
                  <a:pt x="1341745" y="114237"/>
                </a:lnTo>
                <a:lnTo>
                  <a:pt x="1305837" y="95839"/>
                </a:lnTo>
                <a:lnTo>
                  <a:pt x="1267168" y="78982"/>
                </a:lnTo>
                <a:lnTo>
                  <a:pt x="1225983" y="63689"/>
                </a:lnTo>
                <a:lnTo>
                  <a:pt x="1182526" y="49980"/>
                </a:lnTo>
                <a:lnTo>
                  <a:pt x="1137042" y="37879"/>
                </a:lnTo>
                <a:lnTo>
                  <a:pt x="1089774" y="27406"/>
                </a:lnTo>
                <a:lnTo>
                  <a:pt x="1040969" y="18584"/>
                </a:lnTo>
                <a:lnTo>
                  <a:pt x="990869" y="11434"/>
                </a:lnTo>
                <a:lnTo>
                  <a:pt x="939720" y="5979"/>
                </a:lnTo>
                <a:lnTo>
                  <a:pt x="887766" y="2240"/>
                </a:lnTo>
                <a:lnTo>
                  <a:pt x="835252" y="240"/>
                </a:lnTo>
                <a:lnTo>
                  <a:pt x="782422" y="0"/>
                </a:lnTo>
                <a:close/>
              </a:path>
              <a:path w="1487804" h="643255">
                <a:moveTo>
                  <a:pt x="1190288" y="545634"/>
                </a:moveTo>
                <a:lnTo>
                  <a:pt x="413512" y="545634"/>
                </a:lnTo>
                <a:lnTo>
                  <a:pt x="460495" y="558570"/>
                </a:lnTo>
                <a:lnTo>
                  <a:pt x="509174" y="569694"/>
                </a:lnTo>
                <a:lnTo>
                  <a:pt x="559294" y="579004"/>
                </a:lnTo>
                <a:lnTo>
                  <a:pt x="610602" y="586499"/>
                </a:lnTo>
                <a:lnTo>
                  <a:pt x="662841" y="592177"/>
                </a:lnTo>
                <a:lnTo>
                  <a:pt x="715757" y="596037"/>
                </a:lnTo>
                <a:lnTo>
                  <a:pt x="769096" y="598079"/>
                </a:lnTo>
                <a:lnTo>
                  <a:pt x="822604" y="598302"/>
                </a:lnTo>
                <a:lnTo>
                  <a:pt x="876024" y="596703"/>
                </a:lnTo>
                <a:lnTo>
                  <a:pt x="929103" y="593282"/>
                </a:lnTo>
                <a:lnTo>
                  <a:pt x="981586" y="588038"/>
                </a:lnTo>
                <a:lnTo>
                  <a:pt x="1033219" y="580970"/>
                </a:lnTo>
                <a:lnTo>
                  <a:pt x="1083746" y="572076"/>
                </a:lnTo>
                <a:lnTo>
                  <a:pt x="1132912" y="561356"/>
                </a:lnTo>
                <a:lnTo>
                  <a:pt x="1180464" y="548809"/>
                </a:lnTo>
                <a:lnTo>
                  <a:pt x="1190288" y="545634"/>
                </a:lnTo>
                <a:close/>
              </a:path>
            </a:pathLst>
          </a:custGeom>
          <a:solidFill>
            <a:srgbClr val="4F81BC"/>
          </a:solidFill>
        </p:spPr>
        <p:txBody>
          <a:bodyPr wrap="square" lIns="0" tIns="0" rIns="0" bIns="0" rtlCol="0"/>
          <a:lstStyle/>
          <a:p>
            <a:endParaRPr sz="3200"/>
          </a:p>
        </p:txBody>
      </p:sp>
      <p:sp>
        <p:nvSpPr>
          <p:cNvPr id="12" name="object 12"/>
          <p:cNvSpPr/>
          <p:nvPr/>
        </p:nvSpPr>
        <p:spPr>
          <a:xfrm>
            <a:off x="6451234" y="2965243"/>
            <a:ext cx="2267970" cy="857673"/>
          </a:xfrm>
          <a:custGeom>
            <a:avLst/>
            <a:gdLst/>
            <a:ahLst/>
            <a:cxnLst/>
            <a:rect l="l" t="t" r="r" b="b"/>
            <a:pathLst>
              <a:path w="1487804" h="643255">
                <a:moveTo>
                  <a:pt x="0" y="642662"/>
                </a:moveTo>
                <a:lnTo>
                  <a:pt x="230124" y="464100"/>
                </a:lnTo>
                <a:lnTo>
                  <a:pt x="192312" y="435922"/>
                </a:lnTo>
                <a:lnTo>
                  <a:pt x="162263" y="406727"/>
                </a:lnTo>
                <a:lnTo>
                  <a:pt x="139859" y="376767"/>
                </a:lnTo>
                <a:lnTo>
                  <a:pt x="124981" y="346294"/>
                </a:lnTo>
                <a:lnTo>
                  <a:pt x="117512" y="315561"/>
                </a:lnTo>
                <a:lnTo>
                  <a:pt x="117333" y="284820"/>
                </a:lnTo>
                <a:lnTo>
                  <a:pt x="124327" y="254324"/>
                </a:lnTo>
                <a:lnTo>
                  <a:pt x="159358" y="195074"/>
                </a:lnTo>
                <a:lnTo>
                  <a:pt x="187160" y="166825"/>
                </a:lnTo>
                <a:lnTo>
                  <a:pt x="221662" y="139831"/>
                </a:lnTo>
                <a:lnTo>
                  <a:pt x="262745" y="114344"/>
                </a:lnTo>
                <a:lnTo>
                  <a:pt x="310293" y="90615"/>
                </a:lnTo>
                <a:lnTo>
                  <a:pt x="364186" y="68898"/>
                </a:lnTo>
                <a:lnTo>
                  <a:pt x="424307" y="49445"/>
                </a:lnTo>
                <a:lnTo>
                  <a:pt x="472501" y="36750"/>
                </a:lnTo>
                <a:lnTo>
                  <a:pt x="522092" y="25969"/>
                </a:lnTo>
                <a:lnTo>
                  <a:pt x="572833" y="17079"/>
                </a:lnTo>
                <a:lnTo>
                  <a:pt x="624482" y="10059"/>
                </a:lnTo>
                <a:lnTo>
                  <a:pt x="676792" y="4887"/>
                </a:lnTo>
                <a:lnTo>
                  <a:pt x="729521" y="1541"/>
                </a:lnTo>
                <a:lnTo>
                  <a:pt x="782422" y="0"/>
                </a:lnTo>
                <a:lnTo>
                  <a:pt x="835252" y="240"/>
                </a:lnTo>
                <a:lnTo>
                  <a:pt x="887766" y="2240"/>
                </a:lnTo>
                <a:lnTo>
                  <a:pt x="939720" y="5979"/>
                </a:lnTo>
                <a:lnTo>
                  <a:pt x="990869" y="11434"/>
                </a:lnTo>
                <a:lnTo>
                  <a:pt x="1040969" y="18584"/>
                </a:lnTo>
                <a:lnTo>
                  <a:pt x="1089774" y="27406"/>
                </a:lnTo>
                <a:lnTo>
                  <a:pt x="1137042" y="37879"/>
                </a:lnTo>
                <a:lnTo>
                  <a:pt x="1182526" y="49980"/>
                </a:lnTo>
                <a:lnTo>
                  <a:pt x="1225983" y="63689"/>
                </a:lnTo>
                <a:lnTo>
                  <a:pt x="1267168" y="78982"/>
                </a:lnTo>
                <a:lnTo>
                  <a:pt x="1305837" y="95839"/>
                </a:lnTo>
                <a:lnTo>
                  <a:pt x="1341745" y="114237"/>
                </a:lnTo>
                <a:lnTo>
                  <a:pt x="1374648" y="134154"/>
                </a:lnTo>
                <a:lnTo>
                  <a:pt x="1412459" y="162332"/>
                </a:lnTo>
                <a:lnTo>
                  <a:pt x="1442508" y="191532"/>
                </a:lnTo>
                <a:lnTo>
                  <a:pt x="1479790" y="251979"/>
                </a:lnTo>
                <a:lnTo>
                  <a:pt x="1487438" y="313469"/>
                </a:lnTo>
                <a:lnTo>
                  <a:pt x="1480444" y="343974"/>
                </a:lnTo>
                <a:lnTo>
                  <a:pt x="1445413" y="403234"/>
                </a:lnTo>
                <a:lnTo>
                  <a:pt x="1417611" y="431484"/>
                </a:lnTo>
                <a:lnTo>
                  <a:pt x="1383109" y="458477"/>
                </a:lnTo>
                <a:lnTo>
                  <a:pt x="1342026" y="483958"/>
                </a:lnTo>
                <a:lnTo>
                  <a:pt x="1294478" y="507676"/>
                </a:lnTo>
                <a:lnTo>
                  <a:pt x="1240585" y="529377"/>
                </a:lnTo>
                <a:lnTo>
                  <a:pt x="1180464" y="548809"/>
                </a:lnTo>
                <a:lnTo>
                  <a:pt x="1132912" y="561356"/>
                </a:lnTo>
                <a:lnTo>
                  <a:pt x="1083746" y="572076"/>
                </a:lnTo>
                <a:lnTo>
                  <a:pt x="1033219" y="580970"/>
                </a:lnTo>
                <a:lnTo>
                  <a:pt x="981586" y="588038"/>
                </a:lnTo>
                <a:lnTo>
                  <a:pt x="929103" y="593282"/>
                </a:lnTo>
                <a:lnTo>
                  <a:pt x="876024" y="596703"/>
                </a:lnTo>
                <a:lnTo>
                  <a:pt x="822604" y="598302"/>
                </a:lnTo>
                <a:lnTo>
                  <a:pt x="769096" y="598079"/>
                </a:lnTo>
                <a:lnTo>
                  <a:pt x="715757" y="596037"/>
                </a:lnTo>
                <a:lnTo>
                  <a:pt x="662841" y="592177"/>
                </a:lnTo>
                <a:lnTo>
                  <a:pt x="610602" y="586499"/>
                </a:lnTo>
                <a:lnTo>
                  <a:pt x="559294" y="579004"/>
                </a:lnTo>
                <a:lnTo>
                  <a:pt x="509174" y="569694"/>
                </a:lnTo>
                <a:lnTo>
                  <a:pt x="460495" y="558570"/>
                </a:lnTo>
                <a:lnTo>
                  <a:pt x="413512" y="545634"/>
                </a:lnTo>
                <a:lnTo>
                  <a:pt x="0" y="642662"/>
                </a:lnTo>
                <a:close/>
              </a:path>
            </a:pathLst>
          </a:custGeom>
          <a:ln w="25400">
            <a:solidFill>
              <a:srgbClr val="385D89"/>
            </a:solidFill>
          </a:ln>
        </p:spPr>
        <p:txBody>
          <a:bodyPr wrap="square" lIns="0" tIns="0" rIns="0" bIns="0" rtlCol="0"/>
          <a:lstStyle/>
          <a:p>
            <a:endParaRPr sz="3200"/>
          </a:p>
        </p:txBody>
      </p:sp>
      <p:sp>
        <p:nvSpPr>
          <p:cNvPr id="13" name="object 13"/>
          <p:cNvSpPr txBox="1"/>
          <p:nvPr/>
        </p:nvSpPr>
        <p:spPr>
          <a:xfrm>
            <a:off x="6580787" y="3209485"/>
            <a:ext cx="2317471" cy="394979"/>
          </a:xfrm>
          <a:prstGeom prst="rect">
            <a:avLst/>
          </a:prstGeom>
        </p:spPr>
        <p:txBody>
          <a:bodyPr vert="horz" wrap="square" lIns="0" tIns="48259" rIns="0" bIns="0" rtlCol="0">
            <a:spAutoFit/>
          </a:bodyPr>
          <a:lstStyle/>
          <a:p>
            <a:pPr marL="170815" marR="6985" indent="-154940">
              <a:lnSpc>
                <a:spcPts val="2695"/>
              </a:lnSpc>
              <a:spcBef>
                <a:spcPts val="380"/>
              </a:spcBef>
            </a:pPr>
            <a:r>
              <a:rPr sz="3200" b="1" dirty="0" err="1">
                <a:solidFill>
                  <a:srgbClr val="FFFFFF"/>
                </a:solidFill>
                <a:latin typeface="宋体" panose="02010600030101010101" pitchFamily="2" charset="-122"/>
                <a:cs typeface="宋体" panose="02010600030101010101" pitchFamily="2" charset="-122"/>
              </a:rPr>
              <a:t>求解子问题</a:t>
            </a:r>
            <a:endParaRPr sz="3200" dirty="0">
              <a:latin typeface="宋体" panose="02010600030101010101" pitchFamily="2" charset="-122"/>
              <a:cs typeface="宋体" panose="02010600030101010101" pitchFamily="2" charset="-122"/>
            </a:endParaRPr>
          </a:p>
        </p:txBody>
      </p:sp>
      <p:sp>
        <p:nvSpPr>
          <p:cNvPr id="14" name="object 14"/>
          <p:cNvSpPr/>
          <p:nvPr/>
        </p:nvSpPr>
        <p:spPr>
          <a:xfrm>
            <a:off x="6329315" y="4242766"/>
            <a:ext cx="1647613" cy="811107"/>
          </a:xfrm>
          <a:custGeom>
            <a:avLst/>
            <a:gdLst/>
            <a:ahLst/>
            <a:cxnLst/>
            <a:rect l="l" t="t" r="r" b="b"/>
            <a:pathLst>
              <a:path w="1235710" h="608329">
                <a:moveTo>
                  <a:pt x="685716" y="0"/>
                </a:moveTo>
                <a:lnTo>
                  <a:pt x="626711" y="1527"/>
                </a:lnTo>
                <a:lnTo>
                  <a:pt x="569228" y="6430"/>
                </a:lnTo>
                <a:lnTo>
                  <a:pt x="513641" y="14546"/>
                </a:lnTo>
                <a:lnTo>
                  <a:pt x="460323" y="25713"/>
                </a:lnTo>
                <a:lnTo>
                  <a:pt x="409648" y="39768"/>
                </a:lnTo>
                <a:lnTo>
                  <a:pt x="361989" y="56547"/>
                </a:lnTo>
                <a:lnTo>
                  <a:pt x="317719" y="75889"/>
                </a:lnTo>
                <a:lnTo>
                  <a:pt x="277213" y="97630"/>
                </a:lnTo>
                <a:lnTo>
                  <a:pt x="240843" y="121608"/>
                </a:lnTo>
                <a:lnTo>
                  <a:pt x="208983" y="147659"/>
                </a:lnTo>
                <a:lnTo>
                  <a:pt x="182007" y="175621"/>
                </a:lnTo>
                <a:lnTo>
                  <a:pt x="144197" y="236628"/>
                </a:lnTo>
                <a:lnTo>
                  <a:pt x="134112" y="269346"/>
                </a:lnTo>
                <a:lnTo>
                  <a:pt x="0" y="333227"/>
                </a:lnTo>
                <a:lnTo>
                  <a:pt x="150494" y="385043"/>
                </a:lnTo>
                <a:lnTo>
                  <a:pt x="169897" y="416782"/>
                </a:lnTo>
                <a:lnTo>
                  <a:pt x="195145" y="446750"/>
                </a:lnTo>
                <a:lnTo>
                  <a:pt x="225841" y="474761"/>
                </a:lnTo>
                <a:lnTo>
                  <a:pt x="261589" y="500629"/>
                </a:lnTo>
                <a:lnTo>
                  <a:pt x="301993" y="524167"/>
                </a:lnTo>
                <a:lnTo>
                  <a:pt x="346658" y="545187"/>
                </a:lnTo>
                <a:lnTo>
                  <a:pt x="395186" y="563505"/>
                </a:lnTo>
                <a:lnTo>
                  <a:pt x="447182" y="578933"/>
                </a:lnTo>
                <a:lnTo>
                  <a:pt x="502249" y="591284"/>
                </a:lnTo>
                <a:lnTo>
                  <a:pt x="559992" y="600372"/>
                </a:lnTo>
                <a:lnTo>
                  <a:pt x="620013" y="606011"/>
                </a:lnTo>
                <a:lnTo>
                  <a:pt x="680168" y="608014"/>
                </a:lnTo>
                <a:lnTo>
                  <a:pt x="739173" y="606478"/>
                </a:lnTo>
                <a:lnTo>
                  <a:pt x="796656" y="601566"/>
                </a:lnTo>
                <a:lnTo>
                  <a:pt x="852243" y="593441"/>
                </a:lnTo>
                <a:lnTo>
                  <a:pt x="905561" y="582267"/>
                </a:lnTo>
                <a:lnTo>
                  <a:pt x="956236" y="568205"/>
                </a:lnTo>
                <a:lnTo>
                  <a:pt x="1003895" y="551421"/>
                </a:lnTo>
                <a:lnTo>
                  <a:pt x="1048165" y="532076"/>
                </a:lnTo>
                <a:lnTo>
                  <a:pt x="1088671" y="510334"/>
                </a:lnTo>
                <a:lnTo>
                  <a:pt x="1125041" y="486359"/>
                </a:lnTo>
                <a:lnTo>
                  <a:pt x="1156901" y="460313"/>
                </a:lnTo>
                <a:lnTo>
                  <a:pt x="1183877" y="432359"/>
                </a:lnTo>
                <a:lnTo>
                  <a:pt x="1221687" y="371384"/>
                </a:lnTo>
                <a:lnTo>
                  <a:pt x="1235417" y="305562"/>
                </a:lnTo>
                <a:lnTo>
                  <a:pt x="1232628" y="273071"/>
                </a:lnTo>
                <a:lnTo>
                  <a:pt x="1208939" y="210818"/>
                </a:lnTo>
                <a:lnTo>
                  <a:pt x="1163075" y="153573"/>
                </a:lnTo>
                <a:lnTo>
                  <a:pt x="1132569" y="127342"/>
                </a:lnTo>
                <a:lnTo>
                  <a:pt x="1097408" y="102979"/>
                </a:lnTo>
                <a:lnTo>
                  <a:pt x="1057890" y="80690"/>
                </a:lnTo>
                <a:lnTo>
                  <a:pt x="1014311" y="60681"/>
                </a:lnTo>
                <a:lnTo>
                  <a:pt x="966967" y="43155"/>
                </a:lnTo>
                <a:lnTo>
                  <a:pt x="916154" y="28321"/>
                </a:lnTo>
                <a:lnTo>
                  <a:pt x="862170" y="16381"/>
                </a:lnTo>
                <a:lnTo>
                  <a:pt x="805310" y="7543"/>
                </a:lnTo>
                <a:lnTo>
                  <a:pt x="745870" y="2011"/>
                </a:lnTo>
                <a:lnTo>
                  <a:pt x="685716" y="0"/>
                </a:lnTo>
                <a:close/>
              </a:path>
            </a:pathLst>
          </a:custGeom>
          <a:solidFill>
            <a:srgbClr val="4F81BC"/>
          </a:solidFill>
        </p:spPr>
        <p:txBody>
          <a:bodyPr wrap="square" lIns="0" tIns="0" rIns="0" bIns="0" rtlCol="0"/>
          <a:lstStyle/>
          <a:p>
            <a:endParaRPr sz="3200"/>
          </a:p>
        </p:txBody>
      </p:sp>
      <p:sp>
        <p:nvSpPr>
          <p:cNvPr id="15" name="object 15"/>
          <p:cNvSpPr/>
          <p:nvPr/>
        </p:nvSpPr>
        <p:spPr>
          <a:xfrm>
            <a:off x="6329315" y="4242766"/>
            <a:ext cx="1647613" cy="811107"/>
          </a:xfrm>
          <a:custGeom>
            <a:avLst/>
            <a:gdLst/>
            <a:ahLst/>
            <a:cxnLst/>
            <a:rect l="l" t="t" r="r" b="b"/>
            <a:pathLst>
              <a:path w="1235710" h="608329">
                <a:moveTo>
                  <a:pt x="0" y="333227"/>
                </a:moveTo>
                <a:lnTo>
                  <a:pt x="134112" y="269346"/>
                </a:lnTo>
                <a:lnTo>
                  <a:pt x="144197" y="236628"/>
                </a:lnTo>
                <a:lnTo>
                  <a:pt x="160287" y="205332"/>
                </a:lnTo>
                <a:lnTo>
                  <a:pt x="208983" y="147659"/>
                </a:lnTo>
                <a:lnTo>
                  <a:pt x="240843" y="121608"/>
                </a:lnTo>
                <a:lnTo>
                  <a:pt x="277213" y="97630"/>
                </a:lnTo>
                <a:lnTo>
                  <a:pt x="317719" y="75889"/>
                </a:lnTo>
                <a:lnTo>
                  <a:pt x="361989" y="56547"/>
                </a:lnTo>
                <a:lnTo>
                  <a:pt x="409648" y="39768"/>
                </a:lnTo>
                <a:lnTo>
                  <a:pt x="460323" y="25713"/>
                </a:lnTo>
                <a:lnTo>
                  <a:pt x="513641" y="14546"/>
                </a:lnTo>
                <a:lnTo>
                  <a:pt x="569228" y="6430"/>
                </a:lnTo>
                <a:lnTo>
                  <a:pt x="626711" y="1527"/>
                </a:lnTo>
                <a:lnTo>
                  <a:pt x="685716" y="0"/>
                </a:lnTo>
                <a:lnTo>
                  <a:pt x="745870" y="2011"/>
                </a:lnTo>
                <a:lnTo>
                  <a:pt x="805310" y="7543"/>
                </a:lnTo>
                <a:lnTo>
                  <a:pt x="862170" y="16381"/>
                </a:lnTo>
                <a:lnTo>
                  <a:pt x="916154" y="28321"/>
                </a:lnTo>
                <a:lnTo>
                  <a:pt x="966967" y="43155"/>
                </a:lnTo>
                <a:lnTo>
                  <a:pt x="1014311" y="60681"/>
                </a:lnTo>
                <a:lnTo>
                  <a:pt x="1057890" y="80690"/>
                </a:lnTo>
                <a:lnTo>
                  <a:pt x="1097408" y="102979"/>
                </a:lnTo>
                <a:lnTo>
                  <a:pt x="1132569" y="127342"/>
                </a:lnTo>
                <a:lnTo>
                  <a:pt x="1163075" y="153573"/>
                </a:lnTo>
                <a:lnTo>
                  <a:pt x="1208939" y="210818"/>
                </a:lnTo>
                <a:lnTo>
                  <a:pt x="1232628" y="273071"/>
                </a:lnTo>
                <a:lnTo>
                  <a:pt x="1235417" y="305562"/>
                </a:lnTo>
                <a:lnTo>
                  <a:pt x="1231772" y="338688"/>
                </a:lnTo>
                <a:lnTo>
                  <a:pt x="1205597" y="402662"/>
                </a:lnTo>
                <a:lnTo>
                  <a:pt x="1156901" y="460313"/>
                </a:lnTo>
                <a:lnTo>
                  <a:pt x="1125041" y="486359"/>
                </a:lnTo>
                <a:lnTo>
                  <a:pt x="1088671" y="510334"/>
                </a:lnTo>
                <a:lnTo>
                  <a:pt x="1048165" y="532076"/>
                </a:lnTo>
                <a:lnTo>
                  <a:pt x="1003895" y="551421"/>
                </a:lnTo>
                <a:lnTo>
                  <a:pt x="956236" y="568205"/>
                </a:lnTo>
                <a:lnTo>
                  <a:pt x="905561" y="582267"/>
                </a:lnTo>
                <a:lnTo>
                  <a:pt x="852243" y="593441"/>
                </a:lnTo>
                <a:lnTo>
                  <a:pt x="796656" y="601566"/>
                </a:lnTo>
                <a:lnTo>
                  <a:pt x="739173" y="606478"/>
                </a:lnTo>
                <a:lnTo>
                  <a:pt x="680168" y="608014"/>
                </a:lnTo>
                <a:lnTo>
                  <a:pt x="620013" y="606011"/>
                </a:lnTo>
                <a:lnTo>
                  <a:pt x="559992" y="600372"/>
                </a:lnTo>
                <a:lnTo>
                  <a:pt x="502249" y="591284"/>
                </a:lnTo>
                <a:lnTo>
                  <a:pt x="447182" y="578933"/>
                </a:lnTo>
                <a:lnTo>
                  <a:pt x="395186" y="563505"/>
                </a:lnTo>
                <a:lnTo>
                  <a:pt x="346658" y="545187"/>
                </a:lnTo>
                <a:lnTo>
                  <a:pt x="301993" y="524167"/>
                </a:lnTo>
                <a:lnTo>
                  <a:pt x="261589" y="500629"/>
                </a:lnTo>
                <a:lnTo>
                  <a:pt x="225841" y="474761"/>
                </a:lnTo>
                <a:lnTo>
                  <a:pt x="195145" y="446750"/>
                </a:lnTo>
                <a:lnTo>
                  <a:pt x="169897" y="416782"/>
                </a:lnTo>
                <a:lnTo>
                  <a:pt x="150494" y="385043"/>
                </a:lnTo>
                <a:lnTo>
                  <a:pt x="0" y="333227"/>
                </a:lnTo>
                <a:close/>
              </a:path>
            </a:pathLst>
          </a:custGeom>
          <a:ln w="25400">
            <a:solidFill>
              <a:srgbClr val="385D89"/>
            </a:solidFill>
          </a:ln>
        </p:spPr>
        <p:txBody>
          <a:bodyPr wrap="square" lIns="0" tIns="0" rIns="0" bIns="0" rtlCol="0"/>
          <a:lstStyle/>
          <a:p>
            <a:endParaRPr sz="3200"/>
          </a:p>
        </p:txBody>
      </p:sp>
      <p:sp>
        <p:nvSpPr>
          <p:cNvPr id="16" name="object 16"/>
          <p:cNvSpPr txBox="1"/>
          <p:nvPr/>
        </p:nvSpPr>
        <p:spPr>
          <a:xfrm>
            <a:off x="6250922" y="4481410"/>
            <a:ext cx="2052256" cy="376171"/>
          </a:xfrm>
          <a:prstGeom prst="rect">
            <a:avLst/>
          </a:prstGeom>
        </p:spPr>
        <p:txBody>
          <a:bodyPr vert="horz" wrap="square" lIns="0" tIns="16933" rIns="0" bIns="0" rtlCol="0">
            <a:spAutoFit/>
          </a:bodyPr>
          <a:lstStyle/>
          <a:p>
            <a:pPr algn="ctr">
              <a:lnSpc>
                <a:spcPts val="2785"/>
              </a:lnSpc>
              <a:spcBef>
                <a:spcPts val="135"/>
              </a:spcBef>
            </a:pPr>
            <a:r>
              <a:rPr sz="3200" b="1" dirty="0" err="1">
                <a:solidFill>
                  <a:srgbClr val="FFFFFF"/>
                </a:solidFill>
                <a:latin typeface="宋体" panose="02010600030101010101" pitchFamily="2" charset="-122"/>
                <a:cs typeface="宋体" panose="02010600030101010101" pitchFamily="2" charset="-122"/>
              </a:rPr>
              <a:t>综合</a:t>
            </a:r>
            <a:r>
              <a:rPr sz="3200" b="1" spc="-13" dirty="0" err="1">
                <a:solidFill>
                  <a:srgbClr val="FFFFFF"/>
                </a:solidFill>
                <a:latin typeface="宋体" panose="02010600030101010101" pitchFamily="2" charset="-122"/>
                <a:cs typeface="宋体" panose="02010600030101010101" pitchFamily="2" charset="-122"/>
              </a:rPr>
              <a:t>解</a:t>
            </a:r>
            <a:endParaRPr sz="3200" dirty="0">
              <a:latin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animBg="1"/>
      <p:bldP spid="12" grpId="0" animBg="1"/>
      <p:bldP spid="13" grpId="0"/>
      <p:bldP spid="14" grpId="0" animBg="1"/>
      <p:bldP spid="15" grpId="0" animBg="1"/>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141" y="-29137"/>
            <a:ext cx="8881242"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设计要点</a:t>
            </a:r>
            <a:endParaRPr sz="4400" b="1" spc="-13" dirty="0">
              <a:solidFill>
                <a:srgbClr val="C00000"/>
              </a:solidFill>
              <a:latin typeface="黑体" panose="02010609060101010101" pitchFamily="49" charset="-122"/>
              <a:ea typeface="黑体" panose="02010609060101010101" pitchFamily="49" charset="-122"/>
            </a:endParaRPr>
          </a:p>
        </p:txBody>
      </p:sp>
      <p:sp>
        <p:nvSpPr>
          <p:cNvPr id="4" name="矩形 3"/>
          <p:cNvSpPr/>
          <p:nvPr/>
        </p:nvSpPr>
        <p:spPr>
          <a:xfrm>
            <a:off x="622300" y="1296938"/>
            <a:ext cx="7975600" cy="4262705"/>
          </a:xfrm>
          <a:prstGeom prst="rect">
            <a:avLst/>
          </a:prstGeom>
        </p:spPr>
        <p:txBody>
          <a:bodyPr wrap="square">
            <a:spAutoFit/>
          </a:bodyPr>
          <a:lstStyle/>
          <a:p>
            <a:pPr marL="457200" indent="-457200">
              <a:spcBef>
                <a:spcPts val="1800"/>
              </a:spcBef>
              <a:buFont typeface="Wingdings" panose="05000000000000000000" pitchFamily="2" charset="2"/>
              <a:buChar char="l"/>
            </a:pPr>
            <a:r>
              <a:rPr lang="zh-CN" altLang="en-US" sz="2800" b="1" dirty="0">
                <a:latin typeface="宋体" panose="02010600030101010101" pitchFamily="2" charset="-122"/>
                <a:ea typeface="宋体" panose="02010600030101010101" pitchFamily="2" charset="-122"/>
              </a:rPr>
              <a:t>原问题可以划分或者归约为规模较小的子问题</a:t>
            </a:r>
            <a:endParaRPr lang="zh-CN" altLang="en-US" sz="2800" b="1" dirty="0">
              <a:latin typeface="宋体" panose="02010600030101010101" pitchFamily="2" charset="-122"/>
              <a:ea typeface="宋体" panose="02010600030101010101" pitchFamily="2" charset="-122"/>
            </a:endParaRPr>
          </a:p>
          <a:p>
            <a:pPr marL="1177290" indent="-457200">
              <a:spcBef>
                <a:spcPts val="1800"/>
              </a:spcBef>
              <a:buFont typeface="Wingdings" panose="05000000000000000000" pitchFamily="2" charset="2"/>
              <a:buChar char="u"/>
            </a:pPr>
            <a:r>
              <a:rPr lang="zh-CN" altLang="en-US" sz="2800" dirty="0"/>
              <a:t>子问题与原问题具有相同的性质</a:t>
            </a:r>
            <a:endParaRPr lang="zh-CN" altLang="en-US" sz="2800" dirty="0"/>
          </a:p>
          <a:p>
            <a:pPr marL="1177290" indent="-457200">
              <a:buFont typeface="Wingdings" panose="05000000000000000000" pitchFamily="2" charset="2"/>
              <a:buChar char="u"/>
            </a:pPr>
            <a:r>
              <a:rPr lang="zh-CN" altLang="en-US" sz="2800" dirty="0"/>
              <a:t>子问题的求解彼此独立</a:t>
            </a:r>
            <a:endParaRPr lang="zh-CN" altLang="en-US" sz="2800" dirty="0"/>
          </a:p>
          <a:p>
            <a:pPr marL="457200" indent="-457200">
              <a:spcBef>
                <a:spcPts val="1800"/>
              </a:spcBef>
              <a:buFont typeface="Wingdings" panose="05000000000000000000" pitchFamily="2" charset="2"/>
              <a:buChar char="l"/>
            </a:pPr>
            <a:r>
              <a:rPr lang="zh-CN" altLang="en-US" sz="2800" b="1" dirty="0">
                <a:latin typeface="宋体" panose="02010600030101010101" pitchFamily="2" charset="-122"/>
                <a:ea typeface="宋体" panose="02010600030101010101" pitchFamily="2" charset="-122"/>
              </a:rPr>
              <a:t>划分时子问题的规模尽可能均衡</a:t>
            </a:r>
            <a:endParaRPr lang="zh-CN" altLang="en-US" sz="2800" b="1" dirty="0">
              <a:latin typeface="宋体" panose="02010600030101010101" pitchFamily="2" charset="-122"/>
              <a:ea typeface="宋体" panose="02010600030101010101" pitchFamily="2" charset="-122"/>
            </a:endParaRPr>
          </a:p>
          <a:p>
            <a:pPr marL="457200" indent="-457200">
              <a:spcBef>
                <a:spcPts val="1800"/>
              </a:spcBef>
              <a:buFont typeface="Wingdings" panose="05000000000000000000" pitchFamily="2" charset="2"/>
              <a:buChar char="l"/>
            </a:pPr>
            <a:r>
              <a:rPr lang="zh-CN" altLang="en-US" sz="2800" b="1" dirty="0">
                <a:latin typeface="宋体" panose="02010600030101010101" pitchFamily="2" charset="-122"/>
                <a:ea typeface="宋体" panose="02010600030101010101" pitchFamily="2" charset="-122"/>
              </a:rPr>
              <a:t>子问题规模足够小时可直接求解</a:t>
            </a:r>
            <a:endParaRPr lang="zh-CN" altLang="en-US" sz="2800" b="1" dirty="0">
              <a:latin typeface="宋体" panose="02010600030101010101" pitchFamily="2" charset="-122"/>
              <a:ea typeface="宋体" panose="02010600030101010101" pitchFamily="2" charset="-122"/>
            </a:endParaRPr>
          </a:p>
          <a:p>
            <a:pPr marL="457200" indent="-457200">
              <a:spcBef>
                <a:spcPts val="1800"/>
              </a:spcBef>
              <a:buFont typeface="Wingdings" panose="05000000000000000000" pitchFamily="2" charset="2"/>
              <a:buChar char="l"/>
            </a:pPr>
            <a:r>
              <a:rPr lang="zh-CN" altLang="en-US" sz="2800" b="1" dirty="0">
                <a:latin typeface="宋体" panose="02010600030101010101" pitchFamily="2" charset="-122"/>
                <a:ea typeface="宋体" panose="02010600030101010101" pitchFamily="2" charset="-122"/>
              </a:rPr>
              <a:t>子问题的解综合得到原问题的解</a:t>
            </a:r>
            <a:endParaRPr lang="zh-CN" altLang="en-US" sz="2800" b="1" dirty="0">
              <a:latin typeface="宋体" panose="02010600030101010101" pitchFamily="2" charset="-122"/>
              <a:ea typeface="宋体" panose="02010600030101010101" pitchFamily="2" charset="-122"/>
            </a:endParaRPr>
          </a:p>
          <a:p>
            <a:pPr marL="457200" indent="-457200">
              <a:spcBef>
                <a:spcPts val="1800"/>
              </a:spcBef>
              <a:buFont typeface="Wingdings" panose="05000000000000000000" pitchFamily="2" charset="2"/>
              <a:buChar char="l"/>
            </a:pPr>
            <a:r>
              <a:rPr lang="zh-CN" altLang="en-US" sz="2800" b="1" dirty="0">
                <a:latin typeface="宋体" panose="02010600030101010101" pitchFamily="2" charset="-122"/>
                <a:ea typeface="宋体" panose="02010600030101010101" pitchFamily="2" charset="-122"/>
              </a:rPr>
              <a:t>算法实现：递归或迭代</a:t>
            </a:r>
            <a:endParaRPr lang="zh-CN" altLang="en-US" sz="2800" b="1" dirty="0">
              <a:latin typeface="宋体" panose="02010600030101010101" pitchFamily="2" charset="-122"/>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4199" y="998706"/>
            <a:ext cx="8077201" cy="4438822"/>
          </a:xfrm>
          <a:prstGeom prst="rect">
            <a:avLst/>
          </a:prstGeom>
        </p:spPr>
        <p:txBody>
          <a:bodyPr vert="horz" wrap="square" lIns="0" tIns="220133" rIns="0" bIns="0" rtlCol="0">
            <a:spAutoFit/>
          </a:bodyPr>
          <a:lstStyle/>
          <a:p>
            <a:pPr marL="67945">
              <a:spcBef>
                <a:spcPts val="1200"/>
              </a:spcBef>
            </a:pPr>
            <a:r>
              <a:rPr sz="3200" b="1" dirty="0">
                <a:latin typeface="Times New Roman" panose="02020603050405020304" pitchFamily="18" charset="0"/>
                <a:ea typeface="黑体" panose="02010609060101010101" pitchFamily="49" charset="-122"/>
                <a:cs typeface="Times New Roman" panose="02020603050405020304" pitchFamily="18" charset="0"/>
              </a:rPr>
              <a:t>时间复杂度函数的递推方程</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67945" marR="515620">
              <a:spcBef>
                <a:spcPts val="1200"/>
              </a:spcBef>
            </a:pPr>
            <a:r>
              <a:rPr lang="en-US"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W</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n</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W</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P</a:t>
            </a:r>
            <a:r>
              <a:rPr sz="3200" b="1" spc="-9" baseline="-21000" dirty="0">
                <a:latin typeface="Times New Roman" panose="02020603050405020304" pitchFamily="18" charset="0"/>
                <a:ea typeface="黑体" panose="02010609060101010101" pitchFamily="49" charset="-122"/>
                <a:cs typeface="Times New Roman" panose="02020603050405020304" pitchFamily="18" charset="0"/>
              </a:rPr>
              <a:t>1</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W</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P</a:t>
            </a:r>
            <a:r>
              <a:rPr sz="3200" b="1" spc="-9" baseline="-21000" dirty="0">
                <a:latin typeface="Times New Roman" panose="02020603050405020304" pitchFamily="18" charset="0"/>
                <a:ea typeface="黑体" panose="02010609060101010101" pitchFamily="49" charset="-122"/>
                <a:cs typeface="Times New Roman" panose="02020603050405020304" pitchFamily="18" charset="0"/>
              </a:rPr>
              <a:t>2</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W</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P</a:t>
            </a:r>
            <a:r>
              <a:rPr sz="3200" b="1" i="1" spc="-9" baseline="-21000" dirty="0">
                <a:latin typeface="Times New Roman" panose="02020603050405020304" pitchFamily="18" charset="0"/>
                <a:ea typeface="黑体" panose="02010609060101010101" pitchFamily="49" charset="-122"/>
                <a:cs typeface="Times New Roman" panose="02020603050405020304" pitchFamily="18" charset="0"/>
              </a:rPr>
              <a:t>k</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f</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n</a:t>
            </a:r>
            <a:r>
              <a:rPr sz="3200" b="1" spc="-7" dirty="0">
                <a:latin typeface="Times New Roman" panose="02020603050405020304" pitchFamily="18" charset="0"/>
                <a:ea typeface="黑体" panose="02010609060101010101" pitchFamily="49" charset="-122"/>
                <a:cs typeface="Times New Roman" panose="02020603050405020304" pitchFamily="18" charset="0"/>
              </a:rPr>
              <a:t>)  </a:t>
            </a:r>
            <a:r>
              <a:rPr lang="en-US" sz="3200" b="1" spc="-7" dirty="0">
                <a:latin typeface="Times New Roman" panose="02020603050405020304" pitchFamily="18" charset="0"/>
                <a:ea typeface="黑体" panose="02010609060101010101" pitchFamily="49" charset="-122"/>
                <a:cs typeface="Times New Roman" panose="02020603050405020304" pitchFamily="18" charset="0"/>
              </a:rPr>
              <a:t> </a:t>
            </a:r>
            <a:endParaRPr lang="en-US" sz="3200" b="1" spc="-7" dirty="0">
              <a:latin typeface="Times New Roman" panose="02020603050405020304" pitchFamily="18" charset="0"/>
              <a:ea typeface="黑体" panose="02010609060101010101" pitchFamily="49" charset="-122"/>
              <a:cs typeface="Times New Roman" panose="02020603050405020304" pitchFamily="18" charset="0"/>
            </a:endParaRPr>
          </a:p>
          <a:p>
            <a:pPr marL="67945" marR="515620">
              <a:spcBef>
                <a:spcPts val="1200"/>
              </a:spcBef>
            </a:pPr>
            <a:r>
              <a:rPr lang="en-US" sz="3200" b="1" i="1"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W</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i="1" dirty="0">
                <a:latin typeface="Times New Roman" panose="02020603050405020304" pitchFamily="18" charset="0"/>
                <a:ea typeface="黑体" panose="02010609060101010101" pitchFamily="49" charset="-122"/>
                <a:cs typeface="Times New Roman" panose="02020603050405020304" pitchFamily="18" charset="0"/>
              </a:rPr>
              <a:t>c</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i="1" dirty="0">
                <a:latin typeface="Times New Roman" panose="02020603050405020304" pitchFamily="18" charset="0"/>
                <a:ea typeface="黑体" panose="02010609060101010101" pitchFamily="49" charset="-122"/>
                <a:cs typeface="Times New Roman" panose="02020603050405020304" pitchFamily="18" charset="0"/>
              </a:rPr>
              <a:t>C</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indent="-457200">
              <a:spcBef>
                <a:spcPts val="1200"/>
              </a:spcBef>
              <a:buFont typeface="Arial" panose="020B0604020202020204"/>
              <a:buChar char="•"/>
              <a:tabLst>
                <a:tab pos="523875" algn="l"/>
                <a:tab pos="524510" algn="l"/>
              </a:tabLst>
            </a:pPr>
            <a:r>
              <a:rPr sz="3200" b="1" i="1" dirty="0">
                <a:latin typeface="Times New Roman" panose="02020603050405020304" pitchFamily="18" charset="0"/>
                <a:ea typeface="黑体" panose="02010609060101010101" pitchFamily="49" charset="-122"/>
                <a:cs typeface="Times New Roman" panose="02020603050405020304" pitchFamily="18" charset="0"/>
              </a:rPr>
              <a:t>P</a:t>
            </a:r>
            <a:r>
              <a:rPr sz="3200" b="1" baseline="-21000" dirty="0">
                <a:latin typeface="Times New Roman" panose="02020603050405020304" pitchFamily="18" charset="0"/>
                <a:ea typeface="黑体" panose="02010609060101010101" pitchFamily="49" charset="-122"/>
                <a:cs typeface="Times New Roman" panose="02020603050405020304" pitchFamily="18" charset="0"/>
              </a:rPr>
              <a:t>1</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spc="-40"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P</a:t>
            </a:r>
            <a:r>
              <a:rPr sz="3200" b="1" spc="-9" baseline="-21000" dirty="0">
                <a:latin typeface="Times New Roman" panose="02020603050405020304" pitchFamily="18" charset="0"/>
                <a:ea typeface="黑体" panose="02010609060101010101" pitchFamily="49" charset="-122"/>
                <a:cs typeface="Times New Roman" panose="02020603050405020304" pitchFamily="18" charset="0"/>
              </a:rPr>
              <a:t>2</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spc="-33"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spc="-13"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err="1">
                <a:latin typeface="Times New Roman" panose="02020603050405020304" pitchFamily="18" charset="0"/>
                <a:ea typeface="黑体" panose="02010609060101010101" pitchFamily="49" charset="-122"/>
                <a:cs typeface="Times New Roman" panose="02020603050405020304" pitchFamily="18" charset="0"/>
              </a:rPr>
              <a:t>P</a:t>
            </a:r>
            <a:r>
              <a:rPr sz="3200" b="1" i="1" spc="-9" baseline="-21000" dirty="0" err="1">
                <a:latin typeface="Times New Roman" panose="02020603050405020304" pitchFamily="18" charset="0"/>
                <a:ea typeface="黑体" panose="02010609060101010101" pitchFamily="49" charset="-122"/>
                <a:cs typeface="Times New Roman" panose="02020603050405020304" pitchFamily="18" charset="0"/>
              </a:rPr>
              <a:t>k</a:t>
            </a:r>
            <a:r>
              <a:rPr sz="3200" b="1" i="1" spc="-20" baseline="-21000" dirty="0">
                <a:latin typeface="Times New Roman" panose="02020603050405020304" pitchFamily="18" charset="0"/>
                <a:ea typeface="黑体" panose="02010609060101010101" pitchFamily="49" charset="-122"/>
                <a:cs typeface="Times New Roman" panose="02020603050405020304" pitchFamily="18" charset="0"/>
              </a:rPr>
              <a:t> </a:t>
            </a:r>
            <a:r>
              <a:rPr sz="3200" b="1" spc="-13" dirty="0" err="1">
                <a:latin typeface="Times New Roman" panose="02020603050405020304" pitchFamily="18" charset="0"/>
                <a:ea typeface="黑体" panose="02010609060101010101" pitchFamily="49" charset="-122"/>
                <a:cs typeface="Times New Roman" panose="02020603050405020304" pitchFamily="18" charset="0"/>
              </a:rPr>
              <a:t>为</a:t>
            </a:r>
            <a:r>
              <a:rPr sz="3200" b="1" dirty="0" err="1">
                <a:latin typeface="Times New Roman" panose="02020603050405020304" pitchFamily="18" charset="0"/>
                <a:ea typeface="黑体" panose="02010609060101010101" pitchFamily="49" charset="-122"/>
                <a:cs typeface="Times New Roman" panose="02020603050405020304" pitchFamily="18" charset="0"/>
              </a:rPr>
              <a:t>划分后产生</a:t>
            </a:r>
            <a:r>
              <a:rPr sz="3200" b="1" spc="-13" dirty="0" err="1">
                <a:latin typeface="Times New Roman" panose="02020603050405020304" pitchFamily="18" charset="0"/>
                <a:ea typeface="黑体" panose="02010609060101010101" pitchFamily="49" charset="-122"/>
                <a:cs typeface="Times New Roman" panose="02020603050405020304" pitchFamily="18" charset="0"/>
              </a:rPr>
              <a:t>的</a:t>
            </a:r>
            <a:r>
              <a:rPr sz="3200" b="1" dirty="0" err="1">
                <a:latin typeface="Times New Roman" panose="02020603050405020304" pitchFamily="18" charset="0"/>
                <a:ea typeface="黑体" panose="02010609060101010101" pitchFamily="49" charset="-122"/>
                <a:cs typeface="Times New Roman" panose="02020603050405020304" pitchFamily="18" charset="0"/>
              </a:rPr>
              <a:t>子问题</a:t>
            </a:r>
            <a:endParaRPr lang="en-US" sz="3200" dirty="0">
              <a:latin typeface="Times New Roman" panose="02020603050405020304" pitchFamily="18" charset="0"/>
              <a:ea typeface="黑体" panose="02010609060101010101" pitchFamily="49" charset="-122"/>
              <a:cs typeface="Times New Roman" panose="02020603050405020304" pitchFamily="18" charset="0"/>
            </a:endParaRPr>
          </a:p>
          <a:p>
            <a:pPr indent="-457200">
              <a:spcBef>
                <a:spcPts val="1200"/>
              </a:spcBef>
              <a:buFont typeface="Arial" panose="020B0604020202020204"/>
              <a:buChar char="•"/>
              <a:tabLst>
                <a:tab pos="523875" algn="l"/>
                <a:tab pos="524510" algn="l"/>
              </a:tabLst>
            </a:pPr>
            <a:r>
              <a:rPr sz="3200" b="1" i="1" spc="7" dirty="0">
                <a:latin typeface="Times New Roman" panose="02020603050405020304" pitchFamily="18" charset="0"/>
                <a:ea typeface="黑体" panose="02010609060101010101" pitchFamily="49" charset="-122"/>
                <a:cs typeface="Times New Roman" panose="02020603050405020304" pitchFamily="18" charset="0"/>
              </a:rPr>
              <a:t>f</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i="1" spc="-13" dirty="0">
                <a:latin typeface="Times New Roman" panose="02020603050405020304" pitchFamily="18" charset="0"/>
                <a:ea typeface="黑体" panose="02010609060101010101" pitchFamily="49" charset="-122"/>
                <a:cs typeface="Times New Roman" panose="02020603050405020304" pitchFamily="18" charset="0"/>
              </a:rPr>
              <a:t>n</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dirty="0" err="1">
                <a:latin typeface="Times New Roman" panose="02020603050405020304" pitchFamily="18" charset="0"/>
                <a:ea typeface="黑体" panose="02010609060101010101" pitchFamily="49" charset="-122"/>
                <a:cs typeface="Times New Roman" panose="02020603050405020304" pitchFamily="18" charset="0"/>
              </a:rPr>
              <a:t>为划分子问题以及将子问题</a:t>
            </a:r>
            <a:r>
              <a:rPr sz="3200" b="1" spc="7" dirty="0" err="1">
                <a:latin typeface="Times New Roman" panose="02020603050405020304" pitchFamily="18" charset="0"/>
                <a:ea typeface="黑体" panose="02010609060101010101" pitchFamily="49" charset="-122"/>
                <a:cs typeface="Times New Roman" panose="02020603050405020304" pitchFamily="18" charset="0"/>
              </a:rPr>
              <a:t>的</a:t>
            </a:r>
            <a:r>
              <a:rPr sz="3200" b="1" spc="-13" dirty="0" err="1">
                <a:latin typeface="Times New Roman" panose="02020603050405020304" pitchFamily="18" charset="0"/>
                <a:ea typeface="黑体" panose="02010609060101010101" pitchFamily="49" charset="-122"/>
                <a:cs typeface="Times New Roman" panose="02020603050405020304" pitchFamily="18" charset="0"/>
              </a:rPr>
              <a:t>解</a:t>
            </a:r>
            <a:r>
              <a:rPr sz="3200" b="1" dirty="0" err="1">
                <a:latin typeface="Times New Roman" panose="02020603050405020304" pitchFamily="18" charset="0"/>
                <a:ea typeface="黑体" panose="02010609060101010101" pitchFamily="49" charset="-122"/>
                <a:cs typeface="Times New Roman" panose="02020603050405020304" pitchFamily="18" charset="0"/>
              </a:rPr>
              <a:t>综合得到原问</a:t>
            </a:r>
            <a:r>
              <a:rPr sz="3200" b="1" spc="7" dirty="0" err="1">
                <a:latin typeface="Times New Roman" panose="02020603050405020304" pitchFamily="18" charset="0"/>
                <a:ea typeface="黑体" panose="02010609060101010101" pitchFamily="49" charset="-122"/>
                <a:cs typeface="Times New Roman" panose="02020603050405020304" pitchFamily="18" charset="0"/>
              </a:rPr>
              <a:t>题</a:t>
            </a:r>
            <a:r>
              <a:rPr sz="3200" b="1" dirty="0" err="1">
                <a:latin typeface="Times New Roman" panose="02020603050405020304" pitchFamily="18" charset="0"/>
                <a:ea typeface="黑体" panose="02010609060101010101" pitchFamily="49" charset="-122"/>
                <a:cs typeface="Times New Roman" panose="02020603050405020304" pitchFamily="18" charset="0"/>
              </a:rPr>
              <a:t>解的总工作量</a:t>
            </a:r>
            <a:endParaRPr lang="en-US" sz="3200" b="1" dirty="0">
              <a:latin typeface="Times New Roman" panose="02020603050405020304" pitchFamily="18" charset="0"/>
              <a:ea typeface="黑体" panose="02010609060101010101" pitchFamily="49" charset="-122"/>
              <a:cs typeface="Times New Roman" panose="02020603050405020304" pitchFamily="18" charset="0"/>
            </a:endParaRPr>
          </a:p>
          <a:p>
            <a:pPr indent="-457200">
              <a:spcBef>
                <a:spcPts val="1200"/>
              </a:spcBef>
              <a:buFont typeface="Arial" panose="020B0604020202020204"/>
              <a:buChar char="•"/>
              <a:tabLst>
                <a:tab pos="523875" algn="l"/>
                <a:tab pos="524510" algn="l"/>
              </a:tabLst>
            </a:pP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规模为</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c</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的最小子问题的工作量为</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C</a:t>
            </a:r>
            <a:endParaRPr lang="en-US" altLang="zh-CN" sz="32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object 3"/>
          <p:cNvSpPr txBox="1">
            <a:spLocks noGrp="1"/>
          </p:cNvSpPr>
          <p:nvPr>
            <p:ph type="title"/>
          </p:nvPr>
        </p:nvSpPr>
        <p:spPr>
          <a:xfrm>
            <a:off x="264159" y="46545"/>
            <a:ext cx="8853312"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分治算法时间分析</a:t>
            </a:r>
            <a:endParaRPr sz="4400" b="1" spc="-13" dirty="0">
              <a:solidFill>
                <a:srgbClr val="C00000"/>
              </a:solidFill>
              <a:latin typeface="黑体" panose="02010609060101010101" pitchFamily="49" charset="-122"/>
              <a:ea typeface="黑体" panose="02010609060101010101" pitchFamily="49" charset="-122"/>
            </a:endParaRPr>
          </a:p>
        </p:txBody>
      </p:sp>
      <p:sp>
        <p:nvSpPr>
          <p:cNvPr id="4" name="object 4"/>
          <p:cNvSpPr/>
          <p:nvPr/>
        </p:nvSpPr>
        <p:spPr>
          <a:xfrm>
            <a:off x="-269908" y="0"/>
            <a:ext cx="247904" cy="229616"/>
          </a:xfrm>
          <a:prstGeom prst="rect">
            <a:avLst/>
          </a:prstGeom>
          <a:blipFill>
            <a:blip r:embed="rId1" cstate="print"/>
            <a:stretch>
              <a:fillRect/>
            </a:stretch>
          </a:blipFill>
        </p:spPr>
        <p:txBody>
          <a:bodyPr wrap="square" lIns="0" tIns="0" rIns="0" bIns="0" rtlCol="0"/>
          <a:lstStyle/>
          <a:p>
            <a:endParaRPr sz="2400"/>
          </a:p>
        </p:txBody>
      </p:sp>
      <p:sp>
        <p:nvSpPr>
          <p:cNvPr id="5" name="object 5"/>
          <p:cNvSpPr/>
          <p:nvPr/>
        </p:nvSpPr>
        <p:spPr>
          <a:xfrm>
            <a:off x="14223" y="0"/>
            <a:ext cx="249936" cy="264160"/>
          </a:xfrm>
          <a:prstGeom prst="rect">
            <a:avLst/>
          </a:prstGeom>
          <a:blipFill>
            <a:blip r:embed="rId2" cstate="print"/>
            <a:stretch>
              <a:fillRect/>
            </a:stretch>
          </a:blipFill>
        </p:spPr>
        <p:txBody>
          <a:bodyPr wrap="square" lIns="0" tIns="0" rIns="0" bIns="0" rtlCol="0"/>
          <a:lstStyle/>
          <a:p>
            <a:endParaRPr sz="2400"/>
          </a:p>
        </p:txBody>
      </p:sp>
      <p:sp>
        <p:nvSpPr>
          <p:cNvPr id="6" name="object 6"/>
          <p:cNvSpPr/>
          <p:nvPr/>
        </p:nvSpPr>
        <p:spPr>
          <a:xfrm>
            <a:off x="1080014" y="1801367"/>
            <a:ext cx="6881272" cy="1237322"/>
          </a:xfrm>
          <a:custGeom>
            <a:avLst/>
            <a:gdLst/>
            <a:ahLst/>
            <a:cxnLst/>
            <a:rect l="l" t="t" r="r" b="b"/>
            <a:pathLst>
              <a:path w="5029200" h="914400">
                <a:moveTo>
                  <a:pt x="0" y="152400"/>
                </a:moveTo>
                <a:lnTo>
                  <a:pt x="7769" y="104217"/>
                </a:lnTo>
                <a:lnTo>
                  <a:pt x="29405" y="62380"/>
                </a:lnTo>
                <a:lnTo>
                  <a:pt x="62396" y="29394"/>
                </a:lnTo>
                <a:lnTo>
                  <a:pt x="104231" y="7766"/>
                </a:lnTo>
                <a:lnTo>
                  <a:pt x="152400" y="0"/>
                </a:lnTo>
                <a:lnTo>
                  <a:pt x="4876800" y="0"/>
                </a:lnTo>
                <a:lnTo>
                  <a:pt x="4924982" y="7766"/>
                </a:lnTo>
                <a:lnTo>
                  <a:pt x="4966819" y="29394"/>
                </a:lnTo>
                <a:lnTo>
                  <a:pt x="4999805" y="62380"/>
                </a:lnTo>
                <a:lnTo>
                  <a:pt x="5021433" y="104217"/>
                </a:lnTo>
                <a:lnTo>
                  <a:pt x="5029200" y="152400"/>
                </a:lnTo>
                <a:lnTo>
                  <a:pt x="5029200" y="762000"/>
                </a:lnTo>
                <a:lnTo>
                  <a:pt x="5021433" y="810182"/>
                </a:lnTo>
                <a:lnTo>
                  <a:pt x="4999805" y="852019"/>
                </a:lnTo>
                <a:lnTo>
                  <a:pt x="4966819" y="885005"/>
                </a:lnTo>
                <a:lnTo>
                  <a:pt x="4924982" y="906633"/>
                </a:lnTo>
                <a:lnTo>
                  <a:pt x="4876800" y="914400"/>
                </a:lnTo>
                <a:lnTo>
                  <a:pt x="152400" y="914400"/>
                </a:lnTo>
                <a:lnTo>
                  <a:pt x="104231" y="906633"/>
                </a:lnTo>
                <a:lnTo>
                  <a:pt x="62396" y="885005"/>
                </a:lnTo>
                <a:lnTo>
                  <a:pt x="29405" y="852019"/>
                </a:lnTo>
                <a:lnTo>
                  <a:pt x="7769" y="810182"/>
                </a:lnTo>
                <a:lnTo>
                  <a:pt x="0" y="762000"/>
                </a:lnTo>
                <a:lnTo>
                  <a:pt x="0" y="152400"/>
                </a:lnTo>
                <a:close/>
              </a:path>
            </a:pathLst>
          </a:custGeom>
          <a:ln w="25400">
            <a:solidFill>
              <a:srgbClr val="C00000"/>
            </a:solidFill>
          </a:ln>
        </p:spPr>
        <p:txBody>
          <a:bodyPr wrap="square" lIns="0" tIns="0" rIns="0" bIns="0" rtlCol="0"/>
          <a:lstStyle/>
          <a:p>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3424" y="60231"/>
            <a:ext cx="8899333"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两</a:t>
            </a:r>
            <a:r>
              <a:rPr sz="4400" b="1" spc="-20" dirty="0">
                <a:solidFill>
                  <a:srgbClr val="C00000"/>
                </a:solidFill>
                <a:latin typeface="黑体" panose="02010609060101010101" pitchFamily="49" charset="-122"/>
                <a:ea typeface="黑体" panose="02010609060101010101" pitchFamily="49" charset="-122"/>
              </a:rPr>
              <a:t>类</a:t>
            </a:r>
            <a:r>
              <a:rPr sz="4400" b="1" spc="-13" dirty="0">
                <a:solidFill>
                  <a:srgbClr val="C00000"/>
                </a:solidFill>
                <a:latin typeface="黑体" panose="02010609060101010101" pitchFamily="49" charset="-122"/>
                <a:ea typeface="黑体" panose="02010609060101010101" pitchFamily="49" charset="-122"/>
              </a:rPr>
              <a:t>常见的递推方程</a:t>
            </a:r>
            <a:endParaRPr sz="4400" b="1" spc="-13" dirty="0">
              <a:solidFill>
                <a:srgbClr val="C00000"/>
              </a:solidFill>
              <a:latin typeface="黑体" panose="02010609060101010101" pitchFamily="49" charset="-122"/>
              <a:ea typeface="黑体" panose="02010609060101010101" pitchFamily="49" charset="-122"/>
            </a:endParaRPr>
          </a:p>
        </p:txBody>
      </p:sp>
      <p:sp>
        <p:nvSpPr>
          <p:cNvPr id="7" name="object 7"/>
          <p:cNvSpPr txBox="1">
            <a:spLocks noGrp="1"/>
          </p:cNvSpPr>
          <p:nvPr>
            <p:ph idx="4294967295"/>
          </p:nvPr>
        </p:nvSpPr>
        <p:spPr>
          <a:xfrm>
            <a:off x="647700" y="3419475"/>
            <a:ext cx="7854837" cy="2332038"/>
          </a:xfrm>
          <a:prstGeom prst="rect">
            <a:avLst/>
          </a:prstGeom>
          <a:noFill/>
        </p:spPr>
        <p:txBody>
          <a:bodyPr vert="horz" wrap="square" lIns="0" tIns="16933" rIns="0" bIns="0" rtlCol="0">
            <a:spAutoFit/>
          </a:bodyPr>
          <a:lstStyle/>
          <a:p>
            <a:pPr marL="0" indent="0">
              <a:lnSpc>
                <a:spcPct val="100000"/>
              </a:lnSpc>
              <a:spcBef>
                <a:spcPts val="520"/>
              </a:spcBef>
              <a:buNone/>
            </a:pPr>
            <a:r>
              <a:rPr sz="3200" b="1" dirty="0" err="1">
                <a:latin typeface="Times New Roman" panose="02020603050405020304" pitchFamily="18" charset="0"/>
                <a:ea typeface="黑体" panose="02010609060101010101" pitchFamily="49" charset="-122"/>
                <a:cs typeface="Times New Roman" panose="02020603050405020304" pitchFamily="18" charset="0"/>
              </a:rPr>
              <a:t>例子</a:t>
            </a:r>
            <a:r>
              <a:rPr sz="3200" b="1" dirty="0">
                <a:latin typeface="Times New Roman" panose="02020603050405020304" pitchFamily="18" charset="0"/>
                <a:ea typeface="黑体" panose="02010609060101010101" pitchFamily="49" charset="-122"/>
                <a:cs typeface="Times New Roman" panose="02020603050405020304" pitchFamily="18" charset="0"/>
              </a:rPr>
              <a:t>：</a:t>
            </a:r>
            <a:endParaRPr sz="3200" b="1" dirty="0">
              <a:latin typeface="Times New Roman" panose="02020603050405020304" pitchFamily="18" charset="0"/>
              <a:ea typeface="黑体" panose="02010609060101010101" pitchFamily="49" charset="-122"/>
              <a:cs typeface="Times New Roman" panose="02020603050405020304" pitchFamily="18" charset="0"/>
            </a:endParaRPr>
          </a:p>
          <a:p>
            <a:pPr marL="737870">
              <a:lnSpc>
                <a:spcPct val="100000"/>
              </a:lnSpc>
            </a:pPr>
            <a:r>
              <a:rPr sz="3200" b="1" dirty="0">
                <a:latin typeface="Times New Roman" panose="02020603050405020304" pitchFamily="18" charset="0"/>
                <a:ea typeface="黑体" panose="02010609060101010101" pitchFamily="49" charset="-122"/>
                <a:cs typeface="Times New Roman" panose="02020603050405020304" pitchFamily="18" charset="0"/>
              </a:rPr>
              <a:t>Hanoi塔</a:t>
            </a:r>
            <a:r>
              <a:rPr sz="3200" b="1" spc="-13" dirty="0">
                <a:latin typeface="Times New Roman" panose="02020603050405020304" pitchFamily="18" charset="0"/>
                <a:ea typeface="黑体" panose="02010609060101010101" pitchFamily="49" charset="-122"/>
                <a:cs typeface="Times New Roman" panose="02020603050405020304" pitchFamily="18" charset="0"/>
              </a:rPr>
              <a:t>，</a:t>
            </a:r>
            <a:r>
              <a:rPr sz="3200" b="1" spc="-120"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W</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i="1" dirty="0">
                <a:latin typeface="Times New Roman" panose="02020603050405020304" pitchFamily="18" charset="0"/>
                <a:ea typeface="黑体" panose="02010609060101010101" pitchFamily="49" charset="-122"/>
                <a:cs typeface="Times New Roman" panose="02020603050405020304" pitchFamily="18" charset="0"/>
              </a:rPr>
              <a:t>n</a:t>
            </a:r>
            <a:r>
              <a:rPr sz="3200" b="1" dirty="0">
                <a:latin typeface="Times New Roman" panose="02020603050405020304" pitchFamily="18" charset="0"/>
                <a:ea typeface="黑体" panose="02010609060101010101" pitchFamily="49" charset="-122"/>
                <a:cs typeface="Times New Roman" panose="02020603050405020304" pitchFamily="18" charset="0"/>
              </a:rPr>
              <a:t>)=2</a:t>
            </a:r>
            <a:r>
              <a:rPr sz="3200" b="1" i="1" dirty="0">
                <a:latin typeface="Times New Roman" panose="02020603050405020304" pitchFamily="18" charset="0"/>
                <a:ea typeface="黑体" panose="02010609060101010101" pitchFamily="49" charset="-122"/>
                <a:cs typeface="Times New Roman" panose="02020603050405020304" pitchFamily="18" charset="0"/>
              </a:rPr>
              <a:t>W</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i="1" dirty="0">
                <a:latin typeface="Times New Roman" panose="02020603050405020304" pitchFamily="18" charset="0"/>
                <a:ea typeface="黑体" panose="02010609060101010101" pitchFamily="49" charset="-122"/>
                <a:cs typeface="Times New Roman" panose="02020603050405020304" pitchFamily="18" charset="0"/>
              </a:rPr>
              <a:t>n</a:t>
            </a:r>
            <a:r>
              <a:rPr sz="3200" b="1" dirty="0">
                <a:latin typeface="Times New Roman" panose="02020603050405020304" pitchFamily="18" charset="0"/>
                <a:ea typeface="黑体" panose="02010609060101010101" pitchFamily="49" charset="-122"/>
                <a:cs typeface="Times New Roman" panose="02020603050405020304" pitchFamily="18" charset="0"/>
              </a:rPr>
              <a:t>-1)+1</a:t>
            </a:r>
            <a:endParaRPr sz="3200" b="1" dirty="0">
              <a:latin typeface="Times New Roman" panose="02020603050405020304" pitchFamily="18" charset="0"/>
              <a:ea typeface="黑体" panose="02010609060101010101" pitchFamily="49" charset="-122"/>
              <a:cs typeface="Times New Roman" panose="02020603050405020304" pitchFamily="18" charset="0"/>
            </a:endParaRPr>
          </a:p>
          <a:p>
            <a:pPr marL="737870">
              <a:lnSpc>
                <a:spcPct val="100000"/>
              </a:lnSpc>
            </a:pPr>
            <a:r>
              <a:rPr sz="3200" b="1" dirty="0">
                <a:latin typeface="Times New Roman" panose="02020603050405020304" pitchFamily="18" charset="0"/>
                <a:ea typeface="黑体" panose="02010609060101010101" pitchFamily="49" charset="-122"/>
                <a:cs typeface="Times New Roman" panose="02020603050405020304" pitchFamily="18" charset="0"/>
              </a:rPr>
              <a:t>二分检索，</a:t>
            </a:r>
            <a:r>
              <a:rPr sz="3200" b="1" i="1" dirty="0">
                <a:latin typeface="Times New Roman" panose="02020603050405020304" pitchFamily="18" charset="0"/>
                <a:ea typeface="黑体" panose="02010609060101010101" pitchFamily="49" charset="-122"/>
                <a:cs typeface="Times New Roman" panose="02020603050405020304" pitchFamily="18" charset="0"/>
              </a:rPr>
              <a:t>W</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i="1" dirty="0">
                <a:latin typeface="Times New Roman" panose="02020603050405020304" pitchFamily="18" charset="0"/>
                <a:ea typeface="黑体" panose="02010609060101010101" pitchFamily="49" charset="-122"/>
                <a:cs typeface="Times New Roman" panose="02020603050405020304" pitchFamily="18" charset="0"/>
              </a:rPr>
              <a:t>n</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i="1" dirty="0">
                <a:latin typeface="Times New Roman" panose="02020603050405020304" pitchFamily="18" charset="0"/>
                <a:ea typeface="黑体" panose="02010609060101010101" pitchFamily="49" charset="-122"/>
                <a:cs typeface="Times New Roman" panose="02020603050405020304" pitchFamily="18" charset="0"/>
              </a:rPr>
              <a:t>W</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i="1" dirty="0">
                <a:latin typeface="Times New Roman" panose="02020603050405020304" pitchFamily="18" charset="0"/>
                <a:ea typeface="黑体" panose="02010609060101010101" pitchFamily="49" charset="-122"/>
                <a:cs typeface="Times New Roman" panose="02020603050405020304" pitchFamily="18" charset="0"/>
              </a:rPr>
              <a:t>n</a:t>
            </a:r>
            <a:r>
              <a:rPr sz="3200" b="1" dirty="0">
                <a:latin typeface="Times New Roman" panose="02020603050405020304" pitchFamily="18" charset="0"/>
                <a:ea typeface="黑体" panose="02010609060101010101" pitchFamily="49" charset="-122"/>
                <a:cs typeface="Times New Roman" panose="02020603050405020304" pitchFamily="18" charset="0"/>
              </a:rPr>
              <a:t>/2)+1</a:t>
            </a:r>
            <a:endParaRPr lang="en-US" sz="3200" b="1" dirty="0">
              <a:latin typeface="Times New Roman" panose="02020603050405020304" pitchFamily="18" charset="0"/>
              <a:ea typeface="黑体" panose="02010609060101010101" pitchFamily="49" charset="-122"/>
              <a:cs typeface="Times New Roman" panose="02020603050405020304" pitchFamily="18" charset="0"/>
            </a:endParaRPr>
          </a:p>
          <a:p>
            <a:pPr marL="737870">
              <a:lnSpc>
                <a:spcPct val="100000"/>
              </a:lnSpc>
            </a:pP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归并排序，</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n</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)=2</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W</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n</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/2)+</a:t>
            </a:r>
            <a:r>
              <a:rPr lang="en-US" altLang="zh-CN" sz="3200" b="1" spc="-14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n</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-1</a:t>
            </a:r>
            <a:endParaRPr lang="en-US" altLang="zh-CN" sz="3200" dirty="0">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1" name="文本框 10"/>
              <p:cNvSpPr txBox="1"/>
              <p:nvPr/>
            </p:nvSpPr>
            <p:spPr>
              <a:xfrm>
                <a:off x="872377" y="1007550"/>
                <a:ext cx="7202036" cy="1228541"/>
              </a:xfrm>
              <a:prstGeom prst="rect">
                <a:avLst/>
              </a:prstGeom>
              <a:noFill/>
            </p:spPr>
            <p:txBody>
              <a:bodyPr wrap="none" lIns="0" tIns="0" rIns="0" bIns="0" rtlCol="0">
                <a:spAutoFit/>
              </a:bodyPr>
              <a:lstStyle/>
              <a:p>
                <a14:m>
                  <m:oMathPara xmlns:m="http://schemas.openxmlformats.org/officeDocument/2006/math">
                    <m:oMathParaPr>
                      <m:jc m:val="left"/>
                    </m:oMathParaPr>
                    <m:oMath xmlns:m="http://schemas.openxmlformats.org/officeDocument/2006/math">
                      <m:r>
                        <a:rPr lang="en-US" altLang="zh-CN" sz="2800" b="1" i="1">
                          <a:latin typeface="Cambria Math" panose="02040503050406030204" pitchFamily="18" charset="0"/>
                        </a:rPr>
                        <m:t>𝒇</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𝒏</m:t>
                          </m:r>
                        </m:e>
                      </m:d>
                      <m:r>
                        <a:rPr lang="en-US" altLang="zh-CN" sz="2800" b="1" i="1">
                          <a:latin typeface="Cambria Math" panose="02040503050406030204" pitchFamily="18" charset="0"/>
                        </a:rPr>
                        <m:t>=</m:t>
                      </m:r>
                      <m:nary>
                        <m:naryPr>
                          <m:chr m:val="∑"/>
                          <m:ctrlPr>
                            <a:rPr lang="en-US" altLang="zh-CN" sz="2800" b="1" i="1">
                              <a:latin typeface="Cambria Math" panose="02040503050406030204" pitchFamily="18" charset="0"/>
                            </a:rPr>
                          </m:ctrlPr>
                        </m:naryPr>
                        <m:sub>
                          <m:r>
                            <m:rPr>
                              <m:brk m:alnAt="23"/>
                            </m:rPr>
                            <a:rPr lang="en-US" altLang="zh-CN" sz="2800" b="1" i="1">
                              <a:latin typeface="Cambria Math" panose="02040503050406030204" pitchFamily="18" charset="0"/>
                            </a:rPr>
                            <m:t>𝒊</m:t>
                          </m:r>
                          <m:r>
                            <a:rPr lang="en-US" altLang="zh-CN" sz="2800" b="1" i="1">
                              <a:latin typeface="Cambria Math" panose="02040503050406030204" pitchFamily="18" charset="0"/>
                            </a:rPr>
                            <m:t>=</m:t>
                          </m:r>
                          <m:r>
                            <a:rPr lang="en-US" altLang="zh-CN" sz="2800" b="1" i="1">
                              <a:latin typeface="Cambria Math" panose="02040503050406030204" pitchFamily="18" charset="0"/>
                            </a:rPr>
                            <m:t>𝟏</m:t>
                          </m:r>
                        </m:sub>
                        <m:sup>
                          <m:r>
                            <a:rPr lang="en-US" altLang="zh-CN" sz="2800" b="1" i="1">
                              <a:latin typeface="Cambria Math" panose="02040503050406030204" pitchFamily="18" charset="0"/>
                            </a:rPr>
                            <m:t>𝒌</m:t>
                          </m:r>
                        </m:sup>
                        <m:e>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𝒂</m:t>
                              </m:r>
                            </m:e>
                            <m:sub>
                              <m:r>
                                <a:rPr lang="en-US" altLang="zh-CN" sz="2800" b="1" i="1">
                                  <a:latin typeface="Cambria Math" panose="02040503050406030204" pitchFamily="18" charset="0"/>
                                </a:rPr>
                                <m:t>𝒊</m:t>
                              </m:r>
                            </m:sub>
                          </m:sSub>
                          <m:r>
                            <a:rPr lang="en-US" altLang="zh-CN" sz="2800" b="1" i="1">
                              <a:latin typeface="Cambria Math" panose="02040503050406030204" pitchFamily="18" charset="0"/>
                            </a:rPr>
                            <m:t>𝒇</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𝒏</m:t>
                              </m:r>
                              <m:r>
                                <a:rPr lang="en-US" altLang="zh-CN" sz="2800" b="1" i="1">
                                  <a:latin typeface="Cambria Math" panose="02040503050406030204" pitchFamily="18" charset="0"/>
                                </a:rPr>
                                <m:t>−</m:t>
                              </m:r>
                              <m:r>
                                <a:rPr lang="en-US" altLang="zh-CN" sz="2800" b="1" i="1">
                                  <a:latin typeface="Cambria Math" panose="02040503050406030204" pitchFamily="18" charset="0"/>
                                </a:rPr>
                                <m:t>𝒊</m:t>
                              </m:r>
                            </m:e>
                          </m:d>
                          <m:r>
                            <a:rPr lang="en-US" altLang="zh-CN" sz="2800" b="1" i="1">
                              <a:latin typeface="Cambria Math" panose="02040503050406030204" pitchFamily="18" charset="0"/>
                            </a:rPr>
                            <m:t>+</m:t>
                          </m:r>
                          <m:r>
                            <a:rPr lang="en-US" altLang="zh-CN" sz="2800" b="1" i="1">
                              <a:latin typeface="Cambria Math" panose="02040503050406030204" pitchFamily="18" charset="0"/>
                            </a:rPr>
                            <m:t>𝒈</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𝒏</m:t>
                              </m:r>
                            </m:e>
                          </m:d>
                          <m:r>
                            <a:rPr lang="en-US" altLang="zh-CN" sz="2800" b="1" i="1">
                              <a:latin typeface="Cambria Math" panose="02040503050406030204" pitchFamily="18" charset="0"/>
                            </a:rPr>
                            <m:t>                          (</m:t>
                          </m:r>
                          <m:r>
                            <a:rPr lang="en-US" altLang="zh-CN" sz="2800" b="1" i="1">
                              <a:latin typeface="Cambria Math" panose="02040503050406030204" pitchFamily="18" charset="0"/>
                            </a:rPr>
                            <m:t>𝟏</m:t>
                          </m:r>
                          <m:r>
                            <a:rPr lang="en-US" altLang="zh-CN" sz="2800" b="1" i="1">
                              <a:latin typeface="Cambria Math" panose="02040503050406030204" pitchFamily="18" charset="0"/>
                            </a:rPr>
                            <m:t>)</m:t>
                          </m:r>
                        </m:e>
                      </m:nary>
                    </m:oMath>
                  </m:oMathPara>
                </a14:m>
                <a:endParaRPr lang="zh-CN" altLang="en-US" sz="2800" b="1" dirty="0"/>
              </a:p>
            </p:txBody>
          </p:sp>
        </mc:Choice>
        <mc:Fallback>
          <p:sp>
            <p:nvSpPr>
              <p:cNvPr id="11" name="文本框 10"/>
              <p:cNvSpPr txBox="1">
                <a:spLocks noRot="1" noChangeAspect="1" noMove="1" noResize="1" noEditPoints="1" noAdjustHandles="1" noChangeArrowheads="1" noChangeShapeType="1" noTextEdit="1"/>
              </p:cNvSpPr>
              <p:nvPr/>
            </p:nvSpPr>
            <p:spPr>
              <a:xfrm>
                <a:off x="872377" y="1007550"/>
                <a:ext cx="7202036" cy="1228541"/>
              </a:xfrm>
              <a:prstGeom prst="rect">
                <a:avLst/>
              </a:prstGeom>
              <a:blipFill rotWithShape="1">
                <a:blip r:embed="rId1"/>
                <a:stretch>
                  <a:fillRect l="-7" t="-36" r="5" b="2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872379" y="2455165"/>
                <a:ext cx="7804817" cy="761940"/>
              </a:xfrm>
              <a:prstGeom prst="rect">
                <a:avLst/>
              </a:prstGeom>
              <a:noFill/>
            </p:spPr>
            <p:txBody>
              <a:bodyPr wrap="square" lIns="0" tIns="0" rIns="0" bIns="0" rtlCol="0">
                <a:spAutoFit/>
              </a:bodyPr>
              <a:lstStyle/>
              <a:p>
                <a14:m>
                  <m:oMathPara xmlns:m="http://schemas.openxmlformats.org/officeDocument/2006/math">
                    <m:oMathParaPr>
                      <m:jc m:val="left"/>
                    </m:oMathParaPr>
                    <m:oMath xmlns:m="http://schemas.openxmlformats.org/officeDocument/2006/math">
                      <m:r>
                        <a:rPr lang="en-US" altLang="zh-CN" sz="2800" b="1" i="1">
                          <a:latin typeface="Cambria Math" panose="02040503050406030204" pitchFamily="18" charset="0"/>
                        </a:rPr>
                        <m:t>𝒇</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𝒏</m:t>
                          </m:r>
                        </m:e>
                      </m:d>
                      <m:r>
                        <a:rPr lang="en-US" altLang="zh-CN" sz="2800" b="1" i="1">
                          <a:latin typeface="Cambria Math" panose="02040503050406030204" pitchFamily="18" charset="0"/>
                        </a:rPr>
                        <m:t>=</m:t>
                      </m:r>
                      <m:r>
                        <a:rPr lang="en-US" altLang="zh-CN" sz="2800" b="1" i="1">
                          <a:latin typeface="Cambria Math" panose="02040503050406030204" pitchFamily="18" charset="0"/>
                        </a:rPr>
                        <m:t>𝒂𝒇</m:t>
                      </m:r>
                      <m:d>
                        <m:dPr>
                          <m:ctrlPr>
                            <a:rPr lang="en-US" altLang="zh-CN" sz="2800" b="1" i="1">
                              <a:latin typeface="Cambria Math" panose="02040503050406030204" pitchFamily="18" charset="0"/>
                            </a:rPr>
                          </m:ctrlPr>
                        </m:dPr>
                        <m:e>
                          <m:f>
                            <m:fPr>
                              <m:ctrlPr>
                                <a:rPr lang="en-US" altLang="zh-CN" sz="2800" b="1" i="1">
                                  <a:latin typeface="Cambria Math" panose="02040503050406030204" pitchFamily="18" charset="0"/>
                                </a:rPr>
                              </m:ctrlPr>
                            </m:fPr>
                            <m:num>
                              <m:r>
                                <a:rPr lang="en-US" altLang="zh-CN" sz="2800" b="1" i="1">
                                  <a:latin typeface="Cambria Math" panose="02040503050406030204"/>
                                </a:rPr>
                                <m:t>𝒏</m:t>
                              </m:r>
                            </m:num>
                            <m:den>
                              <m:r>
                                <a:rPr lang="en-US" altLang="zh-CN" sz="2800" b="1" i="1">
                                  <a:latin typeface="Cambria Math" panose="02040503050406030204" pitchFamily="18" charset="0"/>
                                </a:rPr>
                                <m:t>𝒃</m:t>
                              </m:r>
                            </m:den>
                          </m:f>
                        </m:e>
                      </m:d>
                      <m:r>
                        <a:rPr lang="en-US" altLang="zh-CN" sz="2800" b="1" i="1">
                          <a:latin typeface="Cambria Math" panose="02040503050406030204" pitchFamily="18" charset="0"/>
                        </a:rPr>
                        <m:t>+</m:t>
                      </m:r>
                      <m:r>
                        <a:rPr lang="en-US" altLang="zh-CN" sz="2800" b="1" i="1">
                          <a:latin typeface="Cambria Math" panose="02040503050406030204" pitchFamily="18" charset="0"/>
                        </a:rPr>
                        <m:t>𝒅</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𝒏</m:t>
                          </m:r>
                        </m:e>
                      </m:d>
                      <m:r>
                        <a:rPr lang="en-US" altLang="zh-CN" sz="2800" b="1" i="1">
                          <a:latin typeface="Cambria Math" panose="02040503050406030204" pitchFamily="18" charset="0"/>
                        </a:rPr>
                        <m:t>                                        (</m:t>
                      </m:r>
                      <m:r>
                        <a:rPr lang="en-US" altLang="zh-CN" sz="2800" b="1" i="1">
                          <a:latin typeface="Cambria Math" panose="02040503050406030204" pitchFamily="18" charset="0"/>
                        </a:rPr>
                        <m:t>𝟐</m:t>
                      </m:r>
                      <m:r>
                        <a:rPr lang="en-US" altLang="zh-CN" sz="2800" b="1" i="1">
                          <a:latin typeface="Cambria Math" panose="02040503050406030204" pitchFamily="18" charset="0"/>
                        </a:rPr>
                        <m:t>)</m:t>
                      </m:r>
                    </m:oMath>
                  </m:oMathPara>
                </a14:m>
                <a:endParaRPr lang="zh-CN" altLang="en-US" sz="2800" b="1" dirty="0"/>
              </a:p>
            </p:txBody>
          </p:sp>
        </mc:Choice>
        <mc:Fallback>
          <p:sp>
            <p:nvSpPr>
              <p:cNvPr id="12" name="文本框 11"/>
              <p:cNvSpPr txBox="1">
                <a:spLocks noRot="1" noChangeAspect="1" noMove="1" noResize="1" noEditPoints="1" noAdjustHandles="1" noChangeArrowheads="1" noChangeShapeType="1" noTextEdit="1"/>
              </p:cNvSpPr>
              <p:nvPr/>
            </p:nvSpPr>
            <p:spPr>
              <a:xfrm>
                <a:off x="872379" y="2455165"/>
                <a:ext cx="7804817" cy="761940"/>
              </a:xfrm>
              <a:prstGeom prst="rect">
                <a:avLst/>
              </a:prstGeom>
              <a:blipFill rotWithShape="1">
                <a:blip r:embed="rId2"/>
                <a:stretch>
                  <a:fillRect l="-7" t="-33" r="7" b="2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1723" y="40224"/>
            <a:ext cx="8902277"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20" dirty="0">
                <a:solidFill>
                  <a:srgbClr val="C00000"/>
                </a:solidFill>
                <a:latin typeface="黑体" panose="02010609060101010101" pitchFamily="49" charset="-122"/>
                <a:ea typeface="黑体" panose="02010609060101010101" pitchFamily="49" charset="-122"/>
              </a:rPr>
              <a:t>递推方程的求解</a:t>
            </a:r>
            <a:endParaRPr sz="4400" b="1" spc="-20" dirty="0">
              <a:solidFill>
                <a:srgbClr val="C00000"/>
              </a:solidFill>
              <a:latin typeface="黑体" panose="02010609060101010101" pitchFamily="49" charset="-122"/>
              <a:ea typeface="黑体" panose="02010609060101010101" pitchFamily="49" charset="-122"/>
            </a:endParaRPr>
          </a:p>
        </p:txBody>
      </p:sp>
      <p:sp>
        <p:nvSpPr>
          <p:cNvPr id="3" name="object 3"/>
          <p:cNvSpPr/>
          <p:nvPr/>
        </p:nvSpPr>
        <p:spPr>
          <a:xfrm>
            <a:off x="-269908" y="0"/>
            <a:ext cx="247904" cy="229616"/>
          </a:xfrm>
          <a:prstGeom prst="rect">
            <a:avLst/>
          </a:prstGeom>
          <a:blipFill>
            <a:blip r:embed="rId1" cstate="print"/>
            <a:stretch>
              <a:fillRect/>
            </a:stretch>
          </a:blipFill>
        </p:spPr>
        <p:txBody>
          <a:bodyPr wrap="square" lIns="0" tIns="0" rIns="0" bIns="0" rtlCol="0"/>
          <a:lstStyle/>
          <a:p>
            <a:endParaRPr sz="2400"/>
          </a:p>
        </p:txBody>
      </p:sp>
      <p:sp>
        <p:nvSpPr>
          <p:cNvPr id="4" name="object 4"/>
          <p:cNvSpPr/>
          <p:nvPr/>
        </p:nvSpPr>
        <p:spPr>
          <a:xfrm>
            <a:off x="14223" y="0"/>
            <a:ext cx="249936" cy="264160"/>
          </a:xfrm>
          <a:prstGeom prst="rect">
            <a:avLst/>
          </a:prstGeom>
          <a:blipFill>
            <a:blip r:embed="rId2" cstate="print"/>
            <a:stretch>
              <a:fillRect/>
            </a:stretch>
          </a:blipFill>
        </p:spPr>
        <p:txBody>
          <a:bodyPr wrap="square" lIns="0" tIns="0" rIns="0" bIns="0" rtlCol="0"/>
          <a:lstStyle/>
          <a:p>
            <a:endParaRPr sz="2400"/>
          </a:p>
        </p:txBody>
      </p:sp>
      <p:sp>
        <p:nvSpPr>
          <p:cNvPr id="5" name="object 5"/>
          <p:cNvSpPr/>
          <p:nvPr/>
        </p:nvSpPr>
        <p:spPr>
          <a:xfrm>
            <a:off x="-269908" y="0"/>
            <a:ext cx="247904" cy="229616"/>
          </a:xfrm>
          <a:prstGeom prst="rect">
            <a:avLst/>
          </a:prstGeom>
          <a:blipFill>
            <a:blip r:embed="rId1" cstate="print"/>
            <a:stretch>
              <a:fillRect/>
            </a:stretch>
          </a:blipFill>
        </p:spPr>
        <p:txBody>
          <a:bodyPr wrap="square" lIns="0" tIns="0" rIns="0" bIns="0" rtlCol="0"/>
          <a:lstStyle/>
          <a:p>
            <a:endParaRPr sz="2400"/>
          </a:p>
        </p:txBody>
      </p:sp>
      <p:sp>
        <p:nvSpPr>
          <p:cNvPr id="6" name="object 6"/>
          <p:cNvSpPr/>
          <p:nvPr/>
        </p:nvSpPr>
        <p:spPr>
          <a:xfrm>
            <a:off x="14223" y="0"/>
            <a:ext cx="249936" cy="264160"/>
          </a:xfrm>
          <a:prstGeom prst="rect">
            <a:avLst/>
          </a:prstGeom>
          <a:blipFill>
            <a:blip r:embed="rId2" cstate="print"/>
            <a:stretch>
              <a:fillRect/>
            </a:stretch>
          </a:blipFill>
        </p:spPr>
        <p:txBody>
          <a:bodyPr wrap="square" lIns="0" tIns="0" rIns="0" bIns="0" rtlCol="0"/>
          <a:lstStyle/>
          <a:p>
            <a:endParaRPr sz="2400"/>
          </a:p>
        </p:txBody>
      </p:sp>
      <p:sp>
        <p:nvSpPr>
          <p:cNvPr id="11" name="object 11"/>
          <p:cNvSpPr txBox="1"/>
          <p:nvPr/>
        </p:nvSpPr>
        <p:spPr>
          <a:xfrm>
            <a:off x="464620" y="1494376"/>
            <a:ext cx="1077807" cy="509541"/>
          </a:xfrm>
          <a:prstGeom prst="rect">
            <a:avLst/>
          </a:prstGeom>
        </p:spPr>
        <p:txBody>
          <a:bodyPr vert="horz" wrap="square" lIns="0" tIns="16933" rIns="0" bIns="0" rtlCol="0">
            <a:spAutoFit/>
          </a:bodyPr>
          <a:lstStyle/>
          <a:p>
            <a:pPr marL="17145">
              <a:spcBef>
                <a:spcPts val="135"/>
              </a:spcBef>
            </a:pPr>
            <a:r>
              <a:rPr sz="3200" b="1" dirty="0">
                <a:latin typeface="Times New Roman" panose="02020603050405020304" pitchFamily="18" charset="0"/>
                <a:ea typeface="黑体" panose="02010609060101010101" pitchFamily="49" charset="-122"/>
                <a:cs typeface="Times New Roman" panose="02020603050405020304" pitchFamily="18" charset="0"/>
              </a:rPr>
              <a:t>方程</a:t>
            </a:r>
            <a:r>
              <a:rPr sz="3200" b="1" spc="-7" dirty="0">
                <a:latin typeface="Times New Roman" panose="02020603050405020304" pitchFamily="18" charset="0"/>
                <a:ea typeface="黑体" panose="02010609060101010101" pitchFamily="49" charset="-122"/>
                <a:cs typeface="Times New Roman" panose="02020603050405020304" pitchFamily="18" charset="0"/>
              </a:rPr>
              <a:t>1</a:t>
            </a:r>
            <a:endParaRPr sz="32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object 12"/>
          <p:cNvSpPr txBox="1"/>
          <p:nvPr/>
        </p:nvSpPr>
        <p:spPr>
          <a:xfrm>
            <a:off x="464619" y="2574412"/>
            <a:ext cx="1077807" cy="509541"/>
          </a:xfrm>
          <a:prstGeom prst="rect">
            <a:avLst/>
          </a:prstGeom>
        </p:spPr>
        <p:txBody>
          <a:bodyPr vert="horz" wrap="square" lIns="0" tIns="16933" rIns="0" bIns="0" rtlCol="0">
            <a:spAutoFit/>
          </a:bodyPr>
          <a:lstStyle/>
          <a:p>
            <a:pPr marL="17145">
              <a:spcBef>
                <a:spcPts val="135"/>
              </a:spcBef>
            </a:pPr>
            <a:r>
              <a:rPr sz="3200" b="1" dirty="0">
                <a:latin typeface="Times New Roman" panose="02020603050405020304" pitchFamily="18" charset="0"/>
                <a:ea typeface="黑体" panose="02010609060101010101" pitchFamily="49" charset="-122"/>
                <a:cs typeface="Times New Roman" panose="02020603050405020304" pitchFamily="18" charset="0"/>
              </a:rPr>
              <a:t>方</a:t>
            </a:r>
            <a:r>
              <a:rPr sz="3200" b="1" spc="-7" dirty="0">
                <a:latin typeface="Times New Roman" panose="02020603050405020304" pitchFamily="18" charset="0"/>
                <a:ea typeface="黑体" panose="02010609060101010101" pitchFamily="49" charset="-122"/>
                <a:cs typeface="Times New Roman" panose="02020603050405020304" pitchFamily="18" charset="0"/>
              </a:rPr>
              <a:t>程</a:t>
            </a:r>
            <a:r>
              <a:rPr sz="3200" b="1" dirty="0">
                <a:latin typeface="Times New Roman" panose="02020603050405020304" pitchFamily="18" charset="0"/>
                <a:ea typeface="黑体" panose="02010609060101010101" pitchFamily="49" charset="-122"/>
                <a:cs typeface="Times New Roman" panose="02020603050405020304" pitchFamily="18" charset="0"/>
              </a:rPr>
              <a:t>2</a:t>
            </a:r>
            <a:endParaRPr sz="32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object 13"/>
          <p:cNvSpPr txBox="1"/>
          <p:nvPr/>
        </p:nvSpPr>
        <p:spPr>
          <a:xfrm>
            <a:off x="464619" y="3942174"/>
            <a:ext cx="8227436" cy="2274126"/>
          </a:xfrm>
          <a:prstGeom prst="rect">
            <a:avLst/>
          </a:prstGeom>
        </p:spPr>
        <p:txBody>
          <a:bodyPr vert="horz" wrap="square" lIns="0" tIns="118533" rIns="0" bIns="0" rtlCol="0">
            <a:spAutoFit/>
          </a:bodyPr>
          <a:lstStyle/>
          <a:p>
            <a:pPr marL="17145">
              <a:spcBef>
                <a:spcPts val="935"/>
              </a:spcBef>
            </a:pPr>
            <a:r>
              <a:rPr sz="3200" b="1" dirty="0">
                <a:latin typeface="Times New Roman" panose="02020603050405020304" pitchFamily="18" charset="0"/>
                <a:ea typeface="黑体" panose="02010609060101010101" pitchFamily="49" charset="-122"/>
                <a:cs typeface="Times New Roman" panose="02020603050405020304" pitchFamily="18" charset="0"/>
              </a:rPr>
              <a:t>求解方法</a:t>
            </a:r>
            <a:endParaRPr sz="3200" b="1" dirty="0">
              <a:latin typeface="Times New Roman" panose="02020603050405020304" pitchFamily="18" charset="0"/>
              <a:ea typeface="黑体" panose="02010609060101010101" pitchFamily="49" charset="-122"/>
              <a:cs typeface="Times New Roman" panose="02020603050405020304" pitchFamily="18" charset="0"/>
            </a:endParaRPr>
          </a:p>
          <a:p>
            <a:pPr marL="737870">
              <a:spcBef>
                <a:spcPts val="805"/>
              </a:spcBef>
            </a:pPr>
            <a:r>
              <a:rPr sz="2800" b="1" dirty="0">
                <a:latin typeface="Times New Roman" panose="02020603050405020304" pitchFamily="18" charset="0"/>
                <a:ea typeface="黑体" panose="02010609060101010101" pitchFamily="49" charset="-122"/>
                <a:cs typeface="Times New Roman" panose="02020603050405020304" pitchFamily="18" charset="0"/>
              </a:rPr>
              <a:t>方程1：迭代法、递归树</a:t>
            </a:r>
            <a:endParaRPr sz="2800" b="1" dirty="0">
              <a:latin typeface="Times New Roman" panose="02020603050405020304" pitchFamily="18" charset="0"/>
              <a:ea typeface="黑体" panose="02010609060101010101" pitchFamily="49" charset="-122"/>
              <a:cs typeface="Times New Roman" panose="02020603050405020304" pitchFamily="18" charset="0"/>
            </a:endParaRPr>
          </a:p>
          <a:p>
            <a:pPr marL="737870">
              <a:spcBef>
                <a:spcPts val="800"/>
              </a:spcBef>
            </a:pPr>
            <a:r>
              <a:rPr sz="2800" b="1" dirty="0">
                <a:latin typeface="Times New Roman" panose="02020603050405020304" pitchFamily="18" charset="0"/>
                <a:ea typeface="黑体" panose="02010609060101010101" pitchFamily="49" charset="-122"/>
                <a:cs typeface="Times New Roman" panose="02020603050405020304" pitchFamily="18" charset="0"/>
              </a:rPr>
              <a:t>方程2：迭代法、换元法、递归树、</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主定理</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a:p>
            <a:pPr marL="17145">
              <a:spcBef>
                <a:spcPts val="800"/>
              </a:spcBef>
            </a:pPr>
            <a:endParaRPr sz="3200" dirty="0">
              <a:latin typeface="宋体" panose="02010600030101010101" pitchFamily="2" charset="-122"/>
              <a:cs typeface="宋体" panose="02010600030101010101" pitchFamily="2" charset="-122"/>
            </a:endParaRPr>
          </a:p>
        </p:txBody>
      </p:sp>
      <mc:AlternateContent xmlns:mc="http://schemas.openxmlformats.org/markup-compatibility/2006">
        <mc:Choice xmlns:a14="http://schemas.microsoft.com/office/drawing/2010/main" Requires="a14">
          <p:sp>
            <p:nvSpPr>
              <p:cNvPr id="14" name="文本框 13"/>
              <p:cNvSpPr txBox="1"/>
              <p:nvPr/>
            </p:nvSpPr>
            <p:spPr>
              <a:xfrm>
                <a:off x="2238630" y="1119683"/>
                <a:ext cx="4961038" cy="1228541"/>
              </a:xfrm>
              <a:prstGeom prst="rect">
                <a:avLst/>
              </a:prstGeom>
              <a:noFill/>
            </p:spPr>
            <p:txBody>
              <a:bodyPr wrap="none" lIns="0" tIns="0" rIns="0" bIns="0" rtlCol="0">
                <a:spAutoFit/>
              </a:bodyPr>
              <a:lstStyle/>
              <a:p>
                <a14:m>
                  <m:oMathPara xmlns:m="http://schemas.openxmlformats.org/officeDocument/2006/math">
                    <m:oMathParaPr>
                      <m:jc m:val="left"/>
                    </m:oMathParaPr>
                    <m:oMath xmlns:m="http://schemas.openxmlformats.org/officeDocument/2006/math">
                      <m:r>
                        <a:rPr lang="en-US" altLang="zh-CN" sz="2800" b="1" i="1">
                          <a:latin typeface="Cambria Math" panose="02040503050406030204" pitchFamily="18" charset="0"/>
                        </a:rPr>
                        <m:t>𝒇</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𝒏</m:t>
                          </m:r>
                        </m:e>
                      </m:d>
                      <m:r>
                        <a:rPr lang="en-US" altLang="zh-CN" sz="2800" b="1" i="1">
                          <a:latin typeface="Cambria Math" panose="02040503050406030204" pitchFamily="18" charset="0"/>
                        </a:rPr>
                        <m:t>=</m:t>
                      </m:r>
                      <m:nary>
                        <m:naryPr>
                          <m:chr m:val="∑"/>
                          <m:ctrlPr>
                            <a:rPr lang="en-US" altLang="zh-CN" sz="2800" b="1" i="1">
                              <a:latin typeface="Cambria Math" panose="02040503050406030204" pitchFamily="18" charset="0"/>
                            </a:rPr>
                          </m:ctrlPr>
                        </m:naryPr>
                        <m:sub>
                          <m:r>
                            <m:rPr>
                              <m:brk m:alnAt="23"/>
                            </m:rPr>
                            <a:rPr lang="en-US" altLang="zh-CN" sz="2800" b="1" i="1">
                              <a:latin typeface="Cambria Math" panose="02040503050406030204" pitchFamily="18" charset="0"/>
                            </a:rPr>
                            <m:t>𝒊</m:t>
                          </m:r>
                          <m:r>
                            <a:rPr lang="en-US" altLang="zh-CN" sz="2800" b="1" i="1">
                              <a:latin typeface="Cambria Math" panose="02040503050406030204" pitchFamily="18" charset="0"/>
                            </a:rPr>
                            <m:t>=</m:t>
                          </m:r>
                          <m:r>
                            <a:rPr lang="en-US" altLang="zh-CN" sz="2800" b="1" i="1">
                              <a:latin typeface="Cambria Math" panose="02040503050406030204" pitchFamily="18" charset="0"/>
                            </a:rPr>
                            <m:t>𝟏</m:t>
                          </m:r>
                        </m:sub>
                        <m:sup>
                          <m:r>
                            <a:rPr lang="en-US" altLang="zh-CN" sz="2800" b="1" i="1">
                              <a:latin typeface="Cambria Math" panose="02040503050406030204" pitchFamily="18" charset="0"/>
                            </a:rPr>
                            <m:t>𝒌</m:t>
                          </m:r>
                        </m:sup>
                        <m:e>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𝒂</m:t>
                              </m:r>
                            </m:e>
                            <m:sub>
                              <m:r>
                                <a:rPr lang="en-US" altLang="zh-CN" sz="2800" b="1" i="1">
                                  <a:latin typeface="Cambria Math" panose="02040503050406030204" pitchFamily="18" charset="0"/>
                                </a:rPr>
                                <m:t>𝒊</m:t>
                              </m:r>
                            </m:sub>
                          </m:sSub>
                          <m:r>
                            <a:rPr lang="en-US" altLang="zh-CN" sz="2800" b="1" i="1">
                              <a:latin typeface="Cambria Math" panose="02040503050406030204" pitchFamily="18" charset="0"/>
                            </a:rPr>
                            <m:t>𝒇</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𝒏</m:t>
                              </m:r>
                              <m:r>
                                <a:rPr lang="en-US" altLang="zh-CN" sz="2800" b="1" i="1">
                                  <a:latin typeface="Cambria Math" panose="02040503050406030204" pitchFamily="18" charset="0"/>
                                </a:rPr>
                                <m:t>−</m:t>
                              </m:r>
                              <m:r>
                                <a:rPr lang="en-US" altLang="zh-CN" sz="2800" b="1" i="1">
                                  <a:latin typeface="Cambria Math" panose="02040503050406030204" pitchFamily="18" charset="0"/>
                                </a:rPr>
                                <m:t>𝒊</m:t>
                              </m:r>
                            </m:e>
                          </m:d>
                          <m:r>
                            <a:rPr lang="en-US" altLang="zh-CN" sz="2800" b="1" i="1">
                              <a:latin typeface="Cambria Math" panose="02040503050406030204" pitchFamily="18" charset="0"/>
                            </a:rPr>
                            <m:t>+</m:t>
                          </m:r>
                          <m:r>
                            <a:rPr lang="en-US" altLang="zh-CN" sz="2800" b="1" i="1">
                              <a:latin typeface="Cambria Math" panose="02040503050406030204" pitchFamily="18" charset="0"/>
                            </a:rPr>
                            <m:t>𝒈</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𝒏</m:t>
                              </m:r>
                            </m:e>
                          </m:d>
                          <m:r>
                            <a:rPr lang="en-US" altLang="zh-CN" sz="2800" b="1" i="1">
                              <a:latin typeface="Cambria Math" panose="02040503050406030204" pitchFamily="18" charset="0"/>
                            </a:rPr>
                            <m:t>  </m:t>
                          </m:r>
                        </m:e>
                      </m:nary>
                    </m:oMath>
                  </m:oMathPara>
                </a14:m>
                <a:endParaRPr lang="zh-CN" altLang="en-US" sz="2800" b="1" dirty="0"/>
              </a:p>
            </p:txBody>
          </p:sp>
        </mc:Choice>
        <mc:Fallback>
          <p:sp>
            <p:nvSpPr>
              <p:cNvPr id="14" name="文本框 13"/>
              <p:cNvSpPr txBox="1">
                <a:spLocks noRot="1" noChangeAspect="1" noMove="1" noResize="1" noEditPoints="1" noAdjustHandles="1" noChangeArrowheads="1" noChangeShapeType="1" noTextEdit="1"/>
              </p:cNvSpPr>
              <p:nvPr/>
            </p:nvSpPr>
            <p:spPr>
              <a:xfrm>
                <a:off x="2238630" y="1119683"/>
                <a:ext cx="4961038" cy="1228541"/>
              </a:xfrm>
              <a:prstGeom prst="rect">
                <a:avLst/>
              </a:prstGeom>
              <a:blipFill rotWithShape="1">
                <a:blip r:embed="rId3"/>
                <a:stretch>
                  <a:fillRect l="-5" t="-14" r="1" b="5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2196588" y="2470965"/>
                <a:ext cx="4620182" cy="761940"/>
              </a:xfrm>
              <a:prstGeom prst="rect">
                <a:avLst/>
              </a:prstGeom>
              <a:noFill/>
            </p:spPr>
            <p:txBody>
              <a:bodyPr wrap="square" lIns="0" tIns="0" rIns="0" bIns="0" rtlCol="0">
                <a:spAutoFit/>
              </a:bodyPr>
              <a:lstStyle/>
              <a:p>
                <a14:m>
                  <m:oMathPara xmlns:m="http://schemas.openxmlformats.org/officeDocument/2006/math">
                    <m:oMathParaPr>
                      <m:jc m:val="left"/>
                    </m:oMathParaPr>
                    <m:oMath xmlns:m="http://schemas.openxmlformats.org/officeDocument/2006/math">
                      <m:r>
                        <a:rPr lang="en-US" altLang="zh-CN" sz="2800" b="1" i="1">
                          <a:latin typeface="Cambria Math" panose="02040503050406030204" pitchFamily="18" charset="0"/>
                        </a:rPr>
                        <m:t>𝒇</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𝒏</m:t>
                          </m:r>
                        </m:e>
                      </m:d>
                      <m:r>
                        <a:rPr lang="en-US" altLang="zh-CN" sz="2800" b="1" i="1">
                          <a:latin typeface="Cambria Math" panose="02040503050406030204" pitchFamily="18" charset="0"/>
                        </a:rPr>
                        <m:t>=</m:t>
                      </m:r>
                      <m:r>
                        <a:rPr lang="en-US" altLang="zh-CN" sz="2800" b="1" i="1">
                          <a:latin typeface="Cambria Math" panose="02040503050406030204" pitchFamily="18" charset="0"/>
                        </a:rPr>
                        <m:t>𝒂𝒇</m:t>
                      </m:r>
                      <m:d>
                        <m:dPr>
                          <m:ctrlPr>
                            <a:rPr lang="en-US" altLang="zh-CN" sz="2800" b="1" i="1">
                              <a:latin typeface="Cambria Math" panose="02040503050406030204" pitchFamily="18" charset="0"/>
                            </a:rPr>
                          </m:ctrlPr>
                        </m:dPr>
                        <m:e>
                          <m:f>
                            <m:fPr>
                              <m:ctrlPr>
                                <a:rPr lang="en-US" altLang="zh-CN" sz="2800" b="1" i="1">
                                  <a:latin typeface="Cambria Math" panose="02040503050406030204" pitchFamily="18" charset="0"/>
                                </a:rPr>
                              </m:ctrlPr>
                            </m:fPr>
                            <m:num>
                              <m:r>
                                <a:rPr lang="en-US" altLang="zh-CN" sz="2800" b="1" i="1">
                                  <a:latin typeface="Cambria Math" panose="02040503050406030204"/>
                                </a:rPr>
                                <m:t>𝒏</m:t>
                              </m:r>
                            </m:num>
                            <m:den>
                              <m:r>
                                <a:rPr lang="en-US" altLang="zh-CN" sz="2800" b="1" i="1">
                                  <a:latin typeface="Cambria Math" panose="02040503050406030204" pitchFamily="18" charset="0"/>
                                </a:rPr>
                                <m:t>𝒃</m:t>
                              </m:r>
                            </m:den>
                          </m:f>
                        </m:e>
                      </m:d>
                      <m:r>
                        <a:rPr lang="en-US" altLang="zh-CN" sz="2800" b="1" i="1">
                          <a:latin typeface="Cambria Math" panose="02040503050406030204" pitchFamily="18" charset="0"/>
                        </a:rPr>
                        <m:t>+</m:t>
                      </m:r>
                      <m:r>
                        <a:rPr lang="en-US" altLang="zh-CN" sz="2800" b="1" i="1">
                          <a:latin typeface="Cambria Math" panose="02040503050406030204" pitchFamily="18" charset="0"/>
                        </a:rPr>
                        <m:t>𝒅</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𝒏</m:t>
                          </m:r>
                        </m:e>
                      </m:d>
                    </m:oMath>
                  </m:oMathPara>
                </a14:m>
                <a:endParaRPr lang="zh-CN" altLang="en-US" sz="2800" b="1" dirty="0"/>
              </a:p>
            </p:txBody>
          </p:sp>
        </mc:Choice>
        <mc:Fallback>
          <p:sp>
            <p:nvSpPr>
              <p:cNvPr id="15" name="文本框 14"/>
              <p:cNvSpPr txBox="1">
                <a:spLocks noRot="1" noChangeAspect="1" noMove="1" noResize="1" noEditPoints="1" noAdjustHandles="1" noChangeArrowheads="1" noChangeShapeType="1" noTextEdit="1"/>
              </p:cNvSpPr>
              <p:nvPr/>
            </p:nvSpPr>
            <p:spPr>
              <a:xfrm>
                <a:off x="2196588" y="2470965"/>
                <a:ext cx="4620182" cy="761940"/>
              </a:xfrm>
              <a:prstGeom prst="rect">
                <a:avLst/>
              </a:prstGeom>
              <a:blipFill rotWithShape="1">
                <a:blip r:embed="rId4"/>
                <a:stretch>
                  <a:fillRect l="-3" t="-24" r="1" b="16"/>
                </a:stretch>
              </a:blipFill>
            </p:spPr>
            <p:txBody>
              <a:bodyPr/>
              <a:lstStyle/>
              <a:p>
                <a:r>
                  <a:rPr lang="zh-CN" alt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9191" y="62029"/>
            <a:ext cx="8904708"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方程</a:t>
            </a:r>
            <a:r>
              <a:rPr sz="4400" b="1" spc="-7" dirty="0">
                <a:solidFill>
                  <a:srgbClr val="C00000"/>
                </a:solidFill>
                <a:latin typeface="黑体" panose="02010609060101010101" pitchFamily="49" charset="-122"/>
                <a:ea typeface="黑体" panose="02010609060101010101" pitchFamily="49" charset="-122"/>
              </a:rPr>
              <a:t>2</a:t>
            </a:r>
            <a:r>
              <a:rPr sz="4400" b="1" spc="-13" dirty="0">
                <a:solidFill>
                  <a:srgbClr val="C00000"/>
                </a:solidFill>
                <a:latin typeface="黑体" panose="02010609060101010101" pitchFamily="49" charset="-122"/>
                <a:ea typeface="黑体" panose="02010609060101010101" pitchFamily="49" charset="-122"/>
              </a:rPr>
              <a:t>的解</a:t>
            </a:r>
            <a:endParaRPr sz="4400" b="1" spc="-13" dirty="0">
              <a:solidFill>
                <a:srgbClr val="C00000"/>
              </a:solidFill>
              <a:latin typeface="黑体" panose="02010609060101010101" pitchFamily="49" charset="-122"/>
              <a:ea typeface="黑体" panose="02010609060101010101" pitchFamily="49" charset="-122"/>
            </a:endParaRPr>
          </a:p>
        </p:txBody>
      </p:sp>
      <p:sp>
        <p:nvSpPr>
          <p:cNvPr id="3" name="object 3"/>
          <p:cNvSpPr/>
          <p:nvPr/>
        </p:nvSpPr>
        <p:spPr>
          <a:xfrm>
            <a:off x="-269908" y="0"/>
            <a:ext cx="247904" cy="229616"/>
          </a:xfrm>
          <a:prstGeom prst="rect">
            <a:avLst/>
          </a:prstGeom>
          <a:blipFill>
            <a:blip r:embed="rId1" cstate="print"/>
            <a:stretch>
              <a:fillRect/>
            </a:stretch>
          </a:blipFill>
        </p:spPr>
        <p:txBody>
          <a:bodyPr wrap="square" lIns="0" tIns="0" rIns="0" bIns="0" rtlCol="0"/>
          <a:lstStyle/>
          <a:p>
            <a:endParaRPr sz="2400"/>
          </a:p>
        </p:txBody>
      </p:sp>
      <p:sp>
        <p:nvSpPr>
          <p:cNvPr id="4" name="object 4"/>
          <p:cNvSpPr/>
          <p:nvPr/>
        </p:nvSpPr>
        <p:spPr>
          <a:xfrm>
            <a:off x="14223" y="0"/>
            <a:ext cx="249936" cy="264160"/>
          </a:xfrm>
          <a:prstGeom prst="rect">
            <a:avLst/>
          </a:prstGeom>
          <a:blipFill>
            <a:blip r:embed="rId2" cstate="print"/>
            <a:stretch>
              <a:fillRect/>
            </a:stretch>
          </a:blipFill>
        </p:spPr>
        <p:txBody>
          <a:bodyPr wrap="square" lIns="0" tIns="0" rIns="0" bIns="0" rtlCol="0"/>
          <a:lstStyle/>
          <a:p>
            <a:endParaRPr sz="2400"/>
          </a:p>
        </p:txBody>
      </p:sp>
      <p:sp>
        <p:nvSpPr>
          <p:cNvPr id="5" name="object 5"/>
          <p:cNvSpPr/>
          <p:nvPr/>
        </p:nvSpPr>
        <p:spPr>
          <a:xfrm>
            <a:off x="-269908" y="0"/>
            <a:ext cx="247904" cy="229616"/>
          </a:xfrm>
          <a:prstGeom prst="rect">
            <a:avLst/>
          </a:prstGeom>
          <a:blipFill>
            <a:blip r:embed="rId1" cstate="print"/>
            <a:stretch>
              <a:fillRect/>
            </a:stretch>
          </a:blipFill>
        </p:spPr>
        <p:txBody>
          <a:bodyPr wrap="square" lIns="0" tIns="0" rIns="0" bIns="0" rtlCol="0"/>
          <a:lstStyle/>
          <a:p>
            <a:endParaRPr sz="2400"/>
          </a:p>
        </p:txBody>
      </p:sp>
      <p:sp>
        <p:nvSpPr>
          <p:cNvPr id="6" name="object 6"/>
          <p:cNvSpPr/>
          <p:nvPr/>
        </p:nvSpPr>
        <p:spPr>
          <a:xfrm>
            <a:off x="14223" y="0"/>
            <a:ext cx="249936" cy="264160"/>
          </a:xfrm>
          <a:prstGeom prst="rect">
            <a:avLst/>
          </a:prstGeom>
          <a:blipFill>
            <a:blip r:embed="rId2" cstate="print"/>
            <a:stretch>
              <a:fillRect/>
            </a:stretch>
          </a:blipFill>
        </p:spPr>
        <p:txBody>
          <a:bodyPr wrap="square" lIns="0" tIns="0" rIns="0" bIns="0" rtlCol="0"/>
          <a:lstStyle/>
          <a:p>
            <a:endParaRPr sz="2400"/>
          </a:p>
        </p:txBody>
      </p:sp>
      <p:sp>
        <p:nvSpPr>
          <p:cNvPr id="7" name="object 7"/>
          <p:cNvSpPr txBox="1"/>
          <p:nvPr/>
        </p:nvSpPr>
        <p:spPr>
          <a:xfrm>
            <a:off x="1199555" y="1300415"/>
            <a:ext cx="850900" cy="509541"/>
          </a:xfrm>
          <a:prstGeom prst="rect">
            <a:avLst/>
          </a:prstGeom>
        </p:spPr>
        <p:txBody>
          <a:bodyPr vert="horz" wrap="square" lIns="0" tIns="16933" rIns="0" bIns="0" rtlCol="0">
            <a:spAutoFit/>
          </a:bodyPr>
          <a:lstStyle/>
          <a:p>
            <a:pPr marL="17145">
              <a:spcBef>
                <a:spcPts val="135"/>
              </a:spcBef>
            </a:pPr>
            <a:r>
              <a:rPr sz="3200" b="1" spc="-7" dirty="0">
                <a:latin typeface="黑体" panose="02010609060101010101" pitchFamily="49" charset="-122"/>
                <a:ea typeface="黑体" panose="02010609060101010101" pitchFamily="49" charset="-122"/>
                <a:cs typeface="宋体" panose="02010600030101010101" pitchFamily="2" charset="-122"/>
              </a:rPr>
              <a:t>方程</a:t>
            </a:r>
            <a:endParaRPr sz="3200" dirty="0">
              <a:latin typeface="黑体" panose="02010609060101010101" pitchFamily="49" charset="-122"/>
              <a:ea typeface="黑体" panose="02010609060101010101" pitchFamily="49" charset="-122"/>
              <a:cs typeface="宋体" panose="02010600030101010101" pitchFamily="2" charset="-122"/>
            </a:endParaRPr>
          </a:p>
        </p:txBody>
      </p:sp>
      <p:sp>
        <p:nvSpPr>
          <p:cNvPr id="8" name="object 8"/>
          <p:cNvSpPr txBox="1"/>
          <p:nvPr/>
        </p:nvSpPr>
        <p:spPr>
          <a:xfrm>
            <a:off x="1242355" y="2116872"/>
            <a:ext cx="1960880" cy="509541"/>
          </a:xfrm>
          <a:prstGeom prst="rect">
            <a:avLst/>
          </a:prstGeom>
        </p:spPr>
        <p:txBody>
          <a:bodyPr vert="horz" wrap="square" lIns="0" tIns="16933" rIns="0" bIns="0" rtlCol="0">
            <a:spAutoFit/>
          </a:bodyPr>
          <a:lstStyle/>
          <a:p>
            <a:pPr marL="17145">
              <a:spcBef>
                <a:spcPts val="135"/>
              </a:spcBef>
            </a:pPr>
            <a:r>
              <a:rPr sz="3200" b="1" i="1" dirty="0">
                <a:latin typeface="Times New Roman" panose="02020603050405020304"/>
                <a:cs typeface="Times New Roman" panose="02020603050405020304"/>
              </a:rPr>
              <a:t>d</a:t>
            </a:r>
            <a:r>
              <a:rPr sz="3200" b="1"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n</a:t>
            </a:r>
            <a:r>
              <a:rPr sz="3200" b="1" dirty="0">
                <a:latin typeface="Times New Roman" panose="02020603050405020304"/>
                <a:cs typeface="Times New Roman" panose="02020603050405020304"/>
              </a:rPr>
              <a:t>)</a:t>
            </a:r>
            <a:r>
              <a:rPr sz="3200" b="1" dirty="0">
                <a:latin typeface="黑体" panose="02010609060101010101" pitchFamily="49" charset="-122"/>
                <a:ea typeface="黑体" panose="02010609060101010101" pitchFamily="49" charset="-122"/>
                <a:cs typeface="宋体" panose="02010600030101010101" pitchFamily="2" charset="-122"/>
              </a:rPr>
              <a:t>为常数</a:t>
            </a:r>
            <a:endParaRPr sz="3200" dirty="0">
              <a:latin typeface="黑体" panose="02010609060101010101" pitchFamily="49" charset="-122"/>
              <a:ea typeface="黑体" panose="02010609060101010101" pitchFamily="49" charset="-122"/>
              <a:cs typeface="宋体" panose="02010600030101010101" pitchFamily="2" charset="-122"/>
            </a:endParaRPr>
          </a:p>
        </p:txBody>
      </p:sp>
      <p:sp>
        <p:nvSpPr>
          <p:cNvPr id="9" name="object 9"/>
          <p:cNvSpPr txBox="1"/>
          <p:nvPr/>
        </p:nvSpPr>
        <p:spPr>
          <a:xfrm>
            <a:off x="1242358" y="3972358"/>
            <a:ext cx="1573953" cy="509541"/>
          </a:xfrm>
          <a:prstGeom prst="rect">
            <a:avLst/>
          </a:prstGeom>
        </p:spPr>
        <p:txBody>
          <a:bodyPr vert="horz" wrap="square" lIns="0" tIns="16933" rIns="0" bIns="0" rtlCol="0">
            <a:spAutoFit/>
          </a:bodyPr>
          <a:lstStyle/>
          <a:p>
            <a:pPr marL="17145">
              <a:spcBef>
                <a:spcPts val="135"/>
              </a:spcBef>
            </a:pPr>
            <a:r>
              <a:rPr sz="3200" b="1" i="1" spc="-7" dirty="0">
                <a:latin typeface="Times New Roman" panose="02020603050405020304"/>
                <a:cs typeface="Times New Roman" panose="02020603050405020304"/>
              </a:rPr>
              <a:t>d</a:t>
            </a:r>
            <a:r>
              <a:rPr sz="3200" b="1" spc="-7"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 </a:t>
            </a:r>
            <a:r>
              <a:rPr sz="3200" b="1" dirty="0">
                <a:latin typeface="Times New Roman" panose="02020603050405020304"/>
                <a:cs typeface="Times New Roman" panose="02020603050405020304"/>
              </a:rPr>
              <a:t>=</a:t>
            </a:r>
            <a:r>
              <a:rPr sz="3200" b="1" spc="-127" dirty="0">
                <a:latin typeface="Times New Roman" panose="02020603050405020304"/>
                <a:cs typeface="Times New Roman" panose="02020603050405020304"/>
              </a:rPr>
              <a:t> </a:t>
            </a:r>
            <a:r>
              <a:rPr sz="3200" b="1" i="1" dirty="0">
                <a:latin typeface="Times New Roman" panose="02020603050405020304"/>
                <a:cs typeface="Times New Roman" panose="02020603050405020304"/>
              </a:rPr>
              <a:t>cn</a:t>
            </a:r>
            <a:endParaRPr sz="3200">
              <a:latin typeface="Times New Roman" panose="02020603050405020304"/>
              <a:cs typeface="Times New Roman" panose="02020603050405020304"/>
            </a:endParaRPr>
          </a:p>
        </p:txBody>
      </p:sp>
      <p:sp>
        <p:nvSpPr>
          <p:cNvPr id="16" name="object 16"/>
          <p:cNvSpPr txBox="1"/>
          <p:nvPr/>
        </p:nvSpPr>
        <p:spPr>
          <a:xfrm>
            <a:off x="2409003" y="1294538"/>
            <a:ext cx="4295140" cy="563337"/>
          </a:xfrm>
          <a:prstGeom prst="rect">
            <a:avLst/>
          </a:prstGeom>
        </p:spPr>
        <p:txBody>
          <a:bodyPr vert="horz" wrap="square" lIns="0" tIns="19472" rIns="0" bIns="0" rtlCol="0">
            <a:spAutoFit/>
          </a:bodyPr>
          <a:lstStyle/>
          <a:p>
            <a:pPr marL="17145">
              <a:spcBef>
                <a:spcPts val="150"/>
              </a:spcBef>
            </a:pPr>
            <a:r>
              <a:rPr sz="3535" b="1" i="1" spc="173" dirty="0">
                <a:latin typeface="Times New Roman" panose="02020603050405020304"/>
                <a:cs typeface="Times New Roman" panose="02020603050405020304"/>
              </a:rPr>
              <a:t>T</a:t>
            </a:r>
            <a:r>
              <a:rPr sz="3535" b="1" spc="173" dirty="0">
                <a:latin typeface="Times New Roman" panose="02020603050405020304"/>
                <a:cs typeface="Times New Roman" panose="02020603050405020304"/>
              </a:rPr>
              <a:t>(</a:t>
            </a:r>
            <a:r>
              <a:rPr sz="3535" b="1" i="1" spc="173" dirty="0">
                <a:latin typeface="Times New Roman" panose="02020603050405020304"/>
                <a:cs typeface="Times New Roman" panose="02020603050405020304"/>
              </a:rPr>
              <a:t>n</a:t>
            </a:r>
            <a:r>
              <a:rPr sz="3535" b="1" spc="173" dirty="0">
                <a:latin typeface="Times New Roman" panose="02020603050405020304"/>
                <a:cs typeface="Times New Roman" panose="02020603050405020304"/>
              </a:rPr>
              <a:t>)</a:t>
            </a:r>
            <a:r>
              <a:rPr sz="3535" b="1" spc="-193" dirty="0">
                <a:latin typeface="Times New Roman" panose="02020603050405020304"/>
                <a:cs typeface="Times New Roman" panose="02020603050405020304"/>
              </a:rPr>
              <a:t> </a:t>
            </a:r>
            <a:r>
              <a:rPr sz="3535" spc="93" dirty="0">
                <a:latin typeface="Symbol" panose="05050102010706020507"/>
                <a:cs typeface="Symbol" panose="05050102010706020507"/>
              </a:rPr>
              <a:t></a:t>
            </a:r>
            <a:r>
              <a:rPr sz="3535" spc="-100" dirty="0">
                <a:latin typeface="Times New Roman" panose="02020603050405020304"/>
                <a:cs typeface="Times New Roman" panose="02020603050405020304"/>
              </a:rPr>
              <a:t> </a:t>
            </a:r>
            <a:r>
              <a:rPr sz="3535" b="1" i="1" spc="160" dirty="0">
                <a:latin typeface="Times New Roman" panose="02020603050405020304"/>
                <a:cs typeface="Times New Roman" panose="02020603050405020304"/>
              </a:rPr>
              <a:t>aT</a:t>
            </a:r>
            <a:r>
              <a:rPr sz="3535" b="1" spc="160" dirty="0">
                <a:latin typeface="Times New Roman" panose="02020603050405020304"/>
                <a:cs typeface="Times New Roman" panose="02020603050405020304"/>
              </a:rPr>
              <a:t>(</a:t>
            </a:r>
            <a:r>
              <a:rPr sz="3535" b="1" i="1" spc="160" dirty="0">
                <a:latin typeface="Times New Roman" panose="02020603050405020304"/>
                <a:cs typeface="Times New Roman" panose="02020603050405020304"/>
              </a:rPr>
              <a:t>n</a:t>
            </a:r>
            <a:r>
              <a:rPr sz="3535" b="1" i="1" spc="-453" dirty="0">
                <a:latin typeface="Times New Roman" panose="02020603050405020304"/>
                <a:cs typeface="Times New Roman" panose="02020603050405020304"/>
              </a:rPr>
              <a:t> </a:t>
            </a:r>
            <a:r>
              <a:rPr sz="3535" b="1" spc="47" dirty="0">
                <a:latin typeface="Times New Roman" panose="02020603050405020304"/>
                <a:cs typeface="Times New Roman" panose="02020603050405020304"/>
              </a:rPr>
              <a:t>/</a:t>
            </a:r>
            <a:r>
              <a:rPr sz="3535" b="1" spc="-313" dirty="0">
                <a:latin typeface="Times New Roman" panose="02020603050405020304"/>
                <a:cs typeface="Times New Roman" panose="02020603050405020304"/>
              </a:rPr>
              <a:t> </a:t>
            </a:r>
            <a:r>
              <a:rPr sz="3535" b="1" i="1" spc="87" dirty="0">
                <a:latin typeface="Times New Roman" panose="02020603050405020304"/>
                <a:cs typeface="Times New Roman" panose="02020603050405020304"/>
              </a:rPr>
              <a:t>b</a:t>
            </a:r>
            <a:r>
              <a:rPr sz="3535" b="1" spc="87" dirty="0">
                <a:latin typeface="Times New Roman" panose="02020603050405020304"/>
                <a:cs typeface="Times New Roman" panose="02020603050405020304"/>
              </a:rPr>
              <a:t>)</a:t>
            </a:r>
            <a:r>
              <a:rPr sz="3535" b="1" spc="-407" dirty="0">
                <a:latin typeface="Times New Roman" panose="02020603050405020304"/>
                <a:cs typeface="Times New Roman" panose="02020603050405020304"/>
              </a:rPr>
              <a:t> </a:t>
            </a:r>
            <a:r>
              <a:rPr sz="3535" spc="93" dirty="0">
                <a:latin typeface="Symbol" panose="05050102010706020507"/>
                <a:cs typeface="Symbol" panose="05050102010706020507"/>
              </a:rPr>
              <a:t></a:t>
            </a:r>
            <a:r>
              <a:rPr sz="3535" spc="-280" dirty="0">
                <a:latin typeface="Times New Roman" panose="02020603050405020304"/>
                <a:cs typeface="Times New Roman" panose="02020603050405020304"/>
              </a:rPr>
              <a:t> </a:t>
            </a:r>
            <a:r>
              <a:rPr sz="3535" b="1" i="1" spc="160" dirty="0">
                <a:latin typeface="Times New Roman" panose="02020603050405020304"/>
                <a:cs typeface="Times New Roman" panose="02020603050405020304"/>
              </a:rPr>
              <a:t>d</a:t>
            </a:r>
            <a:r>
              <a:rPr sz="3535" b="1" spc="160" dirty="0">
                <a:latin typeface="Times New Roman" panose="02020603050405020304"/>
                <a:cs typeface="Times New Roman" panose="02020603050405020304"/>
              </a:rPr>
              <a:t>(</a:t>
            </a:r>
            <a:r>
              <a:rPr sz="3535" b="1" i="1" spc="160" dirty="0">
                <a:latin typeface="Times New Roman" panose="02020603050405020304"/>
                <a:cs typeface="Times New Roman" panose="02020603050405020304"/>
              </a:rPr>
              <a:t>n</a:t>
            </a:r>
            <a:r>
              <a:rPr sz="3535" b="1" spc="160" dirty="0">
                <a:latin typeface="Times New Roman" panose="02020603050405020304"/>
                <a:cs typeface="Times New Roman" panose="02020603050405020304"/>
              </a:rPr>
              <a:t>)</a:t>
            </a:r>
            <a:endParaRPr sz="3535" dirty="0">
              <a:latin typeface="Times New Roman" panose="02020603050405020304"/>
              <a:cs typeface="Times New Roman" panose="02020603050405020304"/>
            </a:endParaRPr>
          </a:p>
        </p:txBody>
      </p:sp>
      <p:sp>
        <p:nvSpPr>
          <p:cNvPr id="17" name="object 17"/>
          <p:cNvSpPr/>
          <p:nvPr/>
        </p:nvSpPr>
        <p:spPr>
          <a:xfrm>
            <a:off x="1035768" y="2100612"/>
            <a:ext cx="6197600" cy="1727200"/>
          </a:xfrm>
          <a:custGeom>
            <a:avLst/>
            <a:gdLst/>
            <a:ahLst/>
            <a:cxnLst/>
            <a:rect l="l" t="t" r="r" b="b"/>
            <a:pathLst>
              <a:path w="4648200" h="1295400">
                <a:moveTo>
                  <a:pt x="0" y="215900"/>
                </a:moveTo>
                <a:lnTo>
                  <a:pt x="5701" y="166391"/>
                </a:lnTo>
                <a:lnTo>
                  <a:pt x="21943" y="120946"/>
                </a:lnTo>
                <a:lnTo>
                  <a:pt x="47430" y="80859"/>
                </a:lnTo>
                <a:lnTo>
                  <a:pt x="80864" y="47426"/>
                </a:lnTo>
                <a:lnTo>
                  <a:pt x="120951" y="21941"/>
                </a:lnTo>
                <a:lnTo>
                  <a:pt x="166395" y="5701"/>
                </a:lnTo>
                <a:lnTo>
                  <a:pt x="215900" y="0"/>
                </a:lnTo>
                <a:lnTo>
                  <a:pt x="4432300" y="0"/>
                </a:lnTo>
                <a:lnTo>
                  <a:pt x="4481808" y="5701"/>
                </a:lnTo>
                <a:lnTo>
                  <a:pt x="4527253" y="21941"/>
                </a:lnTo>
                <a:lnTo>
                  <a:pt x="4567340" y="47426"/>
                </a:lnTo>
                <a:lnTo>
                  <a:pt x="4600773" y="80859"/>
                </a:lnTo>
                <a:lnTo>
                  <a:pt x="4626258" y="120946"/>
                </a:lnTo>
                <a:lnTo>
                  <a:pt x="4642498" y="166391"/>
                </a:lnTo>
                <a:lnTo>
                  <a:pt x="4648200" y="215900"/>
                </a:lnTo>
                <a:lnTo>
                  <a:pt x="4648200" y="1079500"/>
                </a:lnTo>
                <a:lnTo>
                  <a:pt x="4642498" y="1129008"/>
                </a:lnTo>
                <a:lnTo>
                  <a:pt x="4626258" y="1174453"/>
                </a:lnTo>
                <a:lnTo>
                  <a:pt x="4600773" y="1214540"/>
                </a:lnTo>
                <a:lnTo>
                  <a:pt x="4567340" y="1247973"/>
                </a:lnTo>
                <a:lnTo>
                  <a:pt x="4527253" y="1273458"/>
                </a:lnTo>
                <a:lnTo>
                  <a:pt x="4481808" y="1289698"/>
                </a:lnTo>
                <a:lnTo>
                  <a:pt x="4432300" y="1295400"/>
                </a:lnTo>
                <a:lnTo>
                  <a:pt x="215900" y="1295400"/>
                </a:lnTo>
                <a:lnTo>
                  <a:pt x="166395" y="1289698"/>
                </a:lnTo>
                <a:lnTo>
                  <a:pt x="120951" y="1273458"/>
                </a:lnTo>
                <a:lnTo>
                  <a:pt x="80864" y="1247973"/>
                </a:lnTo>
                <a:lnTo>
                  <a:pt x="47430" y="1214540"/>
                </a:lnTo>
                <a:lnTo>
                  <a:pt x="21943" y="1174453"/>
                </a:lnTo>
                <a:lnTo>
                  <a:pt x="5701" y="1129008"/>
                </a:lnTo>
                <a:lnTo>
                  <a:pt x="0" y="1079500"/>
                </a:lnTo>
                <a:lnTo>
                  <a:pt x="0" y="215900"/>
                </a:lnTo>
                <a:close/>
              </a:path>
            </a:pathLst>
          </a:custGeom>
          <a:ln w="25400">
            <a:solidFill>
              <a:srgbClr val="C00000"/>
            </a:solidFill>
          </a:ln>
        </p:spPr>
        <p:txBody>
          <a:bodyPr wrap="square" lIns="0" tIns="0" rIns="0" bIns="0" rtlCol="0"/>
          <a:lstStyle/>
          <a:p>
            <a:endParaRPr sz="2400"/>
          </a:p>
        </p:txBody>
      </p:sp>
      <p:sp>
        <p:nvSpPr>
          <p:cNvPr id="18" name="object 18"/>
          <p:cNvSpPr/>
          <p:nvPr/>
        </p:nvSpPr>
        <p:spPr>
          <a:xfrm>
            <a:off x="1035768" y="4031012"/>
            <a:ext cx="6197600" cy="2133600"/>
          </a:xfrm>
          <a:custGeom>
            <a:avLst/>
            <a:gdLst/>
            <a:ahLst/>
            <a:cxnLst/>
            <a:rect l="l" t="t" r="r" b="b"/>
            <a:pathLst>
              <a:path w="4648200" h="1600200">
                <a:moveTo>
                  <a:pt x="0" y="266700"/>
                </a:moveTo>
                <a:lnTo>
                  <a:pt x="4296" y="218753"/>
                </a:lnTo>
                <a:lnTo>
                  <a:pt x="16685" y="173629"/>
                </a:lnTo>
                <a:lnTo>
                  <a:pt x="36412" y="132080"/>
                </a:lnTo>
                <a:lnTo>
                  <a:pt x="62724" y="94858"/>
                </a:lnTo>
                <a:lnTo>
                  <a:pt x="94868" y="62716"/>
                </a:lnTo>
                <a:lnTo>
                  <a:pt x="132091" y="36406"/>
                </a:lnTo>
                <a:lnTo>
                  <a:pt x="173639" y="16682"/>
                </a:lnTo>
                <a:lnTo>
                  <a:pt x="218760" y="4296"/>
                </a:lnTo>
                <a:lnTo>
                  <a:pt x="266700" y="0"/>
                </a:lnTo>
                <a:lnTo>
                  <a:pt x="4381500" y="0"/>
                </a:lnTo>
                <a:lnTo>
                  <a:pt x="4429446" y="4296"/>
                </a:lnTo>
                <a:lnTo>
                  <a:pt x="4474570" y="16682"/>
                </a:lnTo>
                <a:lnTo>
                  <a:pt x="4516120" y="36406"/>
                </a:lnTo>
                <a:lnTo>
                  <a:pt x="4553341" y="62716"/>
                </a:lnTo>
                <a:lnTo>
                  <a:pt x="4585483" y="94858"/>
                </a:lnTo>
                <a:lnTo>
                  <a:pt x="4611793" y="132080"/>
                </a:lnTo>
                <a:lnTo>
                  <a:pt x="4631517" y="173629"/>
                </a:lnTo>
                <a:lnTo>
                  <a:pt x="4643903" y="218753"/>
                </a:lnTo>
                <a:lnTo>
                  <a:pt x="4648200" y="266700"/>
                </a:lnTo>
                <a:lnTo>
                  <a:pt x="4648200" y="1333500"/>
                </a:lnTo>
                <a:lnTo>
                  <a:pt x="4643903" y="1381439"/>
                </a:lnTo>
                <a:lnTo>
                  <a:pt x="4631517" y="1426560"/>
                </a:lnTo>
                <a:lnTo>
                  <a:pt x="4611793" y="1468108"/>
                </a:lnTo>
                <a:lnTo>
                  <a:pt x="4585483" y="1505331"/>
                </a:lnTo>
                <a:lnTo>
                  <a:pt x="4553341" y="1537475"/>
                </a:lnTo>
                <a:lnTo>
                  <a:pt x="4516120" y="1563787"/>
                </a:lnTo>
                <a:lnTo>
                  <a:pt x="4474570" y="1583514"/>
                </a:lnTo>
                <a:lnTo>
                  <a:pt x="4429446" y="1595903"/>
                </a:lnTo>
                <a:lnTo>
                  <a:pt x="4381500" y="1600200"/>
                </a:lnTo>
                <a:lnTo>
                  <a:pt x="266700" y="1600200"/>
                </a:lnTo>
                <a:lnTo>
                  <a:pt x="218760" y="1595903"/>
                </a:lnTo>
                <a:lnTo>
                  <a:pt x="173639" y="1583514"/>
                </a:lnTo>
                <a:lnTo>
                  <a:pt x="132091" y="1563787"/>
                </a:lnTo>
                <a:lnTo>
                  <a:pt x="94868" y="1537475"/>
                </a:lnTo>
                <a:lnTo>
                  <a:pt x="62724" y="1505331"/>
                </a:lnTo>
                <a:lnTo>
                  <a:pt x="36412" y="1468108"/>
                </a:lnTo>
                <a:lnTo>
                  <a:pt x="16685" y="1426560"/>
                </a:lnTo>
                <a:lnTo>
                  <a:pt x="4296" y="1381439"/>
                </a:lnTo>
                <a:lnTo>
                  <a:pt x="0" y="1333500"/>
                </a:lnTo>
                <a:lnTo>
                  <a:pt x="0" y="266700"/>
                </a:lnTo>
                <a:close/>
              </a:path>
            </a:pathLst>
          </a:custGeom>
          <a:ln w="25400">
            <a:solidFill>
              <a:srgbClr val="C00000"/>
            </a:solidFill>
          </a:ln>
        </p:spPr>
        <p:txBody>
          <a:bodyPr wrap="square" lIns="0" tIns="0" rIns="0" bIns="0" rtlCol="0"/>
          <a:lstStyle/>
          <a:p>
            <a:endParaRPr sz="2400"/>
          </a:p>
        </p:txBody>
      </p:sp>
      <mc:AlternateContent xmlns:mc="http://schemas.openxmlformats.org/markup-compatibility/2006">
        <mc:Choice xmlns:a14="http://schemas.microsoft.com/office/drawing/2010/main" Requires="a14">
          <p:sp>
            <p:nvSpPr>
              <p:cNvPr id="20" name="文本框 19"/>
              <p:cNvSpPr txBox="1"/>
              <p:nvPr/>
            </p:nvSpPr>
            <p:spPr>
              <a:xfrm>
                <a:off x="1164417" y="2633537"/>
                <a:ext cx="5608780" cy="111908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pitchFamily="18" charset="0"/>
                        </a:rPr>
                        <m:t>𝑻</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𝒏</m:t>
                          </m:r>
                        </m:e>
                      </m:d>
                      <m:r>
                        <a:rPr lang="en-US" altLang="zh-CN" sz="2800" b="1" i="1">
                          <a:latin typeface="Cambria Math" panose="02040503050406030204" pitchFamily="18" charset="0"/>
                        </a:rPr>
                        <m:t>=</m:t>
                      </m:r>
                      <m:d>
                        <m:dPr>
                          <m:begChr m:val="{"/>
                          <m:endChr m:val=""/>
                          <m:ctrlPr>
                            <a:rPr lang="en-US" altLang="zh-CN" sz="2800" b="1" i="1">
                              <a:latin typeface="Cambria Math" panose="02040503050406030204" pitchFamily="18" charset="0"/>
                            </a:rPr>
                          </m:ctrlPr>
                        </m:dPr>
                        <m:e>
                          <m:eqArr>
                            <m:eqArrPr>
                              <m:ctrlPr>
                                <a:rPr lang="en-US" altLang="zh-CN" sz="2800" b="1" i="1">
                                  <a:latin typeface="Cambria Math" panose="02040503050406030204" pitchFamily="18" charset="0"/>
                                </a:rPr>
                              </m:ctrlPr>
                            </m:eqArrPr>
                            <m:e>
                              <m:r>
                                <a:rPr lang="en-US" altLang="zh-CN" sz="2800" b="1" i="1">
                                  <a:latin typeface="Cambria Math" panose="02040503050406030204" pitchFamily="18" charset="0"/>
                                </a:rPr>
                                <m:t>𝑶</m:t>
                              </m:r>
                              <m:d>
                                <m:dPr>
                                  <m:ctrlPr>
                                    <a:rPr lang="en-US" altLang="zh-CN" sz="2800" b="1" i="1">
                                      <a:latin typeface="Cambria Math" panose="02040503050406030204" pitchFamily="18" charset="0"/>
                                    </a:rPr>
                                  </m:ctrlPr>
                                </m:dPr>
                                <m:e>
                                  <m:sSup>
                                    <m:sSupPr>
                                      <m:ctrlPr>
                                        <a:rPr lang="en-US" altLang="zh-CN" sz="2800" b="1" i="1">
                                          <a:latin typeface="Cambria Math" panose="02040503050406030204" pitchFamily="18" charset="0"/>
                                        </a:rPr>
                                      </m:ctrlPr>
                                    </m:sSupPr>
                                    <m:e>
                                      <m:r>
                                        <a:rPr lang="en-US" altLang="zh-CN" sz="2800" b="1" i="1">
                                          <a:latin typeface="Cambria Math" panose="02040503050406030204" pitchFamily="18" charset="0"/>
                                        </a:rPr>
                                        <m:t>𝒏</m:t>
                                      </m:r>
                                    </m:e>
                                    <m:sup>
                                      <m:func>
                                        <m:funcPr>
                                          <m:ctrlPr>
                                            <a:rPr lang="en-US" altLang="zh-CN" sz="2800" b="1" i="1">
                                              <a:latin typeface="Cambria Math" panose="02040503050406030204" pitchFamily="18" charset="0"/>
                                            </a:rPr>
                                          </m:ctrlPr>
                                        </m:funcPr>
                                        <m:fName>
                                          <m:sSub>
                                            <m:sSubPr>
                                              <m:ctrlPr>
                                                <a:rPr lang="en-US" altLang="zh-CN" sz="2800" b="1" i="1">
                                                  <a:latin typeface="Cambria Math" panose="02040503050406030204" pitchFamily="18" charset="0"/>
                                                </a:rPr>
                                              </m:ctrlPr>
                                            </m:sSubPr>
                                            <m:e>
                                              <m:r>
                                                <a:rPr lang="en-US" altLang="zh-CN" sz="2800" b="1">
                                                  <a:latin typeface="Cambria Math" panose="02040503050406030204" pitchFamily="18" charset="0"/>
                                                </a:rPr>
                                                <m:t>𝐥𝐨𝐠</m:t>
                                              </m:r>
                                            </m:e>
                                            <m:sub>
                                              <m:r>
                                                <a:rPr lang="en-US" altLang="zh-CN" sz="2800" b="1" i="1">
                                                  <a:latin typeface="Cambria Math" panose="02040503050406030204" pitchFamily="18" charset="0"/>
                                                </a:rPr>
                                                <m:t>𝒃</m:t>
                                              </m:r>
                                            </m:sub>
                                          </m:sSub>
                                        </m:fName>
                                        <m:e>
                                          <m:r>
                                            <a:rPr lang="en-US" altLang="zh-CN" sz="2800" b="1" i="1">
                                              <a:latin typeface="Cambria Math" panose="02040503050406030204" pitchFamily="18" charset="0"/>
                                            </a:rPr>
                                            <m:t>𝒂</m:t>
                                          </m:r>
                                        </m:e>
                                      </m:func>
                                    </m:sup>
                                  </m:sSup>
                                </m:e>
                              </m:d>
                              <m:r>
                                <a:rPr lang="en-US" altLang="zh-CN" sz="2800" b="1" i="1">
                                  <a:latin typeface="Cambria Math" panose="02040503050406030204" pitchFamily="18" charset="0"/>
                                </a:rPr>
                                <m:t>                    </m:t>
                              </m:r>
                              <m:r>
                                <a:rPr lang="en-US" altLang="zh-CN" sz="2800" b="1" i="1">
                                  <a:latin typeface="Cambria Math" panose="02040503050406030204" pitchFamily="18" charset="0"/>
                                </a:rPr>
                                <m:t>𝒂</m:t>
                              </m:r>
                              <m:r>
                                <a:rPr lang="en-US" altLang="zh-CN" sz="2800" b="1" i="1">
                                  <a:latin typeface="Cambria Math" panose="02040503050406030204" pitchFamily="18" charset="0"/>
                                  <a:ea typeface="Cambria Math" panose="02040503050406030204" pitchFamily="18" charset="0"/>
                                </a:rPr>
                                <m:t>≠</m:t>
                              </m:r>
                              <m:r>
                                <a:rPr lang="en-US" altLang="zh-CN" sz="2800" b="1" i="1">
                                  <a:latin typeface="Cambria Math" panose="02040503050406030204" pitchFamily="18" charset="0"/>
                                  <a:ea typeface="Cambria Math" panose="02040503050406030204" pitchFamily="18" charset="0"/>
                                </a:rPr>
                                <m:t>𝟏</m:t>
                              </m:r>
                            </m:e>
                            <m:e>
                              <m:r>
                                <a:rPr lang="en-US" altLang="zh-CN" sz="2800" b="1" i="1">
                                  <a:latin typeface="Cambria Math" panose="02040503050406030204" pitchFamily="18" charset="0"/>
                                </a:rPr>
                                <m:t>𝑶</m:t>
                              </m:r>
                              <m:d>
                                <m:dPr>
                                  <m:ctrlPr>
                                    <a:rPr lang="en-US" altLang="zh-CN" sz="2800" b="1" i="1">
                                      <a:latin typeface="Cambria Math" panose="02040503050406030204" pitchFamily="18" charset="0"/>
                                    </a:rPr>
                                  </m:ctrlPr>
                                </m:dPr>
                                <m:e>
                                  <m:func>
                                    <m:funcPr>
                                      <m:ctrlPr>
                                        <a:rPr lang="en-US" altLang="zh-CN" sz="2800" b="1" i="1">
                                          <a:latin typeface="Cambria Math" panose="02040503050406030204" pitchFamily="18" charset="0"/>
                                        </a:rPr>
                                      </m:ctrlPr>
                                    </m:funcPr>
                                    <m:fName>
                                      <m:r>
                                        <a:rPr lang="en-US" altLang="zh-CN" sz="2800" b="1">
                                          <a:latin typeface="Cambria Math" panose="02040503050406030204" pitchFamily="18" charset="0"/>
                                        </a:rPr>
                                        <m:t>𝐥𝐨𝐠</m:t>
                                      </m:r>
                                    </m:fName>
                                    <m:e>
                                      <m:r>
                                        <a:rPr lang="en-US" altLang="zh-CN" sz="2800" b="1" i="1">
                                          <a:latin typeface="Cambria Math" panose="02040503050406030204" pitchFamily="18" charset="0"/>
                                        </a:rPr>
                                        <m:t>𝒏</m:t>
                                      </m:r>
                                    </m:e>
                                  </m:func>
                                </m:e>
                              </m:d>
                              <m:r>
                                <a:rPr lang="en-US" altLang="zh-CN" sz="2800" b="1" i="1">
                                  <a:latin typeface="Cambria Math" panose="02040503050406030204" pitchFamily="18" charset="0"/>
                                </a:rPr>
                                <m:t>                       </m:t>
                              </m:r>
                              <m:r>
                                <a:rPr lang="en-US" altLang="zh-CN" sz="2800" b="1" i="1">
                                  <a:latin typeface="Cambria Math" panose="02040503050406030204" pitchFamily="18" charset="0"/>
                                </a:rPr>
                                <m:t>𝒂</m:t>
                              </m:r>
                              <m:r>
                                <a:rPr lang="en-US" altLang="zh-CN" sz="2800" b="1" i="1">
                                  <a:latin typeface="Cambria Math" panose="02040503050406030204" pitchFamily="18" charset="0"/>
                                </a:rPr>
                                <m:t>=</m:t>
                              </m:r>
                              <m:r>
                                <a:rPr lang="en-US" altLang="zh-CN" sz="2800" b="1" i="1">
                                  <a:latin typeface="Cambria Math" panose="02040503050406030204" pitchFamily="18" charset="0"/>
                                </a:rPr>
                                <m:t>𝟏</m:t>
                              </m:r>
                            </m:e>
                          </m:eqArr>
                        </m:e>
                      </m:d>
                    </m:oMath>
                  </m:oMathPara>
                </a14:m>
                <a:endParaRPr lang="zh-CN" altLang="en-US" sz="2800" b="1" dirty="0"/>
              </a:p>
            </p:txBody>
          </p:sp>
        </mc:Choice>
        <mc:Fallback>
          <p:sp>
            <p:nvSpPr>
              <p:cNvPr id="20" name="文本框 19"/>
              <p:cNvSpPr txBox="1">
                <a:spLocks noRot="1" noChangeAspect="1" noMove="1" noResize="1" noEditPoints="1" noAdjustHandles="1" noChangeArrowheads="1" noChangeShapeType="1" noTextEdit="1"/>
              </p:cNvSpPr>
              <p:nvPr/>
            </p:nvSpPr>
            <p:spPr>
              <a:xfrm>
                <a:off x="1164417" y="2633537"/>
                <a:ext cx="5608780" cy="1119089"/>
              </a:xfrm>
              <a:prstGeom prst="rect">
                <a:avLst/>
              </a:prstGeom>
              <a:blipFill rotWithShape="1">
                <a:blip r:embed="rId3"/>
                <a:stretch>
                  <a:fillRect l="-8" t="-17" r="-18" b="3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1199555" y="4481899"/>
                <a:ext cx="5524718" cy="159550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pitchFamily="18" charset="0"/>
                        </a:rPr>
                        <m:t>𝑻</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𝒏</m:t>
                          </m:r>
                        </m:e>
                      </m:d>
                      <m:r>
                        <a:rPr lang="en-US" altLang="zh-CN" sz="2800" b="1" i="1">
                          <a:latin typeface="Cambria Math" panose="02040503050406030204" pitchFamily="18" charset="0"/>
                        </a:rPr>
                        <m:t>=</m:t>
                      </m:r>
                      <m:d>
                        <m:dPr>
                          <m:begChr m:val="{"/>
                          <m:endChr m:val=""/>
                          <m:ctrlPr>
                            <a:rPr lang="en-US" altLang="zh-CN" sz="2800" b="1" i="1">
                              <a:latin typeface="Cambria Math" panose="02040503050406030204" pitchFamily="18" charset="0"/>
                            </a:rPr>
                          </m:ctrlPr>
                        </m:dPr>
                        <m:e>
                          <m:eqArr>
                            <m:eqArrPr>
                              <m:ctrlPr>
                                <a:rPr lang="en-US" altLang="zh-CN" sz="2800" b="1" i="1">
                                  <a:latin typeface="Cambria Math" panose="02040503050406030204" pitchFamily="18" charset="0"/>
                                </a:rPr>
                              </m:ctrlPr>
                            </m:eqArrPr>
                            <m:e>
                              <m:r>
                                <a:rPr lang="en-US" altLang="zh-CN" sz="2800" b="1" i="1">
                                  <a:latin typeface="Cambria Math" panose="02040503050406030204" pitchFamily="18" charset="0"/>
                                </a:rPr>
                                <m:t>𝑶</m:t>
                              </m:r>
                              <m:d>
                                <m:dPr>
                                  <m:ctrlPr>
                                    <a:rPr lang="en-US" altLang="zh-CN" sz="2800" b="1" i="1">
                                      <a:latin typeface="Cambria Math" panose="02040503050406030204" pitchFamily="18" charset="0"/>
                                    </a:rPr>
                                  </m:ctrlPr>
                                </m:dPr>
                                <m:e>
                                  <m:r>
                                    <a:rPr lang="en-US" altLang="zh-CN" sz="2800" b="1" i="1">
                                      <a:latin typeface="Cambria Math" panose="02040503050406030204" pitchFamily="18" charset="0"/>
                                    </a:rPr>
                                    <m:t>𝒏</m:t>
                                  </m:r>
                                </m:e>
                              </m:d>
                              <m:r>
                                <a:rPr lang="en-US" altLang="zh-CN" sz="2800" b="1" i="1">
                                  <a:latin typeface="Cambria Math" panose="02040503050406030204" pitchFamily="18" charset="0"/>
                                </a:rPr>
                                <m:t>                           </m:t>
                              </m:r>
                              <m:r>
                                <a:rPr lang="en-US" altLang="zh-CN" sz="2800" b="1" i="1">
                                  <a:latin typeface="Cambria Math" panose="02040503050406030204" pitchFamily="18" charset="0"/>
                                </a:rPr>
                                <m:t>𝒂</m:t>
                              </m:r>
                              <m:r>
                                <a:rPr lang="en-US" altLang="zh-CN" sz="2800" b="1" i="1">
                                  <a:latin typeface="Cambria Math" panose="02040503050406030204" pitchFamily="18" charset="0"/>
                                  <a:ea typeface="Cambria Math" panose="02040503050406030204" pitchFamily="18" charset="0"/>
                                </a:rPr>
                                <m:t>&lt;</m:t>
                              </m:r>
                              <m:r>
                                <a:rPr lang="en-US" altLang="zh-CN" sz="2800" b="1" i="1">
                                  <a:latin typeface="Cambria Math" panose="02040503050406030204" pitchFamily="18" charset="0"/>
                                  <a:ea typeface="Cambria Math" panose="02040503050406030204" pitchFamily="18" charset="0"/>
                                </a:rPr>
                                <m:t>𝒃</m:t>
                              </m:r>
                            </m:e>
                            <m:e>
                              <m:r>
                                <a:rPr lang="en-US" altLang="zh-CN" sz="2800" b="1" i="1">
                                  <a:latin typeface="Cambria Math" panose="02040503050406030204" pitchFamily="18" charset="0"/>
                                </a:rPr>
                                <m:t>𝑶</m:t>
                              </m:r>
                              <m:d>
                                <m:dPr>
                                  <m:ctrlPr>
                                    <a:rPr lang="en-US" altLang="zh-CN" sz="2800" b="1" i="1">
                                      <a:latin typeface="Cambria Math" panose="02040503050406030204" pitchFamily="18" charset="0"/>
                                    </a:rPr>
                                  </m:ctrlPr>
                                </m:dPr>
                                <m:e>
                                  <m:func>
                                    <m:funcPr>
                                      <m:ctrlPr>
                                        <a:rPr lang="en-US" altLang="zh-CN" sz="2800" b="1" i="1">
                                          <a:latin typeface="Cambria Math" panose="02040503050406030204" pitchFamily="18" charset="0"/>
                                        </a:rPr>
                                      </m:ctrlPr>
                                    </m:funcPr>
                                    <m:fName>
                                      <m:r>
                                        <a:rPr lang="en-US" altLang="zh-CN" sz="2800" b="1">
                                          <a:latin typeface="Cambria Math" panose="02040503050406030204" pitchFamily="18" charset="0"/>
                                        </a:rPr>
                                        <m:t>𝐧𝐥𝐨𝐠</m:t>
                                      </m:r>
                                    </m:fName>
                                    <m:e>
                                      <m:r>
                                        <a:rPr lang="en-US" altLang="zh-CN" sz="2800" b="1" i="1">
                                          <a:latin typeface="Cambria Math" panose="02040503050406030204" pitchFamily="18" charset="0"/>
                                        </a:rPr>
                                        <m:t>𝒏</m:t>
                                      </m:r>
                                    </m:e>
                                  </m:func>
                                </m:e>
                              </m:d>
                              <m:r>
                                <a:rPr lang="en-US" altLang="zh-CN" sz="2800" b="1" i="1">
                                  <a:latin typeface="Cambria Math" panose="02040503050406030204" pitchFamily="18" charset="0"/>
                                </a:rPr>
                                <m:t>                  </m:t>
                              </m:r>
                              <m:r>
                                <a:rPr lang="en-US" altLang="zh-CN" sz="2800" b="1" i="1">
                                  <a:latin typeface="Cambria Math" panose="02040503050406030204" pitchFamily="18" charset="0"/>
                                </a:rPr>
                                <m:t>𝒂</m:t>
                              </m:r>
                              <m:r>
                                <a:rPr lang="en-US" altLang="zh-CN" sz="2800" b="1" i="1">
                                  <a:latin typeface="Cambria Math" panose="02040503050406030204" pitchFamily="18" charset="0"/>
                                </a:rPr>
                                <m:t>=</m:t>
                              </m:r>
                              <m:r>
                                <a:rPr lang="en-US" altLang="zh-CN" sz="2800" b="1" i="1">
                                  <a:latin typeface="Cambria Math" panose="02040503050406030204" pitchFamily="18" charset="0"/>
                                </a:rPr>
                                <m:t>𝒃</m:t>
                              </m:r>
                            </m:e>
                            <m:e>
                              <m:r>
                                <a:rPr lang="en-US" altLang="zh-CN" sz="2800" b="1" i="1">
                                  <a:latin typeface="Cambria Math" panose="02040503050406030204" pitchFamily="18" charset="0"/>
                                </a:rPr>
                                <m:t>𝑶</m:t>
                              </m:r>
                              <m:d>
                                <m:dPr>
                                  <m:ctrlPr>
                                    <a:rPr lang="en-US" altLang="zh-CN" sz="2800" b="1" i="1">
                                      <a:latin typeface="Cambria Math" panose="02040503050406030204" pitchFamily="18" charset="0"/>
                                    </a:rPr>
                                  </m:ctrlPr>
                                </m:dPr>
                                <m:e>
                                  <m:sSup>
                                    <m:sSupPr>
                                      <m:ctrlPr>
                                        <a:rPr lang="en-US" altLang="zh-CN" sz="2800" b="1" i="1">
                                          <a:latin typeface="Cambria Math" panose="02040503050406030204" pitchFamily="18" charset="0"/>
                                        </a:rPr>
                                      </m:ctrlPr>
                                    </m:sSupPr>
                                    <m:e>
                                      <m:r>
                                        <a:rPr lang="en-US" altLang="zh-CN" sz="2800" b="1" i="1">
                                          <a:latin typeface="Cambria Math" panose="02040503050406030204" pitchFamily="18" charset="0"/>
                                        </a:rPr>
                                        <m:t>𝒏</m:t>
                                      </m:r>
                                    </m:e>
                                    <m:sup>
                                      <m:func>
                                        <m:funcPr>
                                          <m:ctrlPr>
                                            <a:rPr lang="en-US" altLang="zh-CN" sz="2800" b="1" i="1">
                                              <a:latin typeface="Cambria Math" panose="02040503050406030204" pitchFamily="18" charset="0"/>
                                            </a:rPr>
                                          </m:ctrlPr>
                                        </m:funcPr>
                                        <m:fName>
                                          <m:sSub>
                                            <m:sSubPr>
                                              <m:ctrlPr>
                                                <a:rPr lang="en-US" altLang="zh-CN" sz="2800" b="1" i="1">
                                                  <a:latin typeface="Cambria Math" panose="02040503050406030204" pitchFamily="18" charset="0"/>
                                                </a:rPr>
                                              </m:ctrlPr>
                                            </m:sSubPr>
                                            <m:e>
                                              <m:r>
                                                <a:rPr lang="en-US" altLang="zh-CN" sz="2800" b="1">
                                                  <a:latin typeface="Cambria Math" panose="02040503050406030204" pitchFamily="18" charset="0"/>
                                                </a:rPr>
                                                <m:t>𝐥𝐨𝐠</m:t>
                                              </m:r>
                                            </m:e>
                                            <m:sub>
                                              <m:r>
                                                <a:rPr lang="en-US" altLang="zh-CN" sz="2800" b="1" i="1">
                                                  <a:latin typeface="Cambria Math" panose="02040503050406030204" pitchFamily="18" charset="0"/>
                                                </a:rPr>
                                                <m:t>𝒃</m:t>
                                              </m:r>
                                            </m:sub>
                                          </m:sSub>
                                        </m:fName>
                                        <m:e>
                                          <m:r>
                                            <a:rPr lang="en-US" altLang="zh-CN" sz="2800" b="1" i="1">
                                              <a:latin typeface="Cambria Math" panose="02040503050406030204" pitchFamily="18" charset="0"/>
                                            </a:rPr>
                                            <m:t>𝒂</m:t>
                                          </m:r>
                                        </m:e>
                                      </m:func>
                                    </m:sup>
                                  </m:sSup>
                                </m:e>
                              </m:d>
                              <m:r>
                                <a:rPr lang="en-US" altLang="zh-CN" sz="2800" b="1" i="1">
                                  <a:latin typeface="Cambria Math" panose="02040503050406030204" pitchFamily="18" charset="0"/>
                                </a:rPr>
                                <m:t>                  </m:t>
                              </m:r>
                              <m:r>
                                <a:rPr lang="en-US" altLang="zh-CN" sz="2800" b="1" i="1">
                                  <a:latin typeface="Cambria Math" panose="02040503050406030204" pitchFamily="18" charset="0"/>
                                </a:rPr>
                                <m:t>𝒂</m:t>
                              </m:r>
                              <m:r>
                                <a:rPr lang="en-US" altLang="zh-CN" sz="2800" b="1" i="1">
                                  <a:latin typeface="Cambria Math" panose="02040503050406030204" pitchFamily="18" charset="0"/>
                                  <a:ea typeface="Cambria Math" panose="02040503050406030204" pitchFamily="18" charset="0"/>
                                </a:rPr>
                                <m:t>&gt;</m:t>
                              </m:r>
                              <m:r>
                                <a:rPr lang="en-US" altLang="zh-CN" sz="2800" b="1" i="1">
                                  <a:latin typeface="Cambria Math" panose="02040503050406030204" pitchFamily="18" charset="0"/>
                                  <a:ea typeface="Cambria Math" panose="02040503050406030204" pitchFamily="18" charset="0"/>
                                </a:rPr>
                                <m:t>𝒃</m:t>
                              </m:r>
                            </m:e>
                          </m:eqArr>
                        </m:e>
                      </m:d>
                    </m:oMath>
                  </m:oMathPara>
                </a14:m>
                <a:endParaRPr lang="zh-CN" altLang="en-US" sz="2800" b="1" dirty="0"/>
              </a:p>
            </p:txBody>
          </p:sp>
        </mc:Choice>
        <mc:Fallback>
          <p:sp>
            <p:nvSpPr>
              <p:cNvPr id="21" name="文本框 20"/>
              <p:cNvSpPr txBox="1">
                <a:spLocks noRot="1" noChangeAspect="1" noMove="1" noResize="1" noEditPoints="1" noAdjustHandles="1" noChangeArrowheads="1" noChangeShapeType="1" noTextEdit="1"/>
              </p:cNvSpPr>
              <p:nvPr/>
            </p:nvSpPr>
            <p:spPr>
              <a:xfrm>
                <a:off x="1199555" y="4481899"/>
                <a:ext cx="5524718" cy="1595501"/>
              </a:xfrm>
              <a:prstGeom prst="rect">
                <a:avLst/>
              </a:prstGeom>
              <a:blipFill rotWithShape="1">
                <a:blip r:embed="rId4"/>
                <a:stretch>
                  <a:fillRect l="-1" t="-4" r="5" b="28"/>
                </a:stretch>
              </a:blipFill>
            </p:spPr>
            <p:txBody>
              <a:bodyPr/>
              <a:lstStyle/>
              <a:p>
                <a:r>
                  <a:rPr lang="zh-CN"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7910" y="-18625"/>
            <a:ext cx="8886124"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小结</a:t>
            </a:r>
            <a:endParaRPr sz="4400" b="1" spc="-13"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463863" y="1094900"/>
            <a:ext cx="8633741" cy="4655804"/>
          </a:xfrm>
          <a:prstGeom prst="rect">
            <a:avLst/>
          </a:prstGeom>
        </p:spPr>
        <p:txBody>
          <a:bodyPr vert="horz" wrap="square" lIns="0" tIns="82973" rIns="0" bIns="0" rtlCol="0">
            <a:spAutoFit/>
          </a:bodyPr>
          <a:lstStyle/>
          <a:p>
            <a:pPr marL="474345" indent="-457200" algn="just">
              <a:spcBef>
                <a:spcPts val="655"/>
              </a:spcBef>
              <a:buFont typeface="Wingdings" panose="05000000000000000000" pitchFamily="2" charset="2"/>
              <a:buChar char="l"/>
              <a:tabLst>
                <a:tab pos="473075" algn="l"/>
                <a:tab pos="473710" algn="l"/>
              </a:tabLst>
            </a:pPr>
            <a:r>
              <a:rPr sz="3200" b="1" spc="-7" dirty="0">
                <a:latin typeface="Times New Roman" panose="02020603050405020304" pitchFamily="18" charset="0"/>
                <a:ea typeface="黑体" panose="02010609060101010101" pitchFamily="49" charset="-122"/>
                <a:cs typeface="Times New Roman" panose="02020603050405020304" pitchFamily="18" charset="0"/>
              </a:rPr>
              <a:t>分治算法的一般描述</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1011555" marR="12700" indent="-457200" algn="just">
              <a:lnSpc>
                <a:spcPct val="106000"/>
              </a:lnSpc>
              <a:spcBef>
                <a:spcPts val="245"/>
              </a:spcBef>
              <a:buFont typeface="Wingdings" panose="05000000000000000000" pitchFamily="2" charset="2"/>
              <a:buChar char="Ø"/>
            </a:pPr>
            <a:r>
              <a:rPr lang="en-US" sz="3200" b="1" dirty="0">
                <a:latin typeface="Times New Roman" panose="02020603050405020304" pitchFamily="18" charset="0"/>
                <a:ea typeface="黑体" panose="02010609060101010101" pitchFamily="49" charset="-122"/>
                <a:cs typeface="Times New Roman" panose="02020603050405020304" pitchFamily="18" charset="0"/>
              </a:rPr>
              <a:t> </a:t>
            </a:r>
            <a:r>
              <a:rPr sz="2800" b="1" dirty="0" err="1">
                <a:latin typeface="Times New Roman" panose="02020603050405020304" pitchFamily="18" charset="0"/>
                <a:ea typeface="黑体" panose="02010609060101010101" pitchFamily="49" charset="-122"/>
                <a:cs typeface="Times New Roman" panose="02020603050405020304" pitchFamily="18" charset="0"/>
              </a:rPr>
              <a:t>划分或归约为彼此独立的子问题</a:t>
            </a:r>
            <a:endParaRPr lang="en-US" sz="2800" b="1" dirty="0">
              <a:latin typeface="Times New Roman" panose="02020603050405020304" pitchFamily="18" charset="0"/>
              <a:ea typeface="黑体" panose="02010609060101010101" pitchFamily="49" charset="-122"/>
              <a:cs typeface="Times New Roman" panose="02020603050405020304" pitchFamily="18" charset="0"/>
            </a:endParaRPr>
          </a:p>
          <a:p>
            <a:pPr marL="1011555" marR="12700" indent="-457200" algn="just">
              <a:lnSpc>
                <a:spcPct val="106000"/>
              </a:lnSpc>
              <a:spcBef>
                <a:spcPts val="245"/>
              </a:spcBef>
              <a:buFont typeface="Wingdings" panose="05000000000000000000" pitchFamily="2" charset="2"/>
              <a:buChar char="Ø"/>
            </a:pPr>
            <a:r>
              <a:rPr lang="en-US" sz="2800" b="1" dirty="0">
                <a:latin typeface="Times New Roman" panose="02020603050405020304" pitchFamily="18" charset="0"/>
                <a:ea typeface="黑体" panose="02010609060101010101" pitchFamily="49" charset="-122"/>
                <a:cs typeface="Times New Roman" panose="02020603050405020304" pitchFamily="18" charset="0"/>
              </a:rPr>
              <a:t> </a:t>
            </a:r>
            <a:r>
              <a:rPr sz="2800" b="1" dirty="0" err="1">
                <a:latin typeface="Times New Roman" panose="02020603050405020304" pitchFamily="18" charset="0"/>
                <a:ea typeface="黑体" panose="02010609060101010101" pitchFamily="49" charset="-122"/>
                <a:cs typeface="Times New Roman" panose="02020603050405020304" pitchFamily="18" charset="0"/>
              </a:rPr>
              <a:t>分别求解每个子问题</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1018540" marR="6985" indent="-457200" algn="just">
              <a:buFont typeface="Wingdings" panose="05000000000000000000" pitchFamily="2" charset="2"/>
              <a:buChar char="Ø"/>
            </a:pPr>
            <a:r>
              <a:rPr lang="en-US" sz="2800" b="1" dirty="0">
                <a:latin typeface="Times New Roman" panose="02020603050405020304" pitchFamily="18" charset="0"/>
                <a:ea typeface="黑体" panose="02010609060101010101" pitchFamily="49" charset="-122"/>
                <a:cs typeface="Times New Roman" panose="02020603050405020304" pitchFamily="18" charset="0"/>
              </a:rPr>
              <a:t> </a:t>
            </a:r>
            <a:r>
              <a:rPr sz="2800" b="1" dirty="0" err="1">
                <a:latin typeface="Times New Roman" panose="02020603050405020304" pitchFamily="18" charset="0"/>
                <a:ea typeface="黑体" panose="02010609060101010101" pitchFamily="49" charset="-122"/>
                <a:cs typeface="Times New Roman" panose="02020603050405020304" pitchFamily="18" charset="0"/>
              </a:rPr>
              <a:t>给出递归或迭代计算的终止条件</a:t>
            </a:r>
            <a:endParaRPr lang="en-US" sz="2800" b="1" dirty="0">
              <a:latin typeface="Times New Roman" panose="02020603050405020304" pitchFamily="18" charset="0"/>
              <a:ea typeface="黑体" panose="02010609060101010101" pitchFamily="49" charset="-122"/>
              <a:cs typeface="Times New Roman" panose="02020603050405020304" pitchFamily="18" charset="0"/>
            </a:endParaRPr>
          </a:p>
          <a:p>
            <a:pPr marL="1018540" marR="6985" indent="-457200" algn="just">
              <a:buFont typeface="Wingdings" panose="05000000000000000000" pitchFamily="2" charset="2"/>
              <a:buChar char="Ø"/>
            </a:pPr>
            <a:r>
              <a:rPr lang="en-US"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err="1">
                <a:latin typeface="Times New Roman" panose="02020603050405020304" pitchFamily="18" charset="0"/>
                <a:ea typeface="黑体" panose="02010609060101010101" pitchFamily="49" charset="-122"/>
                <a:cs typeface="Times New Roman" panose="02020603050405020304" pitchFamily="18" charset="0"/>
              </a:rPr>
              <a:t>如何由子问题的解得到原问题解</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487045" indent="-457835" algn="just">
              <a:spcBef>
                <a:spcPts val="1745"/>
              </a:spcBef>
              <a:buFont typeface="Wingdings" panose="05000000000000000000" pitchFamily="2" charset="2"/>
              <a:buChar char="l"/>
              <a:tabLst>
                <a:tab pos="486410" algn="l"/>
                <a:tab pos="487045" algn="l"/>
              </a:tabLst>
            </a:pPr>
            <a:r>
              <a:rPr sz="3200" b="1" spc="-7" dirty="0">
                <a:latin typeface="Times New Roman" panose="02020603050405020304" pitchFamily="18" charset="0"/>
                <a:ea typeface="黑体" panose="02010609060101010101" pitchFamily="49" charset="-122"/>
                <a:cs typeface="Times New Roman" panose="02020603050405020304" pitchFamily="18" charset="0"/>
              </a:rPr>
              <a:t>分治算法的分析方法</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939800" indent="-457200" algn="just">
              <a:spcBef>
                <a:spcPts val="25"/>
              </a:spcBef>
              <a:buFont typeface="Wingdings" panose="05000000000000000000" pitchFamily="2" charset="2"/>
              <a:buChar char="Ø"/>
            </a:pPr>
            <a:r>
              <a:rPr lang="en-US"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err="1">
                <a:latin typeface="Times New Roman" panose="02020603050405020304" pitchFamily="18" charset="0"/>
                <a:ea typeface="黑体" panose="02010609060101010101" pitchFamily="49" charset="-122"/>
                <a:cs typeface="Times New Roman" panose="02020603050405020304" pitchFamily="18" charset="0"/>
              </a:rPr>
              <a:t>求解时间复杂度的递推方程</a:t>
            </a:r>
            <a:endParaRPr lang="en-US" sz="2800" b="1" spc="-7" dirty="0">
              <a:latin typeface="Times New Roman" panose="02020603050405020304" pitchFamily="18" charset="0"/>
              <a:ea typeface="黑体" panose="02010609060101010101" pitchFamily="49" charset="-122"/>
              <a:cs typeface="Times New Roman" panose="02020603050405020304" pitchFamily="18" charset="0"/>
            </a:endParaRPr>
          </a:p>
          <a:p>
            <a:pPr marL="939800" indent="-457200" algn="just">
              <a:spcBef>
                <a:spcPts val="25"/>
              </a:spcBef>
              <a:buFont typeface="Wingdings" panose="05000000000000000000" pitchFamily="2" charset="2"/>
              <a:buChar char="Ø"/>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 常用的递推方程的解</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a:p>
            <a:pPr marL="482600" algn="just">
              <a:spcBef>
                <a:spcPts val="25"/>
              </a:spcBef>
            </a:pPr>
            <a:endParaRPr sz="3200" dirty="0">
              <a:latin typeface="宋体" panose="02010600030101010101" pitchFamily="2" charset="-122"/>
              <a:cs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836613" y="2357438"/>
            <a:ext cx="8307387" cy="1031875"/>
          </a:xfrm>
          <a:prstGeom prst="rect">
            <a:avLst/>
          </a:prstGeom>
        </p:spPr>
        <p:txBody>
          <a:bodyPr vert="horz" wrap="square" lIns="0" tIns="16933" rIns="0" bIns="0" rtlCol="0" anchor="ctr">
            <a:spAutoFit/>
          </a:bodyPr>
          <a:lstStyle/>
          <a:p>
            <a:pPr marL="17145" algn="ctr">
              <a:lnSpc>
                <a:spcPct val="100000"/>
              </a:lnSpc>
              <a:spcBef>
                <a:spcPts val="135"/>
              </a:spcBef>
            </a:pPr>
            <a:r>
              <a:rPr sz="6600" b="1" spc="-13" dirty="0">
                <a:solidFill>
                  <a:srgbClr val="C00000"/>
                </a:solidFill>
                <a:latin typeface="黑体" panose="02010609060101010101" pitchFamily="49" charset="-122"/>
                <a:ea typeface="黑体" panose="02010609060101010101" pitchFamily="49" charset="-122"/>
              </a:rPr>
              <a:t>芯片测试</a:t>
            </a:r>
            <a:endParaRPr sz="6600" b="1" dirty="0">
              <a:solidFill>
                <a:srgbClr val="C00000"/>
              </a:solidFill>
              <a:latin typeface="黑体" panose="02010609060101010101" pitchFamily="49" charset="-122"/>
              <a:ea typeface="黑体" panose="02010609060101010101"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2529490" y="4092895"/>
            <a:ext cx="1528233" cy="359833"/>
          </a:xfrm>
          <a:custGeom>
            <a:avLst/>
            <a:gdLst/>
            <a:ahLst/>
            <a:cxnLst/>
            <a:rect l="l" t="t" r="r" b="b"/>
            <a:pathLst>
              <a:path w="1146175" h="269875">
                <a:moveTo>
                  <a:pt x="0" y="269875"/>
                </a:moveTo>
                <a:lnTo>
                  <a:pt x="1146175" y="269875"/>
                </a:lnTo>
                <a:lnTo>
                  <a:pt x="1146175" y="0"/>
                </a:lnTo>
                <a:lnTo>
                  <a:pt x="0" y="0"/>
                </a:lnTo>
                <a:lnTo>
                  <a:pt x="0" y="269875"/>
                </a:lnTo>
                <a:close/>
              </a:path>
            </a:pathLst>
          </a:custGeom>
          <a:solidFill>
            <a:srgbClr val="D9D9D9"/>
          </a:solidFill>
        </p:spPr>
        <p:txBody>
          <a:bodyPr wrap="square" lIns="0" tIns="0" rIns="0" bIns="0" rtlCol="0"/>
          <a:lstStyle/>
          <a:p>
            <a:endParaRPr sz="2400"/>
          </a:p>
        </p:txBody>
      </p:sp>
      <p:sp>
        <p:nvSpPr>
          <p:cNvPr id="10" name="object 10"/>
          <p:cNvSpPr txBox="1"/>
          <p:nvPr/>
        </p:nvSpPr>
        <p:spPr>
          <a:xfrm>
            <a:off x="584199" y="4097562"/>
            <a:ext cx="8001001" cy="2417756"/>
          </a:xfrm>
          <a:prstGeom prst="rect">
            <a:avLst/>
          </a:prstGeom>
        </p:spPr>
        <p:txBody>
          <a:bodyPr vert="horz" wrap="square" lIns="0" tIns="16933" rIns="0" bIns="0" rtlCol="0">
            <a:spAutoFit/>
          </a:bodyPr>
          <a:lstStyle/>
          <a:p>
            <a:pPr marR="530860" algn="ctr">
              <a:spcBef>
                <a:spcPts val="135"/>
              </a:spcBef>
              <a:tabLst>
                <a:tab pos="2203450" algn="l"/>
              </a:tabLst>
            </a:pPr>
            <a:r>
              <a:rPr sz="2400" b="1" i="1" dirty="0">
                <a:latin typeface="Times New Roman" panose="02020603050405020304"/>
                <a:cs typeface="Times New Roman" panose="02020603050405020304"/>
              </a:rPr>
              <a:t>A	B</a:t>
            </a:r>
            <a:endParaRPr sz="2400" dirty="0">
              <a:latin typeface="Times New Roman" panose="02020603050405020304"/>
              <a:cs typeface="Times New Roman" panose="02020603050405020304"/>
            </a:endParaRPr>
          </a:p>
          <a:p>
            <a:pPr>
              <a:spcBef>
                <a:spcPts val="20"/>
              </a:spcBef>
            </a:pP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17145" marR="6985" algn="just">
              <a:lnSpc>
                <a:spcPts val="4000"/>
              </a:lnSpc>
            </a:pPr>
            <a:r>
              <a:rPr sz="32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假设</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好芯片的报告一定是正确的，坏芯片的报告是不确定的（可能会出错）</a:t>
            </a:r>
            <a:endParaRPr lang="zh-CN" altLang="en-US" sz="3200" b="1" dirty="0">
              <a:latin typeface="Times New Roman" panose="02020603050405020304" pitchFamily="18" charset="0"/>
              <a:ea typeface="黑体" panose="02010609060101010101" pitchFamily="49" charset="-122"/>
              <a:cs typeface="Times New Roman" panose="02020603050405020304" pitchFamily="18" charset="0"/>
            </a:endParaRPr>
          </a:p>
          <a:p>
            <a:pPr marL="17145" marR="6985" algn="just">
              <a:lnSpc>
                <a:spcPts val="4000"/>
              </a:lnSpc>
            </a:pPr>
            <a:endParaRPr sz="3465" dirty="0">
              <a:latin typeface="宋体" panose="02010600030101010101" pitchFamily="2" charset="-122"/>
              <a:cs typeface="宋体" panose="02010600030101010101" pitchFamily="2" charset="-122"/>
            </a:endParaRPr>
          </a:p>
        </p:txBody>
      </p:sp>
      <p:sp>
        <p:nvSpPr>
          <p:cNvPr id="2" name="object 2"/>
          <p:cNvSpPr txBox="1"/>
          <p:nvPr/>
        </p:nvSpPr>
        <p:spPr>
          <a:xfrm>
            <a:off x="584199" y="1153982"/>
            <a:ext cx="8001001" cy="1455890"/>
          </a:xfrm>
          <a:prstGeom prst="rect">
            <a:avLst/>
          </a:prstGeom>
        </p:spPr>
        <p:txBody>
          <a:bodyPr vert="horz" wrap="square" lIns="0" tIns="37253" rIns="0" bIns="0" rtlCol="0">
            <a:spAutoFit/>
          </a:bodyPr>
          <a:lstStyle/>
          <a:p>
            <a:pPr marL="17145" marR="6985" algn="just">
              <a:lnSpc>
                <a:spcPct val="96000"/>
              </a:lnSpc>
              <a:spcBef>
                <a:spcPts val="295"/>
              </a:spcBef>
            </a:pPr>
            <a:r>
              <a:rPr sz="3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测试方法</a:t>
            </a:r>
            <a:r>
              <a:rPr sz="3200" b="1" dirty="0">
                <a:latin typeface="Times New Roman" panose="02020603050405020304" pitchFamily="18" charset="0"/>
                <a:ea typeface="黑体" panose="02010609060101010101" pitchFamily="49" charset="-122"/>
                <a:cs typeface="Times New Roman" panose="02020603050405020304" pitchFamily="18" charset="0"/>
              </a:rPr>
              <a:t>：将</a:t>
            </a:r>
            <a:r>
              <a:rPr sz="3200" b="1" spc="7" dirty="0">
                <a:latin typeface="Times New Roman" panose="02020603050405020304" pitchFamily="18" charset="0"/>
                <a:ea typeface="黑体" panose="02010609060101010101" pitchFamily="49" charset="-122"/>
                <a:cs typeface="Times New Roman" panose="02020603050405020304" pitchFamily="18" charset="0"/>
              </a:rPr>
              <a:t>2</a:t>
            </a:r>
            <a:r>
              <a:rPr sz="3200" b="1" dirty="0">
                <a:latin typeface="Times New Roman" panose="02020603050405020304" pitchFamily="18" charset="0"/>
                <a:ea typeface="黑体" panose="02010609060101010101" pitchFamily="49" charset="-122"/>
                <a:cs typeface="Times New Roman" panose="02020603050405020304" pitchFamily="18" charset="0"/>
              </a:rPr>
              <a:t>片芯片</a:t>
            </a:r>
            <a:r>
              <a:rPr sz="3200" b="1" spc="-13" dirty="0">
                <a:latin typeface="Times New Roman" panose="02020603050405020304" pitchFamily="18" charset="0"/>
                <a:ea typeface="黑体" panose="02010609060101010101" pitchFamily="49" charset="-122"/>
                <a:cs typeface="Times New Roman" panose="02020603050405020304" pitchFamily="18" charset="0"/>
              </a:rPr>
              <a:t>（</a:t>
            </a:r>
            <a:r>
              <a:rPr sz="3200" b="1" i="1" dirty="0">
                <a:latin typeface="Times New Roman" panose="02020603050405020304" pitchFamily="18" charset="0"/>
                <a:ea typeface="黑体" panose="02010609060101010101" pitchFamily="49" charset="-122"/>
                <a:cs typeface="Times New Roman" panose="02020603050405020304" pitchFamily="18" charset="0"/>
              </a:rPr>
              <a:t>A</a:t>
            </a:r>
            <a:r>
              <a:rPr sz="3200" b="1" dirty="0">
                <a:latin typeface="Times New Roman" panose="02020603050405020304" pitchFamily="18" charset="0"/>
                <a:ea typeface="黑体" panose="02010609060101010101" pitchFamily="49" charset="-122"/>
                <a:cs typeface="Times New Roman" panose="02020603050405020304" pitchFamily="18" charset="0"/>
              </a:rPr>
              <a:t>和</a:t>
            </a:r>
            <a:r>
              <a:rPr sz="3200" b="1" i="1" spc="7" dirty="0">
                <a:latin typeface="Times New Roman" panose="02020603050405020304" pitchFamily="18" charset="0"/>
                <a:ea typeface="黑体" panose="02010609060101010101" pitchFamily="49" charset="-122"/>
                <a:cs typeface="Times New Roman" panose="02020603050405020304" pitchFamily="18" charset="0"/>
              </a:rPr>
              <a:t>B</a:t>
            </a:r>
            <a:r>
              <a:rPr sz="3200" b="1" spc="-13" dirty="0">
                <a:latin typeface="Times New Roman" panose="02020603050405020304" pitchFamily="18" charset="0"/>
                <a:ea typeface="黑体" panose="02010609060101010101" pitchFamily="49" charset="-122"/>
                <a:cs typeface="Times New Roman" panose="02020603050405020304" pitchFamily="18" charset="0"/>
              </a:rPr>
              <a:t>）</a:t>
            </a:r>
            <a:r>
              <a:rPr sz="3200" b="1" dirty="0">
                <a:latin typeface="Times New Roman" panose="02020603050405020304" pitchFamily="18" charset="0"/>
                <a:ea typeface="黑体" panose="02010609060101010101" pitchFamily="49" charset="-122"/>
                <a:cs typeface="Times New Roman" panose="02020603050405020304" pitchFamily="18" charset="0"/>
              </a:rPr>
              <a:t>置</a:t>
            </a:r>
            <a:r>
              <a:rPr sz="3200" b="1" spc="-7" dirty="0">
                <a:latin typeface="Times New Roman" panose="02020603050405020304" pitchFamily="18" charset="0"/>
                <a:ea typeface="黑体" panose="02010609060101010101" pitchFamily="49" charset="-122"/>
                <a:cs typeface="Times New Roman" panose="02020603050405020304" pitchFamily="18" charset="0"/>
              </a:rPr>
              <a:t>于</a:t>
            </a:r>
            <a:r>
              <a:rPr sz="3200" b="1" dirty="0">
                <a:latin typeface="Times New Roman" panose="02020603050405020304" pitchFamily="18" charset="0"/>
                <a:ea typeface="黑体" panose="02010609060101010101" pitchFamily="49" charset="-122"/>
                <a:cs typeface="Times New Roman" panose="02020603050405020304" pitchFamily="18" charset="0"/>
              </a:rPr>
              <a:t>测试台上，互相进行测试，</a:t>
            </a:r>
            <a:r>
              <a:rPr sz="3200" b="1" spc="-20" dirty="0">
                <a:latin typeface="Times New Roman" panose="02020603050405020304" pitchFamily="18" charset="0"/>
                <a:ea typeface="黑体" panose="02010609060101010101" pitchFamily="49" charset="-122"/>
                <a:cs typeface="Times New Roman" panose="02020603050405020304" pitchFamily="18" charset="0"/>
              </a:rPr>
              <a:t>测</a:t>
            </a:r>
            <a:r>
              <a:rPr sz="3200" b="1" dirty="0">
                <a:latin typeface="Times New Roman" panose="02020603050405020304" pitchFamily="18" charset="0"/>
                <a:ea typeface="黑体" panose="02010609060101010101" pitchFamily="49" charset="-122"/>
                <a:cs typeface="Times New Roman" panose="02020603050405020304" pitchFamily="18" charset="0"/>
              </a:rPr>
              <a:t>试报告是“好”或“坏”</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，只取其一</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a:t>
            </a:r>
            <a:endParaRPr sz="32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object 3"/>
          <p:cNvSpPr/>
          <p:nvPr/>
        </p:nvSpPr>
        <p:spPr>
          <a:xfrm>
            <a:off x="1650121" y="4497091"/>
            <a:ext cx="5791200" cy="241300"/>
          </a:xfrm>
          <a:custGeom>
            <a:avLst/>
            <a:gdLst/>
            <a:ahLst/>
            <a:cxnLst/>
            <a:rect l="l" t="t" r="r" b="b"/>
            <a:pathLst>
              <a:path w="4343400" h="180975">
                <a:moveTo>
                  <a:pt x="0" y="180975"/>
                </a:moveTo>
                <a:lnTo>
                  <a:pt x="4343400" y="180975"/>
                </a:lnTo>
                <a:lnTo>
                  <a:pt x="4343400" y="0"/>
                </a:lnTo>
                <a:lnTo>
                  <a:pt x="0" y="0"/>
                </a:lnTo>
                <a:lnTo>
                  <a:pt x="0" y="180975"/>
                </a:lnTo>
                <a:close/>
              </a:path>
            </a:pathLst>
          </a:custGeom>
          <a:solidFill>
            <a:srgbClr val="C79700"/>
          </a:solidFill>
        </p:spPr>
        <p:txBody>
          <a:bodyPr wrap="square" lIns="0" tIns="0" rIns="0" bIns="0" rtlCol="0"/>
          <a:lstStyle/>
          <a:p>
            <a:endParaRPr sz="2400"/>
          </a:p>
        </p:txBody>
      </p:sp>
      <p:sp>
        <p:nvSpPr>
          <p:cNvPr id="4" name="object 4"/>
          <p:cNvSpPr/>
          <p:nvPr/>
        </p:nvSpPr>
        <p:spPr>
          <a:xfrm>
            <a:off x="1650121" y="4497091"/>
            <a:ext cx="5791200" cy="241300"/>
          </a:xfrm>
          <a:custGeom>
            <a:avLst/>
            <a:gdLst/>
            <a:ahLst/>
            <a:cxnLst/>
            <a:rect l="l" t="t" r="r" b="b"/>
            <a:pathLst>
              <a:path w="4343400" h="180975">
                <a:moveTo>
                  <a:pt x="0" y="180975"/>
                </a:moveTo>
                <a:lnTo>
                  <a:pt x="4343400" y="180975"/>
                </a:lnTo>
                <a:lnTo>
                  <a:pt x="4343400" y="0"/>
                </a:lnTo>
                <a:lnTo>
                  <a:pt x="0" y="0"/>
                </a:lnTo>
                <a:lnTo>
                  <a:pt x="0" y="180975"/>
                </a:lnTo>
                <a:close/>
              </a:path>
            </a:pathLst>
          </a:custGeom>
          <a:ln w="25400">
            <a:solidFill>
              <a:srgbClr val="996633"/>
            </a:solidFill>
          </a:ln>
        </p:spPr>
        <p:txBody>
          <a:bodyPr wrap="square" lIns="0" tIns="0" rIns="0" bIns="0" rtlCol="0"/>
          <a:lstStyle/>
          <a:p>
            <a:endParaRPr sz="2400"/>
          </a:p>
        </p:txBody>
      </p:sp>
      <p:sp>
        <p:nvSpPr>
          <p:cNvPr id="6" name="object 6"/>
          <p:cNvSpPr/>
          <p:nvPr/>
        </p:nvSpPr>
        <p:spPr>
          <a:xfrm>
            <a:off x="2529490" y="4092895"/>
            <a:ext cx="1528233" cy="359833"/>
          </a:xfrm>
          <a:custGeom>
            <a:avLst/>
            <a:gdLst/>
            <a:ahLst/>
            <a:cxnLst/>
            <a:rect l="l" t="t" r="r" b="b"/>
            <a:pathLst>
              <a:path w="1146175" h="269875">
                <a:moveTo>
                  <a:pt x="0" y="269875"/>
                </a:moveTo>
                <a:lnTo>
                  <a:pt x="1146175" y="269875"/>
                </a:lnTo>
                <a:lnTo>
                  <a:pt x="1146175" y="0"/>
                </a:lnTo>
                <a:lnTo>
                  <a:pt x="0" y="0"/>
                </a:lnTo>
                <a:lnTo>
                  <a:pt x="0" y="269875"/>
                </a:lnTo>
                <a:close/>
              </a:path>
            </a:pathLst>
          </a:custGeom>
          <a:ln w="38100">
            <a:solidFill>
              <a:srgbClr val="7E7E7E"/>
            </a:solidFill>
          </a:ln>
        </p:spPr>
        <p:txBody>
          <a:bodyPr wrap="square" lIns="0" tIns="0" rIns="0" bIns="0" rtlCol="0"/>
          <a:lstStyle/>
          <a:p>
            <a:endParaRPr sz="2400"/>
          </a:p>
        </p:txBody>
      </p:sp>
      <p:sp>
        <p:nvSpPr>
          <p:cNvPr id="7" name="object 7"/>
          <p:cNvSpPr/>
          <p:nvPr/>
        </p:nvSpPr>
        <p:spPr>
          <a:xfrm>
            <a:off x="4726444" y="4092895"/>
            <a:ext cx="1583267" cy="359833"/>
          </a:xfrm>
          <a:custGeom>
            <a:avLst/>
            <a:gdLst/>
            <a:ahLst/>
            <a:cxnLst/>
            <a:rect l="l" t="t" r="r" b="b"/>
            <a:pathLst>
              <a:path w="1187450" h="269875">
                <a:moveTo>
                  <a:pt x="0" y="269875"/>
                </a:moveTo>
                <a:lnTo>
                  <a:pt x="1187450" y="269875"/>
                </a:lnTo>
                <a:lnTo>
                  <a:pt x="1187450" y="0"/>
                </a:lnTo>
                <a:lnTo>
                  <a:pt x="0" y="0"/>
                </a:lnTo>
                <a:lnTo>
                  <a:pt x="0" y="269875"/>
                </a:lnTo>
                <a:close/>
              </a:path>
            </a:pathLst>
          </a:custGeom>
          <a:ln w="38100">
            <a:solidFill>
              <a:srgbClr val="7E7E7E"/>
            </a:solidFill>
          </a:ln>
        </p:spPr>
        <p:txBody>
          <a:bodyPr wrap="square" lIns="0" tIns="0" rIns="0" bIns="0" rtlCol="0"/>
          <a:lstStyle/>
          <a:p>
            <a:endParaRPr sz="2400"/>
          </a:p>
        </p:txBody>
      </p:sp>
      <p:sp>
        <p:nvSpPr>
          <p:cNvPr id="8" name="object 8"/>
          <p:cNvSpPr txBox="1">
            <a:spLocks noGrp="1"/>
          </p:cNvSpPr>
          <p:nvPr>
            <p:ph type="title"/>
          </p:nvPr>
        </p:nvSpPr>
        <p:spPr>
          <a:xfrm>
            <a:off x="162562" y="18409"/>
            <a:ext cx="8893005"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一次测试过程</a:t>
            </a:r>
            <a:endParaRPr sz="4400" b="1" spc="-13" dirty="0">
              <a:solidFill>
                <a:srgbClr val="C00000"/>
              </a:solidFill>
              <a:latin typeface="黑体" panose="02010609060101010101" pitchFamily="49" charset="-122"/>
              <a:ea typeface="黑体" panose="02010609060101010101" pitchFamily="49" charset="-122"/>
            </a:endParaRPr>
          </a:p>
        </p:txBody>
      </p:sp>
      <p:sp>
        <p:nvSpPr>
          <p:cNvPr id="12" name="object 12"/>
          <p:cNvSpPr/>
          <p:nvPr/>
        </p:nvSpPr>
        <p:spPr>
          <a:xfrm>
            <a:off x="1594064" y="3014083"/>
            <a:ext cx="1220047" cy="817880"/>
          </a:xfrm>
          <a:custGeom>
            <a:avLst/>
            <a:gdLst/>
            <a:ahLst/>
            <a:cxnLst/>
            <a:rect l="l" t="t" r="r" b="b"/>
            <a:pathLst>
              <a:path w="915035" h="613410">
                <a:moveTo>
                  <a:pt x="585906" y="554724"/>
                </a:moveTo>
                <a:lnTo>
                  <a:pt x="348873" y="554724"/>
                </a:lnTo>
                <a:lnTo>
                  <a:pt x="364226" y="572295"/>
                </a:lnTo>
                <a:lnTo>
                  <a:pt x="382544" y="587093"/>
                </a:lnTo>
                <a:lnTo>
                  <a:pt x="403362" y="598818"/>
                </a:lnTo>
                <a:lnTo>
                  <a:pt x="426216" y="607175"/>
                </a:lnTo>
                <a:lnTo>
                  <a:pt x="471569" y="612793"/>
                </a:lnTo>
                <a:lnTo>
                  <a:pt x="514996" y="605458"/>
                </a:lnTo>
                <a:lnTo>
                  <a:pt x="553565" y="586601"/>
                </a:lnTo>
                <a:lnTo>
                  <a:pt x="584342" y="557655"/>
                </a:lnTo>
                <a:lnTo>
                  <a:pt x="585906" y="554724"/>
                </a:lnTo>
                <a:close/>
              </a:path>
              <a:path w="915035" h="613410">
                <a:moveTo>
                  <a:pt x="228735" y="53846"/>
                </a:moveTo>
                <a:lnTo>
                  <a:pt x="161184" y="67088"/>
                </a:lnTo>
                <a:lnTo>
                  <a:pt x="125019" y="90226"/>
                </a:lnTo>
                <a:lnTo>
                  <a:pt x="98509" y="121977"/>
                </a:lnTo>
                <a:lnTo>
                  <a:pt x="83680" y="159927"/>
                </a:lnTo>
                <a:lnTo>
                  <a:pt x="82554" y="201664"/>
                </a:lnTo>
                <a:lnTo>
                  <a:pt x="81792" y="203569"/>
                </a:lnTo>
                <a:lnTo>
                  <a:pt x="41422" y="216538"/>
                </a:lnTo>
                <a:lnTo>
                  <a:pt x="11853" y="244844"/>
                </a:lnTo>
                <a:lnTo>
                  <a:pt x="0" y="276488"/>
                </a:lnTo>
                <a:lnTo>
                  <a:pt x="2235" y="308740"/>
                </a:lnTo>
                <a:lnTo>
                  <a:pt x="17502" y="337873"/>
                </a:lnTo>
                <a:lnTo>
                  <a:pt x="44746" y="360160"/>
                </a:lnTo>
                <a:lnTo>
                  <a:pt x="32672" y="374872"/>
                </a:lnTo>
                <a:lnTo>
                  <a:pt x="24452" y="391370"/>
                </a:lnTo>
                <a:lnTo>
                  <a:pt x="20307" y="409059"/>
                </a:lnTo>
                <a:lnTo>
                  <a:pt x="20464" y="427343"/>
                </a:lnTo>
                <a:lnTo>
                  <a:pt x="31855" y="459051"/>
                </a:lnTo>
                <a:lnTo>
                  <a:pt x="54913" y="483461"/>
                </a:lnTo>
                <a:lnTo>
                  <a:pt x="86333" y="498226"/>
                </a:lnTo>
                <a:lnTo>
                  <a:pt x="122813" y="501003"/>
                </a:lnTo>
                <a:lnTo>
                  <a:pt x="123448" y="501892"/>
                </a:lnTo>
                <a:lnTo>
                  <a:pt x="158341" y="540227"/>
                </a:lnTo>
                <a:lnTo>
                  <a:pt x="201344" y="564453"/>
                </a:lnTo>
                <a:lnTo>
                  <a:pt x="249900" y="575505"/>
                </a:lnTo>
                <a:lnTo>
                  <a:pt x="300310" y="572542"/>
                </a:lnTo>
                <a:lnTo>
                  <a:pt x="348873" y="554724"/>
                </a:lnTo>
                <a:lnTo>
                  <a:pt x="585906" y="554724"/>
                </a:lnTo>
                <a:lnTo>
                  <a:pt x="604397" y="520053"/>
                </a:lnTo>
                <a:lnTo>
                  <a:pt x="730103" y="520053"/>
                </a:lnTo>
                <a:lnTo>
                  <a:pt x="755194" y="504908"/>
                </a:lnTo>
                <a:lnTo>
                  <a:pt x="781739" y="469614"/>
                </a:lnTo>
                <a:lnTo>
                  <a:pt x="791722" y="426200"/>
                </a:lnTo>
                <a:lnTo>
                  <a:pt x="809736" y="422763"/>
                </a:lnTo>
                <a:lnTo>
                  <a:pt x="858778" y="400546"/>
                </a:lnTo>
                <a:lnTo>
                  <a:pt x="890298" y="370049"/>
                </a:lnTo>
                <a:lnTo>
                  <a:pt x="909133" y="333451"/>
                </a:lnTo>
                <a:lnTo>
                  <a:pt x="914849" y="293762"/>
                </a:lnTo>
                <a:lnTo>
                  <a:pt x="907014" y="253994"/>
                </a:lnTo>
                <a:lnTo>
                  <a:pt x="885194" y="217158"/>
                </a:lnTo>
                <a:lnTo>
                  <a:pt x="887226" y="212713"/>
                </a:lnTo>
                <a:lnTo>
                  <a:pt x="889004" y="208141"/>
                </a:lnTo>
                <a:lnTo>
                  <a:pt x="890274" y="203569"/>
                </a:lnTo>
                <a:lnTo>
                  <a:pt x="893268" y="162692"/>
                </a:lnTo>
                <a:lnTo>
                  <a:pt x="879368" y="125257"/>
                </a:lnTo>
                <a:lnTo>
                  <a:pt x="851108" y="95323"/>
                </a:lnTo>
                <a:lnTo>
                  <a:pt x="811026" y="76950"/>
                </a:lnTo>
                <a:lnTo>
                  <a:pt x="809442" y="71616"/>
                </a:lnTo>
                <a:lnTo>
                  <a:pt x="296422" y="71616"/>
                </a:lnTo>
                <a:lnTo>
                  <a:pt x="274955" y="62247"/>
                </a:lnTo>
                <a:lnTo>
                  <a:pt x="252226" y="56296"/>
                </a:lnTo>
                <a:lnTo>
                  <a:pt x="228735" y="53846"/>
                </a:lnTo>
                <a:close/>
              </a:path>
              <a:path w="915035" h="613410">
                <a:moveTo>
                  <a:pt x="730103" y="520053"/>
                </a:moveTo>
                <a:lnTo>
                  <a:pt x="604397" y="520053"/>
                </a:lnTo>
                <a:lnTo>
                  <a:pt x="619290" y="527282"/>
                </a:lnTo>
                <a:lnTo>
                  <a:pt x="635052" y="532546"/>
                </a:lnTo>
                <a:lnTo>
                  <a:pt x="651457" y="535787"/>
                </a:lnTo>
                <a:lnTo>
                  <a:pt x="668278" y="536944"/>
                </a:lnTo>
                <a:lnTo>
                  <a:pt x="716052" y="528534"/>
                </a:lnTo>
                <a:lnTo>
                  <a:pt x="730103" y="520053"/>
                </a:lnTo>
                <a:close/>
              </a:path>
              <a:path w="915035" h="613410">
                <a:moveTo>
                  <a:pt x="406132" y="17287"/>
                </a:moveTo>
                <a:lnTo>
                  <a:pt x="363081" y="21419"/>
                </a:lnTo>
                <a:lnTo>
                  <a:pt x="324864" y="39981"/>
                </a:lnTo>
                <a:lnTo>
                  <a:pt x="296422" y="71616"/>
                </a:lnTo>
                <a:lnTo>
                  <a:pt x="809442" y="71616"/>
                </a:lnTo>
                <a:lnTo>
                  <a:pt x="806395" y="61358"/>
                </a:lnTo>
                <a:lnTo>
                  <a:pt x="798929" y="46803"/>
                </a:lnTo>
                <a:lnTo>
                  <a:pt x="798675" y="46470"/>
                </a:lnTo>
                <a:lnTo>
                  <a:pt x="475365" y="46470"/>
                </a:lnTo>
                <a:lnTo>
                  <a:pt x="469293" y="41445"/>
                </a:lnTo>
                <a:lnTo>
                  <a:pt x="462887" y="36849"/>
                </a:lnTo>
                <a:lnTo>
                  <a:pt x="456148" y="32682"/>
                </a:lnTo>
                <a:lnTo>
                  <a:pt x="449076" y="28944"/>
                </a:lnTo>
                <a:lnTo>
                  <a:pt x="406132" y="17287"/>
                </a:lnTo>
                <a:close/>
              </a:path>
              <a:path w="915035" h="613410">
                <a:moveTo>
                  <a:pt x="563805" y="0"/>
                </a:moveTo>
                <a:lnTo>
                  <a:pt x="528705" y="4179"/>
                </a:lnTo>
                <a:lnTo>
                  <a:pt x="497892" y="20073"/>
                </a:lnTo>
                <a:lnTo>
                  <a:pt x="475365" y="46470"/>
                </a:lnTo>
                <a:lnTo>
                  <a:pt x="798675" y="46470"/>
                </a:lnTo>
                <a:lnTo>
                  <a:pt x="788845" y="33605"/>
                </a:lnTo>
                <a:lnTo>
                  <a:pt x="788197" y="33008"/>
                </a:lnTo>
                <a:lnTo>
                  <a:pt x="631448" y="33008"/>
                </a:lnTo>
                <a:lnTo>
                  <a:pt x="624604" y="25681"/>
                </a:lnTo>
                <a:lnTo>
                  <a:pt x="616891" y="19165"/>
                </a:lnTo>
                <a:lnTo>
                  <a:pt x="608392" y="13505"/>
                </a:lnTo>
                <a:lnTo>
                  <a:pt x="599190" y="8751"/>
                </a:lnTo>
                <a:lnTo>
                  <a:pt x="563805" y="0"/>
                </a:lnTo>
                <a:close/>
              </a:path>
              <a:path w="915035" h="613410">
                <a:moveTo>
                  <a:pt x="701425" y="257"/>
                </a:moveTo>
                <a:lnTo>
                  <a:pt x="663484" y="9995"/>
                </a:lnTo>
                <a:lnTo>
                  <a:pt x="631448" y="33008"/>
                </a:lnTo>
                <a:lnTo>
                  <a:pt x="788197" y="33008"/>
                </a:lnTo>
                <a:lnTo>
                  <a:pt x="776355" y="22086"/>
                </a:lnTo>
                <a:lnTo>
                  <a:pt x="740605" y="4165"/>
                </a:lnTo>
                <a:lnTo>
                  <a:pt x="701425" y="257"/>
                </a:lnTo>
                <a:close/>
              </a:path>
            </a:pathLst>
          </a:custGeom>
          <a:solidFill>
            <a:srgbClr val="4F81BC"/>
          </a:solidFill>
        </p:spPr>
        <p:txBody>
          <a:bodyPr wrap="square" lIns="0" tIns="0" rIns="0" bIns="0" rtlCol="0"/>
          <a:lstStyle/>
          <a:p>
            <a:endParaRPr sz="2400"/>
          </a:p>
        </p:txBody>
      </p:sp>
      <p:sp>
        <p:nvSpPr>
          <p:cNvPr id="13" name="object 13"/>
          <p:cNvSpPr/>
          <p:nvPr/>
        </p:nvSpPr>
        <p:spPr>
          <a:xfrm>
            <a:off x="2469355" y="3747283"/>
            <a:ext cx="187791" cy="205740"/>
          </a:xfrm>
          <a:prstGeom prst="rect">
            <a:avLst/>
          </a:prstGeom>
          <a:blipFill>
            <a:blip r:embed="rId1" cstate="print"/>
            <a:stretch>
              <a:fillRect/>
            </a:stretch>
          </a:blipFill>
        </p:spPr>
        <p:txBody>
          <a:bodyPr wrap="square" lIns="0" tIns="0" rIns="0" bIns="0" rtlCol="0"/>
          <a:lstStyle/>
          <a:p>
            <a:endParaRPr sz="2400"/>
          </a:p>
        </p:txBody>
      </p:sp>
      <p:sp>
        <p:nvSpPr>
          <p:cNvPr id="14" name="object 14"/>
          <p:cNvSpPr/>
          <p:nvPr/>
        </p:nvSpPr>
        <p:spPr>
          <a:xfrm>
            <a:off x="1594064" y="3014083"/>
            <a:ext cx="1220047" cy="817880"/>
          </a:xfrm>
          <a:custGeom>
            <a:avLst/>
            <a:gdLst/>
            <a:ahLst/>
            <a:cxnLst/>
            <a:rect l="l" t="t" r="r" b="b"/>
            <a:pathLst>
              <a:path w="915035" h="613410">
                <a:moveTo>
                  <a:pt x="82554" y="201664"/>
                </a:moveTo>
                <a:lnTo>
                  <a:pt x="83680" y="159927"/>
                </a:lnTo>
                <a:lnTo>
                  <a:pt x="98509" y="121977"/>
                </a:lnTo>
                <a:lnTo>
                  <a:pt x="125019" y="90226"/>
                </a:lnTo>
                <a:lnTo>
                  <a:pt x="161184" y="67088"/>
                </a:lnTo>
                <a:lnTo>
                  <a:pt x="204982" y="54979"/>
                </a:lnTo>
                <a:lnTo>
                  <a:pt x="228735" y="53846"/>
                </a:lnTo>
                <a:lnTo>
                  <a:pt x="252226" y="56296"/>
                </a:lnTo>
                <a:lnTo>
                  <a:pt x="274955" y="62247"/>
                </a:lnTo>
                <a:lnTo>
                  <a:pt x="296422" y="71616"/>
                </a:lnTo>
                <a:lnTo>
                  <a:pt x="324864" y="39981"/>
                </a:lnTo>
                <a:lnTo>
                  <a:pt x="363081" y="21419"/>
                </a:lnTo>
                <a:lnTo>
                  <a:pt x="406132" y="17287"/>
                </a:lnTo>
                <a:lnTo>
                  <a:pt x="449076" y="28944"/>
                </a:lnTo>
                <a:lnTo>
                  <a:pt x="456148" y="32682"/>
                </a:lnTo>
                <a:lnTo>
                  <a:pt x="462887" y="36849"/>
                </a:lnTo>
                <a:lnTo>
                  <a:pt x="469293" y="41445"/>
                </a:lnTo>
                <a:lnTo>
                  <a:pt x="475365" y="46470"/>
                </a:lnTo>
                <a:lnTo>
                  <a:pt x="497892" y="20073"/>
                </a:lnTo>
                <a:lnTo>
                  <a:pt x="528705" y="4179"/>
                </a:lnTo>
                <a:lnTo>
                  <a:pt x="563805" y="0"/>
                </a:lnTo>
                <a:lnTo>
                  <a:pt x="599190" y="8751"/>
                </a:lnTo>
                <a:lnTo>
                  <a:pt x="608392" y="13505"/>
                </a:lnTo>
                <a:lnTo>
                  <a:pt x="616891" y="19165"/>
                </a:lnTo>
                <a:lnTo>
                  <a:pt x="624604" y="25681"/>
                </a:lnTo>
                <a:lnTo>
                  <a:pt x="631448" y="33008"/>
                </a:lnTo>
                <a:lnTo>
                  <a:pt x="663484" y="9995"/>
                </a:lnTo>
                <a:lnTo>
                  <a:pt x="701425" y="257"/>
                </a:lnTo>
                <a:lnTo>
                  <a:pt x="740605" y="4165"/>
                </a:lnTo>
                <a:lnTo>
                  <a:pt x="776355" y="22086"/>
                </a:lnTo>
                <a:lnTo>
                  <a:pt x="806395" y="61358"/>
                </a:lnTo>
                <a:lnTo>
                  <a:pt x="811026" y="76950"/>
                </a:lnTo>
                <a:lnTo>
                  <a:pt x="851108" y="95323"/>
                </a:lnTo>
                <a:lnTo>
                  <a:pt x="879368" y="125257"/>
                </a:lnTo>
                <a:lnTo>
                  <a:pt x="893268" y="162692"/>
                </a:lnTo>
                <a:lnTo>
                  <a:pt x="890274" y="203569"/>
                </a:lnTo>
                <a:lnTo>
                  <a:pt x="889004" y="208141"/>
                </a:lnTo>
                <a:lnTo>
                  <a:pt x="887226" y="212713"/>
                </a:lnTo>
                <a:lnTo>
                  <a:pt x="885194" y="217158"/>
                </a:lnTo>
                <a:lnTo>
                  <a:pt x="907014" y="253994"/>
                </a:lnTo>
                <a:lnTo>
                  <a:pt x="914849" y="293762"/>
                </a:lnTo>
                <a:lnTo>
                  <a:pt x="909133" y="333451"/>
                </a:lnTo>
                <a:lnTo>
                  <a:pt x="890298" y="370049"/>
                </a:lnTo>
                <a:lnTo>
                  <a:pt x="858778" y="400546"/>
                </a:lnTo>
                <a:lnTo>
                  <a:pt x="809736" y="422763"/>
                </a:lnTo>
                <a:lnTo>
                  <a:pt x="791722" y="426200"/>
                </a:lnTo>
                <a:lnTo>
                  <a:pt x="781739" y="469614"/>
                </a:lnTo>
                <a:lnTo>
                  <a:pt x="755194" y="504908"/>
                </a:lnTo>
                <a:lnTo>
                  <a:pt x="716052" y="528534"/>
                </a:lnTo>
                <a:lnTo>
                  <a:pt x="668278" y="536944"/>
                </a:lnTo>
                <a:lnTo>
                  <a:pt x="651457" y="535787"/>
                </a:lnTo>
                <a:lnTo>
                  <a:pt x="635052" y="532546"/>
                </a:lnTo>
                <a:lnTo>
                  <a:pt x="619290" y="527282"/>
                </a:lnTo>
                <a:lnTo>
                  <a:pt x="604397" y="520053"/>
                </a:lnTo>
                <a:lnTo>
                  <a:pt x="584342" y="557655"/>
                </a:lnTo>
                <a:lnTo>
                  <a:pt x="553565" y="586601"/>
                </a:lnTo>
                <a:lnTo>
                  <a:pt x="514996" y="605458"/>
                </a:lnTo>
                <a:lnTo>
                  <a:pt x="471569" y="612793"/>
                </a:lnTo>
                <a:lnTo>
                  <a:pt x="426216" y="607175"/>
                </a:lnTo>
                <a:lnTo>
                  <a:pt x="403362" y="598818"/>
                </a:lnTo>
                <a:lnTo>
                  <a:pt x="382544" y="587093"/>
                </a:lnTo>
                <a:lnTo>
                  <a:pt x="364226" y="572295"/>
                </a:lnTo>
                <a:lnTo>
                  <a:pt x="348873" y="554724"/>
                </a:lnTo>
                <a:lnTo>
                  <a:pt x="300310" y="572542"/>
                </a:lnTo>
                <a:lnTo>
                  <a:pt x="249900" y="575505"/>
                </a:lnTo>
                <a:lnTo>
                  <a:pt x="201344" y="564453"/>
                </a:lnTo>
                <a:lnTo>
                  <a:pt x="158341" y="540227"/>
                </a:lnTo>
                <a:lnTo>
                  <a:pt x="124591" y="503670"/>
                </a:lnTo>
                <a:lnTo>
                  <a:pt x="123956" y="502781"/>
                </a:lnTo>
                <a:lnTo>
                  <a:pt x="123448" y="501892"/>
                </a:lnTo>
                <a:lnTo>
                  <a:pt x="122813" y="501003"/>
                </a:lnTo>
                <a:lnTo>
                  <a:pt x="86333" y="498226"/>
                </a:lnTo>
                <a:lnTo>
                  <a:pt x="54913" y="483461"/>
                </a:lnTo>
                <a:lnTo>
                  <a:pt x="31855" y="459051"/>
                </a:lnTo>
                <a:lnTo>
                  <a:pt x="20464" y="427343"/>
                </a:lnTo>
                <a:lnTo>
                  <a:pt x="20307" y="409059"/>
                </a:lnTo>
                <a:lnTo>
                  <a:pt x="24452" y="391370"/>
                </a:lnTo>
                <a:lnTo>
                  <a:pt x="32672" y="374872"/>
                </a:lnTo>
                <a:lnTo>
                  <a:pt x="44746" y="360160"/>
                </a:lnTo>
                <a:lnTo>
                  <a:pt x="17502" y="337873"/>
                </a:lnTo>
                <a:lnTo>
                  <a:pt x="2235" y="308740"/>
                </a:lnTo>
                <a:lnTo>
                  <a:pt x="0" y="276488"/>
                </a:lnTo>
                <a:lnTo>
                  <a:pt x="11853" y="244844"/>
                </a:lnTo>
                <a:lnTo>
                  <a:pt x="24921" y="228982"/>
                </a:lnTo>
                <a:lnTo>
                  <a:pt x="41422" y="216538"/>
                </a:lnTo>
                <a:lnTo>
                  <a:pt x="60624" y="207928"/>
                </a:lnTo>
                <a:lnTo>
                  <a:pt x="81792" y="203569"/>
                </a:lnTo>
                <a:lnTo>
                  <a:pt x="82554" y="201664"/>
                </a:lnTo>
                <a:close/>
              </a:path>
            </a:pathLst>
          </a:custGeom>
          <a:ln w="25400">
            <a:solidFill>
              <a:srgbClr val="385D89"/>
            </a:solidFill>
          </a:ln>
        </p:spPr>
        <p:txBody>
          <a:bodyPr wrap="square" lIns="0" tIns="0" rIns="0" bIns="0" rtlCol="0"/>
          <a:lstStyle/>
          <a:p>
            <a:endParaRPr sz="2400"/>
          </a:p>
        </p:txBody>
      </p:sp>
      <p:sp>
        <p:nvSpPr>
          <p:cNvPr id="15" name="object 15"/>
          <p:cNvSpPr/>
          <p:nvPr/>
        </p:nvSpPr>
        <p:spPr>
          <a:xfrm>
            <a:off x="2452422" y="3730352"/>
            <a:ext cx="221657" cy="239607"/>
          </a:xfrm>
          <a:prstGeom prst="rect">
            <a:avLst/>
          </a:prstGeom>
          <a:blipFill>
            <a:blip r:embed="rId2" cstate="print"/>
            <a:stretch>
              <a:fillRect/>
            </a:stretch>
          </a:blipFill>
        </p:spPr>
        <p:txBody>
          <a:bodyPr wrap="square" lIns="0" tIns="0" rIns="0" bIns="0" rtlCol="0"/>
          <a:lstStyle/>
          <a:p>
            <a:endParaRPr sz="2400"/>
          </a:p>
        </p:txBody>
      </p:sp>
      <p:sp>
        <p:nvSpPr>
          <p:cNvPr id="16" name="object 16"/>
          <p:cNvSpPr/>
          <p:nvPr/>
        </p:nvSpPr>
        <p:spPr>
          <a:xfrm>
            <a:off x="1655029" y="3491250"/>
            <a:ext cx="71967" cy="15240"/>
          </a:xfrm>
          <a:custGeom>
            <a:avLst/>
            <a:gdLst/>
            <a:ahLst/>
            <a:cxnLst/>
            <a:rect l="l" t="t" r="r" b="b"/>
            <a:pathLst>
              <a:path w="53975" h="11430">
                <a:moveTo>
                  <a:pt x="53593" y="11303"/>
                </a:moveTo>
                <a:lnTo>
                  <a:pt x="39629" y="11287"/>
                </a:lnTo>
                <a:lnTo>
                  <a:pt x="25892" y="9366"/>
                </a:lnTo>
                <a:lnTo>
                  <a:pt x="12606" y="5587"/>
                </a:lnTo>
                <a:lnTo>
                  <a:pt x="0" y="0"/>
                </a:lnTo>
              </a:path>
            </a:pathLst>
          </a:custGeom>
          <a:ln w="25400">
            <a:solidFill>
              <a:srgbClr val="385D89"/>
            </a:solidFill>
          </a:ln>
        </p:spPr>
        <p:txBody>
          <a:bodyPr wrap="square" lIns="0" tIns="0" rIns="0" bIns="0" rtlCol="0"/>
          <a:lstStyle/>
          <a:p>
            <a:endParaRPr sz="2400"/>
          </a:p>
        </p:txBody>
      </p:sp>
      <p:sp>
        <p:nvSpPr>
          <p:cNvPr id="17" name="object 17"/>
          <p:cNvSpPr/>
          <p:nvPr/>
        </p:nvSpPr>
        <p:spPr>
          <a:xfrm>
            <a:off x="1758323" y="3671251"/>
            <a:ext cx="31327" cy="7620"/>
          </a:xfrm>
          <a:custGeom>
            <a:avLst/>
            <a:gdLst/>
            <a:ahLst/>
            <a:cxnLst/>
            <a:rect l="l" t="t" r="r" b="b"/>
            <a:pathLst>
              <a:path w="23494" h="5714">
                <a:moveTo>
                  <a:pt x="23494" y="0"/>
                </a:moveTo>
                <a:lnTo>
                  <a:pt x="15875" y="2667"/>
                </a:lnTo>
                <a:lnTo>
                  <a:pt x="8000" y="4572"/>
                </a:lnTo>
                <a:lnTo>
                  <a:pt x="0" y="5334"/>
                </a:lnTo>
              </a:path>
            </a:pathLst>
          </a:custGeom>
          <a:ln w="25400">
            <a:solidFill>
              <a:srgbClr val="385D89"/>
            </a:solidFill>
          </a:ln>
        </p:spPr>
        <p:txBody>
          <a:bodyPr wrap="square" lIns="0" tIns="0" rIns="0" bIns="0" rtlCol="0"/>
          <a:lstStyle/>
          <a:p>
            <a:endParaRPr sz="2400"/>
          </a:p>
        </p:txBody>
      </p:sp>
      <p:sp>
        <p:nvSpPr>
          <p:cNvPr id="18" name="object 18"/>
          <p:cNvSpPr/>
          <p:nvPr/>
        </p:nvSpPr>
        <p:spPr>
          <a:xfrm>
            <a:off x="2040259" y="3717649"/>
            <a:ext cx="19472" cy="33020"/>
          </a:xfrm>
          <a:custGeom>
            <a:avLst/>
            <a:gdLst/>
            <a:ahLst/>
            <a:cxnLst/>
            <a:rect l="l" t="t" r="r" b="b"/>
            <a:pathLst>
              <a:path w="14605" h="24764">
                <a:moveTo>
                  <a:pt x="14096" y="24637"/>
                </a:moveTo>
                <a:lnTo>
                  <a:pt x="10054" y="18734"/>
                </a:lnTo>
                <a:lnTo>
                  <a:pt x="6334" y="12652"/>
                </a:lnTo>
                <a:lnTo>
                  <a:pt x="2970" y="6403"/>
                </a:lnTo>
                <a:lnTo>
                  <a:pt x="0" y="0"/>
                </a:lnTo>
              </a:path>
            </a:pathLst>
          </a:custGeom>
          <a:ln w="25399">
            <a:solidFill>
              <a:srgbClr val="385D89"/>
            </a:solidFill>
          </a:ln>
        </p:spPr>
        <p:txBody>
          <a:bodyPr wrap="square" lIns="0" tIns="0" rIns="0" bIns="0" rtlCol="0"/>
          <a:lstStyle/>
          <a:p>
            <a:endParaRPr sz="2400"/>
          </a:p>
        </p:txBody>
      </p:sp>
      <p:sp>
        <p:nvSpPr>
          <p:cNvPr id="19" name="object 19"/>
          <p:cNvSpPr/>
          <p:nvPr/>
        </p:nvSpPr>
        <p:spPr>
          <a:xfrm>
            <a:off x="2400094" y="3668375"/>
            <a:ext cx="7620" cy="36407"/>
          </a:xfrm>
          <a:custGeom>
            <a:avLst/>
            <a:gdLst/>
            <a:ahLst/>
            <a:cxnLst/>
            <a:rect l="l" t="t" r="r" b="b"/>
            <a:pathLst>
              <a:path w="5714" h="27305">
                <a:moveTo>
                  <a:pt x="5587" y="0"/>
                </a:moveTo>
                <a:lnTo>
                  <a:pt x="4804" y="6907"/>
                </a:lnTo>
                <a:lnTo>
                  <a:pt x="3603" y="13731"/>
                </a:lnTo>
                <a:lnTo>
                  <a:pt x="1998" y="20484"/>
                </a:lnTo>
                <a:lnTo>
                  <a:pt x="0" y="27177"/>
                </a:lnTo>
              </a:path>
            </a:pathLst>
          </a:custGeom>
          <a:ln w="25399">
            <a:solidFill>
              <a:srgbClr val="385D89"/>
            </a:solidFill>
          </a:ln>
        </p:spPr>
        <p:txBody>
          <a:bodyPr wrap="square" lIns="0" tIns="0" rIns="0" bIns="0" rtlCol="0"/>
          <a:lstStyle/>
          <a:p>
            <a:endParaRPr sz="2400"/>
          </a:p>
        </p:txBody>
      </p:sp>
      <p:sp>
        <p:nvSpPr>
          <p:cNvPr id="20" name="object 20"/>
          <p:cNvSpPr/>
          <p:nvPr/>
        </p:nvSpPr>
        <p:spPr>
          <a:xfrm>
            <a:off x="2557239" y="3445362"/>
            <a:ext cx="92287" cy="135467"/>
          </a:xfrm>
          <a:custGeom>
            <a:avLst/>
            <a:gdLst/>
            <a:ahLst/>
            <a:cxnLst/>
            <a:rect l="l" t="t" r="r" b="b"/>
            <a:pathLst>
              <a:path w="69214" h="101600">
                <a:moveTo>
                  <a:pt x="0" y="0"/>
                </a:moveTo>
                <a:lnTo>
                  <a:pt x="28703" y="17690"/>
                </a:lnTo>
                <a:lnTo>
                  <a:pt x="50466" y="41513"/>
                </a:lnTo>
                <a:lnTo>
                  <a:pt x="64204" y="69883"/>
                </a:lnTo>
                <a:lnTo>
                  <a:pt x="68834" y="101219"/>
                </a:lnTo>
              </a:path>
            </a:pathLst>
          </a:custGeom>
          <a:ln w="25400">
            <a:solidFill>
              <a:srgbClr val="385D89"/>
            </a:solidFill>
          </a:ln>
        </p:spPr>
        <p:txBody>
          <a:bodyPr wrap="square" lIns="0" tIns="0" rIns="0" bIns="0" rtlCol="0"/>
          <a:lstStyle/>
          <a:p>
            <a:endParaRPr sz="2400"/>
          </a:p>
        </p:txBody>
      </p:sp>
      <p:sp>
        <p:nvSpPr>
          <p:cNvPr id="21" name="object 21"/>
          <p:cNvSpPr/>
          <p:nvPr/>
        </p:nvSpPr>
        <p:spPr>
          <a:xfrm>
            <a:off x="2732837" y="3301595"/>
            <a:ext cx="41487" cy="50800"/>
          </a:xfrm>
          <a:custGeom>
            <a:avLst/>
            <a:gdLst/>
            <a:ahLst/>
            <a:cxnLst/>
            <a:rect l="l" t="t" r="r" b="b"/>
            <a:pathLst>
              <a:path w="31114" h="38100">
                <a:moveTo>
                  <a:pt x="30606" y="0"/>
                </a:moveTo>
                <a:lnTo>
                  <a:pt x="24806" y="10630"/>
                </a:lnTo>
                <a:lnTo>
                  <a:pt x="17732" y="20558"/>
                </a:lnTo>
                <a:lnTo>
                  <a:pt x="9443" y="29700"/>
                </a:lnTo>
                <a:lnTo>
                  <a:pt x="0" y="37972"/>
                </a:lnTo>
              </a:path>
            </a:pathLst>
          </a:custGeom>
          <a:ln w="25400">
            <a:solidFill>
              <a:srgbClr val="385D89"/>
            </a:solidFill>
          </a:ln>
        </p:spPr>
        <p:txBody>
          <a:bodyPr wrap="square" lIns="0" tIns="0" rIns="0" bIns="0" rtlCol="0"/>
          <a:lstStyle/>
          <a:p>
            <a:endParaRPr sz="2400"/>
          </a:p>
        </p:txBody>
      </p:sp>
      <p:sp>
        <p:nvSpPr>
          <p:cNvPr id="22" name="object 22"/>
          <p:cNvSpPr/>
          <p:nvPr/>
        </p:nvSpPr>
        <p:spPr>
          <a:xfrm>
            <a:off x="2675598" y="3113809"/>
            <a:ext cx="2540" cy="24553"/>
          </a:xfrm>
          <a:custGeom>
            <a:avLst/>
            <a:gdLst/>
            <a:ahLst/>
            <a:cxnLst/>
            <a:rect l="l" t="t" r="r" b="b"/>
            <a:pathLst>
              <a:path w="1905" h="18414">
                <a:moveTo>
                  <a:pt x="0" y="0"/>
                </a:moveTo>
                <a:lnTo>
                  <a:pt x="1269" y="5968"/>
                </a:lnTo>
                <a:lnTo>
                  <a:pt x="1777" y="11937"/>
                </a:lnTo>
                <a:lnTo>
                  <a:pt x="1650" y="17906"/>
                </a:lnTo>
              </a:path>
            </a:pathLst>
          </a:custGeom>
          <a:ln w="25400">
            <a:solidFill>
              <a:srgbClr val="385D89"/>
            </a:solidFill>
          </a:ln>
        </p:spPr>
        <p:txBody>
          <a:bodyPr wrap="square" lIns="0" tIns="0" rIns="0" bIns="0" rtlCol="0"/>
          <a:lstStyle/>
          <a:p>
            <a:endParaRPr sz="2400"/>
          </a:p>
        </p:txBody>
      </p:sp>
      <p:sp>
        <p:nvSpPr>
          <p:cNvPr id="23" name="object 23"/>
          <p:cNvSpPr/>
          <p:nvPr/>
        </p:nvSpPr>
        <p:spPr>
          <a:xfrm>
            <a:off x="2414660" y="3055386"/>
            <a:ext cx="21167" cy="30480"/>
          </a:xfrm>
          <a:custGeom>
            <a:avLst/>
            <a:gdLst/>
            <a:ahLst/>
            <a:cxnLst/>
            <a:rect l="l" t="t" r="r" b="b"/>
            <a:pathLst>
              <a:path w="15875" h="22860">
                <a:moveTo>
                  <a:pt x="0" y="22859"/>
                </a:moveTo>
                <a:lnTo>
                  <a:pt x="3264" y="16787"/>
                </a:lnTo>
                <a:lnTo>
                  <a:pt x="6969" y="10953"/>
                </a:lnTo>
                <a:lnTo>
                  <a:pt x="11126" y="5357"/>
                </a:lnTo>
                <a:lnTo>
                  <a:pt x="15747" y="0"/>
                </a:lnTo>
              </a:path>
            </a:pathLst>
          </a:custGeom>
          <a:ln w="25400">
            <a:solidFill>
              <a:srgbClr val="385D89"/>
            </a:solidFill>
          </a:ln>
        </p:spPr>
        <p:txBody>
          <a:bodyPr wrap="square" lIns="0" tIns="0" rIns="0" bIns="0" rtlCol="0"/>
          <a:lstStyle/>
          <a:p>
            <a:endParaRPr sz="2400"/>
          </a:p>
        </p:txBody>
      </p:sp>
      <p:sp>
        <p:nvSpPr>
          <p:cNvPr id="24" name="object 24"/>
          <p:cNvSpPr/>
          <p:nvPr/>
        </p:nvSpPr>
        <p:spPr>
          <a:xfrm>
            <a:off x="2218906" y="3074186"/>
            <a:ext cx="10160" cy="26247"/>
          </a:xfrm>
          <a:custGeom>
            <a:avLst/>
            <a:gdLst/>
            <a:ahLst/>
            <a:cxnLst/>
            <a:rect l="l" t="t" r="r" b="b"/>
            <a:pathLst>
              <a:path w="7619" h="19685">
                <a:moveTo>
                  <a:pt x="0" y="19685"/>
                </a:moveTo>
                <a:lnTo>
                  <a:pt x="1650" y="12826"/>
                </a:lnTo>
                <a:lnTo>
                  <a:pt x="4190" y="6223"/>
                </a:lnTo>
                <a:lnTo>
                  <a:pt x="7619" y="0"/>
                </a:lnTo>
              </a:path>
            </a:pathLst>
          </a:custGeom>
          <a:ln w="25400">
            <a:solidFill>
              <a:srgbClr val="385D89"/>
            </a:solidFill>
          </a:ln>
        </p:spPr>
        <p:txBody>
          <a:bodyPr wrap="square" lIns="0" tIns="0" rIns="0" bIns="0" rtlCol="0"/>
          <a:lstStyle/>
          <a:p>
            <a:endParaRPr sz="2400"/>
          </a:p>
        </p:txBody>
      </p:sp>
      <p:sp>
        <p:nvSpPr>
          <p:cNvPr id="25" name="object 25"/>
          <p:cNvSpPr/>
          <p:nvPr/>
        </p:nvSpPr>
        <p:spPr>
          <a:xfrm>
            <a:off x="1989125" y="3109403"/>
            <a:ext cx="37253" cy="25400"/>
          </a:xfrm>
          <a:custGeom>
            <a:avLst/>
            <a:gdLst/>
            <a:ahLst/>
            <a:cxnLst/>
            <a:rect l="l" t="t" r="r" b="b"/>
            <a:pathLst>
              <a:path w="27940" h="19050">
                <a:moveTo>
                  <a:pt x="0" y="0"/>
                </a:moveTo>
                <a:lnTo>
                  <a:pt x="7377" y="4190"/>
                </a:lnTo>
                <a:lnTo>
                  <a:pt x="14446" y="8762"/>
                </a:lnTo>
                <a:lnTo>
                  <a:pt x="21181" y="13715"/>
                </a:lnTo>
                <a:lnTo>
                  <a:pt x="27559" y="19050"/>
                </a:lnTo>
              </a:path>
            </a:pathLst>
          </a:custGeom>
          <a:ln w="25400">
            <a:solidFill>
              <a:srgbClr val="385D89"/>
            </a:solidFill>
          </a:ln>
        </p:spPr>
        <p:txBody>
          <a:bodyPr wrap="square" lIns="0" tIns="0" rIns="0" bIns="0" rtlCol="0"/>
          <a:lstStyle/>
          <a:p>
            <a:endParaRPr sz="2400"/>
          </a:p>
        </p:txBody>
      </p:sp>
      <p:sp>
        <p:nvSpPr>
          <p:cNvPr id="26" name="object 26"/>
          <p:cNvSpPr/>
          <p:nvPr/>
        </p:nvSpPr>
        <p:spPr>
          <a:xfrm>
            <a:off x="1704137" y="3282973"/>
            <a:ext cx="6773" cy="27093"/>
          </a:xfrm>
          <a:custGeom>
            <a:avLst/>
            <a:gdLst/>
            <a:ahLst/>
            <a:cxnLst/>
            <a:rect l="l" t="t" r="r" b="b"/>
            <a:pathLst>
              <a:path w="5080" h="20319">
                <a:moveTo>
                  <a:pt x="4825" y="20065"/>
                </a:moveTo>
                <a:lnTo>
                  <a:pt x="2666" y="13588"/>
                </a:lnTo>
                <a:lnTo>
                  <a:pt x="1015" y="6857"/>
                </a:lnTo>
                <a:lnTo>
                  <a:pt x="0" y="0"/>
                </a:lnTo>
              </a:path>
            </a:pathLst>
          </a:custGeom>
          <a:ln w="25400">
            <a:solidFill>
              <a:srgbClr val="385D89"/>
            </a:solidFill>
          </a:ln>
        </p:spPr>
        <p:txBody>
          <a:bodyPr wrap="square" lIns="0" tIns="0" rIns="0" bIns="0" rtlCol="0"/>
          <a:lstStyle/>
          <a:p>
            <a:endParaRPr sz="2400"/>
          </a:p>
        </p:txBody>
      </p:sp>
      <p:sp>
        <p:nvSpPr>
          <p:cNvPr id="27" name="object 27"/>
          <p:cNvSpPr txBox="1"/>
          <p:nvPr/>
        </p:nvSpPr>
        <p:spPr>
          <a:xfrm>
            <a:off x="1908012" y="3187974"/>
            <a:ext cx="505460" cy="386430"/>
          </a:xfrm>
          <a:prstGeom prst="rect">
            <a:avLst/>
          </a:prstGeom>
        </p:spPr>
        <p:txBody>
          <a:bodyPr vert="horz" wrap="square" lIns="0" tIns="16933" rIns="0" bIns="0" rtlCol="0">
            <a:spAutoFit/>
          </a:bodyPr>
          <a:lstStyle/>
          <a:p>
            <a:pPr marL="17145">
              <a:spcBef>
                <a:spcPts val="135"/>
              </a:spcBef>
            </a:pPr>
            <a:r>
              <a:rPr sz="2400" dirty="0">
                <a:solidFill>
                  <a:srgbClr val="FFFFFF"/>
                </a:solidFill>
                <a:latin typeface="Calibri" panose="020F0502020204030204"/>
                <a:cs typeface="Calibri" panose="020F0502020204030204"/>
              </a:rPr>
              <a:t>B</a:t>
            </a:r>
            <a:r>
              <a:rPr sz="2400" dirty="0">
                <a:solidFill>
                  <a:srgbClr val="FFFFFF"/>
                </a:solidFill>
                <a:latin typeface="宋体" panose="02010600030101010101" pitchFamily="2" charset="-122"/>
                <a:cs typeface="宋体" panose="02010600030101010101" pitchFamily="2" charset="-122"/>
              </a:rPr>
              <a:t>好</a:t>
            </a:r>
            <a:endParaRPr sz="2400">
              <a:latin typeface="宋体" panose="02010600030101010101" pitchFamily="2" charset="-122"/>
              <a:cs typeface="宋体" panose="02010600030101010101" pitchFamily="2" charset="-122"/>
            </a:endParaRPr>
          </a:p>
        </p:txBody>
      </p:sp>
      <p:sp>
        <p:nvSpPr>
          <p:cNvPr id="28" name="object 28"/>
          <p:cNvSpPr/>
          <p:nvPr/>
        </p:nvSpPr>
        <p:spPr>
          <a:xfrm>
            <a:off x="5367239" y="3115683"/>
            <a:ext cx="1220047" cy="817880"/>
          </a:xfrm>
          <a:custGeom>
            <a:avLst/>
            <a:gdLst/>
            <a:ahLst/>
            <a:cxnLst/>
            <a:rect l="l" t="t" r="r" b="b"/>
            <a:pathLst>
              <a:path w="915035" h="613410">
                <a:moveTo>
                  <a:pt x="585935" y="554724"/>
                </a:moveTo>
                <a:lnTo>
                  <a:pt x="348902" y="554724"/>
                </a:lnTo>
                <a:lnTo>
                  <a:pt x="364255" y="572295"/>
                </a:lnTo>
                <a:lnTo>
                  <a:pt x="382573" y="587093"/>
                </a:lnTo>
                <a:lnTo>
                  <a:pt x="403391" y="598818"/>
                </a:lnTo>
                <a:lnTo>
                  <a:pt x="426245" y="607175"/>
                </a:lnTo>
                <a:lnTo>
                  <a:pt x="471598" y="612793"/>
                </a:lnTo>
                <a:lnTo>
                  <a:pt x="515025" y="605458"/>
                </a:lnTo>
                <a:lnTo>
                  <a:pt x="553594" y="586601"/>
                </a:lnTo>
                <a:lnTo>
                  <a:pt x="584371" y="557655"/>
                </a:lnTo>
                <a:lnTo>
                  <a:pt x="585935" y="554724"/>
                </a:lnTo>
                <a:close/>
              </a:path>
              <a:path w="915035" h="613410">
                <a:moveTo>
                  <a:pt x="228764" y="53846"/>
                </a:moveTo>
                <a:lnTo>
                  <a:pt x="161214" y="67088"/>
                </a:lnTo>
                <a:lnTo>
                  <a:pt x="125048" y="90226"/>
                </a:lnTo>
                <a:lnTo>
                  <a:pt x="98538" y="121977"/>
                </a:lnTo>
                <a:lnTo>
                  <a:pt x="83709" y="159927"/>
                </a:lnTo>
                <a:lnTo>
                  <a:pt x="82583" y="201664"/>
                </a:lnTo>
                <a:lnTo>
                  <a:pt x="81821" y="203569"/>
                </a:lnTo>
                <a:lnTo>
                  <a:pt x="41451" y="216538"/>
                </a:lnTo>
                <a:lnTo>
                  <a:pt x="11844" y="244844"/>
                </a:lnTo>
                <a:lnTo>
                  <a:pt x="0" y="276488"/>
                </a:lnTo>
                <a:lnTo>
                  <a:pt x="2240" y="308740"/>
                </a:lnTo>
                <a:lnTo>
                  <a:pt x="17506" y="337873"/>
                </a:lnTo>
                <a:lnTo>
                  <a:pt x="44737" y="360160"/>
                </a:lnTo>
                <a:lnTo>
                  <a:pt x="32678" y="374872"/>
                </a:lnTo>
                <a:lnTo>
                  <a:pt x="24465" y="391370"/>
                </a:lnTo>
                <a:lnTo>
                  <a:pt x="20323" y="409059"/>
                </a:lnTo>
                <a:lnTo>
                  <a:pt x="20480" y="427343"/>
                </a:lnTo>
                <a:lnTo>
                  <a:pt x="31884" y="459051"/>
                </a:lnTo>
                <a:lnTo>
                  <a:pt x="54945" y="483461"/>
                </a:lnTo>
                <a:lnTo>
                  <a:pt x="86363" y="498226"/>
                </a:lnTo>
                <a:lnTo>
                  <a:pt x="122842" y="501003"/>
                </a:lnTo>
                <a:lnTo>
                  <a:pt x="123477" y="501892"/>
                </a:lnTo>
                <a:lnTo>
                  <a:pt x="158370" y="540227"/>
                </a:lnTo>
                <a:lnTo>
                  <a:pt x="201373" y="564453"/>
                </a:lnTo>
                <a:lnTo>
                  <a:pt x="249930" y="575505"/>
                </a:lnTo>
                <a:lnTo>
                  <a:pt x="300339" y="572542"/>
                </a:lnTo>
                <a:lnTo>
                  <a:pt x="348902" y="554724"/>
                </a:lnTo>
                <a:lnTo>
                  <a:pt x="585935" y="554724"/>
                </a:lnTo>
                <a:lnTo>
                  <a:pt x="604426" y="520053"/>
                </a:lnTo>
                <a:lnTo>
                  <a:pt x="730132" y="520053"/>
                </a:lnTo>
                <a:lnTo>
                  <a:pt x="755223" y="504908"/>
                </a:lnTo>
                <a:lnTo>
                  <a:pt x="781768" y="469614"/>
                </a:lnTo>
                <a:lnTo>
                  <a:pt x="791751" y="426200"/>
                </a:lnTo>
                <a:lnTo>
                  <a:pt x="809765" y="422763"/>
                </a:lnTo>
                <a:lnTo>
                  <a:pt x="858807" y="400546"/>
                </a:lnTo>
                <a:lnTo>
                  <a:pt x="890328" y="370049"/>
                </a:lnTo>
                <a:lnTo>
                  <a:pt x="909162" y="333451"/>
                </a:lnTo>
                <a:lnTo>
                  <a:pt x="914878" y="293762"/>
                </a:lnTo>
                <a:lnTo>
                  <a:pt x="907043" y="253994"/>
                </a:lnTo>
                <a:lnTo>
                  <a:pt x="885223" y="217158"/>
                </a:lnTo>
                <a:lnTo>
                  <a:pt x="887255" y="212713"/>
                </a:lnTo>
                <a:lnTo>
                  <a:pt x="889033" y="208141"/>
                </a:lnTo>
                <a:lnTo>
                  <a:pt x="890303" y="203569"/>
                </a:lnTo>
                <a:lnTo>
                  <a:pt x="893298" y="162692"/>
                </a:lnTo>
                <a:lnTo>
                  <a:pt x="879397" y="125257"/>
                </a:lnTo>
                <a:lnTo>
                  <a:pt x="851138" y="95323"/>
                </a:lnTo>
                <a:lnTo>
                  <a:pt x="811055" y="76950"/>
                </a:lnTo>
                <a:lnTo>
                  <a:pt x="809471" y="71616"/>
                </a:lnTo>
                <a:lnTo>
                  <a:pt x="296451" y="71616"/>
                </a:lnTo>
                <a:lnTo>
                  <a:pt x="274984" y="62247"/>
                </a:lnTo>
                <a:lnTo>
                  <a:pt x="252255" y="56296"/>
                </a:lnTo>
                <a:lnTo>
                  <a:pt x="228764" y="53846"/>
                </a:lnTo>
                <a:close/>
              </a:path>
              <a:path w="915035" h="613410">
                <a:moveTo>
                  <a:pt x="730132" y="520053"/>
                </a:moveTo>
                <a:lnTo>
                  <a:pt x="604426" y="520053"/>
                </a:lnTo>
                <a:lnTo>
                  <a:pt x="619319" y="527282"/>
                </a:lnTo>
                <a:lnTo>
                  <a:pt x="635081" y="532546"/>
                </a:lnTo>
                <a:lnTo>
                  <a:pt x="651486" y="535787"/>
                </a:lnTo>
                <a:lnTo>
                  <a:pt x="668307" y="536944"/>
                </a:lnTo>
                <a:lnTo>
                  <a:pt x="716081" y="528534"/>
                </a:lnTo>
                <a:lnTo>
                  <a:pt x="730132" y="520053"/>
                </a:lnTo>
                <a:close/>
              </a:path>
              <a:path w="915035" h="613410">
                <a:moveTo>
                  <a:pt x="406161" y="17287"/>
                </a:moveTo>
                <a:lnTo>
                  <a:pt x="363110" y="21419"/>
                </a:lnTo>
                <a:lnTo>
                  <a:pt x="324893" y="39981"/>
                </a:lnTo>
                <a:lnTo>
                  <a:pt x="296451" y="71616"/>
                </a:lnTo>
                <a:lnTo>
                  <a:pt x="809471" y="71616"/>
                </a:lnTo>
                <a:lnTo>
                  <a:pt x="806424" y="61358"/>
                </a:lnTo>
                <a:lnTo>
                  <a:pt x="798958" y="46803"/>
                </a:lnTo>
                <a:lnTo>
                  <a:pt x="798704" y="46470"/>
                </a:lnTo>
                <a:lnTo>
                  <a:pt x="475394" y="46470"/>
                </a:lnTo>
                <a:lnTo>
                  <a:pt x="469322" y="41445"/>
                </a:lnTo>
                <a:lnTo>
                  <a:pt x="462916" y="36849"/>
                </a:lnTo>
                <a:lnTo>
                  <a:pt x="456178" y="32682"/>
                </a:lnTo>
                <a:lnTo>
                  <a:pt x="449105" y="28944"/>
                </a:lnTo>
                <a:lnTo>
                  <a:pt x="406161" y="17287"/>
                </a:lnTo>
                <a:close/>
              </a:path>
              <a:path w="915035" h="613410">
                <a:moveTo>
                  <a:pt x="563834" y="0"/>
                </a:moveTo>
                <a:lnTo>
                  <a:pt x="528734" y="4179"/>
                </a:lnTo>
                <a:lnTo>
                  <a:pt x="497921" y="20073"/>
                </a:lnTo>
                <a:lnTo>
                  <a:pt x="475394" y="46470"/>
                </a:lnTo>
                <a:lnTo>
                  <a:pt x="798704" y="46470"/>
                </a:lnTo>
                <a:lnTo>
                  <a:pt x="788874" y="33605"/>
                </a:lnTo>
                <a:lnTo>
                  <a:pt x="788226" y="33008"/>
                </a:lnTo>
                <a:lnTo>
                  <a:pt x="631477" y="33008"/>
                </a:lnTo>
                <a:lnTo>
                  <a:pt x="624633" y="25681"/>
                </a:lnTo>
                <a:lnTo>
                  <a:pt x="616920" y="19165"/>
                </a:lnTo>
                <a:lnTo>
                  <a:pt x="608421" y="13505"/>
                </a:lnTo>
                <a:lnTo>
                  <a:pt x="599219" y="8751"/>
                </a:lnTo>
                <a:lnTo>
                  <a:pt x="563834" y="0"/>
                </a:lnTo>
                <a:close/>
              </a:path>
              <a:path w="915035" h="613410">
                <a:moveTo>
                  <a:pt x="701454" y="257"/>
                </a:moveTo>
                <a:lnTo>
                  <a:pt x="663513" y="9995"/>
                </a:lnTo>
                <a:lnTo>
                  <a:pt x="631477" y="33008"/>
                </a:lnTo>
                <a:lnTo>
                  <a:pt x="788226" y="33008"/>
                </a:lnTo>
                <a:lnTo>
                  <a:pt x="776384" y="22086"/>
                </a:lnTo>
                <a:lnTo>
                  <a:pt x="740634" y="4165"/>
                </a:lnTo>
                <a:lnTo>
                  <a:pt x="701454" y="257"/>
                </a:lnTo>
                <a:close/>
              </a:path>
            </a:pathLst>
          </a:custGeom>
          <a:solidFill>
            <a:srgbClr val="4F81BC"/>
          </a:solidFill>
        </p:spPr>
        <p:txBody>
          <a:bodyPr wrap="square" lIns="0" tIns="0" rIns="0" bIns="0" rtlCol="0"/>
          <a:lstStyle/>
          <a:p>
            <a:endParaRPr sz="2400"/>
          </a:p>
        </p:txBody>
      </p:sp>
      <p:sp>
        <p:nvSpPr>
          <p:cNvPr id="29" name="object 29"/>
          <p:cNvSpPr/>
          <p:nvPr/>
        </p:nvSpPr>
        <p:spPr>
          <a:xfrm>
            <a:off x="5382860" y="3798086"/>
            <a:ext cx="218100" cy="189823"/>
          </a:xfrm>
          <a:prstGeom prst="rect">
            <a:avLst/>
          </a:prstGeom>
          <a:blipFill>
            <a:blip r:embed="rId3" cstate="print"/>
            <a:stretch>
              <a:fillRect/>
            </a:stretch>
          </a:blipFill>
        </p:spPr>
        <p:txBody>
          <a:bodyPr wrap="square" lIns="0" tIns="0" rIns="0" bIns="0" rtlCol="0"/>
          <a:lstStyle/>
          <a:p>
            <a:endParaRPr sz="2400"/>
          </a:p>
        </p:txBody>
      </p:sp>
      <p:sp>
        <p:nvSpPr>
          <p:cNvPr id="30" name="object 30"/>
          <p:cNvSpPr/>
          <p:nvPr/>
        </p:nvSpPr>
        <p:spPr>
          <a:xfrm>
            <a:off x="5367239" y="3115683"/>
            <a:ext cx="1220047" cy="817880"/>
          </a:xfrm>
          <a:custGeom>
            <a:avLst/>
            <a:gdLst/>
            <a:ahLst/>
            <a:cxnLst/>
            <a:rect l="l" t="t" r="r" b="b"/>
            <a:pathLst>
              <a:path w="915035" h="613410">
                <a:moveTo>
                  <a:pt x="82583" y="201664"/>
                </a:moveTo>
                <a:lnTo>
                  <a:pt x="83709" y="159927"/>
                </a:lnTo>
                <a:lnTo>
                  <a:pt x="98538" y="121977"/>
                </a:lnTo>
                <a:lnTo>
                  <a:pt x="125048" y="90226"/>
                </a:lnTo>
                <a:lnTo>
                  <a:pt x="161214" y="67088"/>
                </a:lnTo>
                <a:lnTo>
                  <a:pt x="205011" y="54979"/>
                </a:lnTo>
                <a:lnTo>
                  <a:pt x="228764" y="53846"/>
                </a:lnTo>
                <a:lnTo>
                  <a:pt x="252255" y="56296"/>
                </a:lnTo>
                <a:lnTo>
                  <a:pt x="274984" y="62247"/>
                </a:lnTo>
                <a:lnTo>
                  <a:pt x="296451" y="71616"/>
                </a:lnTo>
                <a:lnTo>
                  <a:pt x="324893" y="39981"/>
                </a:lnTo>
                <a:lnTo>
                  <a:pt x="363110" y="21419"/>
                </a:lnTo>
                <a:lnTo>
                  <a:pt x="406161" y="17287"/>
                </a:lnTo>
                <a:lnTo>
                  <a:pt x="449105" y="28944"/>
                </a:lnTo>
                <a:lnTo>
                  <a:pt x="456178" y="32682"/>
                </a:lnTo>
                <a:lnTo>
                  <a:pt x="462916" y="36849"/>
                </a:lnTo>
                <a:lnTo>
                  <a:pt x="469322" y="41445"/>
                </a:lnTo>
                <a:lnTo>
                  <a:pt x="475394" y="46470"/>
                </a:lnTo>
                <a:lnTo>
                  <a:pt x="497921" y="20073"/>
                </a:lnTo>
                <a:lnTo>
                  <a:pt x="528734" y="4179"/>
                </a:lnTo>
                <a:lnTo>
                  <a:pt x="563834" y="0"/>
                </a:lnTo>
                <a:lnTo>
                  <a:pt x="599219" y="8751"/>
                </a:lnTo>
                <a:lnTo>
                  <a:pt x="608421" y="13505"/>
                </a:lnTo>
                <a:lnTo>
                  <a:pt x="616920" y="19165"/>
                </a:lnTo>
                <a:lnTo>
                  <a:pt x="624633" y="25681"/>
                </a:lnTo>
                <a:lnTo>
                  <a:pt x="631477" y="33008"/>
                </a:lnTo>
                <a:lnTo>
                  <a:pt x="663513" y="9995"/>
                </a:lnTo>
                <a:lnTo>
                  <a:pt x="701454" y="257"/>
                </a:lnTo>
                <a:lnTo>
                  <a:pt x="740634" y="4165"/>
                </a:lnTo>
                <a:lnTo>
                  <a:pt x="776384" y="22086"/>
                </a:lnTo>
                <a:lnTo>
                  <a:pt x="806424" y="61358"/>
                </a:lnTo>
                <a:lnTo>
                  <a:pt x="811055" y="76950"/>
                </a:lnTo>
                <a:lnTo>
                  <a:pt x="851138" y="95323"/>
                </a:lnTo>
                <a:lnTo>
                  <a:pt x="879397" y="125257"/>
                </a:lnTo>
                <a:lnTo>
                  <a:pt x="893298" y="162692"/>
                </a:lnTo>
                <a:lnTo>
                  <a:pt x="890303" y="203569"/>
                </a:lnTo>
                <a:lnTo>
                  <a:pt x="889033" y="208141"/>
                </a:lnTo>
                <a:lnTo>
                  <a:pt x="887255" y="212713"/>
                </a:lnTo>
                <a:lnTo>
                  <a:pt x="885223" y="217158"/>
                </a:lnTo>
                <a:lnTo>
                  <a:pt x="907043" y="253994"/>
                </a:lnTo>
                <a:lnTo>
                  <a:pt x="914878" y="293762"/>
                </a:lnTo>
                <a:lnTo>
                  <a:pt x="909162" y="333451"/>
                </a:lnTo>
                <a:lnTo>
                  <a:pt x="890328" y="370049"/>
                </a:lnTo>
                <a:lnTo>
                  <a:pt x="858807" y="400546"/>
                </a:lnTo>
                <a:lnTo>
                  <a:pt x="809765" y="422763"/>
                </a:lnTo>
                <a:lnTo>
                  <a:pt x="791751" y="426200"/>
                </a:lnTo>
                <a:lnTo>
                  <a:pt x="781768" y="469614"/>
                </a:lnTo>
                <a:lnTo>
                  <a:pt x="755223" y="504908"/>
                </a:lnTo>
                <a:lnTo>
                  <a:pt x="716081" y="528534"/>
                </a:lnTo>
                <a:lnTo>
                  <a:pt x="668307" y="536944"/>
                </a:lnTo>
                <a:lnTo>
                  <a:pt x="651486" y="535787"/>
                </a:lnTo>
                <a:lnTo>
                  <a:pt x="635081" y="532546"/>
                </a:lnTo>
                <a:lnTo>
                  <a:pt x="619319" y="527282"/>
                </a:lnTo>
                <a:lnTo>
                  <a:pt x="604426" y="520053"/>
                </a:lnTo>
                <a:lnTo>
                  <a:pt x="584371" y="557655"/>
                </a:lnTo>
                <a:lnTo>
                  <a:pt x="553594" y="586601"/>
                </a:lnTo>
                <a:lnTo>
                  <a:pt x="515025" y="605458"/>
                </a:lnTo>
                <a:lnTo>
                  <a:pt x="471598" y="612793"/>
                </a:lnTo>
                <a:lnTo>
                  <a:pt x="426245" y="607175"/>
                </a:lnTo>
                <a:lnTo>
                  <a:pt x="403391" y="598818"/>
                </a:lnTo>
                <a:lnTo>
                  <a:pt x="382573" y="587093"/>
                </a:lnTo>
                <a:lnTo>
                  <a:pt x="364255" y="572295"/>
                </a:lnTo>
                <a:lnTo>
                  <a:pt x="348902" y="554724"/>
                </a:lnTo>
                <a:lnTo>
                  <a:pt x="300339" y="572542"/>
                </a:lnTo>
                <a:lnTo>
                  <a:pt x="249930" y="575505"/>
                </a:lnTo>
                <a:lnTo>
                  <a:pt x="201373" y="564453"/>
                </a:lnTo>
                <a:lnTo>
                  <a:pt x="158370" y="540227"/>
                </a:lnTo>
                <a:lnTo>
                  <a:pt x="124620" y="503670"/>
                </a:lnTo>
                <a:lnTo>
                  <a:pt x="123985" y="502781"/>
                </a:lnTo>
                <a:lnTo>
                  <a:pt x="123477" y="501892"/>
                </a:lnTo>
                <a:lnTo>
                  <a:pt x="122842" y="501003"/>
                </a:lnTo>
                <a:lnTo>
                  <a:pt x="86363" y="498226"/>
                </a:lnTo>
                <a:lnTo>
                  <a:pt x="54945" y="483461"/>
                </a:lnTo>
                <a:lnTo>
                  <a:pt x="31884" y="459051"/>
                </a:lnTo>
                <a:lnTo>
                  <a:pt x="20480" y="427343"/>
                </a:lnTo>
                <a:lnTo>
                  <a:pt x="20323" y="409059"/>
                </a:lnTo>
                <a:lnTo>
                  <a:pt x="24465" y="391370"/>
                </a:lnTo>
                <a:lnTo>
                  <a:pt x="32678" y="374872"/>
                </a:lnTo>
                <a:lnTo>
                  <a:pt x="44737" y="360160"/>
                </a:lnTo>
                <a:lnTo>
                  <a:pt x="17506" y="337873"/>
                </a:lnTo>
                <a:lnTo>
                  <a:pt x="2240" y="308740"/>
                </a:lnTo>
                <a:lnTo>
                  <a:pt x="0" y="276488"/>
                </a:lnTo>
                <a:lnTo>
                  <a:pt x="11844" y="244844"/>
                </a:lnTo>
                <a:lnTo>
                  <a:pt x="24939" y="228982"/>
                </a:lnTo>
                <a:lnTo>
                  <a:pt x="41451" y="216538"/>
                </a:lnTo>
                <a:lnTo>
                  <a:pt x="60654" y="207928"/>
                </a:lnTo>
                <a:lnTo>
                  <a:pt x="81821" y="203569"/>
                </a:lnTo>
                <a:lnTo>
                  <a:pt x="82583" y="201664"/>
                </a:lnTo>
                <a:close/>
              </a:path>
            </a:pathLst>
          </a:custGeom>
          <a:ln w="25400">
            <a:solidFill>
              <a:srgbClr val="385D89"/>
            </a:solidFill>
          </a:ln>
        </p:spPr>
        <p:txBody>
          <a:bodyPr wrap="square" lIns="0" tIns="0" rIns="0" bIns="0" rtlCol="0"/>
          <a:lstStyle/>
          <a:p>
            <a:endParaRPr sz="2400"/>
          </a:p>
        </p:txBody>
      </p:sp>
      <p:sp>
        <p:nvSpPr>
          <p:cNvPr id="31" name="object 31"/>
          <p:cNvSpPr/>
          <p:nvPr/>
        </p:nvSpPr>
        <p:spPr>
          <a:xfrm>
            <a:off x="5382860" y="3942523"/>
            <a:ext cx="45720" cy="45720"/>
          </a:xfrm>
          <a:custGeom>
            <a:avLst/>
            <a:gdLst/>
            <a:ahLst/>
            <a:cxnLst/>
            <a:rect l="l" t="t" r="r" b="b"/>
            <a:pathLst>
              <a:path w="34289" h="34289">
                <a:moveTo>
                  <a:pt x="34036" y="17018"/>
                </a:moveTo>
                <a:lnTo>
                  <a:pt x="34036" y="26416"/>
                </a:lnTo>
                <a:lnTo>
                  <a:pt x="26415" y="34036"/>
                </a:lnTo>
                <a:lnTo>
                  <a:pt x="17017" y="34036"/>
                </a:lnTo>
                <a:lnTo>
                  <a:pt x="7619" y="34036"/>
                </a:lnTo>
                <a:lnTo>
                  <a:pt x="0" y="26416"/>
                </a:lnTo>
                <a:lnTo>
                  <a:pt x="0" y="17018"/>
                </a:lnTo>
                <a:lnTo>
                  <a:pt x="0" y="7619"/>
                </a:lnTo>
                <a:lnTo>
                  <a:pt x="7619" y="0"/>
                </a:lnTo>
                <a:lnTo>
                  <a:pt x="17017" y="0"/>
                </a:lnTo>
                <a:lnTo>
                  <a:pt x="26415" y="0"/>
                </a:lnTo>
                <a:lnTo>
                  <a:pt x="34036" y="7619"/>
                </a:lnTo>
                <a:lnTo>
                  <a:pt x="34036" y="17018"/>
                </a:lnTo>
                <a:close/>
              </a:path>
            </a:pathLst>
          </a:custGeom>
          <a:ln w="25400">
            <a:solidFill>
              <a:srgbClr val="385D89"/>
            </a:solidFill>
          </a:ln>
        </p:spPr>
        <p:txBody>
          <a:bodyPr wrap="square" lIns="0" tIns="0" rIns="0" bIns="0" rtlCol="0"/>
          <a:lstStyle/>
          <a:p>
            <a:endParaRPr sz="2400"/>
          </a:p>
        </p:txBody>
      </p:sp>
      <p:sp>
        <p:nvSpPr>
          <p:cNvPr id="32" name="object 32"/>
          <p:cNvSpPr/>
          <p:nvPr/>
        </p:nvSpPr>
        <p:spPr>
          <a:xfrm>
            <a:off x="5405888" y="3884271"/>
            <a:ext cx="91440" cy="91440"/>
          </a:xfrm>
          <a:custGeom>
            <a:avLst/>
            <a:gdLst/>
            <a:ahLst/>
            <a:cxnLst/>
            <a:rect l="l" t="t" r="r" b="b"/>
            <a:pathLst>
              <a:path w="68579" h="68580">
                <a:moveTo>
                  <a:pt x="68072" y="34036"/>
                </a:moveTo>
                <a:lnTo>
                  <a:pt x="65397" y="47283"/>
                </a:lnTo>
                <a:lnTo>
                  <a:pt x="58102" y="58102"/>
                </a:lnTo>
                <a:lnTo>
                  <a:pt x="47283" y="65397"/>
                </a:lnTo>
                <a:lnTo>
                  <a:pt x="34036" y="68071"/>
                </a:lnTo>
                <a:lnTo>
                  <a:pt x="20788" y="65397"/>
                </a:lnTo>
                <a:lnTo>
                  <a:pt x="9969" y="58102"/>
                </a:lnTo>
                <a:lnTo>
                  <a:pt x="2674" y="47283"/>
                </a:lnTo>
                <a:lnTo>
                  <a:pt x="0" y="34036"/>
                </a:lnTo>
                <a:lnTo>
                  <a:pt x="2674" y="20788"/>
                </a:lnTo>
                <a:lnTo>
                  <a:pt x="9969" y="9969"/>
                </a:lnTo>
                <a:lnTo>
                  <a:pt x="20788" y="2674"/>
                </a:lnTo>
                <a:lnTo>
                  <a:pt x="34036" y="0"/>
                </a:lnTo>
                <a:lnTo>
                  <a:pt x="47283" y="2674"/>
                </a:lnTo>
                <a:lnTo>
                  <a:pt x="58102" y="9969"/>
                </a:lnTo>
                <a:lnTo>
                  <a:pt x="65397" y="20788"/>
                </a:lnTo>
                <a:lnTo>
                  <a:pt x="68072" y="34036"/>
                </a:lnTo>
                <a:close/>
              </a:path>
            </a:pathLst>
          </a:custGeom>
          <a:ln w="25400">
            <a:solidFill>
              <a:srgbClr val="385D89"/>
            </a:solidFill>
          </a:ln>
        </p:spPr>
        <p:txBody>
          <a:bodyPr wrap="square" lIns="0" tIns="0" rIns="0" bIns="0" rtlCol="0"/>
          <a:lstStyle/>
          <a:p>
            <a:endParaRPr sz="2400"/>
          </a:p>
        </p:txBody>
      </p:sp>
      <p:sp>
        <p:nvSpPr>
          <p:cNvPr id="33" name="object 33"/>
          <p:cNvSpPr/>
          <p:nvPr/>
        </p:nvSpPr>
        <p:spPr>
          <a:xfrm>
            <a:off x="5464821" y="3798086"/>
            <a:ext cx="136313" cy="136313"/>
          </a:xfrm>
          <a:custGeom>
            <a:avLst/>
            <a:gdLst/>
            <a:ahLst/>
            <a:cxnLst/>
            <a:rect l="l" t="t" r="r" b="b"/>
            <a:pathLst>
              <a:path w="102235" h="102235">
                <a:moveTo>
                  <a:pt x="102108" y="51054"/>
                </a:moveTo>
                <a:lnTo>
                  <a:pt x="98095" y="70925"/>
                </a:lnTo>
                <a:lnTo>
                  <a:pt x="87153" y="87153"/>
                </a:lnTo>
                <a:lnTo>
                  <a:pt x="70925" y="98095"/>
                </a:lnTo>
                <a:lnTo>
                  <a:pt x="51053" y="102107"/>
                </a:lnTo>
                <a:lnTo>
                  <a:pt x="31182" y="98095"/>
                </a:lnTo>
                <a:lnTo>
                  <a:pt x="14954" y="87153"/>
                </a:lnTo>
                <a:lnTo>
                  <a:pt x="4012" y="70925"/>
                </a:lnTo>
                <a:lnTo>
                  <a:pt x="0" y="51054"/>
                </a:lnTo>
                <a:lnTo>
                  <a:pt x="4012" y="31182"/>
                </a:lnTo>
                <a:lnTo>
                  <a:pt x="14954" y="14954"/>
                </a:lnTo>
                <a:lnTo>
                  <a:pt x="31182" y="4012"/>
                </a:lnTo>
                <a:lnTo>
                  <a:pt x="51053" y="0"/>
                </a:lnTo>
                <a:lnTo>
                  <a:pt x="70925" y="4012"/>
                </a:lnTo>
                <a:lnTo>
                  <a:pt x="87153" y="14954"/>
                </a:lnTo>
                <a:lnTo>
                  <a:pt x="98095" y="31182"/>
                </a:lnTo>
                <a:lnTo>
                  <a:pt x="102108" y="51054"/>
                </a:lnTo>
                <a:close/>
              </a:path>
            </a:pathLst>
          </a:custGeom>
          <a:ln w="25400">
            <a:solidFill>
              <a:srgbClr val="385D89"/>
            </a:solidFill>
          </a:ln>
        </p:spPr>
        <p:txBody>
          <a:bodyPr wrap="square" lIns="0" tIns="0" rIns="0" bIns="0" rtlCol="0"/>
          <a:lstStyle/>
          <a:p>
            <a:endParaRPr sz="2400"/>
          </a:p>
        </p:txBody>
      </p:sp>
      <p:sp>
        <p:nvSpPr>
          <p:cNvPr id="34" name="object 34"/>
          <p:cNvSpPr/>
          <p:nvPr/>
        </p:nvSpPr>
        <p:spPr>
          <a:xfrm>
            <a:off x="5428245" y="3592850"/>
            <a:ext cx="71967" cy="15240"/>
          </a:xfrm>
          <a:custGeom>
            <a:avLst/>
            <a:gdLst/>
            <a:ahLst/>
            <a:cxnLst/>
            <a:rect l="l" t="t" r="r" b="b"/>
            <a:pathLst>
              <a:path w="53975" h="11430">
                <a:moveTo>
                  <a:pt x="53593" y="11303"/>
                </a:moveTo>
                <a:lnTo>
                  <a:pt x="39629" y="11287"/>
                </a:lnTo>
                <a:lnTo>
                  <a:pt x="25892" y="9366"/>
                </a:lnTo>
                <a:lnTo>
                  <a:pt x="12606" y="5587"/>
                </a:lnTo>
                <a:lnTo>
                  <a:pt x="0" y="0"/>
                </a:lnTo>
              </a:path>
            </a:pathLst>
          </a:custGeom>
          <a:ln w="25400">
            <a:solidFill>
              <a:srgbClr val="385D89"/>
            </a:solidFill>
          </a:ln>
        </p:spPr>
        <p:txBody>
          <a:bodyPr wrap="square" lIns="0" tIns="0" rIns="0" bIns="0" rtlCol="0"/>
          <a:lstStyle/>
          <a:p>
            <a:endParaRPr sz="2400"/>
          </a:p>
        </p:txBody>
      </p:sp>
      <p:sp>
        <p:nvSpPr>
          <p:cNvPr id="35" name="object 35"/>
          <p:cNvSpPr/>
          <p:nvPr/>
        </p:nvSpPr>
        <p:spPr>
          <a:xfrm>
            <a:off x="5531538" y="3772851"/>
            <a:ext cx="31327" cy="7620"/>
          </a:xfrm>
          <a:custGeom>
            <a:avLst/>
            <a:gdLst/>
            <a:ahLst/>
            <a:cxnLst/>
            <a:rect l="l" t="t" r="r" b="b"/>
            <a:pathLst>
              <a:path w="23495" h="5714">
                <a:moveTo>
                  <a:pt x="23495" y="0"/>
                </a:moveTo>
                <a:lnTo>
                  <a:pt x="15875" y="2667"/>
                </a:lnTo>
                <a:lnTo>
                  <a:pt x="8000" y="4572"/>
                </a:lnTo>
                <a:lnTo>
                  <a:pt x="0" y="5334"/>
                </a:lnTo>
              </a:path>
            </a:pathLst>
          </a:custGeom>
          <a:ln w="25400">
            <a:solidFill>
              <a:srgbClr val="385D89"/>
            </a:solidFill>
          </a:ln>
        </p:spPr>
        <p:txBody>
          <a:bodyPr wrap="square" lIns="0" tIns="0" rIns="0" bIns="0" rtlCol="0"/>
          <a:lstStyle/>
          <a:p>
            <a:endParaRPr sz="2400"/>
          </a:p>
        </p:txBody>
      </p:sp>
      <p:sp>
        <p:nvSpPr>
          <p:cNvPr id="36" name="object 36"/>
          <p:cNvSpPr/>
          <p:nvPr/>
        </p:nvSpPr>
        <p:spPr>
          <a:xfrm>
            <a:off x="5813474" y="3819249"/>
            <a:ext cx="19472" cy="33020"/>
          </a:xfrm>
          <a:custGeom>
            <a:avLst/>
            <a:gdLst/>
            <a:ahLst/>
            <a:cxnLst/>
            <a:rect l="l" t="t" r="r" b="b"/>
            <a:pathLst>
              <a:path w="14604" h="24764">
                <a:moveTo>
                  <a:pt x="14096" y="24637"/>
                </a:moveTo>
                <a:lnTo>
                  <a:pt x="10054" y="18734"/>
                </a:lnTo>
                <a:lnTo>
                  <a:pt x="6334" y="12652"/>
                </a:lnTo>
                <a:lnTo>
                  <a:pt x="2970" y="6403"/>
                </a:lnTo>
                <a:lnTo>
                  <a:pt x="0" y="0"/>
                </a:lnTo>
              </a:path>
            </a:pathLst>
          </a:custGeom>
          <a:ln w="25400">
            <a:solidFill>
              <a:srgbClr val="385D89"/>
            </a:solidFill>
          </a:ln>
        </p:spPr>
        <p:txBody>
          <a:bodyPr wrap="square" lIns="0" tIns="0" rIns="0" bIns="0" rtlCol="0"/>
          <a:lstStyle/>
          <a:p>
            <a:endParaRPr sz="2400"/>
          </a:p>
        </p:txBody>
      </p:sp>
      <p:sp>
        <p:nvSpPr>
          <p:cNvPr id="37" name="object 37"/>
          <p:cNvSpPr/>
          <p:nvPr/>
        </p:nvSpPr>
        <p:spPr>
          <a:xfrm>
            <a:off x="6173308" y="3769975"/>
            <a:ext cx="7620" cy="36407"/>
          </a:xfrm>
          <a:custGeom>
            <a:avLst/>
            <a:gdLst/>
            <a:ahLst/>
            <a:cxnLst/>
            <a:rect l="l" t="t" r="r" b="b"/>
            <a:pathLst>
              <a:path w="5714" h="27305">
                <a:moveTo>
                  <a:pt x="5587" y="0"/>
                </a:moveTo>
                <a:lnTo>
                  <a:pt x="4804" y="6907"/>
                </a:lnTo>
                <a:lnTo>
                  <a:pt x="3603" y="13731"/>
                </a:lnTo>
                <a:lnTo>
                  <a:pt x="1998" y="20484"/>
                </a:lnTo>
                <a:lnTo>
                  <a:pt x="0" y="27177"/>
                </a:lnTo>
              </a:path>
            </a:pathLst>
          </a:custGeom>
          <a:ln w="25399">
            <a:solidFill>
              <a:srgbClr val="385D89"/>
            </a:solidFill>
          </a:ln>
        </p:spPr>
        <p:txBody>
          <a:bodyPr wrap="square" lIns="0" tIns="0" rIns="0" bIns="0" rtlCol="0"/>
          <a:lstStyle/>
          <a:p>
            <a:endParaRPr sz="2400"/>
          </a:p>
        </p:txBody>
      </p:sp>
      <p:sp>
        <p:nvSpPr>
          <p:cNvPr id="38" name="object 38"/>
          <p:cNvSpPr/>
          <p:nvPr/>
        </p:nvSpPr>
        <p:spPr>
          <a:xfrm>
            <a:off x="6330453" y="3546962"/>
            <a:ext cx="92287" cy="135467"/>
          </a:xfrm>
          <a:custGeom>
            <a:avLst/>
            <a:gdLst/>
            <a:ahLst/>
            <a:cxnLst/>
            <a:rect l="l" t="t" r="r" b="b"/>
            <a:pathLst>
              <a:path w="69214" h="101600">
                <a:moveTo>
                  <a:pt x="0" y="0"/>
                </a:moveTo>
                <a:lnTo>
                  <a:pt x="28703" y="17690"/>
                </a:lnTo>
                <a:lnTo>
                  <a:pt x="50466" y="41513"/>
                </a:lnTo>
                <a:lnTo>
                  <a:pt x="64204" y="69883"/>
                </a:lnTo>
                <a:lnTo>
                  <a:pt x="68834" y="101219"/>
                </a:lnTo>
              </a:path>
            </a:pathLst>
          </a:custGeom>
          <a:ln w="25400">
            <a:solidFill>
              <a:srgbClr val="385D89"/>
            </a:solidFill>
          </a:ln>
        </p:spPr>
        <p:txBody>
          <a:bodyPr wrap="square" lIns="0" tIns="0" rIns="0" bIns="0" rtlCol="0"/>
          <a:lstStyle/>
          <a:p>
            <a:endParaRPr sz="2400"/>
          </a:p>
        </p:txBody>
      </p:sp>
      <p:sp>
        <p:nvSpPr>
          <p:cNvPr id="39" name="object 39"/>
          <p:cNvSpPr/>
          <p:nvPr/>
        </p:nvSpPr>
        <p:spPr>
          <a:xfrm>
            <a:off x="6506051" y="3403195"/>
            <a:ext cx="41487" cy="50800"/>
          </a:xfrm>
          <a:custGeom>
            <a:avLst/>
            <a:gdLst/>
            <a:ahLst/>
            <a:cxnLst/>
            <a:rect l="l" t="t" r="r" b="b"/>
            <a:pathLst>
              <a:path w="31114" h="38100">
                <a:moveTo>
                  <a:pt x="30607" y="0"/>
                </a:moveTo>
                <a:lnTo>
                  <a:pt x="24806" y="10630"/>
                </a:lnTo>
                <a:lnTo>
                  <a:pt x="17732" y="20558"/>
                </a:lnTo>
                <a:lnTo>
                  <a:pt x="9443" y="29700"/>
                </a:lnTo>
                <a:lnTo>
                  <a:pt x="0" y="37972"/>
                </a:lnTo>
              </a:path>
            </a:pathLst>
          </a:custGeom>
          <a:ln w="25400">
            <a:solidFill>
              <a:srgbClr val="385D89"/>
            </a:solidFill>
          </a:ln>
        </p:spPr>
        <p:txBody>
          <a:bodyPr wrap="square" lIns="0" tIns="0" rIns="0" bIns="0" rtlCol="0"/>
          <a:lstStyle/>
          <a:p>
            <a:endParaRPr sz="2400"/>
          </a:p>
        </p:txBody>
      </p:sp>
      <p:sp>
        <p:nvSpPr>
          <p:cNvPr id="40" name="object 40"/>
          <p:cNvSpPr/>
          <p:nvPr/>
        </p:nvSpPr>
        <p:spPr>
          <a:xfrm>
            <a:off x="6448812" y="3215409"/>
            <a:ext cx="2540" cy="24553"/>
          </a:xfrm>
          <a:custGeom>
            <a:avLst/>
            <a:gdLst/>
            <a:ahLst/>
            <a:cxnLst/>
            <a:rect l="l" t="t" r="r" b="b"/>
            <a:pathLst>
              <a:path w="1904" h="18414">
                <a:moveTo>
                  <a:pt x="0" y="0"/>
                </a:moveTo>
                <a:lnTo>
                  <a:pt x="1270" y="5968"/>
                </a:lnTo>
                <a:lnTo>
                  <a:pt x="1777" y="11937"/>
                </a:lnTo>
                <a:lnTo>
                  <a:pt x="1650" y="17906"/>
                </a:lnTo>
              </a:path>
            </a:pathLst>
          </a:custGeom>
          <a:ln w="25400">
            <a:solidFill>
              <a:srgbClr val="385D89"/>
            </a:solidFill>
          </a:ln>
        </p:spPr>
        <p:txBody>
          <a:bodyPr wrap="square" lIns="0" tIns="0" rIns="0" bIns="0" rtlCol="0"/>
          <a:lstStyle/>
          <a:p>
            <a:endParaRPr sz="2400"/>
          </a:p>
        </p:txBody>
      </p:sp>
      <p:sp>
        <p:nvSpPr>
          <p:cNvPr id="41" name="object 41"/>
          <p:cNvSpPr/>
          <p:nvPr/>
        </p:nvSpPr>
        <p:spPr>
          <a:xfrm>
            <a:off x="6187873" y="3156986"/>
            <a:ext cx="21167" cy="30480"/>
          </a:xfrm>
          <a:custGeom>
            <a:avLst/>
            <a:gdLst/>
            <a:ahLst/>
            <a:cxnLst/>
            <a:rect l="l" t="t" r="r" b="b"/>
            <a:pathLst>
              <a:path w="15875" h="22860">
                <a:moveTo>
                  <a:pt x="0" y="22859"/>
                </a:moveTo>
                <a:lnTo>
                  <a:pt x="3264" y="16787"/>
                </a:lnTo>
                <a:lnTo>
                  <a:pt x="6969" y="10953"/>
                </a:lnTo>
                <a:lnTo>
                  <a:pt x="11126" y="5357"/>
                </a:lnTo>
                <a:lnTo>
                  <a:pt x="15748" y="0"/>
                </a:lnTo>
              </a:path>
            </a:pathLst>
          </a:custGeom>
          <a:ln w="25400">
            <a:solidFill>
              <a:srgbClr val="385D89"/>
            </a:solidFill>
          </a:ln>
        </p:spPr>
        <p:txBody>
          <a:bodyPr wrap="square" lIns="0" tIns="0" rIns="0" bIns="0" rtlCol="0"/>
          <a:lstStyle/>
          <a:p>
            <a:endParaRPr sz="2400"/>
          </a:p>
        </p:txBody>
      </p:sp>
      <p:sp>
        <p:nvSpPr>
          <p:cNvPr id="42" name="object 42"/>
          <p:cNvSpPr/>
          <p:nvPr/>
        </p:nvSpPr>
        <p:spPr>
          <a:xfrm>
            <a:off x="5992120" y="3175786"/>
            <a:ext cx="10160" cy="26247"/>
          </a:xfrm>
          <a:custGeom>
            <a:avLst/>
            <a:gdLst/>
            <a:ahLst/>
            <a:cxnLst/>
            <a:rect l="l" t="t" r="r" b="b"/>
            <a:pathLst>
              <a:path w="7620" h="19685">
                <a:moveTo>
                  <a:pt x="0" y="19685"/>
                </a:moveTo>
                <a:lnTo>
                  <a:pt x="1650" y="12826"/>
                </a:lnTo>
                <a:lnTo>
                  <a:pt x="4191" y="6223"/>
                </a:lnTo>
                <a:lnTo>
                  <a:pt x="7620" y="0"/>
                </a:lnTo>
              </a:path>
            </a:pathLst>
          </a:custGeom>
          <a:ln w="25400">
            <a:solidFill>
              <a:srgbClr val="385D89"/>
            </a:solidFill>
          </a:ln>
        </p:spPr>
        <p:txBody>
          <a:bodyPr wrap="square" lIns="0" tIns="0" rIns="0" bIns="0" rtlCol="0"/>
          <a:lstStyle/>
          <a:p>
            <a:endParaRPr sz="2400"/>
          </a:p>
        </p:txBody>
      </p:sp>
      <p:sp>
        <p:nvSpPr>
          <p:cNvPr id="43" name="object 43"/>
          <p:cNvSpPr/>
          <p:nvPr/>
        </p:nvSpPr>
        <p:spPr>
          <a:xfrm>
            <a:off x="5762338" y="3211003"/>
            <a:ext cx="37253" cy="25400"/>
          </a:xfrm>
          <a:custGeom>
            <a:avLst/>
            <a:gdLst/>
            <a:ahLst/>
            <a:cxnLst/>
            <a:rect l="l" t="t" r="r" b="b"/>
            <a:pathLst>
              <a:path w="27939" h="19050">
                <a:moveTo>
                  <a:pt x="0" y="0"/>
                </a:moveTo>
                <a:lnTo>
                  <a:pt x="7377" y="4190"/>
                </a:lnTo>
                <a:lnTo>
                  <a:pt x="14446" y="8762"/>
                </a:lnTo>
                <a:lnTo>
                  <a:pt x="21181" y="13715"/>
                </a:lnTo>
                <a:lnTo>
                  <a:pt x="27559" y="19050"/>
                </a:lnTo>
              </a:path>
            </a:pathLst>
          </a:custGeom>
          <a:ln w="25400">
            <a:solidFill>
              <a:srgbClr val="385D89"/>
            </a:solidFill>
          </a:ln>
        </p:spPr>
        <p:txBody>
          <a:bodyPr wrap="square" lIns="0" tIns="0" rIns="0" bIns="0" rtlCol="0"/>
          <a:lstStyle/>
          <a:p>
            <a:endParaRPr sz="2400"/>
          </a:p>
        </p:txBody>
      </p:sp>
      <p:sp>
        <p:nvSpPr>
          <p:cNvPr id="44" name="object 44"/>
          <p:cNvSpPr/>
          <p:nvPr/>
        </p:nvSpPr>
        <p:spPr>
          <a:xfrm>
            <a:off x="5477351" y="3384573"/>
            <a:ext cx="6773" cy="27093"/>
          </a:xfrm>
          <a:custGeom>
            <a:avLst/>
            <a:gdLst/>
            <a:ahLst/>
            <a:cxnLst/>
            <a:rect l="l" t="t" r="r" b="b"/>
            <a:pathLst>
              <a:path w="5079" h="20319">
                <a:moveTo>
                  <a:pt x="4825" y="20065"/>
                </a:moveTo>
                <a:lnTo>
                  <a:pt x="2666" y="13588"/>
                </a:lnTo>
                <a:lnTo>
                  <a:pt x="1015" y="6857"/>
                </a:lnTo>
                <a:lnTo>
                  <a:pt x="0" y="0"/>
                </a:lnTo>
              </a:path>
            </a:pathLst>
          </a:custGeom>
          <a:ln w="25400">
            <a:solidFill>
              <a:srgbClr val="385D89"/>
            </a:solidFill>
          </a:ln>
        </p:spPr>
        <p:txBody>
          <a:bodyPr wrap="square" lIns="0" tIns="0" rIns="0" bIns="0" rtlCol="0"/>
          <a:lstStyle/>
          <a:p>
            <a:endParaRPr sz="2400"/>
          </a:p>
        </p:txBody>
      </p:sp>
      <p:sp>
        <p:nvSpPr>
          <p:cNvPr id="45" name="object 45"/>
          <p:cNvSpPr txBox="1"/>
          <p:nvPr/>
        </p:nvSpPr>
        <p:spPr>
          <a:xfrm>
            <a:off x="5675807" y="3289574"/>
            <a:ext cx="515620" cy="386430"/>
          </a:xfrm>
          <a:prstGeom prst="rect">
            <a:avLst/>
          </a:prstGeom>
        </p:spPr>
        <p:txBody>
          <a:bodyPr vert="horz" wrap="square" lIns="0" tIns="16933" rIns="0" bIns="0" rtlCol="0">
            <a:spAutoFit/>
          </a:bodyPr>
          <a:lstStyle/>
          <a:p>
            <a:pPr marL="17145">
              <a:spcBef>
                <a:spcPts val="135"/>
              </a:spcBef>
            </a:pPr>
            <a:r>
              <a:rPr sz="2400" dirty="0">
                <a:solidFill>
                  <a:srgbClr val="FFFFFF"/>
                </a:solidFill>
                <a:latin typeface="Calibri" panose="020F0502020204030204"/>
                <a:cs typeface="Calibri" panose="020F0502020204030204"/>
              </a:rPr>
              <a:t>A</a:t>
            </a:r>
            <a:r>
              <a:rPr sz="2400" dirty="0">
                <a:solidFill>
                  <a:srgbClr val="FFFFFF"/>
                </a:solidFill>
                <a:latin typeface="宋体" panose="02010600030101010101" pitchFamily="2" charset="-122"/>
                <a:cs typeface="宋体" panose="02010600030101010101" pitchFamily="2" charset="-122"/>
              </a:rPr>
              <a:t>坏</a:t>
            </a:r>
            <a:endParaRPr sz="2400">
              <a:latin typeface="宋体" panose="02010600030101010101" pitchFamily="2" charset="-122"/>
              <a:cs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1151174" y="1703846"/>
          <a:ext cx="6807200" cy="3843930"/>
        </p:xfrm>
        <a:graphic>
          <a:graphicData uri="http://schemas.openxmlformats.org/drawingml/2006/table">
            <a:tbl>
              <a:tblPr firstRow="1" bandRow="1">
                <a:tableStyleId>{2D5ABB26-0587-4C30-8999-92F81FD0307C}</a:tableStyleId>
              </a:tblPr>
              <a:tblGrid>
                <a:gridCol w="1625600"/>
                <a:gridCol w="1524000"/>
                <a:gridCol w="3657600"/>
              </a:tblGrid>
              <a:tr h="768772">
                <a:tc>
                  <a:txBody>
                    <a:bodyPr/>
                    <a:lstStyle/>
                    <a:p>
                      <a:pPr marL="1270" algn="ctr">
                        <a:lnSpc>
                          <a:spcPct val="100000"/>
                        </a:lnSpc>
                        <a:spcBef>
                          <a:spcPts val="875"/>
                        </a:spcBef>
                      </a:pPr>
                      <a:r>
                        <a:rPr sz="2800" b="1" i="1" dirty="0">
                          <a:latin typeface="Times New Roman" panose="02020603050405020304" pitchFamily="18" charset="0"/>
                          <a:ea typeface="黑体" panose="02010609060101010101" pitchFamily="49" charset="-122"/>
                          <a:cs typeface="Times New Roman" panose="02020603050405020304" pitchFamily="18" charset="0"/>
                        </a:rPr>
                        <a:t>A</a:t>
                      </a:r>
                      <a:r>
                        <a:rPr sz="2800" b="1" i="1" spc="-50"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报告</a:t>
                      </a:r>
                      <a:endParaRPr sz="2800" dirty="0">
                        <a:latin typeface="Times New Roman" panose="02020603050405020304" pitchFamily="18" charset="0"/>
                        <a:ea typeface="黑体" panose="02010609060101010101" pitchFamily="49" charset="-122"/>
                        <a:cs typeface="Times New Roman" panose="02020603050405020304" pitchFamily="18" charset="0"/>
                      </a:endParaRPr>
                    </a:p>
                  </a:txBody>
                  <a:tcPr marL="0" marR="0" marT="148167"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BEDF4"/>
                    </a:solidFill>
                  </a:tcPr>
                </a:tc>
                <a:tc>
                  <a:txBody>
                    <a:bodyPr/>
                    <a:lstStyle/>
                    <a:p>
                      <a:pPr marL="127000">
                        <a:lnSpc>
                          <a:spcPct val="100000"/>
                        </a:lnSpc>
                        <a:spcBef>
                          <a:spcPts val="875"/>
                        </a:spcBef>
                      </a:pPr>
                      <a:r>
                        <a:rPr sz="2800" b="1" i="1" dirty="0">
                          <a:latin typeface="Times New Roman" panose="02020603050405020304" pitchFamily="18" charset="0"/>
                          <a:ea typeface="黑体" panose="02010609060101010101" pitchFamily="49" charset="-122"/>
                          <a:cs typeface="Times New Roman" panose="02020603050405020304" pitchFamily="18" charset="0"/>
                        </a:rPr>
                        <a:t>B</a:t>
                      </a:r>
                      <a:r>
                        <a:rPr sz="2800" b="1" i="1" spc="-55" dirty="0">
                          <a:latin typeface="Times New Roman" panose="02020603050405020304" pitchFamily="18" charset="0"/>
                          <a:ea typeface="黑体" panose="02010609060101010101" pitchFamily="49" charset="-122"/>
                          <a:cs typeface="Times New Roman" panose="02020603050405020304" pitchFamily="18" charset="0"/>
                        </a:rPr>
                        <a:t> </a:t>
                      </a:r>
                      <a:r>
                        <a:rPr sz="2800" b="1" spc="-5" dirty="0">
                          <a:latin typeface="Times New Roman" panose="02020603050405020304" pitchFamily="18" charset="0"/>
                          <a:ea typeface="黑体" panose="02010609060101010101" pitchFamily="49" charset="-122"/>
                          <a:cs typeface="Times New Roman" panose="02020603050405020304" pitchFamily="18" charset="0"/>
                        </a:rPr>
                        <a:t>报告</a:t>
                      </a:r>
                      <a:endParaRPr sz="2800">
                        <a:latin typeface="Times New Roman" panose="02020603050405020304" pitchFamily="18" charset="0"/>
                        <a:ea typeface="黑体" panose="02010609060101010101" pitchFamily="49" charset="-122"/>
                        <a:cs typeface="Times New Roman" panose="02020603050405020304" pitchFamily="18" charset="0"/>
                      </a:endParaRPr>
                    </a:p>
                  </a:txBody>
                  <a:tcPr marL="0" marR="0" marT="148167"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BEDF4"/>
                    </a:solidFill>
                  </a:tcPr>
                </a:tc>
                <a:tc>
                  <a:txBody>
                    <a:bodyPr/>
                    <a:lstStyle/>
                    <a:p>
                      <a:pPr marL="1270" algn="ctr">
                        <a:lnSpc>
                          <a:spcPct val="100000"/>
                        </a:lnSpc>
                        <a:spcBef>
                          <a:spcPts val="875"/>
                        </a:spcBef>
                      </a:pPr>
                      <a:r>
                        <a:rPr sz="2800" b="1" spc="-5" dirty="0">
                          <a:latin typeface="Times New Roman" panose="02020603050405020304" pitchFamily="18" charset="0"/>
                          <a:ea typeface="黑体" panose="02010609060101010101" pitchFamily="49" charset="-122"/>
                          <a:cs typeface="Times New Roman" panose="02020603050405020304" pitchFamily="18" charset="0"/>
                        </a:rPr>
                        <a:t>结论</a:t>
                      </a:r>
                      <a:endParaRPr sz="2800">
                        <a:latin typeface="Times New Roman" panose="02020603050405020304" pitchFamily="18" charset="0"/>
                        <a:ea typeface="黑体" panose="02010609060101010101" pitchFamily="49" charset="-122"/>
                        <a:cs typeface="Times New Roman" panose="02020603050405020304" pitchFamily="18" charset="0"/>
                      </a:endParaRPr>
                    </a:p>
                  </a:txBody>
                  <a:tcPr marL="0" marR="0" marT="148167"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BEDF4"/>
                    </a:solidFill>
                  </a:tcPr>
                </a:tc>
              </a:tr>
              <a:tr h="768773">
                <a:tc>
                  <a:txBody>
                    <a:bodyPr/>
                    <a:lstStyle/>
                    <a:p>
                      <a:pPr algn="ctr">
                        <a:lnSpc>
                          <a:spcPct val="100000"/>
                        </a:lnSpc>
                        <a:spcBef>
                          <a:spcPts val="1275"/>
                        </a:spcBef>
                      </a:pPr>
                      <a:r>
                        <a:rPr sz="2800" b="1" i="1" spc="-5" dirty="0">
                          <a:latin typeface="Times New Roman" panose="02020603050405020304" pitchFamily="18" charset="0"/>
                          <a:ea typeface="黑体" panose="02010609060101010101" pitchFamily="49" charset="-122"/>
                          <a:cs typeface="Times New Roman" panose="02020603050405020304" pitchFamily="18" charset="0"/>
                        </a:rPr>
                        <a:t>B</a:t>
                      </a:r>
                      <a:r>
                        <a:rPr sz="2800" b="1" spc="5" dirty="0">
                          <a:latin typeface="Times New Roman" panose="02020603050405020304" pitchFamily="18" charset="0"/>
                          <a:ea typeface="黑体" panose="02010609060101010101" pitchFamily="49" charset="-122"/>
                          <a:cs typeface="Times New Roman" panose="02020603050405020304" pitchFamily="18" charset="0"/>
                        </a:rPr>
                        <a:t>是好的</a:t>
                      </a:r>
                      <a:endParaRPr sz="2800" dirty="0">
                        <a:latin typeface="Times New Roman" panose="02020603050405020304" pitchFamily="18" charset="0"/>
                        <a:ea typeface="黑体" panose="02010609060101010101" pitchFamily="49" charset="-122"/>
                        <a:cs typeface="Times New Roman" panose="02020603050405020304" pitchFamily="18" charset="0"/>
                      </a:endParaRPr>
                    </a:p>
                  </a:txBody>
                  <a:tcPr marL="0" marR="0" marT="215900"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BEDF4"/>
                    </a:solidFill>
                  </a:tcPr>
                </a:tc>
                <a:tc>
                  <a:txBody>
                    <a:bodyPr/>
                    <a:lstStyle/>
                    <a:p>
                      <a:pPr marL="102235">
                        <a:lnSpc>
                          <a:spcPct val="100000"/>
                        </a:lnSpc>
                        <a:spcBef>
                          <a:spcPts val="1275"/>
                        </a:spcBef>
                      </a:pPr>
                      <a:r>
                        <a:rPr sz="2800" b="1" i="1" spc="-5" dirty="0">
                          <a:latin typeface="Times New Roman" panose="02020603050405020304" pitchFamily="18" charset="0"/>
                          <a:ea typeface="黑体" panose="02010609060101010101" pitchFamily="49" charset="-122"/>
                          <a:cs typeface="Times New Roman" panose="02020603050405020304" pitchFamily="18" charset="0"/>
                        </a:rPr>
                        <a:t>A</a:t>
                      </a:r>
                      <a:r>
                        <a:rPr sz="2800" b="1" spc="5" dirty="0">
                          <a:latin typeface="Times New Roman" panose="02020603050405020304" pitchFamily="18" charset="0"/>
                          <a:ea typeface="黑体" panose="02010609060101010101" pitchFamily="49" charset="-122"/>
                          <a:cs typeface="Times New Roman" panose="02020603050405020304" pitchFamily="18" charset="0"/>
                        </a:rPr>
                        <a:t>是好的</a:t>
                      </a:r>
                      <a:endParaRPr sz="2800" dirty="0">
                        <a:latin typeface="Times New Roman" panose="02020603050405020304" pitchFamily="18" charset="0"/>
                        <a:ea typeface="黑体" panose="02010609060101010101" pitchFamily="49" charset="-122"/>
                        <a:cs typeface="Times New Roman" panose="02020603050405020304" pitchFamily="18" charset="0"/>
                      </a:endParaRPr>
                    </a:p>
                  </a:txBody>
                  <a:tcPr marL="0" marR="0" marT="215900"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BEDF4"/>
                    </a:solidFill>
                  </a:tcPr>
                </a:tc>
                <a:tc>
                  <a:txBody>
                    <a:bodyPr/>
                    <a:lstStyle/>
                    <a:p>
                      <a:pPr marL="20955" algn="ctr">
                        <a:lnSpc>
                          <a:spcPct val="100000"/>
                        </a:lnSpc>
                        <a:spcBef>
                          <a:spcPts val="1025"/>
                        </a:spcBef>
                      </a:pPr>
                      <a:endParaRPr sz="2800" dirty="0">
                        <a:latin typeface="Times New Roman" panose="02020603050405020304" pitchFamily="18" charset="0"/>
                        <a:ea typeface="黑体" panose="02010609060101010101" pitchFamily="49" charset="-122"/>
                        <a:cs typeface="Times New Roman" panose="02020603050405020304" pitchFamily="18" charset="0"/>
                      </a:endParaRPr>
                    </a:p>
                  </a:txBody>
                  <a:tcPr marL="0" marR="0" marT="173567"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BEDF4"/>
                    </a:solidFill>
                  </a:tcPr>
                </a:tc>
              </a:tr>
              <a:tr h="768772">
                <a:tc>
                  <a:txBody>
                    <a:bodyPr/>
                    <a:lstStyle/>
                    <a:p>
                      <a:pPr algn="ctr">
                        <a:lnSpc>
                          <a:spcPct val="100000"/>
                        </a:lnSpc>
                        <a:spcBef>
                          <a:spcPts val="1275"/>
                        </a:spcBef>
                      </a:pPr>
                      <a:r>
                        <a:rPr sz="2800" b="1" i="1" spc="-5" dirty="0">
                          <a:latin typeface="Times New Roman" panose="02020603050405020304" pitchFamily="18" charset="0"/>
                          <a:ea typeface="黑体" panose="02010609060101010101" pitchFamily="49" charset="-122"/>
                          <a:cs typeface="Times New Roman" panose="02020603050405020304" pitchFamily="18" charset="0"/>
                        </a:rPr>
                        <a:t>B</a:t>
                      </a:r>
                      <a:r>
                        <a:rPr sz="2800" b="1" spc="5" dirty="0">
                          <a:latin typeface="Times New Roman" panose="02020603050405020304" pitchFamily="18" charset="0"/>
                          <a:ea typeface="黑体" panose="02010609060101010101" pitchFamily="49" charset="-122"/>
                          <a:cs typeface="Times New Roman" panose="02020603050405020304" pitchFamily="18" charset="0"/>
                        </a:rPr>
                        <a:t>是好的</a:t>
                      </a:r>
                      <a:endParaRPr sz="2800">
                        <a:latin typeface="Times New Roman" panose="02020603050405020304" pitchFamily="18" charset="0"/>
                        <a:ea typeface="黑体" panose="02010609060101010101" pitchFamily="49" charset="-122"/>
                        <a:cs typeface="Times New Roman" panose="02020603050405020304" pitchFamily="18" charset="0"/>
                      </a:endParaRPr>
                    </a:p>
                  </a:txBody>
                  <a:tcPr marL="0" marR="0" marT="215900"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BEDF4"/>
                    </a:solidFill>
                  </a:tcPr>
                </a:tc>
                <a:tc>
                  <a:txBody>
                    <a:bodyPr/>
                    <a:lstStyle/>
                    <a:p>
                      <a:pPr marL="102235">
                        <a:lnSpc>
                          <a:spcPct val="100000"/>
                        </a:lnSpc>
                        <a:spcBef>
                          <a:spcPts val="1275"/>
                        </a:spcBef>
                      </a:pPr>
                      <a:r>
                        <a:rPr sz="2800" b="1" i="1" spc="-5" dirty="0">
                          <a:latin typeface="Times New Roman" panose="02020603050405020304" pitchFamily="18" charset="0"/>
                          <a:ea typeface="黑体" panose="02010609060101010101" pitchFamily="49" charset="-122"/>
                          <a:cs typeface="Times New Roman" panose="02020603050405020304" pitchFamily="18" charset="0"/>
                        </a:rPr>
                        <a:t>A</a:t>
                      </a:r>
                      <a:r>
                        <a:rPr sz="2800" b="1" spc="5" dirty="0">
                          <a:latin typeface="Times New Roman" panose="02020603050405020304" pitchFamily="18" charset="0"/>
                          <a:ea typeface="黑体" panose="02010609060101010101" pitchFamily="49" charset="-122"/>
                          <a:cs typeface="Times New Roman" panose="02020603050405020304" pitchFamily="18" charset="0"/>
                        </a:rPr>
                        <a:t>是坏的</a:t>
                      </a:r>
                      <a:endParaRPr sz="2800" dirty="0">
                        <a:latin typeface="Times New Roman" panose="02020603050405020304" pitchFamily="18" charset="0"/>
                        <a:ea typeface="黑体" panose="02010609060101010101" pitchFamily="49" charset="-122"/>
                        <a:cs typeface="Times New Roman" panose="02020603050405020304" pitchFamily="18" charset="0"/>
                      </a:endParaRPr>
                    </a:p>
                  </a:txBody>
                  <a:tcPr marL="0" marR="0" marT="215900"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BEDF4"/>
                    </a:solidFill>
                  </a:tcPr>
                </a:tc>
                <a:tc>
                  <a:txBody>
                    <a:bodyPr/>
                    <a:lstStyle/>
                    <a:p>
                      <a:pPr marL="8255" algn="ctr">
                        <a:lnSpc>
                          <a:spcPct val="100000"/>
                        </a:lnSpc>
                        <a:spcBef>
                          <a:spcPts val="1285"/>
                        </a:spcBef>
                      </a:pPr>
                      <a:endParaRPr sz="2800" dirty="0">
                        <a:latin typeface="Times New Roman" panose="02020603050405020304" pitchFamily="18" charset="0"/>
                        <a:ea typeface="黑体" panose="02010609060101010101" pitchFamily="49" charset="-122"/>
                        <a:cs typeface="Times New Roman" panose="02020603050405020304" pitchFamily="18" charset="0"/>
                      </a:endParaRPr>
                    </a:p>
                  </a:txBody>
                  <a:tcPr marL="0" marR="0" marT="217593"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BEDF4"/>
                    </a:solidFill>
                  </a:tcPr>
                </a:tc>
              </a:tr>
              <a:tr h="768773">
                <a:tc>
                  <a:txBody>
                    <a:bodyPr/>
                    <a:lstStyle/>
                    <a:p>
                      <a:pPr algn="ctr">
                        <a:lnSpc>
                          <a:spcPct val="100000"/>
                        </a:lnSpc>
                        <a:spcBef>
                          <a:spcPts val="1275"/>
                        </a:spcBef>
                      </a:pPr>
                      <a:r>
                        <a:rPr sz="2800" b="1" i="1" spc="-5" dirty="0">
                          <a:latin typeface="Times New Roman" panose="02020603050405020304" pitchFamily="18" charset="0"/>
                          <a:ea typeface="黑体" panose="02010609060101010101" pitchFamily="49" charset="-122"/>
                          <a:cs typeface="Times New Roman" panose="02020603050405020304" pitchFamily="18" charset="0"/>
                        </a:rPr>
                        <a:t>B</a:t>
                      </a:r>
                      <a:r>
                        <a:rPr sz="2800" b="1" spc="5" dirty="0">
                          <a:latin typeface="Times New Roman" panose="02020603050405020304" pitchFamily="18" charset="0"/>
                          <a:ea typeface="黑体" panose="02010609060101010101" pitchFamily="49" charset="-122"/>
                          <a:cs typeface="Times New Roman" panose="02020603050405020304" pitchFamily="18" charset="0"/>
                        </a:rPr>
                        <a:t>是坏的</a:t>
                      </a:r>
                      <a:endParaRPr sz="2800">
                        <a:latin typeface="Times New Roman" panose="02020603050405020304" pitchFamily="18" charset="0"/>
                        <a:ea typeface="黑体" panose="02010609060101010101" pitchFamily="49" charset="-122"/>
                        <a:cs typeface="Times New Roman" panose="02020603050405020304" pitchFamily="18" charset="0"/>
                      </a:endParaRPr>
                    </a:p>
                  </a:txBody>
                  <a:tcPr marL="0" marR="0" marT="215900"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BEDF4"/>
                    </a:solidFill>
                  </a:tcPr>
                </a:tc>
                <a:tc>
                  <a:txBody>
                    <a:bodyPr/>
                    <a:lstStyle/>
                    <a:p>
                      <a:pPr marL="102235">
                        <a:lnSpc>
                          <a:spcPct val="100000"/>
                        </a:lnSpc>
                        <a:spcBef>
                          <a:spcPts val="1275"/>
                        </a:spcBef>
                      </a:pPr>
                      <a:r>
                        <a:rPr sz="2800" b="1" i="1" spc="-5" dirty="0">
                          <a:latin typeface="Times New Roman" panose="02020603050405020304" pitchFamily="18" charset="0"/>
                          <a:ea typeface="黑体" panose="02010609060101010101" pitchFamily="49" charset="-122"/>
                          <a:cs typeface="Times New Roman" panose="02020603050405020304" pitchFamily="18" charset="0"/>
                        </a:rPr>
                        <a:t>A</a:t>
                      </a:r>
                      <a:r>
                        <a:rPr sz="2800" b="1" spc="5" dirty="0">
                          <a:latin typeface="Times New Roman" panose="02020603050405020304" pitchFamily="18" charset="0"/>
                          <a:ea typeface="黑体" panose="02010609060101010101" pitchFamily="49" charset="-122"/>
                          <a:cs typeface="Times New Roman" panose="02020603050405020304" pitchFamily="18" charset="0"/>
                        </a:rPr>
                        <a:t>是好的</a:t>
                      </a:r>
                      <a:endParaRPr sz="2800">
                        <a:latin typeface="Times New Roman" panose="02020603050405020304" pitchFamily="18" charset="0"/>
                        <a:ea typeface="黑体" panose="02010609060101010101" pitchFamily="49" charset="-122"/>
                        <a:cs typeface="Times New Roman" panose="02020603050405020304" pitchFamily="18" charset="0"/>
                      </a:endParaRPr>
                    </a:p>
                  </a:txBody>
                  <a:tcPr marL="0" marR="0" marT="215900"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BEDF4"/>
                    </a:solidFill>
                  </a:tcPr>
                </a:tc>
                <a:tc>
                  <a:txBody>
                    <a:bodyPr/>
                    <a:lstStyle/>
                    <a:p>
                      <a:pPr marL="8255" algn="ctr">
                        <a:lnSpc>
                          <a:spcPct val="100000"/>
                        </a:lnSpc>
                        <a:spcBef>
                          <a:spcPts val="980"/>
                        </a:spcBef>
                      </a:pPr>
                      <a:endParaRPr sz="2800" dirty="0">
                        <a:latin typeface="Times New Roman" panose="02020603050405020304" pitchFamily="18" charset="0"/>
                        <a:ea typeface="黑体" panose="02010609060101010101" pitchFamily="49" charset="-122"/>
                        <a:cs typeface="Times New Roman" panose="02020603050405020304" pitchFamily="18" charset="0"/>
                      </a:endParaRPr>
                    </a:p>
                  </a:txBody>
                  <a:tcPr marL="0" marR="0" marT="165947"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BEDF4"/>
                    </a:solidFill>
                  </a:tcPr>
                </a:tc>
              </a:tr>
              <a:tr h="768840">
                <a:tc>
                  <a:txBody>
                    <a:bodyPr/>
                    <a:lstStyle/>
                    <a:p>
                      <a:pPr algn="ctr">
                        <a:lnSpc>
                          <a:spcPct val="100000"/>
                        </a:lnSpc>
                        <a:spcBef>
                          <a:spcPts val="1280"/>
                        </a:spcBef>
                      </a:pPr>
                      <a:r>
                        <a:rPr sz="2800" b="1" i="1" spc="-5" dirty="0">
                          <a:latin typeface="Times New Roman" panose="02020603050405020304" pitchFamily="18" charset="0"/>
                          <a:ea typeface="黑体" panose="02010609060101010101" pitchFamily="49" charset="-122"/>
                          <a:cs typeface="Times New Roman" panose="02020603050405020304" pitchFamily="18" charset="0"/>
                        </a:rPr>
                        <a:t>B</a:t>
                      </a:r>
                      <a:r>
                        <a:rPr sz="2800" b="1" spc="5" dirty="0">
                          <a:latin typeface="Times New Roman" panose="02020603050405020304" pitchFamily="18" charset="0"/>
                          <a:ea typeface="黑体" panose="02010609060101010101" pitchFamily="49" charset="-122"/>
                          <a:cs typeface="Times New Roman" panose="02020603050405020304" pitchFamily="18" charset="0"/>
                        </a:rPr>
                        <a:t>是坏的</a:t>
                      </a:r>
                      <a:endParaRPr sz="2800">
                        <a:latin typeface="Times New Roman" panose="02020603050405020304" pitchFamily="18" charset="0"/>
                        <a:ea typeface="黑体" panose="02010609060101010101" pitchFamily="49" charset="-122"/>
                        <a:cs typeface="Times New Roman" panose="02020603050405020304" pitchFamily="18" charset="0"/>
                      </a:endParaRPr>
                    </a:p>
                  </a:txBody>
                  <a:tcPr marL="0" marR="0" marT="216747"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BEDF4"/>
                    </a:solidFill>
                  </a:tcPr>
                </a:tc>
                <a:tc>
                  <a:txBody>
                    <a:bodyPr/>
                    <a:lstStyle/>
                    <a:p>
                      <a:pPr marL="102235">
                        <a:lnSpc>
                          <a:spcPct val="100000"/>
                        </a:lnSpc>
                        <a:spcBef>
                          <a:spcPts val="1280"/>
                        </a:spcBef>
                      </a:pPr>
                      <a:r>
                        <a:rPr sz="2800" b="1" i="1" spc="-10" dirty="0">
                          <a:latin typeface="Times New Roman" panose="02020603050405020304" pitchFamily="18" charset="0"/>
                          <a:ea typeface="黑体" panose="02010609060101010101" pitchFamily="49" charset="-122"/>
                          <a:cs typeface="Times New Roman" panose="02020603050405020304" pitchFamily="18" charset="0"/>
                        </a:rPr>
                        <a:t>A</a:t>
                      </a:r>
                      <a:r>
                        <a:rPr sz="2800" b="1" dirty="0">
                          <a:latin typeface="Times New Roman" panose="02020603050405020304" pitchFamily="18" charset="0"/>
                          <a:ea typeface="黑体" panose="02010609060101010101" pitchFamily="49" charset="-122"/>
                          <a:cs typeface="Times New Roman" panose="02020603050405020304" pitchFamily="18" charset="0"/>
                        </a:rPr>
                        <a:t>是坏的</a:t>
                      </a:r>
                      <a:endParaRPr sz="2800">
                        <a:latin typeface="Times New Roman" panose="02020603050405020304" pitchFamily="18" charset="0"/>
                        <a:ea typeface="黑体" panose="02010609060101010101" pitchFamily="49" charset="-122"/>
                        <a:cs typeface="Times New Roman" panose="02020603050405020304" pitchFamily="18" charset="0"/>
                      </a:endParaRPr>
                    </a:p>
                  </a:txBody>
                  <a:tcPr marL="0" marR="0" marT="216747"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BEDF4"/>
                    </a:solidFill>
                  </a:tcPr>
                </a:tc>
                <a:tc>
                  <a:txBody>
                    <a:bodyPr/>
                    <a:lstStyle/>
                    <a:p>
                      <a:pPr marL="8255" algn="ctr">
                        <a:lnSpc>
                          <a:spcPct val="100000"/>
                        </a:lnSpc>
                        <a:spcBef>
                          <a:spcPts val="1205"/>
                        </a:spcBef>
                      </a:pPr>
                      <a:endParaRPr sz="2800" dirty="0">
                        <a:latin typeface="Times New Roman" panose="02020603050405020304" pitchFamily="18" charset="0"/>
                        <a:ea typeface="黑体" panose="02010609060101010101" pitchFamily="49" charset="-122"/>
                        <a:cs typeface="Times New Roman" panose="02020603050405020304" pitchFamily="18" charset="0"/>
                      </a:endParaRPr>
                    </a:p>
                  </a:txBody>
                  <a:tcPr marL="0" marR="0" marT="204047"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DBEDF4"/>
                    </a:solidFill>
                  </a:tcPr>
                </a:tc>
              </a:tr>
            </a:tbl>
          </a:graphicData>
        </a:graphic>
      </p:graphicFrame>
      <p:sp>
        <p:nvSpPr>
          <p:cNvPr id="3" name="object 3"/>
          <p:cNvSpPr txBox="1">
            <a:spLocks noGrp="1"/>
          </p:cNvSpPr>
          <p:nvPr>
            <p:ph type="title"/>
          </p:nvPr>
        </p:nvSpPr>
        <p:spPr>
          <a:xfrm>
            <a:off x="132283" y="45044"/>
            <a:ext cx="8891752"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测试结果分析</a:t>
            </a:r>
            <a:endParaRPr sz="4400" b="1" spc="-13" dirty="0">
              <a:solidFill>
                <a:srgbClr val="C00000"/>
              </a:solidFill>
              <a:latin typeface="黑体" panose="02010609060101010101" pitchFamily="49" charset="-122"/>
              <a:ea typeface="黑体" panose="02010609060101010101" pitchFamily="49" charset="-122"/>
            </a:endParaRPr>
          </a:p>
        </p:txBody>
      </p:sp>
      <p:sp>
        <p:nvSpPr>
          <p:cNvPr id="4" name="矩形 3"/>
          <p:cNvSpPr/>
          <p:nvPr/>
        </p:nvSpPr>
        <p:spPr>
          <a:xfrm>
            <a:off x="4389364" y="2643906"/>
            <a:ext cx="3517438" cy="523220"/>
          </a:xfrm>
          <a:prstGeom prst="rect">
            <a:avLst/>
          </a:prstGeom>
        </p:spPr>
        <p:txBody>
          <a:bodyPr wrap="none">
            <a:spAutoFit/>
          </a:bodyPr>
          <a:lstStyle/>
          <a:p>
            <a:pPr marL="20955" algn="ctr">
              <a:spcBef>
                <a:spcPts val="1025"/>
              </a:spcBef>
            </a:pPr>
            <a:r>
              <a:rPr lang="pt-BR" altLang="zh-CN" sz="2800" b="1" i="1" spc="-5" dirty="0">
                <a:latin typeface="Times New Roman" panose="02020603050405020304" pitchFamily="18" charset="0"/>
                <a:ea typeface="黑体" panose="02010609060101010101" pitchFamily="49" charset="-122"/>
                <a:cs typeface="Times New Roman" panose="02020603050405020304" pitchFamily="18" charset="0"/>
              </a:rPr>
              <a:t>A</a:t>
            </a:r>
            <a:r>
              <a:rPr lang="pt-BR" altLang="zh-CN" sz="2800" b="1" spc="-5" dirty="0">
                <a:latin typeface="Times New Roman" panose="02020603050405020304" pitchFamily="18" charset="0"/>
                <a:ea typeface="黑体" panose="02010609060101010101" pitchFamily="49" charset="-122"/>
                <a:cs typeface="Times New Roman" panose="02020603050405020304" pitchFamily="18" charset="0"/>
              </a:rPr>
              <a:t>,</a:t>
            </a:r>
            <a:r>
              <a:rPr lang="pt-BR" altLang="zh-CN" sz="2800" b="1" spc="-20" dirty="0">
                <a:latin typeface="Times New Roman" panose="02020603050405020304" pitchFamily="18" charset="0"/>
                <a:ea typeface="黑体" panose="02010609060101010101" pitchFamily="49" charset="-122"/>
                <a:cs typeface="Times New Roman" panose="02020603050405020304" pitchFamily="18" charset="0"/>
              </a:rPr>
              <a:t> </a:t>
            </a:r>
            <a:r>
              <a:rPr lang="pt-BR" altLang="zh-CN" sz="2800" b="1" i="1" dirty="0">
                <a:latin typeface="Times New Roman" panose="02020603050405020304" pitchFamily="18" charset="0"/>
                <a:ea typeface="黑体" panose="02010609060101010101" pitchFamily="49" charset="-122"/>
                <a:cs typeface="Times New Roman" panose="02020603050405020304" pitchFamily="18" charset="0"/>
              </a:rPr>
              <a:t>B</a:t>
            </a:r>
            <a:r>
              <a:rPr lang="pt-BR" altLang="zh-CN" sz="2800" b="1" i="1" spc="-15" dirty="0">
                <a:latin typeface="Times New Roman" panose="02020603050405020304" pitchFamily="18" charset="0"/>
                <a:ea typeface="黑体" panose="02010609060101010101" pitchFamily="49" charset="-122"/>
                <a:cs typeface="Times New Roman" panose="02020603050405020304" pitchFamily="18" charset="0"/>
              </a:rPr>
              <a:t> </a:t>
            </a:r>
            <a:r>
              <a:rPr lang="zh-CN" altLang="pt-BR" sz="2800" b="1" dirty="0">
                <a:latin typeface="Times New Roman" panose="02020603050405020304" pitchFamily="18" charset="0"/>
                <a:ea typeface="黑体" panose="02010609060101010101" pitchFamily="49" charset="-122"/>
                <a:cs typeface="Times New Roman" panose="02020603050405020304" pitchFamily="18" charset="0"/>
              </a:rPr>
              <a:t>都好</a:t>
            </a:r>
            <a:r>
              <a:rPr lang="zh-CN" altLang="pt-BR" sz="2800" b="1" spc="-5" dirty="0">
                <a:latin typeface="Times New Roman" panose="02020603050405020304" pitchFamily="18" charset="0"/>
                <a:ea typeface="黑体" panose="02010609060101010101" pitchFamily="49" charset="-122"/>
                <a:cs typeface="Times New Roman" panose="02020603050405020304" pitchFamily="18" charset="0"/>
              </a:rPr>
              <a:t>或</a:t>
            </a:r>
            <a:r>
              <a:rPr lang="pt-BR" altLang="zh-CN" sz="2800" b="1" spc="-509" dirty="0">
                <a:latin typeface="Times New Roman" panose="02020603050405020304" pitchFamily="18" charset="0"/>
                <a:ea typeface="黑体" panose="02010609060101010101" pitchFamily="49" charset="-122"/>
                <a:cs typeface="Times New Roman" panose="02020603050405020304" pitchFamily="18" charset="0"/>
              </a:rPr>
              <a:t> </a:t>
            </a:r>
            <a:r>
              <a:rPr lang="pt-BR" altLang="zh-CN" sz="2800" b="1" i="1" spc="-5" dirty="0">
                <a:latin typeface="Times New Roman" panose="02020603050405020304" pitchFamily="18" charset="0"/>
                <a:ea typeface="黑体" panose="02010609060101010101" pitchFamily="49" charset="-122"/>
                <a:cs typeface="Times New Roman" panose="02020603050405020304" pitchFamily="18" charset="0"/>
              </a:rPr>
              <a:t>A</a:t>
            </a:r>
            <a:r>
              <a:rPr lang="pt-BR" altLang="zh-CN" sz="2800" b="1" spc="-5" dirty="0">
                <a:latin typeface="Times New Roman" panose="02020603050405020304" pitchFamily="18" charset="0"/>
                <a:ea typeface="黑体" panose="02010609060101010101" pitchFamily="49" charset="-122"/>
                <a:cs typeface="Times New Roman" panose="02020603050405020304" pitchFamily="18" charset="0"/>
              </a:rPr>
              <a:t>, </a:t>
            </a:r>
            <a:r>
              <a:rPr lang="pt-BR" altLang="zh-CN" sz="2800" b="1" i="1" dirty="0">
                <a:latin typeface="Times New Roman" panose="02020603050405020304" pitchFamily="18" charset="0"/>
                <a:ea typeface="黑体" panose="02010609060101010101" pitchFamily="49" charset="-122"/>
                <a:cs typeface="Times New Roman" panose="02020603050405020304" pitchFamily="18" charset="0"/>
              </a:rPr>
              <a:t>B</a:t>
            </a:r>
            <a:r>
              <a:rPr lang="pt-BR" altLang="zh-CN" sz="2800" b="1" i="1" spc="-15" dirty="0">
                <a:latin typeface="Times New Roman" panose="02020603050405020304" pitchFamily="18" charset="0"/>
                <a:ea typeface="黑体" panose="02010609060101010101" pitchFamily="49" charset="-122"/>
                <a:cs typeface="Times New Roman" panose="02020603050405020304" pitchFamily="18" charset="0"/>
              </a:rPr>
              <a:t> </a:t>
            </a:r>
            <a:r>
              <a:rPr lang="zh-CN" altLang="pt-BR" sz="2800" b="1" dirty="0">
                <a:latin typeface="Times New Roman" panose="02020603050405020304" pitchFamily="18" charset="0"/>
                <a:ea typeface="黑体" panose="02010609060101010101" pitchFamily="49" charset="-122"/>
                <a:cs typeface="Times New Roman" panose="02020603050405020304" pitchFamily="18" charset="0"/>
              </a:rPr>
              <a:t>都坏</a:t>
            </a:r>
            <a:endParaRPr lang="pt-BR" altLang="zh-CN"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矩形 4"/>
          <p:cNvSpPr/>
          <p:nvPr/>
        </p:nvSpPr>
        <p:spPr>
          <a:xfrm>
            <a:off x="4571208" y="3391397"/>
            <a:ext cx="2711000" cy="523220"/>
          </a:xfrm>
          <a:prstGeom prst="rect">
            <a:avLst/>
          </a:prstGeom>
        </p:spPr>
        <p:txBody>
          <a:bodyPr wrap="none">
            <a:spAutoFit/>
          </a:bodyPr>
          <a:lstStyle/>
          <a:p>
            <a:pPr marL="8255" algn="ctr">
              <a:spcBef>
                <a:spcPts val="1285"/>
              </a:spcBef>
            </a:pPr>
            <a:r>
              <a:rPr lang="zh-CN" altLang="en-US" sz="2800" b="1" spc="5" dirty="0">
                <a:latin typeface="Times New Roman" panose="02020603050405020304" pitchFamily="18" charset="0"/>
                <a:ea typeface="黑体" panose="02010609060101010101" pitchFamily="49" charset="-122"/>
                <a:cs typeface="Times New Roman" panose="02020603050405020304" pitchFamily="18" charset="0"/>
              </a:rPr>
              <a:t>至少一片是坏的</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矩形 5"/>
          <p:cNvSpPr/>
          <p:nvPr/>
        </p:nvSpPr>
        <p:spPr>
          <a:xfrm>
            <a:off x="4571208" y="4155464"/>
            <a:ext cx="2711000" cy="523220"/>
          </a:xfrm>
          <a:prstGeom prst="rect">
            <a:avLst/>
          </a:prstGeom>
        </p:spPr>
        <p:txBody>
          <a:bodyPr wrap="none">
            <a:spAutoFit/>
          </a:bodyPr>
          <a:lstStyle/>
          <a:p>
            <a:pPr marL="8255" algn="ctr">
              <a:spcBef>
                <a:spcPts val="980"/>
              </a:spcBef>
            </a:pPr>
            <a:r>
              <a:rPr lang="zh-CN" altLang="en-US" sz="2800" b="1" spc="5" dirty="0">
                <a:latin typeface="Times New Roman" panose="02020603050405020304" pitchFamily="18" charset="0"/>
                <a:ea typeface="黑体" panose="02010609060101010101" pitchFamily="49" charset="-122"/>
                <a:cs typeface="Times New Roman" panose="02020603050405020304" pitchFamily="18" charset="0"/>
              </a:rPr>
              <a:t>至少一片是坏的</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矩形 6"/>
          <p:cNvSpPr/>
          <p:nvPr/>
        </p:nvSpPr>
        <p:spPr>
          <a:xfrm>
            <a:off x="4596634" y="4939235"/>
            <a:ext cx="2711000" cy="523220"/>
          </a:xfrm>
          <a:prstGeom prst="rect">
            <a:avLst/>
          </a:prstGeom>
        </p:spPr>
        <p:txBody>
          <a:bodyPr wrap="none">
            <a:spAutoFit/>
          </a:bodyPr>
          <a:lstStyle/>
          <a:p>
            <a:pPr marL="8255" algn="ctr">
              <a:spcBef>
                <a:spcPts val="1205"/>
              </a:spcBef>
            </a:pPr>
            <a:r>
              <a:rPr lang="zh-CN" altLang="en-US" sz="2800" b="1" spc="5" dirty="0">
                <a:latin typeface="Times New Roman" panose="02020603050405020304" pitchFamily="18" charset="0"/>
                <a:ea typeface="黑体" panose="02010609060101010101" pitchFamily="49" charset="-122"/>
                <a:cs typeface="Times New Roman" panose="02020603050405020304" pitchFamily="18" charset="0"/>
              </a:rPr>
              <a:t>至少一片是坏的</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3269" y="27507"/>
            <a:ext cx="8870731"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问题</a:t>
            </a:r>
            <a:endParaRPr sz="4400" b="1" spc="-13" dirty="0">
              <a:solidFill>
                <a:srgbClr val="C00000"/>
              </a:solidFill>
              <a:latin typeface="黑体" panose="02010609060101010101" pitchFamily="49" charset="-122"/>
              <a:ea typeface="黑体" panose="02010609060101010101" pitchFamily="49" charset="-122"/>
            </a:endParaRPr>
          </a:p>
        </p:txBody>
      </p:sp>
      <p:sp>
        <p:nvSpPr>
          <p:cNvPr id="4" name="object 4"/>
          <p:cNvSpPr txBox="1"/>
          <p:nvPr/>
        </p:nvSpPr>
        <p:spPr>
          <a:xfrm>
            <a:off x="596899" y="1115859"/>
            <a:ext cx="8013701" cy="3989169"/>
          </a:xfrm>
          <a:prstGeom prst="rect">
            <a:avLst/>
          </a:prstGeom>
        </p:spPr>
        <p:txBody>
          <a:bodyPr vert="horz" wrap="square" lIns="0" tIns="17780" rIns="0" bIns="0" rtlCol="0">
            <a:spAutoFit/>
          </a:bodyPr>
          <a:lstStyle/>
          <a:p>
            <a:pPr marL="17145" algn="just">
              <a:spcBef>
                <a:spcPts val="140"/>
              </a:spcBef>
            </a:pPr>
            <a:r>
              <a:rPr sz="32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输</a:t>
            </a:r>
            <a:r>
              <a:rPr sz="3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入</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17145" marR="89535" algn="just">
              <a:lnSpc>
                <a:spcPct val="102000"/>
              </a:lnSpc>
              <a:spcBef>
                <a:spcPts val="15"/>
              </a:spcBef>
            </a:pPr>
            <a:r>
              <a:rPr lang="en-US" sz="2800" b="1" i="1"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n</a:t>
            </a:r>
            <a:r>
              <a:rPr sz="2800" b="1" dirty="0">
                <a:solidFill>
                  <a:srgbClr val="0D0D0D"/>
                </a:solidFill>
                <a:latin typeface="Times New Roman" panose="02020603050405020304" pitchFamily="18" charset="0"/>
                <a:ea typeface="黑体" panose="02010609060101010101" pitchFamily="49" charset="-122"/>
                <a:cs typeface="Times New Roman" panose="02020603050405020304" pitchFamily="18" charset="0"/>
              </a:rPr>
              <a:t>片芯片，其</a:t>
            </a:r>
            <a:r>
              <a:rPr sz="2800" b="1" spc="-7" dirty="0">
                <a:solidFill>
                  <a:srgbClr val="0D0D0D"/>
                </a:solidFill>
                <a:latin typeface="Times New Roman" panose="02020603050405020304" pitchFamily="18" charset="0"/>
                <a:ea typeface="黑体" panose="02010609060101010101" pitchFamily="49" charset="-122"/>
                <a:cs typeface="Times New Roman" panose="02020603050405020304" pitchFamily="18" charset="0"/>
              </a:rPr>
              <a:t>中</a:t>
            </a:r>
            <a:r>
              <a:rPr sz="2800" b="1" dirty="0">
                <a:solidFill>
                  <a:srgbClr val="0D0D0D"/>
                </a:solidFill>
                <a:latin typeface="Times New Roman" panose="02020603050405020304" pitchFamily="18" charset="0"/>
                <a:ea typeface="黑体" panose="02010609060101010101" pitchFamily="49" charset="-122"/>
                <a:cs typeface="Times New Roman" panose="02020603050405020304" pitchFamily="18" charset="0"/>
              </a:rPr>
              <a:t>好芯片至少比坏</a:t>
            </a:r>
            <a:r>
              <a:rPr sz="2800" b="1" spc="7" dirty="0">
                <a:solidFill>
                  <a:srgbClr val="0D0D0D"/>
                </a:solidFill>
                <a:latin typeface="Times New Roman" panose="02020603050405020304" pitchFamily="18" charset="0"/>
                <a:ea typeface="黑体" panose="02010609060101010101" pitchFamily="49" charset="-122"/>
                <a:cs typeface="Times New Roman" panose="02020603050405020304" pitchFamily="18" charset="0"/>
              </a:rPr>
              <a:t>芯片</a:t>
            </a:r>
            <a:r>
              <a:rPr sz="2800" b="1" spc="-7" dirty="0">
                <a:solidFill>
                  <a:srgbClr val="0D0D0D"/>
                </a:solidFill>
                <a:latin typeface="Times New Roman" panose="02020603050405020304" pitchFamily="18" charset="0"/>
                <a:ea typeface="黑体" panose="02010609060101010101" pitchFamily="49" charset="-122"/>
                <a:cs typeface="Times New Roman" panose="02020603050405020304" pitchFamily="18" charset="0"/>
              </a:rPr>
              <a:t>多</a:t>
            </a:r>
            <a:r>
              <a:rPr sz="2800" b="1" dirty="0">
                <a:solidFill>
                  <a:srgbClr val="0D0D0D"/>
                </a:solidFill>
                <a:latin typeface="Times New Roman" panose="02020603050405020304" pitchFamily="18" charset="0"/>
                <a:ea typeface="黑体" panose="02010609060101010101" pitchFamily="49" charset="-122"/>
                <a:cs typeface="Times New Roman" panose="02020603050405020304" pitchFamily="18" charset="0"/>
              </a:rPr>
              <a:t>1片.</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algn="just">
              <a:spcBef>
                <a:spcPts val="45"/>
              </a:spcBef>
            </a:pP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17145" algn="just">
              <a:spcBef>
                <a:spcPts val="5"/>
              </a:spcBef>
            </a:pPr>
            <a:r>
              <a:rPr sz="32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问</a:t>
            </a:r>
            <a:r>
              <a:rPr sz="3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题</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17145" algn="just">
              <a:spcBef>
                <a:spcPts val="915"/>
              </a:spcBef>
            </a:pPr>
            <a:r>
              <a:rPr lang="en-US" sz="2800" b="1" dirty="0">
                <a:latin typeface="Times New Roman" panose="02020603050405020304" pitchFamily="18" charset="0"/>
                <a:ea typeface="黑体" panose="02010609060101010101" pitchFamily="49" charset="-122"/>
                <a:cs typeface="Times New Roman" panose="02020603050405020304" pitchFamily="18" charset="0"/>
              </a:rPr>
              <a:t>      </a:t>
            </a:r>
            <a:r>
              <a:rPr sz="2800" b="1" dirty="0" err="1">
                <a:latin typeface="Times New Roman" panose="02020603050405020304" pitchFamily="18" charset="0"/>
                <a:ea typeface="黑体" panose="02010609060101010101" pitchFamily="49" charset="-122"/>
                <a:cs typeface="Times New Roman" panose="02020603050405020304" pitchFamily="18" charset="0"/>
              </a:rPr>
              <a:t>设计一种测试方法</a:t>
            </a:r>
            <a:r>
              <a:rPr sz="2800" b="1" spc="-20" dirty="0" err="1">
                <a:latin typeface="Times New Roman" panose="02020603050405020304" pitchFamily="18" charset="0"/>
                <a:ea typeface="黑体" panose="02010609060101010101" pitchFamily="49" charset="-122"/>
                <a:cs typeface="Times New Roman" panose="02020603050405020304" pitchFamily="18" charset="0"/>
              </a:rPr>
              <a:t>，</a:t>
            </a:r>
            <a:r>
              <a:rPr sz="2800" b="1" dirty="0" err="1">
                <a:latin typeface="Times New Roman" panose="02020603050405020304" pitchFamily="18" charset="0"/>
                <a:ea typeface="黑体" panose="02010609060101010101" pitchFamily="49" charset="-122"/>
                <a:cs typeface="Times New Roman" panose="02020603050405020304" pitchFamily="18" charset="0"/>
              </a:rPr>
              <a:t>通过测</a:t>
            </a:r>
            <a:r>
              <a:rPr sz="2800" b="1" spc="-13" dirty="0" err="1">
                <a:latin typeface="Times New Roman" panose="02020603050405020304" pitchFamily="18" charset="0"/>
                <a:ea typeface="黑体" panose="02010609060101010101" pitchFamily="49" charset="-122"/>
                <a:cs typeface="Times New Roman" panose="02020603050405020304" pitchFamily="18" charset="0"/>
              </a:rPr>
              <a:t>试从</a:t>
            </a:r>
            <a:r>
              <a:rPr lang="pt-BR" sz="2800" b="1" spc="-13" dirty="0">
                <a:latin typeface="Times New Roman" panose="02020603050405020304" pitchFamily="18" charset="0"/>
                <a:ea typeface="黑体" panose="02010609060101010101" pitchFamily="49" charset="-122"/>
                <a:cs typeface="Times New Roman" panose="02020603050405020304" pitchFamily="18" charset="0"/>
              </a:rPr>
              <a:t>n片芯片中挑出 1 片好芯片.</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17145" algn="just">
              <a:spcBef>
                <a:spcPts val="3600"/>
              </a:spcBef>
            </a:pPr>
            <a:r>
              <a:rPr sz="32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要求</a:t>
            </a:r>
            <a:r>
              <a:rPr sz="3200" b="1" dirty="0" err="1">
                <a:latin typeface="Times New Roman" panose="02020603050405020304" pitchFamily="18" charset="0"/>
                <a:ea typeface="黑体" panose="02010609060101010101" pitchFamily="49" charset="-122"/>
                <a:cs typeface="Times New Roman" panose="02020603050405020304" pitchFamily="18" charset="0"/>
              </a:rPr>
              <a:t>：</a:t>
            </a:r>
            <a:r>
              <a:rPr sz="2800" b="1" dirty="0" err="1">
                <a:latin typeface="Times New Roman" panose="02020603050405020304" pitchFamily="18" charset="0"/>
                <a:ea typeface="黑体" panose="02010609060101010101" pitchFamily="49" charset="-122"/>
                <a:cs typeface="Times New Roman" panose="02020603050405020304" pitchFamily="18" charset="0"/>
              </a:rPr>
              <a:t>使用最少的测试次</a:t>
            </a:r>
            <a:r>
              <a:rPr sz="2800" b="1" spc="-20" dirty="0" err="1">
                <a:latin typeface="Times New Roman" panose="02020603050405020304" pitchFamily="18" charset="0"/>
                <a:ea typeface="黑体" panose="02010609060101010101" pitchFamily="49" charset="-122"/>
                <a:cs typeface="Times New Roman" panose="02020603050405020304" pitchFamily="18" charset="0"/>
              </a:rPr>
              <a:t>数</a:t>
            </a:r>
            <a:r>
              <a:rPr sz="2800" b="1" spc="-13" dirty="0">
                <a:latin typeface="宋体" panose="02010600030101010101" pitchFamily="2" charset="-122"/>
                <a:cs typeface="宋体" panose="02010600030101010101" pitchFamily="2" charset="-122"/>
              </a:rPr>
              <a:t>.</a:t>
            </a:r>
            <a:endParaRPr sz="2800" dirty="0">
              <a:latin typeface="宋体" panose="02010600030101010101" pitchFamily="2" charset="-122"/>
              <a:cs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5649" y="51311"/>
            <a:ext cx="8838351"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判定芯片</a:t>
            </a:r>
            <a:r>
              <a:rPr sz="4400" b="1" i="1" spc="-7" dirty="0">
                <a:solidFill>
                  <a:srgbClr val="C00000"/>
                </a:solidFill>
                <a:latin typeface="黑体" panose="02010609060101010101" pitchFamily="49" charset="-122"/>
                <a:ea typeface="黑体" panose="02010609060101010101" pitchFamily="49" charset="-122"/>
                <a:cs typeface="Times New Roman" panose="02020603050405020304"/>
              </a:rPr>
              <a:t>A</a:t>
            </a:r>
            <a:r>
              <a:rPr sz="4400" b="1" i="1" spc="-413" dirty="0">
                <a:solidFill>
                  <a:srgbClr val="C00000"/>
                </a:solidFill>
                <a:latin typeface="黑体" panose="02010609060101010101" pitchFamily="49" charset="-122"/>
                <a:ea typeface="黑体" panose="02010609060101010101" pitchFamily="49" charset="-122"/>
                <a:cs typeface="Times New Roman" panose="02020603050405020304"/>
              </a:rPr>
              <a:t> </a:t>
            </a:r>
            <a:r>
              <a:rPr sz="4400" b="1" spc="-13" dirty="0">
                <a:solidFill>
                  <a:srgbClr val="C00000"/>
                </a:solidFill>
                <a:latin typeface="黑体" panose="02010609060101010101" pitchFamily="49" charset="-122"/>
                <a:ea typeface="黑体" panose="02010609060101010101" pitchFamily="49" charset="-122"/>
              </a:rPr>
              <a:t>的好坏</a:t>
            </a:r>
            <a:endParaRPr sz="4400" b="1" spc="-13" dirty="0">
              <a:solidFill>
                <a:srgbClr val="C00000"/>
              </a:solidFill>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3" name="object 3"/>
              <p:cNvSpPr txBox="1"/>
              <p:nvPr/>
            </p:nvSpPr>
            <p:spPr>
              <a:xfrm>
                <a:off x="558800" y="1089797"/>
                <a:ext cx="8115300" cy="5087620"/>
              </a:xfrm>
              <a:prstGeom prst="rect">
                <a:avLst/>
              </a:prstGeom>
            </p:spPr>
            <p:txBody>
              <a:bodyPr vert="horz" wrap="square" lIns="0" tIns="16933" rIns="0" bIns="0" rtlCol="0">
                <a:spAutoFit/>
              </a:bodyPr>
              <a:lstStyle/>
              <a:p>
                <a:pPr>
                  <a:spcBef>
                    <a:spcPts val="135"/>
                  </a:spcBef>
                </a:pPr>
                <a:r>
                  <a:rPr sz="2800" b="1" spc="-7"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问</a:t>
                </a:r>
                <a:r>
                  <a:rPr sz="28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题</a:t>
                </a:r>
                <a:r>
                  <a:rPr sz="2800" b="1" spc="-7" dirty="0" err="1">
                    <a:latin typeface="Times New Roman" panose="02020603050405020304" pitchFamily="18" charset="0"/>
                    <a:ea typeface="黑体" panose="02010609060101010101" pitchFamily="49" charset="-122"/>
                    <a:cs typeface="Times New Roman" panose="02020603050405020304" pitchFamily="18" charset="0"/>
                  </a:rPr>
                  <a:t>：给定芯片</a:t>
                </a:r>
                <a:r>
                  <a:rPr lang="en-US"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i="1" spc="-7" dirty="0">
                    <a:latin typeface="Times New Roman" panose="02020603050405020304" pitchFamily="18" charset="0"/>
                    <a:ea typeface="黑体" panose="02010609060101010101" pitchFamily="49" charset="-122"/>
                    <a:cs typeface="Times New Roman" panose="02020603050405020304" pitchFamily="18" charset="0"/>
                  </a:rPr>
                  <a:t>A</a:t>
                </a:r>
                <a:r>
                  <a:rPr lang="en-US" sz="2800" b="1" i="1" spc="-7"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r>
                  <a:rPr sz="2800" b="1" spc="-7" dirty="0" err="1">
                    <a:latin typeface="Times New Roman" panose="02020603050405020304" pitchFamily="18" charset="0"/>
                    <a:ea typeface="黑体" panose="02010609060101010101" pitchFamily="49" charset="-122"/>
                    <a:cs typeface="Times New Roman" panose="02020603050405020304" pitchFamily="18" charset="0"/>
                  </a:rPr>
                  <a:t>判定</a:t>
                </a:r>
                <a:r>
                  <a:rPr lang="en-US"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i="1" spc="-13" dirty="0">
                    <a:latin typeface="Times New Roman" panose="02020603050405020304" pitchFamily="18" charset="0"/>
                    <a:ea typeface="黑体" panose="02010609060101010101" pitchFamily="49" charset="-122"/>
                    <a:cs typeface="Times New Roman" panose="02020603050405020304" pitchFamily="18" charset="0"/>
                  </a:rPr>
                  <a:t>A</a:t>
                </a:r>
                <a:r>
                  <a:rPr lang="en-US" sz="2800" b="1" i="1" spc="-13"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err="1">
                    <a:latin typeface="Times New Roman" panose="02020603050405020304" pitchFamily="18" charset="0"/>
                    <a:ea typeface="黑体" panose="02010609060101010101" pitchFamily="49" charset="-122"/>
                    <a:cs typeface="Times New Roman" panose="02020603050405020304" pitchFamily="18" charset="0"/>
                  </a:rPr>
                  <a:t>的好坏</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r>
                  <a:rPr sz="28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方法</a:t>
                </a:r>
                <a:r>
                  <a:rPr sz="2800" b="1" dirty="0" err="1">
                    <a:latin typeface="Times New Roman" panose="02020603050405020304" pitchFamily="18" charset="0"/>
                    <a:ea typeface="黑体" panose="02010609060101010101" pitchFamily="49" charset="-122"/>
                    <a:cs typeface="Times New Roman" panose="02020603050405020304" pitchFamily="18" charset="0"/>
                  </a:rPr>
                  <a:t>：用其</a:t>
                </a:r>
                <a:r>
                  <a:rPr sz="2800" b="1" spc="-13" dirty="0" err="1">
                    <a:latin typeface="Times New Roman" panose="02020603050405020304" pitchFamily="18" charset="0"/>
                    <a:ea typeface="黑体" panose="02010609060101010101" pitchFamily="49" charset="-122"/>
                    <a:cs typeface="Times New Roman" panose="02020603050405020304" pitchFamily="18" charset="0"/>
                  </a:rPr>
                  <a:t>他</a:t>
                </a:r>
                <a:r>
                  <a:rPr sz="2800" b="1" spc="-827" dirty="0">
                    <a:latin typeface="Times New Roman" panose="02020603050405020304" pitchFamily="18" charset="0"/>
                    <a:ea typeface="黑体" panose="02010609060101010101" pitchFamily="49" charset="-122"/>
                    <a:cs typeface="Times New Roman" panose="02020603050405020304" pitchFamily="18" charset="0"/>
                  </a:rPr>
                  <a:t> </a:t>
                </a:r>
                <a:r>
                  <a:rPr sz="2800" b="1" i="1" spc="-7" dirty="0">
                    <a:latin typeface="Times New Roman" panose="02020603050405020304" pitchFamily="18" charset="0"/>
                    <a:ea typeface="黑体" panose="02010609060101010101" pitchFamily="49" charset="-122"/>
                    <a:cs typeface="Times New Roman" panose="02020603050405020304" pitchFamily="18" charset="0"/>
                  </a:rPr>
                  <a:t>n</a:t>
                </a:r>
                <a:r>
                  <a:rPr sz="2800" b="1" spc="-7" dirty="0">
                    <a:latin typeface="Times New Roman" panose="02020603050405020304" pitchFamily="18" charset="0"/>
                    <a:ea typeface="黑体" panose="02010609060101010101" pitchFamily="49" charset="-122"/>
                    <a:cs typeface="Times New Roman" panose="02020603050405020304" pitchFamily="18" charset="0"/>
                  </a:rPr>
                  <a:t>-1</a:t>
                </a:r>
                <a:r>
                  <a:rPr lang="en-US"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dirty="0" err="1">
                    <a:latin typeface="Times New Roman" panose="02020603050405020304" pitchFamily="18" charset="0"/>
                    <a:ea typeface="黑体" panose="02010609060101010101" pitchFamily="49" charset="-122"/>
                    <a:cs typeface="Times New Roman" panose="02020603050405020304" pitchFamily="18" charset="0"/>
                  </a:rPr>
                  <a:t>片芯片</a:t>
                </a:r>
                <a:r>
                  <a:rPr sz="2800" b="1" spc="-13" dirty="0" err="1">
                    <a:latin typeface="Times New Roman" panose="02020603050405020304" pitchFamily="18" charset="0"/>
                    <a:ea typeface="黑体" panose="02010609060101010101" pitchFamily="49" charset="-122"/>
                    <a:cs typeface="Times New Roman" panose="02020603050405020304" pitchFamily="18" charset="0"/>
                  </a:rPr>
                  <a:t>对</a:t>
                </a:r>
                <a:r>
                  <a:rPr sz="2800" b="1" spc="-793" dirty="0">
                    <a:latin typeface="Times New Roman" panose="02020603050405020304" pitchFamily="18" charset="0"/>
                    <a:ea typeface="黑体" panose="02010609060101010101" pitchFamily="49" charset="-122"/>
                    <a:cs typeface="Times New Roman" panose="02020603050405020304" pitchFamily="18" charset="0"/>
                  </a:rPr>
                  <a:t> </a:t>
                </a:r>
                <a:r>
                  <a:rPr lang="en-US" sz="2800" b="1" spc="-793"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A</a:t>
                </a:r>
                <a:r>
                  <a:rPr lang="en-US" sz="2800" b="1" i="1" dirty="0">
                    <a:latin typeface="Times New Roman" panose="02020603050405020304" pitchFamily="18" charset="0"/>
                    <a:ea typeface="黑体" panose="02010609060101010101" pitchFamily="49" charset="-122"/>
                    <a:cs typeface="Times New Roman" panose="02020603050405020304" pitchFamily="18" charset="0"/>
                  </a:rPr>
                  <a:t> </a:t>
                </a:r>
                <a:r>
                  <a:rPr sz="2800" b="1" i="1" spc="-193"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测</a:t>
                </a:r>
                <a:r>
                  <a:rPr sz="2800" b="1" spc="-13" dirty="0">
                    <a:latin typeface="Times New Roman" panose="02020603050405020304" pitchFamily="18" charset="0"/>
                    <a:ea typeface="黑体" panose="02010609060101010101" pitchFamily="49" charset="-122"/>
                    <a:cs typeface="Times New Roman" panose="02020603050405020304" pitchFamily="18" charset="0"/>
                  </a:rPr>
                  <a:t>试</a:t>
                </a:r>
                <a:r>
                  <a:rPr sz="2800" b="1" spc="-813"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1120"/>
                  </a:spcBef>
                </a:pPr>
                <a:r>
                  <a:rPr sz="2800" b="1" i="1" spc="-7" dirty="0">
                    <a:latin typeface="Times New Roman" panose="02020603050405020304" pitchFamily="18" charset="0"/>
                    <a:ea typeface="黑体" panose="02010609060101010101" pitchFamily="49" charset="-122"/>
                    <a:cs typeface="Times New Roman" panose="02020603050405020304" pitchFamily="18" charset="0"/>
                  </a:rPr>
                  <a:t>n=</a:t>
                </a:r>
                <a:r>
                  <a:rPr sz="2800" b="1" spc="-7" dirty="0">
                    <a:latin typeface="Times New Roman" panose="02020603050405020304" pitchFamily="18" charset="0"/>
                    <a:ea typeface="黑体" panose="02010609060101010101" pitchFamily="49" charset="-122"/>
                    <a:cs typeface="Times New Roman" panose="02020603050405020304" pitchFamily="18" charset="0"/>
                  </a:rPr>
                  <a:t>7：</a:t>
                </a:r>
                <a:r>
                  <a:rPr sz="2800" b="1" dirty="0">
                    <a:latin typeface="Times New Roman" panose="02020603050405020304" pitchFamily="18" charset="0"/>
                    <a:ea typeface="黑体" panose="02010609060101010101" pitchFamily="49" charset="-122"/>
                    <a:cs typeface="Times New Roman" panose="02020603050405020304" pitchFamily="18" charset="0"/>
                  </a:rPr>
                  <a:t>好芯片</a:t>
                </a:r>
                <a:r>
                  <a:rPr sz="2800" b="1" spc="-13" dirty="0">
                    <a:latin typeface="Times New Roman" panose="02020603050405020304" pitchFamily="18" charset="0"/>
                    <a:ea typeface="黑体" panose="02010609060101010101" pitchFamily="49" charset="-122"/>
                    <a:cs typeface="Times New Roman" panose="02020603050405020304" pitchFamily="18" charset="0"/>
                  </a:rPr>
                  <a:t>数</a:t>
                </a:r>
                <a14:m>
                  <m:oMath xmlns:m="http://schemas.openxmlformats.org/officeDocument/2006/math">
                    <m:r>
                      <a:rPr lang="en-US" sz="2800" b="1" i="1" spc="-13" smtClean="0">
                        <a:latin typeface="Cambria Math" panose="02040503050406030204"/>
                        <a:ea typeface="Cambria Math" panose="02040503050406030204"/>
                        <a:cs typeface="Times New Roman" panose="02020603050405020304" pitchFamily="18" charset="0"/>
                      </a:rPr>
                      <m:t>≥</m:t>
                    </m:r>
                  </m:oMath>
                </a14:m>
                <a:r>
                  <a:rPr sz="2800" b="1" dirty="0">
                    <a:latin typeface="Times New Roman" panose="02020603050405020304" pitchFamily="18" charset="0"/>
                    <a:ea typeface="黑体" panose="02010609060101010101" pitchFamily="49" charset="-122"/>
                    <a:cs typeface="Times New Roman" panose="02020603050405020304" pitchFamily="18" charset="0"/>
                  </a:rPr>
                  <a:t>4.</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5"/>
                  </a:spcBef>
                  <a:tabLst>
                    <a:tab pos="1687195" algn="l"/>
                  </a:tabLst>
                </a:pPr>
                <a:r>
                  <a:rPr lang="en-US" sz="2800" b="1" i="1"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A</a:t>
                </a:r>
                <a:r>
                  <a:rPr sz="2800" b="1" i="1" spc="-187"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a:latin typeface="Times New Roman" panose="02020603050405020304" pitchFamily="18" charset="0"/>
                    <a:ea typeface="黑体" panose="02010609060101010101" pitchFamily="49" charset="-122"/>
                    <a:cs typeface="Times New Roman" panose="02020603050405020304" pitchFamily="18" charset="0"/>
                  </a:rPr>
                  <a:t>好</a:t>
                </a:r>
                <a:r>
                  <a:rPr sz="2800" b="1"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a:latin typeface="Times New Roman" panose="02020603050405020304" pitchFamily="18" charset="0"/>
                    <a:ea typeface="黑体" panose="02010609060101010101" pitchFamily="49" charset="-122"/>
                    <a:cs typeface="Times New Roman" panose="02020603050405020304" pitchFamily="18" charset="0"/>
                  </a:rPr>
                  <a:t>6个报告中至</a:t>
                </a:r>
                <a:r>
                  <a:rPr sz="2800" b="1" spc="-13" dirty="0">
                    <a:latin typeface="Times New Roman" panose="02020603050405020304" pitchFamily="18" charset="0"/>
                    <a:ea typeface="黑体" panose="02010609060101010101" pitchFamily="49" charset="-122"/>
                    <a:cs typeface="Times New Roman" panose="02020603050405020304" pitchFamily="18" charset="0"/>
                  </a:rPr>
                  <a:t>少</a:t>
                </a:r>
                <a:r>
                  <a:rPr sz="2800" b="1" spc="-827"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3</a:t>
                </a:r>
                <a:r>
                  <a:rPr sz="2800" b="1" spc="-47"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a:latin typeface="Times New Roman" panose="02020603050405020304" pitchFamily="18" charset="0"/>
                    <a:ea typeface="黑体" panose="02010609060101010101" pitchFamily="49" charset="-122"/>
                    <a:cs typeface="Times New Roman" panose="02020603050405020304" pitchFamily="18" charset="0"/>
                  </a:rPr>
                  <a:t>个报“好”</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a:tabLst>
                    <a:tab pos="1672590" algn="l"/>
                  </a:tabLst>
                </a:pPr>
                <a:r>
                  <a:rPr lang="en-US" sz="2800" b="1" i="1"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A</a:t>
                </a:r>
                <a:r>
                  <a:rPr sz="2800" b="1" i="1" spc="-180"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坏,	6个报告中至</a:t>
                </a:r>
                <a:r>
                  <a:rPr sz="2800" b="1" spc="-13" dirty="0">
                    <a:latin typeface="Times New Roman" panose="02020603050405020304" pitchFamily="18" charset="0"/>
                    <a:ea typeface="黑体" panose="02010609060101010101" pitchFamily="49" charset="-122"/>
                    <a:cs typeface="Times New Roman" panose="02020603050405020304" pitchFamily="18" charset="0"/>
                  </a:rPr>
                  <a:t>少</a:t>
                </a:r>
                <a:r>
                  <a:rPr sz="2800" b="1" spc="-860"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4</a:t>
                </a:r>
                <a:r>
                  <a:rPr sz="2800" b="1" spc="-60"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个报“坏”</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2080"/>
                  </a:spcBef>
                </a:pPr>
                <a:r>
                  <a:rPr sz="2800" b="1" i="1" spc="-7" dirty="0">
                    <a:latin typeface="Times New Roman" panose="02020603050405020304" pitchFamily="18" charset="0"/>
                    <a:ea typeface="黑体" panose="02010609060101010101" pitchFamily="49" charset="-122"/>
                    <a:cs typeface="Times New Roman" panose="02020603050405020304" pitchFamily="18" charset="0"/>
                  </a:rPr>
                  <a:t>n</a:t>
                </a:r>
                <a:r>
                  <a:rPr sz="2800" b="1" dirty="0">
                    <a:latin typeface="Times New Roman" panose="02020603050405020304" pitchFamily="18" charset="0"/>
                    <a:ea typeface="黑体" panose="02010609060101010101" pitchFamily="49" charset="-122"/>
                    <a:cs typeface="Times New Roman" panose="02020603050405020304" pitchFamily="18" charset="0"/>
                  </a:rPr>
                  <a:t>是</a:t>
                </a:r>
                <a:r>
                  <a:rPr sz="28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奇数</a:t>
                </a:r>
                <a:r>
                  <a:rPr sz="2800" b="1" spc="-7" dirty="0">
                    <a:latin typeface="Times New Roman" panose="02020603050405020304" pitchFamily="18" charset="0"/>
                    <a:ea typeface="黑体" panose="02010609060101010101" pitchFamily="49" charset="-122"/>
                    <a:cs typeface="Times New Roman" panose="02020603050405020304" pitchFamily="18" charset="0"/>
                  </a:rPr>
                  <a:t>：好芯片</a:t>
                </a:r>
                <a:r>
                  <a:rPr sz="2800" b="1" spc="-13" dirty="0">
                    <a:latin typeface="Times New Roman" panose="02020603050405020304" pitchFamily="18" charset="0"/>
                    <a:ea typeface="黑体" panose="02010609060101010101" pitchFamily="49" charset="-122"/>
                    <a:cs typeface="Times New Roman" panose="02020603050405020304" pitchFamily="18" charset="0"/>
                  </a:rPr>
                  <a:t>数</a:t>
                </a:r>
                <a:r>
                  <a:rPr sz="2800" b="1" spc="-807" dirty="0">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n-US" altLang="zh-CN" sz="2800" b="1" i="1" spc="-13">
                        <a:latin typeface="Cambria Math" panose="02040503050406030204"/>
                        <a:ea typeface="Cambria Math" panose="02040503050406030204"/>
                        <a:cs typeface="Times New Roman" panose="02020603050405020304" pitchFamily="18" charset="0"/>
                      </a:rPr>
                      <m:t>≥</m:t>
                    </m:r>
                  </m:oMath>
                </a14:m>
                <a:r>
                  <a:rPr sz="2800" b="1" spc="-27"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sz="2800" b="1" i="1" dirty="0">
                    <a:latin typeface="Times New Roman" panose="02020603050405020304" pitchFamily="18" charset="0"/>
                    <a:ea typeface="黑体" panose="02010609060101010101" pitchFamily="49" charset="-122"/>
                    <a:cs typeface="Times New Roman" panose="02020603050405020304" pitchFamily="18" charset="0"/>
                  </a:rPr>
                  <a:t>n</a:t>
                </a:r>
                <a:r>
                  <a:rPr sz="2800" b="1" dirty="0">
                    <a:latin typeface="Times New Roman" panose="02020603050405020304" pitchFamily="18" charset="0"/>
                    <a:ea typeface="黑体" panose="02010609060101010101" pitchFamily="49" charset="-122"/>
                    <a:cs typeface="Times New Roman" panose="02020603050405020304" pitchFamily="18" charset="0"/>
                  </a:rPr>
                  <a:t>+1)/2.</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624205">
                  <a:tabLst>
                    <a:tab pos="1687195" algn="l"/>
                  </a:tabLst>
                </a:pPr>
                <a:r>
                  <a:rPr sz="2800" b="1" i="1" dirty="0">
                    <a:latin typeface="Times New Roman" panose="02020603050405020304" pitchFamily="18" charset="0"/>
                    <a:ea typeface="黑体" panose="02010609060101010101" pitchFamily="49" charset="-122"/>
                    <a:cs typeface="Times New Roman" panose="02020603050405020304" pitchFamily="18" charset="0"/>
                  </a:rPr>
                  <a:t>A</a:t>
                </a:r>
                <a:r>
                  <a:rPr sz="2800" b="1" i="1" spc="-180"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好,	至少</a:t>
                </a:r>
                <a:r>
                  <a:rPr sz="2800" b="1" spc="-13" dirty="0">
                    <a:latin typeface="Times New Roman" panose="02020603050405020304" pitchFamily="18" charset="0"/>
                    <a:ea typeface="黑体" panose="02010609060101010101" pitchFamily="49" charset="-122"/>
                    <a:cs typeface="Times New Roman" panose="02020603050405020304" pitchFamily="18" charset="0"/>
                  </a:rPr>
                  <a:t>有</a:t>
                </a:r>
                <a:r>
                  <a:rPr sz="2800" b="1" spc="-813"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sz="2800" b="1" i="1" dirty="0">
                    <a:latin typeface="Times New Roman" panose="02020603050405020304" pitchFamily="18" charset="0"/>
                    <a:ea typeface="黑体" panose="02010609060101010101" pitchFamily="49" charset="-122"/>
                    <a:cs typeface="Times New Roman" panose="02020603050405020304" pitchFamily="18" charset="0"/>
                    <a:sym typeface="+mn-ea"/>
                  </a:rPr>
                  <a:t>n</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sz="2800" b="1" dirty="0">
                    <a:latin typeface="Times New Roman" panose="02020603050405020304" pitchFamily="18" charset="0"/>
                    <a:ea typeface="黑体" panose="02010609060101010101" pitchFamily="49" charset="-122"/>
                    <a:cs typeface="Times New Roman" panose="02020603050405020304" pitchFamily="18" charset="0"/>
                  </a:rPr>
                  <a:t>1)/2个报“好”</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609600">
                  <a:tabLst>
                    <a:tab pos="1672590" algn="l"/>
                  </a:tabLst>
                </a:pPr>
                <a:r>
                  <a:rPr sz="2800" b="1" i="1" dirty="0">
                    <a:latin typeface="Times New Roman" panose="02020603050405020304" pitchFamily="18" charset="0"/>
                    <a:ea typeface="黑体" panose="02010609060101010101" pitchFamily="49" charset="-122"/>
                    <a:cs typeface="Times New Roman" panose="02020603050405020304" pitchFamily="18" charset="0"/>
                  </a:rPr>
                  <a:t>A</a:t>
                </a:r>
                <a:r>
                  <a:rPr sz="2800" b="1" i="1" spc="-180"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坏,	至少</a:t>
                </a:r>
                <a:r>
                  <a:rPr sz="2800" b="1" spc="-13" dirty="0">
                    <a:latin typeface="Times New Roman" panose="02020603050405020304" pitchFamily="18" charset="0"/>
                    <a:ea typeface="黑体" panose="02010609060101010101" pitchFamily="49" charset="-122"/>
                    <a:cs typeface="Times New Roman" panose="02020603050405020304" pitchFamily="18" charset="0"/>
                  </a:rPr>
                  <a:t>有</a:t>
                </a:r>
                <a:r>
                  <a:rPr sz="2800" b="1" spc="-820"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sz="2800" b="1" i="1" dirty="0">
                    <a:latin typeface="Times New Roman" panose="02020603050405020304" pitchFamily="18" charset="0"/>
                    <a:ea typeface="黑体" panose="02010609060101010101" pitchFamily="49" charset="-122"/>
                    <a:cs typeface="Times New Roman" panose="02020603050405020304" pitchFamily="18" charset="0"/>
                  </a:rPr>
                  <a:t>n</a:t>
                </a:r>
                <a:r>
                  <a:rPr sz="2800" b="1" dirty="0">
                    <a:latin typeface="Times New Roman" panose="02020603050405020304" pitchFamily="18" charset="0"/>
                    <a:ea typeface="黑体" panose="02010609060101010101" pitchFamily="49" charset="-122"/>
                    <a:cs typeface="Times New Roman" panose="02020603050405020304" pitchFamily="18" charset="0"/>
                  </a:rPr>
                  <a:t>+1)/2个报告“坏</a:t>
                </a:r>
                <a:r>
                  <a:rPr sz="3200" b="1" dirty="0">
                    <a:latin typeface="Times New Roman" panose="02020603050405020304" pitchFamily="18" charset="0"/>
                    <a:ea typeface="黑体" panose="02010609060101010101" pitchFamily="49" charset="-122"/>
                    <a:cs typeface="Times New Roman" panose="02020603050405020304" pitchFamily="18" charset="0"/>
                  </a:rPr>
                  <a:t>”</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R="6985" indent="-1231900" algn="just">
                  <a:spcBef>
                    <a:spcPts val="1365"/>
                  </a:spcBef>
                </a:pPr>
                <a:r>
                  <a:rPr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结论：</a:t>
                </a:r>
                <a:r>
                  <a:rPr sz="2800" b="1" dirty="0">
                    <a:latin typeface="Times New Roman" panose="02020603050405020304" pitchFamily="18" charset="0"/>
                    <a:ea typeface="黑体" panose="02010609060101010101" pitchFamily="49" charset="-122"/>
                    <a:cs typeface="Times New Roman" panose="02020603050405020304" pitchFamily="18" charset="0"/>
                  </a:rPr>
                  <a:t>至少一半报“好”</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r>
                  <a:rPr sz="2800" b="1" i="1" spc="-7" dirty="0">
                    <a:latin typeface="Times New Roman" panose="02020603050405020304" pitchFamily="18" charset="0"/>
                    <a:ea typeface="黑体" panose="02010609060101010101" pitchFamily="49" charset="-122"/>
                    <a:cs typeface="Times New Roman" panose="02020603050405020304" pitchFamily="18" charset="0"/>
                  </a:rPr>
                  <a:t>A</a:t>
                </a:r>
                <a:r>
                  <a:rPr sz="2800" b="1" dirty="0">
                    <a:latin typeface="Times New Roman" panose="02020603050405020304" pitchFamily="18" charset="0"/>
                    <a:ea typeface="黑体" panose="02010609060101010101" pitchFamily="49" charset="-122"/>
                    <a:cs typeface="Times New Roman" panose="02020603050405020304" pitchFamily="18" charset="0"/>
                  </a:rPr>
                  <a:t>是好芯片，超过一半报“坏”，</a:t>
                </a:r>
                <a:r>
                  <a:rPr sz="2800" b="1" i="1" dirty="0">
                    <a:latin typeface="Times New Roman" panose="02020603050405020304" pitchFamily="18" charset="0"/>
                    <a:ea typeface="黑体" panose="02010609060101010101" pitchFamily="49" charset="-122"/>
                    <a:cs typeface="Times New Roman" panose="02020603050405020304" pitchFamily="18" charset="0"/>
                  </a:rPr>
                  <a:t>A</a:t>
                </a:r>
                <a:r>
                  <a:rPr sz="2800" b="1" dirty="0">
                    <a:latin typeface="Times New Roman" panose="02020603050405020304" pitchFamily="18" charset="0"/>
                    <a:ea typeface="黑体" panose="02010609060101010101" pitchFamily="49" charset="-122"/>
                    <a:cs typeface="Times New Roman" panose="02020603050405020304" pitchFamily="18" charset="0"/>
                  </a:rPr>
                  <a:t>是坏芯片.</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R="150495" algn="r">
                  <a:lnSpc>
                    <a:spcPts val="895"/>
                  </a:lnSpc>
                </a:pPr>
                <a:endParaRPr sz="1600" dirty="0">
                  <a:latin typeface="Arial" panose="020B0604020202020204"/>
                  <a:cs typeface="Arial" panose="020B0604020202020204"/>
                </a:endParaRPr>
              </a:p>
            </p:txBody>
          </p:sp>
        </mc:Choice>
        <mc:Fallback>
          <p:sp>
            <p:nvSpPr>
              <p:cNvPr id="3" name="object 3"/>
              <p:cNvSpPr txBox="1">
                <a:spLocks noRot="1" noChangeAspect="1" noMove="1" noResize="1" noEditPoints="1" noAdjustHandles="1" noChangeArrowheads="1" noChangeShapeType="1" noTextEdit="1"/>
              </p:cNvSpPr>
              <p:nvPr/>
            </p:nvSpPr>
            <p:spPr>
              <a:xfrm>
                <a:off x="558800" y="1089797"/>
                <a:ext cx="8115300" cy="5087620"/>
              </a:xfrm>
              <a:prstGeom prst="rect">
                <a:avLst/>
              </a:prstGeom>
              <a:blipFill rotWithShape="1">
                <a:blip r:embed="rId1"/>
                <a:stretch>
                  <a:fillRect t="-3" b="3"/>
                </a:stretch>
              </a:blipFill>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9574" y="55677"/>
            <a:ext cx="8824426"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判定芯片</a:t>
            </a:r>
            <a:r>
              <a:rPr sz="4400" b="1" i="1" spc="-7" dirty="0">
                <a:solidFill>
                  <a:srgbClr val="C00000"/>
                </a:solidFill>
                <a:latin typeface="黑体" panose="02010609060101010101" pitchFamily="49" charset="-122"/>
                <a:ea typeface="黑体" panose="02010609060101010101" pitchFamily="49" charset="-122"/>
                <a:cs typeface="Times New Roman" panose="02020603050405020304"/>
              </a:rPr>
              <a:t>A</a:t>
            </a:r>
            <a:r>
              <a:rPr sz="4400" b="1" i="1" spc="-413" dirty="0">
                <a:solidFill>
                  <a:srgbClr val="C00000"/>
                </a:solidFill>
                <a:latin typeface="黑体" panose="02010609060101010101" pitchFamily="49" charset="-122"/>
                <a:ea typeface="黑体" panose="02010609060101010101" pitchFamily="49" charset="-122"/>
                <a:cs typeface="Times New Roman" panose="02020603050405020304"/>
              </a:rPr>
              <a:t> </a:t>
            </a:r>
            <a:r>
              <a:rPr sz="4400" b="1" spc="-13" dirty="0">
                <a:solidFill>
                  <a:srgbClr val="C00000"/>
                </a:solidFill>
                <a:latin typeface="黑体" panose="02010609060101010101" pitchFamily="49" charset="-122"/>
                <a:ea typeface="黑体" panose="02010609060101010101" pitchFamily="49" charset="-122"/>
              </a:rPr>
              <a:t>的好坏</a:t>
            </a:r>
            <a:endParaRPr sz="4400" b="1" spc="-13" dirty="0">
              <a:solidFill>
                <a:srgbClr val="C00000"/>
              </a:solidFill>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4" name="object 4"/>
              <p:cNvSpPr txBox="1"/>
              <p:nvPr/>
            </p:nvSpPr>
            <p:spPr>
              <a:xfrm>
                <a:off x="454034" y="1120512"/>
                <a:ext cx="8297750" cy="4818413"/>
              </a:xfrm>
              <a:prstGeom prst="rect">
                <a:avLst/>
              </a:prstGeom>
            </p:spPr>
            <p:txBody>
              <a:bodyPr vert="horz" wrap="square" lIns="0" tIns="16933" rIns="0" bIns="0" rtlCol="0">
                <a:spAutoFit/>
              </a:bodyPr>
              <a:lstStyle/>
              <a:p>
                <a:pPr marL="55245">
                  <a:spcBef>
                    <a:spcPts val="600"/>
                  </a:spcBef>
                </a:pPr>
                <a:r>
                  <a:rPr sz="3200" b="1" i="1" spc="-7" dirty="0">
                    <a:latin typeface="Times New Roman" panose="02020603050405020304" pitchFamily="18" charset="0"/>
                    <a:ea typeface="黑体" panose="02010609060101010101" pitchFamily="49" charset="-122"/>
                    <a:cs typeface="Times New Roman" panose="02020603050405020304" pitchFamily="18" charset="0"/>
                  </a:rPr>
                  <a:t>n</a:t>
                </a:r>
                <a:r>
                  <a:rPr sz="3200" b="1" spc="-7" dirty="0">
                    <a:latin typeface="Times New Roman" panose="02020603050405020304" pitchFamily="18" charset="0"/>
                    <a:ea typeface="黑体" panose="02010609060101010101" pitchFamily="49" charset="-122"/>
                    <a:cs typeface="Times New Roman" panose="02020603050405020304" pitchFamily="18" charset="0"/>
                  </a:rPr>
                  <a:t>=8：好芯片</a:t>
                </a:r>
                <a:r>
                  <a:rPr sz="3200" b="1" spc="-13" dirty="0">
                    <a:latin typeface="Times New Roman" panose="02020603050405020304" pitchFamily="18" charset="0"/>
                    <a:ea typeface="黑体" panose="02010609060101010101" pitchFamily="49" charset="-122"/>
                    <a:cs typeface="Times New Roman" panose="02020603050405020304" pitchFamily="18" charset="0"/>
                  </a:rPr>
                  <a:t>数</a:t>
                </a:r>
                <a:r>
                  <a:rPr sz="3200" b="1" spc="-820" dirty="0">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n-US" altLang="zh-CN" sz="3200" b="1" i="1" spc="-13">
                        <a:latin typeface="Cambria Math" panose="02040503050406030204"/>
                        <a:ea typeface="Cambria Math" panose="02040503050406030204"/>
                        <a:cs typeface="Times New Roman" panose="02020603050405020304" pitchFamily="18" charset="0"/>
                      </a:rPr>
                      <m:t>≥</m:t>
                    </m:r>
                  </m:oMath>
                </a14:m>
                <a:r>
                  <a:rPr sz="3200" b="1"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latin typeface="Times New Roman" panose="02020603050405020304" pitchFamily="18" charset="0"/>
                    <a:ea typeface="黑体" panose="02010609060101010101" pitchFamily="49" charset="-122"/>
                    <a:cs typeface="Times New Roman" panose="02020603050405020304" pitchFamily="18" charset="0"/>
                  </a:rPr>
                  <a:t>5.</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357505">
                  <a:spcBef>
                    <a:spcPts val="600"/>
                  </a:spcBef>
                  <a:tabLst>
                    <a:tab pos="1419225" algn="l"/>
                  </a:tabLst>
                </a:pPr>
                <a:r>
                  <a:rPr lang="en-US" sz="2800" b="1" i="1"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A</a:t>
                </a:r>
                <a:r>
                  <a:rPr sz="2800" b="1" i="1" spc="-187"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好,	7个报告中至</a:t>
                </a:r>
                <a:r>
                  <a:rPr sz="2800" b="1" spc="-13" dirty="0">
                    <a:latin typeface="Times New Roman" panose="02020603050405020304" pitchFamily="18" charset="0"/>
                    <a:ea typeface="黑体" panose="02010609060101010101" pitchFamily="49" charset="-122"/>
                    <a:cs typeface="Times New Roman" panose="02020603050405020304" pitchFamily="18" charset="0"/>
                  </a:rPr>
                  <a:t>少</a:t>
                </a:r>
                <a:r>
                  <a:rPr sz="2800" b="1" spc="-847"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4</a:t>
                </a:r>
                <a:r>
                  <a:rPr sz="2800" b="1" spc="-60"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个报“好”</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342900">
                  <a:spcBef>
                    <a:spcPts val="600"/>
                  </a:spcBef>
                  <a:tabLst>
                    <a:tab pos="1405890" algn="l"/>
                  </a:tabLst>
                </a:pPr>
                <a:r>
                  <a:rPr lang="en-US" sz="2800" b="1" i="1"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A</a:t>
                </a:r>
                <a:r>
                  <a:rPr sz="2800" b="1" i="1" spc="-187"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坏,	7个报告中至</a:t>
                </a:r>
                <a:r>
                  <a:rPr sz="2800" b="1" spc="-13" dirty="0">
                    <a:latin typeface="Times New Roman" panose="02020603050405020304" pitchFamily="18" charset="0"/>
                    <a:ea typeface="黑体" panose="02010609060101010101" pitchFamily="49" charset="-122"/>
                    <a:cs typeface="Times New Roman" panose="02020603050405020304" pitchFamily="18" charset="0"/>
                  </a:rPr>
                  <a:t>少</a:t>
                </a:r>
                <a:r>
                  <a:rPr sz="2800" b="1" spc="-867"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5</a:t>
                </a:r>
                <a:r>
                  <a:rPr sz="2800" b="1" spc="-60"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个报“坏”</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17145">
                  <a:spcBef>
                    <a:spcPts val="600"/>
                  </a:spcBef>
                </a:pPr>
                <a:r>
                  <a:rPr sz="3200" b="1" i="1" spc="-7" dirty="0">
                    <a:latin typeface="Times New Roman" panose="02020603050405020304" pitchFamily="18" charset="0"/>
                    <a:ea typeface="黑体" panose="02010609060101010101" pitchFamily="49" charset="-122"/>
                    <a:cs typeface="Times New Roman" panose="02020603050405020304" pitchFamily="18" charset="0"/>
                  </a:rPr>
                  <a:t>n</a:t>
                </a:r>
                <a:r>
                  <a:rPr sz="3200" b="1" spc="-7" dirty="0">
                    <a:latin typeface="Times New Roman" panose="02020603050405020304" pitchFamily="18" charset="0"/>
                    <a:ea typeface="黑体" panose="02010609060101010101" pitchFamily="49" charset="-122"/>
                    <a:cs typeface="Times New Roman" panose="02020603050405020304" pitchFamily="18" charset="0"/>
                  </a:rPr>
                  <a:t>是</a:t>
                </a:r>
                <a:r>
                  <a:rPr sz="32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偶数</a:t>
                </a:r>
                <a:r>
                  <a:rPr sz="3200" b="1" spc="-7" dirty="0">
                    <a:latin typeface="Times New Roman" panose="02020603050405020304" pitchFamily="18" charset="0"/>
                    <a:ea typeface="黑体" panose="02010609060101010101" pitchFamily="49" charset="-122"/>
                    <a:cs typeface="Times New Roman" panose="02020603050405020304" pitchFamily="18" charset="0"/>
                  </a:rPr>
                  <a:t>：好芯片</a:t>
                </a:r>
                <a:r>
                  <a:rPr sz="3200" b="1" spc="-13" dirty="0">
                    <a:latin typeface="Times New Roman" panose="02020603050405020304" pitchFamily="18" charset="0"/>
                    <a:ea typeface="黑体" panose="02010609060101010101" pitchFamily="49" charset="-122"/>
                    <a:cs typeface="Times New Roman" panose="02020603050405020304" pitchFamily="18" charset="0"/>
                  </a:rPr>
                  <a:t>数</a:t>
                </a:r>
                <a:r>
                  <a:rPr sz="3200" b="1" spc="-807" dirty="0">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n-US" altLang="zh-CN" sz="3200" b="1" i="1" spc="-13">
                        <a:latin typeface="Cambria Math" panose="02040503050406030204"/>
                        <a:ea typeface="Cambria Math" panose="02040503050406030204"/>
                        <a:cs typeface="Times New Roman" panose="02020603050405020304" pitchFamily="18" charset="0"/>
                      </a:rPr>
                      <m:t>≥ </m:t>
                    </m:r>
                  </m:oMath>
                </a14:m>
                <a:r>
                  <a:rPr sz="3200" b="1" i="1" dirty="0">
                    <a:latin typeface="Times New Roman" panose="02020603050405020304" pitchFamily="18" charset="0"/>
                    <a:ea typeface="黑体" panose="02010609060101010101" pitchFamily="49" charset="-122"/>
                    <a:cs typeface="Times New Roman" panose="02020603050405020304" pitchFamily="18" charset="0"/>
                  </a:rPr>
                  <a:t>n</a:t>
                </a:r>
                <a:r>
                  <a:rPr sz="3200" b="1" dirty="0">
                    <a:latin typeface="Times New Roman" panose="02020603050405020304" pitchFamily="18" charset="0"/>
                    <a:ea typeface="黑体" panose="02010609060101010101" pitchFamily="49" charset="-122"/>
                    <a:cs typeface="Times New Roman" panose="02020603050405020304" pitchFamily="18" charset="0"/>
                  </a:rPr>
                  <a:t>/2+1.</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319405" marR="393700">
                  <a:spcBef>
                    <a:spcPts val="600"/>
                  </a:spcBef>
                  <a:tabLst>
                    <a:tab pos="1381125" algn="l"/>
                  </a:tabLst>
                </a:pPr>
                <a:r>
                  <a:rPr lang="en-US" sz="2800" b="1" i="1"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A</a:t>
                </a:r>
                <a:r>
                  <a:rPr sz="2800" b="1" i="1" spc="-187"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好,	</a:t>
                </a:r>
                <a:r>
                  <a:rPr sz="2800" b="1" dirty="0" err="1">
                    <a:latin typeface="Times New Roman" panose="02020603050405020304" pitchFamily="18" charset="0"/>
                    <a:ea typeface="黑体" panose="02010609060101010101" pitchFamily="49" charset="-122"/>
                    <a:cs typeface="Times New Roman" panose="02020603050405020304" pitchFamily="18" charset="0"/>
                  </a:rPr>
                  <a:t>至少</a:t>
                </a:r>
                <a:r>
                  <a:rPr sz="2800" b="1" spc="-13" dirty="0" err="1">
                    <a:latin typeface="Times New Roman" panose="02020603050405020304" pitchFamily="18" charset="0"/>
                    <a:ea typeface="黑体" panose="02010609060101010101" pitchFamily="49" charset="-122"/>
                    <a:cs typeface="Times New Roman" panose="02020603050405020304" pitchFamily="18" charset="0"/>
                  </a:rPr>
                  <a:t>有</a:t>
                </a:r>
                <a:r>
                  <a:rPr sz="2800" b="1" spc="-813" dirty="0">
                    <a:latin typeface="Times New Roman" panose="02020603050405020304" pitchFamily="18" charset="0"/>
                    <a:ea typeface="黑体" panose="02010609060101010101" pitchFamily="49" charset="-122"/>
                    <a:cs typeface="Times New Roman" panose="02020603050405020304" pitchFamily="18" charset="0"/>
                  </a:rPr>
                  <a:t> </a:t>
                </a:r>
                <a:r>
                  <a:rPr sz="2800" b="1" i="1" spc="-7" dirty="0">
                    <a:latin typeface="Times New Roman" panose="02020603050405020304" pitchFamily="18" charset="0"/>
                    <a:ea typeface="黑体" panose="02010609060101010101" pitchFamily="49" charset="-122"/>
                    <a:cs typeface="Times New Roman" panose="02020603050405020304" pitchFamily="18" charset="0"/>
                  </a:rPr>
                  <a:t>n</a:t>
                </a:r>
                <a:r>
                  <a:rPr sz="2800" b="1" spc="-7" dirty="0">
                    <a:latin typeface="Times New Roman" panose="02020603050405020304" pitchFamily="18" charset="0"/>
                    <a:ea typeface="黑体" panose="02010609060101010101" pitchFamily="49" charset="-122"/>
                    <a:cs typeface="Times New Roman" panose="02020603050405020304" pitchFamily="18" charset="0"/>
                  </a:rPr>
                  <a:t>/2</a:t>
                </a:r>
                <a:r>
                  <a:rPr sz="2800" b="1" dirty="0">
                    <a:latin typeface="Times New Roman" panose="02020603050405020304" pitchFamily="18" charset="0"/>
                    <a:ea typeface="黑体" panose="02010609060101010101" pitchFamily="49" charset="-122"/>
                    <a:cs typeface="Times New Roman" panose="02020603050405020304" pitchFamily="18" charset="0"/>
                  </a:rPr>
                  <a:t>个报告“好”  </a:t>
                </a:r>
                <a:endParaRPr lang="en-US" sz="2800" b="1" dirty="0">
                  <a:latin typeface="Times New Roman" panose="02020603050405020304" pitchFamily="18" charset="0"/>
                  <a:ea typeface="黑体" panose="02010609060101010101" pitchFamily="49" charset="-122"/>
                  <a:cs typeface="Times New Roman" panose="02020603050405020304" pitchFamily="18" charset="0"/>
                </a:endParaRPr>
              </a:p>
              <a:p>
                <a:pPr marL="319405" marR="393700">
                  <a:spcBef>
                    <a:spcPts val="600"/>
                  </a:spcBef>
                  <a:tabLst>
                    <a:tab pos="1381125" algn="l"/>
                  </a:tabLst>
                </a:pPr>
                <a:r>
                  <a:rPr lang="en-US" sz="2800" b="1" i="1"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A</a:t>
                </a:r>
                <a:r>
                  <a:rPr sz="2800" b="1" i="1" spc="-187"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坏,	</a:t>
                </a:r>
                <a:r>
                  <a:rPr sz="2800" b="1" dirty="0" err="1">
                    <a:latin typeface="Times New Roman" panose="02020603050405020304" pitchFamily="18" charset="0"/>
                    <a:ea typeface="黑体" panose="02010609060101010101" pitchFamily="49" charset="-122"/>
                    <a:cs typeface="Times New Roman" panose="02020603050405020304" pitchFamily="18" charset="0"/>
                  </a:rPr>
                  <a:t>至少</a:t>
                </a:r>
                <a:r>
                  <a:rPr sz="2800" b="1" spc="-13" dirty="0" err="1">
                    <a:latin typeface="Times New Roman" panose="02020603050405020304" pitchFamily="18" charset="0"/>
                    <a:ea typeface="黑体" panose="02010609060101010101" pitchFamily="49" charset="-122"/>
                    <a:cs typeface="Times New Roman" panose="02020603050405020304" pitchFamily="18" charset="0"/>
                  </a:rPr>
                  <a:t>有</a:t>
                </a:r>
                <a:r>
                  <a:rPr sz="2800" b="1" spc="-887" dirty="0">
                    <a:latin typeface="Times New Roman" panose="02020603050405020304" pitchFamily="18" charset="0"/>
                    <a:ea typeface="黑体" panose="02010609060101010101" pitchFamily="49" charset="-122"/>
                    <a:cs typeface="Times New Roman" panose="02020603050405020304" pitchFamily="18" charset="0"/>
                  </a:rPr>
                  <a:t> </a:t>
                </a:r>
                <a:r>
                  <a:rPr sz="2800" b="1" i="1" spc="-7" dirty="0">
                    <a:latin typeface="Times New Roman" panose="02020603050405020304" pitchFamily="18" charset="0"/>
                    <a:ea typeface="黑体" panose="02010609060101010101" pitchFamily="49" charset="-122"/>
                    <a:cs typeface="Times New Roman" panose="02020603050405020304" pitchFamily="18" charset="0"/>
                  </a:rPr>
                  <a:t>n</a:t>
                </a:r>
                <a:r>
                  <a:rPr sz="2800" b="1" spc="-7" dirty="0">
                    <a:latin typeface="Times New Roman" panose="02020603050405020304" pitchFamily="18" charset="0"/>
                    <a:ea typeface="黑体" panose="02010609060101010101" pitchFamily="49" charset="-122"/>
                    <a:cs typeface="Times New Roman" panose="02020603050405020304" pitchFamily="18" charset="0"/>
                  </a:rPr>
                  <a:t>/2+1</a:t>
                </a:r>
                <a:r>
                  <a:rPr sz="2800" b="1" dirty="0">
                    <a:latin typeface="Times New Roman" panose="02020603050405020304" pitchFamily="18" charset="0"/>
                    <a:ea typeface="黑体" panose="02010609060101010101" pitchFamily="49" charset="-122"/>
                    <a:cs typeface="Times New Roman" panose="02020603050405020304" pitchFamily="18" charset="0"/>
                  </a:rPr>
                  <a:t>个报告“坏”</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600"/>
                  </a:spcBef>
                </a:pPr>
                <a:r>
                  <a:rPr sz="3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结论</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n</a:t>
                </a:r>
                <a:r>
                  <a:rPr sz="3200" b="1" spc="-7" dirty="0">
                    <a:latin typeface="Times New Roman" panose="02020603050405020304" pitchFamily="18" charset="0"/>
                    <a:ea typeface="黑体" panose="02010609060101010101" pitchFamily="49" charset="-122"/>
                    <a:cs typeface="Times New Roman" panose="02020603050405020304" pitchFamily="18" charset="0"/>
                  </a:rPr>
                  <a:t>-1</a:t>
                </a:r>
                <a:r>
                  <a:rPr sz="3200" b="1" spc="-27" dirty="0">
                    <a:latin typeface="Times New Roman" panose="02020603050405020304" pitchFamily="18" charset="0"/>
                    <a:ea typeface="黑体" panose="02010609060101010101" pitchFamily="49" charset="-122"/>
                    <a:cs typeface="Times New Roman" panose="02020603050405020304" pitchFamily="18" charset="0"/>
                  </a:rPr>
                  <a:t> </a:t>
                </a:r>
                <a:r>
                  <a:rPr sz="3200" b="1" dirty="0" err="1">
                    <a:latin typeface="Times New Roman" panose="02020603050405020304" pitchFamily="18" charset="0"/>
                    <a:ea typeface="黑体" panose="02010609060101010101" pitchFamily="49" charset="-122"/>
                    <a:cs typeface="Times New Roman" panose="02020603050405020304" pitchFamily="18" charset="0"/>
                  </a:rPr>
                  <a:t>份报告中</a:t>
                </a:r>
                <a:r>
                  <a:rPr sz="3200" b="1" dirty="0">
                    <a:latin typeface="Times New Roman" panose="02020603050405020304" pitchFamily="18" charset="0"/>
                    <a:ea typeface="黑体" panose="02010609060101010101" pitchFamily="49" charset="-122"/>
                    <a:cs typeface="Times New Roman" panose="02020603050405020304" pitchFamily="18" charset="0"/>
                  </a:rPr>
                  <a:t>，</a:t>
                </a:r>
                <a:endParaRPr lang="en-US" sz="3200" b="1"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600"/>
                  </a:spcBef>
                </a:pPr>
                <a:r>
                  <a:rPr lang="en-US" sz="2800" b="1" dirty="0">
                    <a:latin typeface="Times New Roman" panose="02020603050405020304" pitchFamily="18" charset="0"/>
                    <a:ea typeface="黑体" panose="02010609060101010101" pitchFamily="49" charset="-122"/>
                    <a:cs typeface="Times New Roman" panose="02020603050405020304" pitchFamily="18" charset="0"/>
                  </a:rPr>
                  <a:t>       </a:t>
                </a:r>
                <a:r>
                  <a:rPr sz="2800" b="1" dirty="0" err="1">
                    <a:latin typeface="Times New Roman" panose="02020603050405020304" pitchFamily="18" charset="0"/>
                    <a:ea typeface="黑体" panose="02010609060101010101" pitchFamily="49" charset="-122"/>
                    <a:cs typeface="Times New Roman" panose="02020603050405020304" pitchFamily="18" charset="0"/>
                  </a:rPr>
                  <a:t>至少一半报“好</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sz="2800" b="1" spc="-67" dirty="0">
                    <a:latin typeface="Times New Roman" panose="02020603050405020304" pitchFamily="18" charset="0"/>
                    <a:ea typeface="黑体" panose="02010609060101010101" pitchFamily="49" charset="-122"/>
                    <a:cs typeface="Times New Roman" panose="02020603050405020304" pitchFamily="18" charset="0"/>
                  </a:rPr>
                  <a:t> </a:t>
                </a:r>
                <a:r>
                  <a:rPr sz="2800" b="1" spc="-13" dirty="0">
                    <a:latin typeface="Times New Roman" panose="02020603050405020304" pitchFamily="18" charset="0"/>
                    <a:ea typeface="黑体" panose="02010609060101010101" pitchFamily="49" charset="-122"/>
                    <a:cs typeface="Times New Roman" panose="02020603050405020304" pitchFamily="18" charset="0"/>
                  </a:rPr>
                  <a:t>则</a:t>
                </a:r>
                <a:r>
                  <a:rPr sz="2800" b="1" spc="-840"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A</a:t>
                </a:r>
                <a:r>
                  <a:rPr sz="2800" b="1" i="1" spc="-200" dirty="0">
                    <a:latin typeface="Times New Roman" panose="02020603050405020304" pitchFamily="18" charset="0"/>
                    <a:ea typeface="黑体" panose="02010609060101010101" pitchFamily="49" charset="-122"/>
                    <a:cs typeface="Times New Roman" panose="02020603050405020304" pitchFamily="18" charset="0"/>
                  </a:rPr>
                  <a:t> </a:t>
                </a:r>
                <a:r>
                  <a:rPr sz="2800" b="1" dirty="0" err="1">
                    <a:latin typeface="Times New Roman" panose="02020603050405020304" pitchFamily="18" charset="0"/>
                    <a:ea typeface="黑体" panose="02010609060101010101" pitchFamily="49" charset="-122"/>
                    <a:cs typeface="Times New Roman" panose="02020603050405020304" pitchFamily="18" charset="0"/>
                  </a:rPr>
                  <a:t>为好芯片</a:t>
                </a:r>
                <a:r>
                  <a:rPr sz="2800" b="1" dirty="0">
                    <a:latin typeface="Times New Roman" panose="02020603050405020304" pitchFamily="18" charset="0"/>
                    <a:ea typeface="黑体" panose="02010609060101010101" pitchFamily="49" charset="-122"/>
                    <a:cs typeface="Times New Roman" panose="02020603050405020304" pitchFamily="18" charset="0"/>
                  </a:rPr>
                  <a:t> </a:t>
                </a:r>
                <a:endParaRPr lang="en-US" sz="2800" b="1"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600"/>
                  </a:spcBef>
                </a:pPr>
                <a:r>
                  <a:rPr lang="en-US"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err="1">
                    <a:latin typeface="Times New Roman" panose="02020603050405020304" pitchFamily="18" charset="0"/>
                    <a:ea typeface="黑体" panose="02010609060101010101" pitchFamily="49" charset="-122"/>
                    <a:cs typeface="Times New Roman" panose="02020603050405020304" pitchFamily="18" charset="0"/>
                  </a:rPr>
                  <a:t>超过一半报“坏</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sz="2800" b="1" spc="-47" dirty="0">
                    <a:latin typeface="Times New Roman" panose="02020603050405020304" pitchFamily="18" charset="0"/>
                    <a:ea typeface="黑体" panose="02010609060101010101" pitchFamily="49" charset="-122"/>
                    <a:cs typeface="Times New Roman" panose="02020603050405020304" pitchFamily="18" charset="0"/>
                  </a:rPr>
                  <a:t> </a:t>
                </a:r>
                <a:r>
                  <a:rPr sz="2800" b="1" spc="-13" dirty="0">
                    <a:latin typeface="Times New Roman" panose="02020603050405020304" pitchFamily="18" charset="0"/>
                    <a:ea typeface="黑体" panose="02010609060101010101" pitchFamily="49" charset="-122"/>
                    <a:cs typeface="Times New Roman" panose="02020603050405020304" pitchFamily="18" charset="0"/>
                  </a:rPr>
                  <a:t>则</a:t>
                </a:r>
                <a:r>
                  <a:rPr sz="2800" b="1" spc="-827" dirty="0">
                    <a:latin typeface="Times New Roman" panose="02020603050405020304" pitchFamily="18" charset="0"/>
                    <a:ea typeface="黑体" panose="02010609060101010101" pitchFamily="49" charset="-122"/>
                    <a:cs typeface="Times New Roman" panose="02020603050405020304" pitchFamily="18" charset="0"/>
                  </a:rPr>
                  <a:t> </a:t>
                </a:r>
                <a:r>
                  <a:rPr sz="2800" b="1" i="1" spc="-13" dirty="0">
                    <a:latin typeface="Times New Roman" panose="02020603050405020304" pitchFamily="18" charset="0"/>
                    <a:ea typeface="黑体" panose="02010609060101010101" pitchFamily="49" charset="-122"/>
                    <a:cs typeface="Times New Roman" panose="02020603050405020304" pitchFamily="18" charset="0"/>
                  </a:rPr>
                  <a:t>A</a:t>
                </a:r>
                <a:r>
                  <a:rPr sz="2800" b="1" spc="-7" dirty="0">
                    <a:latin typeface="Times New Roman" panose="02020603050405020304" pitchFamily="18" charset="0"/>
                    <a:ea typeface="黑体" panose="02010609060101010101" pitchFamily="49" charset="-122"/>
                    <a:cs typeface="Times New Roman" panose="02020603050405020304" pitchFamily="18" charset="0"/>
                  </a:rPr>
                  <a:t>为坏芯片</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4" name="object 4"/>
              <p:cNvSpPr txBox="1">
                <a:spLocks noRot="1" noChangeAspect="1" noMove="1" noResize="1" noEditPoints="1" noAdjustHandles="1" noChangeArrowheads="1" noChangeShapeType="1" noTextEdit="1"/>
              </p:cNvSpPr>
              <p:nvPr/>
            </p:nvSpPr>
            <p:spPr>
              <a:xfrm>
                <a:off x="454034" y="1120512"/>
                <a:ext cx="8297750" cy="4818413"/>
              </a:xfrm>
              <a:prstGeom prst="rect">
                <a:avLst/>
              </a:prstGeom>
              <a:blipFill rotWithShape="1">
                <a:blip r:embed="rId1"/>
                <a:stretch>
                  <a:fillRect t="-8" r="3" b="8"/>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993" y="-18627"/>
            <a:ext cx="8884015"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蛮力算法</a:t>
            </a:r>
            <a:endParaRPr sz="4400" b="1" spc="-13"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571499" y="1037349"/>
            <a:ext cx="8039101" cy="4420933"/>
          </a:xfrm>
          <a:prstGeom prst="rect">
            <a:avLst/>
          </a:prstGeom>
        </p:spPr>
        <p:txBody>
          <a:bodyPr vert="horz" wrap="square" lIns="0" tIns="16933" rIns="0" bIns="0" rtlCol="0">
            <a:spAutoFit/>
          </a:bodyPr>
          <a:lstStyle/>
          <a:p>
            <a:pPr marL="67945" marR="23495" algn="just">
              <a:spcBef>
                <a:spcPts val="135"/>
              </a:spcBef>
            </a:pPr>
            <a:r>
              <a:rPr sz="3200" b="1" spc="-7"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测试方</a:t>
            </a:r>
            <a:r>
              <a:rPr sz="32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法</a:t>
            </a:r>
            <a:r>
              <a:rPr sz="3200" b="1" spc="-7" dirty="0" err="1">
                <a:latin typeface="Times New Roman" panose="02020603050405020304" pitchFamily="18" charset="0"/>
                <a:ea typeface="黑体" panose="02010609060101010101" pitchFamily="49" charset="-122"/>
                <a:cs typeface="Times New Roman" panose="02020603050405020304" pitchFamily="18" charset="0"/>
              </a:rPr>
              <a:t>：任</a:t>
            </a:r>
            <a:r>
              <a:rPr sz="3200" b="1" spc="-13" dirty="0" err="1">
                <a:latin typeface="Times New Roman" panose="02020603050405020304" pitchFamily="18" charset="0"/>
                <a:ea typeface="黑体" panose="02010609060101010101" pitchFamily="49" charset="-122"/>
                <a:cs typeface="Times New Roman" panose="02020603050405020304" pitchFamily="18" charset="0"/>
              </a:rPr>
              <a:t>取</a:t>
            </a:r>
            <a:r>
              <a:rPr sz="3200" b="1" spc="-853"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1</a:t>
            </a:r>
            <a:r>
              <a:rPr lang="en-US" sz="3200" b="1"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err="1">
                <a:latin typeface="Times New Roman" panose="02020603050405020304" pitchFamily="18" charset="0"/>
                <a:ea typeface="黑体" panose="02010609060101010101" pitchFamily="49" charset="-122"/>
                <a:cs typeface="Times New Roman" panose="02020603050405020304" pitchFamily="18" charset="0"/>
              </a:rPr>
              <a:t>片测试，如果是好</a:t>
            </a:r>
            <a:r>
              <a:rPr sz="3200" b="1" dirty="0" err="1">
                <a:latin typeface="Times New Roman" panose="02020603050405020304" pitchFamily="18" charset="0"/>
                <a:ea typeface="黑体" panose="02010609060101010101" pitchFamily="49" charset="-122"/>
                <a:cs typeface="Times New Roman" panose="02020603050405020304" pitchFamily="18" charset="0"/>
              </a:rPr>
              <a:t>芯片，测试结束；如果是坏芯片，抛弃</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再从剩下芯片中任取 </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1 </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片测试，直到得到 </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1 </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片好芯片</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3200" b="1" dirty="0">
              <a:latin typeface="Times New Roman" panose="02020603050405020304" pitchFamily="18" charset="0"/>
              <a:ea typeface="黑体" panose="02010609060101010101" pitchFamily="49" charset="-122"/>
              <a:cs typeface="Times New Roman" panose="02020603050405020304" pitchFamily="18" charset="0"/>
            </a:endParaRPr>
          </a:p>
          <a:p>
            <a:pPr marL="67945" marR="23495" algn="just">
              <a:spcBef>
                <a:spcPts val="135"/>
              </a:spcBef>
            </a:pPr>
            <a:endParaRPr sz="3265" dirty="0">
              <a:latin typeface="Times New Roman" panose="02020603050405020304" pitchFamily="18" charset="0"/>
              <a:ea typeface="黑体" panose="02010609060101010101" pitchFamily="49" charset="-122"/>
              <a:cs typeface="Times New Roman" panose="02020603050405020304" pitchFamily="18" charset="0"/>
            </a:endParaRPr>
          </a:p>
          <a:p>
            <a:pPr marL="67945">
              <a:lnSpc>
                <a:spcPts val="3760"/>
              </a:lnSpc>
            </a:pPr>
            <a:r>
              <a:rPr sz="3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时间估计</a:t>
            </a:r>
            <a:r>
              <a:rPr sz="3200" b="1" spc="-13" dirty="0">
                <a:latin typeface="Times New Roman" panose="02020603050405020304" pitchFamily="18" charset="0"/>
                <a:ea typeface="黑体" panose="02010609060101010101" pitchFamily="49" charset="-122"/>
                <a:cs typeface="Times New Roman" panose="02020603050405020304" pitchFamily="18" charset="0"/>
              </a:rPr>
              <a:t>：</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67945">
              <a:lnSpc>
                <a:spcPts val="3675"/>
              </a:lnSpc>
            </a:pPr>
            <a:r>
              <a:rPr lang="zh-CN" altLang="en-US" sz="3200" b="1" spc="-7" dirty="0">
                <a:latin typeface="Times New Roman" panose="02020603050405020304" pitchFamily="18" charset="0"/>
                <a:ea typeface="黑体" panose="02010609060101010101" pitchFamily="49" charset="-122"/>
                <a:cs typeface="Times New Roman" panose="02020603050405020304" pitchFamily="18" charset="0"/>
              </a:rPr>
              <a:t>      第 </a:t>
            </a:r>
            <a:r>
              <a:rPr lang="en-US" altLang="zh-CN" sz="3200" b="1" spc="-7" dirty="0">
                <a:latin typeface="Times New Roman" panose="02020603050405020304" pitchFamily="18" charset="0"/>
                <a:ea typeface="黑体" panose="02010609060101010101" pitchFamily="49" charset="-122"/>
                <a:cs typeface="Times New Roman" panose="02020603050405020304" pitchFamily="18" charset="0"/>
              </a:rPr>
              <a:t>1 </a:t>
            </a:r>
            <a:r>
              <a:rPr lang="zh-CN" altLang="en-US" sz="3200" b="1" spc="-7" dirty="0">
                <a:latin typeface="Times New Roman" panose="02020603050405020304" pitchFamily="18" charset="0"/>
                <a:ea typeface="黑体" panose="02010609060101010101" pitchFamily="49" charset="-122"/>
                <a:cs typeface="Times New Roman" panose="02020603050405020304" pitchFamily="18" charset="0"/>
              </a:rPr>
              <a:t>片坏芯片，最多测试 </a:t>
            </a:r>
            <a:r>
              <a:rPr lang="en-US" sz="3200" b="1" spc="-7" dirty="0">
                <a:latin typeface="Times New Roman" panose="02020603050405020304" pitchFamily="18" charset="0"/>
                <a:ea typeface="黑体" panose="02010609060101010101" pitchFamily="49" charset="-122"/>
                <a:cs typeface="Times New Roman" panose="02020603050405020304" pitchFamily="18" charset="0"/>
              </a:rPr>
              <a:t>n-2 </a:t>
            </a:r>
            <a:r>
              <a:rPr lang="zh-CN" altLang="en-US" sz="3200" b="1" spc="-7" dirty="0">
                <a:latin typeface="Times New Roman" panose="02020603050405020304" pitchFamily="18" charset="0"/>
                <a:ea typeface="黑体" panose="02010609060101010101" pitchFamily="49" charset="-122"/>
                <a:cs typeface="Times New Roman" panose="02020603050405020304" pitchFamily="18" charset="0"/>
              </a:rPr>
              <a:t>次，</a:t>
            </a:r>
            <a:endParaRPr lang="en-US" altLang="zh-CN" sz="3200" b="1" spc="-7" dirty="0">
              <a:latin typeface="Times New Roman" panose="02020603050405020304" pitchFamily="18" charset="0"/>
              <a:ea typeface="黑体" panose="02010609060101010101" pitchFamily="49" charset="-122"/>
              <a:cs typeface="Times New Roman" panose="02020603050405020304" pitchFamily="18" charset="0"/>
            </a:endParaRPr>
          </a:p>
          <a:p>
            <a:pPr marL="67945">
              <a:lnSpc>
                <a:spcPts val="3675"/>
              </a:lnSpc>
            </a:pPr>
            <a:r>
              <a:rPr lang="zh-CN" altLang="en-US" sz="3200" b="1" spc="-7" dirty="0">
                <a:latin typeface="Times New Roman" panose="02020603050405020304" pitchFamily="18" charset="0"/>
                <a:ea typeface="黑体" panose="02010609060101010101" pitchFamily="49" charset="-122"/>
                <a:cs typeface="Times New Roman" panose="02020603050405020304" pitchFamily="18" charset="0"/>
              </a:rPr>
              <a:t>      第 </a:t>
            </a:r>
            <a:r>
              <a:rPr lang="en-US" altLang="zh-CN" sz="3200" b="1" spc="-7" dirty="0">
                <a:latin typeface="Times New Roman" panose="02020603050405020304" pitchFamily="18" charset="0"/>
                <a:ea typeface="黑体" panose="02010609060101010101" pitchFamily="49" charset="-122"/>
                <a:cs typeface="Times New Roman" panose="02020603050405020304" pitchFamily="18" charset="0"/>
              </a:rPr>
              <a:t>2 </a:t>
            </a:r>
            <a:r>
              <a:rPr lang="zh-CN" altLang="en-US" sz="3200" b="1" spc="-7" dirty="0">
                <a:latin typeface="Times New Roman" panose="02020603050405020304" pitchFamily="18" charset="0"/>
                <a:ea typeface="黑体" panose="02010609060101010101" pitchFamily="49" charset="-122"/>
                <a:cs typeface="Times New Roman" panose="02020603050405020304" pitchFamily="18" charset="0"/>
              </a:rPr>
              <a:t>片坏芯片，最多测试 </a:t>
            </a:r>
            <a:r>
              <a:rPr lang="en-US" sz="3200" b="1" spc="-7" dirty="0">
                <a:latin typeface="Times New Roman" panose="02020603050405020304" pitchFamily="18" charset="0"/>
                <a:ea typeface="黑体" panose="02010609060101010101" pitchFamily="49" charset="-122"/>
                <a:cs typeface="Times New Roman" panose="02020603050405020304" pitchFamily="18" charset="0"/>
              </a:rPr>
              <a:t>n-3 </a:t>
            </a:r>
            <a:r>
              <a:rPr lang="zh-CN" altLang="en-US" sz="3200" b="1" spc="-7" dirty="0">
                <a:latin typeface="Times New Roman" panose="02020603050405020304" pitchFamily="18" charset="0"/>
                <a:ea typeface="黑体" panose="02010609060101010101" pitchFamily="49" charset="-122"/>
                <a:cs typeface="Times New Roman" panose="02020603050405020304" pitchFamily="18" charset="0"/>
              </a:rPr>
              <a:t>次，</a:t>
            </a:r>
            <a:endParaRPr lang="en-US" sz="3200" b="1" spc="-7" dirty="0">
              <a:latin typeface="Times New Roman" panose="02020603050405020304" pitchFamily="18" charset="0"/>
              <a:ea typeface="黑体" panose="02010609060101010101" pitchFamily="49" charset="-122"/>
              <a:cs typeface="Times New Roman" panose="02020603050405020304" pitchFamily="18" charset="0"/>
            </a:endParaRPr>
          </a:p>
          <a:p>
            <a:pPr marL="67945">
              <a:lnSpc>
                <a:spcPts val="3675"/>
              </a:lnSpc>
            </a:pPr>
            <a:r>
              <a:rPr sz="3200" b="1" spc="-7" dirty="0">
                <a:latin typeface="Times New Roman" panose="02020603050405020304" pitchFamily="18" charset="0"/>
                <a:ea typeface="黑体" panose="02010609060101010101" pitchFamily="49" charset="-122"/>
                <a:cs typeface="Times New Roman" panose="02020603050405020304" pitchFamily="18" charset="0"/>
              </a:rPr>
              <a:t></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67945">
              <a:lnSpc>
                <a:spcPts val="3905"/>
              </a:lnSpc>
            </a:pPr>
            <a:r>
              <a:rPr sz="3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总</a:t>
            </a:r>
            <a:r>
              <a:rPr sz="3200" b="1" spc="-13"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计</a:t>
            </a:r>
            <a:r>
              <a:rPr sz="3200" b="1" spc="-7" dirty="0">
                <a:latin typeface="Times New Roman" panose="02020603050405020304" pitchFamily="18" charset="0"/>
                <a:ea typeface="黑体" panose="02010609060101010101" pitchFamily="49" charset="-122"/>
                <a:cs typeface="Times New Roman" panose="02020603050405020304" pitchFamily="18" charset="0"/>
              </a:rPr>
              <a:t> </a:t>
            </a:r>
            <a:r>
              <a:rPr sz="3335" b="1" i="1" spc="-27" dirty="0">
                <a:latin typeface="Symbol" panose="05050102010706020507"/>
                <a:cs typeface="Symbol" panose="05050102010706020507"/>
              </a:rPr>
              <a:t></a:t>
            </a:r>
            <a:r>
              <a:rPr sz="3200" b="1" spc="-27" dirty="0">
                <a:latin typeface="宋体" panose="02010600030101010101" pitchFamily="2" charset="-122"/>
                <a:cs typeface="宋体" panose="02010600030101010101" pitchFamily="2" charset="-122"/>
              </a:rPr>
              <a:t>(</a:t>
            </a:r>
            <a:r>
              <a:rPr sz="3200" b="1" i="1" spc="-27" dirty="0">
                <a:latin typeface="Times New Roman" panose="02020603050405020304"/>
                <a:cs typeface="Times New Roman" panose="02020603050405020304"/>
              </a:rPr>
              <a:t>n</a:t>
            </a:r>
            <a:r>
              <a:rPr sz="3200" b="1" spc="-40" baseline="24000" dirty="0">
                <a:latin typeface="Times New Roman" panose="02020603050405020304"/>
                <a:cs typeface="Times New Roman" panose="02020603050405020304"/>
              </a:rPr>
              <a:t>2</a:t>
            </a:r>
            <a:r>
              <a:rPr sz="3200" b="1" spc="-27" dirty="0">
                <a:latin typeface="宋体" panose="02010600030101010101" pitchFamily="2" charset="-122"/>
                <a:cs typeface="宋体" panose="02010600030101010101" pitchFamily="2" charset="-122"/>
              </a:rPr>
              <a:t>)</a:t>
            </a:r>
            <a:endParaRPr sz="3200" dirty="0">
              <a:latin typeface="宋体" panose="02010600030101010101" pitchFamily="2" charset="-122"/>
              <a:cs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1132151" y="2931234"/>
            <a:ext cx="3051409" cy="878873"/>
          </a:xfrm>
          <a:prstGeom prst="rect">
            <a:avLst/>
          </a:prstGeom>
        </p:spPr>
        <p:txBody>
          <a:bodyPr vert="horz" wrap="square" lIns="0" tIns="16933" rIns="0" bIns="0" rtlCol="0">
            <a:spAutoFit/>
          </a:bodyPr>
          <a:lstStyle/>
          <a:p>
            <a:pPr marL="17145">
              <a:spcBef>
                <a:spcPts val="135"/>
              </a:spcBef>
              <a:tabLst>
                <a:tab pos="1692910" algn="l"/>
              </a:tabLst>
            </a:pPr>
            <a:r>
              <a:rPr sz="2800" b="1" spc="-7" dirty="0">
                <a:latin typeface="Times New Roman" panose="02020603050405020304" pitchFamily="18" charset="0"/>
                <a:ea typeface="黑体" panose="02010609060101010101" pitchFamily="49" charset="-122"/>
                <a:cs typeface="Times New Roman" panose="02020603050405020304" pitchFamily="18" charset="0"/>
              </a:rPr>
              <a:t>"</a:t>
            </a:r>
            <a:r>
              <a:rPr sz="2800" b="1" dirty="0">
                <a:latin typeface="Times New Roman" panose="02020603050405020304" pitchFamily="18" charset="0"/>
                <a:ea typeface="黑体" panose="02010609060101010101" pitchFamily="49" charset="-122"/>
                <a:cs typeface="Times New Roman" panose="02020603050405020304" pitchFamily="18" charset="0"/>
              </a:rPr>
              <a:t>好,</a:t>
            </a:r>
            <a:r>
              <a:rPr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好</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r>
              <a:rPr lang="en-US"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a:latin typeface="Symbol" panose="05050102010706020507"/>
                <a:cs typeface="Symbol" panose="05050102010706020507"/>
              </a:rPr>
              <a:t></a:t>
            </a:r>
            <a:endParaRPr sz="2800" dirty="0">
              <a:latin typeface="Symbol" panose="05050102010706020507"/>
              <a:cs typeface="Symbol" panose="05050102010706020507"/>
            </a:endParaRPr>
          </a:p>
          <a:p>
            <a:pPr marL="17145"/>
            <a:r>
              <a:rPr sz="2800" b="1" dirty="0">
                <a:latin typeface="Times New Roman" panose="02020603050405020304" pitchFamily="18" charset="0"/>
                <a:ea typeface="黑体" panose="02010609060101010101" pitchFamily="49" charset="-122"/>
                <a:cs typeface="Times New Roman" panose="02020603050405020304" pitchFamily="18" charset="0"/>
              </a:rPr>
              <a:t>其他情</a:t>
            </a:r>
            <a:r>
              <a:rPr sz="2800" b="1" spc="-13" dirty="0">
                <a:latin typeface="Times New Roman" panose="02020603050405020304" pitchFamily="18" charset="0"/>
                <a:ea typeface="黑体" panose="02010609060101010101" pitchFamily="49" charset="-122"/>
                <a:cs typeface="Times New Roman" panose="02020603050405020304" pitchFamily="18" charset="0"/>
              </a:rPr>
              <a:t>况</a:t>
            </a:r>
            <a:r>
              <a:rPr sz="2800" b="1" spc="-120" dirty="0">
                <a:latin typeface="宋体" panose="02010600030101010101" pitchFamily="2" charset="-122"/>
                <a:cs typeface="宋体" panose="02010600030101010101" pitchFamily="2" charset="-122"/>
              </a:rPr>
              <a:t> </a:t>
            </a:r>
            <a:r>
              <a:rPr sz="2800" b="1" spc="-7" dirty="0">
                <a:latin typeface="Symbol" panose="05050102010706020507"/>
                <a:cs typeface="Symbol" panose="05050102010706020507"/>
              </a:rPr>
              <a:t></a:t>
            </a:r>
            <a:endParaRPr sz="2800" dirty="0">
              <a:latin typeface="Symbol" panose="05050102010706020507"/>
              <a:cs typeface="Symbol" panose="05050102010706020507"/>
            </a:endParaRPr>
          </a:p>
        </p:txBody>
      </p:sp>
      <p:sp>
        <p:nvSpPr>
          <p:cNvPr id="5" name="object 5"/>
          <p:cNvSpPr txBox="1"/>
          <p:nvPr/>
        </p:nvSpPr>
        <p:spPr>
          <a:xfrm>
            <a:off x="3212045" y="2931234"/>
            <a:ext cx="3965279" cy="891697"/>
          </a:xfrm>
          <a:prstGeom prst="rect">
            <a:avLst/>
          </a:prstGeom>
        </p:spPr>
        <p:txBody>
          <a:bodyPr vert="horz" wrap="square" lIns="0" tIns="16933" rIns="0" bIns="0" rtlCol="0">
            <a:spAutoFit/>
          </a:bodyPr>
          <a:lstStyle/>
          <a:p>
            <a:pPr marR="6985" indent="-59055">
              <a:spcBef>
                <a:spcPts val="135"/>
              </a:spcBef>
            </a:pPr>
            <a:r>
              <a:rPr sz="2800" b="1" dirty="0">
                <a:latin typeface="Times New Roman" panose="02020603050405020304" pitchFamily="18" charset="0"/>
                <a:ea typeface="黑体" panose="02010609060101010101" pitchFamily="49" charset="-122"/>
                <a:cs typeface="Times New Roman" panose="02020603050405020304" pitchFamily="18" charset="0"/>
              </a:rPr>
              <a:t>任</a:t>
            </a:r>
            <a:r>
              <a:rPr sz="2800" b="1" spc="-13" dirty="0">
                <a:latin typeface="Times New Roman" panose="02020603050405020304" pitchFamily="18" charset="0"/>
                <a:ea typeface="黑体" panose="02010609060101010101" pitchFamily="49" charset="-122"/>
                <a:cs typeface="Times New Roman" panose="02020603050405020304" pitchFamily="18" charset="0"/>
              </a:rPr>
              <a:t>留</a:t>
            </a:r>
            <a:r>
              <a:rPr sz="2800" b="1" spc="-920"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1片，进入下轮</a:t>
            </a:r>
            <a:endParaRPr lang="en-US" sz="2800" b="1" dirty="0">
              <a:latin typeface="Times New Roman" panose="02020603050405020304" pitchFamily="18" charset="0"/>
              <a:ea typeface="黑体" panose="02010609060101010101" pitchFamily="49" charset="-122"/>
              <a:cs typeface="Times New Roman" panose="02020603050405020304" pitchFamily="18" charset="0"/>
            </a:endParaRPr>
          </a:p>
          <a:p>
            <a:pPr marR="6985" indent="-59055">
              <a:spcBef>
                <a:spcPts val="135"/>
              </a:spcBef>
            </a:pPr>
            <a:r>
              <a:rPr sz="2800" b="1" dirty="0" err="1">
                <a:latin typeface="Times New Roman" panose="02020603050405020304" pitchFamily="18" charset="0"/>
                <a:ea typeface="黑体" panose="02010609060101010101" pitchFamily="49" charset="-122"/>
                <a:cs typeface="Times New Roman" panose="02020603050405020304" pitchFamily="18" charset="0"/>
              </a:rPr>
              <a:t>全部抛弃</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object 6"/>
          <p:cNvSpPr txBox="1">
            <a:spLocks noGrp="1"/>
          </p:cNvSpPr>
          <p:nvPr>
            <p:ph type="title"/>
          </p:nvPr>
        </p:nvSpPr>
        <p:spPr>
          <a:xfrm>
            <a:off x="231439" y="40289"/>
            <a:ext cx="8846128"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分治算法设计思想</a:t>
            </a:r>
            <a:endParaRPr sz="4400" b="1" spc="-13" dirty="0">
              <a:solidFill>
                <a:srgbClr val="C00000"/>
              </a:solidFill>
              <a:latin typeface="黑体" panose="02010609060101010101" pitchFamily="49" charset="-122"/>
              <a:ea typeface="黑体" panose="02010609060101010101" pitchFamily="49" charset="-122"/>
            </a:endParaRPr>
          </a:p>
        </p:txBody>
      </p:sp>
      <p:sp>
        <p:nvSpPr>
          <p:cNvPr id="7" name="object 7"/>
          <p:cNvSpPr/>
          <p:nvPr/>
        </p:nvSpPr>
        <p:spPr>
          <a:xfrm>
            <a:off x="219947" y="853770"/>
            <a:ext cx="7116064" cy="1603248"/>
          </a:xfrm>
          <a:prstGeom prst="rect">
            <a:avLst/>
          </a:prstGeom>
          <a:blipFill>
            <a:blip r:embed="rId1" cstate="print"/>
            <a:stretch>
              <a:fillRect/>
            </a:stretch>
          </a:blipFill>
        </p:spPr>
        <p:txBody>
          <a:bodyPr wrap="square" lIns="0" tIns="0" rIns="0" bIns="0" rtlCol="0"/>
          <a:lstStyle/>
          <a:p>
            <a:endParaRPr sz="2400"/>
          </a:p>
        </p:txBody>
      </p:sp>
      <p:sp>
        <p:nvSpPr>
          <p:cNvPr id="8" name="object 8"/>
          <p:cNvSpPr/>
          <p:nvPr/>
        </p:nvSpPr>
        <p:spPr>
          <a:xfrm>
            <a:off x="-1103376" y="1131823"/>
            <a:ext cx="7116064" cy="1605280"/>
          </a:xfrm>
          <a:prstGeom prst="rect">
            <a:avLst/>
          </a:prstGeom>
          <a:blipFill>
            <a:blip r:embed="rId1" cstate="print"/>
            <a:stretch>
              <a:fillRect/>
            </a:stretch>
          </a:blipFill>
        </p:spPr>
        <p:txBody>
          <a:bodyPr wrap="square" lIns="0" tIns="0" rIns="0" bIns="0" rtlCol="0"/>
          <a:lstStyle/>
          <a:p>
            <a:endParaRPr sz="2400"/>
          </a:p>
        </p:txBody>
      </p:sp>
      <p:sp>
        <p:nvSpPr>
          <p:cNvPr id="9" name="object 9"/>
          <p:cNvSpPr txBox="1"/>
          <p:nvPr/>
        </p:nvSpPr>
        <p:spPr>
          <a:xfrm>
            <a:off x="546100" y="1225950"/>
            <a:ext cx="8113234" cy="1527768"/>
          </a:xfrm>
          <a:prstGeom prst="rect">
            <a:avLst/>
          </a:prstGeom>
        </p:spPr>
        <p:txBody>
          <a:bodyPr vert="horz" wrap="square" lIns="0" tIns="16933" rIns="0" bIns="0" rtlCol="0">
            <a:spAutoFit/>
          </a:bodyPr>
          <a:lstStyle/>
          <a:p>
            <a:pPr marL="17145" marR="6985" algn="just">
              <a:spcBef>
                <a:spcPts val="135"/>
              </a:spcBef>
            </a:pPr>
            <a:r>
              <a:rPr sz="2800" b="1" dirty="0">
                <a:latin typeface="Times New Roman" panose="02020603050405020304" pitchFamily="18" charset="0"/>
                <a:ea typeface="黑体" panose="02010609060101010101" pitchFamily="49" charset="-122"/>
                <a:cs typeface="Times New Roman" panose="02020603050405020304" pitchFamily="18" charset="0"/>
              </a:rPr>
              <a:t>假</a:t>
            </a:r>
            <a:r>
              <a:rPr sz="2800" b="1" spc="-13" dirty="0">
                <a:latin typeface="Times New Roman" panose="02020603050405020304" pitchFamily="18" charset="0"/>
                <a:ea typeface="黑体" panose="02010609060101010101" pitchFamily="49" charset="-122"/>
                <a:cs typeface="Times New Roman" panose="02020603050405020304" pitchFamily="18" charset="0"/>
              </a:rPr>
              <a:t>设</a:t>
            </a:r>
            <a:r>
              <a:rPr sz="2800" b="1" spc="-867" dirty="0">
                <a:latin typeface="Times New Roman" panose="02020603050405020304" pitchFamily="18" charset="0"/>
                <a:ea typeface="黑体" panose="02010609060101010101" pitchFamily="49" charset="-122"/>
                <a:cs typeface="Times New Roman" panose="02020603050405020304" pitchFamily="18" charset="0"/>
              </a:rPr>
              <a:t> </a:t>
            </a:r>
            <a:r>
              <a:rPr sz="2800" b="1" i="1" spc="-13" dirty="0">
                <a:latin typeface="Times New Roman" panose="02020603050405020304" pitchFamily="18" charset="0"/>
                <a:ea typeface="黑体" panose="02010609060101010101" pitchFamily="49" charset="-122"/>
                <a:cs typeface="Times New Roman" panose="02020603050405020304" pitchFamily="18" charset="0"/>
              </a:rPr>
              <a:t>n</a:t>
            </a:r>
            <a:r>
              <a:rPr sz="2800" b="1" dirty="0">
                <a:latin typeface="Times New Roman" panose="02020603050405020304" pitchFamily="18" charset="0"/>
                <a:ea typeface="黑体" panose="02010609060101010101" pitchFamily="49" charset="-122"/>
                <a:cs typeface="Times New Roman" panose="02020603050405020304" pitchFamily="18" charset="0"/>
              </a:rPr>
              <a:t>为偶数，</a:t>
            </a:r>
            <a:r>
              <a:rPr sz="2800" b="1" spc="-13" dirty="0">
                <a:latin typeface="Times New Roman" panose="02020603050405020304" pitchFamily="18" charset="0"/>
                <a:ea typeface="黑体" panose="02010609060101010101" pitchFamily="49" charset="-122"/>
                <a:cs typeface="Times New Roman" panose="02020603050405020304" pitchFamily="18" charset="0"/>
              </a:rPr>
              <a:t>将</a:t>
            </a:r>
            <a:r>
              <a:rPr sz="2800" b="1" spc="-833" dirty="0">
                <a:latin typeface="Times New Roman" panose="02020603050405020304" pitchFamily="18" charset="0"/>
                <a:ea typeface="黑体" panose="02010609060101010101" pitchFamily="49" charset="-122"/>
                <a:cs typeface="Times New Roman" panose="02020603050405020304" pitchFamily="18" charset="0"/>
              </a:rPr>
              <a:t> </a:t>
            </a:r>
            <a:r>
              <a:rPr sz="2800" b="1" i="1" spc="-13" dirty="0">
                <a:latin typeface="Times New Roman" panose="02020603050405020304" pitchFamily="18" charset="0"/>
                <a:ea typeface="黑体" panose="02010609060101010101" pitchFamily="49" charset="-122"/>
                <a:cs typeface="Times New Roman" panose="02020603050405020304" pitchFamily="18" charset="0"/>
              </a:rPr>
              <a:t>n</a:t>
            </a:r>
            <a:r>
              <a:rPr sz="2800" b="1" dirty="0">
                <a:latin typeface="Times New Roman" panose="02020603050405020304" pitchFamily="18" charset="0"/>
                <a:ea typeface="黑体" panose="02010609060101010101" pitchFamily="49" charset="-122"/>
                <a:cs typeface="Times New Roman" panose="02020603050405020304" pitchFamily="18" charset="0"/>
              </a:rPr>
              <a:t>片芯片两两一组做 测试淘汰，剩下芯片构成子问题，进 </a:t>
            </a:r>
            <a:r>
              <a:rPr sz="2800" b="1" spc="-7" dirty="0">
                <a:latin typeface="Times New Roman" panose="02020603050405020304" pitchFamily="18" charset="0"/>
                <a:ea typeface="黑体" panose="02010609060101010101" pitchFamily="49" charset="-122"/>
                <a:cs typeface="Times New Roman" panose="02020603050405020304" pitchFamily="18" charset="0"/>
              </a:rPr>
              <a:t>入下一轮分组淘</a:t>
            </a:r>
            <a:r>
              <a:rPr sz="2800" b="1" dirty="0">
                <a:latin typeface="Times New Roman" panose="02020603050405020304" pitchFamily="18" charset="0"/>
                <a:ea typeface="黑体" panose="02010609060101010101" pitchFamily="49" charset="-122"/>
                <a:cs typeface="Times New Roman" panose="02020603050405020304" pitchFamily="18" charset="0"/>
              </a:rPr>
              <a:t>汰.</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17145" algn="just">
              <a:spcBef>
                <a:spcPts val="1675"/>
              </a:spcBef>
            </a:pPr>
            <a:r>
              <a:rPr sz="28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淘汰规</a:t>
            </a:r>
            <a:r>
              <a:rPr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则</a:t>
            </a:r>
            <a:r>
              <a:rPr sz="2800" b="1" spc="-13" dirty="0">
                <a:latin typeface="Times New Roman" panose="02020603050405020304" pitchFamily="18" charset="0"/>
                <a:ea typeface="黑体" panose="02010609060101010101" pitchFamily="49" charset="-122"/>
                <a:cs typeface="Times New Roman" panose="02020603050405020304" pitchFamily="18" charset="0"/>
              </a:rPr>
              <a:t>：</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object 10"/>
          <p:cNvSpPr/>
          <p:nvPr/>
        </p:nvSpPr>
        <p:spPr>
          <a:xfrm>
            <a:off x="198927" y="4005145"/>
            <a:ext cx="6506464" cy="1808479"/>
          </a:xfrm>
          <a:prstGeom prst="rect">
            <a:avLst/>
          </a:prstGeom>
          <a:blipFill>
            <a:blip r:embed="rId2" cstate="print"/>
            <a:stretch>
              <a:fillRect/>
            </a:stretch>
          </a:blipFill>
        </p:spPr>
        <p:txBody>
          <a:bodyPr wrap="square" lIns="0" tIns="0" rIns="0" bIns="0" rtlCol="0"/>
          <a:lstStyle/>
          <a:p>
            <a:endParaRPr sz="2400"/>
          </a:p>
        </p:txBody>
      </p:sp>
      <p:sp>
        <p:nvSpPr>
          <p:cNvPr id="11" name="object 11"/>
          <p:cNvSpPr/>
          <p:nvPr/>
        </p:nvSpPr>
        <p:spPr>
          <a:xfrm>
            <a:off x="231439" y="4037655"/>
            <a:ext cx="6506464" cy="1810512"/>
          </a:xfrm>
          <a:prstGeom prst="rect">
            <a:avLst/>
          </a:prstGeom>
          <a:blipFill>
            <a:blip r:embed="rId2" cstate="print"/>
            <a:stretch>
              <a:fillRect/>
            </a:stretch>
          </a:blipFill>
        </p:spPr>
        <p:txBody>
          <a:bodyPr wrap="square" lIns="0" tIns="0" rIns="0" bIns="0" rtlCol="0"/>
          <a:lstStyle/>
          <a:p>
            <a:endParaRPr sz="2400"/>
          </a:p>
        </p:txBody>
      </p:sp>
      <p:sp>
        <p:nvSpPr>
          <p:cNvPr id="12" name="object 12"/>
          <p:cNvSpPr txBox="1"/>
          <p:nvPr/>
        </p:nvSpPr>
        <p:spPr>
          <a:xfrm>
            <a:off x="546100" y="3967890"/>
            <a:ext cx="8113234" cy="1617536"/>
          </a:xfrm>
          <a:prstGeom prst="rect">
            <a:avLst/>
          </a:prstGeom>
        </p:spPr>
        <p:txBody>
          <a:bodyPr vert="horz" wrap="square" lIns="0" tIns="118533" rIns="0" bIns="0" rtlCol="0">
            <a:spAutoFit/>
          </a:bodyPr>
          <a:lstStyle/>
          <a:p>
            <a:pPr marL="17145">
              <a:spcBef>
                <a:spcPts val="935"/>
              </a:spcBef>
            </a:pPr>
            <a:r>
              <a:rPr sz="2800" b="1" dirty="0">
                <a:solidFill>
                  <a:srgbClr val="C00000"/>
                </a:solidFill>
                <a:latin typeface="宋体" panose="02010600030101010101" pitchFamily="2" charset="-122"/>
                <a:cs typeface="宋体" panose="02010600030101010101" pitchFamily="2" charset="-122"/>
              </a:rPr>
              <a:t>递归截止条件：</a:t>
            </a:r>
            <a:r>
              <a:rPr sz="2800" b="1" i="1" dirty="0">
                <a:solidFill>
                  <a:srgbClr val="C00000"/>
                </a:solidFill>
                <a:latin typeface="Times New Roman" panose="02020603050405020304"/>
                <a:cs typeface="Times New Roman" panose="02020603050405020304"/>
              </a:rPr>
              <a:t>n</a:t>
            </a:r>
            <a:r>
              <a:rPr sz="2800" b="1" i="1" spc="-13" dirty="0">
                <a:solidFill>
                  <a:srgbClr val="C00000"/>
                </a:solidFill>
                <a:latin typeface="Times New Roman" panose="02020603050405020304"/>
                <a:cs typeface="Times New Roman" panose="02020603050405020304"/>
              </a:rPr>
              <a:t> </a:t>
            </a:r>
            <a:r>
              <a:rPr sz="2800" b="1" spc="-7" dirty="0">
                <a:solidFill>
                  <a:srgbClr val="C00000"/>
                </a:solidFill>
                <a:latin typeface="Symbol" panose="05050102010706020507"/>
                <a:cs typeface="Symbol" panose="05050102010706020507"/>
              </a:rPr>
              <a:t></a:t>
            </a:r>
            <a:r>
              <a:rPr sz="2800" b="1" spc="-20" dirty="0">
                <a:solidFill>
                  <a:srgbClr val="C00000"/>
                </a:solidFill>
                <a:latin typeface="Times New Roman" panose="02020603050405020304"/>
                <a:cs typeface="Times New Roman" panose="02020603050405020304"/>
              </a:rPr>
              <a:t> </a:t>
            </a:r>
            <a:r>
              <a:rPr sz="2800" b="1" dirty="0">
                <a:solidFill>
                  <a:srgbClr val="C00000"/>
                </a:solidFill>
                <a:latin typeface="Times New Roman" panose="02020603050405020304"/>
                <a:cs typeface="Times New Roman" panose="02020603050405020304"/>
              </a:rPr>
              <a:t>3</a:t>
            </a:r>
            <a:endParaRPr sz="2800" dirty="0">
              <a:latin typeface="Times New Roman" panose="02020603050405020304"/>
              <a:cs typeface="Times New Roman" panose="02020603050405020304"/>
            </a:endParaRPr>
          </a:p>
          <a:p>
            <a:pPr marL="17145">
              <a:spcBef>
                <a:spcPts val="800"/>
              </a:spcBef>
            </a:pPr>
            <a:r>
              <a:rPr lang="en-US" sz="2800" b="1"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3</a:t>
            </a:r>
            <a:r>
              <a:rPr sz="2800" b="1" spc="-80"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片芯片，1</a:t>
            </a:r>
            <a:r>
              <a:rPr sz="2800" b="1" spc="-53"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次测试可得到好芯</a:t>
            </a:r>
            <a:r>
              <a:rPr sz="2800" b="1" spc="7" dirty="0">
                <a:latin typeface="Times New Roman" panose="02020603050405020304" pitchFamily="18" charset="0"/>
                <a:ea typeface="黑体" panose="02010609060101010101" pitchFamily="49" charset="-122"/>
                <a:cs typeface="Times New Roman" panose="02020603050405020304" pitchFamily="18" charset="0"/>
              </a:rPr>
              <a:t>片</a:t>
            </a:r>
            <a:r>
              <a:rPr sz="2800" b="1" dirty="0">
                <a:latin typeface="Times New Roman" panose="02020603050405020304" pitchFamily="18" charset="0"/>
                <a:ea typeface="黑体" panose="02010609060101010101" pitchFamily="49" charset="-122"/>
                <a:cs typeface="Times New Roman" panose="02020603050405020304" pitchFamily="18" charset="0"/>
              </a:rPr>
              <a:t>.</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17145">
              <a:spcBef>
                <a:spcPts val="800"/>
              </a:spcBef>
            </a:pPr>
            <a:r>
              <a:rPr lang="en-US" sz="2800" b="1"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1</a:t>
            </a:r>
            <a:r>
              <a:rPr sz="2800" b="1" spc="-33" dirty="0">
                <a:latin typeface="Times New Roman" panose="02020603050405020304" pitchFamily="18" charset="0"/>
                <a:ea typeface="黑体" panose="02010609060101010101" pitchFamily="49" charset="-122"/>
                <a:cs typeface="Times New Roman" panose="02020603050405020304" pitchFamily="18" charset="0"/>
              </a:rPr>
              <a:t> </a:t>
            </a:r>
            <a:r>
              <a:rPr sz="2800" b="1" spc="-13" dirty="0">
                <a:latin typeface="Times New Roman" panose="02020603050405020304" pitchFamily="18" charset="0"/>
                <a:ea typeface="黑体" panose="02010609060101010101" pitchFamily="49" charset="-122"/>
                <a:cs typeface="Times New Roman" panose="02020603050405020304" pitchFamily="18" charset="0"/>
              </a:rPr>
              <a:t>或 </a:t>
            </a:r>
            <a:r>
              <a:rPr sz="2800" b="1" dirty="0">
                <a:latin typeface="Times New Roman" panose="02020603050405020304" pitchFamily="18" charset="0"/>
                <a:ea typeface="黑体" panose="02010609060101010101" pitchFamily="49" charset="-122"/>
                <a:cs typeface="Times New Roman" panose="02020603050405020304" pitchFamily="18" charset="0"/>
              </a:rPr>
              <a:t>2</a:t>
            </a:r>
            <a:r>
              <a:rPr sz="2800" b="1" spc="-13"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a:latin typeface="Times New Roman" panose="02020603050405020304" pitchFamily="18" charset="0"/>
                <a:ea typeface="黑体" panose="02010609060101010101" pitchFamily="49" charset="-122"/>
                <a:cs typeface="Times New Roman" panose="02020603050405020304" pitchFamily="18" charset="0"/>
              </a:rPr>
              <a:t>片芯片，不再需要测</a:t>
            </a:r>
            <a:r>
              <a:rPr sz="2800" b="1" dirty="0">
                <a:latin typeface="Times New Roman" panose="02020603050405020304" pitchFamily="18" charset="0"/>
                <a:ea typeface="黑体" panose="02010609060101010101" pitchFamily="49" charset="-122"/>
                <a:cs typeface="Times New Roman" panose="02020603050405020304" pitchFamily="18" charset="0"/>
              </a:rPr>
              <a:t>试.</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4159" y="40406"/>
            <a:ext cx="8926885"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分治算法的正确性</a:t>
            </a:r>
            <a:endParaRPr sz="3600" b="1" spc="-13"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558800" y="1203023"/>
            <a:ext cx="8172605" cy="1531188"/>
          </a:xfrm>
          <a:prstGeom prst="rect">
            <a:avLst/>
          </a:prstGeom>
          <a:ln w="25400">
            <a:solidFill>
              <a:srgbClr val="4F81BC"/>
            </a:solidFill>
          </a:ln>
        </p:spPr>
        <p:txBody>
          <a:bodyPr vert="horz" wrap="square" lIns="0" tIns="53340" rIns="0" bIns="0" rtlCol="0">
            <a:spAutoFit/>
          </a:bodyPr>
          <a:lstStyle/>
          <a:p>
            <a:pPr marL="121920" marR="121285" algn="just">
              <a:spcBef>
                <a:spcPts val="600"/>
              </a:spcBef>
            </a:pPr>
            <a:r>
              <a:rPr sz="3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命题1</a:t>
            </a:r>
            <a:r>
              <a:rPr sz="3200" b="1" spc="72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sz="3200" b="1" spc="-13" dirty="0">
                <a:latin typeface="Times New Roman" panose="02020603050405020304" pitchFamily="18" charset="0"/>
                <a:ea typeface="黑体" panose="02010609060101010101" pitchFamily="49" charset="-122"/>
                <a:cs typeface="Times New Roman" panose="02020603050405020304" pitchFamily="18" charset="0"/>
              </a:rPr>
              <a:t>当</a:t>
            </a:r>
            <a:r>
              <a:rPr sz="3200" b="1" spc="-827"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n</a:t>
            </a:r>
            <a:r>
              <a:rPr sz="3200" b="1" i="1" spc="-20"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是偶数时，在上述淘汰规则下，经过一轮淘</a:t>
            </a:r>
            <a:r>
              <a:rPr sz="3200" b="1" spc="7" dirty="0">
                <a:latin typeface="Times New Roman" panose="02020603050405020304" pitchFamily="18" charset="0"/>
                <a:ea typeface="黑体" panose="02010609060101010101" pitchFamily="49" charset="-122"/>
                <a:cs typeface="Times New Roman" panose="02020603050405020304" pitchFamily="18" charset="0"/>
              </a:rPr>
              <a:t>汰</a:t>
            </a:r>
            <a:r>
              <a:rPr sz="3200" b="1" dirty="0">
                <a:latin typeface="Times New Roman" panose="02020603050405020304" pitchFamily="18" charset="0"/>
                <a:ea typeface="黑体" panose="02010609060101010101" pitchFamily="49" charset="-122"/>
                <a:cs typeface="Times New Roman" panose="02020603050405020304" pitchFamily="18" charset="0"/>
              </a:rPr>
              <a:t>，剩下的好芯片</a:t>
            </a:r>
            <a:r>
              <a:rPr sz="3200" b="1" spc="-7" dirty="0">
                <a:latin typeface="Times New Roman" panose="02020603050405020304" pitchFamily="18" charset="0"/>
                <a:ea typeface="黑体" panose="02010609060101010101" pitchFamily="49" charset="-122"/>
                <a:cs typeface="Times New Roman" panose="02020603050405020304" pitchFamily="18" charset="0"/>
              </a:rPr>
              <a:t>比坏芯片至少</a:t>
            </a:r>
            <a:r>
              <a:rPr sz="3200" b="1" dirty="0">
                <a:latin typeface="Times New Roman" panose="02020603050405020304" pitchFamily="18" charset="0"/>
                <a:ea typeface="黑体" panose="02010609060101010101" pitchFamily="49" charset="-122"/>
                <a:cs typeface="Times New Roman" panose="02020603050405020304" pitchFamily="18" charset="0"/>
              </a:rPr>
              <a:t>多1</a:t>
            </a:r>
            <a:r>
              <a:rPr sz="3200" b="1" spc="-7" dirty="0">
                <a:latin typeface="Times New Roman" panose="02020603050405020304" pitchFamily="18" charset="0"/>
                <a:ea typeface="黑体" panose="02010609060101010101" pitchFamily="49" charset="-122"/>
                <a:cs typeface="Times New Roman" panose="02020603050405020304" pitchFamily="18" charset="0"/>
              </a:rPr>
              <a:t>片</a:t>
            </a:r>
            <a:r>
              <a:rPr sz="3200" b="1" dirty="0">
                <a:latin typeface="Times New Roman" panose="02020603050405020304" pitchFamily="18" charset="0"/>
                <a:ea typeface="黑体" panose="02010609060101010101" pitchFamily="49" charset="-122"/>
                <a:cs typeface="Times New Roman" panose="02020603050405020304" pitchFamily="18" charset="0"/>
              </a:rPr>
              <a:t>.</a:t>
            </a:r>
            <a:endParaRPr sz="32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p:nvPr/>
        </p:nvSpPr>
        <p:spPr>
          <a:xfrm>
            <a:off x="-269908" y="0"/>
            <a:ext cx="247904" cy="229616"/>
          </a:xfrm>
          <a:prstGeom prst="rect">
            <a:avLst/>
          </a:prstGeom>
          <a:blipFill>
            <a:blip r:embed="rId1" cstate="print"/>
            <a:stretch>
              <a:fillRect/>
            </a:stretch>
          </a:blipFill>
        </p:spPr>
        <p:txBody>
          <a:bodyPr wrap="square" lIns="0" tIns="0" rIns="0" bIns="0" rtlCol="0"/>
          <a:lstStyle/>
          <a:p>
            <a:endParaRPr sz="2400"/>
          </a:p>
        </p:txBody>
      </p:sp>
      <p:sp>
        <p:nvSpPr>
          <p:cNvPr id="5" name="object 5"/>
          <p:cNvSpPr/>
          <p:nvPr/>
        </p:nvSpPr>
        <p:spPr>
          <a:xfrm>
            <a:off x="14223" y="0"/>
            <a:ext cx="249936" cy="264160"/>
          </a:xfrm>
          <a:prstGeom prst="rect">
            <a:avLst/>
          </a:prstGeom>
          <a:blipFill>
            <a:blip r:embed="rId2" cstate="print"/>
            <a:stretch>
              <a:fillRect/>
            </a:stretch>
          </a:blipFill>
        </p:spPr>
        <p:txBody>
          <a:bodyPr wrap="square" lIns="0" tIns="0" rIns="0" bIns="0" rtlCol="0"/>
          <a:lstStyle/>
          <a:p>
            <a:endParaRPr sz="2400"/>
          </a:p>
        </p:txBody>
      </p:sp>
      <p:sp>
        <p:nvSpPr>
          <p:cNvPr id="6" name="object 6"/>
          <p:cNvSpPr txBox="1"/>
          <p:nvPr/>
        </p:nvSpPr>
        <p:spPr>
          <a:xfrm>
            <a:off x="558800" y="2759189"/>
            <a:ext cx="8172605" cy="1494426"/>
          </a:xfrm>
          <a:prstGeom prst="rect">
            <a:avLst/>
          </a:prstGeom>
        </p:spPr>
        <p:txBody>
          <a:bodyPr vert="horz" wrap="square" lIns="0" tIns="16933" rIns="0" bIns="0" rtlCol="0">
            <a:spAutoFit/>
          </a:bodyPr>
          <a:lstStyle/>
          <a:p>
            <a:pPr marL="17145" marR="6985" algn="just">
              <a:spcBef>
                <a:spcPts val="600"/>
              </a:spcBef>
            </a:pPr>
            <a:r>
              <a:rPr sz="3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证</a:t>
            </a:r>
            <a:r>
              <a:rPr sz="3200" b="1" spc="-60" dirty="0">
                <a:latin typeface="Times New Roman" panose="02020603050405020304" pitchFamily="18" charset="0"/>
                <a:ea typeface="黑体" panose="02010609060101010101" pitchFamily="49" charset="-122"/>
                <a:cs typeface="Times New Roman" panose="02020603050405020304" pitchFamily="18" charset="0"/>
              </a:rPr>
              <a:t> </a:t>
            </a:r>
            <a:r>
              <a:rPr lang="en-US" sz="3200" b="1" spc="-60" dirty="0">
                <a:latin typeface="Times New Roman" panose="02020603050405020304" pitchFamily="18" charset="0"/>
                <a:ea typeface="黑体" panose="02010609060101010101" pitchFamily="49" charset="-122"/>
                <a:cs typeface="Times New Roman" panose="02020603050405020304" pitchFamily="18" charset="0"/>
              </a:rPr>
              <a:t> </a:t>
            </a:r>
            <a:r>
              <a:rPr sz="3200" b="1" dirty="0" err="1">
                <a:latin typeface="Times New Roman" panose="02020603050405020304" pitchFamily="18" charset="0"/>
                <a:ea typeface="黑体" panose="02010609060101010101" pitchFamily="49" charset="-122"/>
                <a:cs typeface="Times New Roman" panose="02020603050405020304" pitchFamily="18" charset="0"/>
              </a:rPr>
              <a:t>设</a:t>
            </a:r>
            <a:r>
              <a:rPr sz="3200" b="1" i="1" dirty="0" err="1">
                <a:latin typeface="Times New Roman" panose="02020603050405020304" pitchFamily="18" charset="0"/>
                <a:ea typeface="黑体" panose="02010609060101010101" pitchFamily="49" charset="-122"/>
                <a:cs typeface="Times New Roman" panose="02020603050405020304" pitchFamily="18" charset="0"/>
              </a:rPr>
              <a:t>A</a:t>
            </a:r>
            <a:r>
              <a:rPr sz="3200" b="1" i="1" dirty="0">
                <a:latin typeface="Times New Roman" panose="02020603050405020304" pitchFamily="18" charset="0"/>
                <a:ea typeface="黑体" panose="02010609060101010101" pitchFamily="49" charset="-122"/>
                <a:cs typeface="Times New Roman" panose="02020603050405020304" pitchFamily="18" charset="0"/>
              </a:rPr>
              <a:t>,</a:t>
            </a:r>
            <a:r>
              <a:rPr sz="3200" b="1" i="1" spc="-20" dirty="0">
                <a:latin typeface="Times New Roman" panose="02020603050405020304" pitchFamily="18" charset="0"/>
                <a:ea typeface="黑体" panose="02010609060101010101" pitchFamily="49" charset="-122"/>
                <a:cs typeface="Times New Roman" panose="02020603050405020304" pitchFamily="18" charset="0"/>
              </a:rPr>
              <a:t> </a:t>
            </a:r>
            <a:r>
              <a:rPr sz="3200" b="1" i="1" spc="-13" dirty="0">
                <a:latin typeface="Times New Roman" panose="02020603050405020304" pitchFamily="18" charset="0"/>
                <a:ea typeface="黑体" panose="02010609060101010101" pitchFamily="49" charset="-122"/>
                <a:cs typeface="Times New Roman" panose="02020603050405020304" pitchFamily="18" charset="0"/>
              </a:rPr>
              <a:t>B</a:t>
            </a:r>
            <a:r>
              <a:rPr sz="3200" b="1" dirty="0">
                <a:latin typeface="Times New Roman" panose="02020603050405020304" pitchFamily="18" charset="0"/>
                <a:ea typeface="黑体" panose="02010609060101010101" pitchFamily="49" charset="-122"/>
                <a:cs typeface="Times New Roman" panose="02020603050405020304" pitchFamily="18" charset="0"/>
              </a:rPr>
              <a:t>都好的芯</a:t>
            </a:r>
            <a:r>
              <a:rPr sz="3200" b="1" spc="-13" dirty="0">
                <a:latin typeface="Times New Roman" panose="02020603050405020304" pitchFamily="18" charset="0"/>
                <a:ea typeface="黑体" panose="02010609060101010101" pitchFamily="49" charset="-122"/>
                <a:cs typeface="Times New Roman" panose="02020603050405020304" pitchFamily="18" charset="0"/>
              </a:rPr>
              <a:t>片</a:t>
            </a:r>
            <a:r>
              <a:rPr sz="3200" b="1" spc="-800"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i</a:t>
            </a:r>
            <a:r>
              <a:rPr sz="3200" b="1" i="1" spc="-33"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组,</a:t>
            </a:r>
            <a:r>
              <a:rPr sz="3200" b="1" spc="-20"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A</a:t>
            </a:r>
            <a:r>
              <a:rPr sz="3200" b="1" dirty="0">
                <a:latin typeface="Times New Roman" panose="02020603050405020304" pitchFamily="18" charset="0"/>
                <a:ea typeface="黑体" panose="02010609060101010101" pitchFamily="49" charset="-122"/>
                <a:cs typeface="Times New Roman" panose="02020603050405020304" pitchFamily="18" charset="0"/>
              </a:rPr>
              <a:t>与</a:t>
            </a:r>
            <a:r>
              <a:rPr sz="3200" b="1" i="1" spc="-7" dirty="0">
                <a:latin typeface="Times New Roman" panose="02020603050405020304" pitchFamily="18" charset="0"/>
                <a:ea typeface="黑体" panose="02010609060101010101" pitchFamily="49" charset="-122"/>
                <a:cs typeface="Times New Roman" panose="02020603050405020304" pitchFamily="18" charset="0"/>
              </a:rPr>
              <a:t>B</a:t>
            </a:r>
            <a:r>
              <a:rPr sz="3200" b="1" dirty="0">
                <a:latin typeface="Times New Roman" panose="02020603050405020304" pitchFamily="18" charset="0"/>
                <a:ea typeface="黑体" panose="02010609060101010101" pitchFamily="49" charset="-122"/>
                <a:cs typeface="Times New Roman" panose="02020603050405020304" pitchFamily="18" charset="0"/>
              </a:rPr>
              <a:t>一好 一</a:t>
            </a:r>
            <a:r>
              <a:rPr sz="3200" b="1" spc="-13" dirty="0">
                <a:latin typeface="Times New Roman" panose="02020603050405020304" pitchFamily="18" charset="0"/>
                <a:ea typeface="黑体" panose="02010609060101010101" pitchFamily="49" charset="-122"/>
                <a:cs typeface="Times New Roman" panose="02020603050405020304" pitchFamily="18" charset="0"/>
              </a:rPr>
              <a:t>坏</a:t>
            </a:r>
            <a:r>
              <a:rPr sz="3200" b="1" spc="-833"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j</a:t>
            </a:r>
            <a:r>
              <a:rPr sz="3200" b="1" i="1" spc="-33"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组</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A</a:t>
            </a:r>
            <a:r>
              <a:rPr sz="3200" b="1" dirty="0">
                <a:latin typeface="Times New Roman" panose="02020603050405020304" pitchFamily="18" charset="0"/>
                <a:ea typeface="黑体" panose="02010609060101010101" pitchFamily="49" charset="-122"/>
                <a:cs typeface="Times New Roman" panose="02020603050405020304" pitchFamily="18" charset="0"/>
              </a:rPr>
              <a:t>与</a:t>
            </a:r>
            <a:r>
              <a:rPr sz="3200" b="1" i="1" dirty="0">
                <a:latin typeface="Times New Roman" panose="02020603050405020304" pitchFamily="18" charset="0"/>
                <a:ea typeface="黑体" panose="02010609060101010101" pitchFamily="49" charset="-122"/>
                <a:cs typeface="Times New Roman" panose="02020603050405020304" pitchFamily="18" charset="0"/>
              </a:rPr>
              <a:t>B</a:t>
            </a:r>
            <a:r>
              <a:rPr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都坏</a:t>
            </a:r>
            <a:r>
              <a:rPr sz="3200" b="1" spc="-13" dirty="0">
                <a:latin typeface="Times New Roman" panose="02020603050405020304" pitchFamily="18" charset="0"/>
                <a:ea typeface="黑体" panose="02010609060101010101" pitchFamily="49" charset="-122"/>
                <a:cs typeface="Times New Roman" panose="02020603050405020304" pitchFamily="18" charset="0"/>
              </a:rPr>
              <a:t>的</a:t>
            </a:r>
            <a:r>
              <a:rPr sz="3200" b="1" spc="-813"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k</a:t>
            </a:r>
            <a:r>
              <a:rPr sz="3200" b="1" i="1" spc="-20"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组.</a:t>
            </a:r>
            <a:r>
              <a:rPr sz="3200" b="1" spc="-20" dirty="0">
                <a:latin typeface="Times New Roman" panose="02020603050405020304" pitchFamily="18" charset="0"/>
                <a:ea typeface="黑体" panose="02010609060101010101" pitchFamily="49" charset="-122"/>
                <a:cs typeface="Times New Roman" panose="02020603050405020304" pitchFamily="18" charset="0"/>
              </a:rPr>
              <a:t> </a:t>
            </a:r>
            <a:r>
              <a:rPr sz="3200" b="1" dirty="0" err="1">
                <a:latin typeface="Times New Roman" panose="02020603050405020304" pitchFamily="18" charset="0"/>
                <a:ea typeface="黑体" panose="02010609060101010101" pitchFamily="49" charset="-122"/>
                <a:cs typeface="Times New Roman" panose="02020603050405020304" pitchFamily="18" charset="0"/>
              </a:rPr>
              <a:t>淘汰后好芯片至</a:t>
            </a:r>
            <a:r>
              <a:rPr sz="3200" b="1" spc="-13" dirty="0" err="1">
                <a:latin typeface="Times New Roman" panose="02020603050405020304" pitchFamily="18" charset="0"/>
                <a:ea typeface="黑体" panose="02010609060101010101" pitchFamily="49" charset="-122"/>
                <a:cs typeface="Times New Roman" panose="02020603050405020304" pitchFamily="18" charset="0"/>
              </a:rPr>
              <a:t>少</a:t>
            </a:r>
            <a:r>
              <a:rPr sz="3200" b="1" spc="-833"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i</a:t>
            </a:r>
            <a:r>
              <a:rPr sz="3200" b="1" dirty="0">
                <a:latin typeface="Times New Roman" panose="02020603050405020304" pitchFamily="18" charset="0"/>
                <a:ea typeface="黑体" panose="02010609060101010101" pitchFamily="49" charset="-122"/>
                <a:cs typeface="Times New Roman" panose="02020603050405020304" pitchFamily="18" charset="0"/>
              </a:rPr>
              <a:t>片，坏芯片至</a:t>
            </a:r>
            <a:r>
              <a:rPr sz="3200" b="1" spc="-13" dirty="0">
                <a:latin typeface="Times New Roman" panose="02020603050405020304" pitchFamily="18" charset="0"/>
                <a:ea typeface="黑体" panose="02010609060101010101" pitchFamily="49" charset="-122"/>
                <a:cs typeface="Times New Roman" panose="02020603050405020304" pitchFamily="18" charset="0"/>
              </a:rPr>
              <a:t>多</a:t>
            </a:r>
            <a:r>
              <a:rPr sz="3200" b="1" spc="-807"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k</a:t>
            </a:r>
            <a:r>
              <a:rPr sz="3200" b="1" spc="-13" dirty="0">
                <a:latin typeface="Times New Roman" panose="02020603050405020304" pitchFamily="18" charset="0"/>
                <a:ea typeface="黑体" panose="02010609060101010101" pitchFamily="49" charset="-122"/>
                <a:cs typeface="Times New Roman" panose="02020603050405020304" pitchFamily="18" charset="0"/>
              </a:rPr>
              <a:t>片</a:t>
            </a:r>
            <a:r>
              <a:rPr sz="3200" b="1" spc="-820"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a:t>
            </a:r>
            <a:endParaRPr sz="32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object 8"/>
          <p:cNvSpPr txBox="1"/>
          <p:nvPr/>
        </p:nvSpPr>
        <p:spPr>
          <a:xfrm>
            <a:off x="872135" y="4293841"/>
            <a:ext cx="2599267" cy="1823576"/>
          </a:xfrm>
          <a:prstGeom prst="rect">
            <a:avLst/>
          </a:prstGeom>
        </p:spPr>
        <p:txBody>
          <a:bodyPr vert="horz" wrap="square" lIns="0" tIns="101600" rIns="0" bIns="0" rtlCol="0">
            <a:spAutoFit/>
          </a:bodyPr>
          <a:lstStyle/>
          <a:p>
            <a:pPr marL="17145">
              <a:spcBef>
                <a:spcPts val="800"/>
              </a:spcBef>
            </a:pPr>
            <a:r>
              <a:rPr sz="3200" b="1" dirty="0">
                <a:latin typeface="Times New Roman" panose="02020603050405020304"/>
                <a:cs typeface="Times New Roman" panose="02020603050405020304"/>
              </a:rPr>
              <a:t>2</a:t>
            </a:r>
            <a:r>
              <a:rPr sz="3200" b="1" i="1" dirty="0">
                <a:latin typeface="Times New Roman" panose="02020603050405020304"/>
                <a:cs typeface="Times New Roman" panose="02020603050405020304"/>
              </a:rPr>
              <a:t>i </a:t>
            </a:r>
            <a:r>
              <a:rPr sz="3200" b="1" dirty="0">
                <a:latin typeface="Times New Roman" panose="02020603050405020304"/>
                <a:cs typeface="Times New Roman" panose="02020603050405020304"/>
              </a:rPr>
              <a:t>+ 2</a:t>
            </a:r>
            <a:r>
              <a:rPr sz="3200" b="1" i="1" dirty="0">
                <a:latin typeface="Times New Roman" panose="02020603050405020304"/>
                <a:cs typeface="Times New Roman" panose="02020603050405020304"/>
              </a:rPr>
              <a:t>j </a:t>
            </a:r>
            <a:r>
              <a:rPr sz="3200" b="1" dirty="0">
                <a:latin typeface="Times New Roman" panose="02020603050405020304"/>
                <a:cs typeface="Times New Roman" panose="02020603050405020304"/>
              </a:rPr>
              <a:t>+ 2</a:t>
            </a:r>
            <a:r>
              <a:rPr sz="3200" b="1" i="1" dirty="0">
                <a:latin typeface="Times New Roman" panose="02020603050405020304"/>
                <a:cs typeface="Times New Roman" panose="02020603050405020304"/>
              </a:rPr>
              <a:t>k </a:t>
            </a:r>
            <a:r>
              <a:rPr sz="3200" b="1" dirty="0">
                <a:latin typeface="Times New Roman" panose="02020603050405020304"/>
                <a:cs typeface="Times New Roman" panose="02020603050405020304"/>
              </a:rPr>
              <a:t>=</a:t>
            </a:r>
            <a:r>
              <a:rPr sz="3200" b="1" spc="-173" dirty="0">
                <a:latin typeface="Times New Roman" panose="02020603050405020304"/>
                <a:cs typeface="Times New Roman" panose="02020603050405020304"/>
              </a:rPr>
              <a:t> </a:t>
            </a:r>
            <a:r>
              <a:rPr sz="3200" b="1" i="1" spc="-7" dirty="0">
                <a:latin typeface="Times New Roman" panose="02020603050405020304"/>
                <a:cs typeface="Times New Roman" panose="02020603050405020304"/>
              </a:rPr>
              <a:t>n</a:t>
            </a:r>
            <a:endParaRPr sz="3200" dirty="0">
              <a:latin typeface="Times New Roman" panose="02020603050405020304"/>
              <a:cs typeface="Times New Roman" panose="02020603050405020304"/>
            </a:endParaRPr>
          </a:p>
          <a:p>
            <a:pPr marL="118745">
              <a:spcBef>
                <a:spcPts val="680"/>
              </a:spcBef>
            </a:pPr>
            <a:r>
              <a:rPr sz="3200" b="1" spc="-7" dirty="0">
                <a:latin typeface="Times New Roman" panose="02020603050405020304"/>
                <a:cs typeface="Times New Roman" panose="02020603050405020304"/>
              </a:rPr>
              <a:t>2</a:t>
            </a:r>
            <a:r>
              <a:rPr sz="3200" b="1" i="1" spc="-7" dirty="0">
                <a:latin typeface="Times New Roman" panose="02020603050405020304"/>
                <a:cs typeface="Times New Roman" panose="02020603050405020304"/>
              </a:rPr>
              <a:t>i </a:t>
            </a:r>
            <a:r>
              <a:rPr sz="3200" b="1" dirty="0">
                <a:latin typeface="Times New Roman" panose="02020603050405020304"/>
                <a:cs typeface="Times New Roman" panose="02020603050405020304"/>
              </a:rPr>
              <a:t>+ </a:t>
            </a:r>
            <a:r>
              <a:rPr sz="3200" b="1" i="1" dirty="0">
                <a:latin typeface="Times New Roman" panose="02020603050405020304"/>
                <a:cs typeface="Times New Roman" panose="02020603050405020304"/>
              </a:rPr>
              <a:t>j </a:t>
            </a:r>
            <a:r>
              <a:rPr sz="3200" b="1" dirty="0">
                <a:latin typeface="Times New Roman" panose="02020603050405020304"/>
                <a:cs typeface="Times New Roman" panose="02020603050405020304"/>
              </a:rPr>
              <a:t>&gt; </a:t>
            </a:r>
            <a:r>
              <a:rPr sz="3200" b="1" spc="-7" dirty="0">
                <a:latin typeface="Times New Roman" panose="02020603050405020304"/>
                <a:cs typeface="Times New Roman" panose="02020603050405020304"/>
              </a:rPr>
              <a:t>2</a:t>
            </a:r>
            <a:r>
              <a:rPr sz="3200" b="1" i="1" spc="-7" dirty="0">
                <a:latin typeface="Times New Roman" panose="02020603050405020304"/>
                <a:cs typeface="Times New Roman" panose="02020603050405020304"/>
              </a:rPr>
              <a:t>k </a:t>
            </a:r>
            <a:r>
              <a:rPr sz="3200" b="1" dirty="0">
                <a:latin typeface="Times New Roman" panose="02020603050405020304"/>
                <a:cs typeface="Times New Roman" panose="02020603050405020304"/>
              </a:rPr>
              <a:t>+</a:t>
            </a:r>
            <a:r>
              <a:rPr sz="3200" b="1" spc="-133" dirty="0">
                <a:latin typeface="Times New Roman" panose="02020603050405020304"/>
                <a:cs typeface="Times New Roman" panose="02020603050405020304"/>
              </a:rPr>
              <a:t> </a:t>
            </a:r>
            <a:r>
              <a:rPr sz="3200" b="1" i="1" dirty="0">
                <a:latin typeface="Times New Roman" panose="02020603050405020304"/>
                <a:cs typeface="Times New Roman" panose="02020603050405020304"/>
              </a:rPr>
              <a:t>j</a:t>
            </a:r>
            <a:endParaRPr sz="3200" dirty="0">
              <a:latin typeface="Times New Roman" panose="02020603050405020304"/>
              <a:cs typeface="Times New Roman" panose="02020603050405020304"/>
            </a:endParaRPr>
          </a:p>
          <a:p>
            <a:pPr marL="1034415">
              <a:spcBef>
                <a:spcPts val="1245"/>
              </a:spcBef>
            </a:pPr>
            <a:r>
              <a:rPr sz="3200" b="1" i="1" dirty="0">
                <a:latin typeface="Times New Roman" panose="02020603050405020304"/>
                <a:cs typeface="Times New Roman" panose="02020603050405020304"/>
              </a:rPr>
              <a:t>i </a:t>
            </a:r>
            <a:r>
              <a:rPr sz="3200" b="1" dirty="0">
                <a:latin typeface="Times New Roman" panose="02020603050405020304"/>
                <a:cs typeface="Times New Roman" panose="02020603050405020304"/>
              </a:rPr>
              <a:t>&gt;</a:t>
            </a:r>
            <a:r>
              <a:rPr sz="3200" b="1" spc="-53" dirty="0">
                <a:latin typeface="Times New Roman" panose="02020603050405020304"/>
                <a:cs typeface="Times New Roman" panose="02020603050405020304"/>
              </a:rPr>
              <a:t> </a:t>
            </a:r>
            <a:r>
              <a:rPr sz="3200" b="1" i="1" dirty="0">
                <a:latin typeface="Times New Roman" panose="02020603050405020304"/>
                <a:cs typeface="Times New Roman" panose="02020603050405020304"/>
              </a:rPr>
              <a:t>k</a:t>
            </a:r>
            <a:endParaRPr sz="3200" dirty="0">
              <a:latin typeface="Times New Roman" panose="02020603050405020304"/>
              <a:cs typeface="Times New Roman" panose="02020603050405020304"/>
            </a:endParaRPr>
          </a:p>
        </p:txBody>
      </p:sp>
      <p:sp>
        <p:nvSpPr>
          <p:cNvPr id="9" name="object 9"/>
          <p:cNvSpPr/>
          <p:nvPr/>
        </p:nvSpPr>
        <p:spPr>
          <a:xfrm>
            <a:off x="1175172" y="5732175"/>
            <a:ext cx="609600" cy="304800"/>
          </a:xfrm>
          <a:custGeom>
            <a:avLst/>
            <a:gdLst/>
            <a:ahLst/>
            <a:cxnLst/>
            <a:rect l="l" t="t" r="r" b="b"/>
            <a:pathLst>
              <a:path w="457200" h="228600">
                <a:moveTo>
                  <a:pt x="342900" y="0"/>
                </a:moveTo>
                <a:lnTo>
                  <a:pt x="342900" y="57150"/>
                </a:lnTo>
                <a:lnTo>
                  <a:pt x="0" y="57150"/>
                </a:lnTo>
                <a:lnTo>
                  <a:pt x="0" y="171450"/>
                </a:lnTo>
                <a:lnTo>
                  <a:pt x="342900" y="171450"/>
                </a:lnTo>
                <a:lnTo>
                  <a:pt x="342900" y="228600"/>
                </a:lnTo>
                <a:lnTo>
                  <a:pt x="457200" y="114300"/>
                </a:lnTo>
                <a:lnTo>
                  <a:pt x="342900" y="0"/>
                </a:lnTo>
                <a:close/>
              </a:path>
            </a:pathLst>
          </a:custGeom>
          <a:solidFill>
            <a:srgbClr val="4F81BC"/>
          </a:solidFill>
        </p:spPr>
        <p:txBody>
          <a:bodyPr wrap="square" lIns="0" tIns="0" rIns="0" bIns="0" rtlCol="0"/>
          <a:lstStyle/>
          <a:p>
            <a:endParaRPr sz="2400"/>
          </a:p>
        </p:txBody>
      </p:sp>
      <p:sp>
        <p:nvSpPr>
          <p:cNvPr id="10" name="object 10"/>
          <p:cNvSpPr/>
          <p:nvPr/>
        </p:nvSpPr>
        <p:spPr>
          <a:xfrm>
            <a:off x="1175172" y="5732175"/>
            <a:ext cx="609600" cy="304800"/>
          </a:xfrm>
          <a:custGeom>
            <a:avLst/>
            <a:gdLst/>
            <a:ahLst/>
            <a:cxnLst/>
            <a:rect l="l" t="t" r="r" b="b"/>
            <a:pathLst>
              <a:path w="457200" h="228600">
                <a:moveTo>
                  <a:pt x="0" y="57150"/>
                </a:moveTo>
                <a:lnTo>
                  <a:pt x="342900" y="57150"/>
                </a:lnTo>
                <a:lnTo>
                  <a:pt x="342900" y="0"/>
                </a:lnTo>
                <a:lnTo>
                  <a:pt x="457200" y="114300"/>
                </a:lnTo>
                <a:lnTo>
                  <a:pt x="342900" y="228600"/>
                </a:lnTo>
                <a:lnTo>
                  <a:pt x="342900" y="171450"/>
                </a:lnTo>
                <a:lnTo>
                  <a:pt x="0" y="171450"/>
                </a:lnTo>
                <a:lnTo>
                  <a:pt x="0" y="57150"/>
                </a:lnTo>
                <a:close/>
              </a:path>
            </a:pathLst>
          </a:custGeom>
          <a:ln w="25400">
            <a:solidFill>
              <a:srgbClr val="385D89"/>
            </a:solidFill>
          </a:ln>
        </p:spPr>
        <p:txBody>
          <a:bodyPr wrap="square" lIns="0" tIns="0" rIns="0" bIns="0" rtlCol="0"/>
          <a:lstStyle/>
          <a:p>
            <a:endParaRPr sz="2400"/>
          </a:p>
        </p:txBody>
      </p:sp>
      <p:sp>
        <p:nvSpPr>
          <p:cNvPr id="11" name="object 11"/>
          <p:cNvSpPr/>
          <p:nvPr/>
        </p:nvSpPr>
        <p:spPr>
          <a:xfrm>
            <a:off x="705272" y="4415850"/>
            <a:ext cx="6502400" cy="1117600"/>
          </a:xfrm>
          <a:custGeom>
            <a:avLst/>
            <a:gdLst/>
            <a:ahLst/>
            <a:cxnLst/>
            <a:rect l="l" t="t" r="r" b="b"/>
            <a:pathLst>
              <a:path w="4876800" h="838200">
                <a:moveTo>
                  <a:pt x="0" y="139700"/>
                </a:moveTo>
                <a:lnTo>
                  <a:pt x="7122" y="95520"/>
                </a:lnTo>
                <a:lnTo>
                  <a:pt x="26954" y="57168"/>
                </a:lnTo>
                <a:lnTo>
                  <a:pt x="57195" y="26936"/>
                </a:lnTo>
                <a:lnTo>
                  <a:pt x="95544" y="7116"/>
                </a:lnTo>
                <a:lnTo>
                  <a:pt x="139700" y="0"/>
                </a:lnTo>
                <a:lnTo>
                  <a:pt x="4737100" y="0"/>
                </a:lnTo>
                <a:lnTo>
                  <a:pt x="4781230" y="7116"/>
                </a:lnTo>
                <a:lnTo>
                  <a:pt x="4819576" y="26936"/>
                </a:lnTo>
                <a:lnTo>
                  <a:pt x="4849827" y="57168"/>
                </a:lnTo>
                <a:lnTo>
                  <a:pt x="4869671" y="95520"/>
                </a:lnTo>
                <a:lnTo>
                  <a:pt x="4876800" y="139700"/>
                </a:lnTo>
                <a:lnTo>
                  <a:pt x="4876800" y="698500"/>
                </a:lnTo>
                <a:lnTo>
                  <a:pt x="4869671" y="742655"/>
                </a:lnTo>
                <a:lnTo>
                  <a:pt x="4849827" y="781004"/>
                </a:lnTo>
                <a:lnTo>
                  <a:pt x="4819576" y="811245"/>
                </a:lnTo>
                <a:lnTo>
                  <a:pt x="4781230" y="831077"/>
                </a:lnTo>
                <a:lnTo>
                  <a:pt x="4737100" y="838200"/>
                </a:lnTo>
                <a:lnTo>
                  <a:pt x="139700" y="838200"/>
                </a:lnTo>
                <a:lnTo>
                  <a:pt x="95544" y="831077"/>
                </a:lnTo>
                <a:lnTo>
                  <a:pt x="57195" y="811245"/>
                </a:lnTo>
                <a:lnTo>
                  <a:pt x="26954" y="781004"/>
                </a:lnTo>
                <a:lnTo>
                  <a:pt x="7122" y="742655"/>
                </a:lnTo>
                <a:lnTo>
                  <a:pt x="0" y="698500"/>
                </a:lnTo>
                <a:lnTo>
                  <a:pt x="0" y="139700"/>
                </a:lnTo>
                <a:close/>
              </a:path>
            </a:pathLst>
          </a:custGeom>
          <a:ln w="25400">
            <a:solidFill>
              <a:srgbClr val="C00000"/>
            </a:solidFill>
          </a:ln>
        </p:spPr>
        <p:txBody>
          <a:bodyPr wrap="square" lIns="0" tIns="0" rIns="0" bIns="0" rtlCol="0"/>
          <a:lstStyle/>
          <a:p>
            <a:endParaRPr sz="2400"/>
          </a:p>
        </p:txBody>
      </p:sp>
      <p:sp>
        <p:nvSpPr>
          <p:cNvPr id="12" name="object 12"/>
          <p:cNvSpPr txBox="1"/>
          <p:nvPr/>
        </p:nvSpPr>
        <p:spPr>
          <a:xfrm>
            <a:off x="3361429" y="4376538"/>
            <a:ext cx="4048193" cy="1084057"/>
          </a:xfrm>
          <a:prstGeom prst="rect">
            <a:avLst/>
          </a:prstGeom>
        </p:spPr>
        <p:txBody>
          <a:bodyPr vert="horz" wrap="square" lIns="0" tIns="118533" rIns="0" bIns="0" rtlCol="0">
            <a:spAutoFit/>
          </a:bodyPr>
          <a:lstStyle/>
          <a:p>
            <a:pPr marL="735965">
              <a:spcBef>
                <a:spcPts val="935"/>
              </a:spcBef>
            </a:pPr>
            <a:r>
              <a:rPr sz="2800" b="1" dirty="0">
                <a:solidFill>
                  <a:srgbClr val="006FC0"/>
                </a:solidFill>
                <a:latin typeface="宋体" panose="02010600030101010101" pitchFamily="2" charset="-122"/>
                <a:cs typeface="宋体" panose="02010600030101010101" pitchFamily="2" charset="-122"/>
              </a:rPr>
              <a:t>初始芯片总数</a:t>
            </a:r>
            <a:endParaRPr sz="2800" dirty="0">
              <a:latin typeface="宋体" panose="02010600030101010101" pitchFamily="2" charset="-122"/>
              <a:cs typeface="宋体" panose="02010600030101010101" pitchFamily="2" charset="-122"/>
            </a:endParaRPr>
          </a:p>
          <a:p>
            <a:pPr marL="17145">
              <a:spcBef>
                <a:spcPts val="800"/>
              </a:spcBef>
            </a:pPr>
            <a:r>
              <a:rPr sz="2800" b="1" dirty="0">
                <a:solidFill>
                  <a:srgbClr val="006FC0"/>
                </a:solidFill>
                <a:latin typeface="宋体" panose="02010600030101010101" pitchFamily="2" charset="-122"/>
                <a:cs typeface="宋体" panose="02010600030101010101" pitchFamily="2" charset="-122"/>
              </a:rPr>
              <a:t>初</a:t>
            </a:r>
            <a:r>
              <a:rPr sz="2800" b="1" spc="560" dirty="0">
                <a:solidFill>
                  <a:srgbClr val="006FC0"/>
                </a:solidFill>
                <a:latin typeface="宋体" panose="02010600030101010101" pitchFamily="2" charset="-122"/>
                <a:cs typeface="宋体" panose="02010600030101010101" pitchFamily="2" charset="-122"/>
              </a:rPr>
              <a:t>始</a:t>
            </a:r>
            <a:r>
              <a:rPr sz="2800" b="1" dirty="0">
                <a:solidFill>
                  <a:srgbClr val="006FC0"/>
                </a:solidFill>
                <a:latin typeface="宋体" panose="02010600030101010101" pitchFamily="2" charset="-122"/>
                <a:cs typeface="宋体" panose="02010600030101010101" pitchFamily="2" charset="-122"/>
              </a:rPr>
              <a:t>好芯片多于坏芯片</a:t>
            </a:r>
            <a:endParaRPr sz="2800" dirty="0">
              <a:latin typeface="宋体" panose="02010600030101010101" pitchFamily="2" charset="-122"/>
              <a:cs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6605" y="31535"/>
            <a:ext cx="8937395"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i="1" spc="-13" dirty="0">
                <a:solidFill>
                  <a:srgbClr val="C00000"/>
                </a:solidFill>
                <a:latin typeface="Times New Roman" panose="02020603050405020304"/>
                <a:cs typeface="Times New Roman" panose="02020603050405020304"/>
              </a:rPr>
              <a:t>n</a:t>
            </a:r>
            <a:r>
              <a:rPr sz="4400" b="1" spc="-20" dirty="0">
                <a:solidFill>
                  <a:srgbClr val="C00000"/>
                </a:solidFill>
              </a:rPr>
              <a:t>为奇数时的特殊处理</a:t>
            </a:r>
            <a:endParaRPr sz="4400" b="1" spc="-20" dirty="0">
              <a:solidFill>
                <a:srgbClr val="C00000"/>
              </a:solidFill>
            </a:endParaRPr>
          </a:p>
        </p:txBody>
      </p:sp>
      <p:sp>
        <p:nvSpPr>
          <p:cNvPr id="3" name="object 3"/>
          <p:cNvSpPr txBox="1"/>
          <p:nvPr/>
        </p:nvSpPr>
        <p:spPr>
          <a:xfrm>
            <a:off x="468351" y="1170798"/>
            <a:ext cx="5079120" cy="448841"/>
          </a:xfrm>
          <a:prstGeom prst="rect">
            <a:avLst/>
          </a:prstGeom>
        </p:spPr>
        <p:txBody>
          <a:bodyPr vert="horz" wrap="square" lIns="0" tIns="17780" rIns="0" bIns="0" rtlCol="0">
            <a:spAutoFit/>
          </a:bodyPr>
          <a:lstStyle/>
          <a:p>
            <a:pPr marL="17145">
              <a:spcBef>
                <a:spcPts val="140"/>
              </a:spcBef>
            </a:pPr>
            <a:r>
              <a:rPr sz="2800" b="1" spc="-7" dirty="0">
                <a:latin typeface="Times New Roman" panose="02020603050405020304" pitchFamily="18" charset="0"/>
                <a:ea typeface="黑体" panose="02010609060101010101" pitchFamily="49" charset="-122"/>
                <a:cs typeface="Times New Roman" panose="02020603050405020304" pitchFamily="18" charset="0"/>
              </a:rPr>
              <a:t>当</a:t>
            </a:r>
            <a:r>
              <a:rPr sz="2800" b="1" spc="-940"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n</a:t>
            </a:r>
            <a:r>
              <a:rPr sz="2800" b="1" i="1" spc="-47"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是奇数时，可能出问题</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p:nvPr/>
        </p:nvSpPr>
        <p:spPr>
          <a:xfrm>
            <a:off x="-269908" y="0"/>
            <a:ext cx="247904" cy="229616"/>
          </a:xfrm>
          <a:prstGeom prst="rect">
            <a:avLst/>
          </a:prstGeom>
          <a:blipFill>
            <a:blip r:embed="rId1" cstate="print"/>
            <a:stretch>
              <a:fillRect/>
            </a:stretch>
          </a:blipFill>
        </p:spPr>
        <p:txBody>
          <a:bodyPr wrap="square" lIns="0" tIns="0" rIns="0" bIns="0" rtlCol="0"/>
          <a:lstStyle/>
          <a:p>
            <a:endParaRPr sz="2400"/>
          </a:p>
        </p:txBody>
      </p:sp>
      <p:sp>
        <p:nvSpPr>
          <p:cNvPr id="5" name="object 5"/>
          <p:cNvSpPr/>
          <p:nvPr/>
        </p:nvSpPr>
        <p:spPr>
          <a:xfrm>
            <a:off x="14223" y="0"/>
            <a:ext cx="249936" cy="264160"/>
          </a:xfrm>
          <a:prstGeom prst="rect">
            <a:avLst/>
          </a:prstGeom>
          <a:blipFill>
            <a:blip r:embed="rId2" cstate="print"/>
            <a:stretch>
              <a:fillRect/>
            </a:stretch>
          </a:blipFill>
        </p:spPr>
        <p:txBody>
          <a:bodyPr wrap="square" lIns="0" tIns="0" rIns="0" bIns="0" rtlCol="0"/>
          <a:lstStyle/>
          <a:p>
            <a:endParaRPr sz="2400"/>
          </a:p>
        </p:txBody>
      </p:sp>
      <p:sp>
        <p:nvSpPr>
          <p:cNvPr id="6" name="object 6"/>
          <p:cNvSpPr txBox="1"/>
          <p:nvPr/>
        </p:nvSpPr>
        <p:spPr>
          <a:xfrm>
            <a:off x="596391" y="3750601"/>
            <a:ext cx="8090409" cy="1941557"/>
          </a:xfrm>
          <a:prstGeom prst="rect">
            <a:avLst/>
          </a:prstGeom>
        </p:spPr>
        <p:txBody>
          <a:bodyPr vert="horz" wrap="square" lIns="0" tIns="12700" rIns="0" bIns="0" rtlCol="0">
            <a:spAutoFit/>
          </a:bodyPr>
          <a:lstStyle/>
          <a:p>
            <a:pPr marL="17145" algn="just">
              <a:spcBef>
                <a:spcPts val="1635"/>
              </a:spcBef>
            </a:pPr>
            <a:r>
              <a:rPr lang="zh-CN" altLang="en-US" sz="28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处理办法</a:t>
            </a:r>
            <a:r>
              <a:rPr lang="zh-CN" altLang="en-US" sz="2800" b="1" spc="-7" dirty="0">
                <a:latin typeface="Times New Roman" panose="02020603050405020304" pitchFamily="18" charset="0"/>
                <a:ea typeface="黑体" panose="02010609060101010101" pitchFamily="49" charset="-122"/>
                <a:cs typeface="Times New Roman" panose="02020603050405020304" pitchFamily="18" charset="0"/>
              </a:rPr>
              <a:t>：当 </a:t>
            </a:r>
            <a:r>
              <a:rPr lang="en-US" altLang="zh-CN" sz="2800" b="1" spc="-7" dirty="0">
                <a:latin typeface="Times New Roman" panose="02020603050405020304" pitchFamily="18" charset="0"/>
                <a:ea typeface="黑体" panose="02010609060101010101" pitchFamily="49" charset="-122"/>
                <a:cs typeface="Times New Roman" panose="02020603050405020304" pitchFamily="18" charset="0"/>
              </a:rPr>
              <a:t>n </a:t>
            </a:r>
            <a:r>
              <a:rPr lang="zh-CN" altLang="en-US" sz="2800" b="1" spc="-7" dirty="0">
                <a:latin typeface="Times New Roman" panose="02020603050405020304" pitchFamily="18" charset="0"/>
                <a:ea typeface="黑体" panose="02010609060101010101" pitchFamily="49" charset="-122"/>
                <a:cs typeface="Times New Roman" panose="02020603050405020304" pitchFamily="18" charset="0"/>
              </a:rPr>
              <a:t>为奇数时，增加一轮对轮空芯片的单独测试</a:t>
            </a:r>
            <a:r>
              <a:rPr lang="en-US" altLang="zh-CN" sz="2800" b="1" spc="-7" dirty="0">
                <a:latin typeface="Times New Roman" panose="02020603050405020304" pitchFamily="18" charset="0"/>
                <a:ea typeface="黑体" panose="02010609060101010101" pitchFamily="49" charset="-122"/>
                <a:cs typeface="Times New Roman" panose="02020603050405020304" pitchFamily="18" charset="0"/>
              </a:rPr>
              <a:t>.</a:t>
            </a:r>
            <a:endParaRPr lang="en-US" sz="2800" b="1" spc="-7" dirty="0">
              <a:latin typeface="Times New Roman" panose="02020603050405020304" pitchFamily="18" charset="0"/>
              <a:ea typeface="黑体" panose="02010609060101010101" pitchFamily="49" charset="-122"/>
              <a:cs typeface="Times New Roman" panose="02020603050405020304" pitchFamily="18" charset="0"/>
            </a:endParaRPr>
          </a:p>
          <a:p>
            <a:pPr marL="17145">
              <a:spcBef>
                <a:spcPts val="1635"/>
              </a:spcBef>
            </a:pPr>
            <a:r>
              <a:rPr sz="2800" b="1" spc="-7" dirty="0" err="1">
                <a:latin typeface="Times New Roman" panose="02020603050405020304" pitchFamily="18" charset="0"/>
                <a:ea typeface="黑体" panose="02010609060101010101" pitchFamily="49" charset="-122"/>
                <a:cs typeface="Times New Roman" panose="02020603050405020304" pitchFamily="18" charset="0"/>
              </a:rPr>
              <a:t>如果该芯片为好芯片，算法结束</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endParaRPr sz="2800" b="1" dirty="0">
              <a:latin typeface="Times New Roman" panose="02020603050405020304" pitchFamily="18" charset="0"/>
              <a:ea typeface="黑体" panose="02010609060101010101" pitchFamily="49" charset="-122"/>
              <a:cs typeface="Times New Roman" panose="02020603050405020304" pitchFamily="18" charset="0"/>
            </a:endParaRPr>
          </a:p>
          <a:p>
            <a:pPr marL="17145">
              <a:spcBef>
                <a:spcPts val="20"/>
              </a:spcBef>
            </a:pPr>
            <a:r>
              <a:rPr sz="2800" b="1" dirty="0">
                <a:latin typeface="Times New Roman" panose="02020603050405020304" pitchFamily="18" charset="0"/>
                <a:ea typeface="黑体" panose="02010609060101010101" pitchFamily="49" charset="-122"/>
                <a:cs typeface="Times New Roman" panose="02020603050405020304" pitchFamily="18" charset="0"/>
              </a:rPr>
              <a:t>如果是坏芯片，则淘汰该芯</a:t>
            </a:r>
            <a:r>
              <a:rPr sz="2800" b="1" spc="7" dirty="0">
                <a:latin typeface="Times New Roman" panose="02020603050405020304" pitchFamily="18" charset="0"/>
                <a:ea typeface="黑体" panose="02010609060101010101" pitchFamily="49" charset="-122"/>
                <a:cs typeface="Times New Roman" panose="02020603050405020304" pitchFamily="18" charset="0"/>
              </a:rPr>
              <a:t>片</a:t>
            </a:r>
            <a:r>
              <a:rPr sz="2800" b="1" dirty="0">
                <a:latin typeface="Times New Roman" panose="02020603050405020304" pitchFamily="18" charset="0"/>
                <a:ea typeface="黑体" panose="02010609060101010101" pitchFamily="49" charset="-122"/>
                <a:cs typeface="Times New Roman" panose="02020603050405020304" pitchFamily="18" charset="0"/>
              </a:rPr>
              <a:t>.</a:t>
            </a:r>
            <a:endParaRPr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object 7"/>
          <p:cNvSpPr txBox="1"/>
          <p:nvPr/>
        </p:nvSpPr>
        <p:spPr>
          <a:xfrm>
            <a:off x="828648" y="1729509"/>
            <a:ext cx="850900" cy="447986"/>
          </a:xfrm>
          <a:prstGeom prst="rect">
            <a:avLst/>
          </a:prstGeom>
        </p:spPr>
        <p:txBody>
          <a:bodyPr vert="horz" wrap="square" lIns="0" tIns="16933" rIns="0" bIns="0" rtlCol="0">
            <a:spAutoFit/>
          </a:bodyPr>
          <a:lstStyle/>
          <a:p>
            <a:pPr marL="17145">
              <a:spcBef>
                <a:spcPts val="135"/>
              </a:spcBef>
            </a:pPr>
            <a:r>
              <a:rPr sz="2800" b="1" spc="-7" dirty="0">
                <a:latin typeface="Times New Roman" panose="02020603050405020304" pitchFamily="18" charset="0"/>
                <a:ea typeface="黑体" panose="02010609060101010101" pitchFamily="49" charset="-122"/>
                <a:cs typeface="Times New Roman" panose="02020603050405020304" pitchFamily="18" charset="0"/>
              </a:rPr>
              <a:t>输入</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object 8"/>
          <p:cNvSpPr txBox="1"/>
          <p:nvPr/>
        </p:nvSpPr>
        <p:spPr>
          <a:xfrm>
            <a:off x="1662445" y="1803651"/>
            <a:ext cx="408940" cy="410369"/>
          </a:xfrm>
          <a:prstGeom prst="rect">
            <a:avLst/>
          </a:prstGeom>
        </p:spPr>
        <p:txBody>
          <a:bodyPr vert="horz" wrap="square" lIns="0" tIns="0" rIns="0" bIns="0" rtlCol="0">
            <a:spAutoFit/>
          </a:bodyPr>
          <a:lstStyle/>
          <a:p>
            <a:pPr>
              <a:lnSpc>
                <a:spcPts val="3200"/>
              </a:lnSpc>
            </a:pPr>
            <a:r>
              <a:rPr sz="2800" b="1" spc="-7" dirty="0">
                <a:latin typeface="Times New Roman" panose="02020603050405020304" pitchFamily="18" charset="0"/>
                <a:ea typeface="黑体" panose="02010609060101010101" pitchFamily="49" charset="-122"/>
                <a:cs typeface="Times New Roman" panose="02020603050405020304" pitchFamily="18" charset="0"/>
              </a:rPr>
              <a:t>：</a:t>
            </a:r>
            <a:endParaRPr sz="28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object 9"/>
          <p:cNvSpPr txBox="1"/>
          <p:nvPr/>
        </p:nvSpPr>
        <p:spPr>
          <a:xfrm>
            <a:off x="2004227" y="1794771"/>
            <a:ext cx="609600" cy="371897"/>
          </a:xfrm>
          <a:prstGeom prst="rect">
            <a:avLst/>
          </a:prstGeom>
          <a:solidFill>
            <a:srgbClr val="A6A6A6"/>
          </a:solidFill>
          <a:ln w="25400">
            <a:solidFill>
              <a:srgbClr val="7E7E7E"/>
            </a:solidFill>
          </a:ln>
        </p:spPr>
        <p:txBody>
          <a:bodyPr vert="horz" wrap="square" lIns="0" tIns="0" rIns="0" bIns="0" rtlCol="0">
            <a:spAutoFit/>
          </a:bodyPr>
          <a:lstStyle/>
          <a:p>
            <a:pPr marL="150495">
              <a:lnSpc>
                <a:spcPts val="2855"/>
              </a:lnSpc>
            </a:pPr>
            <a:r>
              <a:rPr sz="2800" b="1" spc="-7"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好</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object 10"/>
          <p:cNvSpPr txBox="1"/>
          <p:nvPr/>
        </p:nvSpPr>
        <p:spPr>
          <a:xfrm>
            <a:off x="2715427" y="1794771"/>
            <a:ext cx="609600" cy="371897"/>
          </a:xfrm>
          <a:prstGeom prst="rect">
            <a:avLst/>
          </a:prstGeom>
          <a:solidFill>
            <a:srgbClr val="A6A6A6"/>
          </a:solidFill>
          <a:ln w="25400">
            <a:solidFill>
              <a:srgbClr val="7E7E7E"/>
            </a:solidFill>
          </a:ln>
        </p:spPr>
        <p:txBody>
          <a:bodyPr vert="horz" wrap="square" lIns="0" tIns="0" rIns="0" bIns="0" rtlCol="0">
            <a:spAutoFit/>
          </a:bodyPr>
          <a:lstStyle/>
          <a:p>
            <a:pPr marL="150495">
              <a:lnSpc>
                <a:spcPts val="2855"/>
              </a:lnSpc>
            </a:pPr>
            <a:r>
              <a:rPr sz="2800" b="1" spc="-7"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好</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object 11"/>
          <p:cNvSpPr txBox="1"/>
          <p:nvPr/>
        </p:nvSpPr>
        <p:spPr>
          <a:xfrm>
            <a:off x="3426627" y="1794771"/>
            <a:ext cx="609600" cy="371897"/>
          </a:xfrm>
          <a:prstGeom prst="rect">
            <a:avLst/>
          </a:prstGeom>
          <a:solidFill>
            <a:srgbClr val="A6A6A6"/>
          </a:solidFill>
          <a:ln w="25400">
            <a:solidFill>
              <a:srgbClr val="7E7E7E"/>
            </a:solidFill>
          </a:ln>
        </p:spPr>
        <p:txBody>
          <a:bodyPr vert="horz" wrap="square" lIns="0" tIns="0" rIns="0" bIns="0" rtlCol="0">
            <a:spAutoFit/>
          </a:bodyPr>
          <a:lstStyle/>
          <a:p>
            <a:pPr marL="151765">
              <a:lnSpc>
                <a:spcPts val="2855"/>
              </a:lnSpc>
            </a:pPr>
            <a:r>
              <a:rPr sz="2800" b="1" spc="-7"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好</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object 12"/>
          <p:cNvSpPr txBox="1"/>
          <p:nvPr/>
        </p:nvSpPr>
        <p:spPr>
          <a:xfrm>
            <a:off x="4137827" y="1794771"/>
            <a:ext cx="609600" cy="371897"/>
          </a:xfrm>
          <a:prstGeom prst="rect">
            <a:avLst/>
          </a:prstGeom>
          <a:solidFill>
            <a:srgbClr val="A6A6A6"/>
          </a:solidFill>
          <a:ln w="25400">
            <a:solidFill>
              <a:srgbClr val="7E7E7E"/>
            </a:solidFill>
          </a:ln>
        </p:spPr>
        <p:txBody>
          <a:bodyPr vert="horz" wrap="square" lIns="0" tIns="0" rIns="0" bIns="0" rtlCol="0">
            <a:spAutoFit/>
          </a:bodyPr>
          <a:lstStyle/>
          <a:p>
            <a:pPr marL="151765">
              <a:lnSpc>
                <a:spcPts val="2855"/>
              </a:lnSpc>
            </a:pPr>
            <a:r>
              <a:rPr sz="2800" b="1" spc="-7"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好</a:t>
            </a:r>
            <a:endParaRPr sz="28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object 13"/>
          <p:cNvSpPr txBox="1"/>
          <p:nvPr/>
        </p:nvSpPr>
        <p:spPr>
          <a:xfrm>
            <a:off x="4849027" y="1794771"/>
            <a:ext cx="609600" cy="371897"/>
          </a:xfrm>
          <a:prstGeom prst="rect">
            <a:avLst/>
          </a:prstGeom>
          <a:solidFill>
            <a:srgbClr val="A6A6A6"/>
          </a:solidFill>
          <a:ln w="25400">
            <a:solidFill>
              <a:srgbClr val="7E7E7E"/>
            </a:solidFill>
          </a:ln>
        </p:spPr>
        <p:txBody>
          <a:bodyPr vert="horz" wrap="square" lIns="0" tIns="0" rIns="0" bIns="0" rtlCol="0">
            <a:spAutoFit/>
          </a:bodyPr>
          <a:lstStyle/>
          <a:p>
            <a:pPr marL="151765">
              <a:lnSpc>
                <a:spcPts val="2855"/>
              </a:lnSpc>
            </a:pPr>
            <a:r>
              <a:rPr sz="2800" b="1" spc="-7"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坏</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 name="object 14"/>
          <p:cNvSpPr txBox="1"/>
          <p:nvPr/>
        </p:nvSpPr>
        <p:spPr>
          <a:xfrm>
            <a:off x="5560227" y="1794771"/>
            <a:ext cx="609600" cy="371897"/>
          </a:xfrm>
          <a:prstGeom prst="rect">
            <a:avLst/>
          </a:prstGeom>
          <a:solidFill>
            <a:srgbClr val="A6A6A6"/>
          </a:solidFill>
          <a:ln w="25400">
            <a:solidFill>
              <a:srgbClr val="7E7E7E"/>
            </a:solidFill>
          </a:ln>
        </p:spPr>
        <p:txBody>
          <a:bodyPr vert="horz" wrap="square" lIns="0" tIns="0" rIns="0" bIns="0" rtlCol="0">
            <a:spAutoFit/>
          </a:bodyPr>
          <a:lstStyle/>
          <a:p>
            <a:pPr marL="152400">
              <a:lnSpc>
                <a:spcPts val="2855"/>
              </a:lnSpc>
            </a:pPr>
            <a:r>
              <a:rPr sz="2800" b="1" spc="-7"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坏</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6" name="object 16"/>
          <p:cNvSpPr txBox="1"/>
          <p:nvPr/>
        </p:nvSpPr>
        <p:spPr>
          <a:xfrm>
            <a:off x="805349" y="2413600"/>
            <a:ext cx="1225973" cy="410369"/>
          </a:xfrm>
          <a:prstGeom prst="rect">
            <a:avLst/>
          </a:prstGeom>
        </p:spPr>
        <p:txBody>
          <a:bodyPr vert="horz" wrap="square" lIns="0" tIns="0" rIns="0" bIns="0" rtlCol="0">
            <a:spAutoFit/>
          </a:bodyPr>
          <a:lstStyle/>
          <a:p>
            <a:pPr>
              <a:lnSpc>
                <a:spcPts val="3200"/>
              </a:lnSpc>
            </a:pPr>
            <a:r>
              <a:rPr sz="2800" b="1" dirty="0">
                <a:latin typeface="Times New Roman" panose="02020603050405020304" pitchFamily="18" charset="0"/>
                <a:ea typeface="黑体" panose="02010609060101010101" pitchFamily="49" charset="-122"/>
                <a:cs typeface="Times New Roman" panose="02020603050405020304" pitchFamily="18" charset="0"/>
              </a:rPr>
              <a:t>分组：</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7" name="object 17"/>
          <p:cNvGraphicFramePr>
            <a:graphicFrameLocks noGrp="1"/>
          </p:cNvGraphicFramePr>
          <p:nvPr/>
        </p:nvGraphicFramePr>
        <p:xfrm>
          <a:off x="1985565" y="2368945"/>
          <a:ext cx="1320800" cy="406400"/>
        </p:xfrm>
        <a:graphic>
          <a:graphicData uri="http://schemas.openxmlformats.org/drawingml/2006/table">
            <a:tbl>
              <a:tblPr firstRow="1" bandRow="1">
                <a:tableStyleId>{2D5ABB26-0587-4C30-8999-92F81FD0307C}</a:tableStyleId>
              </a:tblPr>
              <a:tblGrid>
                <a:gridCol w="609600"/>
                <a:gridCol w="101600"/>
                <a:gridCol w="609600"/>
              </a:tblGrid>
              <a:tr h="406400">
                <a:tc>
                  <a:txBody>
                    <a:bodyPr/>
                    <a:lstStyle/>
                    <a:p>
                      <a:pPr marL="113030">
                        <a:lnSpc>
                          <a:spcPts val="2100"/>
                        </a:lnSpc>
                      </a:pPr>
                      <a:endParaRPr sz="2400" dirty="0">
                        <a:latin typeface="宋体" panose="02010600030101010101" pitchFamily="2" charset="-122"/>
                        <a:cs typeface="宋体" panose="02010600030101010101" pitchFamily="2" charset="-122"/>
                      </a:endParaRPr>
                    </a:p>
                  </a:txBody>
                  <a:tcPr marL="0" marR="0" marT="0" marB="0">
                    <a:lnL w="28575">
                      <a:solidFill>
                        <a:srgbClr val="FF0000"/>
                      </a:solidFill>
                      <a:prstDash val="solid"/>
                    </a:lnL>
                    <a:lnR w="28575">
                      <a:solidFill>
                        <a:srgbClr val="7E7E7E"/>
                      </a:solidFill>
                      <a:prstDash val="solid"/>
                    </a:lnR>
                    <a:lnT w="38100">
                      <a:solidFill>
                        <a:srgbClr val="FF0000"/>
                      </a:solidFill>
                      <a:prstDash val="solid"/>
                    </a:lnT>
                    <a:lnB w="53975">
                      <a:solidFill>
                        <a:srgbClr val="FF0000"/>
                      </a:solidFill>
                      <a:prstDash val="solid"/>
                    </a:lnB>
                    <a:solidFill>
                      <a:srgbClr val="A6A6A6"/>
                    </a:solidFill>
                  </a:tcPr>
                </a:tc>
                <a:tc>
                  <a:txBody>
                    <a:bodyPr/>
                    <a:lstStyle/>
                    <a:p>
                      <a:pPr>
                        <a:lnSpc>
                          <a:spcPct val="100000"/>
                        </a:lnSpc>
                      </a:pPr>
                      <a:endParaRPr sz="2500">
                        <a:latin typeface="Times New Roman" panose="02020603050405020304"/>
                        <a:cs typeface="Times New Roman" panose="02020603050405020304"/>
                      </a:endParaRPr>
                    </a:p>
                  </a:txBody>
                  <a:tcPr marL="0" marR="0" marT="0" marB="0">
                    <a:lnL w="28575">
                      <a:solidFill>
                        <a:srgbClr val="7E7E7E"/>
                      </a:solidFill>
                      <a:prstDash val="solid"/>
                    </a:lnL>
                    <a:lnR w="28575">
                      <a:solidFill>
                        <a:srgbClr val="7E7E7E"/>
                      </a:solidFill>
                      <a:prstDash val="solid"/>
                    </a:lnR>
                    <a:lnT w="28575">
                      <a:solidFill>
                        <a:srgbClr val="FF0000"/>
                      </a:solidFill>
                      <a:prstDash val="solid"/>
                    </a:lnT>
                    <a:lnB w="28575">
                      <a:solidFill>
                        <a:srgbClr val="FF0000"/>
                      </a:solidFill>
                      <a:prstDash val="solid"/>
                    </a:lnB>
                  </a:tcPr>
                </a:tc>
                <a:tc>
                  <a:txBody>
                    <a:bodyPr/>
                    <a:lstStyle/>
                    <a:p>
                      <a:pPr marL="113030">
                        <a:lnSpc>
                          <a:spcPts val="2100"/>
                        </a:lnSpc>
                      </a:pPr>
                      <a:endParaRPr sz="2400" dirty="0">
                        <a:latin typeface="宋体" panose="02010600030101010101" pitchFamily="2" charset="-122"/>
                        <a:cs typeface="宋体" panose="02010600030101010101" pitchFamily="2" charset="-122"/>
                      </a:endParaRPr>
                    </a:p>
                  </a:txBody>
                  <a:tcPr marL="0" marR="0" marT="0" marB="0">
                    <a:lnL w="28575">
                      <a:solidFill>
                        <a:srgbClr val="7E7E7E"/>
                      </a:solidFill>
                      <a:prstDash val="solid"/>
                    </a:lnL>
                    <a:lnR w="28575">
                      <a:solidFill>
                        <a:srgbClr val="FF0000"/>
                      </a:solidFill>
                      <a:prstDash val="solid"/>
                    </a:lnR>
                    <a:lnT w="38100">
                      <a:solidFill>
                        <a:srgbClr val="FF0000"/>
                      </a:solidFill>
                      <a:prstDash val="solid"/>
                    </a:lnT>
                    <a:lnB w="53975">
                      <a:solidFill>
                        <a:srgbClr val="FF0000"/>
                      </a:solidFill>
                      <a:prstDash val="solid"/>
                    </a:lnB>
                    <a:solidFill>
                      <a:srgbClr val="A6A6A6"/>
                    </a:solidFill>
                  </a:tcPr>
                </a:tc>
              </a:tr>
            </a:tbl>
          </a:graphicData>
        </a:graphic>
      </p:graphicFrame>
      <p:sp>
        <p:nvSpPr>
          <p:cNvPr id="21" name="object 21"/>
          <p:cNvSpPr txBox="1"/>
          <p:nvPr/>
        </p:nvSpPr>
        <p:spPr>
          <a:xfrm>
            <a:off x="805349" y="3029635"/>
            <a:ext cx="1634067" cy="410369"/>
          </a:xfrm>
          <a:prstGeom prst="rect">
            <a:avLst/>
          </a:prstGeom>
        </p:spPr>
        <p:txBody>
          <a:bodyPr vert="horz" wrap="square" lIns="0" tIns="0" rIns="0" bIns="0" rtlCol="0">
            <a:spAutoFit/>
          </a:bodyPr>
          <a:lstStyle/>
          <a:p>
            <a:pPr>
              <a:lnSpc>
                <a:spcPts val="3200"/>
              </a:lnSpc>
            </a:pPr>
            <a:r>
              <a:rPr sz="2800" b="1" dirty="0">
                <a:latin typeface="Times New Roman" panose="02020603050405020304" pitchFamily="18" charset="0"/>
                <a:ea typeface="黑体" panose="02010609060101010101" pitchFamily="49" charset="-122"/>
                <a:cs typeface="Times New Roman" panose="02020603050405020304" pitchFamily="18" charset="0"/>
              </a:rPr>
              <a:t>淘汰后：</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2" name="object 22"/>
          <p:cNvSpPr txBox="1"/>
          <p:nvPr/>
        </p:nvSpPr>
        <p:spPr>
          <a:xfrm>
            <a:off x="2410627" y="3041404"/>
            <a:ext cx="609600" cy="371897"/>
          </a:xfrm>
          <a:prstGeom prst="rect">
            <a:avLst/>
          </a:prstGeom>
          <a:solidFill>
            <a:srgbClr val="A6A6A6"/>
          </a:solidFill>
          <a:ln w="25400">
            <a:solidFill>
              <a:srgbClr val="7E7E7E"/>
            </a:solidFill>
          </a:ln>
        </p:spPr>
        <p:txBody>
          <a:bodyPr vert="horz" wrap="square" lIns="0" tIns="0" rIns="0" bIns="0" rtlCol="0">
            <a:spAutoFit/>
          </a:bodyPr>
          <a:lstStyle/>
          <a:p>
            <a:pPr marL="150495">
              <a:lnSpc>
                <a:spcPts val="2855"/>
              </a:lnSpc>
            </a:pPr>
            <a:r>
              <a:rPr sz="2800" b="1" spc="-13"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好</a:t>
            </a:r>
            <a:endParaRPr sz="28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object 23"/>
          <p:cNvSpPr txBox="1"/>
          <p:nvPr/>
        </p:nvSpPr>
        <p:spPr>
          <a:xfrm>
            <a:off x="3121827" y="3041404"/>
            <a:ext cx="609600" cy="371897"/>
          </a:xfrm>
          <a:prstGeom prst="rect">
            <a:avLst/>
          </a:prstGeom>
          <a:solidFill>
            <a:srgbClr val="A6A6A6"/>
          </a:solidFill>
          <a:ln w="25400">
            <a:solidFill>
              <a:srgbClr val="7E7E7E"/>
            </a:solidFill>
          </a:ln>
        </p:spPr>
        <p:txBody>
          <a:bodyPr vert="horz" wrap="square" lIns="0" tIns="0" rIns="0" bIns="0" rtlCol="0">
            <a:spAutoFit/>
          </a:bodyPr>
          <a:lstStyle/>
          <a:p>
            <a:pPr marL="151765">
              <a:lnSpc>
                <a:spcPts val="2855"/>
              </a:lnSpc>
            </a:pPr>
            <a:r>
              <a:rPr sz="2800" b="1" spc="-13"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好</a:t>
            </a:r>
            <a:endParaRPr sz="28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 name="object 9"/>
          <p:cNvSpPr txBox="1"/>
          <p:nvPr/>
        </p:nvSpPr>
        <p:spPr>
          <a:xfrm>
            <a:off x="1997804" y="2394771"/>
            <a:ext cx="609600" cy="371897"/>
          </a:xfrm>
          <a:prstGeom prst="rect">
            <a:avLst/>
          </a:prstGeom>
          <a:solidFill>
            <a:srgbClr val="A6A6A6"/>
          </a:solidFill>
          <a:ln w="25400">
            <a:solidFill>
              <a:srgbClr val="C00000"/>
            </a:solidFill>
          </a:ln>
        </p:spPr>
        <p:txBody>
          <a:bodyPr vert="horz" wrap="square" lIns="0" tIns="0" rIns="0" bIns="0" rtlCol="0">
            <a:spAutoFit/>
          </a:bodyPr>
          <a:lstStyle/>
          <a:p>
            <a:pPr marL="150495">
              <a:lnSpc>
                <a:spcPts val="2855"/>
              </a:lnSpc>
            </a:pPr>
            <a:r>
              <a:rPr sz="2800" b="1" spc="-7"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好</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8" name="object 9"/>
          <p:cNvSpPr txBox="1"/>
          <p:nvPr/>
        </p:nvSpPr>
        <p:spPr>
          <a:xfrm>
            <a:off x="2695283" y="2394771"/>
            <a:ext cx="609600" cy="371897"/>
          </a:xfrm>
          <a:prstGeom prst="rect">
            <a:avLst/>
          </a:prstGeom>
          <a:solidFill>
            <a:srgbClr val="A6A6A6"/>
          </a:solidFill>
          <a:ln w="25400">
            <a:solidFill>
              <a:srgbClr val="C00000"/>
            </a:solidFill>
          </a:ln>
        </p:spPr>
        <p:txBody>
          <a:bodyPr vert="horz" wrap="square" lIns="0" tIns="0" rIns="0" bIns="0" rtlCol="0">
            <a:spAutoFit/>
          </a:bodyPr>
          <a:lstStyle/>
          <a:p>
            <a:pPr marL="150495">
              <a:lnSpc>
                <a:spcPts val="2855"/>
              </a:lnSpc>
            </a:pPr>
            <a:r>
              <a:rPr sz="2800" b="1" spc="-7"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好</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9" name="object 17"/>
          <p:cNvGraphicFramePr>
            <a:graphicFrameLocks noGrp="1"/>
          </p:cNvGraphicFramePr>
          <p:nvPr/>
        </p:nvGraphicFramePr>
        <p:xfrm>
          <a:off x="3420204" y="2386798"/>
          <a:ext cx="1320800" cy="406400"/>
        </p:xfrm>
        <a:graphic>
          <a:graphicData uri="http://schemas.openxmlformats.org/drawingml/2006/table">
            <a:tbl>
              <a:tblPr firstRow="1" bandRow="1">
                <a:tableStyleId>{2D5ABB26-0587-4C30-8999-92F81FD0307C}</a:tableStyleId>
              </a:tblPr>
              <a:tblGrid>
                <a:gridCol w="609600"/>
                <a:gridCol w="101600"/>
                <a:gridCol w="609600"/>
              </a:tblGrid>
              <a:tr h="406400">
                <a:tc>
                  <a:txBody>
                    <a:bodyPr/>
                    <a:lstStyle/>
                    <a:p>
                      <a:pPr marL="113030">
                        <a:lnSpc>
                          <a:spcPts val="2100"/>
                        </a:lnSpc>
                      </a:pPr>
                      <a:endParaRPr sz="2400" dirty="0">
                        <a:latin typeface="宋体" panose="02010600030101010101" pitchFamily="2" charset="-122"/>
                        <a:cs typeface="宋体" panose="02010600030101010101" pitchFamily="2" charset="-122"/>
                      </a:endParaRPr>
                    </a:p>
                  </a:txBody>
                  <a:tcPr marL="0" marR="0" marT="0" marB="0">
                    <a:lnL w="28575">
                      <a:solidFill>
                        <a:srgbClr val="FF0000"/>
                      </a:solidFill>
                      <a:prstDash val="solid"/>
                    </a:lnL>
                    <a:lnR w="28575">
                      <a:solidFill>
                        <a:srgbClr val="7E7E7E"/>
                      </a:solidFill>
                      <a:prstDash val="solid"/>
                    </a:lnR>
                    <a:lnT w="38100">
                      <a:solidFill>
                        <a:srgbClr val="FF0000"/>
                      </a:solidFill>
                      <a:prstDash val="solid"/>
                    </a:lnT>
                    <a:lnB w="53975">
                      <a:solidFill>
                        <a:srgbClr val="FF0000"/>
                      </a:solidFill>
                      <a:prstDash val="solid"/>
                    </a:lnB>
                    <a:solidFill>
                      <a:srgbClr val="A6A6A6"/>
                    </a:solidFill>
                  </a:tcPr>
                </a:tc>
                <a:tc>
                  <a:txBody>
                    <a:bodyPr/>
                    <a:lstStyle/>
                    <a:p>
                      <a:pPr>
                        <a:lnSpc>
                          <a:spcPct val="100000"/>
                        </a:lnSpc>
                      </a:pPr>
                      <a:endParaRPr sz="2500">
                        <a:latin typeface="Times New Roman" panose="02020603050405020304"/>
                        <a:cs typeface="Times New Roman" panose="02020603050405020304"/>
                      </a:endParaRPr>
                    </a:p>
                  </a:txBody>
                  <a:tcPr marL="0" marR="0" marT="0" marB="0">
                    <a:lnL w="28575">
                      <a:solidFill>
                        <a:srgbClr val="7E7E7E"/>
                      </a:solidFill>
                      <a:prstDash val="solid"/>
                    </a:lnL>
                    <a:lnR w="28575">
                      <a:solidFill>
                        <a:srgbClr val="7E7E7E"/>
                      </a:solidFill>
                      <a:prstDash val="solid"/>
                    </a:lnR>
                    <a:lnT w="28575">
                      <a:solidFill>
                        <a:srgbClr val="FF0000"/>
                      </a:solidFill>
                      <a:prstDash val="solid"/>
                    </a:lnT>
                    <a:lnB w="28575">
                      <a:solidFill>
                        <a:srgbClr val="FF0000"/>
                      </a:solidFill>
                      <a:prstDash val="solid"/>
                    </a:lnB>
                  </a:tcPr>
                </a:tc>
                <a:tc>
                  <a:txBody>
                    <a:bodyPr/>
                    <a:lstStyle/>
                    <a:p>
                      <a:pPr marL="113030">
                        <a:lnSpc>
                          <a:spcPts val="2100"/>
                        </a:lnSpc>
                      </a:pPr>
                      <a:endParaRPr sz="2400" dirty="0">
                        <a:latin typeface="宋体" panose="02010600030101010101" pitchFamily="2" charset="-122"/>
                        <a:cs typeface="宋体" panose="02010600030101010101" pitchFamily="2" charset="-122"/>
                      </a:endParaRPr>
                    </a:p>
                  </a:txBody>
                  <a:tcPr marL="0" marR="0" marT="0" marB="0">
                    <a:lnL w="28575">
                      <a:solidFill>
                        <a:srgbClr val="7E7E7E"/>
                      </a:solidFill>
                      <a:prstDash val="solid"/>
                    </a:lnL>
                    <a:lnR w="28575">
                      <a:solidFill>
                        <a:srgbClr val="FF0000"/>
                      </a:solidFill>
                      <a:prstDash val="solid"/>
                    </a:lnR>
                    <a:lnT w="38100">
                      <a:solidFill>
                        <a:srgbClr val="FF0000"/>
                      </a:solidFill>
                      <a:prstDash val="solid"/>
                    </a:lnT>
                    <a:lnB w="53975">
                      <a:solidFill>
                        <a:srgbClr val="FF0000"/>
                      </a:solidFill>
                      <a:prstDash val="solid"/>
                    </a:lnB>
                    <a:solidFill>
                      <a:srgbClr val="A6A6A6"/>
                    </a:solidFill>
                  </a:tcPr>
                </a:tc>
              </a:tr>
            </a:tbl>
          </a:graphicData>
        </a:graphic>
      </p:graphicFrame>
      <p:sp>
        <p:nvSpPr>
          <p:cNvPr id="30" name="object 9"/>
          <p:cNvSpPr txBox="1"/>
          <p:nvPr/>
        </p:nvSpPr>
        <p:spPr>
          <a:xfrm>
            <a:off x="3430714" y="2391002"/>
            <a:ext cx="609600" cy="371897"/>
          </a:xfrm>
          <a:prstGeom prst="rect">
            <a:avLst/>
          </a:prstGeom>
          <a:solidFill>
            <a:srgbClr val="A6A6A6"/>
          </a:solidFill>
          <a:ln w="25400">
            <a:solidFill>
              <a:srgbClr val="C00000"/>
            </a:solidFill>
          </a:ln>
        </p:spPr>
        <p:txBody>
          <a:bodyPr vert="horz" wrap="square" lIns="0" tIns="0" rIns="0" bIns="0" rtlCol="0">
            <a:spAutoFit/>
          </a:bodyPr>
          <a:lstStyle/>
          <a:p>
            <a:pPr marL="150495">
              <a:lnSpc>
                <a:spcPts val="2855"/>
              </a:lnSpc>
            </a:pPr>
            <a:r>
              <a:rPr sz="2800" b="1" spc="-7"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好</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1" name="object 9"/>
          <p:cNvSpPr txBox="1"/>
          <p:nvPr/>
        </p:nvSpPr>
        <p:spPr>
          <a:xfrm>
            <a:off x="4128193" y="2391002"/>
            <a:ext cx="609600" cy="371897"/>
          </a:xfrm>
          <a:prstGeom prst="rect">
            <a:avLst/>
          </a:prstGeom>
          <a:solidFill>
            <a:srgbClr val="A6A6A6"/>
          </a:solidFill>
          <a:ln w="25400">
            <a:solidFill>
              <a:srgbClr val="C00000"/>
            </a:solidFill>
          </a:ln>
        </p:spPr>
        <p:txBody>
          <a:bodyPr vert="horz" wrap="square" lIns="0" tIns="0" rIns="0" bIns="0" rtlCol="0">
            <a:spAutoFit/>
          </a:bodyPr>
          <a:lstStyle/>
          <a:p>
            <a:pPr marL="150495">
              <a:lnSpc>
                <a:spcPts val="2855"/>
              </a:lnSpc>
            </a:pPr>
            <a:r>
              <a:rPr sz="2800" b="1" spc="-7"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好</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2" name="object 17"/>
          <p:cNvGraphicFramePr>
            <a:graphicFrameLocks noGrp="1"/>
          </p:cNvGraphicFramePr>
          <p:nvPr/>
        </p:nvGraphicFramePr>
        <p:xfrm>
          <a:off x="4839038" y="2381178"/>
          <a:ext cx="1320800" cy="406400"/>
        </p:xfrm>
        <a:graphic>
          <a:graphicData uri="http://schemas.openxmlformats.org/drawingml/2006/table">
            <a:tbl>
              <a:tblPr firstRow="1" bandRow="1">
                <a:tableStyleId>{2D5ABB26-0587-4C30-8999-92F81FD0307C}</a:tableStyleId>
              </a:tblPr>
              <a:tblGrid>
                <a:gridCol w="609600"/>
                <a:gridCol w="101600"/>
                <a:gridCol w="609600"/>
              </a:tblGrid>
              <a:tr h="406400">
                <a:tc>
                  <a:txBody>
                    <a:bodyPr/>
                    <a:lstStyle/>
                    <a:p>
                      <a:pPr marL="113030">
                        <a:lnSpc>
                          <a:spcPts val="2100"/>
                        </a:lnSpc>
                      </a:pPr>
                      <a:endParaRPr sz="2400" dirty="0">
                        <a:latin typeface="宋体" panose="02010600030101010101" pitchFamily="2" charset="-122"/>
                        <a:cs typeface="宋体" panose="02010600030101010101" pitchFamily="2" charset="-122"/>
                      </a:endParaRPr>
                    </a:p>
                  </a:txBody>
                  <a:tcPr marL="0" marR="0" marT="0" marB="0">
                    <a:lnL w="28575">
                      <a:solidFill>
                        <a:srgbClr val="FF0000"/>
                      </a:solidFill>
                      <a:prstDash val="solid"/>
                    </a:lnL>
                    <a:lnR w="28575">
                      <a:solidFill>
                        <a:srgbClr val="7E7E7E"/>
                      </a:solidFill>
                      <a:prstDash val="solid"/>
                    </a:lnR>
                    <a:lnT w="38100">
                      <a:solidFill>
                        <a:srgbClr val="FF0000"/>
                      </a:solidFill>
                      <a:prstDash val="solid"/>
                    </a:lnT>
                    <a:lnB w="53975">
                      <a:solidFill>
                        <a:srgbClr val="FF0000"/>
                      </a:solidFill>
                      <a:prstDash val="solid"/>
                    </a:lnB>
                    <a:solidFill>
                      <a:srgbClr val="A6A6A6"/>
                    </a:solidFill>
                  </a:tcPr>
                </a:tc>
                <a:tc>
                  <a:txBody>
                    <a:bodyPr/>
                    <a:lstStyle/>
                    <a:p>
                      <a:pPr>
                        <a:lnSpc>
                          <a:spcPct val="100000"/>
                        </a:lnSpc>
                      </a:pPr>
                      <a:endParaRPr sz="2500">
                        <a:latin typeface="Times New Roman" panose="02020603050405020304"/>
                        <a:cs typeface="Times New Roman" panose="02020603050405020304"/>
                      </a:endParaRPr>
                    </a:p>
                  </a:txBody>
                  <a:tcPr marL="0" marR="0" marT="0" marB="0">
                    <a:lnL w="28575">
                      <a:solidFill>
                        <a:srgbClr val="7E7E7E"/>
                      </a:solidFill>
                      <a:prstDash val="solid"/>
                    </a:lnL>
                    <a:lnR w="28575">
                      <a:solidFill>
                        <a:srgbClr val="7E7E7E"/>
                      </a:solidFill>
                      <a:prstDash val="solid"/>
                    </a:lnR>
                    <a:lnT w="28575">
                      <a:solidFill>
                        <a:srgbClr val="FF0000"/>
                      </a:solidFill>
                      <a:prstDash val="solid"/>
                    </a:lnT>
                    <a:lnB w="28575">
                      <a:solidFill>
                        <a:srgbClr val="FF0000"/>
                      </a:solidFill>
                      <a:prstDash val="solid"/>
                    </a:lnB>
                  </a:tcPr>
                </a:tc>
                <a:tc>
                  <a:txBody>
                    <a:bodyPr/>
                    <a:lstStyle/>
                    <a:p>
                      <a:pPr marL="113030">
                        <a:lnSpc>
                          <a:spcPts val="2100"/>
                        </a:lnSpc>
                      </a:pPr>
                      <a:endParaRPr sz="2400" dirty="0">
                        <a:latin typeface="宋体" panose="02010600030101010101" pitchFamily="2" charset="-122"/>
                        <a:cs typeface="宋体" panose="02010600030101010101" pitchFamily="2" charset="-122"/>
                      </a:endParaRPr>
                    </a:p>
                  </a:txBody>
                  <a:tcPr marL="0" marR="0" marT="0" marB="0">
                    <a:lnL w="28575">
                      <a:solidFill>
                        <a:srgbClr val="7E7E7E"/>
                      </a:solidFill>
                      <a:prstDash val="solid"/>
                    </a:lnL>
                    <a:lnR w="28575">
                      <a:solidFill>
                        <a:srgbClr val="FF0000"/>
                      </a:solidFill>
                      <a:prstDash val="solid"/>
                    </a:lnR>
                    <a:lnT w="38100">
                      <a:solidFill>
                        <a:srgbClr val="FF0000"/>
                      </a:solidFill>
                      <a:prstDash val="solid"/>
                    </a:lnT>
                    <a:lnB w="53975">
                      <a:solidFill>
                        <a:srgbClr val="FF0000"/>
                      </a:solidFill>
                      <a:prstDash val="solid"/>
                    </a:lnB>
                    <a:solidFill>
                      <a:srgbClr val="A6A6A6"/>
                    </a:solidFill>
                  </a:tcPr>
                </a:tc>
              </a:tr>
            </a:tbl>
          </a:graphicData>
        </a:graphic>
      </p:graphicFrame>
      <p:sp>
        <p:nvSpPr>
          <p:cNvPr id="35" name="object 13"/>
          <p:cNvSpPr txBox="1"/>
          <p:nvPr/>
        </p:nvSpPr>
        <p:spPr>
          <a:xfrm>
            <a:off x="3824272" y="3033793"/>
            <a:ext cx="609600" cy="371897"/>
          </a:xfrm>
          <a:prstGeom prst="rect">
            <a:avLst/>
          </a:prstGeom>
          <a:solidFill>
            <a:srgbClr val="A6A6A6"/>
          </a:solidFill>
          <a:ln w="25400">
            <a:solidFill>
              <a:srgbClr val="7E7E7E"/>
            </a:solidFill>
          </a:ln>
        </p:spPr>
        <p:txBody>
          <a:bodyPr vert="horz" wrap="square" lIns="0" tIns="0" rIns="0" bIns="0" rtlCol="0">
            <a:spAutoFit/>
          </a:bodyPr>
          <a:lstStyle/>
          <a:p>
            <a:pPr marL="151765">
              <a:lnSpc>
                <a:spcPts val="2855"/>
              </a:lnSpc>
            </a:pPr>
            <a:r>
              <a:rPr sz="2800" b="1" spc="-7"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坏</a:t>
            </a:r>
            <a:endParaRPr sz="28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6" name="object 14"/>
          <p:cNvSpPr txBox="1"/>
          <p:nvPr/>
        </p:nvSpPr>
        <p:spPr>
          <a:xfrm>
            <a:off x="4535472" y="3033793"/>
            <a:ext cx="609600" cy="371897"/>
          </a:xfrm>
          <a:prstGeom prst="rect">
            <a:avLst/>
          </a:prstGeom>
          <a:solidFill>
            <a:srgbClr val="A6A6A6"/>
          </a:solidFill>
          <a:ln w="25400">
            <a:solidFill>
              <a:srgbClr val="7E7E7E"/>
            </a:solidFill>
          </a:ln>
        </p:spPr>
        <p:txBody>
          <a:bodyPr vert="horz" wrap="square" lIns="0" tIns="0" rIns="0" bIns="0" rtlCol="0">
            <a:spAutoFit/>
          </a:bodyPr>
          <a:lstStyle/>
          <a:p>
            <a:pPr marL="152400">
              <a:lnSpc>
                <a:spcPts val="2855"/>
              </a:lnSpc>
            </a:pPr>
            <a:r>
              <a:rPr sz="2800" b="1" spc="-7"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坏</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7" name="object 14"/>
          <p:cNvSpPr txBox="1"/>
          <p:nvPr/>
        </p:nvSpPr>
        <p:spPr>
          <a:xfrm>
            <a:off x="6290698" y="1793141"/>
            <a:ext cx="609600" cy="371897"/>
          </a:xfrm>
          <a:prstGeom prst="rect">
            <a:avLst/>
          </a:prstGeom>
          <a:solidFill>
            <a:srgbClr val="A6A6A6"/>
          </a:solidFill>
          <a:ln w="25400">
            <a:solidFill>
              <a:srgbClr val="7E7E7E"/>
            </a:solidFill>
          </a:ln>
        </p:spPr>
        <p:txBody>
          <a:bodyPr vert="horz" wrap="square" lIns="0" tIns="0" rIns="0" bIns="0" rtlCol="0">
            <a:spAutoFit/>
          </a:bodyPr>
          <a:lstStyle/>
          <a:p>
            <a:pPr marL="152400">
              <a:lnSpc>
                <a:spcPts val="2855"/>
              </a:lnSpc>
            </a:pPr>
            <a:r>
              <a:rPr sz="2800" b="1" spc="-7"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坏</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8" name="object 14"/>
          <p:cNvSpPr txBox="1"/>
          <p:nvPr/>
        </p:nvSpPr>
        <p:spPr>
          <a:xfrm>
            <a:off x="6290865" y="2386200"/>
            <a:ext cx="609600" cy="371897"/>
          </a:xfrm>
          <a:prstGeom prst="rect">
            <a:avLst/>
          </a:prstGeom>
          <a:solidFill>
            <a:srgbClr val="A6A6A6"/>
          </a:solidFill>
          <a:ln w="25400">
            <a:solidFill>
              <a:srgbClr val="7E7E7E"/>
            </a:solidFill>
          </a:ln>
        </p:spPr>
        <p:txBody>
          <a:bodyPr vert="horz" wrap="square" lIns="0" tIns="0" rIns="0" bIns="0" rtlCol="0">
            <a:spAutoFit/>
          </a:bodyPr>
          <a:lstStyle/>
          <a:p>
            <a:pPr marL="152400">
              <a:lnSpc>
                <a:spcPts val="2855"/>
              </a:lnSpc>
            </a:pPr>
            <a:r>
              <a:rPr sz="2800" b="1" spc="-7"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坏</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9" name="object 13"/>
          <p:cNvSpPr txBox="1"/>
          <p:nvPr/>
        </p:nvSpPr>
        <p:spPr>
          <a:xfrm>
            <a:off x="4857459" y="2394771"/>
            <a:ext cx="609600" cy="371897"/>
          </a:xfrm>
          <a:prstGeom prst="rect">
            <a:avLst/>
          </a:prstGeom>
          <a:solidFill>
            <a:srgbClr val="A6A6A6"/>
          </a:solidFill>
          <a:ln w="25400">
            <a:solidFill>
              <a:srgbClr val="C00000"/>
            </a:solidFill>
          </a:ln>
        </p:spPr>
        <p:txBody>
          <a:bodyPr vert="horz" wrap="square" lIns="0" tIns="0" rIns="0" bIns="0" rtlCol="0">
            <a:spAutoFit/>
          </a:bodyPr>
          <a:lstStyle/>
          <a:p>
            <a:pPr marL="151765">
              <a:lnSpc>
                <a:spcPts val="2855"/>
              </a:lnSpc>
            </a:pPr>
            <a:r>
              <a:rPr sz="2800" b="1" spc="-7"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坏</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0" name="object 14"/>
          <p:cNvSpPr txBox="1"/>
          <p:nvPr/>
        </p:nvSpPr>
        <p:spPr>
          <a:xfrm>
            <a:off x="5545851" y="2386199"/>
            <a:ext cx="609600" cy="371897"/>
          </a:xfrm>
          <a:prstGeom prst="rect">
            <a:avLst/>
          </a:prstGeom>
          <a:solidFill>
            <a:srgbClr val="A6A6A6"/>
          </a:solidFill>
          <a:ln w="25400">
            <a:solidFill>
              <a:srgbClr val="C00000"/>
            </a:solidFill>
          </a:ln>
        </p:spPr>
        <p:txBody>
          <a:bodyPr vert="horz" wrap="square" lIns="0" tIns="0" rIns="0" bIns="0" rtlCol="0">
            <a:spAutoFit/>
          </a:bodyPr>
          <a:lstStyle/>
          <a:p>
            <a:pPr marL="152400">
              <a:lnSpc>
                <a:spcPts val="2855"/>
              </a:lnSpc>
            </a:pPr>
            <a:r>
              <a:rPr sz="2800" b="1" spc="-7" dirty="0">
                <a:solidFill>
                  <a:srgbClr val="FFFFFF"/>
                </a:solidFill>
                <a:latin typeface="Times New Roman" panose="02020603050405020304" pitchFamily="18" charset="0"/>
                <a:ea typeface="黑体" panose="02010609060101010101" pitchFamily="49" charset="-122"/>
                <a:cs typeface="Times New Roman" panose="02020603050405020304" pitchFamily="18" charset="0"/>
              </a:rPr>
              <a:t>坏</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9356" y="59670"/>
            <a:ext cx="8864644"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20" dirty="0">
                <a:solidFill>
                  <a:srgbClr val="C00000"/>
                </a:solidFill>
                <a:latin typeface="黑体" panose="02010609060101010101" pitchFamily="49" charset="-122"/>
                <a:ea typeface="黑体" panose="02010609060101010101" pitchFamily="49" charset="-122"/>
              </a:rPr>
              <a:t>伪码描述</a:t>
            </a:r>
            <a:endParaRPr sz="4400" b="1" spc="-20"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558800" y="1043580"/>
            <a:ext cx="8161454" cy="5248446"/>
          </a:xfrm>
          <a:prstGeom prst="rect">
            <a:avLst/>
          </a:prstGeom>
        </p:spPr>
        <p:txBody>
          <a:bodyPr vert="horz" wrap="square" lIns="0" tIns="16087" rIns="0" bIns="0" rtlCol="0">
            <a:spAutoFit/>
          </a:bodyPr>
          <a:lstStyle/>
          <a:p>
            <a:pPr marL="17145"/>
            <a:r>
              <a:rPr sz="2800" b="1" spc="-7" dirty="0" err="1">
                <a:latin typeface="宋体" panose="02010600030101010101" pitchFamily="2" charset="-122"/>
                <a:cs typeface="宋体" panose="02010600030101010101" pitchFamily="2" charset="-122"/>
              </a:rPr>
              <a:t>算</a:t>
            </a:r>
            <a:r>
              <a:rPr sz="2800" b="1" spc="-20" dirty="0" err="1">
                <a:latin typeface="宋体" panose="02010600030101010101" pitchFamily="2" charset="-122"/>
                <a:cs typeface="宋体" panose="02010600030101010101" pitchFamily="2" charset="-122"/>
              </a:rPr>
              <a:t>法</a:t>
            </a:r>
            <a:r>
              <a:rPr sz="2800" b="1" spc="-73" dirty="0">
                <a:latin typeface="宋体" panose="02010600030101010101" pitchFamily="2" charset="-122"/>
                <a:cs typeface="宋体" panose="02010600030101010101" pitchFamily="2" charset="-122"/>
              </a:rPr>
              <a:t> </a:t>
            </a:r>
            <a:r>
              <a:rPr sz="2800" b="1" spc="-47" dirty="0">
                <a:latin typeface="Times New Roman" panose="02020603050405020304"/>
                <a:cs typeface="Times New Roman" panose="02020603050405020304"/>
              </a:rPr>
              <a:t>Test(</a:t>
            </a:r>
            <a:r>
              <a:rPr sz="2800" b="1" i="1" spc="-47" dirty="0">
                <a:latin typeface="Times New Roman" panose="02020603050405020304"/>
                <a:cs typeface="Times New Roman" panose="02020603050405020304"/>
              </a:rPr>
              <a:t>n</a:t>
            </a:r>
            <a:r>
              <a:rPr sz="2800" b="1" spc="-47" dirty="0">
                <a:latin typeface="Times New Roman" panose="02020603050405020304"/>
                <a:cs typeface="Times New Roman" panose="02020603050405020304"/>
              </a:rPr>
              <a:t>)</a:t>
            </a:r>
            <a:endParaRPr sz="2800" dirty="0">
              <a:latin typeface="Times New Roman" panose="02020603050405020304"/>
              <a:cs typeface="Times New Roman" panose="02020603050405020304"/>
            </a:endParaRPr>
          </a:p>
          <a:p>
            <a:pPr marL="17145"/>
            <a:r>
              <a:rPr sz="2400" b="1" spc="-7" dirty="0">
                <a:latin typeface="Times New Roman" panose="02020603050405020304"/>
                <a:cs typeface="Times New Roman" panose="02020603050405020304"/>
              </a:rPr>
              <a:t>1</a:t>
            </a:r>
            <a:r>
              <a:rPr sz="2400" b="1" spc="-7" dirty="0">
                <a:latin typeface="宋体" panose="02010600030101010101" pitchFamily="2" charset="-122"/>
                <a:cs typeface="宋体" panose="02010600030101010101" pitchFamily="2" charset="-122"/>
              </a:rPr>
              <a:t>．</a:t>
            </a:r>
            <a:r>
              <a:rPr sz="2400" b="1" i="1" spc="-7" dirty="0">
                <a:latin typeface="Times New Roman" panose="02020603050405020304"/>
                <a:cs typeface="Times New Roman" panose="02020603050405020304"/>
              </a:rPr>
              <a:t>k </a:t>
            </a:r>
            <a:r>
              <a:rPr sz="2400" b="1" spc="-7" dirty="0">
                <a:latin typeface="Symbol" panose="05050102010706020507"/>
                <a:cs typeface="Symbol" panose="05050102010706020507"/>
              </a:rPr>
              <a:t></a:t>
            </a:r>
            <a:r>
              <a:rPr sz="2400" b="1" spc="-20" dirty="0">
                <a:latin typeface="Times New Roman" panose="02020603050405020304"/>
                <a:cs typeface="Times New Roman" panose="02020603050405020304"/>
              </a:rPr>
              <a:t> </a:t>
            </a:r>
            <a:r>
              <a:rPr sz="2400" b="1" i="1" spc="-7" dirty="0">
                <a:latin typeface="Times New Roman" panose="02020603050405020304"/>
                <a:cs typeface="Times New Roman" panose="02020603050405020304"/>
              </a:rPr>
              <a:t>n</a:t>
            </a:r>
            <a:endParaRPr sz="2400" dirty="0">
              <a:latin typeface="Times New Roman" panose="02020603050405020304"/>
              <a:cs typeface="Times New Roman" panose="02020603050405020304"/>
            </a:endParaRPr>
          </a:p>
          <a:p>
            <a:pPr marL="17145">
              <a:tabLst>
                <a:tab pos="1609090" algn="l"/>
                <a:tab pos="2473325" algn="l"/>
              </a:tabLst>
            </a:pPr>
            <a:r>
              <a:rPr sz="2400" b="1" dirty="0">
                <a:latin typeface="Times New Roman" panose="02020603050405020304"/>
                <a:cs typeface="Times New Roman" panose="02020603050405020304"/>
              </a:rPr>
              <a:t>2</a:t>
            </a:r>
            <a:r>
              <a:rPr sz="2400" b="1" spc="-7" dirty="0">
                <a:latin typeface="宋体" panose="02010600030101010101" pitchFamily="2" charset="-122"/>
                <a:cs typeface="宋体" panose="02010600030101010101" pitchFamily="2" charset="-122"/>
              </a:rPr>
              <a:t>．</a:t>
            </a:r>
            <a:r>
              <a:rPr lang="en-US" sz="2400" b="1" spc="-7" dirty="0">
                <a:solidFill>
                  <a:srgbClr val="C00000"/>
                </a:solidFill>
                <a:latin typeface="Times New Roman" panose="02020603050405020304"/>
                <a:cs typeface="Times New Roman" panose="02020603050405020304"/>
              </a:rPr>
              <a:t>w</a:t>
            </a:r>
            <a:r>
              <a:rPr sz="2400" b="1" spc="-7" dirty="0">
                <a:solidFill>
                  <a:srgbClr val="C00000"/>
                </a:solidFill>
                <a:latin typeface="Times New Roman" panose="02020603050405020304"/>
                <a:cs typeface="Times New Roman" panose="02020603050405020304"/>
              </a:rPr>
              <a:t>hile</a:t>
            </a:r>
            <a:r>
              <a:rPr lang="en-US" sz="2400" b="1" dirty="0">
                <a:solidFill>
                  <a:srgbClr val="C00000"/>
                </a:solidFill>
                <a:latin typeface="Times New Roman" panose="02020603050405020304"/>
                <a:cs typeface="Times New Roman" panose="02020603050405020304"/>
              </a:rPr>
              <a:t> </a:t>
            </a:r>
            <a:r>
              <a:rPr sz="2400" b="1" i="1" spc="-7" dirty="0">
                <a:solidFill>
                  <a:srgbClr val="C00000"/>
                </a:solidFill>
                <a:latin typeface="Times New Roman" panose="02020603050405020304"/>
                <a:cs typeface="Times New Roman" panose="02020603050405020304"/>
              </a:rPr>
              <a:t>k</a:t>
            </a:r>
            <a:r>
              <a:rPr sz="2400" b="1" i="1" spc="7" dirty="0">
                <a:solidFill>
                  <a:srgbClr val="C00000"/>
                </a:solidFill>
                <a:latin typeface="Times New Roman" panose="02020603050405020304"/>
                <a:cs typeface="Times New Roman" panose="02020603050405020304"/>
              </a:rPr>
              <a:t> </a:t>
            </a:r>
            <a:r>
              <a:rPr sz="2400" b="1" spc="-7" dirty="0">
                <a:solidFill>
                  <a:srgbClr val="C00000"/>
                </a:solidFill>
                <a:latin typeface="Times New Roman" panose="02020603050405020304"/>
                <a:cs typeface="Times New Roman" panose="02020603050405020304"/>
              </a:rPr>
              <a:t>&gt;3</a:t>
            </a:r>
            <a:r>
              <a:rPr lang="en-US" sz="2400" b="1" dirty="0">
                <a:solidFill>
                  <a:srgbClr val="C00000"/>
                </a:solidFill>
                <a:latin typeface="Times New Roman" panose="02020603050405020304"/>
                <a:cs typeface="Times New Roman" panose="02020603050405020304"/>
              </a:rPr>
              <a:t> </a:t>
            </a:r>
            <a:r>
              <a:rPr sz="2400" b="1" spc="-7" dirty="0">
                <a:solidFill>
                  <a:srgbClr val="C00000"/>
                </a:solidFill>
                <a:latin typeface="Times New Roman" panose="02020603050405020304"/>
                <a:cs typeface="Times New Roman" panose="02020603050405020304"/>
              </a:rPr>
              <a:t>do</a:t>
            </a:r>
            <a:endParaRPr lang="en-US" sz="2400" b="1" spc="-7" dirty="0">
              <a:solidFill>
                <a:srgbClr val="C00000"/>
              </a:solidFill>
              <a:latin typeface="Times New Roman" panose="02020603050405020304"/>
              <a:cs typeface="Times New Roman" panose="02020603050405020304"/>
            </a:endParaRPr>
          </a:p>
          <a:p>
            <a:pPr marL="947420" indent="-931545">
              <a:buFont typeface="Times New Roman" panose="02020603050405020304"/>
              <a:buAutoNum type="arabicPeriod" startAt="3"/>
              <a:tabLst>
                <a:tab pos="946785" algn="l"/>
                <a:tab pos="948055" algn="l"/>
                <a:tab pos="4425950" algn="l"/>
              </a:tabLst>
            </a:pPr>
            <a:r>
              <a:rPr lang="zh-CN" altLang="en-US" sz="2400" b="1" spc="-7" dirty="0"/>
              <a:t>将芯片分</a:t>
            </a:r>
            <a:r>
              <a:rPr lang="zh-CN" altLang="en-US" sz="2400" b="1" spc="-20" dirty="0"/>
              <a:t>成</a:t>
            </a:r>
            <a:r>
              <a:rPr lang="zh-CN" altLang="en-US" sz="2400" b="1" spc="-693" dirty="0"/>
              <a:t> </a:t>
            </a:r>
            <a:r>
              <a:rPr lang="zh-CN" altLang="en-US" sz="2400" b="1" dirty="0">
                <a:latin typeface="Symbol" panose="05050102010706020507"/>
                <a:cs typeface="Symbol" panose="05050102010706020507"/>
              </a:rPr>
              <a:t></a:t>
            </a:r>
            <a:r>
              <a:rPr lang="en-US" altLang="zh-CN" sz="2400" b="1" i="1" dirty="0">
                <a:latin typeface="Times New Roman" panose="02020603050405020304"/>
                <a:cs typeface="Times New Roman" panose="02020603050405020304"/>
              </a:rPr>
              <a:t>k</a:t>
            </a:r>
            <a:r>
              <a:rPr lang="en-US" altLang="zh-CN" sz="2400" b="1" dirty="0">
                <a:latin typeface="Times New Roman" panose="02020603050405020304"/>
                <a:cs typeface="Times New Roman" panose="02020603050405020304"/>
              </a:rPr>
              <a:t>/2</a:t>
            </a:r>
            <a:r>
              <a:rPr lang="en-US" altLang="zh-CN" sz="2400" b="1" dirty="0">
                <a:latin typeface="Symbol" panose="05050102010706020507"/>
                <a:cs typeface="Symbol" panose="05050102010706020507"/>
              </a:rPr>
              <a:t></a:t>
            </a:r>
            <a:r>
              <a:rPr lang="en-US" altLang="zh-CN" sz="2400" b="1" dirty="0">
                <a:latin typeface="Times New Roman" panose="02020603050405020304"/>
                <a:cs typeface="Times New Roman" panose="02020603050405020304"/>
              </a:rPr>
              <a:t> </a:t>
            </a:r>
            <a:r>
              <a:rPr lang="zh-CN" altLang="en-US" sz="2400" b="1" spc="-20" dirty="0"/>
              <a:t>组</a:t>
            </a:r>
            <a:r>
              <a:rPr lang="zh-CN" altLang="en-US" sz="2400" spc="-20" dirty="0"/>
              <a:t>  </a:t>
            </a:r>
            <a:r>
              <a:rPr lang="en-US" altLang="zh-CN" sz="2400" spc="-7" dirty="0">
                <a:latin typeface="Times New Roman" panose="02020603050405020304"/>
                <a:cs typeface="Times New Roman" panose="02020603050405020304"/>
              </a:rPr>
              <a:t>//</a:t>
            </a:r>
            <a:r>
              <a:rPr lang="zh-CN" altLang="en-US" sz="2400" spc="-93" dirty="0">
                <a:latin typeface="Times New Roman" panose="02020603050405020304"/>
                <a:cs typeface="Times New Roman" panose="02020603050405020304"/>
              </a:rPr>
              <a:t> </a:t>
            </a:r>
            <a:r>
              <a:rPr lang="zh-CN" altLang="en-US" sz="2400" spc="-7" dirty="0"/>
              <a:t>轮空处理</a:t>
            </a:r>
            <a:endParaRPr lang="zh-CN" altLang="en-US" sz="2400" spc="-7" dirty="0"/>
          </a:p>
          <a:p>
            <a:pPr marL="947420" indent="-931545">
              <a:buAutoNum type="arabicPeriod" startAt="3"/>
              <a:tabLst>
                <a:tab pos="946785" algn="l"/>
                <a:tab pos="948055" algn="l"/>
                <a:tab pos="1603375" algn="l"/>
                <a:tab pos="2384425" algn="l"/>
                <a:tab pos="2881630" algn="l"/>
                <a:tab pos="3833495" algn="l"/>
              </a:tabLst>
            </a:pPr>
            <a:r>
              <a:rPr lang="en-US" altLang="zh-CN" sz="2400" b="1" spc="-7" dirty="0">
                <a:latin typeface="Times New Roman" panose="02020603050405020304"/>
                <a:cs typeface="Times New Roman" panose="02020603050405020304"/>
              </a:rPr>
              <a:t>for	</a:t>
            </a:r>
            <a:r>
              <a:rPr lang="en-US" altLang="zh-CN" sz="2400" b="1" i="1" spc="-7" dirty="0" err="1">
                <a:latin typeface="Times New Roman" panose="02020603050405020304"/>
                <a:cs typeface="Times New Roman" panose="02020603050405020304"/>
              </a:rPr>
              <a:t>i</a:t>
            </a:r>
            <a:r>
              <a:rPr lang="en-US" altLang="zh-CN" sz="2400" b="1" i="1" dirty="0">
                <a:latin typeface="Times New Roman" panose="02020603050405020304"/>
                <a:cs typeface="Times New Roman" panose="02020603050405020304"/>
              </a:rPr>
              <a:t> </a:t>
            </a:r>
            <a:r>
              <a:rPr lang="en-US" altLang="zh-CN" sz="2400" b="1" spc="-7" dirty="0">
                <a:latin typeface="Times New Roman" panose="02020603050405020304"/>
                <a:cs typeface="Times New Roman" panose="02020603050405020304"/>
              </a:rPr>
              <a:t>=1	to	</a:t>
            </a:r>
            <a:r>
              <a:rPr lang="en-US" altLang="zh-CN" sz="2400" b="1" dirty="0">
                <a:latin typeface="Symbol" panose="05050102010706020507"/>
                <a:cs typeface="Symbol" panose="05050102010706020507"/>
              </a:rPr>
              <a:t></a:t>
            </a:r>
            <a:r>
              <a:rPr lang="en-US" altLang="zh-CN" sz="2400" b="1" i="1" dirty="0">
                <a:latin typeface="Times New Roman" panose="02020603050405020304"/>
                <a:cs typeface="Times New Roman" panose="02020603050405020304"/>
              </a:rPr>
              <a:t>k</a:t>
            </a:r>
            <a:r>
              <a:rPr lang="en-US" altLang="zh-CN" sz="2400" b="1" dirty="0">
                <a:latin typeface="Times New Roman" panose="02020603050405020304"/>
                <a:cs typeface="Times New Roman" panose="02020603050405020304"/>
              </a:rPr>
              <a:t>/2</a:t>
            </a:r>
            <a:r>
              <a:rPr lang="en-US" altLang="zh-CN" sz="2400" b="1" dirty="0">
                <a:latin typeface="Symbol" panose="05050102010706020507"/>
                <a:cs typeface="Symbol" panose="05050102010706020507"/>
              </a:rPr>
              <a:t></a:t>
            </a:r>
            <a:r>
              <a:rPr lang="en-US" altLang="zh-CN" sz="2400" b="1" dirty="0">
                <a:latin typeface="Times New Roman" panose="02020603050405020304"/>
                <a:cs typeface="Times New Roman" panose="02020603050405020304"/>
              </a:rPr>
              <a:t>	</a:t>
            </a:r>
            <a:r>
              <a:rPr lang="en-US" altLang="zh-CN" sz="2400" b="1" spc="-7" dirty="0">
                <a:latin typeface="Times New Roman" panose="02020603050405020304"/>
                <a:cs typeface="Times New Roman" panose="02020603050405020304"/>
              </a:rPr>
              <a:t>do</a:t>
            </a:r>
            <a:endParaRPr lang="en-US" altLang="zh-CN" sz="2400" b="1" spc="-7" dirty="0">
              <a:latin typeface="Times New Roman" panose="02020603050405020304"/>
              <a:cs typeface="Times New Roman" panose="02020603050405020304"/>
            </a:endParaRPr>
          </a:p>
          <a:p>
            <a:pPr marL="947420" indent="-931545">
              <a:buFontTx/>
              <a:buAutoNum type="arabicPeriod" startAt="3"/>
              <a:tabLst>
                <a:tab pos="946785" algn="l"/>
                <a:tab pos="948055" algn="l"/>
                <a:tab pos="1603375" algn="l"/>
                <a:tab pos="2384425" algn="l"/>
                <a:tab pos="2881630" algn="l"/>
                <a:tab pos="3833495" algn="l"/>
              </a:tabLst>
            </a:pPr>
            <a:r>
              <a:rPr lang="en-US" altLang="zh-CN" sz="2400" b="1" spc="-7" dirty="0">
                <a:latin typeface="Times New Roman" panose="02020603050405020304"/>
                <a:cs typeface="Times New Roman" panose="02020603050405020304"/>
              </a:rPr>
              <a:t>       if  </a:t>
            </a:r>
            <a:r>
              <a:rPr lang="en-US" altLang="zh-CN" sz="2400" b="1" spc="13" dirty="0">
                <a:latin typeface="Times New Roman" panose="02020603050405020304"/>
                <a:cs typeface="Times New Roman" panose="02020603050405020304"/>
              </a:rPr>
              <a:t>2</a:t>
            </a:r>
            <a:r>
              <a:rPr lang="zh-CN" altLang="en-US" sz="2400" b="1" spc="-7" dirty="0">
                <a:latin typeface="宋体" panose="02010600030101010101" pitchFamily="2" charset="-122"/>
                <a:cs typeface="宋体" panose="02010600030101010101" pitchFamily="2" charset="-122"/>
              </a:rPr>
              <a:t>片</a:t>
            </a:r>
            <a:r>
              <a:rPr lang="zh-CN" altLang="en-US" sz="2400" b="1" spc="-20" dirty="0">
                <a:latin typeface="宋体" panose="02010600030101010101" pitchFamily="2" charset="-122"/>
                <a:cs typeface="宋体" panose="02010600030101010101" pitchFamily="2" charset="-122"/>
              </a:rPr>
              <a:t>好 </a:t>
            </a:r>
            <a:r>
              <a:rPr lang="zh-CN" altLang="en-US" sz="2400" b="1" spc="-753" dirty="0">
                <a:latin typeface="宋体" panose="02010600030101010101" pitchFamily="2" charset="-122"/>
                <a:cs typeface="宋体" panose="02010600030101010101" pitchFamily="2" charset="-122"/>
              </a:rPr>
              <a:t> </a:t>
            </a:r>
            <a:r>
              <a:rPr lang="en-US" altLang="zh-CN" sz="2400" b="1" spc="-7" dirty="0">
                <a:latin typeface="Times New Roman" panose="02020603050405020304"/>
                <a:cs typeface="Times New Roman" panose="02020603050405020304"/>
              </a:rPr>
              <a:t>then</a:t>
            </a:r>
            <a:r>
              <a:rPr lang="en-US" altLang="zh-CN" sz="2400" b="1" spc="-33" dirty="0">
                <a:latin typeface="Times New Roman" panose="02020603050405020304"/>
                <a:cs typeface="Times New Roman" panose="02020603050405020304"/>
              </a:rPr>
              <a:t>   </a:t>
            </a:r>
            <a:r>
              <a:rPr lang="zh-CN" altLang="en-US" sz="2400" b="1" spc="-7" dirty="0">
                <a:latin typeface="宋体" panose="02010600030101010101" pitchFamily="2" charset="-122"/>
                <a:cs typeface="宋体" panose="02010600030101010101" pitchFamily="2" charset="-122"/>
              </a:rPr>
              <a:t>则任取</a:t>
            </a:r>
            <a:r>
              <a:rPr lang="en-US" altLang="zh-CN" sz="2400" b="1" dirty="0">
                <a:latin typeface="Times New Roman" panose="02020603050405020304"/>
                <a:cs typeface="Times New Roman" panose="02020603050405020304"/>
              </a:rPr>
              <a:t>1</a:t>
            </a:r>
            <a:r>
              <a:rPr lang="zh-CN" altLang="en-US" sz="2400" b="1" spc="-7" dirty="0">
                <a:latin typeface="宋体" panose="02010600030101010101" pitchFamily="2" charset="-122"/>
                <a:cs typeface="宋体" panose="02010600030101010101" pitchFamily="2" charset="-122"/>
              </a:rPr>
              <a:t>片留下</a:t>
            </a:r>
            <a:endParaRPr lang="en-US" altLang="zh-CN" sz="2400" b="1" spc="-7" dirty="0">
              <a:latin typeface="宋体" panose="02010600030101010101" pitchFamily="2" charset="-122"/>
              <a:cs typeface="宋体" panose="02010600030101010101" pitchFamily="2" charset="-122"/>
            </a:endParaRPr>
          </a:p>
          <a:p>
            <a:pPr marL="947420" indent="-931545">
              <a:buFontTx/>
              <a:buAutoNum type="arabicPeriod" startAt="3"/>
              <a:tabLst>
                <a:tab pos="946785" algn="l"/>
                <a:tab pos="948055" algn="l"/>
                <a:tab pos="1603375" algn="l"/>
                <a:tab pos="2384425" algn="l"/>
                <a:tab pos="2881630" algn="l"/>
                <a:tab pos="3833495" algn="l"/>
              </a:tabLst>
            </a:pPr>
            <a:r>
              <a:rPr lang="en-US" altLang="zh-CN" sz="2400" b="1" spc="-7" dirty="0">
                <a:latin typeface="Times New Roman" panose="02020603050405020304"/>
                <a:cs typeface="Times New Roman" panose="02020603050405020304"/>
              </a:rPr>
              <a:t>      else  </a:t>
            </a:r>
            <a:r>
              <a:rPr lang="en-US" altLang="zh-CN" sz="2400" b="1" spc="13" dirty="0">
                <a:latin typeface="Times New Roman" panose="02020603050405020304"/>
                <a:cs typeface="Times New Roman" panose="02020603050405020304"/>
              </a:rPr>
              <a:t>2</a:t>
            </a:r>
            <a:r>
              <a:rPr lang="zh-CN" altLang="en-US" sz="2400" b="1" spc="-7" dirty="0">
                <a:latin typeface="宋体" panose="02010600030101010101" pitchFamily="2" charset="-122"/>
                <a:cs typeface="宋体" panose="02010600030101010101" pitchFamily="2" charset="-122"/>
              </a:rPr>
              <a:t>片 同时丢掉</a:t>
            </a:r>
            <a:endParaRPr lang="en-US" altLang="zh-CN" sz="2400" b="1" spc="-7" dirty="0">
              <a:latin typeface="宋体" panose="02010600030101010101" pitchFamily="2" charset="-122"/>
              <a:cs typeface="宋体" panose="02010600030101010101" pitchFamily="2" charset="-122"/>
            </a:endParaRPr>
          </a:p>
          <a:p>
            <a:pPr marL="947420" indent="-931545">
              <a:buFontTx/>
              <a:buAutoNum type="arabicPeriod" startAt="3"/>
              <a:tabLst>
                <a:tab pos="946785" algn="l"/>
                <a:tab pos="948055" algn="l"/>
                <a:tab pos="1603375" algn="l"/>
                <a:tab pos="2384425" algn="l"/>
                <a:tab pos="2881630" algn="l"/>
                <a:tab pos="3833495" algn="l"/>
              </a:tabLst>
            </a:pPr>
            <a:r>
              <a:rPr lang="en-US" altLang="zh-CN" sz="2400" b="1" i="1" dirty="0">
                <a:latin typeface="Times New Roman" panose="02020603050405020304"/>
                <a:cs typeface="Times New Roman" panose="02020603050405020304"/>
              </a:rPr>
              <a:t>k</a:t>
            </a:r>
            <a:r>
              <a:rPr lang="zh-CN" altLang="en-US" sz="2400" b="1" dirty="0">
                <a:latin typeface="Symbol" panose="05050102010706020507"/>
                <a:cs typeface="Symbol" panose="05050102010706020507"/>
              </a:rPr>
              <a:t></a:t>
            </a:r>
            <a:r>
              <a:rPr lang="zh-CN" altLang="en-US" sz="2400" b="1" spc="-13" dirty="0">
                <a:latin typeface="宋体" panose="02010600030101010101" pitchFamily="2" charset="-122"/>
                <a:cs typeface="宋体" panose="02010600030101010101" pitchFamily="2" charset="-122"/>
              </a:rPr>
              <a:t>剩下的芯片数</a:t>
            </a:r>
            <a:endParaRPr lang="en-US" altLang="zh-CN" sz="2400" b="1" spc="-13" dirty="0">
              <a:latin typeface="宋体" panose="02010600030101010101" pitchFamily="2" charset="-122"/>
              <a:cs typeface="宋体" panose="02010600030101010101" pitchFamily="2" charset="-122"/>
            </a:endParaRPr>
          </a:p>
          <a:p>
            <a:pPr>
              <a:buFontTx/>
              <a:buAutoNum type="arabicPeriod" startAt="3"/>
              <a:tabLst>
                <a:tab pos="946785" algn="l"/>
                <a:tab pos="948055" algn="l"/>
                <a:tab pos="1603375" algn="l"/>
                <a:tab pos="2384425" algn="l"/>
                <a:tab pos="2881630" algn="l"/>
                <a:tab pos="3833495" algn="l"/>
              </a:tabLst>
            </a:pPr>
            <a:r>
              <a:rPr lang="en-US" altLang="zh-CN" sz="2400" b="1" spc="-7" dirty="0">
                <a:latin typeface="Times New Roman" panose="02020603050405020304"/>
                <a:cs typeface="Times New Roman" panose="02020603050405020304"/>
              </a:rPr>
              <a:t>   </a:t>
            </a:r>
            <a:r>
              <a:rPr lang="en-US" altLang="zh-CN" sz="2400" b="1" spc="-7" dirty="0">
                <a:solidFill>
                  <a:srgbClr val="C00000"/>
                </a:solidFill>
                <a:latin typeface="Times New Roman" panose="02020603050405020304"/>
                <a:cs typeface="Times New Roman" panose="02020603050405020304"/>
              </a:rPr>
              <a:t>if</a:t>
            </a:r>
            <a:r>
              <a:rPr lang="en-US" altLang="zh-CN" sz="2400" b="1" dirty="0">
                <a:solidFill>
                  <a:srgbClr val="C00000"/>
                </a:solidFill>
                <a:latin typeface="Times New Roman" panose="02020603050405020304"/>
                <a:cs typeface="Times New Roman" panose="02020603050405020304"/>
              </a:rPr>
              <a:t>	</a:t>
            </a:r>
            <a:r>
              <a:rPr lang="en-US" altLang="zh-CN" sz="2400" b="1" i="1" spc="-7" dirty="0">
                <a:solidFill>
                  <a:srgbClr val="C00000"/>
                </a:solidFill>
                <a:latin typeface="Times New Roman" panose="02020603050405020304"/>
                <a:cs typeface="Times New Roman" panose="02020603050405020304"/>
              </a:rPr>
              <a:t>k</a:t>
            </a:r>
            <a:r>
              <a:rPr lang="en-US" altLang="zh-CN" sz="2400" b="1" i="1" spc="7" dirty="0">
                <a:solidFill>
                  <a:srgbClr val="C00000"/>
                </a:solidFill>
                <a:latin typeface="Times New Roman" panose="02020603050405020304"/>
                <a:cs typeface="Times New Roman" panose="02020603050405020304"/>
              </a:rPr>
              <a:t> </a:t>
            </a:r>
            <a:r>
              <a:rPr lang="en-US" altLang="zh-CN" sz="2400" b="1" spc="-7" dirty="0">
                <a:solidFill>
                  <a:srgbClr val="C00000"/>
                </a:solidFill>
                <a:latin typeface="Times New Roman" panose="02020603050405020304"/>
                <a:cs typeface="Times New Roman" panose="02020603050405020304"/>
              </a:rPr>
              <a:t>=3</a:t>
            </a:r>
            <a:r>
              <a:rPr lang="en-US" altLang="zh-CN" sz="2400" b="1" dirty="0">
                <a:solidFill>
                  <a:srgbClr val="C00000"/>
                </a:solidFill>
                <a:latin typeface="Times New Roman" panose="02020603050405020304"/>
                <a:cs typeface="Times New Roman" panose="02020603050405020304"/>
              </a:rPr>
              <a:t>	</a:t>
            </a:r>
            <a:r>
              <a:rPr lang="en-US" altLang="zh-CN" sz="2400" b="1" spc="-7" dirty="0">
                <a:solidFill>
                  <a:srgbClr val="C00000"/>
                </a:solidFill>
                <a:latin typeface="Times New Roman" panose="02020603050405020304"/>
                <a:cs typeface="Times New Roman" panose="02020603050405020304"/>
              </a:rPr>
              <a:t>then</a:t>
            </a:r>
            <a:endParaRPr lang="en-US" altLang="zh-CN" sz="2400" b="1" spc="-13" dirty="0">
              <a:solidFill>
                <a:srgbClr val="C00000"/>
              </a:solidFill>
              <a:latin typeface="宋体" panose="02010600030101010101" pitchFamily="2" charset="-122"/>
              <a:cs typeface="宋体" panose="02010600030101010101" pitchFamily="2" charset="-122"/>
            </a:endParaRPr>
          </a:p>
          <a:p>
            <a:pPr marL="947420" indent="-931545">
              <a:buFontTx/>
              <a:buAutoNum type="arabicPeriod" startAt="3"/>
              <a:tabLst>
                <a:tab pos="946785" algn="l"/>
                <a:tab pos="948055" algn="l"/>
                <a:tab pos="1603375" algn="l"/>
                <a:tab pos="2384425" algn="l"/>
                <a:tab pos="2881630" algn="l"/>
                <a:tab pos="3833495" algn="l"/>
              </a:tabLst>
            </a:pPr>
            <a:r>
              <a:rPr lang="zh-CN" altLang="en-US" sz="2400" b="1" spc="-7" dirty="0">
                <a:latin typeface="宋体" panose="02010600030101010101" pitchFamily="2" charset="-122"/>
                <a:cs typeface="宋体" panose="02010600030101010101" pitchFamily="2" charset="-122"/>
              </a:rPr>
              <a:t>任取</a:t>
            </a:r>
            <a:r>
              <a:rPr lang="en-US" altLang="zh-CN" sz="2400" b="1" dirty="0">
                <a:latin typeface="Times New Roman" panose="02020603050405020304"/>
                <a:cs typeface="Times New Roman" panose="02020603050405020304"/>
              </a:rPr>
              <a:t>2</a:t>
            </a:r>
            <a:r>
              <a:rPr lang="zh-CN" altLang="en-US" sz="2400" b="1" spc="-7" dirty="0">
                <a:latin typeface="宋体" panose="02010600030101010101" pitchFamily="2" charset="-122"/>
                <a:cs typeface="宋体" panose="02010600030101010101" pitchFamily="2" charset="-122"/>
              </a:rPr>
              <a:t>片芯片测试</a:t>
            </a:r>
            <a:endParaRPr lang="en-US" altLang="zh-CN" sz="2400" b="1" spc="-7" dirty="0">
              <a:latin typeface="宋体" panose="02010600030101010101" pitchFamily="2" charset="-122"/>
              <a:cs typeface="宋体" panose="02010600030101010101" pitchFamily="2" charset="-122"/>
            </a:endParaRPr>
          </a:p>
          <a:p>
            <a:pPr marL="947420" indent="-931545">
              <a:buFontTx/>
              <a:buAutoNum type="arabicPeriod" startAt="3"/>
              <a:tabLst>
                <a:tab pos="946785" algn="l"/>
                <a:tab pos="948055" algn="l"/>
                <a:tab pos="1603375" algn="l"/>
                <a:tab pos="2384425" algn="l"/>
                <a:tab pos="2881630" algn="l"/>
                <a:tab pos="3833495" algn="l"/>
              </a:tabLst>
            </a:pPr>
            <a:r>
              <a:rPr lang="en-US" altLang="zh-CN" sz="2400" b="1" spc="-7" dirty="0">
                <a:latin typeface="Times New Roman" panose="02020603050405020304"/>
                <a:cs typeface="Times New Roman" panose="02020603050405020304"/>
              </a:rPr>
              <a:t>if	</a:t>
            </a:r>
            <a:r>
              <a:rPr lang="en-US" altLang="zh-CN" sz="2400" b="1" spc="7" dirty="0">
                <a:latin typeface="Times New Roman" panose="02020603050405020304"/>
                <a:cs typeface="Times New Roman" panose="02020603050405020304"/>
              </a:rPr>
              <a:t>1</a:t>
            </a:r>
            <a:r>
              <a:rPr lang="zh-CN" altLang="en-US" sz="2400" b="1" spc="-13" dirty="0">
                <a:latin typeface="宋体" panose="02010600030101010101" pitchFamily="2" charset="-122"/>
                <a:cs typeface="宋体" panose="02010600030101010101" pitchFamily="2" charset="-122"/>
              </a:rPr>
              <a:t>好</a:t>
            </a:r>
            <a:r>
              <a:rPr lang="en-US" altLang="zh-CN" sz="2400" b="1" spc="-7" dirty="0">
                <a:latin typeface="Times New Roman" panose="02020603050405020304"/>
                <a:cs typeface="Times New Roman" panose="02020603050405020304"/>
              </a:rPr>
              <a:t>1</a:t>
            </a:r>
            <a:r>
              <a:rPr lang="zh-CN" altLang="en-US" sz="2400" b="1" spc="-20" dirty="0">
                <a:latin typeface="宋体" panose="02010600030101010101" pitchFamily="2" charset="-122"/>
                <a:cs typeface="宋体" panose="02010600030101010101" pitchFamily="2" charset="-122"/>
              </a:rPr>
              <a:t>坏</a:t>
            </a:r>
            <a:r>
              <a:rPr lang="zh-CN" altLang="en-US" sz="2400" b="1" spc="-27" dirty="0">
                <a:latin typeface="宋体" panose="02010600030101010101" pitchFamily="2" charset="-122"/>
                <a:cs typeface="宋体" panose="02010600030101010101" pitchFamily="2" charset="-122"/>
              </a:rPr>
              <a:t>  </a:t>
            </a:r>
            <a:r>
              <a:rPr lang="en-US" altLang="zh-CN" sz="2400" b="1" spc="-7" dirty="0">
                <a:latin typeface="Times New Roman" panose="02020603050405020304"/>
                <a:cs typeface="Times New Roman" panose="02020603050405020304"/>
              </a:rPr>
              <a:t>then</a:t>
            </a:r>
            <a:r>
              <a:rPr lang="en-US" altLang="zh-CN" sz="2400" b="1" spc="7" dirty="0">
                <a:latin typeface="Times New Roman" panose="02020603050405020304"/>
                <a:cs typeface="Times New Roman" panose="02020603050405020304"/>
              </a:rPr>
              <a:t>  </a:t>
            </a:r>
            <a:r>
              <a:rPr lang="zh-CN" altLang="en-US" sz="2400" b="1" spc="-13" dirty="0">
                <a:latin typeface="宋体" panose="02010600030101010101" pitchFamily="2" charset="-122"/>
                <a:cs typeface="宋体" panose="02010600030101010101" pitchFamily="2" charset="-122"/>
              </a:rPr>
              <a:t>取没测的芯片</a:t>
            </a:r>
            <a:endParaRPr lang="zh-CN" altLang="en-US" sz="2400" dirty="0">
              <a:latin typeface="宋体" panose="02010600030101010101" pitchFamily="2" charset="-122"/>
              <a:cs typeface="宋体" panose="02010600030101010101" pitchFamily="2" charset="-122"/>
            </a:endParaRPr>
          </a:p>
          <a:p>
            <a:pPr>
              <a:buAutoNum type="arabicPeriod" startAt="10"/>
              <a:tabLst>
                <a:tab pos="1109345" algn="l"/>
                <a:tab pos="1110615" algn="l"/>
                <a:tab pos="1875790" algn="l"/>
              </a:tabLst>
            </a:pPr>
            <a:r>
              <a:rPr lang="en-US" altLang="zh-CN" sz="2400" b="1" spc="-7" dirty="0">
                <a:latin typeface="Times New Roman" panose="02020603050405020304"/>
                <a:cs typeface="Times New Roman" panose="02020603050405020304"/>
              </a:rPr>
              <a:t>       else	</a:t>
            </a:r>
            <a:r>
              <a:rPr lang="zh-CN" altLang="en-US" sz="2400" b="1" spc="-7" dirty="0">
                <a:latin typeface="宋体" panose="02010600030101010101" pitchFamily="2" charset="-122"/>
                <a:cs typeface="宋体" panose="02010600030101010101" pitchFamily="2" charset="-122"/>
              </a:rPr>
              <a:t>任取</a:t>
            </a:r>
            <a:r>
              <a:rPr lang="en-US" altLang="zh-CN" sz="2400" b="1" dirty="0">
                <a:latin typeface="Times New Roman" panose="02020603050405020304"/>
                <a:cs typeface="Times New Roman" panose="02020603050405020304"/>
              </a:rPr>
              <a:t>1</a:t>
            </a:r>
            <a:r>
              <a:rPr lang="zh-CN" altLang="en-US" sz="2400" b="1" spc="-7" dirty="0">
                <a:latin typeface="宋体" panose="02010600030101010101" pitchFamily="2" charset="-122"/>
                <a:cs typeface="宋体" panose="02010600030101010101" pitchFamily="2" charset="-122"/>
              </a:rPr>
              <a:t>片被测芯片</a:t>
            </a:r>
            <a:endParaRPr lang="en-US" altLang="zh-CN" sz="2400" dirty="0">
              <a:latin typeface="宋体" panose="02010600030101010101" pitchFamily="2" charset="-122"/>
              <a:cs typeface="宋体" panose="02010600030101010101" pitchFamily="2" charset="-122"/>
            </a:endParaRPr>
          </a:p>
          <a:p>
            <a:pPr>
              <a:buAutoNum type="arabicPeriod" startAt="10"/>
              <a:tabLst>
                <a:tab pos="1109345" algn="l"/>
                <a:tab pos="1110615" algn="l"/>
                <a:tab pos="1875790" algn="l"/>
              </a:tabLst>
            </a:pPr>
            <a:r>
              <a:rPr lang="en-US" altLang="zh-CN" sz="2400" b="1" spc="-7" dirty="0">
                <a:latin typeface="宋体" panose="02010600030101010101" pitchFamily="2" charset="-122"/>
                <a:cs typeface="Times New Roman" panose="02020603050405020304"/>
              </a:rPr>
              <a:t> </a:t>
            </a:r>
            <a:r>
              <a:rPr lang="en-US" altLang="zh-CN" sz="2400" b="1" spc="-7" dirty="0">
                <a:solidFill>
                  <a:srgbClr val="C00000"/>
                </a:solidFill>
                <a:latin typeface="Times New Roman" panose="02020603050405020304"/>
                <a:cs typeface="Times New Roman" panose="02020603050405020304"/>
              </a:rPr>
              <a:t>if	</a:t>
            </a:r>
            <a:r>
              <a:rPr lang="en-US" altLang="zh-CN" sz="2400" b="1" i="1" spc="-7" dirty="0">
                <a:solidFill>
                  <a:srgbClr val="C00000"/>
                </a:solidFill>
                <a:latin typeface="Times New Roman" panose="02020603050405020304"/>
                <a:cs typeface="Times New Roman" panose="02020603050405020304"/>
              </a:rPr>
              <a:t>k</a:t>
            </a:r>
            <a:r>
              <a:rPr lang="en-US" altLang="zh-CN" sz="2400" b="1" i="1" spc="-13" dirty="0">
                <a:solidFill>
                  <a:srgbClr val="C00000"/>
                </a:solidFill>
                <a:latin typeface="Times New Roman" panose="02020603050405020304"/>
                <a:cs typeface="Times New Roman" panose="02020603050405020304"/>
              </a:rPr>
              <a:t> </a:t>
            </a:r>
            <a:r>
              <a:rPr lang="en-US" altLang="zh-CN" sz="2400" b="1" spc="-7" dirty="0">
                <a:solidFill>
                  <a:srgbClr val="C00000"/>
                </a:solidFill>
                <a:latin typeface="Times New Roman" panose="02020603050405020304"/>
                <a:cs typeface="Times New Roman" panose="02020603050405020304"/>
              </a:rPr>
              <a:t>=2</a:t>
            </a:r>
            <a:r>
              <a:rPr lang="en-US" altLang="zh-CN" sz="2400" b="1" spc="-13" dirty="0">
                <a:solidFill>
                  <a:srgbClr val="C00000"/>
                </a:solidFill>
                <a:latin typeface="Times New Roman" panose="02020603050405020304"/>
                <a:cs typeface="Times New Roman" panose="02020603050405020304"/>
              </a:rPr>
              <a:t> </a:t>
            </a:r>
            <a:r>
              <a:rPr lang="en-US" altLang="zh-CN" sz="2400" b="1" dirty="0">
                <a:solidFill>
                  <a:srgbClr val="C00000"/>
                </a:solidFill>
                <a:latin typeface="Times New Roman" panose="02020603050405020304"/>
                <a:cs typeface="Times New Roman" panose="02020603050405020304"/>
              </a:rPr>
              <a:t>or</a:t>
            </a:r>
            <a:r>
              <a:rPr lang="en-US" altLang="zh-CN" sz="2400" b="1" spc="-67" dirty="0">
                <a:solidFill>
                  <a:srgbClr val="C00000"/>
                </a:solidFill>
                <a:latin typeface="Times New Roman" panose="02020603050405020304"/>
                <a:cs typeface="Times New Roman" panose="02020603050405020304"/>
              </a:rPr>
              <a:t> </a:t>
            </a:r>
            <a:r>
              <a:rPr lang="en-US" altLang="zh-CN" sz="2400" b="1" spc="-7" dirty="0">
                <a:solidFill>
                  <a:srgbClr val="C00000"/>
                </a:solidFill>
                <a:latin typeface="Times New Roman" panose="02020603050405020304"/>
                <a:cs typeface="Times New Roman" panose="02020603050405020304"/>
              </a:rPr>
              <a:t>1  </a:t>
            </a:r>
            <a:r>
              <a:rPr lang="en-US" altLang="zh-CN" sz="2400" b="1" spc="-7" dirty="0">
                <a:latin typeface="Times New Roman" panose="02020603050405020304"/>
                <a:cs typeface="Times New Roman" panose="02020603050405020304"/>
              </a:rPr>
              <a:t>then</a:t>
            </a:r>
            <a:r>
              <a:rPr lang="en-US" altLang="zh-CN" sz="2400" b="1" spc="27" dirty="0">
                <a:latin typeface="Times New Roman" panose="02020603050405020304"/>
                <a:cs typeface="Times New Roman" panose="02020603050405020304"/>
              </a:rPr>
              <a:t> </a:t>
            </a:r>
            <a:r>
              <a:rPr lang="zh-CN" altLang="en-US" sz="2400" b="1" spc="-7" dirty="0">
                <a:latin typeface="宋体" panose="02010600030101010101" pitchFamily="2" charset="-122"/>
                <a:cs typeface="宋体" panose="02010600030101010101" pitchFamily="2" charset="-122"/>
              </a:rPr>
              <a:t>任取</a:t>
            </a:r>
            <a:r>
              <a:rPr lang="en-US" altLang="zh-CN" sz="2400" b="1" dirty="0">
                <a:latin typeface="Times New Roman" panose="02020603050405020304"/>
                <a:cs typeface="Times New Roman" panose="02020603050405020304"/>
              </a:rPr>
              <a:t>1</a:t>
            </a:r>
            <a:r>
              <a:rPr lang="zh-CN" altLang="en-US" sz="2400" b="1" spc="-20" dirty="0">
                <a:latin typeface="宋体" panose="02010600030101010101" pitchFamily="2" charset="-122"/>
                <a:cs typeface="宋体" panose="02010600030101010101" pitchFamily="2" charset="-122"/>
              </a:rPr>
              <a:t>片</a:t>
            </a:r>
            <a:endParaRPr lang="en-US" altLang="zh-CN" sz="2400" b="1" spc="-7" dirty="0">
              <a:latin typeface="Times New Roman" panose="02020603050405020304"/>
              <a:cs typeface="Times New Roman" panose="02020603050405020304"/>
            </a:endParaRPr>
          </a:p>
          <a:p>
            <a:pPr marL="17145">
              <a:tabLst>
                <a:tab pos="1609090" algn="l"/>
                <a:tab pos="2473325" algn="l"/>
              </a:tabLst>
            </a:pPr>
            <a:endParaRPr sz="2400" dirty="0">
              <a:latin typeface="Times New Roman" panose="02020603050405020304"/>
              <a:cs typeface="Times New Roman" panose="02020603050405020304"/>
            </a:endParaRPr>
          </a:p>
        </p:txBody>
      </p:sp>
      <p:sp>
        <p:nvSpPr>
          <p:cNvPr id="12" name="object 12"/>
          <p:cNvSpPr/>
          <p:nvPr/>
        </p:nvSpPr>
        <p:spPr>
          <a:xfrm>
            <a:off x="2984248" y="3681849"/>
            <a:ext cx="2179107" cy="1021080"/>
          </a:xfrm>
          <a:custGeom>
            <a:avLst/>
            <a:gdLst/>
            <a:ahLst/>
            <a:cxnLst/>
            <a:rect l="l" t="t" r="r" b="b"/>
            <a:pathLst>
              <a:path w="1749425" h="765810">
                <a:moveTo>
                  <a:pt x="1180424" y="0"/>
                </a:moveTo>
                <a:lnTo>
                  <a:pt x="1126354" y="1498"/>
                </a:lnTo>
                <a:lnTo>
                  <a:pt x="1073507" y="6329"/>
                </a:lnTo>
                <a:lnTo>
                  <a:pt x="1022146" y="14352"/>
                </a:lnTo>
                <a:lnTo>
                  <a:pt x="972532" y="25422"/>
                </a:lnTo>
                <a:lnTo>
                  <a:pt x="924928" y="39397"/>
                </a:lnTo>
                <a:lnTo>
                  <a:pt x="879597" y="56132"/>
                </a:lnTo>
                <a:lnTo>
                  <a:pt x="836801" y="75486"/>
                </a:lnTo>
                <a:lnTo>
                  <a:pt x="796801" y="97315"/>
                </a:lnTo>
                <a:lnTo>
                  <a:pt x="759861" y="121475"/>
                </a:lnTo>
                <a:lnTo>
                  <a:pt x="726241" y="147824"/>
                </a:lnTo>
                <a:lnTo>
                  <a:pt x="696206" y="176219"/>
                </a:lnTo>
                <a:lnTo>
                  <a:pt x="670017" y="206516"/>
                </a:lnTo>
                <a:lnTo>
                  <a:pt x="647936" y="238572"/>
                </a:lnTo>
                <a:lnTo>
                  <a:pt x="617147" y="307388"/>
                </a:lnTo>
                <a:lnTo>
                  <a:pt x="608965" y="343862"/>
                </a:lnTo>
                <a:lnTo>
                  <a:pt x="0" y="454225"/>
                </a:lnTo>
                <a:lnTo>
                  <a:pt x="628649" y="489277"/>
                </a:lnTo>
                <a:lnTo>
                  <a:pt x="647543" y="525848"/>
                </a:lnTo>
                <a:lnTo>
                  <a:pt x="671501" y="560511"/>
                </a:lnTo>
                <a:lnTo>
                  <a:pt x="700204" y="593090"/>
                </a:lnTo>
                <a:lnTo>
                  <a:pt x="733335" y="623408"/>
                </a:lnTo>
                <a:lnTo>
                  <a:pt x="770576" y="651289"/>
                </a:lnTo>
                <a:lnTo>
                  <a:pt x="811609" y="676555"/>
                </a:lnTo>
                <a:lnTo>
                  <a:pt x="856116" y="699029"/>
                </a:lnTo>
                <a:lnTo>
                  <a:pt x="903779" y="718536"/>
                </a:lnTo>
                <a:lnTo>
                  <a:pt x="954279" y="734897"/>
                </a:lnTo>
                <a:lnTo>
                  <a:pt x="1007301" y="747937"/>
                </a:lnTo>
                <a:lnTo>
                  <a:pt x="1062524" y="757478"/>
                </a:lnTo>
                <a:lnTo>
                  <a:pt x="1119632" y="763343"/>
                </a:lnTo>
                <a:lnTo>
                  <a:pt x="1174663" y="765322"/>
                </a:lnTo>
                <a:lnTo>
                  <a:pt x="1228733" y="763824"/>
                </a:lnTo>
                <a:lnTo>
                  <a:pt x="1281580" y="758992"/>
                </a:lnTo>
                <a:lnTo>
                  <a:pt x="1332941" y="750970"/>
                </a:lnTo>
                <a:lnTo>
                  <a:pt x="1382555" y="739900"/>
                </a:lnTo>
                <a:lnTo>
                  <a:pt x="1430159" y="725925"/>
                </a:lnTo>
                <a:lnTo>
                  <a:pt x="1475490" y="709190"/>
                </a:lnTo>
                <a:lnTo>
                  <a:pt x="1518286" y="689836"/>
                </a:lnTo>
                <a:lnTo>
                  <a:pt x="1558286" y="668007"/>
                </a:lnTo>
                <a:lnTo>
                  <a:pt x="1595226" y="643847"/>
                </a:lnTo>
                <a:lnTo>
                  <a:pt x="1628846" y="617498"/>
                </a:lnTo>
                <a:lnTo>
                  <a:pt x="1658881" y="589103"/>
                </a:lnTo>
                <a:lnTo>
                  <a:pt x="1685070" y="558806"/>
                </a:lnTo>
                <a:lnTo>
                  <a:pt x="1707151" y="526750"/>
                </a:lnTo>
                <a:lnTo>
                  <a:pt x="1737940" y="457934"/>
                </a:lnTo>
                <a:lnTo>
                  <a:pt x="1749111" y="382326"/>
                </a:lnTo>
                <a:lnTo>
                  <a:pt x="1746229" y="343862"/>
                </a:lnTo>
                <a:lnTo>
                  <a:pt x="1737783" y="306490"/>
                </a:lnTo>
                <a:lnTo>
                  <a:pt x="1723981" y="270208"/>
                </a:lnTo>
                <a:lnTo>
                  <a:pt x="1705096" y="235298"/>
                </a:lnTo>
                <a:lnTo>
                  <a:pt x="1681387" y="201970"/>
                </a:lnTo>
                <a:lnTo>
                  <a:pt x="1653109" y="170434"/>
                </a:lnTo>
                <a:lnTo>
                  <a:pt x="1620520" y="140901"/>
                </a:lnTo>
                <a:lnTo>
                  <a:pt x="1583876" y="113580"/>
                </a:lnTo>
                <a:lnTo>
                  <a:pt x="1543436" y="88683"/>
                </a:lnTo>
                <a:lnTo>
                  <a:pt x="1499456" y="66421"/>
                </a:lnTo>
                <a:lnTo>
                  <a:pt x="1452193" y="47002"/>
                </a:lnTo>
                <a:lnTo>
                  <a:pt x="1401904" y="30638"/>
                </a:lnTo>
                <a:lnTo>
                  <a:pt x="1348847" y="17539"/>
                </a:lnTo>
                <a:lnTo>
                  <a:pt x="1293279" y="7916"/>
                </a:lnTo>
                <a:lnTo>
                  <a:pt x="1235456" y="1978"/>
                </a:lnTo>
                <a:lnTo>
                  <a:pt x="1180424" y="0"/>
                </a:lnTo>
                <a:close/>
              </a:path>
            </a:pathLst>
          </a:custGeom>
          <a:solidFill>
            <a:srgbClr val="4F81BC"/>
          </a:solidFill>
        </p:spPr>
        <p:txBody>
          <a:bodyPr wrap="square" lIns="0" tIns="0" rIns="0" bIns="0" rtlCol="0"/>
          <a:lstStyle/>
          <a:p>
            <a:endParaRPr sz="2400"/>
          </a:p>
        </p:txBody>
      </p:sp>
      <p:sp>
        <p:nvSpPr>
          <p:cNvPr id="13" name="object 13"/>
          <p:cNvSpPr/>
          <p:nvPr/>
        </p:nvSpPr>
        <p:spPr>
          <a:xfrm>
            <a:off x="2984248" y="3681849"/>
            <a:ext cx="2179107" cy="1021080"/>
          </a:xfrm>
          <a:custGeom>
            <a:avLst/>
            <a:gdLst/>
            <a:ahLst/>
            <a:cxnLst/>
            <a:rect l="l" t="t" r="r" b="b"/>
            <a:pathLst>
              <a:path w="1749425" h="765810">
                <a:moveTo>
                  <a:pt x="0" y="454225"/>
                </a:moveTo>
                <a:lnTo>
                  <a:pt x="608965" y="343862"/>
                </a:lnTo>
                <a:lnTo>
                  <a:pt x="617147" y="307388"/>
                </a:lnTo>
                <a:lnTo>
                  <a:pt x="630225" y="272243"/>
                </a:lnTo>
                <a:lnTo>
                  <a:pt x="670017" y="206516"/>
                </a:lnTo>
                <a:lnTo>
                  <a:pt x="696206" y="176219"/>
                </a:lnTo>
                <a:lnTo>
                  <a:pt x="726241" y="147824"/>
                </a:lnTo>
                <a:lnTo>
                  <a:pt x="759861" y="121475"/>
                </a:lnTo>
                <a:lnTo>
                  <a:pt x="796801" y="97315"/>
                </a:lnTo>
                <a:lnTo>
                  <a:pt x="836801" y="75486"/>
                </a:lnTo>
                <a:lnTo>
                  <a:pt x="879597" y="56132"/>
                </a:lnTo>
                <a:lnTo>
                  <a:pt x="924928" y="39397"/>
                </a:lnTo>
                <a:lnTo>
                  <a:pt x="972532" y="25422"/>
                </a:lnTo>
                <a:lnTo>
                  <a:pt x="1022146" y="14352"/>
                </a:lnTo>
                <a:lnTo>
                  <a:pt x="1073507" y="6329"/>
                </a:lnTo>
                <a:lnTo>
                  <a:pt x="1126354" y="1498"/>
                </a:lnTo>
                <a:lnTo>
                  <a:pt x="1180424" y="0"/>
                </a:lnTo>
                <a:lnTo>
                  <a:pt x="1235456" y="1978"/>
                </a:lnTo>
                <a:lnTo>
                  <a:pt x="1293279" y="7916"/>
                </a:lnTo>
                <a:lnTo>
                  <a:pt x="1348847" y="17539"/>
                </a:lnTo>
                <a:lnTo>
                  <a:pt x="1401904" y="30638"/>
                </a:lnTo>
                <a:lnTo>
                  <a:pt x="1452193" y="47002"/>
                </a:lnTo>
                <a:lnTo>
                  <a:pt x="1499456" y="66421"/>
                </a:lnTo>
                <a:lnTo>
                  <a:pt x="1543436" y="88683"/>
                </a:lnTo>
                <a:lnTo>
                  <a:pt x="1583876" y="113580"/>
                </a:lnTo>
                <a:lnTo>
                  <a:pt x="1620520" y="140901"/>
                </a:lnTo>
                <a:lnTo>
                  <a:pt x="1653109" y="170434"/>
                </a:lnTo>
                <a:lnTo>
                  <a:pt x="1681387" y="201970"/>
                </a:lnTo>
                <a:lnTo>
                  <a:pt x="1705096" y="235298"/>
                </a:lnTo>
                <a:lnTo>
                  <a:pt x="1723981" y="270208"/>
                </a:lnTo>
                <a:lnTo>
                  <a:pt x="1737783" y="306490"/>
                </a:lnTo>
                <a:lnTo>
                  <a:pt x="1746245" y="343933"/>
                </a:lnTo>
                <a:lnTo>
                  <a:pt x="1749111" y="382326"/>
                </a:lnTo>
                <a:lnTo>
                  <a:pt x="1746122" y="421459"/>
                </a:lnTo>
                <a:lnTo>
                  <a:pt x="1724862" y="493079"/>
                </a:lnTo>
                <a:lnTo>
                  <a:pt x="1685070" y="558806"/>
                </a:lnTo>
                <a:lnTo>
                  <a:pt x="1658881" y="589103"/>
                </a:lnTo>
                <a:lnTo>
                  <a:pt x="1628846" y="617498"/>
                </a:lnTo>
                <a:lnTo>
                  <a:pt x="1595226" y="643847"/>
                </a:lnTo>
                <a:lnTo>
                  <a:pt x="1558286" y="668007"/>
                </a:lnTo>
                <a:lnTo>
                  <a:pt x="1518286" y="689836"/>
                </a:lnTo>
                <a:lnTo>
                  <a:pt x="1475490" y="709190"/>
                </a:lnTo>
                <a:lnTo>
                  <a:pt x="1430159" y="725925"/>
                </a:lnTo>
                <a:lnTo>
                  <a:pt x="1382555" y="739900"/>
                </a:lnTo>
                <a:lnTo>
                  <a:pt x="1332941" y="750970"/>
                </a:lnTo>
                <a:lnTo>
                  <a:pt x="1281580" y="758992"/>
                </a:lnTo>
                <a:lnTo>
                  <a:pt x="1228733" y="763824"/>
                </a:lnTo>
                <a:lnTo>
                  <a:pt x="1174663" y="765322"/>
                </a:lnTo>
                <a:lnTo>
                  <a:pt x="1119632" y="763343"/>
                </a:lnTo>
                <a:lnTo>
                  <a:pt x="1062524" y="757478"/>
                </a:lnTo>
                <a:lnTo>
                  <a:pt x="1007301" y="747937"/>
                </a:lnTo>
                <a:lnTo>
                  <a:pt x="954279" y="734897"/>
                </a:lnTo>
                <a:lnTo>
                  <a:pt x="903779" y="718536"/>
                </a:lnTo>
                <a:lnTo>
                  <a:pt x="856116" y="699029"/>
                </a:lnTo>
                <a:lnTo>
                  <a:pt x="811609" y="676555"/>
                </a:lnTo>
                <a:lnTo>
                  <a:pt x="770576" y="651289"/>
                </a:lnTo>
                <a:lnTo>
                  <a:pt x="733335" y="623408"/>
                </a:lnTo>
                <a:lnTo>
                  <a:pt x="700204" y="593090"/>
                </a:lnTo>
                <a:lnTo>
                  <a:pt x="671501" y="560511"/>
                </a:lnTo>
                <a:lnTo>
                  <a:pt x="647543" y="525848"/>
                </a:lnTo>
                <a:lnTo>
                  <a:pt x="628649" y="489277"/>
                </a:lnTo>
                <a:lnTo>
                  <a:pt x="0" y="454225"/>
                </a:lnTo>
                <a:close/>
              </a:path>
            </a:pathLst>
          </a:custGeom>
          <a:ln w="25400">
            <a:solidFill>
              <a:srgbClr val="385D89"/>
            </a:solidFill>
          </a:ln>
        </p:spPr>
        <p:txBody>
          <a:bodyPr wrap="square" lIns="0" tIns="0" rIns="0" bIns="0" rtlCol="0"/>
          <a:lstStyle/>
          <a:p>
            <a:endParaRPr sz="2400"/>
          </a:p>
        </p:txBody>
      </p:sp>
      <p:sp>
        <p:nvSpPr>
          <p:cNvPr id="14" name="object 14"/>
          <p:cNvSpPr txBox="1"/>
          <p:nvPr/>
        </p:nvSpPr>
        <p:spPr>
          <a:xfrm>
            <a:off x="3826958" y="3994899"/>
            <a:ext cx="1505152" cy="394979"/>
          </a:xfrm>
          <a:prstGeom prst="rect">
            <a:avLst/>
          </a:prstGeom>
        </p:spPr>
        <p:txBody>
          <a:bodyPr vert="horz" wrap="square" lIns="0" tIns="48259" rIns="0" bIns="0" rtlCol="0">
            <a:spAutoFit/>
          </a:bodyPr>
          <a:lstStyle/>
          <a:p>
            <a:pPr marL="17145" marR="6985">
              <a:lnSpc>
                <a:spcPts val="2695"/>
              </a:lnSpc>
              <a:spcBef>
                <a:spcPts val="380"/>
              </a:spcBef>
            </a:pPr>
            <a:r>
              <a:rPr sz="2400" b="1" dirty="0" err="1">
                <a:solidFill>
                  <a:srgbClr val="FFFFFF"/>
                </a:solidFill>
                <a:latin typeface="宋体" panose="02010600030101010101" pitchFamily="2" charset="-122"/>
                <a:cs typeface="宋体" panose="02010600030101010101" pitchFamily="2" charset="-122"/>
              </a:rPr>
              <a:t>递归结束</a:t>
            </a:r>
            <a:endParaRPr sz="2400" dirty="0">
              <a:latin typeface="宋体" panose="02010600030101010101" pitchFamily="2" charset="-122"/>
              <a:cs typeface="宋体" panose="02010600030101010101" pitchFamily="2" charset="-122"/>
            </a:endParaRPr>
          </a:p>
        </p:txBody>
      </p:sp>
      <p:sp>
        <p:nvSpPr>
          <p:cNvPr id="15" name="object 15"/>
          <p:cNvSpPr/>
          <p:nvPr/>
        </p:nvSpPr>
        <p:spPr>
          <a:xfrm>
            <a:off x="3818634" y="1152871"/>
            <a:ext cx="2125321" cy="1020233"/>
          </a:xfrm>
          <a:custGeom>
            <a:avLst/>
            <a:gdLst/>
            <a:ahLst/>
            <a:cxnLst/>
            <a:rect l="l" t="t" r="r" b="b"/>
            <a:pathLst>
              <a:path w="1706245" h="765175">
                <a:moveTo>
                  <a:pt x="1590010" y="613137"/>
                </a:moveTo>
                <a:lnTo>
                  <a:pt x="678688" y="613137"/>
                </a:lnTo>
                <a:lnTo>
                  <a:pt x="712777" y="640614"/>
                </a:lnTo>
                <a:lnTo>
                  <a:pt x="750070" y="665553"/>
                </a:lnTo>
                <a:lnTo>
                  <a:pt x="790256" y="687882"/>
                </a:lnTo>
                <a:lnTo>
                  <a:pt x="833027" y="707531"/>
                </a:lnTo>
                <a:lnTo>
                  <a:pt x="878072" y="724427"/>
                </a:lnTo>
                <a:lnTo>
                  <a:pt x="925083" y="738500"/>
                </a:lnTo>
                <a:lnTo>
                  <a:pt x="973751" y="749678"/>
                </a:lnTo>
                <a:lnTo>
                  <a:pt x="1023764" y="757890"/>
                </a:lnTo>
                <a:lnTo>
                  <a:pt x="1074816" y="763063"/>
                </a:lnTo>
                <a:lnTo>
                  <a:pt x="1126595" y="765127"/>
                </a:lnTo>
                <a:lnTo>
                  <a:pt x="1178793" y="764010"/>
                </a:lnTo>
                <a:lnTo>
                  <a:pt x="1231100" y="759641"/>
                </a:lnTo>
                <a:lnTo>
                  <a:pt x="1283208" y="751948"/>
                </a:lnTo>
                <a:lnTo>
                  <a:pt x="1338867" y="739884"/>
                </a:lnTo>
                <a:lnTo>
                  <a:pt x="1391410" y="724420"/>
                </a:lnTo>
                <a:lnTo>
                  <a:pt x="1440633" y="705793"/>
                </a:lnTo>
                <a:lnTo>
                  <a:pt x="1486336" y="684240"/>
                </a:lnTo>
                <a:lnTo>
                  <a:pt x="1528315" y="659994"/>
                </a:lnTo>
                <a:lnTo>
                  <a:pt x="1566368" y="633293"/>
                </a:lnTo>
                <a:lnTo>
                  <a:pt x="1590010" y="613137"/>
                </a:lnTo>
                <a:close/>
              </a:path>
              <a:path w="1706245" h="765175">
                <a:moveTo>
                  <a:pt x="1146890" y="0"/>
                </a:moveTo>
                <a:lnTo>
                  <a:pt x="1093577" y="933"/>
                </a:lnTo>
                <a:lnTo>
                  <a:pt x="1039858" y="5292"/>
                </a:lnTo>
                <a:lnTo>
                  <a:pt x="986028" y="13189"/>
                </a:lnTo>
                <a:lnTo>
                  <a:pt x="930368" y="25254"/>
                </a:lnTo>
                <a:lnTo>
                  <a:pt x="877825" y="40718"/>
                </a:lnTo>
                <a:lnTo>
                  <a:pt x="828602" y="59345"/>
                </a:lnTo>
                <a:lnTo>
                  <a:pt x="782899" y="80898"/>
                </a:lnTo>
                <a:lnTo>
                  <a:pt x="740920" y="105144"/>
                </a:lnTo>
                <a:lnTo>
                  <a:pt x="702867" y="131845"/>
                </a:lnTo>
                <a:lnTo>
                  <a:pt x="668943" y="160766"/>
                </a:lnTo>
                <a:lnTo>
                  <a:pt x="639349" y="191672"/>
                </a:lnTo>
                <a:lnTo>
                  <a:pt x="614289" y="224327"/>
                </a:lnTo>
                <a:lnTo>
                  <a:pt x="593965" y="258494"/>
                </a:lnTo>
                <a:lnTo>
                  <a:pt x="578578" y="293939"/>
                </a:lnTo>
                <a:lnTo>
                  <a:pt x="563430" y="367718"/>
                </a:lnTo>
                <a:lnTo>
                  <a:pt x="564072" y="405581"/>
                </a:lnTo>
                <a:lnTo>
                  <a:pt x="570462" y="443778"/>
                </a:lnTo>
                <a:lnTo>
                  <a:pt x="582803" y="482073"/>
                </a:lnTo>
                <a:lnTo>
                  <a:pt x="0" y="754234"/>
                </a:lnTo>
                <a:lnTo>
                  <a:pt x="678688" y="613137"/>
                </a:lnTo>
                <a:lnTo>
                  <a:pt x="1590010" y="613137"/>
                </a:lnTo>
                <a:lnTo>
                  <a:pt x="1600292" y="604372"/>
                </a:lnTo>
                <a:lnTo>
                  <a:pt x="1629886" y="573466"/>
                </a:lnTo>
                <a:lnTo>
                  <a:pt x="1654946" y="540811"/>
                </a:lnTo>
                <a:lnTo>
                  <a:pt x="1675270" y="506644"/>
                </a:lnTo>
                <a:lnTo>
                  <a:pt x="1690657" y="471199"/>
                </a:lnTo>
                <a:lnTo>
                  <a:pt x="1705805" y="397420"/>
                </a:lnTo>
                <a:lnTo>
                  <a:pt x="1705163" y="359557"/>
                </a:lnTo>
                <a:lnTo>
                  <a:pt x="1698773" y="321360"/>
                </a:lnTo>
                <a:lnTo>
                  <a:pt x="1686433" y="283064"/>
                </a:lnTo>
                <a:lnTo>
                  <a:pt x="1669600" y="247952"/>
                </a:lnTo>
                <a:lnTo>
                  <a:pt x="1648254" y="214678"/>
                </a:lnTo>
                <a:lnTo>
                  <a:pt x="1622689" y="183355"/>
                </a:lnTo>
                <a:lnTo>
                  <a:pt x="1593197" y="154096"/>
                </a:lnTo>
                <a:lnTo>
                  <a:pt x="1560073" y="127015"/>
                </a:lnTo>
                <a:lnTo>
                  <a:pt x="1523609" y="102225"/>
                </a:lnTo>
                <a:lnTo>
                  <a:pt x="1484099" y="79840"/>
                </a:lnTo>
                <a:lnTo>
                  <a:pt x="1441836" y="59973"/>
                </a:lnTo>
                <a:lnTo>
                  <a:pt x="1397114" y="42738"/>
                </a:lnTo>
                <a:lnTo>
                  <a:pt x="1350227" y="28247"/>
                </a:lnTo>
                <a:lnTo>
                  <a:pt x="1301468" y="16615"/>
                </a:lnTo>
                <a:lnTo>
                  <a:pt x="1251129" y="7953"/>
                </a:lnTo>
                <a:lnTo>
                  <a:pt x="1199506" y="2377"/>
                </a:lnTo>
                <a:lnTo>
                  <a:pt x="1146890" y="0"/>
                </a:lnTo>
                <a:close/>
              </a:path>
            </a:pathLst>
          </a:custGeom>
          <a:solidFill>
            <a:srgbClr val="4F81BC"/>
          </a:solidFill>
        </p:spPr>
        <p:txBody>
          <a:bodyPr wrap="square" lIns="0" tIns="0" rIns="0" bIns="0" rtlCol="0"/>
          <a:lstStyle/>
          <a:p>
            <a:endParaRPr sz="2400"/>
          </a:p>
        </p:txBody>
      </p:sp>
      <p:sp>
        <p:nvSpPr>
          <p:cNvPr id="16" name="object 16"/>
          <p:cNvSpPr/>
          <p:nvPr/>
        </p:nvSpPr>
        <p:spPr>
          <a:xfrm>
            <a:off x="3818634" y="1152871"/>
            <a:ext cx="2125321" cy="1020233"/>
          </a:xfrm>
          <a:custGeom>
            <a:avLst/>
            <a:gdLst/>
            <a:ahLst/>
            <a:cxnLst/>
            <a:rect l="l" t="t" r="r" b="b"/>
            <a:pathLst>
              <a:path w="1706245" h="765175">
                <a:moveTo>
                  <a:pt x="0" y="754234"/>
                </a:moveTo>
                <a:lnTo>
                  <a:pt x="582803" y="482073"/>
                </a:lnTo>
                <a:lnTo>
                  <a:pt x="570462" y="443778"/>
                </a:lnTo>
                <a:lnTo>
                  <a:pt x="564072" y="405581"/>
                </a:lnTo>
                <a:lnTo>
                  <a:pt x="568332" y="330426"/>
                </a:lnTo>
                <a:lnTo>
                  <a:pt x="593965" y="258494"/>
                </a:lnTo>
                <a:lnTo>
                  <a:pt x="614289" y="224327"/>
                </a:lnTo>
                <a:lnTo>
                  <a:pt x="639349" y="191672"/>
                </a:lnTo>
                <a:lnTo>
                  <a:pt x="668943" y="160766"/>
                </a:lnTo>
                <a:lnTo>
                  <a:pt x="702867" y="131845"/>
                </a:lnTo>
                <a:lnTo>
                  <a:pt x="740920" y="105144"/>
                </a:lnTo>
                <a:lnTo>
                  <a:pt x="782899" y="80898"/>
                </a:lnTo>
                <a:lnTo>
                  <a:pt x="828602" y="59345"/>
                </a:lnTo>
                <a:lnTo>
                  <a:pt x="877825" y="40718"/>
                </a:lnTo>
                <a:lnTo>
                  <a:pt x="930368" y="25254"/>
                </a:lnTo>
                <a:lnTo>
                  <a:pt x="986028" y="13189"/>
                </a:lnTo>
                <a:lnTo>
                  <a:pt x="1039858" y="5292"/>
                </a:lnTo>
                <a:lnTo>
                  <a:pt x="1093577" y="933"/>
                </a:lnTo>
                <a:lnTo>
                  <a:pt x="1146890" y="0"/>
                </a:lnTo>
                <a:lnTo>
                  <a:pt x="1199506" y="2377"/>
                </a:lnTo>
                <a:lnTo>
                  <a:pt x="1251129" y="7953"/>
                </a:lnTo>
                <a:lnTo>
                  <a:pt x="1301468" y="16615"/>
                </a:lnTo>
                <a:lnTo>
                  <a:pt x="1350227" y="28247"/>
                </a:lnTo>
                <a:lnTo>
                  <a:pt x="1397114" y="42738"/>
                </a:lnTo>
                <a:lnTo>
                  <a:pt x="1441836" y="59973"/>
                </a:lnTo>
                <a:lnTo>
                  <a:pt x="1484099" y="79840"/>
                </a:lnTo>
                <a:lnTo>
                  <a:pt x="1523609" y="102225"/>
                </a:lnTo>
                <a:lnTo>
                  <a:pt x="1560073" y="127015"/>
                </a:lnTo>
                <a:lnTo>
                  <a:pt x="1593197" y="154096"/>
                </a:lnTo>
                <a:lnTo>
                  <a:pt x="1622689" y="183355"/>
                </a:lnTo>
                <a:lnTo>
                  <a:pt x="1648254" y="214678"/>
                </a:lnTo>
                <a:lnTo>
                  <a:pt x="1669600" y="247952"/>
                </a:lnTo>
                <a:lnTo>
                  <a:pt x="1686433" y="283064"/>
                </a:lnTo>
                <a:lnTo>
                  <a:pt x="1698773" y="321360"/>
                </a:lnTo>
                <a:lnTo>
                  <a:pt x="1705163" y="359557"/>
                </a:lnTo>
                <a:lnTo>
                  <a:pt x="1705805" y="397420"/>
                </a:lnTo>
                <a:lnTo>
                  <a:pt x="1700903" y="434712"/>
                </a:lnTo>
                <a:lnTo>
                  <a:pt x="1675270" y="506644"/>
                </a:lnTo>
                <a:lnTo>
                  <a:pt x="1654946" y="540811"/>
                </a:lnTo>
                <a:lnTo>
                  <a:pt x="1629886" y="573466"/>
                </a:lnTo>
                <a:lnTo>
                  <a:pt x="1600292" y="604372"/>
                </a:lnTo>
                <a:lnTo>
                  <a:pt x="1566368" y="633293"/>
                </a:lnTo>
                <a:lnTo>
                  <a:pt x="1528315" y="659994"/>
                </a:lnTo>
                <a:lnTo>
                  <a:pt x="1486336" y="684240"/>
                </a:lnTo>
                <a:lnTo>
                  <a:pt x="1440633" y="705793"/>
                </a:lnTo>
                <a:lnTo>
                  <a:pt x="1391410" y="724420"/>
                </a:lnTo>
                <a:lnTo>
                  <a:pt x="1338867" y="739884"/>
                </a:lnTo>
                <a:lnTo>
                  <a:pt x="1283208" y="751948"/>
                </a:lnTo>
                <a:lnTo>
                  <a:pt x="1231100" y="759641"/>
                </a:lnTo>
                <a:lnTo>
                  <a:pt x="1178793" y="764010"/>
                </a:lnTo>
                <a:lnTo>
                  <a:pt x="1126595" y="765127"/>
                </a:lnTo>
                <a:lnTo>
                  <a:pt x="1074816" y="763063"/>
                </a:lnTo>
                <a:lnTo>
                  <a:pt x="1023764" y="757890"/>
                </a:lnTo>
                <a:lnTo>
                  <a:pt x="973751" y="749678"/>
                </a:lnTo>
                <a:lnTo>
                  <a:pt x="925083" y="738500"/>
                </a:lnTo>
                <a:lnTo>
                  <a:pt x="878072" y="724427"/>
                </a:lnTo>
                <a:lnTo>
                  <a:pt x="833027" y="707531"/>
                </a:lnTo>
                <a:lnTo>
                  <a:pt x="790256" y="687882"/>
                </a:lnTo>
                <a:lnTo>
                  <a:pt x="750070" y="665553"/>
                </a:lnTo>
                <a:lnTo>
                  <a:pt x="712777" y="640614"/>
                </a:lnTo>
                <a:lnTo>
                  <a:pt x="678688" y="613137"/>
                </a:lnTo>
                <a:lnTo>
                  <a:pt x="0" y="754234"/>
                </a:lnTo>
                <a:close/>
              </a:path>
            </a:pathLst>
          </a:custGeom>
          <a:ln w="25400">
            <a:solidFill>
              <a:srgbClr val="385D89"/>
            </a:solidFill>
          </a:ln>
        </p:spPr>
        <p:txBody>
          <a:bodyPr wrap="square" lIns="0" tIns="0" rIns="0" bIns="0" rtlCol="0"/>
          <a:lstStyle/>
          <a:p>
            <a:endParaRPr sz="2400"/>
          </a:p>
        </p:txBody>
      </p:sp>
      <p:sp>
        <p:nvSpPr>
          <p:cNvPr id="17" name="object 17"/>
          <p:cNvSpPr txBox="1"/>
          <p:nvPr/>
        </p:nvSpPr>
        <p:spPr>
          <a:xfrm>
            <a:off x="4881294" y="1292800"/>
            <a:ext cx="941602" cy="740373"/>
          </a:xfrm>
          <a:prstGeom prst="rect">
            <a:avLst/>
          </a:prstGeom>
        </p:spPr>
        <p:txBody>
          <a:bodyPr vert="horz" wrap="square" lIns="0" tIns="47413" rIns="0" bIns="0" rtlCol="0">
            <a:spAutoFit/>
          </a:bodyPr>
          <a:lstStyle/>
          <a:p>
            <a:pPr marL="17145" marR="6985">
              <a:lnSpc>
                <a:spcPts val="2695"/>
              </a:lnSpc>
              <a:spcBef>
                <a:spcPts val="375"/>
              </a:spcBef>
            </a:pPr>
            <a:r>
              <a:rPr sz="2400" b="1" dirty="0">
                <a:solidFill>
                  <a:srgbClr val="FFFFFF"/>
                </a:solidFill>
                <a:latin typeface="宋体" panose="02010600030101010101" pitchFamily="2" charset="-122"/>
                <a:cs typeface="宋体" panose="02010600030101010101" pitchFamily="2" charset="-122"/>
              </a:rPr>
              <a:t>分组 淘汰</a:t>
            </a:r>
            <a:endParaRPr sz="2400" dirty="0">
              <a:latin typeface="宋体" panose="02010600030101010101" pitchFamily="2" charset="-122"/>
              <a:cs typeface="宋体" panose="02010600030101010101" pitchFamily="2" charset="-122"/>
            </a:endParaRPr>
          </a:p>
        </p:txBody>
      </p:sp>
      <p:sp>
        <p:nvSpPr>
          <p:cNvPr id="18" name="object 18"/>
          <p:cNvSpPr/>
          <p:nvPr/>
        </p:nvSpPr>
        <p:spPr>
          <a:xfrm>
            <a:off x="1663251" y="2935508"/>
            <a:ext cx="4522396" cy="732295"/>
          </a:xfrm>
          <a:custGeom>
            <a:avLst/>
            <a:gdLst/>
            <a:ahLst/>
            <a:cxnLst/>
            <a:rect l="l" t="t" r="r" b="b"/>
            <a:pathLst>
              <a:path w="3810000" h="685800">
                <a:moveTo>
                  <a:pt x="0" y="114300"/>
                </a:moveTo>
                <a:lnTo>
                  <a:pt x="8983" y="69812"/>
                </a:lnTo>
                <a:lnTo>
                  <a:pt x="33480" y="33480"/>
                </a:lnTo>
                <a:lnTo>
                  <a:pt x="69812" y="8983"/>
                </a:lnTo>
                <a:lnTo>
                  <a:pt x="114300" y="0"/>
                </a:lnTo>
                <a:lnTo>
                  <a:pt x="3695700" y="0"/>
                </a:lnTo>
                <a:lnTo>
                  <a:pt x="3740187" y="8983"/>
                </a:lnTo>
                <a:lnTo>
                  <a:pt x="3776519" y="33480"/>
                </a:lnTo>
                <a:lnTo>
                  <a:pt x="3801016" y="69812"/>
                </a:lnTo>
                <a:lnTo>
                  <a:pt x="3810000" y="114300"/>
                </a:lnTo>
                <a:lnTo>
                  <a:pt x="3810000" y="571500"/>
                </a:lnTo>
                <a:lnTo>
                  <a:pt x="3801016" y="615987"/>
                </a:lnTo>
                <a:lnTo>
                  <a:pt x="3776519" y="652319"/>
                </a:lnTo>
                <a:lnTo>
                  <a:pt x="3740187" y="676816"/>
                </a:lnTo>
                <a:lnTo>
                  <a:pt x="3695700" y="685800"/>
                </a:lnTo>
                <a:lnTo>
                  <a:pt x="114300" y="685800"/>
                </a:lnTo>
                <a:lnTo>
                  <a:pt x="69812" y="676816"/>
                </a:lnTo>
                <a:lnTo>
                  <a:pt x="33480" y="652319"/>
                </a:lnTo>
                <a:lnTo>
                  <a:pt x="8983" y="615987"/>
                </a:lnTo>
                <a:lnTo>
                  <a:pt x="0" y="571500"/>
                </a:lnTo>
                <a:lnTo>
                  <a:pt x="0" y="114300"/>
                </a:lnTo>
                <a:close/>
              </a:path>
            </a:pathLst>
          </a:custGeom>
          <a:ln w="25400">
            <a:solidFill>
              <a:srgbClr val="C00000"/>
            </a:solidFill>
          </a:ln>
        </p:spPr>
        <p:txBody>
          <a:bodyPr wrap="square" lIns="0" tIns="0" rIns="0" bIns="0" rtlCol="0"/>
          <a:lstStyle/>
          <a:p>
            <a:endParaRPr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9916" y="32100"/>
            <a:ext cx="8954084"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时间复杂度分析</a:t>
            </a:r>
            <a:endParaRPr sz="4400" b="1" spc="-13" dirty="0">
              <a:solidFill>
                <a:srgbClr val="C00000"/>
              </a:solidFill>
              <a:latin typeface="黑体" panose="02010609060101010101" pitchFamily="49" charset="-122"/>
              <a:ea typeface="黑体" panose="02010609060101010101" pitchFamily="49" charset="-122"/>
            </a:endParaRPr>
          </a:p>
        </p:txBody>
      </p:sp>
      <p:sp>
        <p:nvSpPr>
          <p:cNvPr id="4" name="object 4"/>
          <p:cNvSpPr txBox="1"/>
          <p:nvPr/>
        </p:nvSpPr>
        <p:spPr>
          <a:xfrm>
            <a:off x="571500" y="1256268"/>
            <a:ext cx="8126452" cy="3828335"/>
          </a:xfrm>
          <a:prstGeom prst="rect">
            <a:avLst/>
          </a:prstGeom>
        </p:spPr>
        <p:txBody>
          <a:bodyPr vert="horz" wrap="square" lIns="0" tIns="118533" rIns="0" bIns="0" rtlCol="0">
            <a:spAutoFit/>
          </a:bodyPr>
          <a:lstStyle/>
          <a:p>
            <a:pPr marL="17145" algn="just">
              <a:spcBef>
                <a:spcPts val="935"/>
              </a:spcBef>
            </a:pPr>
            <a:r>
              <a:rPr sz="2800" b="1" dirty="0" err="1">
                <a:latin typeface="Times New Roman" panose="02020603050405020304" pitchFamily="18" charset="0"/>
                <a:ea typeface="黑体" panose="02010609060101010101" pitchFamily="49" charset="-122"/>
                <a:cs typeface="Times New Roman" panose="02020603050405020304" pitchFamily="18" charset="0"/>
              </a:rPr>
              <a:t>设输入规模为</a:t>
            </a:r>
            <a:r>
              <a:rPr sz="2800" b="1" i="1" spc="-7" dirty="0" err="1">
                <a:latin typeface="Times New Roman" panose="02020603050405020304" pitchFamily="18" charset="0"/>
                <a:ea typeface="黑体" panose="02010609060101010101" pitchFamily="49" charset="-122"/>
                <a:cs typeface="Times New Roman" panose="02020603050405020304" pitchFamily="18" charset="0"/>
              </a:rPr>
              <a:t>n</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r>
              <a:rPr sz="2800" b="1" dirty="0" err="1">
                <a:latin typeface="Times New Roman" panose="02020603050405020304" pitchFamily="18" charset="0"/>
                <a:ea typeface="黑体" panose="02010609060101010101" pitchFamily="49" charset="-122"/>
                <a:cs typeface="Times New Roman" panose="02020603050405020304" pitchFamily="18" charset="0"/>
              </a:rPr>
              <a:t>每轮淘汰后，芯片数至少减半</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r>
              <a:rPr sz="2800" b="1" spc="-7" dirty="0" err="1">
                <a:latin typeface="Times New Roman" panose="02020603050405020304" pitchFamily="18" charset="0"/>
                <a:ea typeface="黑体" panose="02010609060101010101" pitchFamily="49" charset="-122"/>
                <a:cs typeface="Times New Roman" panose="02020603050405020304" pitchFamily="18" charset="0"/>
              </a:rPr>
              <a:t>测试次</a:t>
            </a:r>
            <a:r>
              <a:rPr sz="2800" b="1" dirty="0" err="1">
                <a:latin typeface="Times New Roman" panose="02020603050405020304" pitchFamily="18" charset="0"/>
                <a:ea typeface="黑体" panose="02010609060101010101" pitchFamily="49" charset="-122"/>
                <a:cs typeface="Times New Roman" panose="02020603050405020304" pitchFamily="18" charset="0"/>
              </a:rPr>
              <a:t>数</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sz="2800" b="1" spc="-7" dirty="0" err="1">
                <a:latin typeface="Times New Roman" panose="02020603050405020304" pitchFamily="18" charset="0"/>
                <a:ea typeface="黑体" panose="02010609060101010101" pitchFamily="49" charset="-122"/>
                <a:cs typeface="Times New Roman" panose="02020603050405020304" pitchFamily="18" charset="0"/>
              </a:rPr>
              <a:t>含轮空处</a:t>
            </a:r>
            <a:r>
              <a:rPr sz="2800" b="1" dirty="0" err="1">
                <a:latin typeface="Times New Roman" panose="02020603050405020304" pitchFamily="18" charset="0"/>
                <a:ea typeface="黑体" panose="02010609060101010101" pitchFamily="49" charset="-122"/>
                <a:cs typeface="Times New Roman" panose="02020603050405020304" pitchFamily="18" charset="0"/>
              </a:rPr>
              <a:t>理</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spc="-7" dirty="0">
                <a:latin typeface="Times New Roman" panose="02020603050405020304" pitchFamily="18" charset="0"/>
                <a:ea typeface="黑体" panose="02010609060101010101" pitchFamily="49" charset="-122"/>
                <a:cs typeface="Times New Roman" panose="02020603050405020304" pitchFamily="18" charset="0"/>
              </a:rPr>
              <a:t>：</a:t>
            </a:r>
            <a:r>
              <a:rPr sz="2800" b="1" i="1" spc="-7" dirty="0">
                <a:latin typeface="Times New Roman" panose="02020603050405020304" pitchFamily="18" charset="0"/>
                <a:ea typeface="黑体" panose="02010609060101010101" pitchFamily="49" charset="-122"/>
                <a:cs typeface="Times New Roman" panose="02020603050405020304" pitchFamily="18" charset="0"/>
              </a:rPr>
              <a:t>O</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r>
              <a:rPr sz="2800" b="1" i="1" spc="-7" dirty="0">
                <a:latin typeface="Times New Roman" panose="02020603050405020304" pitchFamily="18" charset="0"/>
                <a:ea typeface="黑体" panose="02010609060101010101" pitchFamily="49" charset="-122"/>
                <a:cs typeface="Times New Roman" panose="02020603050405020304" pitchFamily="18" charset="0"/>
              </a:rPr>
              <a:t>n</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20"/>
              </a:spcBef>
            </a:pPr>
            <a:endParaRPr sz="2935" dirty="0">
              <a:latin typeface="Times New Roman" panose="02020603050405020304" pitchFamily="18" charset="0"/>
              <a:ea typeface="黑体" panose="02010609060101010101" pitchFamily="49" charset="-122"/>
              <a:cs typeface="Times New Roman" panose="02020603050405020304" pitchFamily="18" charset="0"/>
            </a:endParaRPr>
          </a:p>
          <a:p>
            <a:pPr marL="17145"/>
            <a:r>
              <a:rPr sz="2800" b="1" dirty="0">
                <a:latin typeface="Times New Roman" panose="02020603050405020304" pitchFamily="18" charset="0"/>
                <a:ea typeface="黑体" panose="02010609060101010101" pitchFamily="49" charset="-122"/>
                <a:cs typeface="Times New Roman" panose="02020603050405020304" pitchFamily="18" charset="0"/>
              </a:rPr>
              <a:t>时间复杂度：</a:t>
            </a:r>
            <a:endParaRPr sz="2800" b="1" dirty="0">
              <a:latin typeface="Times New Roman" panose="02020603050405020304" pitchFamily="18" charset="0"/>
              <a:ea typeface="黑体" panose="02010609060101010101" pitchFamily="49" charset="-122"/>
              <a:cs typeface="Times New Roman" panose="02020603050405020304" pitchFamily="18" charset="0"/>
            </a:endParaRPr>
          </a:p>
          <a:p>
            <a:pPr marL="1105535">
              <a:spcBef>
                <a:spcPts val="645"/>
              </a:spcBef>
            </a:pPr>
            <a:r>
              <a:rPr sz="2800" b="1" i="1" spc="-7" dirty="0">
                <a:latin typeface="Times New Roman" panose="02020603050405020304" pitchFamily="18" charset="0"/>
                <a:ea typeface="黑体" panose="02010609060101010101" pitchFamily="49" charset="-122"/>
                <a:cs typeface="Times New Roman" panose="02020603050405020304" pitchFamily="18" charset="0"/>
              </a:rPr>
              <a:t>W</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r>
              <a:rPr sz="2800" b="1" i="1" spc="-7" dirty="0">
                <a:latin typeface="Times New Roman" panose="02020603050405020304" pitchFamily="18" charset="0"/>
                <a:ea typeface="黑体" panose="02010609060101010101" pitchFamily="49" charset="-122"/>
                <a:cs typeface="Times New Roman" panose="02020603050405020304" pitchFamily="18" charset="0"/>
              </a:rPr>
              <a:t>n</a:t>
            </a:r>
            <a:r>
              <a:rPr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W</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sz="2800" b="1" i="1" dirty="0">
                <a:latin typeface="Times New Roman" panose="02020603050405020304" pitchFamily="18" charset="0"/>
                <a:ea typeface="黑体" panose="02010609060101010101" pitchFamily="49" charset="-122"/>
                <a:cs typeface="Times New Roman" panose="02020603050405020304" pitchFamily="18" charset="0"/>
              </a:rPr>
              <a:t>n</a:t>
            </a:r>
            <a:r>
              <a:rPr sz="2800" b="1" dirty="0">
                <a:latin typeface="Times New Roman" panose="02020603050405020304" pitchFamily="18" charset="0"/>
                <a:ea typeface="黑体" panose="02010609060101010101" pitchFamily="49" charset="-122"/>
                <a:cs typeface="Times New Roman" panose="02020603050405020304" pitchFamily="18" charset="0"/>
              </a:rPr>
              <a:t>/2) +</a:t>
            </a:r>
            <a:r>
              <a:rPr sz="2800" b="1" spc="-40" dirty="0">
                <a:latin typeface="Times New Roman" panose="02020603050405020304" pitchFamily="18" charset="0"/>
                <a:ea typeface="黑体" panose="02010609060101010101" pitchFamily="49" charset="-122"/>
                <a:cs typeface="Times New Roman" panose="02020603050405020304" pitchFamily="18" charset="0"/>
              </a:rPr>
              <a:t> </a:t>
            </a:r>
            <a:r>
              <a:rPr sz="2800" b="1" i="1" spc="-7" dirty="0">
                <a:latin typeface="Times New Roman" panose="02020603050405020304" pitchFamily="18" charset="0"/>
                <a:ea typeface="黑体" panose="02010609060101010101" pitchFamily="49" charset="-122"/>
                <a:cs typeface="Times New Roman" panose="02020603050405020304" pitchFamily="18" charset="0"/>
              </a:rPr>
              <a:t>O</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r>
              <a:rPr sz="2800" b="1" i="1" spc="-7" dirty="0">
                <a:latin typeface="Times New Roman" panose="02020603050405020304" pitchFamily="18" charset="0"/>
                <a:ea typeface="黑体" panose="02010609060101010101" pitchFamily="49" charset="-122"/>
                <a:cs typeface="Times New Roman" panose="02020603050405020304" pitchFamily="18" charset="0"/>
              </a:rPr>
              <a:t>n</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1030605">
              <a:spcBef>
                <a:spcPts val="845"/>
              </a:spcBef>
              <a:tabLst>
                <a:tab pos="2807970" algn="l"/>
              </a:tabLst>
            </a:pPr>
            <a:r>
              <a:rPr sz="2800" b="1" i="1" spc="-7" dirty="0">
                <a:latin typeface="Times New Roman" panose="02020603050405020304" pitchFamily="18" charset="0"/>
                <a:ea typeface="黑体" panose="02010609060101010101" pitchFamily="49" charset="-122"/>
                <a:cs typeface="Times New Roman" panose="02020603050405020304" pitchFamily="18" charset="0"/>
              </a:rPr>
              <a:t>W</a:t>
            </a:r>
            <a:r>
              <a:rPr sz="2800" b="1" spc="-7" dirty="0">
                <a:latin typeface="Times New Roman" panose="02020603050405020304" pitchFamily="18" charset="0"/>
                <a:ea typeface="黑体" panose="02010609060101010101" pitchFamily="49" charset="-122"/>
                <a:cs typeface="Times New Roman" panose="02020603050405020304" pitchFamily="18" charset="0"/>
              </a:rPr>
              <a:t>(3) </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1,	</a:t>
            </a:r>
            <a:r>
              <a:rPr sz="2800" b="1" i="1" dirty="0">
                <a:latin typeface="Times New Roman" panose="02020603050405020304" pitchFamily="18" charset="0"/>
                <a:ea typeface="黑体" panose="02010609060101010101" pitchFamily="49" charset="-122"/>
                <a:cs typeface="Times New Roman" panose="02020603050405020304" pitchFamily="18" charset="0"/>
              </a:rPr>
              <a:t>W</a:t>
            </a:r>
            <a:r>
              <a:rPr sz="2800" b="1" dirty="0">
                <a:latin typeface="Times New Roman" panose="02020603050405020304" pitchFamily="18" charset="0"/>
                <a:ea typeface="黑体" panose="02010609060101010101" pitchFamily="49" charset="-122"/>
                <a:cs typeface="Times New Roman" panose="02020603050405020304" pitchFamily="18" charset="0"/>
              </a:rPr>
              <a:t>(2) = </a:t>
            </a:r>
            <a:r>
              <a:rPr sz="2800" b="1" i="1" spc="-7" dirty="0">
                <a:latin typeface="Times New Roman" panose="02020603050405020304" pitchFamily="18" charset="0"/>
                <a:ea typeface="黑体" panose="02010609060101010101" pitchFamily="49" charset="-122"/>
                <a:cs typeface="Times New Roman" panose="02020603050405020304" pitchFamily="18" charset="0"/>
              </a:rPr>
              <a:t>W</a:t>
            </a:r>
            <a:r>
              <a:rPr sz="2800" b="1" spc="-7" dirty="0">
                <a:latin typeface="Times New Roman" panose="02020603050405020304" pitchFamily="18" charset="0"/>
                <a:ea typeface="黑体" panose="02010609060101010101" pitchFamily="49" charset="-122"/>
                <a:cs typeface="Times New Roman" panose="02020603050405020304" pitchFamily="18" charset="0"/>
              </a:rPr>
              <a:t>(1) </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sz="2800" b="1" spc="-100"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0</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35"/>
              </a:spcBef>
            </a:pP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17145">
              <a:tabLst>
                <a:tab pos="2013585" algn="l"/>
              </a:tabLst>
            </a:pPr>
            <a:r>
              <a:rPr sz="2800" b="1" dirty="0">
                <a:latin typeface="Times New Roman" panose="02020603050405020304" pitchFamily="18" charset="0"/>
                <a:ea typeface="黑体" panose="02010609060101010101" pitchFamily="49" charset="-122"/>
                <a:cs typeface="Times New Roman" panose="02020603050405020304" pitchFamily="18" charset="0"/>
              </a:rPr>
              <a:t>解</a:t>
            </a:r>
            <a:r>
              <a:rPr sz="2800" b="1" spc="-13" dirty="0">
                <a:latin typeface="Times New Roman" panose="02020603050405020304" pitchFamily="18" charset="0"/>
                <a:ea typeface="黑体" panose="02010609060101010101" pitchFamily="49" charset="-122"/>
                <a:cs typeface="Times New Roman" panose="02020603050405020304" pitchFamily="18" charset="0"/>
              </a:rPr>
              <a:t>得	</a:t>
            </a:r>
            <a:r>
              <a:rPr sz="2800" b="1" i="1" spc="-7" dirty="0">
                <a:latin typeface="Times New Roman" panose="02020603050405020304" pitchFamily="18" charset="0"/>
                <a:ea typeface="黑体" panose="02010609060101010101" pitchFamily="49" charset="-122"/>
                <a:cs typeface="Times New Roman" panose="02020603050405020304" pitchFamily="18" charset="0"/>
              </a:rPr>
              <a:t>W</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r>
              <a:rPr sz="2800" b="1" i="1" spc="-7" dirty="0">
                <a:latin typeface="Times New Roman" panose="02020603050405020304" pitchFamily="18" charset="0"/>
                <a:ea typeface="黑体" panose="02010609060101010101" pitchFamily="49" charset="-122"/>
                <a:cs typeface="Times New Roman" panose="02020603050405020304" pitchFamily="18" charset="0"/>
              </a:rPr>
              <a:t>n</a:t>
            </a:r>
            <a:r>
              <a:rPr sz="2800" b="1" spc="-7"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 </a:t>
            </a:r>
            <a:r>
              <a:rPr sz="2800" b="1" i="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O</a:t>
            </a:r>
            <a:r>
              <a:rPr sz="28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n</a:t>
            </a:r>
            <a:r>
              <a:rPr sz="28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4897" y="1166186"/>
            <a:ext cx="8218449" cy="2355346"/>
          </a:xfrm>
          <a:prstGeom prst="rect">
            <a:avLst/>
          </a:prstGeom>
        </p:spPr>
        <p:txBody>
          <a:bodyPr vert="horz" wrap="square" lIns="0" tIns="132927" rIns="0" bIns="0" rtlCol="0">
            <a:spAutoFit/>
          </a:bodyPr>
          <a:lstStyle/>
          <a:p>
            <a:pPr marL="474345" indent="-457200" algn="just">
              <a:spcBef>
                <a:spcPts val="1045"/>
              </a:spcBef>
              <a:buFont typeface="Wingdings" panose="05000000000000000000" pitchFamily="2" charset="2"/>
              <a:buChar char="l"/>
              <a:tabLst>
                <a:tab pos="473075" algn="l"/>
                <a:tab pos="473710" algn="l"/>
              </a:tabLst>
            </a:pPr>
            <a:r>
              <a:rPr sz="3200" b="1" spc="-7" dirty="0">
                <a:latin typeface="Times New Roman" panose="02020603050405020304" pitchFamily="18" charset="0"/>
                <a:ea typeface="黑体" panose="02010609060101010101" pitchFamily="49" charset="-122"/>
                <a:cs typeface="Times New Roman" panose="02020603050405020304" pitchFamily="18" charset="0"/>
              </a:rPr>
              <a:t>芯片测试的分治算法</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817245" marR="6985" indent="-457200" algn="just">
              <a:spcBef>
                <a:spcPts val="785"/>
              </a:spcBef>
              <a:buFont typeface="Wingdings" panose="05000000000000000000" pitchFamily="2" charset="2"/>
              <a:buChar char="Ø"/>
            </a:pPr>
            <a:r>
              <a:rPr lang="en-US" sz="2400" b="1" dirty="0">
                <a:latin typeface="Times New Roman" panose="02020603050405020304" pitchFamily="18" charset="0"/>
                <a:ea typeface="黑体" panose="02010609060101010101" pitchFamily="49" charset="-122"/>
                <a:cs typeface="Times New Roman" panose="02020603050405020304" pitchFamily="18" charset="0"/>
              </a:rPr>
              <a:t>   </a:t>
            </a:r>
            <a:r>
              <a:rPr sz="2400" b="1" dirty="0" err="1">
                <a:latin typeface="Times New Roman" panose="02020603050405020304" pitchFamily="18" charset="0"/>
                <a:ea typeface="黑体" panose="02010609060101010101" pitchFamily="49" charset="-122"/>
                <a:cs typeface="Times New Roman" panose="02020603050405020304" pitchFamily="18" charset="0"/>
              </a:rPr>
              <a:t>如何保证子问题与原问题性质相</a:t>
            </a:r>
            <a:r>
              <a:rPr sz="2400" b="1" spc="7" dirty="0" err="1">
                <a:latin typeface="Times New Roman" panose="02020603050405020304" pitchFamily="18" charset="0"/>
                <a:ea typeface="黑体" panose="02010609060101010101" pitchFamily="49" charset="-122"/>
                <a:cs typeface="Times New Roman" panose="02020603050405020304" pitchFamily="18" charset="0"/>
              </a:rPr>
              <a:t>同</a:t>
            </a:r>
            <a:r>
              <a:rPr sz="2400" b="1" dirty="0">
                <a:latin typeface="Times New Roman" panose="02020603050405020304" pitchFamily="18" charset="0"/>
                <a:ea typeface="黑体" panose="02010609060101010101" pitchFamily="49" charset="-122"/>
                <a:cs typeface="Times New Roman" panose="02020603050405020304" pitchFamily="18" charset="0"/>
              </a:rPr>
              <a:t>: </a:t>
            </a:r>
            <a:r>
              <a:rPr sz="2400" b="1" dirty="0" err="1">
                <a:latin typeface="Times New Roman" panose="02020603050405020304" pitchFamily="18" charset="0"/>
                <a:ea typeface="黑体" panose="02010609060101010101" pitchFamily="49" charset="-122"/>
                <a:cs typeface="Times New Roman" panose="02020603050405020304" pitchFamily="18" charset="0"/>
              </a:rPr>
              <a:t>增加额外处理</a:t>
            </a:r>
            <a:endParaRPr sz="2400" dirty="0">
              <a:latin typeface="Times New Roman" panose="02020603050405020304" pitchFamily="18" charset="0"/>
              <a:ea typeface="黑体" panose="02010609060101010101" pitchFamily="49" charset="-122"/>
              <a:cs typeface="Times New Roman" panose="02020603050405020304" pitchFamily="18" charset="0"/>
            </a:endParaRPr>
          </a:p>
          <a:p>
            <a:pPr marL="817245" marR="119380" indent="-457200" algn="just">
              <a:lnSpc>
                <a:spcPts val="4695"/>
              </a:lnSpc>
              <a:spcBef>
                <a:spcPts val="220"/>
              </a:spcBef>
              <a:buFont typeface="Wingdings" panose="05000000000000000000" pitchFamily="2" charset="2"/>
              <a:buChar char="Ø"/>
            </a:pPr>
            <a:r>
              <a:rPr lang="en-US" sz="2400" b="1" dirty="0">
                <a:latin typeface="Times New Roman" panose="02020603050405020304" pitchFamily="18" charset="0"/>
                <a:ea typeface="黑体" panose="02010609060101010101" pitchFamily="49" charset="-122"/>
                <a:cs typeface="Times New Roman" panose="02020603050405020304" pitchFamily="18" charset="0"/>
              </a:rPr>
              <a:t>   </a:t>
            </a:r>
            <a:r>
              <a:rPr sz="2400" b="1" dirty="0" err="1">
                <a:latin typeface="Times New Roman" panose="02020603050405020304" pitchFamily="18" charset="0"/>
                <a:ea typeface="黑体" panose="02010609060101010101" pitchFamily="49" charset="-122"/>
                <a:cs typeface="Times New Roman" panose="02020603050405020304" pitchFamily="18" charset="0"/>
              </a:rPr>
              <a:t>额外处理的工作量不改变函数的阶</a:t>
            </a:r>
            <a:r>
              <a:rPr lang="en-US" sz="2400" b="1" dirty="0">
                <a:latin typeface="Times New Roman" panose="02020603050405020304" pitchFamily="18" charset="0"/>
                <a:ea typeface="黑体" panose="02010609060101010101" pitchFamily="49" charset="-122"/>
                <a:cs typeface="Times New Roman" panose="02020603050405020304" pitchFamily="18" charset="0"/>
              </a:rPr>
              <a:t> </a:t>
            </a:r>
            <a:endParaRPr lang="en-US" sz="2400" b="1" dirty="0">
              <a:latin typeface="Times New Roman" panose="02020603050405020304" pitchFamily="18" charset="0"/>
              <a:ea typeface="黑体" panose="02010609060101010101" pitchFamily="49" charset="-122"/>
              <a:cs typeface="Times New Roman" panose="02020603050405020304" pitchFamily="18" charset="0"/>
            </a:endParaRPr>
          </a:p>
          <a:p>
            <a:pPr marL="817245" marR="119380" indent="-457200" algn="just">
              <a:lnSpc>
                <a:spcPts val="4695"/>
              </a:lnSpc>
              <a:spcBef>
                <a:spcPts val="220"/>
              </a:spcBef>
              <a:buFont typeface="Wingdings" panose="05000000000000000000" pitchFamily="2" charset="2"/>
              <a:buChar char="Ø"/>
            </a:pPr>
            <a:r>
              <a:rPr lang="en-US" sz="2400" b="1" spc="-7" dirty="0">
                <a:latin typeface="Times New Roman" panose="02020603050405020304" pitchFamily="18" charset="0"/>
                <a:ea typeface="黑体" panose="02010609060101010101" pitchFamily="49" charset="-122"/>
                <a:cs typeface="Times New Roman" panose="02020603050405020304" pitchFamily="18" charset="0"/>
              </a:rPr>
              <a:t>   </a:t>
            </a:r>
            <a:r>
              <a:rPr sz="2400" b="1" spc="-7" dirty="0" err="1">
                <a:latin typeface="Times New Roman" panose="02020603050405020304" pitchFamily="18" charset="0"/>
                <a:ea typeface="黑体" panose="02010609060101010101" pitchFamily="49" charset="-122"/>
                <a:cs typeface="Times New Roman" panose="02020603050405020304" pitchFamily="18" charset="0"/>
              </a:rPr>
              <a:t>时间复杂度</a:t>
            </a:r>
            <a:r>
              <a:rPr sz="2400" b="1" dirty="0" err="1">
                <a:latin typeface="Times New Roman" panose="02020603050405020304" pitchFamily="18" charset="0"/>
                <a:ea typeface="黑体" panose="02010609060101010101" pitchFamily="49" charset="-122"/>
                <a:cs typeface="Times New Roman" panose="02020603050405020304" pitchFamily="18" charset="0"/>
              </a:rPr>
              <a:t>为</a:t>
            </a:r>
            <a:r>
              <a:rPr sz="2400" b="1" i="1" spc="-7" dirty="0" err="1">
                <a:latin typeface="Times New Roman" panose="02020603050405020304" pitchFamily="18" charset="0"/>
                <a:ea typeface="黑体" panose="02010609060101010101" pitchFamily="49" charset="-122"/>
                <a:cs typeface="Times New Roman" panose="02020603050405020304" pitchFamily="18" charset="0"/>
              </a:rPr>
              <a:t>O</a:t>
            </a:r>
            <a:r>
              <a:rPr sz="2400" b="1" spc="-7" dirty="0">
                <a:latin typeface="Times New Roman" panose="02020603050405020304" pitchFamily="18" charset="0"/>
                <a:ea typeface="黑体" panose="02010609060101010101" pitchFamily="49" charset="-122"/>
                <a:cs typeface="Times New Roman" panose="02020603050405020304" pitchFamily="18" charset="0"/>
              </a:rPr>
              <a:t>(</a:t>
            </a:r>
            <a:r>
              <a:rPr sz="2400" b="1" i="1" spc="-7" dirty="0">
                <a:latin typeface="Times New Roman" panose="02020603050405020304" pitchFamily="18" charset="0"/>
                <a:ea typeface="黑体" panose="02010609060101010101" pitchFamily="49" charset="-122"/>
                <a:cs typeface="Times New Roman" panose="02020603050405020304" pitchFamily="18" charset="0"/>
              </a:rPr>
              <a:t>n</a:t>
            </a:r>
            <a:r>
              <a:rPr sz="2400" b="1" spc="-7" dirty="0">
                <a:latin typeface="Times New Roman" panose="02020603050405020304" pitchFamily="18" charset="0"/>
                <a:ea typeface="黑体" panose="02010609060101010101" pitchFamily="49" charset="-122"/>
                <a:cs typeface="Times New Roman" panose="02020603050405020304" pitchFamily="18" charset="0"/>
              </a:rPr>
              <a:t>)</a:t>
            </a:r>
            <a:endParaRPr sz="24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object 3"/>
          <p:cNvSpPr txBox="1">
            <a:spLocks noGrp="1"/>
          </p:cNvSpPr>
          <p:nvPr>
            <p:ph type="title"/>
          </p:nvPr>
        </p:nvSpPr>
        <p:spPr>
          <a:xfrm>
            <a:off x="195345" y="35821"/>
            <a:ext cx="8849710"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小结</a:t>
            </a:r>
            <a:endParaRPr sz="4400" b="1" spc="-13" dirty="0">
              <a:solidFill>
                <a:srgbClr val="C00000"/>
              </a:solidFill>
              <a:latin typeface="黑体" panose="02010609060101010101" pitchFamily="49" charset="-122"/>
              <a:ea typeface="黑体" panose="02010609060101010101"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4692" y="2554445"/>
            <a:ext cx="8114545" cy="923330"/>
          </a:xfrm>
          <a:prstGeom prst="rect">
            <a:avLst/>
          </a:prstGeom>
        </p:spPr>
        <p:txBody>
          <a:bodyPr vert="horz" wrap="square" lIns="0" tIns="0" rIns="0" bIns="0" rtlCol="0">
            <a:spAutoFit/>
          </a:bodyPr>
          <a:lstStyle/>
          <a:p>
            <a:pPr algn="ctr">
              <a:lnSpc>
                <a:spcPts val="7200"/>
              </a:lnSpc>
            </a:pPr>
            <a:r>
              <a:rPr sz="6600" b="1" spc="19" dirty="0">
                <a:solidFill>
                  <a:srgbClr val="C00000"/>
                </a:solidFill>
                <a:latin typeface="黑体" panose="02010609060101010101" pitchFamily="49" charset="-122"/>
                <a:ea typeface="黑体" panose="02010609060101010101" pitchFamily="49" charset="-122"/>
                <a:cs typeface="CISOIN+ËÎÌå"/>
              </a:rPr>
              <a:t>快速排序</a:t>
            </a:r>
            <a:endParaRPr sz="7200" b="1" spc="19" dirty="0">
              <a:solidFill>
                <a:srgbClr val="C00000"/>
              </a:solidFill>
              <a:latin typeface="黑体" panose="02010609060101010101" pitchFamily="49" charset="-122"/>
              <a:ea typeface="黑体" panose="02010609060101010101" pitchFamily="49" charset="-122"/>
              <a:cs typeface="CISOIN+ËÎÌå"/>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5462" y="0"/>
            <a:ext cx="8197857" cy="604974"/>
          </a:xfrm>
          <a:prstGeom prst="rect">
            <a:avLst/>
          </a:prstGeom>
        </p:spPr>
        <p:txBody>
          <a:bodyPr vert="horz" wrap="square" lIns="0" tIns="0" rIns="0" bIns="0" rtlCol="0">
            <a:spAutoFit/>
          </a:bodyPr>
          <a:lstStyle/>
          <a:p>
            <a:pPr algn="ctr">
              <a:lnSpc>
                <a:spcPts val="5325"/>
              </a:lnSpc>
            </a:pPr>
            <a:r>
              <a:rPr sz="4400" b="1" spc="13" dirty="0">
                <a:solidFill>
                  <a:srgbClr val="C00000"/>
                </a:solidFill>
                <a:latin typeface="黑体" panose="02010609060101010101" pitchFamily="49" charset="-122"/>
                <a:ea typeface="黑体" panose="02010609060101010101" pitchFamily="49" charset="-122"/>
                <a:cs typeface="CISOIN+ËÎÌå"/>
              </a:rPr>
              <a:t>基本思想</a:t>
            </a:r>
            <a:endParaRPr sz="4400" b="1" spc="13" dirty="0">
              <a:solidFill>
                <a:srgbClr val="C00000"/>
              </a:solidFill>
              <a:latin typeface="黑体" panose="02010609060101010101" pitchFamily="49" charset="-122"/>
              <a:ea typeface="黑体" panose="02010609060101010101" pitchFamily="49" charset="-122"/>
              <a:cs typeface="CISOIN+ËÎÌå"/>
            </a:endParaRPr>
          </a:p>
        </p:txBody>
      </p:sp>
      <p:sp>
        <p:nvSpPr>
          <p:cNvPr id="4" name="object 4"/>
          <p:cNvSpPr txBox="1"/>
          <p:nvPr/>
        </p:nvSpPr>
        <p:spPr>
          <a:xfrm>
            <a:off x="605463" y="1156182"/>
            <a:ext cx="8005138" cy="3693319"/>
          </a:xfrm>
          <a:prstGeom prst="rect">
            <a:avLst/>
          </a:prstGeom>
        </p:spPr>
        <p:txBody>
          <a:bodyPr vert="horz" wrap="square" lIns="0" tIns="0" rIns="0" bIns="0" rtlCol="0">
            <a:spAutoFit/>
          </a:bodyPr>
          <a:lstStyle/>
          <a:p>
            <a:pPr indent="457200" algn="just">
              <a:lnSpc>
                <a:spcPts val="4575"/>
              </a:lnSpc>
              <a:spcBef>
                <a:spcPts val="1200"/>
              </a:spcBef>
            </a:pP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200" b="1" spc="15"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用首元素</a:t>
            </a:r>
            <a:r>
              <a:rPr sz="32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sz="3200" b="1" spc="15"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作划分标准，将输入数</a:t>
            </a:r>
            <a:r>
              <a:rPr sz="32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组</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en-US"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spc="15"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划分成不超过</a:t>
            </a:r>
            <a:r>
              <a:rPr sz="3200" b="1" spc="2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sz="3200" b="1" spc="15"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的元素构成的数</a:t>
            </a:r>
            <a:r>
              <a:rPr sz="32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组</a:t>
            </a:r>
            <a:r>
              <a:rPr lang="en-US" altLang="zh-CN" sz="32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3200" b="1" i="1" baseline="-25000"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a:t>
            </a:r>
            <a:r>
              <a:rPr sz="3200" b="1" spc="15"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，大于</a:t>
            </a:r>
            <a:r>
              <a:rPr sz="32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sz="3200" b="1" spc="15"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的元素构成的数组</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3200" b="1" i="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R</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其中</a:t>
            </a:r>
            <a:r>
              <a:rPr lang="en-US" altLang="zh-CN"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3200" b="1" i="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 </a:t>
            </a:r>
            <a:r>
              <a:rPr lang="zh-CN" altLang="en-US"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和</a:t>
            </a:r>
            <a:r>
              <a:rPr lang="en-US" altLang="zh-CN"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3200" b="1" i="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R</a:t>
            </a:r>
            <a:r>
              <a:rPr lang="en-US"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从左到右存放在数组 </a:t>
            </a:r>
            <a:r>
              <a:rPr lang="en-US"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的位置</a:t>
            </a:r>
            <a:r>
              <a:rPr lang="en-US" altLang="zh-CN"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indent="457200" algn="just">
              <a:lnSpc>
                <a:spcPts val="4575"/>
              </a:lnSpc>
              <a:spcBef>
                <a:spcPts val="1200"/>
              </a:spcBef>
            </a:pPr>
            <a:r>
              <a:rPr lang="en-US" altLang="zh-CN"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32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递归地对子问题</a:t>
            </a:r>
            <a:r>
              <a:rPr lang="en-US" altLang="zh-CN"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3200" b="1" i="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a:t>
            </a:r>
            <a:r>
              <a:rPr lang="zh-CN" altLang="en-US"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和</a:t>
            </a:r>
            <a:r>
              <a:rPr lang="en-US" altLang="zh-CN" sz="32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3200" b="1" i="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R</a:t>
            </a:r>
            <a:r>
              <a:rPr lang="zh-CN" altLang="en-US" sz="32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进行排序，直到子问题规模为</a:t>
            </a:r>
            <a:r>
              <a:rPr lang="zh-CN" altLang="en-US"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 </a:t>
            </a:r>
            <a:r>
              <a:rPr lang="zh-CN" altLang="en-US" sz="32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时停止</a:t>
            </a:r>
            <a:r>
              <a:rPr lang="en-US" altLang="zh-CN"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69284" y="51428"/>
            <a:ext cx="8870732" cy="604974"/>
          </a:xfrm>
          <a:prstGeom prst="rect">
            <a:avLst/>
          </a:prstGeom>
        </p:spPr>
        <p:txBody>
          <a:bodyPr vert="horz" wrap="square" lIns="0" tIns="0" rIns="0" bIns="0" rtlCol="0">
            <a:spAutoFit/>
          </a:bodyPr>
          <a:lstStyle/>
          <a:p>
            <a:pPr algn="ctr">
              <a:lnSpc>
                <a:spcPts val="5325"/>
              </a:lnSpc>
            </a:pPr>
            <a:r>
              <a:rPr sz="4400" b="1" spc="13" dirty="0">
                <a:solidFill>
                  <a:srgbClr val="C00000"/>
                </a:solidFill>
                <a:latin typeface="黑体" panose="02010609060101010101" pitchFamily="49" charset="-122"/>
                <a:ea typeface="黑体" panose="02010609060101010101" pitchFamily="49" charset="-122"/>
                <a:cs typeface="CISOIN+ËÎÌå"/>
              </a:rPr>
              <a:t>伪码</a:t>
            </a:r>
            <a:endParaRPr sz="4400" b="1" spc="13" dirty="0">
              <a:solidFill>
                <a:srgbClr val="C00000"/>
              </a:solidFill>
              <a:latin typeface="黑体" panose="02010609060101010101" pitchFamily="49" charset="-122"/>
              <a:ea typeface="黑体" panose="02010609060101010101" pitchFamily="49" charset="-122"/>
              <a:cs typeface="CISOIN+ËÎÌå"/>
            </a:endParaRPr>
          </a:p>
        </p:txBody>
      </p:sp>
      <p:sp>
        <p:nvSpPr>
          <p:cNvPr id="4" name="object 4"/>
          <p:cNvSpPr txBox="1"/>
          <p:nvPr/>
        </p:nvSpPr>
        <p:spPr>
          <a:xfrm>
            <a:off x="477894" y="1063208"/>
            <a:ext cx="8253512" cy="1526059"/>
          </a:xfrm>
          <a:prstGeom prst="rect">
            <a:avLst/>
          </a:prstGeom>
        </p:spPr>
        <p:txBody>
          <a:bodyPr vert="horz" wrap="square" lIns="0" tIns="0" rIns="0" bIns="0" rtlCol="0">
            <a:spAutoFit/>
          </a:bodyPr>
          <a:lstStyle/>
          <a:p>
            <a:pPr>
              <a:lnSpc>
                <a:spcPts val="3545"/>
              </a:lnSpc>
            </a:pPr>
            <a:r>
              <a:rPr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算法</a:t>
            </a:r>
            <a:r>
              <a:rPr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Quicksort</a:t>
            </a:r>
            <a:r>
              <a:rPr sz="2800" b="1" spc="-4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r</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3545"/>
              </a:lnSpc>
              <a:spcBef>
                <a:spcPts val="730"/>
              </a:spcBef>
            </a:pPr>
            <a:r>
              <a:rPr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输入：数组</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r</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3545"/>
              </a:lnSpc>
              <a:spcBef>
                <a:spcPts val="710"/>
              </a:spcBef>
            </a:pPr>
            <a:r>
              <a:rPr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输出：排好序的数组</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endPar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object 5"/>
          <p:cNvSpPr txBox="1"/>
          <p:nvPr/>
        </p:nvSpPr>
        <p:spPr>
          <a:xfrm>
            <a:off x="1190822" y="2589267"/>
            <a:ext cx="8147144" cy="1000274"/>
          </a:xfrm>
          <a:prstGeom prst="rect">
            <a:avLst/>
          </a:prstGeom>
        </p:spPr>
        <p:txBody>
          <a:bodyPr vert="horz" wrap="square" lIns="0" tIns="0" rIns="0" bIns="0" rtlCol="0">
            <a:spAutoFit/>
          </a:bodyPr>
          <a:lstStyle/>
          <a:p>
            <a:pPr>
              <a:lnSpc>
                <a:spcPts val="3545"/>
              </a:lnSpc>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2800" b="1" spc="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if</a:t>
            </a:r>
            <a:r>
              <a:rPr sz="2800" b="1" spc="79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&lt;</a:t>
            </a:r>
            <a:r>
              <a:rPr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r</a:t>
            </a:r>
            <a:endPar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3920"/>
              </a:lnSpc>
              <a:spcBef>
                <a:spcPts val="350"/>
              </a:spcBef>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sz="2800" b="1" spc="16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then </a:t>
            </a:r>
            <a:r>
              <a:rPr sz="2800" b="1" i="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q</a:t>
            </a:r>
            <a:r>
              <a:rPr sz="2800"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a:t>
            </a:r>
            <a:r>
              <a:rPr sz="2800" b="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Partition</a:t>
            </a:r>
            <a:r>
              <a:rPr sz="2800" b="1" spc="-37"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 </a:t>
            </a:r>
            <a:r>
              <a:rPr sz="2800" b="1" spc="16"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A</a:t>
            </a:r>
            <a:r>
              <a:rPr sz="2800" b="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p</a:t>
            </a:r>
            <a:r>
              <a:rPr sz="2800" b="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r</a:t>
            </a:r>
            <a:r>
              <a:rPr sz="2800" b="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a:t>
            </a:r>
            <a:endParaRPr sz="2800" b="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object 6"/>
          <p:cNvSpPr txBox="1"/>
          <p:nvPr/>
        </p:nvSpPr>
        <p:spPr>
          <a:xfrm>
            <a:off x="1190820" y="3672303"/>
            <a:ext cx="914704" cy="1526059"/>
          </a:xfrm>
          <a:prstGeom prst="rect">
            <a:avLst/>
          </a:prstGeom>
        </p:spPr>
        <p:txBody>
          <a:bodyPr vert="horz" wrap="square" lIns="0" tIns="0" rIns="0" bIns="0" rtlCol="0">
            <a:spAutoFit/>
          </a:bodyPr>
          <a:lstStyle/>
          <a:p>
            <a:pPr>
              <a:lnSpc>
                <a:spcPts val="3545"/>
              </a:lnSpc>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3.</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3545"/>
              </a:lnSpc>
              <a:spcBef>
                <a:spcPts val="730"/>
              </a:spcBef>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4.</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3545"/>
              </a:lnSpc>
              <a:spcBef>
                <a:spcPts val="730"/>
              </a:spcBef>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5.</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object 7"/>
          <p:cNvSpPr txBox="1"/>
          <p:nvPr/>
        </p:nvSpPr>
        <p:spPr>
          <a:xfrm>
            <a:off x="2616447" y="3625822"/>
            <a:ext cx="4208308" cy="1590179"/>
          </a:xfrm>
          <a:prstGeom prst="rect">
            <a:avLst/>
          </a:prstGeom>
        </p:spPr>
        <p:txBody>
          <a:bodyPr vert="horz" wrap="square" lIns="0" tIns="0" rIns="0" bIns="0" rtlCol="0">
            <a:spAutoFit/>
          </a:bodyPr>
          <a:lstStyle/>
          <a:p>
            <a:pPr>
              <a:lnSpc>
                <a:spcPts val="3925"/>
              </a:lnSpc>
            </a:pP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q</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14605">
              <a:lnSpc>
                <a:spcPts val="3545"/>
              </a:lnSpc>
              <a:spcBef>
                <a:spcPts val="730"/>
              </a:spcBef>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Quicksort</a:t>
            </a:r>
            <a:r>
              <a:rPr sz="2800" b="1" spc="-4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2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q</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14605">
              <a:lnSpc>
                <a:spcPts val="3545"/>
              </a:lnSpc>
              <a:spcBef>
                <a:spcPts val="795"/>
              </a:spcBef>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Quicksort</a:t>
            </a:r>
            <a:r>
              <a:rPr sz="2800" b="1" spc="-4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2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q</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r</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object 8"/>
          <p:cNvSpPr txBox="1"/>
          <p:nvPr/>
        </p:nvSpPr>
        <p:spPr>
          <a:xfrm>
            <a:off x="477894" y="5344030"/>
            <a:ext cx="8860073" cy="448841"/>
          </a:xfrm>
          <a:prstGeom prst="rect">
            <a:avLst/>
          </a:prstGeom>
        </p:spPr>
        <p:txBody>
          <a:bodyPr vert="horz" wrap="square" lIns="0" tIns="0" rIns="0" bIns="0" rtlCol="0">
            <a:spAutoFit/>
          </a:bodyPr>
          <a:lstStyle/>
          <a:p>
            <a:pPr>
              <a:lnSpc>
                <a:spcPts val="3545"/>
              </a:lnSpc>
            </a:pPr>
            <a:r>
              <a:rPr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初始置</a:t>
            </a:r>
            <a:r>
              <a:rPr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r</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，然后调用上述算法</a:t>
            </a:r>
            <a:endParaRPr sz="32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9" name="直接箭头连接符 8"/>
          <p:cNvCxnSpPr/>
          <p:nvPr/>
        </p:nvCxnSpPr>
        <p:spPr>
          <a:xfrm>
            <a:off x="3221979" y="3878748"/>
            <a:ext cx="430924" cy="0"/>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a:off x="2690998" y="3363076"/>
            <a:ext cx="3783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34878" y="100651"/>
            <a:ext cx="8909122" cy="604974"/>
          </a:xfrm>
          <a:prstGeom prst="rect">
            <a:avLst/>
          </a:prstGeom>
        </p:spPr>
        <p:txBody>
          <a:bodyPr vert="horz" wrap="square" lIns="0" tIns="0" rIns="0" bIns="0" rtlCol="0">
            <a:spAutoFit/>
          </a:bodyPr>
          <a:lstStyle/>
          <a:p>
            <a:pPr algn="ctr">
              <a:lnSpc>
                <a:spcPts val="5330"/>
              </a:lnSpc>
            </a:pPr>
            <a:r>
              <a:rPr sz="4400" b="1" dirty="0">
                <a:solidFill>
                  <a:srgbClr val="C00000"/>
                </a:solidFill>
                <a:latin typeface="黑体" panose="02010609060101010101" pitchFamily="49" charset="-122"/>
                <a:ea typeface="黑体" panose="02010609060101010101" pitchFamily="49" charset="-122"/>
                <a:cs typeface="CISOIN+ËÎÌå"/>
              </a:rPr>
              <a:t>划分过程</a:t>
            </a:r>
            <a:endParaRPr sz="4400" b="1" dirty="0">
              <a:solidFill>
                <a:srgbClr val="C00000"/>
              </a:solidFill>
              <a:latin typeface="黑体" panose="02010609060101010101" pitchFamily="49" charset="-122"/>
              <a:ea typeface="黑体" panose="02010609060101010101" pitchFamily="49" charset="-122"/>
              <a:cs typeface="CISOIN+ËÎÌå"/>
            </a:endParaRPr>
          </a:p>
        </p:txBody>
      </p:sp>
      <mc:AlternateContent xmlns:mc="http://schemas.openxmlformats.org/markup-compatibility/2006">
        <mc:Choice xmlns:a14="http://schemas.microsoft.com/office/drawing/2010/main" Requires="a14">
          <p:sp>
            <p:nvSpPr>
              <p:cNvPr id="5" name="object 5"/>
              <p:cNvSpPr txBox="1"/>
              <p:nvPr/>
            </p:nvSpPr>
            <p:spPr>
              <a:xfrm>
                <a:off x="596900" y="1092326"/>
                <a:ext cx="7731296" cy="4867999"/>
              </a:xfrm>
              <a:prstGeom prst="rect">
                <a:avLst/>
              </a:prstGeom>
            </p:spPr>
            <p:txBody>
              <a:bodyPr vert="horz" wrap="square" lIns="0" tIns="0" rIns="0" bIns="0" rtlCol="0">
                <a:spAutoFit/>
              </a:bodyPr>
              <a:lstStyle/>
              <a:p>
                <a:r>
                  <a:rPr lang="pt-BR"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Partition</a:t>
                </a:r>
                <a:r>
                  <a:rPr lang="pt-BR" altLang="zh-CN" sz="2800" b="1" spc="-5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pt-BR" altLang="zh-CN"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pt-BR"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pt-BR"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pt-BR"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lang="pt-BR"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pt-BR"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r</a:t>
                </a:r>
                <a:r>
                  <a:rPr lang="pt-BR"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pt-BR"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r>
                  <a:rPr lang="pt-BR"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pt-BR" altLang="zh-CN" sz="2800" b="1" spc="78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pt-BR"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 </a:t>
                </a:r>
                <a:r>
                  <a:rPr lang="pt-BR" altLang="zh-CN"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pt-BR"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pt-BR"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pt-BR"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r>
                  <a:rPr lang="pt-BR"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sz="2800" b="1" spc="78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 </a:t>
                </a:r>
                <a:r>
                  <a:rPr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p</a:t>
                </a:r>
                <a:endPar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3.</a:t>
                </a:r>
                <a:r>
                  <a:rPr sz="2800" b="1" spc="78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j </a:t>
                </a:r>
                <a:r>
                  <a:rPr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r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+ 1</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spcBef>
                    <a:spcPts val="280"/>
                  </a:spcBef>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4.</a:t>
                </a:r>
                <a:r>
                  <a:rPr sz="2800" b="1" spc="78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while true</a:t>
                </a:r>
                <a:r>
                  <a:rPr sz="2800" b="1" spc="-2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do</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5.</a:t>
                </a:r>
                <a:r>
                  <a:rPr sz="2800" b="1" spc="478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repeat</a:t>
                </a:r>
                <a:r>
                  <a:rPr sz="2800" b="1" spc="80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j </a:t>
                </a:r>
                <a:r>
                  <a:rPr sz="28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j </a:t>
                </a:r>
                <a:r>
                  <a:rPr lang="en-US" altLang="zh-CN" sz="2800" b="1" i="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1</a:t>
                </a:r>
                <a:r>
                  <a:rPr lang="en-US"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5"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从后向前找</a:t>
                </a:r>
                <a:endParaRPr sz="2800" b="1" spc="15"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6.</a:t>
                </a:r>
                <a:r>
                  <a:rPr sz="2800" b="1" spc="478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until</a:t>
                </a:r>
                <a:r>
                  <a:rPr lang="en-US" sz="2800" b="1" spc="8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lang="en-US" sz="2800" b="1" i="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a:t>
                </a:r>
                <a:r>
                  <a:rPr lang="en-US"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lang="en-US" sz="2800" b="1" i="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j </a:t>
                </a:r>
                <a:r>
                  <a:rPr lang="en-US"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r>
                      <a:rPr lang="en-US" sz="2800" b="1" i="1">
                        <a:solidFill>
                          <a:srgbClr val="C00000"/>
                        </a:solidFill>
                        <a:latin typeface="Cambria Math" panose="02040503050406030204" pitchFamily="18" charset="0"/>
                        <a:ea typeface="Cambria Math" panose="02040503050406030204" pitchFamily="18" charset="0"/>
                        <a:cs typeface="Times New Roman" panose="02020603050405020304"/>
                      </a:rPr>
                      <m:t>≤</m:t>
                    </m:r>
                  </m:oMath>
                </a14:m>
                <a:r>
                  <a:rPr lang="en-US" sz="28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lang="en-US" sz="2800" b="1" i="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x</a:t>
                </a:r>
                <a:r>
                  <a:rPr lang="en-US" sz="2800" b="1" i="1" spc="8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lang="en-US"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lang="en-US" sz="2800" b="1" spc="-15"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spc="15"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不超过首元素的</a:t>
                </a:r>
                <a:endParaRPr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7.</a:t>
                </a:r>
                <a:r>
                  <a:rPr sz="2800" b="1" spc="478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repeat</a:t>
                </a:r>
                <a:r>
                  <a:rPr sz="2800" b="1" spc="80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i </a:t>
                </a:r>
                <a:r>
                  <a:rPr sz="2800"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i </a:t>
                </a:r>
                <a:r>
                  <a:rPr sz="2800" b="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+1</a:t>
                </a:r>
                <a:r>
                  <a:rPr lang="en-US" sz="2800" b="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从前向后找</a:t>
                </a:r>
                <a:endParaRPr sz="2800" b="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endParaRPr>
              </a:p>
              <a:p>
                <a:pPr>
                  <a:spcBef>
                    <a:spcPts val="330"/>
                  </a:spcBef>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8.</a:t>
                </a:r>
                <a:r>
                  <a:rPr sz="2800" b="1" spc="478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until</a:t>
                </a:r>
                <a:r>
                  <a:rPr sz="2800" b="1" spc="800"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A</a:t>
                </a:r>
                <a:r>
                  <a:rPr sz="2800" b="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i </a:t>
                </a:r>
                <a:r>
                  <a:rPr sz="2800" b="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]&gt;</a:t>
                </a:r>
                <a:r>
                  <a:rPr sz="2800" b="1" i="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x</a:t>
                </a:r>
                <a:r>
                  <a:rPr sz="2800" b="1" i="1" spc="784"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a:t>
                </a:r>
                <a:r>
                  <a:rPr sz="2800" b="1" spc="-15"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err="1">
                    <a:solidFill>
                      <a:srgbClr val="2202AC"/>
                    </a:solidFill>
                    <a:latin typeface="Times New Roman" panose="02020603050405020304" pitchFamily="18" charset="0"/>
                    <a:ea typeface="黑体" panose="02010609060101010101" pitchFamily="49" charset="-122"/>
                    <a:cs typeface="Times New Roman" panose="02020603050405020304" pitchFamily="18" charset="0"/>
                  </a:rPr>
                  <a:t>比首元素大的</a:t>
                </a:r>
                <a:endParaRPr sz="2800" b="1" dirty="0">
                  <a:solidFill>
                    <a:srgbClr val="2202AC"/>
                  </a:solidFill>
                  <a:latin typeface="Times New Roman" panose="02020603050405020304" pitchFamily="18" charset="0"/>
                  <a:ea typeface="黑体" panose="02010609060101010101" pitchFamily="49" charset="-122"/>
                  <a:cs typeface="Times New Roman" panose="02020603050405020304" pitchFamily="18" charset="0"/>
                </a:endParaRPr>
              </a:p>
              <a:p>
                <a:pPr>
                  <a:spcBef>
                    <a:spcPts val="250"/>
                  </a:spcBef>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9.</a:t>
                </a:r>
                <a:r>
                  <a:rPr sz="2800" b="1" spc="478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if</a:t>
                </a:r>
                <a:r>
                  <a:rPr sz="2800" b="1" spc="797"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j</a:t>
                </a:r>
                <a:r>
                  <a:rPr lang="en-US"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then</a:t>
                </a:r>
                <a:r>
                  <a:rPr lang="en-US" altLang="zh-CN" sz="2800" b="1" spc="692"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j </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spcBef>
                    <a:spcPts val="250"/>
                  </a:spcBef>
                </a:pP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10.      else</a:t>
                </a:r>
                <a:r>
                  <a:rPr lang="en-US" altLang="zh-CN" sz="2800" b="1" spc="77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return</a:t>
                </a:r>
                <a:r>
                  <a:rPr lang="en-US" altLang="zh-CN"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j</a:t>
                </a:r>
                <a:endPar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5" name="object 5"/>
              <p:cNvSpPr txBox="1">
                <a:spLocks noRot="1" noChangeAspect="1" noMove="1" noResize="1" noEditPoints="1" noAdjustHandles="1" noChangeArrowheads="1" noChangeShapeType="1" noTextEdit="1"/>
              </p:cNvSpPr>
              <p:nvPr/>
            </p:nvSpPr>
            <p:spPr>
              <a:xfrm>
                <a:off x="596900" y="1092326"/>
                <a:ext cx="7731296" cy="4867999"/>
              </a:xfrm>
              <a:prstGeom prst="rect">
                <a:avLst/>
              </a:prstGeom>
              <a:blipFill rotWithShape="1">
                <a:blip r:embed="rId1"/>
                <a:stretch>
                  <a:fillRect t="-3" r="2" b="4"/>
                </a:stretch>
              </a:blipFill>
            </p:spPr>
            <p:txBody>
              <a:bodyPr/>
              <a:lstStyle/>
              <a:p>
                <a:r>
                  <a:rPr lang="zh-CN" altLang="en-US">
                    <a:noFill/>
                  </a:rPr>
                  <a:t> </a:t>
                </a:r>
              </a:p>
            </p:txBody>
          </p:sp>
        </mc:Fallback>
      </mc:AlternateContent>
      <p:sp>
        <p:nvSpPr>
          <p:cNvPr id="8" name="object 8"/>
          <p:cNvSpPr txBox="1"/>
          <p:nvPr/>
        </p:nvSpPr>
        <p:spPr>
          <a:xfrm>
            <a:off x="6777068" y="5915721"/>
            <a:ext cx="417809" cy="230832"/>
          </a:xfrm>
          <a:prstGeom prst="rect">
            <a:avLst/>
          </a:prstGeom>
        </p:spPr>
        <p:txBody>
          <a:bodyPr vert="horz" wrap="square" lIns="0" tIns="0" rIns="0" bIns="0" rtlCol="0">
            <a:spAutoFit/>
          </a:bodyPr>
          <a:lstStyle/>
          <a:p>
            <a:pPr>
              <a:lnSpc>
                <a:spcPts val="1785"/>
              </a:lnSpc>
            </a:pPr>
            <a:r>
              <a:rPr sz="1400" b="1" dirty="0">
                <a:solidFill>
                  <a:srgbClr val="898989"/>
                </a:solidFill>
                <a:latin typeface="Times New Roman" panose="02020603050405020304" pitchFamily="18" charset="0"/>
                <a:ea typeface="黑体" panose="02010609060101010101" pitchFamily="49" charset="-122"/>
                <a:cs typeface="Times New Roman" panose="02020603050405020304" pitchFamily="18" charset="0"/>
              </a:rPr>
              <a:t>4</a:t>
            </a:r>
            <a:endParaRPr sz="1400" b="1" dirty="0">
              <a:solidFill>
                <a:srgbClr val="898989"/>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1" name="直接箭头连接符 10"/>
          <p:cNvCxnSpPr/>
          <p:nvPr/>
        </p:nvCxnSpPr>
        <p:spPr>
          <a:xfrm flipH="1">
            <a:off x="1201259" y="1799820"/>
            <a:ext cx="3783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a:off x="1143451" y="2202109"/>
            <a:ext cx="3783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1122431" y="2624778"/>
            <a:ext cx="3783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a:off x="2773527" y="3543657"/>
            <a:ext cx="3783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H="1">
            <a:off x="2773527" y="4359840"/>
            <a:ext cx="3783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4536149" y="5290971"/>
            <a:ext cx="430924" cy="0"/>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1432" y="55236"/>
            <a:ext cx="8944304" cy="604974"/>
          </a:xfrm>
          <a:prstGeom prst="rect">
            <a:avLst/>
          </a:prstGeom>
        </p:spPr>
        <p:txBody>
          <a:bodyPr vert="horz" wrap="square" lIns="0" tIns="0" rIns="0" bIns="0" rtlCol="0">
            <a:spAutoFit/>
          </a:bodyPr>
          <a:lstStyle/>
          <a:p>
            <a:pPr algn="ctr">
              <a:lnSpc>
                <a:spcPts val="5325"/>
              </a:lnSpc>
            </a:pPr>
            <a:r>
              <a:rPr sz="4400" b="1" spc="13" dirty="0">
                <a:solidFill>
                  <a:srgbClr val="C00000"/>
                </a:solidFill>
                <a:latin typeface="黑体" panose="02010609060101010101" pitchFamily="49" charset="-122"/>
                <a:ea typeface="黑体" panose="02010609060101010101" pitchFamily="49" charset="-122"/>
                <a:cs typeface="CISOIN+ËÎÌå"/>
              </a:rPr>
              <a:t>划分实例</a:t>
            </a:r>
            <a:endParaRPr sz="4400" b="1" spc="13" dirty="0">
              <a:solidFill>
                <a:srgbClr val="C00000"/>
              </a:solidFill>
              <a:latin typeface="黑体" panose="02010609060101010101" pitchFamily="49" charset="-122"/>
              <a:ea typeface="黑体" panose="02010609060101010101" pitchFamily="49" charset="-122"/>
              <a:cs typeface="CISOIN+ËÎÌå"/>
            </a:endParaRPr>
          </a:p>
        </p:txBody>
      </p:sp>
      <p:sp>
        <p:nvSpPr>
          <p:cNvPr id="4" name="object 4"/>
          <p:cNvSpPr txBox="1"/>
          <p:nvPr/>
        </p:nvSpPr>
        <p:spPr>
          <a:xfrm>
            <a:off x="1109124" y="1426962"/>
            <a:ext cx="6816071" cy="346249"/>
          </a:xfrm>
          <a:prstGeom prst="rect">
            <a:avLst/>
          </a:prstGeom>
        </p:spPr>
        <p:txBody>
          <a:bodyPr vert="horz" wrap="square" lIns="0" tIns="0" rIns="0" bIns="0" rtlCol="0">
            <a:spAutoFit/>
          </a:bodyPr>
          <a:lstStyle/>
          <a:p>
            <a:pPr>
              <a:lnSpc>
                <a:spcPts val="2680"/>
              </a:lnSpc>
            </a:pPr>
            <a:r>
              <a:rPr sz="2400" b="1" dirty="0">
                <a:solidFill>
                  <a:srgbClr val="000000"/>
                </a:solidFill>
                <a:latin typeface="Arial" panose="020B0604020202020204"/>
                <a:cs typeface="Arial" panose="020B0604020202020204"/>
              </a:rPr>
              <a:t>27</a:t>
            </a:r>
            <a:r>
              <a:rPr sz="2400" b="1" spc="664" dirty="0">
                <a:solidFill>
                  <a:srgbClr val="000000"/>
                </a:solidFill>
                <a:latin typeface="Arial" panose="020B0604020202020204"/>
                <a:cs typeface="Arial" panose="020B0604020202020204"/>
              </a:rPr>
              <a:t> </a:t>
            </a:r>
            <a:r>
              <a:rPr sz="2400" b="1" dirty="0">
                <a:solidFill>
                  <a:srgbClr val="C00000"/>
                </a:solidFill>
                <a:latin typeface="Arial" panose="020B0604020202020204"/>
                <a:cs typeface="Arial" panose="020B0604020202020204"/>
              </a:rPr>
              <a:t>99</a:t>
            </a:r>
            <a:r>
              <a:rPr sz="2400" b="1" spc="679" dirty="0">
                <a:solidFill>
                  <a:srgbClr val="C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0</a:t>
            </a:r>
            <a:r>
              <a:rPr sz="2400" b="1" spc="653"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8</a:t>
            </a:r>
            <a:r>
              <a:rPr sz="2400" b="1" spc="667"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13</a:t>
            </a:r>
            <a:r>
              <a:rPr sz="2400" b="1" spc="664"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64</a:t>
            </a:r>
            <a:r>
              <a:rPr sz="2400" b="1" spc="661"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86</a:t>
            </a:r>
            <a:r>
              <a:rPr sz="2400" b="1" spc="661"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16</a:t>
            </a:r>
            <a:r>
              <a:rPr sz="2400" b="1" spc="661"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7</a:t>
            </a:r>
            <a:r>
              <a:rPr sz="2400" b="1" spc="667"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10</a:t>
            </a:r>
            <a:r>
              <a:rPr sz="2400" b="1" spc="664"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88</a:t>
            </a:r>
            <a:r>
              <a:rPr sz="2400" b="1" spc="676" dirty="0">
                <a:solidFill>
                  <a:srgbClr val="000000"/>
                </a:solidFill>
                <a:latin typeface="Arial" panose="020B0604020202020204"/>
                <a:cs typeface="Arial" panose="020B0604020202020204"/>
              </a:rPr>
              <a:t> </a:t>
            </a:r>
            <a:r>
              <a:rPr sz="2400" b="1" dirty="0">
                <a:solidFill>
                  <a:srgbClr val="C00000"/>
                </a:solidFill>
                <a:latin typeface="Arial" panose="020B0604020202020204"/>
                <a:cs typeface="Arial" panose="020B0604020202020204"/>
              </a:rPr>
              <a:t>25</a:t>
            </a:r>
            <a:r>
              <a:rPr sz="2400" b="1" spc="676" dirty="0">
                <a:solidFill>
                  <a:srgbClr val="C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90</a:t>
            </a:r>
            <a:endParaRPr sz="2400" b="1" dirty="0">
              <a:solidFill>
                <a:srgbClr val="000000"/>
              </a:solidFill>
              <a:latin typeface="Arial" panose="020B0604020202020204"/>
              <a:cs typeface="Arial" panose="020B0604020202020204"/>
            </a:endParaRPr>
          </a:p>
        </p:txBody>
      </p:sp>
      <p:sp>
        <p:nvSpPr>
          <p:cNvPr id="5" name="object 5"/>
          <p:cNvSpPr txBox="1"/>
          <p:nvPr/>
        </p:nvSpPr>
        <p:spPr>
          <a:xfrm>
            <a:off x="1861369" y="1829550"/>
            <a:ext cx="541883" cy="346249"/>
          </a:xfrm>
          <a:prstGeom prst="rect">
            <a:avLst/>
          </a:prstGeom>
        </p:spPr>
        <p:txBody>
          <a:bodyPr vert="horz" wrap="square" lIns="0" tIns="0" rIns="0" bIns="0" rtlCol="0">
            <a:spAutoFit/>
          </a:bodyPr>
          <a:lstStyle/>
          <a:p>
            <a:pPr>
              <a:lnSpc>
                <a:spcPts val="2655"/>
              </a:lnSpc>
            </a:pPr>
            <a:r>
              <a:rPr sz="2400" b="1" i="1" dirty="0">
                <a:solidFill>
                  <a:srgbClr val="31859C"/>
                </a:solidFill>
                <a:latin typeface="Times New Roman" panose="02020603050405020304"/>
                <a:cs typeface="Times New Roman" panose="02020603050405020304"/>
              </a:rPr>
              <a:t>i</a:t>
            </a:r>
            <a:endParaRPr sz="2400" b="1" i="1" dirty="0">
              <a:solidFill>
                <a:srgbClr val="31859C"/>
              </a:solidFill>
              <a:latin typeface="Times New Roman" panose="02020603050405020304"/>
              <a:cs typeface="Times New Roman" panose="02020603050405020304"/>
            </a:endParaRPr>
          </a:p>
        </p:txBody>
      </p:sp>
      <p:sp>
        <p:nvSpPr>
          <p:cNvPr id="6" name="object 6"/>
          <p:cNvSpPr txBox="1"/>
          <p:nvPr/>
        </p:nvSpPr>
        <p:spPr>
          <a:xfrm>
            <a:off x="6324081" y="1829550"/>
            <a:ext cx="541883" cy="346249"/>
          </a:xfrm>
          <a:prstGeom prst="rect">
            <a:avLst/>
          </a:prstGeom>
        </p:spPr>
        <p:txBody>
          <a:bodyPr vert="horz" wrap="square" lIns="0" tIns="0" rIns="0" bIns="0" rtlCol="0">
            <a:spAutoFit/>
          </a:bodyPr>
          <a:lstStyle/>
          <a:p>
            <a:pPr>
              <a:lnSpc>
                <a:spcPts val="2655"/>
              </a:lnSpc>
            </a:pPr>
            <a:r>
              <a:rPr sz="2400" b="1" i="1" dirty="0">
                <a:solidFill>
                  <a:srgbClr val="00B050"/>
                </a:solidFill>
                <a:latin typeface="Times New Roman" panose="02020603050405020304"/>
                <a:cs typeface="Times New Roman" panose="02020603050405020304"/>
              </a:rPr>
              <a:t>j</a:t>
            </a:r>
            <a:endParaRPr sz="2400" b="1" i="1" dirty="0">
              <a:solidFill>
                <a:srgbClr val="00B050"/>
              </a:solidFill>
              <a:latin typeface="Times New Roman" panose="02020603050405020304"/>
              <a:cs typeface="Times New Roman" panose="02020603050405020304"/>
            </a:endParaRPr>
          </a:p>
        </p:txBody>
      </p:sp>
      <p:sp>
        <p:nvSpPr>
          <p:cNvPr id="7" name="object 7"/>
          <p:cNvSpPr txBox="1"/>
          <p:nvPr/>
        </p:nvSpPr>
        <p:spPr>
          <a:xfrm>
            <a:off x="1127409" y="2443301"/>
            <a:ext cx="6814200" cy="346249"/>
          </a:xfrm>
          <a:prstGeom prst="rect">
            <a:avLst/>
          </a:prstGeom>
        </p:spPr>
        <p:txBody>
          <a:bodyPr vert="horz" wrap="square" lIns="0" tIns="0" rIns="0" bIns="0" rtlCol="0">
            <a:spAutoFit/>
          </a:bodyPr>
          <a:lstStyle/>
          <a:p>
            <a:pPr>
              <a:lnSpc>
                <a:spcPts val="2680"/>
              </a:lnSpc>
            </a:pPr>
            <a:r>
              <a:rPr sz="2400" b="1" dirty="0">
                <a:solidFill>
                  <a:srgbClr val="000000"/>
                </a:solidFill>
                <a:latin typeface="Arial" panose="020B0604020202020204"/>
                <a:cs typeface="Arial" panose="020B0604020202020204"/>
              </a:rPr>
              <a:t>27</a:t>
            </a:r>
            <a:r>
              <a:rPr sz="2400" b="1" spc="643"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25</a:t>
            </a:r>
            <a:r>
              <a:rPr sz="2400" b="1" spc="668"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0</a:t>
            </a:r>
            <a:r>
              <a:rPr sz="2400" b="1" spc="667"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8</a:t>
            </a:r>
            <a:r>
              <a:rPr sz="2400" b="1" spc="656"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13</a:t>
            </a:r>
            <a:r>
              <a:rPr sz="2400" b="1" spc="668" dirty="0">
                <a:solidFill>
                  <a:srgbClr val="000000"/>
                </a:solidFill>
                <a:latin typeface="Arial" panose="020B0604020202020204"/>
                <a:cs typeface="Arial" panose="020B0604020202020204"/>
              </a:rPr>
              <a:t> </a:t>
            </a:r>
            <a:r>
              <a:rPr sz="2400" b="1" dirty="0">
                <a:solidFill>
                  <a:srgbClr val="C00000"/>
                </a:solidFill>
                <a:latin typeface="Arial" panose="020B0604020202020204"/>
                <a:cs typeface="Arial" panose="020B0604020202020204"/>
              </a:rPr>
              <a:t>64</a:t>
            </a:r>
            <a:r>
              <a:rPr sz="2400" b="1" spc="676" dirty="0">
                <a:solidFill>
                  <a:srgbClr val="C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86</a:t>
            </a:r>
            <a:r>
              <a:rPr sz="2400" b="1" spc="661"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16</a:t>
            </a:r>
            <a:r>
              <a:rPr sz="2400" b="1" spc="661"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7</a:t>
            </a:r>
            <a:r>
              <a:rPr sz="2400" b="1" spc="676" dirty="0">
                <a:solidFill>
                  <a:srgbClr val="000000"/>
                </a:solidFill>
                <a:latin typeface="Arial" panose="020B0604020202020204"/>
                <a:cs typeface="Arial" panose="020B0604020202020204"/>
              </a:rPr>
              <a:t> </a:t>
            </a:r>
            <a:r>
              <a:rPr sz="2400" b="1" dirty="0">
                <a:solidFill>
                  <a:srgbClr val="C00000"/>
                </a:solidFill>
                <a:latin typeface="Arial" panose="020B0604020202020204"/>
                <a:cs typeface="Arial" panose="020B0604020202020204"/>
              </a:rPr>
              <a:t>10</a:t>
            </a:r>
            <a:r>
              <a:rPr sz="2400" b="1" spc="676" dirty="0">
                <a:solidFill>
                  <a:srgbClr val="C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88</a:t>
            </a:r>
            <a:r>
              <a:rPr sz="2400" b="1" spc="661"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99</a:t>
            </a:r>
            <a:r>
              <a:rPr sz="2400" b="1" spc="661"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90</a:t>
            </a:r>
            <a:endParaRPr sz="2400" b="1" dirty="0">
              <a:solidFill>
                <a:srgbClr val="000000"/>
              </a:solidFill>
              <a:latin typeface="Arial" panose="020B0604020202020204"/>
              <a:cs typeface="Arial" panose="020B0604020202020204"/>
            </a:endParaRPr>
          </a:p>
        </p:txBody>
      </p:sp>
      <p:sp>
        <p:nvSpPr>
          <p:cNvPr id="8" name="object 8"/>
          <p:cNvSpPr txBox="1"/>
          <p:nvPr/>
        </p:nvSpPr>
        <p:spPr>
          <a:xfrm>
            <a:off x="3497061" y="2845889"/>
            <a:ext cx="541883" cy="346249"/>
          </a:xfrm>
          <a:prstGeom prst="rect">
            <a:avLst/>
          </a:prstGeom>
        </p:spPr>
        <p:txBody>
          <a:bodyPr vert="horz" wrap="square" lIns="0" tIns="0" rIns="0" bIns="0" rtlCol="0">
            <a:spAutoFit/>
          </a:bodyPr>
          <a:lstStyle/>
          <a:p>
            <a:pPr>
              <a:lnSpc>
                <a:spcPts val="2655"/>
              </a:lnSpc>
            </a:pPr>
            <a:r>
              <a:rPr sz="2400" b="1" i="1" dirty="0">
                <a:solidFill>
                  <a:srgbClr val="00B050"/>
                </a:solidFill>
                <a:latin typeface="Times New Roman" panose="02020603050405020304"/>
                <a:cs typeface="Times New Roman" panose="02020603050405020304"/>
              </a:rPr>
              <a:t>i</a:t>
            </a:r>
            <a:endParaRPr sz="2400" b="1" i="1" dirty="0">
              <a:solidFill>
                <a:srgbClr val="00B050"/>
              </a:solidFill>
              <a:latin typeface="Times New Roman" panose="02020603050405020304"/>
              <a:cs typeface="Times New Roman" panose="02020603050405020304"/>
            </a:endParaRPr>
          </a:p>
        </p:txBody>
      </p:sp>
      <p:sp>
        <p:nvSpPr>
          <p:cNvPr id="9" name="object 9"/>
          <p:cNvSpPr txBox="1"/>
          <p:nvPr/>
        </p:nvSpPr>
        <p:spPr>
          <a:xfrm>
            <a:off x="5334497" y="2845889"/>
            <a:ext cx="541883" cy="346249"/>
          </a:xfrm>
          <a:prstGeom prst="rect">
            <a:avLst/>
          </a:prstGeom>
        </p:spPr>
        <p:txBody>
          <a:bodyPr vert="horz" wrap="square" lIns="0" tIns="0" rIns="0" bIns="0" rtlCol="0">
            <a:spAutoFit/>
          </a:bodyPr>
          <a:lstStyle/>
          <a:p>
            <a:pPr>
              <a:lnSpc>
                <a:spcPts val="2655"/>
              </a:lnSpc>
            </a:pPr>
            <a:r>
              <a:rPr sz="2400" b="1" i="1" dirty="0">
                <a:solidFill>
                  <a:srgbClr val="00B050"/>
                </a:solidFill>
                <a:latin typeface="Times New Roman" panose="02020603050405020304"/>
                <a:cs typeface="Times New Roman" panose="02020603050405020304"/>
              </a:rPr>
              <a:t>j</a:t>
            </a:r>
            <a:endParaRPr sz="2400" b="1" i="1" dirty="0">
              <a:solidFill>
                <a:srgbClr val="00B050"/>
              </a:solidFill>
              <a:latin typeface="Times New Roman" panose="02020603050405020304"/>
              <a:cs typeface="Times New Roman" panose="02020603050405020304"/>
            </a:endParaRPr>
          </a:p>
        </p:txBody>
      </p:sp>
      <p:sp>
        <p:nvSpPr>
          <p:cNvPr id="10" name="object 10"/>
          <p:cNvSpPr txBox="1"/>
          <p:nvPr/>
        </p:nvSpPr>
        <p:spPr>
          <a:xfrm>
            <a:off x="1127412" y="3459441"/>
            <a:ext cx="6813823" cy="346249"/>
          </a:xfrm>
          <a:prstGeom prst="rect">
            <a:avLst/>
          </a:prstGeom>
        </p:spPr>
        <p:txBody>
          <a:bodyPr vert="horz" wrap="square" lIns="0" tIns="0" rIns="0" bIns="0" rtlCol="0">
            <a:spAutoFit/>
          </a:bodyPr>
          <a:lstStyle/>
          <a:p>
            <a:pPr>
              <a:lnSpc>
                <a:spcPts val="2685"/>
              </a:lnSpc>
            </a:pPr>
            <a:r>
              <a:rPr sz="2400" b="1" dirty="0">
                <a:solidFill>
                  <a:srgbClr val="000000"/>
                </a:solidFill>
                <a:latin typeface="Arial" panose="020B0604020202020204"/>
                <a:cs typeface="Arial" panose="020B0604020202020204"/>
              </a:rPr>
              <a:t>27</a:t>
            </a:r>
            <a:r>
              <a:rPr sz="2400" b="1" spc="656"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25</a:t>
            </a:r>
            <a:r>
              <a:rPr sz="2400" b="1" spc="661"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0</a:t>
            </a:r>
            <a:r>
              <a:rPr sz="2400" b="1" spc="668"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8</a:t>
            </a:r>
            <a:r>
              <a:rPr sz="2400" b="1" spc="656"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13</a:t>
            </a:r>
            <a:r>
              <a:rPr sz="2400" b="1" spc="673"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10</a:t>
            </a:r>
            <a:r>
              <a:rPr sz="2400" b="1" spc="679" dirty="0">
                <a:solidFill>
                  <a:srgbClr val="000000"/>
                </a:solidFill>
                <a:latin typeface="Arial" panose="020B0604020202020204"/>
                <a:cs typeface="Arial" panose="020B0604020202020204"/>
              </a:rPr>
              <a:t> </a:t>
            </a:r>
            <a:r>
              <a:rPr sz="2400" b="1" dirty="0">
                <a:solidFill>
                  <a:srgbClr val="C00000"/>
                </a:solidFill>
                <a:latin typeface="Arial" panose="020B0604020202020204"/>
                <a:cs typeface="Arial" panose="020B0604020202020204"/>
              </a:rPr>
              <a:t>86</a:t>
            </a:r>
            <a:r>
              <a:rPr sz="2400" b="1" spc="676" dirty="0">
                <a:solidFill>
                  <a:srgbClr val="C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16</a:t>
            </a:r>
            <a:r>
              <a:rPr sz="2400" b="1" spc="679" dirty="0">
                <a:solidFill>
                  <a:srgbClr val="000000"/>
                </a:solidFill>
                <a:latin typeface="Arial" panose="020B0604020202020204"/>
                <a:cs typeface="Arial" panose="020B0604020202020204"/>
              </a:rPr>
              <a:t> </a:t>
            </a:r>
            <a:r>
              <a:rPr sz="2400" b="1" dirty="0">
                <a:solidFill>
                  <a:srgbClr val="C00000"/>
                </a:solidFill>
                <a:latin typeface="Arial" panose="020B0604020202020204"/>
                <a:cs typeface="Arial" panose="020B0604020202020204"/>
              </a:rPr>
              <a:t>7</a:t>
            </a:r>
            <a:r>
              <a:rPr sz="2400" b="1" spc="671" dirty="0">
                <a:solidFill>
                  <a:srgbClr val="C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64</a:t>
            </a:r>
            <a:r>
              <a:rPr sz="2400" b="1" spc="676"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88</a:t>
            </a:r>
            <a:r>
              <a:rPr sz="2400" b="1" spc="673"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99</a:t>
            </a:r>
            <a:r>
              <a:rPr sz="2400" b="1" spc="673"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90</a:t>
            </a:r>
            <a:endParaRPr sz="2400" b="1" dirty="0">
              <a:solidFill>
                <a:srgbClr val="000000"/>
              </a:solidFill>
              <a:latin typeface="Arial" panose="020B0604020202020204"/>
              <a:cs typeface="Arial" panose="020B0604020202020204"/>
            </a:endParaRPr>
          </a:p>
        </p:txBody>
      </p:sp>
      <p:sp>
        <p:nvSpPr>
          <p:cNvPr id="11" name="object 11"/>
          <p:cNvSpPr txBox="1"/>
          <p:nvPr/>
        </p:nvSpPr>
        <p:spPr>
          <a:xfrm>
            <a:off x="3977068" y="3862397"/>
            <a:ext cx="541883" cy="346249"/>
          </a:xfrm>
          <a:prstGeom prst="rect">
            <a:avLst/>
          </a:prstGeom>
        </p:spPr>
        <p:txBody>
          <a:bodyPr vert="horz" wrap="square" lIns="0" tIns="0" rIns="0" bIns="0" rtlCol="0">
            <a:spAutoFit/>
          </a:bodyPr>
          <a:lstStyle/>
          <a:p>
            <a:pPr>
              <a:lnSpc>
                <a:spcPts val="2655"/>
              </a:lnSpc>
            </a:pPr>
            <a:r>
              <a:rPr sz="2400" b="1" i="1" dirty="0">
                <a:solidFill>
                  <a:srgbClr val="00B050"/>
                </a:solidFill>
                <a:latin typeface="Times New Roman" panose="02020603050405020304"/>
                <a:cs typeface="Times New Roman" panose="02020603050405020304"/>
              </a:rPr>
              <a:t>i</a:t>
            </a:r>
            <a:endParaRPr sz="2400" b="1" i="1" dirty="0">
              <a:solidFill>
                <a:srgbClr val="00B050"/>
              </a:solidFill>
              <a:latin typeface="Times New Roman" panose="02020603050405020304"/>
              <a:cs typeface="Times New Roman" panose="02020603050405020304"/>
            </a:endParaRPr>
          </a:p>
        </p:txBody>
      </p:sp>
      <p:sp>
        <p:nvSpPr>
          <p:cNvPr id="12" name="object 12"/>
          <p:cNvSpPr txBox="1"/>
          <p:nvPr/>
        </p:nvSpPr>
        <p:spPr>
          <a:xfrm>
            <a:off x="4927996" y="3862397"/>
            <a:ext cx="541883" cy="346249"/>
          </a:xfrm>
          <a:prstGeom prst="rect">
            <a:avLst/>
          </a:prstGeom>
        </p:spPr>
        <p:txBody>
          <a:bodyPr vert="horz" wrap="square" lIns="0" tIns="0" rIns="0" bIns="0" rtlCol="0">
            <a:spAutoFit/>
          </a:bodyPr>
          <a:lstStyle/>
          <a:p>
            <a:pPr>
              <a:lnSpc>
                <a:spcPts val="2655"/>
              </a:lnSpc>
            </a:pPr>
            <a:r>
              <a:rPr sz="2400" b="1" i="1" dirty="0">
                <a:solidFill>
                  <a:srgbClr val="00B050"/>
                </a:solidFill>
                <a:latin typeface="Times New Roman" panose="02020603050405020304"/>
                <a:cs typeface="Times New Roman" panose="02020603050405020304"/>
              </a:rPr>
              <a:t>j</a:t>
            </a:r>
            <a:endParaRPr sz="2400" b="1" i="1" dirty="0">
              <a:solidFill>
                <a:srgbClr val="00B050"/>
              </a:solidFill>
              <a:latin typeface="Times New Roman" panose="02020603050405020304"/>
              <a:cs typeface="Times New Roman" panose="02020603050405020304"/>
            </a:endParaRPr>
          </a:p>
        </p:txBody>
      </p:sp>
      <p:sp>
        <p:nvSpPr>
          <p:cNvPr id="13" name="object 13"/>
          <p:cNvSpPr txBox="1"/>
          <p:nvPr/>
        </p:nvSpPr>
        <p:spPr>
          <a:xfrm>
            <a:off x="1127411" y="4475809"/>
            <a:ext cx="6912347" cy="346249"/>
          </a:xfrm>
          <a:prstGeom prst="rect">
            <a:avLst/>
          </a:prstGeom>
        </p:spPr>
        <p:txBody>
          <a:bodyPr vert="horz" wrap="square" lIns="0" tIns="0" rIns="0" bIns="0" rtlCol="0">
            <a:spAutoFit/>
          </a:bodyPr>
          <a:lstStyle/>
          <a:p>
            <a:pPr>
              <a:lnSpc>
                <a:spcPts val="2680"/>
              </a:lnSpc>
            </a:pPr>
            <a:r>
              <a:rPr sz="2400" b="1" dirty="0">
                <a:solidFill>
                  <a:srgbClr val="FF0000"/>
                </a:solidFill>
                <a:latin typeface="Arial" panose="020B0604020202020204"/>
                <a:cs typeface="Arial" panose="020B0604020202020204"/>
              </a:rPr>
              <a:t>27</a:t>
            </a:r>
            <a:r>
              <a:rPr sz="2400" b="1" spc="661" dirty="0">
                <a:solidFill>
                  <a:srgbClr val="FF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25</a:t>
            </a:r>
            <a:r>
              <a:rPr sz="2400" b="1" spc="661"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0</a:t>
            </a:r>
            <a:r>
              <a:rPr sz="2400" b="1" spc="667"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8</a:t>
            </a:r>
            <a:r>
              <a:rPr sz="2400" b="1" spc="656"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13</a:t>
            </a:r>
            <a:r>
              <a:rPr sz="2400" b="1" spc="661"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10</a:t>
            </a:r>
            <a:r>
              <a:rPr sz="2400" b="1" spc="1341"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7</a:t>
            </a:r>
            <a:r>
              <a:rPr sz="2400" b="1" spc="671" dirty="0">
                <a:solidFill>
                  <a:srgbClr val="000000"/>
                </a:solidFill>
                <a:latin typeface="Arial" panose="020B0604020202020204"/>
                <a:cs typeface="Arial" panose="020B0604020202020204"/>
              </a:rPr>
              <a:t> </a:t>
            </a:r>
            <a:r>
              <a:rPr sz="2400" b="1" dirty="0">
                <a:solidFill>
                  <a:srgbClr val="C00000"/>
                </a:solidFill>
                <a:latin typeface="Arial" panose="020B0604020202020204"/>
                <a:cs typeface="Arial" panose="020B0604020202020204"/>
              </a:rPr>
              <a:t>16</a:t>
            </a:r>
            <a:r>
              <a:rPr sz="2400" b="1" spc="681" dirty="0">
                <a:solidFill>
                  <a:srgbClr val="C00000"/>
                </a:solidFill>
                <a:latin typeface="Arial" panose="020B0604020202020204"/>
                <a:cs typeface="Arial" panose="020B0604020202020204"/>
              </a:rPr>
              <a:t> </a:t>
            </a:r>
            <a:r>
              <a:rPr sz="2400" b="1" dirty="0">
                <a:solidFill>
                  <a:srgbClr val="C00000"/>
                </a:solidFill>
                <a:latin typeface="Arial" panose="020B0604020202020204"/>
                <a:cs typeface="Arial" panose="020B0604020202020204"/>
              </a:rPr>
              <a:t>86</a:t>
            </a:r>
            <a:r>
              <a:rPr sz="2400" b="1" spc="676" dirty="0">
                <a:solidFill>
                  <a:srgbClr val="C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64</a:t>
            </a:r>
            <a:r>
              <a:rPr sz="2400" b="1" spc="676"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88</a:t>
            </a:r>
            <a:r>
              <a:rPr sz="2400" b="1" spc="661"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99</a:t>
            </a:r>
            <a:r>
              <a:rPr sz="2400" b="1" spc="661" dirty="0">
                <a:solidFill>
                  <a:srgbClr val="000000"/>
                </a:solidFill>
                <a:latin typeface="Arial" panose="020B0604020202020204"/>
                <a:cs typeface="Arial" panose="020B0604020202020204"/>
              </a:rPr>
              <a:t> </a:t>
            </a:r>
            <a:r>
              <a:rPr sz="2400" b="1" dirty="0">
                <a:solidFill>
                  <a:srgbClr val="000000"/>
                </a:solidFill>
                <a:latin typeface="Arial" panose="020B0604020202020204"/>
                <a:cs typeface="Arial" panose="020B0604020202020204"/>
              </a:rPr>
              <a:t>90</a:t>
            </a:r>
            <a:endParaRPr sz="2400" b="1" dirty="0">
              <a:solidFill>
                <a:srgbClr val="000000"/>
              </a:solidFill>
              <a:latin typeface="Arial" panose="020B0604020202020204"/>
              <a:cs typeface="Arial" panose="020B0604020202020204"/>
            </a:endParaRPr>
          </a:p>
        </p:txBody>
      </p:sp>
      <p:sp>
        <p:nvSpPr>
          <p:cNvPr id="14" name="object 14"/>
          <p:cNvSpPr txBox="1"/>
          <p:nvPr/>
        </p:nvSpPr>
        <p:spPr>
          <a:xfrm>
            <a:off x="4410928" y="4878407"/>
            <a:ext cx="1007435" cy="346249"/>
          </a:xfrm>
          <a:prstGeom prst="rect">
            <a:avLst/>
          </a:prstGeom>
        </p:spPr>
        <p:txBody>
          <a:bodyPr vert="horz" wrap="square" lIns="0" tIns="0" rIns="0" bIns="0" rtlCol="0">
            <a:spAutoFit/>
          </a:bodyPr>
          <a:lstStyle/>
          <a:p>
            <a:pPr>
              <a:lnSpc>
                <a:spcPts val="2660"/>
              </a:lnSpc>
            </a:pPr>
            <a:r>
              <a:rPr sz="2400" b="1" i="1" dirty="0">
                <a:solidFill>
                  <a:srgbClr val="00B050"/>
                </a:solidFill>
                <a:latin typeface="Times New Roman" panose="02020603050405020304"/>
                <a:cs typeface="Times New Roman" panose="02020603050405020304"/>
              </a:rPr>
              <a:t>j</a:t>
            </a:r>
            <a:r>
              <a:rPr sz="2400" b="1" i="1" spc="2397" dirty="0">
                <a:solidFill>
                  <a:srgbClr val="00B050"/>
                </a:solidFill>
                <a:latin typeface="Times New Roman" panose="02020603050405020304"/>
                <a:cs typeface="Times New Roman" panose="02020603050405020304"/>
              </a:rPr>
              <a:t> </a:t>
            </a:r>
            <a:r>
              <a:rPr sz="2400" b="1" i="1" dirty="0">
                <a:solidFill>
                  <a:srgbClr val="00B050"/>
                </a:solidFill>
                <a:latin typeface="Times New Roman" panose="02020603050405020304"/>
                <a:cs typeface="Times New Roman" panose="02020603050405020304"/>
              </a:rPr>
              <a:t>i</a:t>
            </a:r>
            <a:endParaRPr sz="2400" b="1" i="1" dirty="0">
              <a:solidFill>
                <a:srgbClr val="00B050"/>
              </a:solidFill>
              <a:latin typeface="Times New Roman" panose="02020603050405020304"/>
              <a:cs typeface="Times New Roman" panose="02020603050405020304"/>
            </a:endParaRPr>
          </a:p>
        </p:txBody>
      </p:sp>
      <p:sp>
        <p:nvSpPr>
          <p:cNvPr id="15" name="object 15"/>
          <p:cNvSpPr txBox="1"/>
          <p:nvPr/>
        </p:nvSpPr>
        <p:spPr>
          <a:xfrm>
            <a:off x="1127410" y="5525506"/>
            <a:ext cx="6912580" cy="346249"/>
          </a:xfrm>
          <a:prstGeom prst="rect">
            <a:avLst/>
          </a:prstGeom>
        </p:spPr>
        <p:txBody>
          <a:bodyPr vert="horz" wrap="square" lIns="0" tIns="0" rIns="0" bIns="0" rtlCol="0">
            <a:spAutoFit/>
          </a:bodyPr>
          <a:lstStyle/>
          <a:p>
            <a:pPr>
              <a:lnSpc>
                <a:spcPts val="2680"/>
              </a:lnSpc>
            </a:pPr>
            <a:r>
              <a:rPr sz="2400" b="1" u="sng" dirty="0">
                <a:solidFill>
                  <a:srgbClr val="000000"/>
                </a:solidFill>
                <a:latin typeface="Arial" panose="020B0604020202020204"/>
                <a:cs typeface="Arial" panose="020B0604020202020204"/>
              </a:rPr>
              <a:t>16</a:t>
            </a:r>
            <a:r>
              <a:rPr sz="2400" b="1" u="sng" spc="643" dirty="0">
                <a:solidFill>
                  <a:srgbClr val="000000"/>
                </a:solidFill>
                <a:latin typeface="Arial" panose="020B0604020202020204"/>
                <a:cs typeface="Arial" panose="020B0604020202020204"/>
              </a:rPr>
              <a:t> </a:t>
            </a:r>
            <a:r>
              <a:rPr sz="2400" b="1" u="sng" dirty="0">
                <a:solidFill>
                  <a:srgbClr val="000000"/>
                </a:solidFill>
                <a:latin typeface="Arial" panose="020B0604020202020204"/>
                <a:cs typeface="Arial" panose="020B0604020202020204"/>
              </a:rPr>
              <a:t>25</a:t>
            </a:r>
            <a:r>
              <a:rPr sz="2400" b="1" u="sng" spc="668" dirty="0">
                <a:solidFill>
                  <a:srgbClr val="000000"/>
                </a:solidFill>
                <a:latin typeface="Arial" panose="020B0604020202020204"/>
                <a:cs typeface="Arial" panose="020B0604020202020204"/>
              </a:rPr>
              <a:t> </a:t>
            </a:r>
            <a:r>
              <a:rPr sz="2400" b="1" u="sng" dirty="0">
                <a:solidFill>
                  <a:srgbClr val="000000"/>
                </a:solidFill>
                <a:latin typeface="Arial" panose="020B0604020202020204"/>
                <a:cs typeface="Arial" panose="020B0604020202020204"/>
              </a:rPr>
              <a:t>0</a:t>
            </a:r>
            <a:r>
              <a:rPr sz="2400" b="1" u="sng" spc="667" dirty="0">
                <a:solidFill>
                  <a:srgbClr val="000000"/>
                </a:solidFill>
                <a:latin typeface="Arial" panose="020B0604020202020204"/>
                <a:cs typeface="Arial" panose="020B0604020202020204"/>
              </a:rPr>
              <a:t> </a:t>
            </a:r>
            <a:r>
              <a:rPr sz="2400" b="1" u="sng" dirty="0">
                <a:solidFill>
                  <a:srgbClr val="000000"/>
                </a:solidFill>
                <a:latin typeface="Arial" panose="020B0604020202020204"/>
                <a:cs typeface="Arial" panose="020B0604020202020204"/>
              </a:rPr>
              <a:t>8</a:t>
            </a:r>
            <a:r>
              <a:rPr sz="2400" b="1" u="sng" spc="656" dirty="0">
                <a:solidFill>
                  <a:srgbClr val="000000"/>
                </a:solidFill>
                <a:latin typeface="Arial" panose="020B0604020202020204"/>
                <a:cs typeface="Arial" panose="020B0604020202020204"/>
              </a:rPr>
              <a:t> </a:t>
            </a:r>
            <a:r>
              <a:rPr sz="2400" b="1" u="sng" dirty="0">
                <a:solidFill>
                  <a:srgbClr val="000000"/>
                </a:solidFill>
                <a:latin typeface="Arial" panose="020B0604020202020204"/>
                <a:cs typeface="Arial" panose="020B0604020202020204"/>
              </a:rPr>
              <a:t>13</a:t>
            </a:r>
            <a:r>
              <a:rPr sz="2400" b="1" u="sng" spc="661" dirty="0">
                <a:solidFill>
                  <a:srgbClr val="000000"/>
                </a:solidFill>
                <a:latin typeface="Arial" panose="020B0604020202020204"/>
                <a:cs typeface="Arial" panose="020B0604020202020204"/>
              </a:rPr>
              <a:t> </a:t>
            </a:r>
            <a:r>
              <a:rPr sz="2400" b="1" u="sng" dirty="0">
                <a:solidFill>
                  <a:srgbClr val="000000"/>
                </a:solidFill>
                <a:latin typeface="Arial" panose="020B0604020202020204"/>
                <a:cs typeface="Arial" panose="020B0604020202020204"/>
              </a:rPr>
              <a:t>10</a:t>
            </a:r>
            <a:r>
              <a:rPr sz="2400" b="1" u="sng" spc="1341" dirty="0">
                <a:solidFill>
                  <a:srgbClr val="000000"/>
                </a:solidFill>
                <a:latin typeface="Arial" panose="020B0604020202020204"/>
                <a:cs typeface="Arial" panose="020B0604020202020204"/>
              </a:rPr>
              <a:t> </a:t>
            </a:r>
            <a:r>
              <a:rPr sz="2400" b="1" u="sng" dirty="0">
                <a:solidFill>
                  <a:srgbClr val="000000"/>
                </a:solidFill>
                <a:latin typeface="Arial" panose="020B0604020202020204"/>
                <a:cs typeface="Arial" panose="020B0604020202020204"/>
              </a:rPr>
              <a:t>7 </a:t>
            </a:r>
            <a:r>
              <a:rPr sz="2400" b="1" spc="664" dirty="0">
                <a:solidFill>
                  <a:srgbClr val="000000"/>
                </a:solidFill>
                <a:latin typeface="Arial" panose="020B0604020202020204"/>
                <a:cs typeface="Arial" panose="020B0604020202020204"/>
              </a:rPr>
              <a:t> </a:t>
            </a:r>
            <a:r>
              <a:rPr sz="2400" b="1" dirty="0">
                <a:solidFill>
                  <a:srgbClr val="FF0000"/>
                </a:solidFill>
                <a:latin typeface="Arial" panose="020B0604020202020204"/>
                <a:cs typeface="Arial" panose="020B0604020202020204"/>
              </a:rPr>
              <a:t>27</a:t>
            </a:r>
            <a:r>
              <a:rPr sz="2400" b="1" spc="24" dirty="0">
                <a:solidFill>
                  <a:srgbClr val="FF0000"/>
                </a:solidFill>
                <a:latin typeface="Arial" panose="020B0604020202020204"/>
                <a:cs typeface="Arial" panose="020B0604020202020204"/>
              </a:rPr>
              <a:t> </a:t>
            </a:r>
            <a:r>
              <a:rPr sz="2400" b="1" u="sng" dirty="0">
                <a:solidFill>
                  <a:srgbClr val="000000"/>
                </a:solidFill>
                <a:latin typeface="Arial" panose="020B0604020202020204"/>
                <a:cs typeface="Arial" panose="020B0604020202020204"/>
              </a:rPr>
              <a:t>86</a:t>
            </a:r>
            <a:r>
              <a:rPr sz="2400" b="1" u="sng" spc="661" dirty="0">
                <a:solidFill>
                  <a:srgbClr val="000000"/>
                </a:solidFill>
                <a:latin typeface="Arial" panose="020B0604020202020204"/>
                <a:cs typeface="Arial" panose="020B0604020202020204"/>
              </a:rPr>
              <a:t> </a:t>
            </a:r>
            <a:r>
              <a:rPr sz="2400" b="1" u="sng" dirty="0">
                <a:solidFill>
                  <a:srgbClr val="000000"/>
                </a:solidFill>
                <a:latin typeface="Arial" panose="020B0604020202020204"/>
                <a:cs typeface="Arial" panose="020B0604020202020204"/>
              </a:rPr>
              <a:t>64</a:t>
            </a:r>
            <a:r>
              <a:rPr sz="2400" b="1" u="sng" spc="667" dirty="0">
                <a:solidFill>
                  <a:srgbClr val="000000"/>
                </a:solidFill>
                <a:latin typeface="Arial" panose="020B0604020202020204"/>
                <a:cs typeface="Arial" panose="020B0604020202020204"/>
              </a:rPr>
              <a:t> </a:t>
            </a:r>
            <a:r>
              <a:rPr sz="2400" b="1" u="sng" dirty="0">
                <a:solidFill>
                  <a:srgbClr val="000000"/>
                </a:solidFill>
                <a:latin typeface="Arial" panose="020B0604020202020204"/>
                <a:cs typeface="Arial" panose="020B0604020202020204"/>
              </a:rPr>
              <a:t>88</a:t>
            </a:r>
            <a:r>
              <a:rPr sz="2400" b="1" u="sng" spc="676" dirty="0">
                <a:solidFill>
                  <a:srgbClr val="000000"/>
                </a:solidFill>
                <a:latin typeface="Arial" panose="020B0604020202020204"/>
                <a:cs typeface="Arial" panose="020B0604020202020204"/>
              </a:rPr>
              <a:t> </a:t>
            </a:r>
            <a:r>
              <a:rPr sz="2400" b="1" u="sng" dirty="0">
                <a:solidFill>
                  <a:srgbClr val="000000"/>
                </a:solidFill>
                <a:latin typeface="Arial" panose="020B0604020202020204"/>
                <a:cs typeface="Arial" panose="020B0604020202020204"/>
              </a:rPr>
              <a:t>99</a:t>
            </a:r>
            <a:r>
              <a:rPr sz="2400" b="1" u="sng" spc="661" dirty="0">
                <a:solidFill>
                  <a:srgbClr val="000000"/>
                </a:solidFill>
                <a:latin typeface="Arial" panose="020B0604020202020204"/>
                <a:cs typeface="Arial" panose="020B0604020202020204"/>
              </a:rPr>
              <a:t> </a:t>
            </a:r>
            <a:r>
              <a:rPr sz="2400" b="1" u="sng" dirty="0">
                <a:solidFill>
                  <a:srgbClr val="000000"/>
                </a:solidFill>
                <a:latin typeface="Arial" panose="020B0604020202020204"/>
                <a:cs typeface="Arial" panose="020B0604020202020204"/>
              </a:rPr>
              <a:t>90</a:t>
            </a:r>
            <a:endParaRPr sz="2400" b="1" u="sng" dirty="0">
              <a:solidFill>
                <a:srgbClr val="000000"/>
              </a:solidFill>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5377" y="67235"/>
            <a:ext cx="8839200" cy="604974"/>
          </a:xfrm>
          <a:prstGeom prst="rect">
            <a:avLst/>
          </a:prstGeom>
        </p:spPr>
        <p:txBody>
          <a:bodyPr vert="horz" wrap="square" lIns="0" tIns="0" rIns="0" bIns="0" rtlCol="0">
            <a:spAutoFit/>
          </a:bodyPr>
          <a:lstStyle/>
          <a:p>
            <a:pPr algn="ctr">
              <a:lnSpc>
                <a:spcPts val="5325"/>
              </a:lnSpc>
            </a:pPr>
            <a:r>
              <a:rPr sz="4400" b="1" dirty="0">
                <a:solidFill>
                  <a:srgbClr val="C00000"/>
                </a:solidFill>
                <a:latin typeface="黑体" panose="02010609060101010101" pitchFamily="49" charset="-122"/>
                <a:ea typeface="黑体" panose="02010609060101010101" pitchFamily="49" charset="-122"/>
                <a:cs typeface="CISOIN+ËÎÌå"/>
              </a:rPr>
              <a:t>时间复杂度</a:t>
            </a:r>
            <a:endParaRPr sz="4400" b="1" dirty="0">
              <a:solidFill>
                <a:srgbClr val="C00000"/>
              </a:solidFill>
              <a:latin typeface="黑体" panose="02010609060101010101" pitchFamily="49" charset="-122"/>
              <a:ea typeface="黑体" panose="02010609060101010101" pitchFamily="49" charset="-122"/>
              <a:cs typeface="CISOIN+ËÎÌå"/>
            </a:endParaRPr>
          </a:p>
        </p:txBody>
      </p:sp>
      <p:sp>
        <p:nvSpPr>
          <p:cNvPr id="4" name="object 4"/>
          <p:cNvSpPr txBox="1"/>
          <p:nvPr/>
        </p:nvSpPr>
        <p:spPr>
          <a:xfrm>
            <a:off x="546099" y="1211380"/>
            <a:ext cx="6975899" cy="1179810"/>
          </a:xfrm>
          <a:prstGeom prst="rect">
            <a:avLst/>
          </a:prstGeom>
        </p:spPr>
        <p:txBody>
          <a:bodyPr vert="horz" wrap="square" lIns="0" tIns="0" rIns="0" bIns="0" rtlCol="0">
            <a:spAutoFit/>
          </a:bodyPr>
          <a:lstStyle/>
          <a:p>
            <a:pPr>
              <a:lnSpc>
                <a:spcPts val="4255"/>
              </a:lnSpc>
            </a:pPr>
            <a:r>
              <a:rPr sz="3200" b="1" spc="2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最坏情况</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465" b="1" spc="-37"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W</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465" b="1" spc="-2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W</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endPar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2089150">
              <a:lnSpc>
                <a:spcPts val="3850"/>
              </a:lnSpc>
              <a:spcBef>
                <a:spcPts val="1095"/>
              </a:spcBef>
            </a:pP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W</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3465" b="1" spc="-2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0</a:t>
            </a:r>
            <a:endPar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object 5"/>
          <p:cNvSpPr txBox="1"/>
          <p:nvPr/>
        </p:nvSpPr>
        <p:spPr>
          <a:xfrm>
            <a:off x="2613347" y="2475352"/>
            <a:ext cx="3655236" cy="551433"/>
          </a:xfrm>
          <a:prstGeom prst="rect">
            <a:avLst/>
          </a:prstGeom>
        </p:spPr>
        <p:txBody>
          <a:bodyPr vert="horz" wrap="square" lIns="0" tIns="0" rIns="0" bIns="0" rtlCol="0">
            <a:spAutoFit/>
          </a:bodyPr>
          <a:lstStyle/>
          <a:p>
            <a:pPr>
              <a:lnSpc>
                <a:spcPts val="4255"/>
              </a:lnSpc>
            </a:pP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W</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 </a:t>
            </a: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1)/2</a:t>
            </a:r>
            <a:endPar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object 6"/>
          <p:cNvSpPr txBox="1"/>
          <p:nvPr/>
        </p:nvSpPr>
        <p:spPr>
          <a:xfrm>
            <a:off x="546100" y="3447257"/>
            <a:ext cx="7062747" cy="1179810"/>
          </a:xfrm>
          <a:prstGeom prst="rect">
            <a:avLst/>
          </a:prstGeom>
        </p:spPr>
        <p:txBody>
          <a:bodyPr vert="horz" wrap="square" lIns="0" tIns="0" rIns="0" bIns="0" rtlCol="0">
            <a:spAutoFit/>
          </a:bodyPr>
          <a:lstStyle/>
          <a:p>
            <a:pPr>
              <a:lnSpc>
                <a:spcPts val="4255"/>
              </a:lnSpc>
            </a:pPr>
            <a:r>
              <a:rPr sz="3200" b="1" spc="2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最好划分</a:t>
            </a:r>
            <a:r>
              <a:rPr sz="3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200" b="1" spc="82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465" b="1" spc="-2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2</a:t>
            </a: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endPar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2199005">
              <a:lnSpc>
                <a:spcPts val="3845"/>
              </a:lnSpc>
              <a:spcBef>
                <a:spcPts val="1100"/>
              </a:spcBef>
            </a:pP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3465" b="1" spc="-2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0</a:t>
            </a:r>
            <a:endPar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7" name="object 7"/>
              <p:cNvSpPr txBox="1"/>
              <p:nvPr/>
            </p:nvSpPr>
            <p:spPr>
              <a:xfrm>
                <a:off x="2685561" y="4727426"/>
                <a:ext cx="3725832" cy="551433"/>
              </a:xfrm>
              <a:prstGeom prst="rect">
                <a:avLst/>
              </a:prstGeom>
            </p:spPr>
            <p:txBody>
              <a:bodyPr vert="horz" wrap="square" lIns="0" tIns="0" rIns="0" bIns="0" rtlCol="0">
                <a:spAutoFit/>
              </a:bodyPr>
              <a:lstStyle/>
              <a:p>
                <a:pPr>
                  <a:lnSpc>
                    <a:spcPts val="4255"/>
                  </a:lnSpc>
                </a:pP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465" b="1" spc="-2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465" b="1" spc="2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m:rPr>
                        <m:sty m:val="p"/>
                      </m:rPr>
                      <a:rPr lang="el-GR" sz="3465" b="1" i="1" spc="24">
                        <a:solidFill>
                          <a:srgbClr val="000000"/>
                        </a:solidFill>
                        <a:latin typeface="Cambria Math" panose="02040503050406030204" pitchFamily="18" charset="0"/>
                        <a:ea typeface="Cambria Math" panose="02040503050406030204" pitchFamily="18" charset="0"/>
                        <a:cs typeface="Times New Roman" panose="02020603050405020304"/>
                      </a:rPr>
                      <m:t>Θ</m:t>
                    </m:r>
                  </m:oMath>
                </a14:m>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log</a:t>
                </a:r>
                <a:r>
                  <a:rPr sz="3465"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sz="3465"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7" name="object 7"/>
              <p:cNvSpPr txBox="1">
                <a:spLocks noRot="1" noChangeAspect="1" noMove="1" noResize="1" noEditPoints="1" noAdjustHandles="1" noChangeArrowheads="1" noChangeShapeType="1" noTextEdit="1"/>
              </p:cNvSpPr>
              <p:nvPr/>
            </p:nvSpPr>
            <p:spPr>
              <a:xfrm>
                <a:off x="2685561" y="4727426"/>
                <a:ext cx="3725832" cy="551433"/>
              </a:xfrm>
              <a:prstGeom prst="rect">
                <a:avLst/>
              </a:prstGeom>
              <a:blipFill rotWithShape="1">
                <a:blip r:embed="rId1"/>
                <a:stretch>
                  <a:fillRect l="-4" t="-88" r="12" b="1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63814" y="67235"/>
            <a:ext cx="8912772" cy="604974"/>
          </a:xfrm>
          <a:prstGeom prst="rect">
            <a:avLst/>
          </a:prstGeom>
        </p:spPr>
        <p:txBody>
          <a:bodyPr vert="horz" wrap="square" lIns="0" tIns="0" rIns="0" bIns="0" rtlCol="0">
            <a:spAutoFit/>
          </a:bodyPr>
          <a:lstStyle/>
          <a:p>
            <a:pPr algn="ctr">
              <a:lnSpc>
                <a:spcPts val="5325"/>
              </a:lnSpc>
            </a:pPr>
            <a:r>
              <a:rPr sz="4400" b="1" dirty="0">
                <a:solidFill>
                  <a:srgbClr val="C00000"/>
                </a:solidFill>
                <a:latin typeface="黑体" panose="02010609060101010101" pitchFamily="49" charset="-122"/>
                <a:ea typeface="黑体" panose="02010609060101010101" pitchFamily="49" charset="-122"/>
                <a:cs typeface="CISOIN+ËÎÌå"/>
              </a:rPr>
              <a:t>均衡划分的时间复杂度</a:t>
            </a:r>
            <a:endParaRPr sz="4400" b="1" dirty="0">
              <a:solidFill>
                <a:srgbClr val="C00000"/>
              </a:solidFill>
              <a:latin typeface="黑体" panose="02010609060101010101" pitchFamily="49" charset="-122"/>
              <a:ea typeface="黑体" panose="02010609060101010101" pitchFamily="49" charset="-122"/>
              <a:cs typeface="CISOIN+ËÎÌå"/>
            </a:endParaRPr>
          </a:p>
        </p:txBody>
      </p:sp>
      <p:sp>
        <p:nvSpPr>
          <p:cNvPr id="4" name="object 4"/>
          <p:cNvSpPr txBox="1"/>
          <p:nvPr/>
        </p:nvSpPr>
        <p:spPr>
          <a:xfrm>
            <a:off x="546100" y="1108273"/>
            <a:ext cx="8530486" cy="974626"/>
          </a:xfrm>
          <a:prstGeom prst="rect">
            <a:avLst/>
          </a:prstGeom>
        </p:spPr>
        <p:txBody>
          <a:bodyPr vert="horz" wrap="square" lIns="0" tIns="0" rIns="0" bIns="0" rtlCol="0">
            <a:spAutoFit/>
          </a:bodyPr>
          <a:lstStyle/>
          <a:p>
            <a:pPr>
              <a:lnSpc>
                <a:spcPts val="3470"/>
              </a:lnSpc>
            </a:pPr>
            <a:r>
              <a:rPr sz="3200" b="1" spc="20" dirty="0" err="1">
                <a:solidFill>
                  <a:srgbClr val="000000"/>
                </a:solidFill>
                <a:latin typeface="黑体" panose="02010609060101010101" pitchFamily="49" charset="-122"/>
                <a:ea typeface="黑体" panose="02010609060101010101" pitchFamily="49" charset="-122"/>
                <a:cs typeface="CISOIN+ËÎÌå"/>
              </a:rPr>
              <a:t>均衡划分：子问题</a:t>
            </a:r>
            <a:r>
              <a:rPr lang="zh-CN" altLang="en-US" sz="3200" b="1" spc="20" dirty="0">
                <a:solidFill>
                  <a:srgbClr val="000000"/>
                </a:solidFill>
                <a:latin typeface="黑体" panose="02010609060101010101" pitchFamily="49" charset="-122"/>
                <a:ea typeface="黑体" panose="02010609060101010101" pitchFamily="49" charset="-122"/>
                <a:cs typeface="CISOIN+ËÎÌå"/>
              </a:rPr>
              <a:t>大小不一样，但</a:t>
            </a:r>
            <a:r>
              <a:rPr sz="3200" b="1" spc="20" dirty="0" err="1">
                <a:solidFill>
                  <a:srgbClr val="000000"/>
                </a:solidFill>
                <a:latin typeface="黑体" panose="02010609060101010101" pitchFamily="49" charset="-122"/>
                <a:ea typeface="黑体" panose="02010609060101010101" pitchFamily="49" charset="-122"/>
                <a:cs typeface="CISOIN+ËÎÌå"/>
              </a:rPr>
              <a:t>规模比不变</a:t>
            </a:r>
            <a:endParaRPr sz="3200" b="1" spc="20" dirty="0">
              <a:solidFill>
                <a:srgbClr val="000000"/>
              </a:solidFill>
              <a:latin typeface="黑体" panose="02010609060101010101" pitchFamily="49" charset="-122"/>
              <a:ea typeface="黑体" panose="02010609060101010101" pitchFamily="49" charset="-122"/>
              <a:cs typeface="CISOIN+ËÎÌå"/>
            </a:endParaRPr>
          </a:p>
          <a:p>
            <a:pPr>
              <a:lnSpc>
                <a:spcPts val="3850"/>
              </a:lnSpc>
              <a:spcBef>
                <a:spcPts val="315"/>
              </a:spcBef>
            </a:pPr>
            <a:r>
              <a:rPr sz="3200" b="1" spc="20" dirty="0">
                <a:solidFill>
                  <a:srgbClr val="000000"/>
                </a:solidFill>
                <a:latin typeface="黑体" panose="02010609060101010101" pitchFamily="49" charset="-122"/>
                <a:ea typeface="黑体" panose="02010609060101010101" pitchFamily="49" charset="-122"/>
                <a:cs typeface="CISOIN+ËÎÌå"/>
              </a:rPr>
              <a:t>例如为</a:t>
            </a:r>
            <a:r>
              <a:rPr sz="3200" b="1" spc="-31" dirty="0">
                <a:solidFill>
                  <a:srgbClr val="000000"/>
                </a:solidFill>
                <a:latin typeface="黑体" panose="02010609060101010101" pitchFamily="49" charset="-122"/>
                <a:ea typeface="黑体" panose="02010609060101010101" pitchFamily="49" charset="-122"/>
                <a:cs typeface="Times New Roman" panose="02020603050405020304"/>
              </a:rPr>
              <a:t> </a:t>
            </a:r>
            <a:r>
              <a:rPr sz="3200" b="1" dirty="0">
                <a:solidFill>
                  <a:srgbClr val="000000"/>
                </a:solidFill>
                <a:latin typeface="宋体" panose="02010600030101010101" pitchFamily="2" charset="-122"/>
                <a:ea typeface="宋体" panose="02010600030101010101" pitchFamily="2" charset="-122"/>
                <a:cs typeface="Times New Roman" panose="02020603050405020304"/>
              </a:rPr>
              <a:t>1:9</a:t>
            </a:r>
            <a:endParaRPr sz="3200" b="1" dirty="0">
              <a:solidFill>
                <a:srgbClr val="000000"/>
              </a:solidFill>
              <a:latin typeface="宋体" panose="02010600030101010101" pitchFamily="2" charset="-122"/>
              <a:ea typeface="宋体" panose="02010600030101010101" pitchFamily="2" charset="-122"/>
              <a:cs typeface="Times New Roman" panose="02020603050405020304"/>
            </a:endParaRPr>
          </a:p>
        </p:txBody>
      </p:sp>
      <p:sp>
        <p:nvSpPr>
          <p:cNvPr id="5" name="object 5"/>
          <p:cNvSpPr txBox="1"/>
          <p:nvPr/>
        </p:nvSpPr>
        <p:spPr>
          <a:xfrm>
            <a:off x="1549089" y="2327509"/>
            <a:ext cx="6242220" cy="1218282"/>
          </a:xfrm>
          <a:prstGeom prst="rect">
            <a:avLst/>
          </a:prstGeom>
        </p:spPr>
        <p:txBody>
          <a:bodyPr vert="horz" wrap="square" lIns="0" tIns="0" rIns="0" bIns="0" rtlCol="0">
            <a:spAutoFit/>
          </a:bodyPr>
          <a:lstStyle/>
          <a:p>
            <a:pPr>
              <a:lnSpc>
                <a:spcPts val="3845"/>
              </a:lnSpc>
            </a:pPr>
            <a:r>
              <a:rPr sz="3465" b="1" i="1" spc="13" dirty="0">
                <a:solidFill>
                  <a:srgbClr val="000000"/>
                </a:solidFill>
                <a:latin typeface="Times New Roman" panose="02020603050405020304"/>
                <a:cs typeface="Times New Roman" panose="02020603050405020304"/>
              </a:rPr>
              <a:t>T</a:t>
            </a:r>
            <a:r>
              <a:rPr sz="3465" b="1" dirty="0">
                <a:solidFill>
                  <a:srgbClr val="000000"/>
                </a:solidFill>
                <a:latin typeface="Times New Roman" panose="02020603050405020304"/>
                <a:cs typeface="Times New Roman" panose="02020603050405020304"/>
              </a:rPr>
              <a:t>(</a:t>
            </a:r>
            <a:r>
              <a:rPr sz="3465" b="1" i="1" dirty="0">
                <a:solidFill>
                  <a:srgbClr val="000000"/>
                </a:solidFill>
                <a:latin typeface="Times New Roman" panose="02020603050405020304"/>
                <a:cs typeface="Times New Roman" panose="02020603050405020304"/>
              </a:rPr>
              <a:t>n</a:t>
            </a:r>
            <a:r>
              <a:rPr sz="3465" b="1" dirty="0">
                <a:solidFill>
                  <a:srgbClr val="000000"/>
                </a:solidFill>
                <a:latin typeface="Times New Roman" panose="02020603050405020304"/>
                <a:cs typeface="Times New Roman" panose="02020603050405020304"/>
              </a:rPr>
              <a:t>)</a:t>
            </a:r>
            <a:r>
              <a:rPr sz="3465" b="1" spc="-20" dirty="0">
                <a:solidFill>
                  <a:srgbClr val="000000"/>
                </a:solidFill>
                <a:latin typeface="Times New Roman" panose="02020603050405020304"/>
                <a:cs typeface="Times New Roman" panose="02020603050405020304"/>
              </a:rPr>
              <a:t> </a:t>
            </a:r>
            <a:r>
              <a:rPr sz="3465" b="1" dirty="0">
                <a:solidFill>
                  <a:srgbClr val="000000"/>
                </a:solidFill>
                <a:latin typeface="Times New Roman" panose="02020603050405020304"/>
                <a:cs typeface="Times New Roman" panose="02020603050405020304"/>
              </a:rPr>
              <a:t>= </a:t>
            </a:r>
            <a:r>
              <a:rPr sz="3465" b="1" i="1" dirty="0">
                <a:solidFill>
                  <a:srgbClr val="000000"/>
                </a:solidFill>
                <a:latin typeface="Times New Roman" panose="02020603050405020304"/>
                <a:cs typeface="Times New Roman" panose="02020603050405020304"/>
              </a:rPr>
              <a:t>T</a:t>
            </a:r>
            <a:r>
              <a:rPr sz="3465" b="1" dirty="0">
                <a:solidFill>
                  <a:srgbClr val="000000"/>
                </a:solidFill>
                <a:latin typeface="Times New Roman" panose="02020603050405020304"/>
                <a:cs typeface="Times New Roman" panose="02020603050405020304"/>
              </a:rPr>
              <a:t>(</a:t>
            </a:r>
            <a:r>
              <a:rPr sz="3465" b="1" i="1" dirty="0">
                <a:solidFill>
                  <a:srgbClr val="000000"/>
                </a:solidFill>
                <a:latin typeface="Times New Roman" panose="02020603050405020304"/>
                <a:cs typeface="Times New Roman" panose="02020603050405020304"/>
              </a:rPr>
              <a:t>n</a:t>
            </a:r>
            <a:r>
              <a:rPr sz="3465" b="1" dirty="0">
                <a:solidFill>
                  <a:srgbClr val="000000"/>
                </a:solidFill>
                <a:latin typeface="Times New Roman" panose="02020603050405020304"/>
                <a:cs typeface="Times New Roman" panose="02020603050405020304"/>
              </a:rPr>
              <a:t>/10)</a:t>
            </a:r>
            <a:r>
              <a:rPr sz="3465" b="1" spc="-44" dirty="0">
                <a:solidFill>
                  <a:srgbClr val="000000"/>
                </a:solidFill>
                <a:latin typeface="Times New Roman" panose="02020603050405020304"/>
                <a:cs typeface="Times New Roman" panose="02020603050405020304"/>
              </a:rPr>
              <a:t> </a:t>
            </a:r>
            <a:r>
              <a:rPr sz="3465" b="1" dirty="0">
                <a:solidFill>
                  <a:srgbClr val="000000"/>
                </a:solidFill>
                <a:latin typeface="Times New Roman" panose="02020603050405020304"/>
                <a:cs typeface="Times New Roman" panose="02020603050405020304"/>
              </a:rPr>
              <a:t>+</a:t>
            </a:r>
            <a:r>
              <a:rPr sz="3465" b="1" spc="13" dirty="0">
                <a:solidFill>
                  <a:srgbClr val="000000"/>
                </a:solidFill>
                <a:latin typeface="Times New Roman" panose="02020603050405020304"/>
                <a:cs typeface="Times New Roman" panose="02020603050405020304"/>
              </a:rPr>
              <a:t> </a:t>
            </a:r>
            <a:r>
              <a:rPr sz="3465" b="1" i="1" dirty="0">
                <a:solidFill>
                  <a:srgbClr val="000000"/>
                </a:solidFill>
                <a:latin typeface="Times New Roman" panose="02020603050405020304"/>
                <a:cs typeface="Times New Roman" panose="02020603050405020304"/>
              </a:rPr>
              <a:t>T</a:t>
            </a:r>
            <a:r>
              <a:rPr sz="3465" b="1" dirty="0">
                <a:solidFill>
                  <a:srgbClr val="000000"/>
                </a:solidFill>
                <a:latin typeface="Times New Roman" panose="02020603050405020304"/>
                <a:cs typeface="Times New Roman" panose="02020603050405020304"/>
              </a:rPr>
              <a:t>(9</a:t>
            </a:r>
            <a:r>
              <a:rPr sz="3465" b="1" i="1" dirty="0">
                <a:solidFill>
                  <a:srgbClr val="000000"/>
                </a:solidFill>
                <a:latin typeface="Times New Roman" panose="02020603050405020304"/>
                <a:cs typeface="Times New Roman" panose="02020603050405020304"/>
              </a:rPr>
              <a:t>n</a:t>
            </a:r>
            <a:r>
              <a:rPr sz="3465" b="1" dirty="0">
                <a:solidFill>
                  <a:srgbClr val="000000"/>
                </a:solidFill>
                <a:latin typeface="Times New Roman" panose="02020603050405020304"/>
                <a:cs typeface="Times New Roman" panose="02020603050405020304"/>
              </a:rPr>
              <a:t>/10)</a:t>
            </a:r>
            <a:r>
              <a:rPr sz="3465" b="1" spc="-44" dirty="0">
                <a:solidFill>
                  <a:srgbClr val="000000"/>
                </a:solidFill>
                <a:latin typeface="Times New Roman" panose="02020603050405020304"/>
                <a:cs typeface="Times New Roman" panose="02020603050405020304"/>
              </a:rPr>
              <a:t> </a:t>
            </a:r>
            <a:r>
              <a:rPr sz="3465" b="1" dirty="0">
                <a:solidFill>
                  <a:srgbClr val="000000"/>
                </a:solidFill>
                <a:latin typeface="Times New Roman" panose="02020603050405020304"/>
                <a:cs typeface="Times New Roman" panose="02020603050405020304"/>
              </a:rPr>
              <a:t>+</a:t>
            </a:r>
            <a:r>
              <a:rPr sz="3465" b="1" spc="13" dirty="0">
                <a:solidFill>
                  <a:srgbClr val="000000"/>
                </a:solidFill>
                <a:latin typeface="Times New Roman" panose="02020603050405020304"/>
                <a:cs typeface="Times New Roman" panose="02020603050405020304"/>
              </a:rPr>
              <a:t> </a:t>
            </a:r>
            <a:r>
              <a:rPr sz="3465" b="1" i="1" dirty="0">
                <a:solidFill>
                  <a:srgbClr val="000000"/>
                </a:solidFill>
                <a:latin typeface="Times New Roman" panose="02020603050405020304"/>
                <a:cs typeface="Times New Roman" panose="02020603050405020304"/>
              </a:rPr>
              <a:t>n</a:t>
            </a:r>
            <a:endParaRPr sz="3465" b="1" i="1" dirty="0">
              <a:solidFill>
                <a:srgbClr val="000000"/>
              </a:solidFill>
              <a:latin typeface="Times New Roman" panose="02020603050405020304"/>
              <a:cs typeface="Times New Roman" panose="02020603050405020304"/>
            </a:endParaRPr>
          </a:p>
          <a:p>
            <a:pPr>
              <a:lnSpc>
                <a:spcPts val="3845"/>
              </a:lnSpc>
              <a:spcBef>
                <a:spcPts val="1865"/>
              </a:spcBef>
            </a:pPr>
            <a:r>
              <a:rPr sz="3465" b="1" i="1" spc="13" dirty="0">
                <a:solidFill>
                  <a:srgbClr val="000000"/>
                </a:solidFill>
                <a:latin typeface="Times New Roman" panose="02020603050405020304"/>
                <a:cs typeface="Times New Roman" panose="02020603050405020304"/>
              </a:rPr>
              <a:t>T</a:t>
            </a:r>
            <a:r>
              <a:rPr sz="3465" b="1" dirty="0">
                <a:solidFill>
                  <a:srgbClr val="000000"/>
                </a:solidFill>
                <a:latin typeface="Times New Roman" panose="02020603050405020304"/>
                <a:cs typeface="Times New Roman" panose="02020603050405020304"/>
              </a:rPr>
              <a:t>(1)</a:t>
            </a:r>
            <a:r>
              <a:rPr sz="3465" b="1" spc="-33" dirty="0">
                <a:solidFill>
                  <a:srgbClr val="000000"/>
                </a:solidFill>
                <a:latin typeface="Times New Roman" panose="02020603050405020304"/>
                <a:cs typeface="Times New Roman" panose="02020603050405020304"/>
              </a:rPr>
              <a:t> </a:t>
            </a:r>
            <a:r>
              <a:rPr sz="3465" b="1" dirty="0">
                <a:solidFill>
                  <a:srgbClr val="000000"/>
                </a:solidFill>
                <a:latin typeface="Times New Roman" panose="02020603050405020304"/>
                <a:cs typeface="Times New Roman" panose="02020603050405020304"/>
              </a:rPr>
              <a:t>= 0</a:t>
            </a:r>
            <a:endParaRPr sz="3465" b="1" dirty="0">
              <a:solidFill>
                <a:srgbClr val="000000"/>
              </a:solidFill>
              <a:latin typeface="Times New Roman" panose="02020603050405020304"/>
              <a:cs typeface="Times New Roman" panose="02020603050405020304"/>
            </a:endParaRPr>
          </a:p>
        </p:txBody>
      </p:sp>
      <p:sp>
        <p:nvSpPr>
          <p:cNvPr id="6" name="object 6"/>
          <p:cNvSpPr txBox="1"/>
          <p:nvPr/>
        </p:nvSpPr>
        <p:spPr>
          <a:xfrm>
            <a:off x="546100" y="4038928"/>
            <a:ext cx="8432126" cy="448841"/>
          </a:xfrm>
          <a:prstGeom prst="rect">
            <a:avLst/>
          </a:prstGeom>
        </p:spPr>
        <p:txBody>
          <a:bodyPr vert="horz" wrap="square" lIns="0" tIns="0" rIns="0" bIns="0" rtlCol="0">
            <a:spAutoFit/>
          </a:bodyPr>
          <a:lstStyle/>
          <a:p>
            <a:pPr>
              <a:lnSpc>
                <a:spcPts val="3470"/>
              </a:lnSpc>
            </a:pPr>
            <a:r>
              <a:rPr sz="3200" b="1" spc="20" dirty="0">
                <a:solidFill>
                  <a:srgbClr val="000000"/>
                </a:solidFill>
                <a:latin typeface="黑体" panose="02010609060101010101" pitchFamily="49" charset="-122"/>
                <a:ea typeface="黑体" panose="02010609060101010101" pitchFamily="49" charset="-122"/>
                <a:cs typeface="CISOIN+ËÎÌå"/>
              </a:rPr>
              <a:t>根据递归树，时间复杂度</a:t>
            </a:r>
            <a:endParaRPr sz="3200" b="1" spc="20" dirty="0">
              <a:solidFill>
                <a:srgbClr val="000000"/>
              </a:solidFill>
              <a:latin typeface="黑体" panose="02010609060101010101" pitchFamily="49" charset="-122"/>
              <a:ea typeface="黑体" panose="02010609060101010101" pitchFamily="49" charset="-122"/>
              <a:cs typeface="CISOIN+ËÎÌå"/>
            </a:endParaRPr>
          </a:p>
        </p:txBody>
      </p:sp>
      <mc:AlternateContent xmlns:mc="http://schemas.openxmlformats.org/markup-compatibility/2006">
        <mc:Choice xmlns:a14="http://schemas.microsoft.com/office/drawing/2010/main" Requires="a14">
          <p:sp>
            <p:nvSpPr>
              <p:cNvPr id="7" name="object 7"/>
              <p:cNvSpPr txBox="1"/>
              <p:nvPr/>
            </p:nvSpPr>
            <p:spPr>
              <a:xfrm>
                <a:off x="1633715" y="4498738"/>
                <a:ext cx="3833528" cy="551433"/>
              </a:xfrm>
              <a:prstGeom prst="rect">
                <a:avLst/>
              </a:prstGeom>
            </p:spPr>
            <p:txBody>
              <a:bodyPr vert="horz" wrap="square" lIns="0" tIns="0" rIns="0" bIns="0" rtlCol="0">
                <a:spAutoFit/>
              </a:bodyPr>
              <a:lstStyle/>
              <a:p>
                <a:pPr>
                  <a:lnSpc>
                    <a:spcPts val="4255"/>
                  </a:lnSpc>
                </a:pPr>
                <a:r>
                  <a:rPr sz="3465" b="1" i="1" dirty="0">
                    <a:solidFill>
                      <a:srgbClr val="000000"/>
                    </a:solidFill>
                    <a:latin typeface="Times New Roman" panose="02020603050405020304"/>
                    <a:cs typeface="Times New Roman" panose="02020603050405020304"/>
                  </a:rPr>
                  <a:t>T</a:t>
                </a:r>
                <a:r>
                  <a:rPr sz="3465" b="1" dirty="0">
                    <a:solidFill>
                      <a:srgbClr val="000000"/>
                    </a:solidFill>
                    <a:latin typeface="Times New Roman" panose="02020603050405020304"/>
                    <a:cs typeface="Times New Roman" panose="02020603050405020304"/>
                  </a:rPr>
                  <a:t>(</a:t>
                </a:r>
                <a:r>
                  <a:rPr sz="3465" b="1" i="1" dirty="0">
                    <a:solidFill>
                      <a:srgbClr val="000000"/>
                    </a:solidFill>
                    <a:latin typeface="Times New Roman" panose="02020603050405020304"/>
                    <a:cs typeface="Times New Roman" panose="02020603050405020304"/>
                  </a:rPr>
                  <a:t>n</a:t>
                </a:r>
                <a:r>
                  <a:rPr sz="3465" b="1" dirty="0">
                    <a:solidFill>
                      <a:srgbClr val="000000"/>
                    </a:solidFill>
                    <a:latin typeface="Times New Roman" panose="02020603050405020304"/>
                    <a:cs typeface="Times New Roman" panose="02020603050405020304"/>
                  </a:rPr>
                  <a:t>)</a:t>
                </a:r>
                <a:r>
                  <a:rPr sz="3465" b="1" spc="-20" dirty="0">
                    <a:solidFill>
                      <a:srgbClr val="000000"/>
                    </a:solidFill>
                    <a:latin typeface="Times New Roman" panose="02020603050405020304"/>
                    <a:cs typeface="Times New Roman" panose="02020603050405020304"/>
                  </a:rPr>
                  <a:t> </a:t>
                </a:r>
                <a:r>
                  <a:rPr sz="3465" b="1" dirty="0">
                    <a:solidFill>
                      <a:srgbClr val="000000"/>
                    </a:solidFill>
                    <a:latin typeface="Times New Roman" panose="02020603050405020304"/>
                    <a:cs typeface="Times New Roman" panose="02020603050405020304"/>
                  </a:rPr>
                  <a:t>= </a:t>
                </a:r>
                <a14:m>
                  <m:oMath xmlns:m="http://schemas.openxmlformats.org/officeDocument/2006/math">
                    <m:r>
                      <m:rPr>
                        <m:sty m:val="p"/>
                      </m:rPr>
                      <a:rPr lang="el-GR" sz="3465" b="1" i="1">
                        <a:solidFill>
                          <a:srgbClr val="000000"/>
                        </a:solidFill>
                        <a:latin typeface="Cambria Math" panose="02040503050406030204" pitchFamily="18" charset="0"/>
                        <a:ea typeface="Cambria Math" panose="02040503050406030204" pitchFamily="18" charset="0"/>
                        <a:cs typeface="Times New Roman" panose="02020603050405020304"/>
                      </a:rPr>
                      <m:t>Θ</m:t>
                    </m:r>
                  </m:oMath>
                </a14:m>
                <a:r>
                  <a:rPr sz="3465" b="1" dirty="0">
                    <a:solidFill>
                      <a:srgbClr val="000000"/>
                    </a:solidFill>
                    <a:latin typeface="Times New Roman" panose="02020603050405020304"/>
                    <a:cs typeface="Times New Roman" panose="02020603050405020304"/>
                  </a:rPr>
                  <a:t>(</a:t>
                </a:r>
                <a:r>
                  <a:rPr sz="3465" b="1" i="1" dirty="0">
                    <a:solidFill>
                      <a:srgbClr val="000000"/>
                    </a:solidFill>
                    <a:latin typeface="Times New Roman" panose="02020603050405020304"/>
                    <a:cs typeface="Times New Roman" panose="02020603050405020304"/>
                  </a:rPr>
                  <a:t>n</a:t>
                </a:r>
                <a:r>
                  <a:rPr sz="3465" b="1" dirty="0">
                    <a:solidFill>
                      <a:srgbClr val="000000"/>
                    </a:solidFill>
                    <a:latin typeface="Times New Roman" panose="02020603050405020304"/>
                    <a:cs typeface="Times New Roman" panose="02020603050405020304"/>
                  </a:rPr>
                  <a:t>log </a:t>
                </a:r>
                <a:r>
                  <a:rPr sz="3465" b="1" i="1" dirty="0">
                    <a:solidFill>
                      <a:srgbClr val="000000"/>
                    </a:solidFill>
                    <a:latin typeface="Times New Roman" panose="02020603050405020304"/>
                    <a:cs typeface="Times New Roman" panose="02020603050405020304"/>
                  </a:rPr>
                  <a:t>n</a:t>
                </a:r>
                <a:r>
                  <a:rPr sz="3465" b="1" dirty="0">
                    <a:solidFill>
                      <a:srgbClr val="000000"/>
                    </a:solidFill>
                    <a:latin typeface="Times New Roman" panose="02020603050405020304"/>
                    <a:cs typeface="Times New Roman" panose="02020603050405020304"/>
                  </a:rPr>
                  <a:t>)</a:t>
                </a:r>
                <a:endParaRPr sz="3465" b="1" dirty="0">
                  <a:solidFill>
                    <a:srgbClr val="000000"/>
                  </a:solidFill>
                  <a:latin typeface="Times New Roman" panose="02020603050405020304"/>
                  <a:cs typeface="Times New Roman" panose="02020603050405020304"/>
                </a:endParaRPr>
              </a:p>
            </p:txBody>
          </p:sp>
        </mc:Choice>
        <mc:Fallback>
          <p:sp>
            <p:nvSpPr>
              <p:cNvPr id="7" name="object 7"/>
              <p:cNvSpPr txBox="1">
                <a:spLocks noRot="1" noChangeAspect="1" noMove="1" noResize="1" noEditPoints="1" noAdjustHandles="1" noChangeArrowheads="1" noChangeShapeType="1" noTextEdit="1"/>
              </p:cNvSpPr>
              <p:nvPr/>
            </p:nvSpPr>
            <p:spPr>
              <a:xfrm>
                <a:off x="1633715" y="4498738"/>
                <a:ext cx="3833528" cy="551433"/>
              </a:xfrm>
              <a:prstGeom prst="rect">
                <a:avLst/>
              </a:prstGeom>
              <a:blipFill rotWithShape="1">
                <a:blip r:embed="rId1"/>
                <a:stretch>
                  <a:fillRect l="-13" t="-72" r="14" b="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42794" y="57268"/>
            <a:ext cx="8849709" cy="604974"/>
          </a:xfrm>
          <a:prstGeom prst="rect">
            <a:avLst/>
          </a:prstGeom>
        </p:spPr>
        <p:txBody>
          <a:bodyPr vert="horz" wrap="square" lIns="0" tIns="0" rIns="0" bIns="0" rtlCol="0">
            <a:spAutoFit/>
          </a:bodyPr>
          <a:lstStyle/>
          <a:p>
            <a:pPr algn="ctr">
              <a:lnSpc>
                <a:spcPts val="5325"/>
              </a:lnSpc>
            </a:pPr>
            <a:r>
              <a:rPr sz="4400" b="1" spc="13" dirty="0">
                <a:solidFill>
                  <a:srgbClr val="C00000"/>
                </a:solidFill>
                <a:latin typeface="黑体" panose="02010609060101010101" pitchFamily="49" charset="-122"/>
                <a:ea typeface="黑体" panose="02010609060101010101" pitchFamily="49" charset="-122"/>
                <a:cs typeface="CISOIN+ËÎÌå"/>
              </a:rPr>
              <a:t>递归树</a:t>
            </a:r>
            <a:endParaRPr sz="4400" b="1" spc="13" dirty="0">
              <a:solidFill>
                <a:srgbClr val="C00000"/>
              </a:solidFill>
              <a:latin typeface="黑体" panose="02010609060101010101" pitchFamily="49" charset="-122"/>
              <a:ea typeface="黑体" panose="02010609060101010101" pitchFamily="49" charset="-122"/>
              <a:cs typeface="CISOIN+ËÎÌå"/>
            </a:endParaRPr>
          </a:p>
        </p:txBody>
      </p:sp>
      <p:sp>
        <p:nvSpPr>
          <p:cNvPr id="4" name="object 4"/>
          <p:cNvSpPr txBox="1"/>
          <p:nvPr/>
        </p:nvSpPr>
        <p:spPr>
          <a:xfrm>
            <a:off x="2762301" y="1331439"/>
            <a:ext cx="835620" cy="448841"/>
          </a:xfrm>
          <a:prstGeom prst="rect">
            <a:avLst/>
          </a:prstGeom>
        </p:spPr>
        <p:txBody>
          <a:bodyPr vert="horz" wrap="square" lIns="0" tIns="0" rIns="0" bIns="0" rtlCol="0">
            <a:spAutoFit/>
          </a:bodyPr>
          <a:lstStyle/>
          <a:p>
            <a:pPr>
              <a:lnSpc>
                <a:spcPts val="3545"/>
              </a:lnSpc>
            </a:pPr>
            <a:r>
              <a:rPr sz="3200" b="1" i="1" dirty="0">
                <a:solidFill>
                  <a:srgbClr val="000000"/>
                </a:solidFill>
                <a:latin typeface="Times New Roman" panose="02020603050405020304"/>
                <a:cs typeface="Times New Roman" panose="02020603050405020304"/>
              </a:rPr>
              <a:t>n</a:t>
            </a:r>
            <a:endParaRPr sz="3200" b="1" i="1" dirty="0">
              <a:solidFill>
                <a:srgbClr val="000000"/>
              </a:solidFill>
              <a:latin typeface="Times New Roman" panose="02020603050405020304"/>
              <a:cs typeface="Times New Roman" panose="02020603050405020304"/>
            </a:endParaRPr>
          </a:p>
        </p:txBody>
      </p:sp>
      <p:sp>
        <p:nvSpPr>
          <p:cNvPr id="5" name="object 5"/>
          <p:cNvSpPr txBox="1"/>
          <p:nvPr/>
        </p:nvSpPr>
        <p:spPr>
          <a:xfrm>
            <a:off x="6216705" y="1331435"/>
            <a:ext cx="1399777" cy="1166986"/>
          </a:xfrm>
          <a:prstGeom prst="rect">
            <a:avLst/>
          </a:prstGeom>
        </p:spPr>
        <p:txBody>
          <a:bodyPr vert="horz" wrap="square" lIns="0" tIns="0" rIns="0" bIns="0" rtlCol="0">
            <a:spAutoFit/>
          </a:bodyPr>
          <a:lstStyle/>
          <a:p>
            <a:pPr>
              <a:lnSpc>
                <a:spcPts val="3545"/>
              </a:lnSpc>
            </a:pPr>
            <a:r>
              <a:rPr sz="3200" b="1" i="1" dirty="0">
                <a:solidFill>
                  <a:srgbClr val="C00000"/>
                </a:solidFill>
                <a:latin typeface="Times New Roman" panose="02020603050405020304"/>
                <a:cs typeface="Times New Roman" panose="02020603050405020304"/>
              </a:rPr>
              <a:t>O</a:t>
            </a:r>
            <a:r>
              <a:rPr sz="3200" b="1" dirty="0">
                <a:solidFill>
                  <a:srgbClr val="C00000"/>
                </a:solidFill>
                <a:latin typeface="Times New Roman" panose="02020603050405020304"/>
                <a:cs typeface="Times New Roman" panose="02020603050405020304"/>
              </a:rPr>
              <a:t>(</a:t>
            </a:r>
            <a:r>
              <a:rPr sz="3200" b="1" i="1" dirty="0">
                <a:solidFill>
                  <a:srgbClr val="C00000"/>
                </a:solidFill>
                <a:latin typeface="Times New Roman" panose="02020603050405020304"/>
                <a:cs typeface="Times New Roman" panose="02020603050405020304"/>
              </a:rPr>
              <a:t>n</a:t>
            </a:r>
            <a:r>
              <a:rPr sz="3200" b="1" dirty="0">
                <a:solidFill>
                  <a:srgbClr val="C00000"/>
                </a:solidFill>
                <a:latin typeface="Times New Roman" panose="02020603050405020304"/>
                <a:cs typeface="Times New Roman" panose="02020603050405020304"/>
              </a:rPr>
              <a:t>)</a:t>
            </a:r>
            <a:endParaRPr sz="3200" b="1" dirty="0">
              <a:solidFill>
                <a:srgbClr val="C00000"/>
              </a:solidFill>
              <a:latin typeface="Times New Roman" panose="02020603050405020304"/>
              <a:cs typeface="Times New Roman" panose="02020603050405020304"/>
            </a:endParaRPr>
          </a:p>
          <a:p>
            <a:pPr>
              <a:lnSpc>
                <a:spcPts val="3545"/>
              </a:lnSpc>
              <a:spcBef>
                <a:spcPts val="2055"/>
              </a:spcBef>
            </a:pPr>
            <a:r>
              <a:rPr sz="3200" b="1" i="1" dirty="0">
                <a:solidFill>
                  <a:srgbClr val="C00000"/>
                </a:solidFill>
                <a:latin typeface="Times New Roman" panose="02020603050405020304"/>
                <a:cs typeface="Times New Roman" panose="02020603050405020304"/>
              </a:rPr>
              <a:t>O</a:t>
            </a:r>
            <a:r>
              <a:rPr sz="3200" b="1" dirty="0">
                <a:solidFill>
                  <a:srgbClr val="C00000"/>
                </a:solidFill>
                <a:latin typeface="Times New Roman" panose="02020603050405020304"/>
                <a:cs typeface="Times New Roman" panose="02020603050405020304"/>
              </a:rPr>
              <a:t>(</a:t>
            </a:r>
            <a:r>
              <a:rPr sz="3200" b="1" i="1" dirty="0">
                <a:solidFill>
                  <a:srgbClr val="C00000"/>
                </a:solidFill>
                <a:latin typeface="Times New Roman" panose="02020603050405020304"/>
                <a:cs typeface="Times New Roman" panose="02020603050405020304"/>
              </a:rPr>
              <a:t>n</a:t>
            </a:r>
            <a:r>
              <a:rPr sz="3200" b="1" dirty="0">
                <a:solidFill>
                  <a:srgbClr val="C00000"/>
                </a:solidFill>
                <a:latin typeface="Times New Roman" panose="02020603050405020304"/>
                <a:cs typeface="Times New Roman" panose="02020603050405020304"/>
              </a:rPr>
              <a:t>)</a:t>
            </a:r>
            <a:endParaRPr sz="3200" b="1" dirty="0">
              <a:solidFill>
                <a:srgbClr val="C00000"/>
              </a:solidFill>
              <a:latin typeface="Times New Roman" panose="02020603050405020304"/>
              <a:cs typeface="Times New Roman" panose="02020603050405020304"/>
            </a:endParaRPr>
          </a:p>
        </p:txBody>
      </p:sp>
      <p:sp>
        <p:nvSpPr>
          <p:cNvPr id="8" name="object 8"/>
          <p:cNvSpPr txBox="1"/>
          <p:nvPr/>
        </p:nvSpPr>
        <p:spPr>
          <a:xfrm>
            <a:off x="1508885" y="2853752"/>
            <a:ext cx="667767" cy="359073"/>
          </a:xfrm>
          <a:prstGeom prst="rect">
            <a:avLst/>
          </a:prstGeom>
        </p:spPr>
        <p:txBody>
          <a:bodyPr vert="horz" wrap="square" lIns="0" tIns="0" rIns="0" bIns="0" rtlCol="0">
            <a:spAutoFit/>
          </a:bodyPr>
          <a:lstStyle/>
          <a:p>
            <a:pPr>
              <a:lnSpc>
                <a:spcPts val="2805"/>
              </a:lnSpc>
            </a:pPr>
            <a:r>
              <a:rPr sz="2535" b="1" i="1" u="sng" dirty="0">
                <a:solidFill>
                  <a:srgbClr val="000000"/>
                </a:solidFill>
                <a:latin typeface="Times New Roman" panose="02020603050405020304"/>
                <a:cs typeface="Times New Roman" panose="02020603050405020304"/>
              </a:rPr>
              <a:t>n</a:t>
            </a:r>
            <a:endParaRPr sz="2535" b="1" i="1" u="sng" dirty="0">
              <a:solidFill>
                <a:srgbClr val="000000"/>
              </a:solidFill>
              <a:latin typeface="Times New Roman" panose="02020603050405020304"/>
              <a:cs typeface="Times New Roman" panose="02020603050405020304"/>
            </a:endParaRPr>
          </a:p>
        </p:txBody>
      </p:sp>
      <p:sp>
        <p:nvSpPr>
          <p:cNvPr id="9" name="object 9"/>
          <p:cNvSpPr txBox="1"/>
          <p:nvPr/>
        </p:nvSpPr>
        <p:spPr>
          <a:xfrm>
            <a:off x="2334871" y="2853752"/>
            <a:ext cx="1775505" cy="371897"/>
          </a:xfrm>
          <a:prstGeom prst="rect">
            <a:avLst/>
          </a:prstGeom>
        </p:spPr>
        <p:txBody>
          <a:bodyPr vert="horz" wrap="square" lIns="0" tIns="0" rIns="0" bIns="0" rtlCol="0">
            <a:spAutoFit/>
          </a:bodyPr>
          <a:lstStyle/>
          <a:p>
            <a:pPr>
              <a:lnSpc>
                <a:spcPts val="2880"/>
              </a:lnSpc>
            </a:pPr>
            <a:r>
              <a:rPr sz="2600" b="1" u="sng" spc="277" dirty="0">
                <a:solidFill>
                  <a:srgbClr val="000000"/>
                </a:solidFill>
                <a:latin typeface="Times New Roman" panose="02020603050405020304"/>
                <a:cs typeface="Times New Roman" panose="02020603050405020304"/>
              </a:rPr>
              <a:t>9</a:t>
            </a:r>
            <a:r>
              <a:rPr sz="2600" b="1" i="1" u="sng" dirty="0">
                <a:solidFill>
                  <a:srgbClr val="000000"/>
                </a:solidFill>
                <a:latin typeface="Times New Roman" panose="02020603050405020304"/>
                <a:cs typeface="Times New Roman" panose="02020603050405020304"/>
              </a:rPr>
              <a:t>n</a:t>
            </a:r>
            <a:r>
              <a:rPr sz="2600" b="1" i="1" u="sng" spc="116" dirty="0">
                <a:solidFill>
                  <a:srgbClr val="000000"/>
                </a:solidFill>
                <a:latin typeface="Times New Roman" panose="02020603050405020304"/>
                <a:cs typeface="Times New Roman" panose="02020603050405020304"/>
              </a:rPr>
              <a:t> </a:t>
            </a:r>
            <a:r>
              <a:rPr sz="2535" b="1" spc="1948" dirty="0">
                <a:solidFill>
                  <a:srgbClr val="000000"/>
                </a:solidFill>
                <a:latin typeface="Times New Roman" panose="02020603050405020304"/>
                <a:cs typeface="Times New Roman" panose="02020603050405020304"/>
              </a:rPr>
              <a:t> </a:t>
            </a:r>
            <a:r>
              <a:rPr sz="2600" b="1" i="1" u="sng" spc="93" dirty="0">
                <a:solidFill>
                  <a:srgbClr val="000000"/>
                </a:solidFill>
                <a:latin typeface="Times New Roman" panose="02020603050405020304"/>
                <a:cs typeface="Times New Roman" panose="02020603050405020304"/>
              </a:rPr>
              <a:t> </a:t>
            </a:r>
            <a:r>
              <a:rPr sz="2535" b="1" u="sng" spc="277" dirty="0">
                <a:solidFill>
                  <a:srgbClr val="000000"/>
                </a:solidFill>
                <a:latin typeface="Times New Roman" panose="02020603050405020304"/>
                <a:cs typeface="Times New Roman" panose="02020603050405020304"/>
              </a:rPr>
              <a:t>9</a:t>
            </a:r>
            <a:r>
              <a:rPr sz="2535" b="1" i="1" u="sng" dirty="0">
                <a:solidFill>
                  <a:srgbClr val="000000"/>
                </a:solidFill>
                <a:latin typeface="Times New Roman" panose="02020603050405020304"/>
                <a:cs typeface="Times New Roman" panose="02020603050405020304"/>
              </a:rPr>
              <a:t>n</a:t>
            </a:r>
            <a:endParaRPr sz="2535" b="1" i="1" u="sng" dirty="0">
              <a:solidFill>
                <a:srgbClr val="000000"/>
              </a:solidFill>
              <a:latin typeface="Times New Roman" panose="02020603050405020304"/>
              <a:cs typeface="Times New Roman" panose="02020603050405020304"/>
            </a:endParaRPr>
          </a:p>
        </p:txBody>
      </p:sp>
      <p:sp>
        <p:nvSpPr>
          <p:cNvPr id="10" name="object 10"/>
          <p:cNvSpPr txBox="1"/>
          <p:nvPr/>
        </p:nvSpPr>
        <p:spPr>
          <a:xfrm>
            <a:off x="4086404" y="2907323"/>
            <a:ext cx="948957" cy="654025"/>
          </a:xfrm>
          <a:prstGeom prst="rect">
            <a:avLst/>
          </a:prstGeom>
        </p:spPr>
        <p:txBody>
          <a:bodyPr vert="horz" wrap="square" lIns="0" tIns="0" rIns="0" bIns="0" rtlCol="0">
            <a:spAutoFit/>
          </a:bodyPr>
          <a:lstStyle/>
          <a:p>
            <a:pPr>
              <a:lnSpc>
                <a:spcPts val="2585"/>
              </a:lnSpc>
            </a:pPr>
            <a:r>
              <a:rPr sz="2335" b="1" u="sng" spc="132" dirty="0">
                <a:solidFill>
                  <a:srgbClr val="000000"/>
                </a:solidFill>
                <a:latin typeface="Times New Roman" panose="02020603050405020304"/>
                <a:cs typeface="Times New Roman" panose="02020603050405020304"/>
              </a:rPr>
              <a:t>81</a:t>
            </a:r>
            <a:r>
              <a:rPr sz="2335" b="1" i="1" u="sng" dirty="0">
                <a:solidFill>
                  <a:srgbClr val="000000"/>
                </a:solidFill>
                <a:latin typeface="Times New Roman" panose="02020603050405020304"/>
                <a:cs typeface="Times New Roman" panose="02020603050405020304"/>
              </a:rPr>
              <a:t>n</a:t>
            </a:r>
            <a:endParaRPr sz="2335" b="1" i="1" u="sng" dirty="0">
              <a:solidFill>
                <a:srgbClr val="000000"/>
              </a:solidFill>
              <a:latin typeface="Times New Roman" panose="02020603050405020304"/>
              <a:cs typeface="Times New Roman" panose="02020603050405020304"/>
            </a:endParaRPr>
          </a:p>
          <a:p>
            <a:pPr marL="8890">
              <a:lnSpc>
                <a:spcPts val="2520"/>
              </a:lnSpc>
            </a:pPr>
            <a:r>
              <a:rPr sz="2335" b="1" spc="113" dirty="0">
                <a:solidFill>
                  <a:srgbClr val="000000"/>
                </a:solidFill>
                <a:latin typeface="Times New Roman" panose="02020603050405020304"/>
                <a:cs typeface="Times New Roman" panose="02020603050405020304"/>
              </a:rPr>
              <a:t>100</a:t>
            </a:r>
            <a:endParaRPr sz="2335" b="1" spc="113" dirty="0">
              <a:solidFill>
                <a:srgbClr val="000000"/>
              </a:solidFill>
              <a:latin typeface="Times New Roman" panose="02020603050405020304"/>
              <a:cs typeface="Times New Roman" panose="02020603050405020304"/>
            </a:endParaRPr>
          </a:p>
        </p:txBody>
      </p:sp>
      <p:sp>
        <p:nvSpPr>
          <p:cNvPr id="11" name="object 11"/>
          <p:cNvSpPr txBox="1"/>
          <p:nvPr/>
        </p:nvSpPr>
        <p:spPr>
          <a:xfrm>
            <a:off x="6216705" y="2957377"/>
            <a:ext cx="1399777" cy="448841"/>
          </a:xfrm>
          <a:prstGeom prst="rect">
            <a:avLst/>
          </a:prstGeom>
        </p:spPr>
        <p:txBody>
          <a:bodyPr vert="horz" wrap="square" lIns="0" tIns="0" rIns="0" bIns="0" rtlCol="0">
            <a:spAutoFit/>
          </a:bodyPr>
          <a:lstStyle/>
          <a:p>
            <a:pPr>
              <a:lnSpc>
                <a:spcPts val="3545"/>
              </a:lnSpc>
            </a:pPr>
            <a:r>
              <a:rPr sz="3200" b="1" i="1" dirty="0">
                <a:solidFill>
                  <a:srgbClr val="C00000"/>
                </a:solidFill>
                <a:latin typeface="Times New Roman" panose="02020603050405020304"/>
                <a:cs typeface="Times New Roman" panose="02020603050405020304"/>
              </a:rPr>
              <a:t>O</a:t>
            </a:r>
            <a:r>
              <a:rPr sz="3200" b="1" dirty="0">
                <a:solidFill>
                  <a:srgbClr val="C00000"/>
                </a:solidFill>
                <a:latin typeface="Times New Roman" panose="02020603050405020304"/>
                <a:cs typeface="Times New Roman" panose="02020603050405020304"/>
              </a:rPr>
              <a:t>(</a:t>
            </a:r>
            <a:r>
              <a:rPr sz="3200" b="1" i="1" dirty="0">
                <a:solidFill>
                  <a:srgbClr val="C00000"/>
                </a:solidFill>
                <a:latin typeface="Times New Roman" panose="02020603050405020304"/>
                <a:cs typeface="Times New Roman" panose="02020603050405020304"/>
              </a:rPr>
              <a:t>n</a:t>
            </a:r>
            <a:r>
              <a:rPr sz="3200" b="1" dirty="0">
                <a:solidFill>
                  <a:srgbClr val="C00000"/>
                </a:solidFill>
                <a:latin typeface="Times New Roman" panose="02020603050405020304"/>
                <a:cs typeface="Times New Roman" panose="02020603050405020304"/>
              </a:rPr>
              <a:t>)</a:t>
            </a:r>
            <a:endParaRPr sz="3200" b="1" dirty="0">
              <a:solidFill>
                <a:srgbClr val="C00000"/>
              </a:solidFill>
              <a:latin typeface="Times New Roman" panose="02020603050405020304"/>
              <a:cs typeface="Times New Roman" panose="02020603050405020304"/>
            </a:endParaRPr>
          </a:p>
        </p:txBody>
      </p:sp>
      <p:sp>
        <p:nvSpPr>
          <p:cNvPr id="12" name="object 12"/>
          <p:cNvSpPr txBox="1"/>
          <p:nvPr/>
        </p:nvSpPr>
        <p:spPr>
          <a:xfrm>
            <a:off x="1337822" y="3196656"/>
            <a:ext cx="2834727" cy="371897"/>
          </a:xfrm>
          <a:prstGeom prst="rect">
            <a:avLst/>
          </a:prstGeom>
        </p:spPr>
        <p:txBody>
          <a:bodyPr vert="horz" wrap="square" lIns="0" tIns="0" rIns="0" bIns="0" rtlCol="0">
            <a:spAutoFit/>
          </a:bodyPr>
          <a:lstStyle/>
          <a:p>
            <a:pPr>
              <a:lnSpc>
                <a:spcPts val="2880"/>
              </a:lnSpc>
            </a:pPr>
            <a:r>
              <a:rPr sz="2535" b="1" spc="107" dirty="0">
                <a:solidFill>
                  <a:srgbClr val="000000"/>
                </a:solidFill>
                <a:latin typeface="Times New Roman" panose="02020603050405020304"/>
                <a:cs typeface="Times New Roman" panose="02020603050405020304"/>
              </a:rPr>
              <a:t>100</a:t>
            </a:r>
            <a:r>
              <a:rPr sz="2535" b="1" spc="2519" dirty="0">
                <a:solidFill>
                  <a:srgbClr val="000000"/>
                </a:solidFill>
                <a:latin typeface="Times New Roman" panose="02020603050405020304"/>
                <a:cs typeface="Times New Roman" panose="02020603050405020304"/>
              </a:rPr>
              <a:t> </a:t>
            </a:r>
            <a:r>
              <a:rPr sz="2600" b="1" spc="109" dirty="0">
                <a:solidFill>
                  <a:srgbClr val="000000"/>
                </a:solidFill>
                <a:latin typeface="Times New Roman" panose="02020603050405020304"/>
                <a:cs typeface="Times New Roman" panose="02020603050405020304"/>
              </a:rPr>
              <a:t>100</a:t>
            </a:r>
            <a:r>
              <a:rPr sz="2600" b="1" spc="2248" dirty="0">
                <a:solidFill>
                  <a:srgbClr val="000000"/>
                </a:solidFill>
                <a:latin typeface="Times New Roman" panose="02020603050405020304"/>
                <a:cs typeface="Times New Roman" panose="02020603050405020304"/>
              </a:rPr>
              <a:t> </a:t>
            </a:r>
            <a:r>
              <a:rPr sz="2535" b="1" spc="115" dirty="0">
                <a:solidFill>
                  <a:srgbClr val="000000"/>
                </a:solidFill>
                <a:latin typeface="Times New Roman" panose="02020603050405020304"/>
                <a:cs typeface="Times New Roman" panose="02020603050405020304"/>
              </a:rPr>
              <a:t>100</a:t>
            </a:r>
            <a:endParaRPr sz="2535" b="1" spc="115" dirty="0">
              <a:solidFill>
                <a:srgbClr val="000000"/>
              </a:solidFill>
              <a:latin typeface="Times New Roman" panose="02020603050405020304"/>
              <a:cs typeface="Times New Roman" panose="02020603050405020304"/>
            </a:endParaRPr>
          </a:p>
        </p:txBody>
      </p:sp>
      <p:sp>
        <p:nvSpPr>
          <p:cNvPr id="13" name="object 13"/>
          <p:cNvSpPr txBox="1"/>
          <p:nvPr/>
        </p:nvSpPr>
        <p:spPr>
          <a:xfrm>
            <a:off x="6521842" y="3565287"/>
            <a:ext cx="722511" cy="1449115"/>
          </a:xfrm>
          <a:prstGeom prst="rect">
            <a:avLst/>
          </a:prstGeom>
        </p:spPr>
        <p:txBody>
          <a:bodyPr vert="horz" wrap="square" lIns="0" tIns="0" rIns="0" bIns="0" rtlCol="0">
            <a:spAutoFit/>
          </a:bodyPr>
          <a:lstStyle/>
          <a:p>
            <a:pPr>
              <a:lnSpc>
                <a:spcPts val="3575"/>
              </a:lnSpc>
            </a:pPr>
            <a:r>
              <a:rPr sz="3200" b="1" dirty="0">
                <a:solidFill>
                  <a:srgbClr val="C00000"/>
                </a:solidFill>
                <a:latin typeface="Arial" panose="020B0604020202020204"/>
                <a:cs typeface="Arial" panose="020B0604020202020204"/>
              </a:rPr>
              <a:t>.</a:t>
            </a:r>
            <a:endParaRPr sz="3200" b="1" dirty="0">
              <a:solidFill>
                <a:srgbClr val="C00000"/>
              </a:solidFill>
              <a:latin typeface="Arial" panose="020B0604020202020204"/>
              <a:cs typeface="Arial" panose="020B0604020202020204"/>
            </a:endParaRPr>
          </a:p>
          <a:p>
            <a:pPr>
              <a:lnSpc>
                <a:spcPts val="3575"/>
              </a:lnSpc>
              <a:spcBef>
                <a:spcPts val="265"/>
              </a:spcBef>
            </a:pPr>
            <a:r>
              <a:rPr sz="3200" b="1" dirty="0">
                <a:solidFill>
                  <a:srgbClr val="C00000"/>
                </a:solidFill>
                <a:latin typeface="Arial" panose="020B0604020202020204"/>
                <a:cs typeface="Arial" panose="020B0604020202020204"/>
              </a:rPr>
              <a:t>.</a:t>
            </a:r>
            <a:endParaRPr sz="3200" b="1" dirty="0">
              <a:solidFill>
                <a:srgbClr val="C00000"/>
              </a:solidFill>
              <a:latin typeface="Arial" panose="020B0604020202020204"/>
              <a:cs typeface="Arial" panose="020B0604020202020204"/>
            </a:endParaRPr>
          </a:p>
          <a:p>
            <a:pPr>
              <a:lnSpc>
                <a:spcPts val="3575"/>
              </a:lnSpc>
              <a:spcBef>
                <a:spcPts val="195"/>
              </a:spcBef>
            </a:pPr>
            <a:r>
              <a:rPr sz="3200" b="1" dirty="0">
                <a:solidFill>
                  <a:srgbClr val="C00000"/>
                </a:solidFill>
                <a:latin typeface="Arial" panose="020B0604020202020204"/>
                <a:cs typeface="Arial" panose="020B0604020202020204"/>
              </a:rPr>
              <a:t>.</a:t>
            </a:r>
            <a:endParaRPr sz="3200" b="1" dirty="0">
              <a:solidFill>
                <a:srgbClr val="C00000"/>
              </a:solidFill>
              <a:latin typeface="Arial" panose="020B0604020202020204"/>
              <a:cs typeface="Arial" panose="020B0604020202020204"/>
            </a:endParaRPr>
          </a:p>
        </p:txBody>
      </p:sp>
      <p:sp>
        <p:nvSpPr>
          <p:cNvPr id="14" name="object 14"/>
          <p:cNvSpPr txBox="1"/>
          <p:nvPr/>
        </p:nvSpPr>
        <p:spPr>
          <a:xfrm>
            <a:off x="4031423" y="3923924"/>
            <a:ext cx="1885167" cy="333425"/>
          </a:xfrm>
          <a:prstGeom prst="rect">
            <a:avLst/>
          </a:prstGeom>
        </p:spPr>
        <p:txBody>
          <a:bodyPr vert="horz" wrap="square" lIns="0" tIns="0" rIns="0" bIns="0" rtlCol="0">
            <a:spAutoFit/>
          </a:bodyPr>
          <a:lstStyle/>
          <a:p>
            <a:pPr>
              <a:lnSpc>
                <a:spcPts val="2585"/>
              </a:lnSpc>
            </a:pPr>
            <a:r>
              <a:rPr sz="2135" b="1" u="sng" spc="155" dirty="0">
                <a:solidFill>
                  <a:srgbClr val="000000"/>
                </a:solidFill>
                <a:latin typeface="Times New Roman" panose="02020603050405020304"/>
                <a:cs typeface="Times New Roman" panose="02020603050405020304"/>
              </a:rPr>
              <a:t>81</a:t>
            </a:r>
            <a:r>
              <a:rPr sz="2135" b="1" i="1" u="sng" dirty="0">
                <a:solidFill>
                  <a:srgbClr val="000000"/>
                </a:solidFill>
                <a:latin typeface="Times New Roman" panose="02020603050405020304"/>
                <a:cs typeface="Times New Roman" panose="02020603050405020304"/>
              </a:rPr>
              <a:t>n</a:t>
            </a:r>
            <a:r>
              <a:rPr sz="2135" b="1" i="1" u="sng" spc="189" dirty="0">
                <a:solidFill>
                  <a:srgbClr val="000000"/>
                </a:solidFill>
                <a:latin typeface="Times New Roman" panose="02020603050405020304"/>
                <a:cs typeface="Times New Roman" panose="02020603050405020304"/>
              </a:rPr>
              <a:t> </a:t>
            </a:r>
            <a:r>
              <a:rPr sz="2135" b="1" i="1" spc="1185" dirty="0">
                <a:solidFill>
                  <a:srgbClr val="000000"/>
                </a:solidFill>
                <a:latin typeface="Times New Roman" panose="02020603050405020304"/>
                <a:cs typeface="Times New Roman" panose="02020603050405020304"/>
              </a:rPr>
              <a:t> </a:t>
            </a:r>
            <a:r>
              <a:rPr sz="2335" b="1" u="sng" spc="76" dirty="0">
                <a:solidFill>
                  <a:srgbClr val="000000"/>
                </a:solidFill>
                <a:latin typeface="Times New Roman" panose="02020603050405020304"/>
                <a:cs typeface="Times New Roman" panose="02020603050405020304"/>
              </a:rPr>
              <a:t>729</a:t>
            </a:r>
            <a:r>
              <a:rPr sz="2335" b="1" i="1" u="sng" dirty="0">
                <a:solidFill>
                  <a:srgbClr val="000000"/>
                </a:solidFill>
                <a:latin typeface="Times New Roman" panose="02020603050405020304"/>
                <a:cs typeface="Times New Roman" panose="02020603050405020304"/>
              </a:rPr>
              <a:t>n</a:t>
            </a:r>
            <a:endParaRPr sz="2335" b="1" i="1" u="sng" dirty="0">
              <a:solidFill>
                <a:srgbClr val="000000"/>
              </a:solidFill>
              <a:latin typeface="Times New Roman" panose="02020603050405020304"/>
              <a:cs typeface="Times New Roman" panose="02020603050405020304"/>
            </a:endParaRPr>
          </a:p>
        </p:txBody>
      </p:sp>
      <p:sp>
        <p:nvSpPr>
          <p:cNvPr id="15" name="object 15"/>
          <p:cNvSpPr txBox="1"/>
          <p:nvPr/>
        </p:nvSpPr>
        <p:spPr>
          <a:xfrm>
            <a:off x="3964481" y="4215119"/>
            <a:ext cx="992716" cy="307777"/>
          </a:xfrm>
          <a:prstGeom prst="rect">
            <a:avLst/>
          </a:prstGeom>
        </p:spPr>
        <p:txBody>
          <a:bodyPr vert="horz" wrap="square" lIns="0" tIns="0" rIns="0" bIns="0" rtlCol="0">
            <a:spAutoFit/>
          </a:bodyPr>
          <a:lstStyle/>
          <a:p>
            <a:pPr>
              <a:lnSpc>
                <a:spcPts val="2360"/>
              </a:lnSpc>
            </a:pPr>
            <a:r>
              <a:rPr sz="2135" b="1" spc="101" dirty="0">
                <a:solidFill>
                  <a:srgbClr val="000000"/>
                </a:solidFill>
                <a:latin typeface="Times New Roman" panose="02020603050405020304"/>
                <a:cs typeface="Times New Roman" panose="02020603050405020304"/>
              </a:rPr>
              <a:t>1000</a:t>
            </a:r>
            <a:endParaRPr sz="2135" b="1" spc="101" dirty="0">
              <a:solidFill>
                <a:srgbClr val="000000"/>
              </a:solidFill>
              <a:latin typeface="Times New Roman" panose="02020603050405020304"/>
              <a:cs typeface="Times New Roman" panose="02020603050405020304"/>
            </a:endParaRPr>
          </a:p>
        </p:txBody>
      </p:sp>
      <p:sp>
        <p:nvSpPr>
          <p:cNvPr id="16" name="object 16"/>
          <p:cNvSpPr txBox="1"/>
          <p:nvPr/>
        </p:nvSpPr>
        <p:spPr>
          <a:xfrm>
            <a:off x="4816767" y="4246176"/>
            <a:ext cx="1089007" cy="333425"/>
          </a:xfrm>
          <a:prstGeom prst="rect">
            <a:avLst/>
          </a:prstGeom>
        </p:spPr>
        <p:txBody>
          <a:bodyPr vert="horz" wrap="square" lIns="0" tIns="0" rIns="0" bIns="0" rtlCol="0">
            <a:spAutoFit/>
          </a:bodyPr>
          <a:lstStyle/>
          <a:p>
            <a:pPr>
              <a:lnSpc>
                <a:spcPts val="2585"/>
              </a:lnSpc>
            </a:pPr>
            <a:r>
              <a:rPr sz="2335" b="1" spc="116" dirty="0">
                <a:solidFill>
                  <a:srgbClr val="000000"/>
                </a:solidFill>
                <a:latin typeface="Times New Roman" panose="02020603050405020304"/>
                <a:cs typeface="Times New Roman" panose="02020603050405020304"/>
              </a:rPr>
              <a:t>1000</a:t>
            </a:r>
            <a:endParaRPr sz="2335" b="1" spc="116" dirty="0">
              <a:solidFill>
                <a:srgbClr val="000000"/>
              </a:solidFill>
              <a:latin typeface="Times New Roman" panose="02020603050405020304"/>
              <a:cs typeface="Times New Roman" panose="02020603050405020304"/>
            </a:endParaRPr>
          </a:p>
        </p:txBody>
      </p:sp>
      <p:sp>
        <p:nvSpPr>
          <p:cNvPr id="17" name="object 17"/>
          <p:cNvSpPr txBox="1"/>
          <p:nvPr/>
        </p:nvSpPr>
        <p:spPr>
          <a:xfrm>
            <a:off x="759123" y="4353337"/>
            <a:ext cx="813003" cy="448841"/>
          </a:xfrm>
          <a:prstGeom prst="rect">
            <a:avLst/>
          </a:prstGeom>
        </p:spPr>
        <p:txBody>
          <a:bodyPr vert="horz" wrap="square" lIns="0" tIns="0" rIns="0" bIns="0" rtlCol="0">
            <a:spAutoFit/>
          </a:bodyPr>
          <a:lstStyle/>
          <a:p>
            <a:pPr>
              <a:lnSpc>
                <a:spcPts val="3545"/>
              </a:lnSpc>
            </a:pPr>
            <a:r>
              <a:rPr sz="3200" b="1" dirty="0">
                <a:solidFill>
                  <a:srgbClr val="000000"/>
                </a:solidFill>
                <a:latin typeface="Times New Roman" panose="02020603050405020304"/>
                <a:cs typeface="Times New Roman" panose="02020603050405020304"/>
              </a:rPr>
              <a:t>1</a:t>
            </a:r>
            <a:endParaRPr sz="3200" b="1" dirty="0">
              <a:solidFill>
                <a:srgbClr val="000000"/>
              </a:solidFill>
              <a:latin typeface="Times New Roman" panose="02020603050405020304"/>
              <a:cs typeface="Times New Roman" panose="02020603050405020304"/>
            </a:endParaRPr>
          </a:p>
        </p:txBody>
      </p:sp>
      <p:sp>
        <p:nvSpPr>
          <p:cNvPr id="18" name="object 18"/>
          <p:cNvSpPr txBox="1"/>
          <p:nvPr/>
        </p:nvSpPr>
        <p:spPr>
          <a:xfrm>
            <a:off x="1644262" y="4675861"/>
            <a:ext cx="6808362" cy="1372171"/>
          </a:xfrm>
          <a:prstGeom prst="rect">
            <a:avLst/>
          </a:prstGeom>
        </p:spPr>
        <p:txBody>
          <a:bodyPr vert="horz" wrap="square" lIns="0" tIns="0" rIns="0" bIns="0" rtlCol="0">
            <a:spAutoFit/>
          </a:bodyPr>
          <a:lstStyle/>
          <a:p>
            <a:pPr marL="2052955">
              <a:lnSpc>
                <a:spcPts val="3575"/>
              </a:lnSpc>
            </a:pPr>
            <a:r>
              <a:rPr sz="3200" b="1" dirty="0">
                <a:solidFill>
                  <a:srgbClr val="000000"/>
                </a:solidFill>
                <a:latin typeface="Arial" panose="020B0604020202020204"/>
                <a:cs typeface="Arial" panose="020B0604020202020204"/>
              </a:rPr>
              <a:t>…</a:t>
            </a:r>
            <a:r>
              <a:rPr sz="3200" b="1" spc="879" dirty="0">
                <a:solidFill>
                  <a:srgbClr val="000000"/>
                </a:solidFill>
                <a:latin typeface="Arial" panose="020B0604020202020204"/>
                <a:cs typeface="Arial" panose="020B0604020202020204"/>
              </a:rPr>
              <a:t> </a:t>
            </a:r>
            <a:r>
              <a:rPr sz="3200" b="1" dirty="0">
                <a:solidFill>
                  <a:srgbClr val="000000"/>
                </a:solidFill>
                <a:latin typeface="Arial" panose="020B0604020202020204"/>
                <a:cs typeface="Arial" panose="020B0604020202020204"/>
              </a:rPr>
              <a:t>…</a:t>
            </a:r>
            <a:r>
              <a:rPr sz="3200" b="1" spc="-19" dirty="0">
                <a:solidFill>
                  <a:srgbClr val="000000"/>
                </a:solidFill>
                <a:latin typeface="Arial" panose="020B0604020202020204"/>
                <a:cs typeface="Arial" panose="020B0604020202020204"/>
              </a:rPr>
              <a:t> </a:t>
            </a:r>
            <a:r>
              <a:rPr sz="3200" b="1" dirty="0">
                <a:solidFill>
                  <a:srgbClr val="000000"/>
                </a:solidFill>
                <a:latin typeface="Arial" panose="020B0604020202020204"/>
                <a:cs typeface="Arial" panose="020B0604020202020204"/>
              </a:rPr>
              <a:t>…</a:t>
            </a:r>
            <a:endParaRPr sz="3200" b="1" dirty="0">
              <a:solidFill>
                <a:srgbClr val="000000"/>
              </a:solidFill>
              <a:latin typeface="Arial" panose="020B0604020202020204"/>
              <a:cs typeface="Arial" panose="020B0604020202020204"/>
            </a:endParaRPr>
          </a:p>
          <a:p>
            <a:pPr>
              <a:lnSpc>
                <a:spcPts val="3545"/>
              </a:lnSpc>
              <a:spcBef>
                <a:spcPts val="3625"/>
              </a:spcBef>
            </a:pPr>
            <a:r>
              <a:rPr sz="3200" b="1" i="1" dirty="0">
                <a:solidFill>
                  <a:srgbClr val="000000"/>
                </a:solidFill>
                <a:latin typeface="Times New Roman" panose="02020603050405020304"/>
                <a:cs typeface="Times New Roman" panose="02020603050405020304"/>
              </a:rPr>
              <a:t>T</a:t>
            </a:r>
            <a:r>
              <a:rPr sz="3200" b="1" dirty="0">
                <a:solidFill>
                  <a:srgbClr val="000000"/>
                </a:solidFill>
                <a:latin typeface="Times New Roman" panose="02020603050405020304"/>
                <a:cs typeface="Times New Roman" panose="02020603050405020304"/>
              </a:rPr>
              <a:t>(</a:t>
            </a:r>
            <a:r>
              <a:rPr sz="3200" b="1" i="1" dirty="0">
                <a:solidFill>
                  <a:srgbClr val="000000"/>
                </a:solidFill>
                <a:latin typeface="Times New Roman" panose="02020603050405020304"/>
                <a:cs typeface="Times New Roman" panose="02020603050405020304"/>
              </a:rPr>
              <a:t>n</a:t>
            </a:r>
            <a:r>
              <a:rPr sz="3200" b="1" dirty="0">
                <a:solidFill>
                  <a:srgbClr val="000000"/>
                </a:solidFill>
                <a:latin typeface="Times New Roman" panose="02020603050405020304"/>
                <a:cs typeface="Times New Roman" panose="02020603050405020304"/>
              </a:rPr>
              <a:t>)</a:t>
            </a:r>
            <a:r>
              <a:rPr sz="3200" b="1" i="1" dirty="0">
                <a:solidFill>
                  <a:srgbClr val="000000"/>
                </a:solidFill>
                <a:latin typeface="Times New Roman" panose="02020603050405020304"/>
                <a:cs typeface="Times New Roman" panose="02020603050405020304"/>
              </a:rPr>
              <a:t>=</a:t>
            </a:r>
            <a:r>
              <a:rPr sz="3200" b="1" i="1" dirty="0">
                <a:solidFill>
                  <a:srgbClr val="C00000"/>
                </a:solidFill>
                <a:latin typeface="Times New Roman" panose="02020603050405020304"/>
                <a:cs typeface="Times New Roman" panose="02020603050405020304"/>
              </a:rPr>
              <a:t>O</a:t>
            </a:r>
            <a:r>
              <a:rPr sz="3200" b="1" dirty="0">
                <a:solidFill>
                  <a:srgbClr val="C00000"/>
                </a:solidFill>
                <a:latin typeface="Times New Roman" panose="02020603050405020304"/>
                <a:cs typeface="Times New Roman" panose="02020603050405020304"/>
              </a:rPr>
              <a:t>(</a:t>
            </a:r>
            <a:r>
              <a:rPr sz="3200" b="1" i="1" dirty="0">
                <a:solidFill>
                  <a:srgbClr val="C00000"/>
                </a:solidFill>
                <a:latin typeface="Times New Roman" panose="02020603050405020304"/>
                <a:cs typeface="Times New Roman" panose="02020603050405020304"/>
              </a:rPr>
              <a:t>n</a:t>
            </a:r>
            <a:r>
              <a:rPr sz="3200" b="1" dirty="0">
                <a:solidFill>
                  <a:srgbClr val="C00000"/>
                </a:solidFill>
                <a:latin typeface="Times New Roman" panose="02020603050405020304"/>
                <a:cs typeface="Times New Roman" panose="02020603050405020304"/>
              </a:rPr>
              <a:t>log</a:t>
            </a:r>
            <a:r>
              <a:rPr sz="3200" b="1" i="1" dirty="0">
                <a:solidFill>
                  <a:srgbClr val="C00000"/>
                </a:solidFill>
                <a:latin typeface="Times New Roman" panose="02020603050405020304"/>
                <a:cs typeface="Times New Roman" panose="02020603050405020304"/>
              </a:rPr>
              <a:t>n</a:t>
            </a:r>
            <a:r>
              <a:rPr sz="3200" b="1" dirty="0">
                <a:solidFill>
                  <a:srgbClr val="C00000"/>
                </a:solidFill>
                <a:latin typeface="Times New Roman" panose="02020603050405020304"/>
                <a:cs typeface="Times New Roman" panose="02020603050405020304"/>
              </a:rPr>
              <a:t>)</a:t>
            </a:r>
            <a:endParaRPr sz="3200" b="1" dirty="0">
              <a:solidFill>
                <a:srgbClr val="C00000"/>
              </a:solidFill>
              <a:latin typeface="Times New Roman" panose="02020603050405020304"/>
              <a:cs typeface="Times New Roman" panose="02020603050405020304"/>
            </a:endParaRPr>
          </a:p>
        </p:txBody>
      </p:sp>
      <p:sp>
        <p:nvSpPr>
          <p:cNvPr id="19" name="object 19"/>
          <p:cNvSpPr txBox="1"/>
          <p:nvPr/>
        </p:nvSpPr>
        <p:spPr>
          <a:xfrm>
            <a:off x="6318301" y="5294628"/>
            <a:ext cx="1400568" cy="448841"/>
          </a:xfrm>
          <a:prstGeom prst="rect">
            <a:avLst/>
          </a:prstGeom>
        </p:spPr>
        <p:txBody>
          <a:bodyPr vert="horz" wrap="square" lIns="0" tIns="0" rIns="0" bIns="0" rtlCol="0">
            <a:spAutoFit/>
          </a:bodyPr>
          <a:lstStyle/>
          <a:p>
            <a:pPr>
              <a:lnSpc>
                <a:spcPts val="3545"/>
              </a:lnSpc>
            </a:pPr>
            <a:r>
              <a:rPr sz="3200" b="1" i="1" dirty="0">
                <a:solidFill>
                  <a:srgbClr val="C00000"/>
                </a:solidFill>
                <a:latin typeface="Times New Roman" panose="02020603050405020304"/>
                <a:cs typeface="Times New Roman" panose="02020603050405020304"/>
              </a:rPr>
              <a:t>O</a:t>
            </a:r>
            <a:r>
              <a:rPr sz="3200" b="1" dirty="0">
                <a:solidFill>
                  <a:srgbClr val="C00000"/>
                </a:solidFill>
                <a:latin typeface="Times New Roman" panose="02020603050405020304"/>
                <a:cs typeface="Times New Roman" panose="02020603050405020304"/>
              </a:rPr>
              <a:t>(</a:t>
            </a:r>
            <a:r>
              <a:rPr sz="3200" b="1" i="1" dirty="0">
                <a:solidFill>
                  <a:srgbClr val="C00000"/>
                </a:solidFill>
                <a:latin typeface="Times New Roman" panose="02020603050405020304"/>
                <a:cs typeface="Times New Roman" panose="02020603050405020304"/>
              </a:rPr>
              <a:t>n</a:t>
            </a:r>
            <a:r>
              <a:rPr sz="3200" b="1" dirty="0">
                <a:solidFill>
                  <a:srgbClr val="C00000"/>
                </a:solidFill>
                <a:latin typeface="Times New Roman" panose="02020603050405020304"/>
                <a:cs typeface="Times New Roman" panose="02020603050405020304"/>
              </a:rPr>
              <a:t>)</a:t>
            </a:r>
            <a:endParaRPr sz="3200" b="1" dirty="0">
              <a:solidFill>
                <a:srgbClr val="C00000"/>
              </a:solidFill>
              <a:latin typeface="Times New Roman" panose="02020603050405020304"/>
              <a:cs typeface="Times New Roman" panose="02020603050405020304"/>
            </a:endParaRPr>
          </a:p>
        </p:txBody>
      </p:sp>
      <mc:AlternateContent xmlns:mc="http://schemas.openxmlformats.org/markup-compatibility/2006">
        <mc:Choice xmlns:a14="http://schemas.microsoft.com/office/drawing/2010/main" Requires="a14">
          <p:sp>
            <p:nvSpPr>
              <p:cNvPr id="2" name="文本框 1"/>
              <p:cNvSpPr txBox="1"/>
              <p:nvPr/>
            </p:nvSpPr>
            <p:spPr>
              <a:xfrm>
                <a:off x="1810688" y="1940557"/>
                <a:ext cx="524182" cy="63780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n-US" altLang="zh-CN" sz="2400" b="1" i="1">
                              <a:latin typeface="Cambria Math" panose="02040503050406030204" pitchFamily="18" charset="0"/>
                            </a:rPr>
                          </m:ctrlPr>
                        </m:fPr>
                        <m:num>
                          <m:r>
                            <a:rPr lang="en-US" altLang="zh-CN" sz="2400" b="1" i="1">
                              <a:latin typeface="Cambria Math" panose="02040503050406030204" pitchFamily="18" charset="0"/>
                            </a:rPr>
                            <m:t>𝒏</m:t>
                          </m:r>
                        </m:num>
                        <m:den>
                          <m:r>
                            <a:rPr lang="en-US" altLang="zh-CN" sz="2400" b="1" i="1">
                              <a:latin typeface="Cambria Math" panose="02040503050406030204" pitchFamily="18" charset="0"/>
                            </a:rPr>
                            <m:t>𝟏𝟎</m:t>
                          </m:r>
                        </m:den>
                      </m:f>
                    </m:oMath>
                  </m:oMathPara>
                </a14:m>
                <a:endParaRPr lang="zh-CN" altLang="en-US" sz="2400" b="1" dirty="0">
                  <a:latin typeface="黑体" panose="02010609060101010101" pitchFamily="49" charset="-122"/>
                  <a:ea typeface="黑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1810688" y="1940557"/>
                <a:ext cx="524182" cy="637803"/>
              </a:xfrm>
              <a:prstGeom prst="rect">
                <a:avLst/>
              </a:prstGeom>
              <a:blipFill rotWithShape="1">
                <a:blip r:embed="rId1"/>
                <a:stretch>
                  <a:fillRect l="-58" t="-99" r="-13694" b="4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3335832" y="1930802"/>
                <a:ext cx="538609" cy="69384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n-US" altLang="zh-CN" sz="2400" b="1" i="1">
                              <a:latin typeface="Cambria Math" panose="02040503050406030204" pitchFamily="18" charset="0"/>
                            </a:rPr>
                          </m:ctrlPr>
                        </m:fPr>
                        <m:num>
                          <m:r>
                            <a:rPr lang="en-US" altLang="zh-CN" sz="2400" b="1" i="1">
                              <a:latin typeface="Cambria Math" panose="02040503050406030204" pitchFamily="18" charset="0"/>
                            </a:rPr>
                            <m:t>𝟗</m:t>
                          </m:r>
                          <m:r>
                            <a:rPr lang="en-US" altLang="zh-CN" sz="2400" b="1" i="1">
                              <a:latin typeface="Cambria Math" panose="02040503050406030204" pitchFamily="18" charset="0"/>
                            </a:rPr>
                            <m:t>𝒏</m:t>
                          </m:r>
                        </m:num>
                        <m:den>
                          <m:r>
                            <a:rPr lang="en-US" altLang="zh-CN" sz="2400" b="1" i="1">
                              <a:latin typeface="Cambria Math" panose="02040503050406030204" pitchFamily="18" charset="0"/>
                            </a:rPr>
                            <m:t>𝟏𝟎</m:t>
                          </m:r>
                        </m:den>
                      </m:f>
                    </m:oMath>
                  </m:oMathPara>
                </a14:m>
                <a:endParaRPr lang="zh-CN" altLang="en-US" sz="2400" b="1" dirty="0">
                  <a:latin typeface="黑体" panose="02010609060101010101" pitchFamily="49" charset="-122"/>
                  <a:ea typeface="黑体" panose="02010609060101010101" pitchFamily="49" charset="-122"/>
                </a:endParaRPr>
              </a:p>
            </p:txBody>
          </p:sp>
        </mc:Choice>
        <mc:Fallback>
          <p:sp>
            <p:nvSpPr>
              <p:cNvPr id="21" name="文本框 20"/>
              <p:cNvSpPr txBox="1">
                <a:spLocks noRot="1" noChangeAspect="1" noMove="1" noResize="1" noEditPoints="1" noAdjustHandles="1" noChangeArrowheads="1" noChangeShapeType="1" noTextEdit="1"/>
              </p:cNvSpPr>
              <p:nvPr/>
            </p:nvSpPr>
            <p:spPr>
              <a:xfrm>
                <a:off x="3335832" y="1930802"/>
                <a:ext cx="538609" cy="693844"/>
              </a:xfrm>
              <a:prstGeom prst="rect">
                <a:avLst/>
              </a:prstGeom>
              <a:blipFill rotWithShape="1">
                <a:blip r:embed="rId2"/>
                <a:stretch>
                  <a:fillRect l="-33" t="-58" r="-13501" b="28"/>
                </a:stretch>
              </a:blipFill>
            </p:spPr>
            <p:txBody>
              <a:bodyPr/>
              <a:lstStyle/>
              <a:p>
                <a:r>
                  <a:rPr lang="zh-CN" altLang="en-US">
                    <a:noFill/>
                  </a:rPr>
                  <a:t> </a:t>
                </a:r>
              </a:p>
            </p:txBody>
          </p:sp>
        </mc:Fallback>
      </mc:AlternateContent>
      <p:cxnSp>
        <p:nvCxnSpPr>
          <p:cNvPr id="7" name="直接连接符 6"/>
          <p:cNvCxnSpPr/>
          <p:nvPr/>
        </p:nvCxnSpPr>
        <p:spPr>
          <a:xfrm>
            <a:off x="2979504" y="1699808"/>
            <a:ext cx="401217" cy="3324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821748" y="2627030"/>
            <a:ext cx="311594" cy="33034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567649" y="3532325"/>
            <a:ext cx="339199" cy="3434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187625" y="2627030"/>
            <a:ext cx="311594" cy="2802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2264982" y="1628434"/>
            <a:ext cx="462530" cy="4037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656437" y="2624646"/>
            <a:ext cx="246380" cy="3855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042432" y="3692423"/>
            <a:ext cx="246380" cy="3855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4110374" y="3564580"/>
            <a:ext cx="246380" cy="3855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3322846" y="2627028"/>
            <a:ext cx="123190" cy="24680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6251" y="67235"/>
            <a:ext cx="8909144" cy="604974"/>
          </a:xfrm>
          <a:prstGeom prst="rect">
            <a:avLst/>
          </a:prstGeom>
        </p:spPr>
        <p:txBody>
          <a:bodyPr vert="horz" wrap="square" lIns="0" tIns="0" rIns="0" bIns="0" rtlCol="0">
            <a:spAutoFit/>
          </a:bodyPr>
          <a:lstStyle/>
          <a:p>
            <a:pPr algn="ctr">
              <a:lnSpc>
                <a:spcPts val="5330"/>
              </a:lnSpc>
            </a:pPr>
            <a:r>
              <a:rPr sz="4400" b="1" dirty="0">
                <a:solidFill>
                  <a:srgbClr val="C00000"/>
                </a:solidFill>
                <a:latin typeface="黑体" panose="02010609060101010101" pitchFamily="49" charset="-122"/>
                <a:ea typeface="黑体" panose="02010609060101010101" pitchFamily="49" charset="-122"/>
                <a:cs typeface="CISOIN+ËÎÌå"/>
              </a:rPr>
              <a:t>平均时间复杂度</a:t>
            </a:r>
            <a:endParaRPr sz="4400" b="1" dirty="0">
              <a:solidFill>
                <a:srgbClr val="C00000"/>
              </a:solidFill>
              <a:latin typeface="黑体" panose="02010609060101010101" pitchFamily="49" charset="-122"/>
              <a:ea typeface="黑体" panose="02010609060101010101" pitchFamily="49" charset="-122"/>
              <a:cs typeface="CISOIN+ËÎÌå"/>
            </a:endParaRPr>
          </a:p>
        </p:txBody>
      </p:sp>
      <p:sp>
        <p:nvSpPr>
          <p:cNvPr id="4" name="object 4"/>
          <p:cNvSpPr txBox="1"/>
          <p:nvPr/>
        </p:nvSpPr>
        <p:spPr>
          <a:xfrm>
            <a:off x="558800" y="1082419"/>
            <a:ext cx="8542010" cy="1013098"/>
          </a:xfrm>
          <a:prstGeom prst="rect">
            <a:avLst/>
          </a:prstGeom>
        </p:spPr>
        <p:txBody>
          <a:bodyPr vert="horz" wrap="square" lIns="0" tIns="0" rIns="0" bIns="0" rtlCol="0">
            <a:spAutoFit/>
          </a:bodyPr>
          <a:lstStyle/>
          <a:p>
            <a:pPr>
              <a:lnSpc>
                <a:spcPts val="3850"/>
              </a:lnSpc>
            </a:pPr>
            <a:r>
              <a:rPr sz="2800" b="1" spc="2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首元素排好序后处在</a:t>
            </a:r>
            <a:r>
              <a:rPr sz="2800" b="1" spc="-13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 2, … ,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endPar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3845"/>
              </a:lnSpc>
              <a:spcBef>
                <a:spcPts val="315"/>
              </a:spcBef>
            </a:pPr>
            <a:r>
              <a:rPr sz="2800" b="1" spc="2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各种情况概率都为</a:t>
            </a:r>
            <a:r>
              <a:rPr sz="2800" b="1" spc="-12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endPar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object 5"/>
          <p:cNvSpPr txBox="1"/>
          <p:nvPr/>
        </p:nvSpPr>
        <p:spPr>
          <a:xfrm>
            <a:off x="1224340" y="2187819"/>
            <a:ext cx="8129220" cy="487313"/>
          </a:xfrm>
          <a:prstGeom prst="rect">
            <a:avLst/>
          </a:prstGeom>
        </p:spPr>
        <p:txBody>
          <a:bodyPr vert="horz" wrap="square" lIns="0" tIns="0" rIns="0" bIns="0" rtlCol="0">
            <a:spAutoFit/>
          </a:bodyPr>
          <a:lstStyle/>
          <a:p>
            <a:pPr>
              <a:lnSpc>
                <a:spcPts val="3850"/>
              </a:lnSpc>
            </a:pPr>
            <a:r>
              <a:rPr sz="2800" b="1" spc="2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首元素在位置</a:t>
            </a:r>
            <a:r>
              <a:rPr sz="2800" b="1" spc="-67"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433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r>
              <a:rPr sz="2800" b="1" spc="-2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object 6"/>
          <p:cNvSpPr txBox="1"/>
          <p:nvPr/>
        </p:nvSpPr>
        <p:spPr>
          <a:xfrm>
            <a:off x="1211644" y="2700521"/>
            <a:ext cx="8143549" cy="2141612"/>
          </a:xfrm>
          <a:prstGeom prst="rect">
            <a:avLst/>
          </a:prstGeom>
        </p:spPr>
        <p:txBody>
          <a:bodyPr vert="horz" wrap="square" lIns="0" tIns="0" rIns="0" bIns="0" rtlCol="0">
            <a:spAutoFit/>
          </a:bodyPr>
          <a:lstStyle/>
          <a:p>
            <a:pPr marL="12065">
              <a:lnSpc>
                <a:spcPts val="3845"/>
              </a:lnSpc>
            </a:pPr>
            <a:r>
              <a:rPr sz="2800" b="1" spc="2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首元素在位置</a:t>
            </a:r>
            <a:r>
              <a:rPr sz="2800" b="1" spc="-67"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433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2800" b="1" spc="-24"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4235"/>
              </a:lnSpc>
            </a:pP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3845"/>
              </a:lnSpc>
              <a:spcBef>
                <a:spcPts val="315"/>
              </a:spcBef>
            </a:pPr>
            <a:r>
              <a:rPr sz="2800" b="1" spc="2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首元素在位置</a:t>
            </a:r>
            <a:r>
              <a:rPr sz="2800" b="1" spc="-27"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sz="2800" b="1" spc="-15"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3845"/>
              </a:lnSpc>
              <a:spcBef>
                <a:spcPts val="395"/>
              </a:spcBef>
            </a:pPr>
            <a:r>
              <a:rPr sz="2800" b="1" spc="2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首元素在位置</a:t>
            </a:r>
            <a:r>
              <a:rPr sz="2800" b="1" spc="-27"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349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2800" b="1" spc="-3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object 7"/>
          <p:cNvSpPr txBox="1"/>
          <p:nvPr/>
        </p:nvSpPr>
        <p:spPr>
          <a:xfrm>
            <a:off x="558800" y="5037774"/>
            <a:ext cx="8556545" cy="487313"/>
          </a:xfrm>
          <a:prstGeom prst="rect">
            <a:avLst/>
          </a:prstGeom>
        </p:spPr>
        <p:txBody>
          <a:bodyPr vert="horz" wrap="square" lIns="0" tIns="0" rIns="0" bIns="0" rtlCol="0">
            <a:spAutoFit/>
          </a:bodyPr>
          <a:lstStyle/>
          <a:p>
            <a:pPr>
              <a:lnSpc>
                <a:spcPts val="3850"/>
              </a:lnSpc>
            </a:pPr>
            <a:r>
              <a:rPr sz="2800" b="1" spc="2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子问题工作量</a:t>
            </a:r>
            <a:r>
              <a:rPr sz="2800" b="1" spc="-48"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sz="2800" b="1" i="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T</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object 8"/>
          <p:cNvSpPr txBox="1"/>
          <p:nvPr/>
        </p:nvSpPr>
        <p:spPr>
          <a:xfrm>
            <a:off x="558800" y="5566457"/>
            <a:ext cx="4072023" cy="487313"/>
          </a:xfrm>
          <a:prstGeom prst="rect">
            <a:avLst/>
          </a:prstGeom>
        </p:spPr>
        <p:txBody>
          <a:bodyPr vert="horz" wrap="square" lIns="0" tIns="0" rIns="0" bIns="0" rtlCol="0">
            <a:spAutoFit/>
          </a:bodyPr>
          <a:lstStyle/>
          <a:p>
            <a:pPr>
              <a:lnSpc>
                <a:spcPts val="3845"/>
              </a:lnSpc>
            </a:pPr>
            <a:r>
              <a:rPr sz="2800" b="1" spc="2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划分工作量</a:t>
            </a:r>
            <a:r>
              <a:rPr sz="2800" b="1" spc="1696"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-1</a:t>
            </a:r>
            <a:endParaRPr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6038" y="107198"/>
            <a:ext cx="8903556" cy="604974"/>
          </a:xfrm>
          <a:prstGeom prst="rect">
            <a:avLst/>
          </a:prstGeom>
        </p:spPr>
        <p:txBody>
          <a:bodyPr vert="horz" wrap="square" lIns="0" tIns="0" rIns="0" bIns="0" rtlCol="0">
            <a:spAutoFit/>
          </a:bodyPr>
          <a:lstStyle/>
          <a:p>
            <a:pPr algn="ctr">
              <a:lnSpc>
                <a:spcPts val="5325"/>
              </a:lnSpc>
            </a:pPr>
            <a:r>
              <a:rPr sz="4400" b="1" dirty="0">
                <a:solidFill>
                  <a:srgbClr val="C00000"/>
                </a:solidFill>
                <a:latin typeface="黑体" panose="02010609060101010101" pitchFamily="49" charset="-122"/>
                <a:ea typeface="黑体" panose="02010609060101010101" pitchFamily="49" charset="-122"/>
                <a:cs typeface="CISOIN+ËÎÌå"/>
              </a:rPr>
              <a:t>平均时间复杂度</a:t>
            </a:r>
            <a:endParaRPr sz="4400" b="1" dirty="0">
              <a:solidFill>
                <a:srgbClr val="C00000"/>
              </a:solidFill>
              <a:latin typeface="黑体" panose="02010609060101010101" pitchFamily="49" charset="-122"/>
              <a:ea typeface="黑体" panose="02010609060101010101" pitchFamily="49" charset="-122"/>
              <a:cs typeface="CISOIN+ËÎÌå"/>
            </a:endParaRPr>
          </a:p>
        </p:txBody>
      </p:sp>
      <p:sp>
        <p:nvSpPr>
          <p:cNvPr id="19" name="object 19"/>
          <p:cNvSpPr txBox="1"/>
          <p:nvPr/>
        </p:nvSpPr>
        <p:spPr>
          <a:xfrm>
            <a:off x="450187" y="1312847"/>
            <a:ext cx="7127041" cy="448841"/>
          </a:xfrm>
          <a:prstGeom prst="rect">
            <a:avLst/>
          </a:prstGeom>
        </p:spPr>
        <p:txBody>
          <a:bodyPr vert="horz" wrap="square" lIns="0" tIns="0" rIns="0" bIns="0" rtlCol="0">
            <a:spAutoFit/>
          </a:bodyPr>
          <a:lstStyle/>
          <a:p>
            <a:pPr>
              <a:lnSpc>
                <a:spcPts val="3470"/>
              </a:lnSpc>
            </a:pPr>
            <a:r>
              <a:rPr sz="2800" b="1" spc="20" dirty="0">
                <a:solidFill>
                  <a:srgbClr val="000000"/>
                </a:solidFill>
                <a:latin typeface="黑体" panose="02010609060101010101" pitchFamily="49" charset="-122"/>
                <a:ea typeface="黑体" panose="02010609060101010101" pitchFamily="49" charset="-122"/>
                <a:cs typeface="CISOIN+ËÎÌå"/>
              </a:rPr>
              <a:t>首元素划分后每个位置概率相等</a:t>
            </a:r>
            <a:endParaRPr sz="3465" b="1" spc="20" dirty="0">
              <a:solidFill>
                <a:srgbClr val="000000"/>
              </a:solidFill>
              <a:latin typeface="黑体" panose="02010609060101010101" pitchFamily="49" charset="-122"/>
              <a:ea typeface="黑体" panose="02010609060101010101" pitchFamily="49" charset="-122"/>
              <a:cs typeface="CISOIN+ËÎÌå"/>
            </a:endParaRPr>
          </a:p>
        </p:txBody>
      </p:sp>
      <mc:AlternateContent xmlns:mc="http://schemas.openxmlformats.org/markup-compatibility/2006">
        <mc:Choice xmlns:a14="http://schemas.microsoft.com/office/drawing/2010/main" Requires="a14">
          <p:sp>
            <p:nvSpPr>
              <p:cNvPr id="2" name="TextBox 1"/>
              <p:cNvSpPr txBox="1"/>
              <p:nvPr/>
            </p:nvSpPr>
            <p:spPr>
              <a:xfrm>
                <a:off x="1480840" y="1761688"/>
                <a:ext cx="6459845" cy="1266629"/>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a:rPr>
                        <m:t>𝑻</m:t>
                      </m:r>
                      <m:d>
                        <m:dPr>
                          <m:ctrlPr>
                            <a:rPr lang="en-US" altLang="zh-CN" sz="2800" b="1" i="1">
                              <a:latin typeface="Cambria Math" panose="02040503050406030204" pitchFamily="18" charset="0"/>
                            </a:rPr>
                          </m:ctrlPr>
                        </m:dPr>
                        <m:e>
                          <m:r>
                            <a:rPr lang="en-US" altLang="zh-CN" sz="2800" b="1" i="1">
                              <a:latin typeface="Cambria Math" panose="02040503050406030204"/>
                            </a:rPr>
                            <m:t>𝒏</m:t>
                          </m:r>
                        </m:e>
                      </m:d>
                      <m:r>
                        <a:rPr lang="en-US" altLang="zh-CN" sz="2800" b="1" i="1">
                          <a:latin typeface="Cambria Math" panose="02040503050406030204"/>
                        </a:rPr>
                        <m:t>=</m:t>
                      </m:r>
                      <m:f>
                        <m:fPr>
                          <m:ctrlPr>
                            <a:rPr lang="en-US" altLang="zh-CN" sz="2800" b="1" i="1">
                              <a:latin typeface="Cambria Math" panose="02040503050406030204" pitchFamily="18" charset="0"/>
                            </a:rPr>
                          </m:ctrlPr>
                        </m:fPr>
                        <m:num>
                          <m:r>
                            <a:rPr lang="en-US" altLang="zh-CN" sz="2800" b="1" i="1">
                              <a:latin typeface="Cambria Math" panose="02040503050406030204"/>
                            </a:rPr>
                            <m:t>𝟏</m:t>
                          </m:r>
                        </m:num>
                        <m:den>
                          <m:r>
                            <a:rPr lang="en-US" altLang="zh-CN" sz="2800" b="1" i="1">
                              <a:latin typeface="Cambria Math" panose="02040503050406030204"/>
                            </a:rPr>
                            <m:t>𝒏</m:t>
                          </m:r>
                        </m:den>
                      </m:f>
                      <m:nary>
                        <m:naryPr>
                          <m:chr m:val="∑"/>
                          <m:ctrlPr>
                            <a:rPr lang="en-US" altLang="zh-CN" sz="2800" b="1" i="1">
                              <a:latin typeface="Cambria Math" panose="02040503050406030204" pitchFamily="18" charset="0"/>
                            </a:rPr>
                          </m:ctrlPr>
                        </m:naryPr>
                        <m:sub>
                          <m:r>
                            <m:rPr>
                              <m:brk m:alnAt="23"/>
                            </m:rPr>
                            <a:rPr lang="en-US" altLang="zh-CN" sz="2800" b="1" i="1">
                              <a:latin typeface="Cambria Math" panose="02040503050406030204"/>
                            </a:rPr>
                            <m:t>𝒌</m:t>
                          </m:r>
                          <m:r>
                            <a:rPr lang="en-US" altLang="zh-CN" sz="2800" b="1" i="1">
                              <a:latin typeface="Cambria Math" panose="02040503050406030204"/>
                            </a:rPr>
                            <m:t>=</m:t>
                          </m:r>
                          <m:r>
                            <a:rPr lang="en-US" altLang="zh-CN" sz="2800" b="1" i="1">
                              <a:latin typeface="Cambria Math" panose="02040503050406030204"/>
                            </a:rPr>
                            <m:t>𝟏</m:t>
                          </m:r>
                        </m:sub>
                        <m:sup>
                          <m:r>
                            <a:rPr lang="en-US" altLang="zh-CN" sz="2800" b="1" i="1">
                              <a:latin typeface="Cambria Math" panose="02040503050406030204"/>
                            </a:rPr>
                            <m:t>𝒏</m:t>
                          </m:r>
                        </m:sup>
                        <m:e>
                          <m:d>
                            <m:dPr>
                              <m:ctrlPr>
                                <a:rPr lang="en-US" altLang="zh-CN" sz="2800" b="1" i="1">
                                  <a:latin typeface="Cambria Math" panose="02040503050406030204" pitchFamily="18" charset="0"/>
                                </a:rPr>
                              </m:ctrlPr>
                            </m:dPr>
                            <m:e>
                              <m:r>
                                <a:rPr lang="en-US" altLang="zh-CN" sz="2800" b="1" i="1">
                                  <a:latin typeface="Cambria Math" panose="02040503050406030204"/>
                                </a:rPr>
                                <m:t>𝑻</m:t>
                              </m:r>
                              <m:d>
                                <m:dPr>
                                  <m:ctrlPr>
                                    <a:rPr lang="en-US" altLang="zh-CN" sz="2800" b="1" i="1">
                                      <a:latin typeface="Cambria Math" panose="02040503050406030204" pitchFamily="18" charset="0"/>
                                    </a:rPr>
                                  </m:ctrlPr>
                                </m:dPr>
                                <m:e>
                                  <m:r>
                                    <a:rPr lang="en-US" altLang="zh-CN" sz="2800" b="1" i="1">
                                      <a:latin typeface="Cambria Math" panose="02040503050406030204"/>
                                    </a:rPr>
                                    <m:t>𝒌</m:t>
                                  </m:r>
                                </m:e>
                              </m:d>
                              <m:r>
                                <a:rPr lang="en-US" altLang="zh-CN" sz="2800" b="1" i="1">
                                  <a:latin typeface="Cambria Math" panose="02040503050406030204"/>
                                </a:rPr>
                                <m:t>+</m:t>
                              </m:r>
                              <m:r>
                                <a:rPr lang="en-US" altLang="zh-CN" sz="2800" b="1" i="1">
                                  <a:latin typeface="Cambria Math" panose="02040503050406030204"/>
                                </a:rPr>
                                <m:t>𝑻</m:t>
                              </m:r>
                              <m:r>
                                <a:rPr lang="en-US" altLang="zh-CN" sz="2800" b="1" i="1">
                                  <a:latin typeface="Cambria Math" panose="02040503050406030204"/>
                                </a:rPr>
                                <m:t>(</m:t>
                              </m:r>
                              <m:r>
                                <a:rPr lang="en-US" altLang="zh-CN" sz="2800" b="1" i="1">
                                  <a:latin typeface="Cambria Math" panose="02040503050406030204"/>
                                </a:rPr>
                                <m:t>𝒏</m:t>
                              </m:r>
                              <m:r>
                                <a:rPr lang="en-US" altLang="zh-CN" sz="2800" b="1" i="1">
                                  <a:latin typeface="Cambria Math" panose="02040503050406030204"/>
                                </a:rPr>
                                <m:t>−</m:t>
                              </m:r>
                              <m:r>
                                <a:rPr lang="en-US" altLang="zh-CN" sz="2800" b="1" i="1">
                                  <a:latin typeface="Cambria Math" panose="02040503050406030204"/>
                                </a:rPr>
                                <m:t>𝒌</m:t>
                              </m:r>
                              <m:r>
                                <a:rPr lang="en-US" altLang="zh-CN" sz="2800" b="1" i="1">
                                  <a:latin typeface="Cambria Math" panose="02040503050406030204"/>
                                </a:rPr>
                                <m:t>)</m:t>
                              </m:r>
                            </m:e>
                          </m:d>
                        </m:e>
                      </m:nary>
                      <m:r>
                        <a:rPr lang="en-US" altLang="zh-CN" sz="2800" b="1" i="1">
                          <a:latin typeface="Cambria Math" panose="02040503050406030204"/>
                        </a:rPr>
                        <m:t>+</m:t>
                      </m:r>
                      <m:r>
                        <a:rPr lang="en-US" altLang="zh-CN" sz="2800" b="1" i="1">
                          <a:latin typeface="Cambria Math" panose="02040503050406030204"/>
                        </a:rPr>
                        <m:t>𝒏</m:t>
                      </m:r>
                      <m:r>
                        <a:rPr lang="en-US" altLang="zh-CN" sz="2800" b="1" i="1">
                          <a:latin typeface="Cambria Math" panose="02040503050406030204"/>
                        </a:rPr>
                        <m:t>−</m:t>
                      </m:r>
                      <m:r>
                        <a:rPr lang="en-US" altLang="zh-CN" sz="2800" b="1" i="1">
                          <a:latin typeface="Cambria Math" panose="02040503050406030204"/>
                        </a:rPr>
                        <m:t>𝟏</m:t>
                      </m:r>
                    </m:oMath>
                  </m:oMathPara>
                </a14:m>
                <a:endParaRPr lang="zh-CN" altLang="en-US" sz="2800" b="1" i="1" dirty="0"/>
              </a:p>
            </p:txBody>
          </p:sp>
        </mc:Choice>
        <mc:Fallback>
          <p:sp>
            <p:nvSpPr>
              <p:cNvPr id="2" name="TextBox 1"/>
              <p:cNvSpPr txBox="1">
                <a:spLocks noRot="1" noChangeAspect="1" noMove="1" noResize="1" noEditPoints="1" noAdjustHandles="1" noChangeArrowheads="1" noChangeShapeType="1" noTextEdit="1"/>
              </p:cNvSpPr>
              <p:nvPr/>
            </p:nvSpPr>
            <p:spPr>
              <a:xfrm>
                <a:off x="1480840" y="1761688"/>
                <a:ext cx="6459845" cy="1266629"/>
              </a:xfrm>
              <a:prstGeom prst="rect">
                <a:avLst/>
              </a:prstGeom>
              <a:blipFill rotWithShape="1">
                <a:blip r:embed="rId1"/>
                <a:stretch>
                  <a:fillRect t="-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TextBox 19"/>
              <p:cNvSpPr txBox="1"/>
              <p:nvPr/>
            </p:nvSpPr>
            <p:spPr>
              <a:xfrm>
                <a:off x="1501804" y="3032991"/>
                <a:ext cx="4392549" cy="1266629"/>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a:rPr>
                        <m:t>𝑻</m:t>
                      </m:r>
                      <m:d>
                        <m:dPr>
                          <m:ctrlPr>
                            <a:rPr lang="en-US" altLang="zh-CN" sz="2800" b="1" i="1">
                              <a:latin typeface="Cambria Math" panose="02040503050406030204" pitchFamily="18" charset="0"/>
                            </a:rPr>
                          </m:ctrlPr>
                        </m:dPr>
                        <m:e>
                          <m:r>
                            <a:rPr lang="en-US" altLang="zh-CN" sz="2800" b="1" i="1">
                              <a:latin typeface="Cambria Math" panose="02040503050406030204"/>
                            </a:rPr>
                            <m:t>𝒏</m:t>
                          </m:r>
                        </m:e>
                      </m:d>
                      <m:r>
                        <a:rPr lang="en-US" altLang="zh-CN" sz="2800" b="1" i="1">
                          <a:latin typeface="Cambria Math" panose="02040503050406030204"/>
                        </a:rPr>
                        <m:t>=</m:t>
                      </m:r>
                      <m:f>
                        <m:fPr>
                          <m:ctrlPr>
                            <a:rPr lang="en-US" altLang="zh-CN" sz="2800" b="1" i="1">
                              <a:latin typeface="Cambria Math" panose="02040503050406030204" pitchFamily="18" charset="0"/>
                            </a:rPr>
                          </m:ctrlPr>
                        </m:fPr>
                        <m:num>
                          <m:r>
                            <a:rPr lang="en-US" altLang="zh-CN" sz="2800" b="1" i="1">
                              <a:latin typeface="Cambria Math" panose="02040503050406030204"/>
                            </a:rPr>
                            <m:t>𝟐</m:t>
                          </m:r>
                        </m:num>
                        <m:den>
                          <m:r>
                            <a:rPr lang="en-US" altLang="zh-CN" sz="2800" b="1" i="1">
                              <a:latin typeface="Cambria Math" panose="02040503050406030204"/>
                            </a:rPr>
                            <m:t>𝒏</m:t>
                          </m:r>
                        </m:den>
                      </m:f>
                      <m:nary>
                        <m:naryPr>
                          <m:chr m:val="∑"/>
                          <m:ctrlPr>
                            <a:rPr lang="en-US" altLang="zh-CN" sz="2800" b="1" i="1">
                              <a:latin typeface="Cambria Math" panose="02040503050406030204" pitchFamily="18" charset="0"/>
                            </a:rPr>
                          </m:ctrlPr>
                        </m:naryPr>
                        <m:sub>
                          <m:r>
                            <m:rPr>
                              <m:brk m:alnAt="23"/>
                            </m:rPr>
                            <a:rPr lang="en-US" altLang="zh-CN" sz="2800" b="1" i="1">
                              <a:latin typeface="Cambria Math" panose="02040503050406030204"/>
                            </a:rPr>
                            <m:t>𝒌</m:t>
                          </m:r>
                          <m:r>
                            <a:rPr lang="en-US" altLang="zh-CN" sz="2800" b="1" i="1">
                              <a:latin typeface="Cambria Math" panose="02040503050406030204"/>
                            </a:rPr>
                            <m:t>=</m:t>
                          </m:r>
                          <m:r>
                            <a:rPr lang="en-US" altLang="zh-CN" sz="2800" b="1" i="1">
                              <a:latin typeface="Cambria Math" panose="02040503050406030204"/>
                            </a:rPr>
                            <m:t>𝟏</m:t>
                          </m:r>
                        </m:sub>
                        <m:sup>
                          <m:r>
                            <a:rPr lang="en-US" altLang="zh-CN" sz="2800" b="1" i="1">
                              <a:latin typeface="Cambria Math" panose="02040503050406030204"/>
                            </a:rPr>
                            <m:t>𝒏</m:t>
                          </m:r>
                        </m:sup>
                        <m:e>
                          <m:r>
                            <a:rPr lang="en-US" altLang="zh-CN" sz="2800" b="1" i="1">
                              <a:latin typeface="Cambria Math" panose="02040503050406030204"/>
                            </a:rPr>
                            <m:t>𝑻</m:t>
                          </m:r>
                          <m:d>
                            <m:dPr>
                              <m:ctrlPr>
                                <a:rPr lang="en-US" altLang="zh-CN" sz="2800" b="1" i="1">
                                  <a:latin typeface="Cambria Math" panose="02040503050406030204" pitchFamily="18" charset="0"/>
                                </a:rPr>
                              </m:ctrlPr>
                            </m:dPr>
                            <m:e>
                              <m:r>
                                <a:rPr lang="en-US" altLang="zh-CN" sz="2800" b="1" i="1">
                                  <a:latin typeface="Cambria Math" panose="02040503050406030204"/>
                                </a:rPr>
                                <m:t>𝒌</m:t>
                              </m:r>
                            </m:e>
                          </m:d>
                        </m:e>
                      </m:nary>
                      <m:r>
                        <a:rPr lang="en-US" altLang="zh-CN" sz="2800" b="1" i="1">
                          <a:latin typeface="Cambria Math" panose="02040503050406030204"/>
                        </a:rPr>
                        <m:t>+</m:t>
                      </m:r>
                      <m:r>
                        <a:rPr lang="en-US" altLang="zh-CN" sz="2800" b="1" i="1">
                          <a:latin typeface="Cambria Math" panose="02040503050406030204"/>
                        </a:rPr>
                        <m:t>𝒏</m:t>
                      </m:r>
                      <m:r>
                        <a:rPr lang="en-US" altLang="zh-CN" sz="2800" b="1" i="1">
                          <a:latin typeface="Cambria Math" panose="02040503050406030204"/>
                        </a:rPr>
                        <m:t>−</m:t>
                      </m:r>
                      <m:r>
                        <a:rPr lang="en-US" altLang="zh-CN" sz="2800" b="1" i="1">
                          <a:latin typeface="Cambria Math" panose="02040503050406030204"/>
                        </a:rPr>
                        <m:t>𝟏</m:t>
                      </m:r>
                    </m:oMath>
                  </m:oMathPara>
                </a14:m>
                <a:endParaRPr lang="zh-CN" altLang="en-US" sz="2800" b="1" i="1" dirty="0"/>
              </a:p>
            </p:txBody>
          </p:sp>
        </mc:Choice>
        <mc:Fallback>
          <p:sp>
            <p:nvSpPr>
              <p:cNvPr id="20" name="TextBox 19"/>
              <p:cNvSpPr txBox="1">
                <a:spLocks noRot="1" noChangeAspect="1" noMove="1" noResize="1" noEditPoints="1" noAdjustHandles="1" noChangeArrowheads="1" noChangeShapeType="1" noTextEdit="1"/>
              </p:cNvSpPr>
              <p:nvPr/>
            </p:nvSpPr>
            <p:spPr>
              <a:xfrm>
                <a:off x="1501804" y="3032991"/>
                <a:ext cx="4392549" cy="1266629"/>
              </a:xfrm>
              <a:prstGeom prst="rect">
                <a:avLst/>
              </a:prstGeom>
              <a:blipFill rotWithShape="1">
                <a:blip r:embed="rId2"/>
                <a:stretch>
                  <a:fillRect l="-1" t="-18" r="6" b="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TextBox 20"/>
              <p:cNvSpPr txBox="1"/>
              <p:nvPr/>
            </p:nvSpPr>
            <p:spPr>
              <a:xfrm>
                <a:off x="1532901" y="4420921"/>
                <a:ext cx="1685718"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a:rPr>
                        <m:t>𝑻</m:t>
                      </m:r>
                      <m:d>
                        <m:dPr>
                          <m:ctrlPr>
                            <a:rPr lang="en-US" altLang="zh-CN" sz="2800" b="1" i="1">
                              <a:latin typeface="Cambria Math" panose="02040503050406030204" pitchFamily="18" charset="0"/>
                            </a:rPr>
                          </m:ctrlPr>
                        </m:dPr>
                        <m:e>
                          <m:r>
                            <a:rPr lang="en-US" altLang="zh-CN" sz="2800" b="1" i="1">
                              <a:latin typeface="Cambria Math" panose="02040503050406030204"/>
                            </a:rPr>
                            <m:t>𝟏</m:t>
                          </m:r>
                        </m:e>
                      </m:d>
                      <m:r>
                        <a:rPr lang="en-US" altLang="zh-CN" sz="2800" b="1" i="1">
                          <a:latin typeface="Cambria Math" panose="02040503050406030204"/>
                        </a:rPr>
                        <m:t>=</m:t>
                      </m:r>
                      <m:r>
                        <a:rPr lang="en-US" altLang="zh-CN" sz="2800" b="1" i="1">
                          <a:latin typeface="Cambria Math" panose="02040503050406030204"/>
                        </a:rPr>
                        <m:t>𝟎</m:t>
                      </m:r>
                    </m:oMath>
                  </m:oMathPara>
                </a14:m>
                <a:endParaRPr lang="zh-CN" altLang="en-US" sz="2800" b="1" i="1" dirty="0"/>
              </a:p>
            </p:txBody>
          </p:sp>
        </mc:Choice>
        <mc:Fallback>
          <p:sp>
            <p:nvSpPr>
              <p:cNvPr id="21" name="TextBox 20"/>
              <p:cNvSpPr txBox="1">
                <a:spLocks noRot="1" noChangeAspect="1" noMove="1" noResize="1" noEditPoints="1" noAdjustHandles="1" noChangeArrowheads="1" noChangeShapeType="1" noTextEdit="1"/>
              </p:cNvSpPr>
              <p:nvPr/>
            </p:nvSpPr>
            <p:spPr>
              <a:xfrm>
                <a:off x="1532901" y="4420921"/>
                <a:ext cx="1685718" cy="523220"/>
              </a:xfrm>
              <a:prstGeom prst="rect">
                <a:avLst/>
              </a:prstGeom>
              <a:blipFill rotWithShape="1">
                <a:blip r:embed="rId3"/>
                <a:stretch>
                  <a:fillRect l="-1" t="-10" r="26" b="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TextBox 21"/>
              <p:cNvSpPr txBox="1"/>
              <p:nvPr/>
            </p:nvSpPr>
            <p:spPr>
              <a:xfrm>
                <a:off x="1444277" y="5166507"/>
                <a:ext cx="3093539"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a:rPr>
                        <m:t>𝑻</m:t>
                      </m:r>
                      <m:d>
                        <m:dPr>
                          <m:ctrlPr>
                            <a:rPr lang="en-US" altLang="zh-CN" sz="2800" b="1" i="1">
                              <a:latin typeface="Cambria Math" panose="02040503050406030204" pitchFamily="18" charset="0"/>
                            </a:rPr>
                          </m:ctrlPr>
                        </m:dPr>
                        <m:e>
                          <m:r>
                            <a:rPr lang="en-US" altLang="zh-CN" sz="2800" b="1" i="1">
                              <a:latin typeface="Cambria Math" panose="02040503050406030204"/>
                            </a:rPr>
                            <m:t>𝒏</m:t>
                          </m:r>
                        </m:e>
                      </m:d>
                      <m:r>
                        <a:rPr lang="en-US" altLang="zh-CN" sz="2800" b="1" i="1">
                          <a:latin typeface="Cambria Math" panose="02040503050406030204"/>
                        </a:rPr>
                        <m:t>=</m:t>
                      </m:r>
                      <m:r>
                        <a:rPr lang="zh-CN" altLang="en-US" sz="2800" b="1" i="1">
                          <a:latin typeface="Cambria Math" panose="02040503050406030204"/>
                        </a:rPr>
                        <m:t>𝜴</m:t>
                      </m:r>
                      <m:d>
                        <m:dPr>
                          <m:ctrlPr>
                            <a:rPr lang="en-US" altLang="zh-CN" sz="2800" b="1" i="1">
                              <a:latin typeface="Cambria Math" panose="02040503050406030204" pitchFamily="18" charset="0"/>
                            </a:rPr>
                          </m:ctrlPr>
                        </m:dPr>
                        <m:e>
                          <m:func>
                            <m:funcPr>
                              <m:ctrlPr>
                                <a:rPr lang="en-US" altLang="zh-CN" sz="2800" b="1" i="1">
                                  <a:latin typeface="Cambria Math" panose="02040503050406030204" pitchFamily="18" charset="0"/>
                                </a:rPr>
                              </m:ctrlPr>
                            </m:funcPr>
                            <m:fName>
                              <m:r>
                                <a:rPr lang="en-US" altLang="zh-CN" sz="2800" b="1" i="1">
                                  <a:latin typeface="Cambria Math" panose="02040503050406030204"/>
                                </a:rPr>
                                <m:t>𝒏</m:t>
                              </m:r>
                              <m:r>
                                <a:rPr lang="en-US" altLang="zh-CN" sz="2800" b="1">
                                  <a:latin typeface="Cambria Math" panose="02040503050406030204"/>
                                </a:rPr>
                                <m:t>𝐥𝐨𝐠</m:t>
                              </m:r>
                            </m:fName>
                            <m:e>
                              <m:r>
                                <a:rPr lang="en-US" altLang="zh-CN" sz="2800" b="1" i="1">
                                  <a:latin typeface="Cambria Math" panose="02040503050406030204"/>
                                </a:rPr>
                                <m:t>𝒏</m:t>
                              </m:r>
                            </m:e>
                          </m:func>
                        </m:e>
                      </m:d>
                    </m:oMath>
                  </m:oMathPara>
                </a14:m>
                <a:endParaRPr lang="zh-CN" altLang="en-US" sz="2800" b="1" i="1" dirty="0"/>
              </a:p>
            </p:txBody>
          </p:sp>
        </mc:Choice>
        <mc:Fallback>
          <p:sp>
            <p:nvSpPr>
              <p:cNvPr id="22" name="TextBox 21"/>
              <p:cNvSpPr txBox="1">
                <a:spLocks noRot="1" noChangeAspect="1" noMove="1" noResize="1" noEditPoints="1" noAdjustHandles="1" noChangeArrowheads="1" noChangeShapeType="1" noTextEdit="1"/>
              </p:cNvSpPr>
              <p:nvPr/>
            </p:nvSpPr>
            <p:spPr>
              <a:xfrm>
                <a:off x="1444277" y="5166507"/>
                <a:ext cx="3093539" cy="523220"/>
              </a:xfrm>
              <a:prstGeom prst="rect">
                <a:avLst/>
              </a:prstGeom>
              <a:blipFill rotWithShape="1">
                <a:blip r:embed="rId4"/>
                <a:stretch>
                  <a:fillRect l="-9" t="-28" r="3" b="24"/>
                </a:stretch>
              </a:blipFill>
            </p:spPr>
            <p:txBody>
              <a:bodyPr/>
              <a:lstStyle/>
              <a:p>
                <a:r>
                  <a:rPr lang="zh-CN" altLang="en-US">
                    <a:noFill/>
                  </a:rPr>
                  <a:t> </a:t>
                </a:r>
              </a:p>
            </p:txBody>
          </p:sp>
        </mc:Fallback>
      </mc:AlternateContent>
      <p:sp>
        <p:nvSpPr>
          <p:cNvPr id="23" name="矩形 22"/>
          <p:cNvSpPr/>
          <p:nvPr/>
        </p:nvSpPr>
        <p:spPr>
          <a:xfrm>
            <a:off x="1341636" y="3032991"/>
            <a:ext cx="4889199" cy="1361845"/>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84835" y="64282"/>
            <a:ext cx="8860221" cy="604974"/>
          </a:xfrm>
          <a:prstGeom prst="rect">
            <a:avLst/>
          </a:prstGeom>
        </p:spPr>
        <p:txBody>
          <a:bodyPr vert="horz" wrap="square" lIns="0" tIns="0" rIns="0" bIns="0" rtlCol="0">
            <a:spAutoFit/>
          </a:bodyPr>
          <a:lstStyle/>
          <a:p>
            <a:pPr algn="ctr">
              <a:lnSpc>
                <a:spcPts val="5325"/>
              </a:lnSpc>
            </a:pPr>
            <a:r>
              <a:rPr sz="4400" b="1" spc="13" dirty="0">
                <a:solidFill>
                  <a:srgbClr val="C00000"/>
                </a:solidFill>
                <a:latin typeface="黑体" panose="02010609060101010101" pitchFamily="49" charset="-122"/>
                <a:ea typeface="黑体" panose="02010609060101010101" pitchFamily="49" charset="-122"/>
                <a:cs typeface="CISOIN+ËÎÌå"/>
              </a:rPr>
              <a:t>小结</a:t>
            </a:r>
            <a:endParaRPr sz="4400" b="1" spc="13" dirty="0">
              <a:solidFill>
                <a:srgbClr val="C00000"/>
              </a:solidFill>
              <a:latin typeface="黑体" panose="02010609060101010101" pitchFamily="49" charset="-122"/>
              <a:ea typeface="黑体" panose="02010609060101010101" pitchFamily="49" charset="-122"/>
              <a:cs typeface="CISOIN+ËÎÌå"/>
            </a:endParaRPr>
          </a:p>
        </p:txBody>
      </p:sp>
      <p:sp>
        <p:nvSpPr>
          <p:cNvPr id="4" name="object 4"/>
          <p:cNvSpPr txBox="1"/>
          <p:nvPr/>
        </p:nvSpPr>
        <p:spPr>
          <a:xfrm>
            <a:off x="444280" y="1098820"/>
            <a:ext cx="8296308" cy="3288080"/>
          </a:xfrm>
          <a:prstGeom prst="rect">
            <a:avLst/>
          </a:prstGeom>
        </p:spPr>
        <p:txBody>
          <a:bodyPr vert="horz" wrap="square" lIns="0" tIns="0" rIns="0" bIns="0" rtlCol="0">
            <a:spAutoFit/>
          </a:bodyPr>
          <a:lstStyle/>
          <a:p>
            <a:pPr>
              <a:lnSpc>
                <a:spcPts val="3730"/>
              </a:lnSpc>
            </a:pPr>
            <a:r>
              <a:rPr sz="3200" b="1" spc="13" dirty="0" err="1">
                <a:solidFill>
                  <a:srgbClr val="000000"/>
                </a:solidFill>
                <a:latin typeface="黑体" panose="02010609060101010101" pitchFamily="49" charset="-122"/>
                <a:ea typeface="黑体" panose="02010609060101010101" pitchFamily="49" charset="-122"/>
                <a:cs typeface="CISOIN+ËÎÌå"/>
              </a:rPr>
              <a:t>快速排序算法</a:t>
            </a:r>
            <a:endParaRPr lang="en-US" sz="3200" b="1" spc="13" dirty="0">
              <a:solidFill>
                <a:srgbClr val="000000"/>
              </a:solidFill>
              <a:latin typeface="黑体" panose="02010609060101010101" pitchFamily="49" charset="-122"/>
              <a:ea typeface="黑体" panose="02010609060101010101" pitchFamily="49" charset="-122"/>
              <a:cs typeface="CISOIN+ËÎÌå"/>
            </a:endParaRPr>
          </a:p>
          <a:p>
            <a:pPr marL="817245" indent="-457200">
              <a:spcBef>
                <a:spcPts val="1200"/>
              </a:spcBef>
              <a:buFont typeface="Wingdings" panose="05000000000000000000" pitchFamily="2" charset="2"/>
              <a:buChar char="Ø"/>
            </a:pPr>
            <a:r>
              <a:rPr lang="zh-CN" altLang="en-US"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分治策略</a:t>
            </a:r>
            <a:endParaRPr lang="zh-CN" altLang="en-US" sz="2800" b="1" spc="1359"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817245" indent="-457200">
              <a:spcBef>
                <a:spcPts val="1200"/>
              </a:spcBef>
              <a:buFont typeface="Wingdings" panose="05000000000000000000" pitchFamily="2" charset="2"/>
              <a:buChar char="Ø"/>
            </a:pPr>
            <a:r>
              <a:rPr lang="zh-CN" altLang="en-US"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子问题划分是由首元素决定</a:t>
            </a:r>
            <a:endParaRPr lang="zh-CN" altLang="en-US" sz="2800" b="1" spc="13"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817245" indent="-457200">
              <a:spcBef>
                <a:spcPts val="1200"/>
              </a:spcBef>
              <a:buFont typeface="Wingdings" panose="05000000000000000000" pitchFamily="2" charset="2"/>
              <a:buChar char="Ø"/>
            </a:pP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最坏情况下时间</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O</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2800" b="1" spc="13" baseline="30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817245" indent="-457200">
              <a:spcBef>
                <a:spcPts val="1200"/>
              </a:spcBef>
              <a:buFont typeface="Wingdings" panose="05000000000000000000" pitchFamily="2" charset="2"/>
              <a:buChar char="Ø"/>
            </a:pPr>
            <a:r>
              <a:rPr lang="zh-CN" altLang="en-US"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平均情况下时间为</a:t>
            </a:r>
            <a:r>
              <a:rPr lang="en-US" altLang="zh-CN" sz="28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O</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2800" b="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log</a:t>
            </a:r>
            <a:r>
              <a:rPr lang="en-US" altLang="zh-CN" sz="2800" b="1" i="1" dirty="0" err="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3730"/>
              </a:lnSpc>
            </a:pPr>
            <a:endParaRPr sz="3200" b="1" spc="13" dirty="0">
              <a:solidFill>
                <a:srgbClr val="000000"/>
              </a:solidFill>
              <a:latin typeface="黑体" panose="02010609060101010101" pitchFamily="49" charset="-122"/>
              <a:ea typeface="黑体" panose="02010609060101010101" pitchFamily="49" charset="-122"/>
              <a:cs typeface="CISOIN+ËÎÌå"/>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534276" y="2459038"/>
            <a:ext cx="8282152" cy="1031875"/>
          </a:xfrm>
          <a:prstGeom prst="rect">
            <a:avLst/>
          </a:prstGeom>
        </p:spPr>
        <p:txBody>
          <a:bodyPr vert="horz" wrap="square" lIns="0" tIns="16933" rIns="0" bIns="0" rtlCol="0" anchor="ctr">
            <a:spAutoFit/>
          </a:bodyPr>
          <a:lstStyle/>
          <a:p>
            <a:pPr marL="17145" algn="ctr">
              <a:lnSpc>
                <a:spcPct val="100000"/>
              </a:lnSpc>
              <a:spcBef>
                <a:spcPts val="135"/>
              </a:spcBef>
            </a:pPr>
            <a:r>
              <a:rPr sz="6600" b="1" spc="-27" dirty="0">
                <a:solidFill>
                  <a:srgbClr val="C00000"/>
                </a:solidFill>
                <a:latin typeface="黑体" panose="02010609060101010101" pitchFamily="49" charset="-122"/>
                <a:ea typeface="黑体" panose="02010609060101010101" pitchFamily="49" charset="-122"/>
              </a:rPr>
              <a:t>幂</a:t>
            </a:r>
            <a:r>
              <a:rPr sz="6600" b="1" spc="-7" dirty="0">
                <a:solidFill>
                  <a:srgbClr val="C00000"/>
                </a:solidFill>
                <a:latin typeface="黑体" panose="02010609060101010101" pitchFamily="49" charset="-122"/>
                <a:ea typeface="黑体" panose="02010609060101010101" pitchFamily="49" charset="-122"/>
              </a:rPr>
              <a:t>乘</a:t>
            </a:r>
            <a:r>
              <a:rPr sz="6600" b="1" spc="-27" dirty="0">
                <a:solidFill>
                  <a:srgbClr val="C00000"/>
                </a:solidFill>
                <a:latin typeface="黑体" panose="02010609060101010101" pitchFamily="49" charset="-122"/>
                <a:ea typeface="黑体" panose="02010609060101010101" pitchFamily="49" charset="-122"/>
              </a:rPr>
              <a:t>算</a:t>
            </a:r>
            <a:r>
              <a:rPr sz="6600" b="1" spc="-7" dirty="0">
                <a:solidFill>
                  <a:srgbClr val="C00000"/>
                </a:solidFill>
                <a:latin typeface="黑体" panose="02010609060101010101" pitchFamily="49" charset="-122"/>
                <a:ea typeface="黑体" panose="02010609060101010101" pitchFamily="49" charset="-122"/>
              </a:rPr>
              <a:t>法及</a:t>
            </a:r>
            <a:r>
              <a:rPr sz="6600" b="1" spc="13" dirty="0">
                <a:solidFill>
                  <a:srgbClr val="C00000"/>
                </a:solidFill>
                <a:latin typeface="黑体" panose="02010609060101010101" pitchFamily="49" charset="-122"/>
                <a:ea typeface="黑体" panose="02010609060101010101" pitchFamily="49" charset="-122"/>
              </a:rPr>
              <a:t>应</a:t>
            </a:r>
            <a:r>
              <a:rPr sz="6600" b="1" spc="-27" dirty="0">
                <a:solidFill>
                  <a:srgbClr val="C00000"/>
                </a:solidFill>
                <a:latin typeface="黑体" panose="02010609060101010101" pitchFamily="49" charset="-122"/>
                <a:ea typeface="黑体" panose="02010609060101010101" pitchFamily="49" charset="-122"/>
              </a:rPr>
              <a:t>用</a:t>
            </a:r>
            <a:endParaRPr sz="6600" b="1" dirty="0">
              <a:solidFill>
                <a:srgbClr val="C00000"/>
              </a:solidFill>
              <a:latin typeface="黑体" panose="02010609060101010101" pitchFamily="49" charset="-122"/>
              <a:ea typeface="黑体" panose="02010609060101010101" pitchFamily="49"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8871" y="-30778"/>
            <a:ext cx="8839199"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幂乘问题</a:t>
            </a:r>
            <a:endParaRPr sz="4400" b="1" spc="-13"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622299" y="1066370"/>
            <a:ext cx="8131407" cy="3558004"/>
          </a:xfrm>
          <a:prstGeom prst="rect">
            <a:avLst/>
          </a:prstGeom>
        </p:spPr>
        <p:txBody>
          <a:bodyPr vert="horz" wrap="square" lIns="0" tIns="16933" rIns="0" bIns="0" rtlCol="0">
            <a:spAutoFit/>
          </a:bodyPr>
          <a:lstStyle/>
          <a:p>
            <a:pPr marR="74295">
              <a:lnSpc>
                <a:spcPct val="115000"/>
              </a:lnSpc>
              <a:spcBef>
                <a:spcPts val="135"/>
              </a:spcBef>
            </a:pPr>
            <a:r>
              <a:rPr sz="3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输入</a:t>
            </a:r>
            <a:r>
              <a:rPr sz="3200" b="1" spc="-13" dirty="0">
                <a:latin typeface="Times New Roman" panose="02020603050405020304" pitchFamily="18" charset="0"/>
                <a:ea typeface="黑体" panose="02010609060101010101" pitchFamily="49" charset="-122"/>
                <a:cs typeface="Times New Roman" panose="02020603050405020304" pitchFamily="18" charset="0"/>
              </a:rPr>
              <a:t>：</a:t>
            </a:r>
            <a:r>
              <a:rPr sz="3200" b="1" spc="-967"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err="1">
                <a:latin typeface="Times New Roman" panose="02020603050405020304" pitchFamily="18" charset="0"/>
                <a:ea typeface="黑体" panose="02010609060101010101" pitchFamily="49" charset="-122"/>
                <a:cs typeface="Times New Roman" panose="02020603050405020304" pitchFamily="18" charset="0"/>
              </a:rPr>
              <a:t>a</a:t>
            </a:r>
            <a:r>
              <a:rPr sz="3200" b="1" dirty="0" err="1">
                <a:latin typeface="Times New Roman" panose="02020603050405020304" pitchFamily="18" charset="0"/>
                <a:ea typeface="黑体" panose="02010609060101010101" pitchFamily="49" charset="-122"/>
                <a:cs typeface="Times New Roman" panose="02020603050405020304" pitchFamily="18" charset="0"/>
              </a:rPr>
              <a:t>为给定实数</a:t>
            </a:r>
            <a:r>
              <a:rPr sz="3200" b="1" spc="7" dirty="0" err="1">
                <a:latin typeface="Times New Roman" panose="02020603050405020304" pitchFamily="18" charset="0"/>
                <a:ea typeface="黑体" panose="02010609060101010101" pitchFamily="49" charset="-122"/>
                <a:cs typeface="Times New Roman" panose="02020603050405020304" pitchFamily="18" charset="0"/>
              </a:rPr>
              <a:t>，</a:t>
            </a:r>
            <a:r>
              <a:rPr sz="3200" b="1" i="1" spc="7" dirty="0" err="1">
                <a:latin typeface="Times New Roman" panose="02020603050405020304" pitchFamily="18" charset="0"/>
                <a:ea typeface="黑体" panose="02010609060101010101" pitchFamily="49" charset="-122"/>
                <a:cs typeface="Times New Roman" panose="02020603050405020304" pitchFamily="18" charset="0"/>
              </a:rPr>
              <a:t>n</a:t>
            </a:r>
            <a:r>
              <a:rPr sz="3200" b="1" dirty="0" err="1">
                <a:latin typeface="Times New Roman" panose="02020603050405020304" pitchFamily="18" charset="0"/>
                <a:ea typeface="黑体" panose="02010609060101010101" pitchFamily="49" charset="-122"/>
                <a:cs typeface="Times New Roman" panose="02020603050405020304" pitchFamily="18" charset="0"/>
              </a:rPr>
              <a:t>为自然数</a:t>
            </a:r>
            <a:r>
              <a:rPr sz="3200" b="1" dirty="0">
                <a:latin typeface="Times New Roman" panose="02020603050405020304" pitchFamily="18" charset="0"/>
                <a:ea typeface="黑体" panose="02010609060101010101" pitchFamily="49" charset="-122"/>
                <a:cs typeface="Times New Roman" panose="02020603050405020304" pitchFamily="18" charset="0"/>
              </a:rPr>
              <a:t> </a:t>
            </a:r>
            <a:endParaRPr lang="en-US" sz="3200" b="1" dirty="0">
              <a:latin typeface="Times New Roman" panose="02020603050405020304" pitchFamily="18" charset="0"/>
              <a:ea typeface="黑体" panose="02010609060101010101" pitchFamily="49" charset="-122"/>
              <a:cs typeface="Times New Roman" panose="02020603050405020304" pitchFamily="18" charset="0"/>
            </a:endParaRPr>
          </a:p>
          <a:p>
            <a:pPr marR="74295">
              <a:lnSpc>
                <a:spcPct val="115000"/>
              </a:lnSpc>
              <a:spcBef>
                <a:spcPts val="135"/>
              </a:spcBef>
            </a:pPr>
            <a:r>
              <a:rPr sz="32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输出</a:t>
            </a:r>
            <a:r>
              <a:rPr sz="3200" b="1" spc="-13" dirty="0">
                <a:latin typeface="Times New Roman" panose="02020603050405020304" pitchFamily="18" charset="0"/>
                <a:ea typeface="黑体" panose="02010609060101010101" pitchFamily="49" charset="-122"/>
                <a:cs typeface="Times New Roman" panose="02020603050405020304" pitchFamily="18" charset="0"/>
              </a:rPr>
              <a:t>：</a:t>
            </a:r>
            <a:r>
              <a:rPr sz="3200" b="1" spc="-907"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a</a:t>
            </a:r>
            <a:r>
              <a:rPr sz="3200" b="1" i="1" spc="9" baseline="26000" dirty="0">
                <a:latin typeface="Times New Roman" panose="02020603050405020304" pitchFamily="18" charset="0"/>
                <a:ea typeface="黑体" panose="02010609060101010101" pitchFamily="49" charset="-122"/>
                <a:cs typeface="Times New Roman" panose="02020603050405020304" pitchFamily="18" charset="0"/>
              </a:rPr>
              <a:t>n</a:t>
            </a:r>
            <a:endParaRPr sz="3200" baseline="260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65"/>
              </a:spcBef>
            </a:pPr>
            <a:endParaRPr sz="4135"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5"/>
              </a:spcBef>
              <a:tabLst>
                <a:tab pos="2327275" algn="l"/>
              </a:tabLst>
            </a:pPr>
            <a:r>
              <a:rPr sz="32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传统算法</a:t>
            </a:r>
            <a:r>
              <a:rPr sz="3200" b="1" dirty="0" err="1">
                <a:latin typeface="Times New Roman" panose="02020603050405020304" pitchFamily="18" charset="0"/>
                <a:ea typeface="黑体" panose="02010609060101010101" pitchFamily="49" charset="-122"/>
                <a:cs typeface="Times New Roman" panose="02020603050405020304" pitchFamily="18" charset="0"/>
              </a:rPr>
              <a:t>:顺序相乘</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682625" algn="ctr">
              <a:spcBef>
                <a:spcPts val="1140"/>
              </a:spcBef>
            </a:pPr>
            <a:r>
              <a:rPr sz="3200" b="1" i="1" spc="7" dirty="0">
                <a:latin typeface="Times New Roman" panose="02020603050405020304" pitchFamily="18" charset="0"/>
                <a:ea typeface="黑体" panose="02010609060101010101" pitchFamily="49" charset="-122"/>
                <a:cs typeface="Times New Roman" panose="02020603050405020304" pitchFamily="18" charset="0"/>
              </a:rPr>
              <a:t>a</a:t>
            </a:r>
            <a:r>
              <a:rPr sz="3200" b="1" i="1" spc="9" baseline="26000" dirty="0">
                <a:latin typeface="Times New Roman" panose="02020603050405020304" pitchFamily="18" charset="0"/>
                <a:ea typeface="黑体" panose="02010609060101010101" pitchFamily="49" charset="-122"/>
                <a:cs typeface="Times New Roman" panose="02020603050405020304" pitchFamily="18" charset="0"/>
              </a:rPr>
              <a:t>n </a:t>
            </a:r>
            <a:r>
              <a:rPr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i="1" dirty="0">
                <a:latin typeface="Times New Roman" panose="02020603050405020304" pitchFamily="18" charset="0"/>
                <a:ea typeface="黑体" panose="02010609060101010101" pitchFamily="49" charset="-122"/>
                <a:cs typeface="Times New Roman" panose="02020603050405020304" pitchFamily="18" charset="0"/>
              </a:rPr>
              <a:t>a</a:t>
            </a:r>
            <a:r>
              <a:rPr sz="3200" b="1" i="1" spc="-333"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a</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a</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a</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a</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a:spcBef>
                <a:spcPts val="1020"/>
              </a:spcBef>
            </a:pPr>
            <a:r>
              <a:rPr sz="3200" b="1" dirty="0">
                <a:latin typeface="Times New Roman" panose="02020603050405020304" pitchFamily="18" charset="0"/>
                <a:ea typeface="黑体" panose="02010609060101010101" pitchFamily="49" charset="-122"/>
                <a:cs typeface="Times New Roman" panose="02020603050405020304" pitchFamily="18" charset="0"/>
              </a:rPr>
              <a:t>乘法次数</a:t>
            </a:r>
            <a:r>
              <a:rPr sz="3200" b="1" spc="-13" dirty="0">
                <a:latin typeface="Times New Roman" panose="02020603050405020304" pitchFamily="18" charset="0"/>
                <a:ea typeface="黑体" panose="02010609060101010101" pitchFamily="49" charset="-122"/>
                <a:cs typeface="Times New Roman" panose="02020603050405020304" pitchFamily="18" charset="0"/>
              </a:rPr>
              <a:t>：</a:t>
            </a:r>
            <a:r>
              <a:rPr sz="3200" b="1" spc="-907" dirty="0">
                <a:latin typeface="Times New Roman" panose="02020603050405020304" pitchFamily="18" charset="0"/>
                <a:ea typeface="黑体" panose="02010609060101010101" pitchFamily="49" charset="-122"/>
                <a:cs typeface="Times New Roman" panose="02020603050405020304" pitchFamily="18" charset="0"/>
              </a:rPr>
              <a:t> </a:t>
            </a:r>
            <a:r>
              <a:rPr sz="3200" b="1" i="1" spc="-160" dirty="0">
                <a:latin typeface="Symbol" panose="05050102010706020507"/>
                <a:cs typeface="Symbol" panose="05050102010706020507"/>
              </a:rPr>
              <a:t></a:t>
            </a:r>
            <a:r>
              <a:rPr sz="3200" b="1" i="1" spc="-53" dirty="0">
                <a:latin typeface="Times New Roman" panose="02020603050405020304"/>
                <a:cs typeface="Times New Roman" panose="02020603050405020304"/>
              </a:rPr>
              <a:t> </a:t>
            </a:r>
            <a:r>
              <a:rPr sz="3200" b="1" dirty="0">
                <a:latin typeface="Times New Roman" panose="02020603050405020304"/>
                <a:cs typeface="Times New Roman" panose="02020603050405020304"/>
              </a:rPr>
              <a:t>(</a:t>
            </a:r>
            <a:r>
              <a:rPr sz="3200" b="1" i="1" dirty="0">
                <a:latin typeface="Times New Roman" panose="02020603050405020304"/>
                <a:cs typeface="Times New Roman" panose="02020603050405020304"/>
              </a:rPr>
              <a:t>n</a:t>
            </a:r>
            <a:r>
              <a:rPr sz="3200" b="1" dirty="0">
                <a:latin typeface="Times New Roman" panose="02020603050405020304"/>
                <a:cs typeface="Times New Roman" panose="02020603050405020304"/>
              </a:rPr>
              <a:t>)</a:t>
            </a:r>
            <a:endParaRPr sz="3200" dirty="0">
              <a:latin typeface="Times New Roman" panose="02020603050405020304"/>
              <a:cs typeface="Times New Roman" panose="020206030504050203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6561" y="47745"/>
            <a:ext cx="8897439"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分治算</a:t>
            </a:r>
            <a:r>
              <a:rPr sz="4400" b="1" spc="-20" dirty="0">
                <a:solidFill>
                  <a:srgbClr val="C00000"/>
                </a:solidFill>
                <a:latin typeface="黑体" panose="02010609060101010101" pitchFamily="49" charset="-122"/>
                <a:ea typeface="黑体" panose="02010609060101010101" pitchFamily="49" charset="-122"/>
              </a:rPr>
              <a:t>法</a:t>
            </a:r>
            <a:r>
              <a:rPr sz="4400" b="1" spc="-7" dirty="0">
                <a:solidFill>
                  <a:srgbClr val="C00000"/>
                </a:solidFill>
                <a:latin typeface="黑体" panose="02010609060101010101" pitchFamily="49" charset="-122"/>
                <a:ea typeface="黑体" panose="02010609060101010101" pitchFamily="49" charset="-122"/>
                <a:cs typeface="Times New Roman" panose="02020603050405020304"/>
              </a:rPr>
              <a:t>—</a:t>
            </a:r>
            <a:r>
              <a:rPr sz="4400" b="1" spc="-13" dirty="0">
                <a:solidFill>
                  <a:srgbClr val="C00000"/>
                </a:solidFill>
                <a:latin typeface="黑体" panose="02010609060101010101" pitchFamily="49" charset="-122"/>
                <a:ea typeface="黑体" panose="02010609060101010101" pitchFamily="49" charset="-122"/>
                <a:cs typeface="Times New Roman" panose="02020603050405020304"/>
              </a:rPr>
              <a:t>—</a:t>
            </a:r>
            <a:r>
              <a:rPr sz="4400" b="1" spc="-13" dirty="0">
                <a:solidFill>
                  <a:srgbClr val="C00000"/>
                </a:solidFill>
                <a:latin typeface="黑体" panose="02010609060101010101" pitchFamily="49" charset="-122"/>
                <a:ea typeface="黑体" panose="02010609060101010101" pitchFamily="49" charset="-122"/>
              </a:rPr>
              <a:t>划分</a:t>
            </a:r>
            <a:endParaRPr sz="4400" b="1" spc="-13" dirty="0">
              <a:solidFill>
                <a:srgbClr val="C00000"/>
              </a:solidFill>
              <a:latin typeface="黑体" panose="02010609060101010101" pitchFamily="49" charset="-122"/>
              <a:ea typeface="黑体" panose="02010609060101010101" pitchFamily="49" charset="-122"/>
            </a:endParaRPr>
          </a:p>
        </p:txBody>
      </p:sp>
      <p:sp>
        <p:nvSpPr>
          <p:cNvPr id="3" name="object 3"/>
          <p:cNvSpPr/>
          <p:nvPr/>
        </p:nvSpPr>
        <p:spPr>
          <a:xfrm>
            <a:off x="2399862" y="1791696"/>
            <a:ext cx="1625600" cy="203200"/>
          </a:xfrm>
          <a:custGeom>
            <a:avLst/>
            <a:gdLst/>
            <a:ahLst/>
            <a:cxnLst/>
            <a:rect l="l" t="t" r="r" b="b"/>
            <a:pathLst>
              <a:path w="1219200" h="152400">
                <a:moveTo>
                  <a:pt x="1219200" y="0"/>
                </a:moveTo>
                <a:lnTo>
                  <a:pt x="1218197" y="29640"/>
                </a:lnTo>
                <a:lnTo>
                  <a:pt x="1215469" y="53863"/>
                </a:lnTo>
                <a:lnTo>
                  <a:pt x="1211431" y="70205"/>
                </a:lnTo>
                <a:lnTo>
                  <a:pt x="1206500" y="76200"/>
                </a:lnTo>
                <a:lnTo>
                  <a:pt x="622300" y="76200"/>
                </a:lnTo>
                <a:lnTo>
                  <a:pt x="617368" y="82194"/>
                </a:lnTo>
                <a:lnTo>
                  <a:pt x="613330" y="98536"/>
                </a:lnTo>
                <a:lnTo>
                  <a:pt x="610602" y="122759"/>
                </a:lnTo>
                <a:lnTo>
                  <a:pt x="609600" y="152400"/>
                </a:lnTo>
                <a:lnTo>
                  <a:pt x="608597" y="122759"/>
                </a:lnTo>
                <a:lnTo>
                  <a:pt x="605869" y="98536"/>
                </a:lnTo>
                <a:lnTo>
                  <a:pt x="601831" y="82194"/>
                </a:lnTo>
                <a:lnTo>
                  <a:pt x="596900" y="76200"/>
                </a:lnTo>
                <a:lnTo>
                  <a:pt x="12700" y="76200"/>
                </a:lnTo>
                <a:lnTo>
                  <a:pt x="7768" y="70205"/>
                </a:lnTo>
                <a:lnTo>
                  <a:pt x="3730" y="53863"/>
                </a:lnTo>
                <a:lnTo>
                  <a:pt x="1002" y="29640"/>
                </a:lnTo>
                <a:lnTo>
                  <a:pt x="0" y="0"/>
                </a:lnTo>
              </a:path>
            </a:pathLst>
          </a:custGeom>
          <a:ln w="25400">
            <a:solidFill>
              <a:srgbClr val="000000"/>
            </a:solidFill>
          </a:ln>
        </p:spPr>
        <p:txBody>
          <a:bodyPr wrap="square" lIns="0" tIns="0" rIns="0" bIns="0" rtlCol="0"/>
          <a:lstStyle/>
          <a:p>
            <a:endParaRPr sz="24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p:nvPr/>
        </p:nvSpPr>
        <p:spPr>
          <a:xfrm>
            <a:off x="4330262" y="1791696"/>
            <a:ext cx="1625600" cy="203200"/>
          </a:xfrm>
          <a:custGeom>
            <a:avLst/>
            <a:gdLst/>
            <a:ahLst/>
            <a:cxnLst/>
            <a:rect l="l" t="t" r="r" b="b"/>
            <a:pathLst>
              <a:path w="1219200" h="152400">
                <a:moveTo>
                  <a:pt x="1219200" y="0"/>
                </a:moveTo>
                <a:lnTo>
                  <a:pt x="1218197" y="29640"/>
                </a:lnTo>
                <a:lnTo>
                  <a:pt x="1215469" y="53863"/>
                </a:lnTo>
                <a:lnTo>
                  <a:pt x="1211431" y="70205"/>
                </a:lnTo>
                <a:lnTo>
                  <a:pt x="1206500" y="76200"/>
                </a:lnTo>
                <a:lnTo>
                  <a:pt x="622300" y="76200"/>
                </a:lnTo>
                <a:lnTo>
                  <a:pt x="617368" y="82194"/>
                </a:lnTo>
                <a:lnTo>
                  <a:pt x="613330" y="98536"/>
                </a:lnTo>
                <a:lnTo>
                  <a:pt x="610602" y="122759"/>
                </a:lnTo>
                <a:lnTo>
                  <a:pt x="609600" y="152400"/>
                </a:lnTo>
                <a:lnTo>
                  <a:pt x="608597" y="122759"/>
                </a:lnTo>
                <a:lnTo>
                  <a:pt x="605869" y="98536"/>
                </a:lnTo>
                <a:lnTo>
                  <a:pt x="601831" y="82194"/>
                </a:lnTo>
                <a:lnTo>
                  <a:pt x="596900" y="76200"/>
                </a:lnTo>
                <a:lnTo>
                  <a:pt x="12700" y="76200"/>
                </a:lnTo>
                <a:lnTo>
                  <a:pt x="7768" y="70205"/>
                </a:lnTo>
                <a:lnTo>
                  <a:pt x="3730" y="53863"/>
                </a:lnTo>
                <a:lnTo>
                  <a:pt x="1002" y="29640"/>
                </a:lnTo>
                <a:lnTo>
                  <a:pt x="0" y="0"/>
                </a:lnTo>
              </a:path>
            </a:pathLst>
          </a:custGeom>
          <a:ln w="25400">
            <a:solidFill>
              <a:srgbClr val="000000"/>
            </a:solidFill>
          </a:ln>
        </p:spPr>
        <p:txBody>
          <a:bodyPr wrap="square" lIns="0" tIns="0" rIns="0" bIns="0" rtlCol="0"/>
          <a:lstStyle/>
          <a:p>
            <a:endParaRPr sz="24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object 5"/>
          <p:cNvSpPr/>
          <p:nvPr/>
        </p:nvSpPr>
        <p:spPr>
          <a:xfrm>
            <a:off x="2399862" y="3466344"/>
            <a:ext cx="1625600" cy="203200"/>
          </a:xfrm>
          <a:custGeom>
            <a:avLst/>
            <a:gdLst/>
            <a:ahLst/>
            <a:cxnLst/>
            <a:rect l="l" t="t" r="r" b="b"/>
            <a:pathLst>
              <a:path w="1219200" h="152400">
                <a:moveTo>
                  <a:pt x="1219200" y="0"/>
                </a:moveTo>
                <a:lnTo>
                  <a:pt x="1218197" y="29640"/>
                </a:lnTo>
                <a:lnTo>
                  <a:pt x="1215469" y="53863"/>
                </a:lnTo>
                <a:lnTo>
                  <a:pt x="1211431" y="70205"/>
                </a:lnTo>
                <a:lnTo>
                  <a:pt x="1206500" y="76200"/>
                </a:lnTo>
                <a:lnTo>
                  <a:pt x="622300" y="76200"/>
                </a:lnTo>
                <a:lnTo>
                  <a:pt x="617368" y="82194"/>
                </a:lnTo>
                <a:lnTo>
                  <a:pt x="613330" y="98536"/>
                </a:lnTo>
                <a:lnTo>
                  <a:pt x="610602" y="122759"/>
                </a:lnTo>
                <a:lnTo>
                  <a:pt x="609600" y="152400"/>
                </a:lnTo>
                <a:lnTo>
                  <a:pt x="608597" y="122759"/>
                </a:lnTo>
                <a:lnTo>
                  <a:pt x="605869" y="98536"/>
                </a:lnTo>
                <a:lnTo>
                  <a:pt x="601831" y="82194"/>
                </a:lnTo>
                <a:lnTo>
                  <a:pt x="596900" y="76200"/>
                </a:lnTo>
                <a:lnTo>
                  <a:pt x="12700" y="76200"/>
                </a:lnTo>
                <a:lnTo>
                  <a:pt x="7768" y="70205"/>
                </a:lnTo>
                <a:lnTo>
                  <a:pt x="3730" y="53863"/>
                </a:lnTo>
                <a:lnTo>
                  <a:pt x="1002" y="29640"/>
                </a:lnTo>
                <a:lnTo>
                  <a:pt x="0" y="0"/>
                </a:lnTo>
              </a:path>
            </a:pathLst>
          </a:custGeom>
          <a:ln w="25400">
            <a:solidFill>
              <a:srgbClr val="000000"/>
            </a:solidFill>
          </a:ln>
        </p:spPr>
        <p:txBody>
          <a:bodyPr wrap="square" lIns="0" tIns="0" rIns="0" bIns="0" rtlCol="0"/>
          <a:lstStyle/>
          <a:p>
            <a:endParaRPr sz="24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object 6"/>
          <p:cNvSpPr txBox="1"/>
          <p:nvPr/>
        </p:nvSpPr>
        <p:spPr>
          <a:xfrm>
            <a:off x="574451" y="1218675"/>
            <a:ext cx="6031653" cy="509541"/>
          </a:xfrm>
          <a:prstGeom prst="rect">
            <a:avLst/>
          </a:prstGeom>
        </p:spPr>
        <p:txBody>
          <a:bodyPr vert="horz" wrap="square" lIns="0" tIns="16933" rIns="0" bIns="0" rtlCol="0">
            <a:spAutoFit/>
          </a:bodyPr>
          <a:lstStyle/>
          <a:p>
            <a:pPr marL="17145">
              <a:spcBef>
                <a:spcPts val="135"/>
              </a:spcBef>
            </a:pPr>
            <a:r>
              <a:rPr sz="3200" b="1" i="1" spc="-13" dirty="0">
                <a:latin typeface="Times New Roman" panose="02020603050405020304" pitchFamily="18" charset="0"/>
                <a:ea typeface="黑体" panose="02010609060101010101" pitchFamily="49" charset="-122"/>
                <a:cs typeface="Times New Roman" panose="02020603050405020304" pitchFamily="18" charset="0"/>
              </a:rPr>
              <a:t>n</a:t>
            </a:r>
            <a:r>
              <a:rPr sz="3200" b="1" dirty="0">
                <a:latin typeface="Times New Roman" panose="02020603050405020304" pitchFamily="18" charset="0"/>
                <a:ea typeface="黑体" panose="02010609060101010101" pitchFamily="49" charset="-122"/>
                <a:cs typeface="Times New Roman" panose="02020603050405020304" pitchFamily="18" charset="0"/>
              </a:rPr>
              <a:t>为偶</a:t>
            </a:r>
            <a:r>
              <a:rPr sz="3200" b="1" spc="-13" dirty="0">
                <a:latin typeface="Times New Roman" panose="02020603050405020304" pitchFamily="18" charset="0"/>
                <a:ea typeface="黑体" panose="02010609060101010101" pitchFamily="49" charset="-122"/>
                <a:cs typeface="Times New Roman" panose="02020603050405020304" pitchFamily="18" charset="0"/>
              </a:rPr>
              <a:t>数</a:t>
            </a:r>
            <a:r>
              <a:rPr sz="3200" b="1" spc="780"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a .</a:t>
            </a:r>
            <a:r>
              <a:rPr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a</a:t>
            </a:r>
            <a:r>
              <a:rPr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sz="3200" b="1" spc="-2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a</a:t>
            </a:r>
            <a:r>
              <a:rPr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a</a:t>
            </a:r>
            <a:endParaRPr sz="32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object 7"/>
          <p:cNvSpPr/>
          <p:nvPr/>
        </p:nvSpPr>
        <p:spPr>
          <a:xfrm>
            <a:off x="4330262" y="3466344"/>
            <a:ext cx="1625600" cy="203200"/>
          </a:xfrm>
          <a:custGeom>
            <a:avLst/>
            <a:gdLst/>
            <a:ahLst/>
            <a:cxnLst/>
            <a:rect l="l" t="t" r="r" b="b"/>
            <a:pathLst>
              <a:path w="1219200" h="152400">
                <a:moveTo>
                  <a:pt x="1219200" y="0"/>
                </a:moveTo>
                <a:lnTo>
                  <a:pt x="1218197" y="29640"/>
                </a:lnTo>
                <a:lnTo>
                  <a:pt x="1215469" y="53863"/>
                </a:lnTo>
                <a:lnTo>
                  <a:pt x="1211431" y="70205"/>
                </a:lnTo>
                <a:lnTo>
                  <a:pt x="1206500" y="76200"/>
                </a:lnTo>
                <a:lnTo>
                  <a:pt x="622300" y="76200"/>
                </a:lnTo>
                <a:lnTo>
                  <a:pt x="617368" y="82194"/>
                </a:lnTo>
                <a:lnTo>
                  <a:pt x="613330" y="98536"/>
                </a:lnTo>
                <a:lnTo>
                  <a:pt x="610602" y="122759"/>
                </a:lnTo>
                <a:lnTo>
                  <a:pt x="609600" y="152400"/>
                </a:lnTo>
                <a:lnTo>
                  <a:pt x="608597" y="122759"/>
                </a:lnTo>
                <a:lnTo>
                  <a:pt x="605869" y="98536"/>
                </a:lnTo>
                <a:lnTo>
                  <a:pt x="601831" y="82194"/>
                </a:lnTo>
                <a:lnTo>
                  <a:pt x="596900" y="76200"/>
                </a:lnTo>
                <a:lnTo>
                  <a:pt x="12700" y="76200"/>
                </a:lnTo>
                <a:lnTo>
                  <a:pt x="7768" y="70205"/>
                </a:lnTo>
                <a:lnTo>
                  <a:pt x="3730" y="53863"/>
                </a:lnTo>
                <a:lnTo>
                  <a:pt x="1002" y="29640"/>
                </a:lnTo>
                <a:lnTo>
                  <a:pt x="0" y="0"/>
                </a:lnTo>
              </a:path>
            </a:pathLst>
          </a:custGeom>
          <a:ln w="25400">
            <a:solidFill>
              <a:srgbClr val="000000"/>
            </a:solidFill>
          </a:ln>
        </p:spPr>
        <p:txBody>
          <a:bodyPr wrap="square" lIns="0" tIns="0" rIns="0" bIns="0" rtlCol="0"/>
          <a:lstStyle/>
          <a:p>
            <a:endParaRPr sz="24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object 8"/>
          <p:cNvSpPr txBox="1"/>
          <p:nvPr/>
        </p:nvSpPr>
        <p:spPr>
          <a:xfrm>
            <a:off x="642184" y="4894496"/>
            <a:ext cx="861907" cy="590697"/>
          </a:xfrm>
          <a:prstGeom prst="rect">
            <a:avLst/>
          </a:prstGeom>
        </p:spPr>
        <p:txBody>
          <a:bodyPr vert="horz" wrap="square" lIns="0" tIns="16087" rIns="0" bIns="0" rtlCol="0">
            <a:spAutoFit/>
          </a:bodyPr>
          <a:lstStyle/>
          <a:p>
            <a:pPr marL="50800">
              <a:spcBef>
                <a:spcPts val="125"/>
              </a:spcBef>
            </a:pPr>
            <a:r>
              <a:rPr sz="3735" b="1" i="1" spc="7" dirty="0">
                <a:latin typeface="Times New Roman" panose="02020603050405020304" pitchFamily="18" charset="0"/>
                <a:ea typeface="黑体" panose="02010609060101010101" pitchFamily="49" charset="-122"/>
                <a:cs typeface="Times New Roman" panose="02020603050405020304" pitchFamily="18" charset="0"/>
              </a:rPr>
              <a:t>a</a:t>
            </a:r>
            <a:r>
              <a:rPr sz="3700" b="1" i="1" spc="9" baseline="26000" dirty="0">
                <a:latin typeface="Times New Roman" panose="02020603050405020304" pitchFamily="18" charset="0"/>
                <a:ea typeface="黑体" panose="02010609060101010101" pitchFamily="49" charset="-122"/>
                <a:cs typeface="Times New Roman" panose="02020603050405020304" pitchFamily="18" charset="0"/>
              </a:rPr>
              <a:t>n</a:t>
            </a:r>
            <a:r>
              <a:rPr sz="3700" b="1" i="1" spc="-160" baseline="26000" dirty="0">
                <a:latin typeface="Times New Roman" panose="02020603050405020304" pitchFamily="18" charset="0"/>
                <a:ea typeface="黑体" panose="02010609060101010101" pitchFamily="49" charset="-122"/>
                <a:cs typeface="Times New Roman" panose="02020603050405020304" pitchFamily="18" charset="0"/>
              </a:rPr>
              <a:t> </a:t>
            </a:r>
            <a:r>
              <a:rPr sz="3735" b="1" spc="-7" dirty="0">
                <a:latin typeface="Times New Roman" panose="02020603050405020304" pitchFamily="18" charset="0"/>
                <a:ea typeface="黑体" panose="02010609060101010101" pitchFamily="49" charset="-122"/>
                <a:cs typeface="Times New Roman" panose="02020603050405020304" pitchFamily="18" charset="0"/>
              </a:rPr>
              <a:t>=</a:t>
            </a:r>
            <a:endParaRPr sz="3735">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object 9"/>
          <p:cNvSpPr txBox="1"/>
          <p:nvPr/>
        </p:nvSpPr>
        <p:spPr>
          <a:xfrm>
            <a:off x="1790803" y="4407987"/>
            <a:ext cx="3812516" cy="1264920"/>
          </a:xfrm>
          <a:prstGeom prst="rect">
            <a:avLst/>
          </a:prstGeom>
        </p:spPr>
        <p:txBody>
          <a:bodyPr vert="horz" wrap="square" lIns="0" tIns="16933" rIns="0" bIns="0" rtlCol="0">
            <a:spAutoFit/>
          </a:bodyPr>
          <a:lstStyle/>
          <a:p>
            <a:pPr marL="50800" marR="40640">
              <a:lnSpc>
                <a:spcPct val="110000"/>
              </a:lnSpc>
              <a:spcBef>
                <a:spcPts val="135"/>
              </a:spcBef>
            </a:pPr>
            <a:r>
              <a:rPr sz="5600" b="1" i="1" spc="9" baseline="-17000" dirty="0">
                <a:latin typeface="Times New Roman" panose="02020603050405020304" pitchFamily="18" charset="0"/>
                <a:ea typeface="黑体" panose="02010609060101010101" pitchFamily="49" charset="-122"/>
                <a:cs typeface="Times New Roman" panose="02020603050405020304" pitchFamily="18" charset="0"/>
              </a:rPr>
              <a:t>a</a:t>
            </a:r>
            <a:r>
              <a:rPr sz="2465" b="1" i="1" spc="7" dirty="0">
                <a:latin typeface="Times New Roman" panose="02020603050405020304" pitchFamily="18" charset="0"/>
                <a:ea typeface="黑体" panose="02010609060101010101" pitchFamily="49" charset="-122"/>
                <a:cs typeface="Times New Roman" panose="02020603050405020304" pitchFamily="18" charset="0"/>
              </a:rPr>
              <a:t>n/</a:t>
            </a:r>
            <a:r>
              <a:rPr sz="2465" b="1" spc="7" dirty="0">
                <a:latin typeface="Times New Roman" panose="02020603050405020304" pitchFamily="18" charset="0"/>
                <a:ea typeface="黑体" panose="02010609060101010101" pitchFamily="49" charset="-122"/>
                <a:cs typeface="Times New Roman" panose="02020603050405020304" pitchFamily="18" charset="0"/>
              </a:rPr>
              <a:t>2</a:t>
            </a:r>
            <a:r>
              <a:rPr lang="zh-CN" sz="5600" b="1" spc="9" baseline="-17000" dirty="0">
                <a:latin typeface="Times New Roman" panose="02020603050405020304" pitchFamily="18" charset="0"/>
                <a:ea typeface="黑体" panose="02010609060101010101" pitchFamily="49" charset="-122"/>
                <a:cs typeface="Times New Roman" panose="02020603050405020304" pitchFamily="18" charset="0"/>
              </a:rPr>
              <a:t>×</a:t>
            </a:r>
            <a:r>
              <a:rPr sz="5600" b="1" i="1" spc="9" baseline="-17000" dirty="0">
                <a:latin typeface="Times New Roman" panose="02020603050405020304" pitchFamily="18" charset="0"/>
                <a:ea typeface="黑体" panose="02010609060101010101" pitchFamily="49" charset="-122"/>
                <a:cs typeface="Times New Roman" panose="02020603050405020304" pitchFamily="18" charset="0"/>
              </a:rPr>
              <a:t>a</a:t>
            </a:r>
            <a:r>
              <a:rPr sz="2465" b="1" i="1" spc="7" dirty="0">
                <a:latin typeface="Times New Roman" panose="02020603050405020304" pitchFamily="18" charset="0"/>
                <a:ea typeface="黑体" panose="02010609060101010101" pitchFamily="49" charset="-122"/>
                <a:cs typeface="Times New Roman" panose="02020603050405020304" pitchFamily="18" charset="0"/>
              </a:rPr>
              <a:t>n/</a:t>
            </a:r>
            <a:r>
              <a:rPr sz="2465" b="1" spc="7" dirty="0">
                <a:latin typeface="Times New Roman" panose="02020603050405020304" pitchFamily="18" charset="0"/>
                <a:ea typeface="黑体" panose="02010609060101010101" pitchFamily="49" charset="-122"/>
                <a:cs typeface="Times New Roman" panose="02020603050405020304" pitchFamily="18" charset="0"/>
              </a:rPr>
              <a:t>2  </a:t>
            </a:r>
            <a:endParaRPr lang="en-US" sz="2465" b="1" spc="7" dirty="0">
              <a:latin typeface="Times New Roman" panose="02020603050405020304" pitchFamily="18" charset="0"/>
              <a:ea typeface="黑体" panose="02010609060101010101" pitchFamily="49" charset="-122"/>
              <a:cs typeface="Times New Roman" panose="02020603050405020304" pitchFamily="18" charset="0"/>
            </a:endParaRPr>
          </a:p>
          <a:p>
            <a:pPr marL="50800" marR="40640">
              <a:lnSpc>
                <a:spcPct val="110000"/>
              </a:lnSpc>
              <a:spcBef>
                <a:spcPts val="135"/>
              </a:spcBef>
            </a:pPr>
            <a:r>
              <a:rPr sz="5600" b="1" i="1" baseline="-17000" dirty="0">
                <a:latin typeface="Times New Roman" panose="02020603050405020304" pitchFamily="18" charset="0"/>
                <a:ea typeface="黑体" panose="02010609060101010101" pitchFamily="49" charset="-122"/>
                <a:cs typeface="Times New Roman" panose="02020603050405020304" pitchFamily="18" charset="0"/>
              </a:rPr>
              <a:t>a</a:t>
            </a:r>
            <a:r>
              <a:rPr sz="2465" b="1" spc="7" dirty="0">
                <a:latin typeface="Times New Roman" panose="02020603050405020304" pitchFamily="18" charset="0"/>
                <a:ea typeface="黑体" panose="02010609060101010101" pitchFamily="49" charset="-122"/>
                <a:cs typeface="Times New Roman" panose="02020603050405020304" pitchFamily="18" charset="0"/>
              </a:rPr>
              <a:t>(</a:t>
            </a:r>
            <a:r>
              <a:rPr sz="2465" b="1" i="1" spc="13" dirty="0">
                <a:latin typeface="Times New Roman" panose="02020603050405020304" pitchFamily="18" charset="0"/>
                <a:ea typeface="黑体" panose="02010609060101010101" pitchFamily="49" charset="-122"/>
                <a:cs typeface="Times New Roman" panose="02020603050405020304" pitchFamily="18" charset="0"/>
              </a:rPr>
              <a:t>n–</a:t>
            </a:r>
            <a:r>
              <a:rPr sz="2465" b="1" spc="7" dirty="0">
                <a:latin typeface="Times New Roman" panose="02020603050405020304" pitchFamily="18" charset="0"/>
                <a:ea typeface="黑体" panose="02010609060101010101" pitchFamily="49" charset="-122"/>
                <a:cs typeface="Times New Roman" panose="02020603050405020304" pitchFamily="18" charset="0"/>
              </a:rPr>
              <a:t>1)</a:t>
            </a:r>
            <a:r>
              <a:rPr sz="2465" b="1" i="1" dirty="0">
                <a:latin typeface="Times New Roman" panose="02020603050405020304" pitchFamily="18" charset="0"/>
                <a:ea typeface="黑体" panose="02010609060101010101" pitchFamily="49" charset="-122"/>
                <a:cs typeface="Times New Roman" panose="02020603050405020304" pitchFamily="18" charset="0"/>
              </a:rPr>
              <a:t>/</a:t>
            </a:r>
            <a:r>
              <a:rPr sz="2465" b="1" spc="13" dirty="0">
                <a:latin typeface="Times New Roman" panose="02020603050405020304" pitchFamily="18" charset="0"/>
                <a:ea typeface="黑体" panose="02010609060101010101" pitchFamily="49" charset="-122"/>
                <a:cs typeface="Times New Roman" panose="02020603050405020304" pitchFamily="18" charset="0"/>
              </a:rPr>
              <a:t>2</a:t>
            </a:r>
            <a:r>
              <a:rPr lang="zh-CN" sz="5600" b="1" spc="9" baseline="-17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sz="5600" b="1" i="1" baseline="-17000" dirty="0">
                <a:latin typeface="Times New Roman" panose="02020603050405020304" pitchFamily="18" charset="0"/>
                <a:ea typeface="黑体" panose="02010609060101010101" pitchFamily="49" charset="-122"/>
                <a:cs typeface="Times New Roman" panose="02020603050405020304" pitchFamily="18" charset="0"/>
              </a:rPr>
              <a:t>a</a:t>
            </a:r>
            <a:r>
              <a:rPr sz="2465" b="1" spc="7" dirty="0">
                <a:latin typeface="Times New Roman" panose="02020603050405020304" pitchFamily="18" charset="0"/>
                <a:ea typeface="黑体" panose="02010609060101010101" pitchFamily="49" charset="-122"/>
                <a:cs typeface="Times New Roman" panose="02020603050405020304" pitchFamily="18" charset="0"/>
              </a:rPr>
              <a:t>(</a:t>
            </a:r>
            <a:r>
              <a:rPr sz="2465" b="1" i="1" spc="13" dirty="0">
                <a:latin typeface="Times New Roman" panose="02020603050405020304" pitchFamily="18" charset="0"/>
                <a:ea typeface="黑体" panose="02010609060101010101" pitchFamily="49" charset="-122"/>
                <a:cs typeface="Times New Roman" panose="02020603050405020304" pitchFamily="18" charset="0"/>
              </a:rPr>
              <a:t>n–</a:t>
            </a:r>
            <a:r>
              <a:rPr sz="2465" b="1" spc="7" dirty="0">
                <a:latin typeface="Times New Roman" panose="02020603050405020304" pitchFamily="18" charset="0"/>
                <a:ea typeface="黑体" panose="02010609060101010101" pitchFamily="49" charset="-122"/>
                <a:cs typeface="Times New Roman" panose="02020603050405020304" pitchFamily="18" charset="0"/>
              </a:rPr>
              <a:t>1)</a:t>
            </a:r>
            <a:r>
              <a:rPr sz="2465" b="1" i="1" dirty="0">
                <a:latin typeface="Times New Roman" panose="02020603050405020304" pitchFamily="18" charset="0"/>
                <a:ea typeface="黑体" panose="02010609060101010101" pitchFamily="49" charset="-122"/>
                <a:cs typeface="Times New Roman" panose="02020603050405020304" pitchFamily="18" charset="0"/>
              </a:rPr>
              <a:t>/</a:t>
            </a:r>
            <a:r>
              <a:rPr sz="2465" b="1" spc="13" dirty="0">
                <a:latin typeface="Times New Roman" panose="02020603050405020304" pitchFamily="18" charset="0"/>
                <a:ea typeface="黑体" panose="02010609060101010101" pitchFamily="49" charset="-122"/>
                <a:cs typeface="Times New Roman" panose="02020603050405020304" pitchFamily="18" charset="0"/>
              </a:rPr>
              <a:t>2</a:t>
            </a:r>
            <a:r>
              <a:rPr lang="zh-CN" sz="5600" b="1" spc="9" baseline="-17000" dirty="0">
                <a:latin typeface="Times New Roman" panose="02020603050405020304" pitchFamily="18" charset="0"/>
                <a:ea typeface="黑体" panose="02010609060101010101" pitchFamily="49" charset="-122"/>
                <a:cs typeface="Times New Roman" panose="02020603050405020304" pitchFamily="18" charset="0"/>
                <a:sym typeface="+mn-ea"/>
              </a:rPr>
              <a:t>×</a:t>
            </a:r>
            <a:r>
              <a:rPr sz="5600" b="1" i="1" spc="-9" baseline="-17000" dirty="0">
                <a:latin typeface="Times New Roman" panose="02020603050405020304" pitchFamily="18" charset="0"/>
                <a:ea typeface="黑体" panose="02010609060101010101" pitchFamily="49" charset="-122"/>
                <a:cs typeface="Times New Roman" panose="02020603050405020304" pitchFamily="18" charset="0"/>
              </a:rPr>
              <a:t>a</a:t>
            </a:r>
            <a:endParaRPr sz="5600" baseline="-17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object 10"/>
          <p:cNvSpPr txBox="1"/>
          <p:nvPr/>
        </p:nvSpPr>
        <p:spPr>
          <a:xfrm>
            <a:off x="6387662" y="4421522"/>
            <a:ext cx="1618827" cy="1279838"/>
          </a:xfrm>
          <a:prstGeom prst="rect">
            <a:avLst/>
          </a:prstGeom>
        </p:spPr>
        <p:txBody>
          <a:bodyPr vert="horz" wrap="square" lIns="0" tIns="152400" rIns="0" bIns="0" rtlCol="0">
            <a:spAutoFit/>
          </a:bodyPr>
          <a:lstStyle/>
          <a:p>
            <a:pPr marL="17145">
              <a:spcBef>
                <a:spcPts val="1200"/>
              </a:spcBef>
            </a:pPr>
            <a:r>
              <a:rPr sz="3200" b="1" i="1" spc="-7" dirty="0">
                <a:latin typeface="Times New Roman" panose="02020603050405020304" pitchFamily="18" charset="0"/>
                <a:ea typeface="黑体" panose="02010609060101010101" pitchFamily="49" charset="-122"/>
                <a:cs typeface="Times New Roman" panose="02020603050405020304" pitchFamily="18" charset="0"/>
              </a:rPr>
              <a:t>n</a:t>
            </a:r>
            <a:r>
              <a:rPr sz="3200" b="1" i="1" spc="-120"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为偶数</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48895">
              <a:spcBef>
                <a:spcPts val="1060"/>
              </a:spcBef>
            </a:pPr>
            <a:r>
              <a:rPr sz="3200" b="1" i="1" spc="-7" dirty="0">
                <a:latin typeface="Times New Roman" panose="02020603050405020304" pitchFamily="18" charset="0"/>
                <a:ea typeface="黑体" panose="02010609060101010101" pitchFamily="49" charset="-122"/>
                <a:cs typeface="Times New Roman" panose="02020603050405020304" pitchFamily="18" charset="0"/>
              </a:rPr>
              <a:t>n</a:t>
            </a:r>
            <a:r>
              <a:rPr sz="3200" b="1" i="1" spc="-133"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为奇数</a:t>
            </a:r>
            <a:endParaRPr sz="32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object 11"/>
          <p:cNvSpPr/>
          <p:nvPr/>
        </p:nvSpPr>
        <p:spPr>
          <a:xfrm>
            <a:off x="1504631" y="4716233"/>
            <a:ext cx="286172" cy="991447"/>
          </a:xfrm>
          <a:custGeom>
            <a:avLst/>
            <a:gdLst/>
            <a:ahLst/>
            <a:cxnLst/>
            <a:rect l="l" t="t" r="r" b="b"/>
            <a:pathLst>
              <a:path w="214630" h="743585">
                <a:moveTo>
                  <a:pt x="214223" y="743458"/>
                </a:moveTo>
                <a:lnTo>
                  <a:pt x="172530" y="737379"/>
                </a:lnTo>
                <a:lnTo>
                  <a:pt x="138483" y="720801"/>
                </a:lnTo>
                <a:lnTo>
                  <a:pt x="115529" y="696212"/>
                </a:lnTo>
                <a:lnTo>
                  <a:pt x="107111" y="666102"/>
                </a:lnTo>
                <a:lnTo>
                  <a:pt x="107111" y="449122"/>
                </a:lnTo>
                <a:lnTo>
                  <a:pt x="98694" y="419004"/>
                </a:lnTo>
                <a:lnTo>
                  <a:pt x="75739" y="394412"/>
                </a:lnTo>
                <a:lnTo>
                  <a:pt x="41692" y="377833"/>
                </a:lnTo>
                <a:lnTo>
                  <a:pt x="0" y="371754"/>
                </a:lnTo>
                <a:lnTo>
                  <a:pt x="41692" y="365675"/>
                </a:lnTo>
                <a:lnTo>
                  <a:pt x="75739" y="349097"/>
                </a:lnTo>
                <a:lnTo>
                  <a:pt x="98694" y="324509"/>
                </a:lnTo>
                <a:lnTo>
                  <a:pt x="107111" y="294398"/>
                </a:lnTo>
                <a:lnTo>
                  <a:pt x="107111" y="77470"/>
                </a:lnTo>
                <a:lnTo>
                  <a:pt x="115529" y="47309"/>
                </a:lnTo>
                <a:lnTo>
                  <a:pt x="138483" y="22685"/>
                </a:lnTo>
                <a:lnTo>
                  <a:pt x="172530" y="6086"/>
                </a:lnTo>
                <a:lnTo>
                  <a:pt x="214223" y="0"/>
                </a:lnTo>
              </a:path>
            </a:pathLst>
          </a:custGeom>
          <a:ln w="25400">
            <a:solidFill>
              <a:srgbClr val="000000"/>
            </a:solidFill>
          </a:ln>
        </p:spPr>
        <p:txBody>
          <a:bodyPr wrap="square" lIns="0" tIns="0" rIns="0" bIns="0" rtlCol="0"/>
          <a:lstStyle/>
          <a:p>
            <a:endParaRPr sz="24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object 6"/>
          <p:cNvSpPr txBox="1"/>
          <p:nvPr/>
        </p:nvSpPr>
        <p:spPr>
          <a:xfrm>
            <a:off x="1287002" y="2097227"/>
            <a:ext cx="4606546" cy="386430"/>
          </a:xfrm>
          <a:prstGeom prst="rect">
            <a:avLst/>
          </a:prstGeom>
        </p:spPr>
        <p:txBody>
          <a:bodyPr vert="horz" wrap="square" lIns="0" tIns="16933" rIns="0" bIns="0" rtlCol="0">
            <a:spAutoFit/>
          </a:bodyPr>
          <a:lstStyle/>
          <a:p>
            <a:pPr marL="1298575" algn="ctr">
              <a:tabLst>
                <a:tab pos="3228975" algn="l"/>
              </a:tabLst>
            </a:pPr>
            <a:r>
              <a:rPr sz="2400" b="1" i="1" spc="-13" dirty="0">
                <a:latin typeface="Times New Roman" panose="02020603050405020304" pitchFamily="18" charset="0"/>
                <a:ea typeface="黑体" panose="02010609060101010101" pitchFamily="49" charset="-122"/>
                <a:cs typeface="Times New Roman" panose="02020603050405020304" pitchFamily="18" charset="0"/>
              </a:rPr>
              <a:t>n</a:t>
            </a:r>
            <a:r>
              <a:rPr sz="2400" b="1" spc="-13" dirty="0">
                <a:latin typeface="Times New Roman" panose="02020603050405020304" pitchFamily="18" charset="0"/>
                <a:ea typeface="黑体" panose="02010609060101010101" pitchFamily="49" charset="-122"/>
                <a:cs typeface="Times New Roman" panose="02020603050405020304" pitchFamily="18" charset="0"/>
              </a:rPr>
              <a:t>/2</a:t>
            </a:r>
            <a:r>
              <a:rPr sz="2400" b="1" spc="-7" dirty="0">
                <a:latin typeface="Times New Roman" panose="02020603050405020304" pitchFamily="18" charset="0"/>
                <a:ea typeface="黑体" panose="02010609060101010101" pitchFamily="49" charset="-122"/>
                <a:cs typeface="Times New Roman" panose="02020603050405020304" pitchFamily="18" charset="0"/>
              </a:rPr>
              <a:t>个	</a:t>
            </a:r>
            <a:r>
              <a:rPr sz="2400" b="1" i="1" spc="-13" dirty="0">
                <a:latin typeface="Times New Roman" panose="02020603050405020304" pitchFamily="18" charset="0"/>
                <a:ea typeface="黑体" panose="02010609060101010101" pitchFamily="49" charset="-122"/>
                <a:cs typeface="Times New Roman" panose="02020603050405020304" pitchFamily="18" charset="0"/>
              </a:rPr>
              <a:t>n</a:t>
            </a:r>
            <a:r>
              <a:rPr sz="2400" b="1" spc="-13" dirty="0">
                <a:latin typeface="Times New Roman" panose="02020603050405020304" pitchFamily="18" charset="0"/>
                <a:ea typeface="黑体" panose="02010609060101010101" pitchFamily="49" charset="-122"/>
                <a:cs typeface="Times New Roman" panose="02020603050405020304" pitchFamily="18" charset="0"/>
              </a:rPr>
              <a:t>/2</a:t>
            </a:r>
            <a:r>
              <a:rPr sz="2400" b="1" spc="-7" dirty="0">
                <a:latin typeface="Times New Roman" panose="02020603050405020304" pitchFamily="18" charset="0"/>
                <a:ea typeface="黑体" panose="02010609060101010101" pitchFamily="49" charset="-122"/>
                <a:cs typeface="Times New Roman" panose="02020603050405020304" pitchFamily="18" charset="0"/>
              </a:rPr>
              <a:t>个</a:t>
            </a:r>
            <a:endParaRPr sz="24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object 6"/>
          <p:cNvSpPr txBox="1"/>
          <p:nvPr/>
        </p:nvSpPr>
        <p:spPr>
          <a:xfrm>
            <a:off x="1115177" y="3710615"/>
            <a:ext cx="4985006" cy="386430"/>
          </a:xfrm>
          <a:prstGeom prst="rect">
            <a:avLst/>
          </a:prstGeom>
        </p:spPr>
        <p:txBody>
          <a:bodyPr vert="horz" wrap="square" lIns="0" tIns="16933" rIns="0" bIns="0" rtlCol="0">
            <a:spAutoFit/>
          </a:bodyPr>
          <a:lstStyle/>
          <a:p>
            <a:pPr marL="1367155" algn="ctr">
              <a:spcBef>
                <a:spcPts val="5"/>
              </a:spcBef>
              <a:tabLst>
                <a:tab pos="3482975" algn="l"/>
              </a:tabLst>
            </a:pPr>
            <a:r>
              <a:rPr sz="2400" spc="-7" dirty="0">
                <a:latin typeface="Times New Roman" panose="02020603050405020304" pitchFamily="18" charset="0"/>
                <a:ea typeface="黑体" panose="02010609060101010101" pitchFamily="49" charset="-122"/>
                <a:cs typeface="Times New Roman" panose="02020603050405020304" pitchFamily="18" charset="0"/>
              </a:rPr>
              <a:t>(</a:t>
            </a:r>
            <a:r>
              <a:rPr sz="2400" b="1" i="1" spc="-7" dirty="0">
                <a:latin typeface="Times New Roman" panose="02020603050405020304" pitchFamily="18" charset="0"/>
                <a:ea typeface="黑体" panose="02010609060101010101" pitchFamily="49" charset="-122"/>
                <a:cs typeface="Times New Roman" panose="02020603050405020304" pitchFamily="18" charset="0"/>
              </a:rPr>
              <a:t>n-</a:t>
            </a:r>
            <a:r>
              <a:rPr sz="2400" b="1" spc="-7" dirty="0">
                <a:latin typeface="Times New Roman" panose="02020603050405020304" pitchFamily="18" charset="0"/>
                <a:ea typeface="黑体" panose="02010609060101010101" pitchFamily="49" charset="-122"/>
                <a:cs typeface="Times New Roman" panose="02020603050405020304" pitchFamily="18" charset="0"/>
              </a:rPr>
              <a:t>1</a:t>
            </a:r>
            <a:r>
              <a:rPr sz="2400" b="1" i="1" spc="-7" dirty="0">
                <a:latin typeface="Times New Roman" panose="02020603050405020304" pitchFamily="18" charset="0"/>
                <a:ea typeface="黑体" panose="02010609060101010101" pitchFamily="49" charset="-122"/>
                <a:cs typeface="Times New Roman" panose="02020603050405020304" pitchFamily="18" charset="0"/>
              </a:rPr>
              <a:t>)</a:t>
            </a:r>
            <a:r>
              <a:rPr sz="2400" b="1" spc="-7" dirty="0">
                <a:latin typeface="Times New Roman" panose="02020603050405020304" pitchFamily="18" charset="0"/>
                <a:ea typeface="黑体" panose="02010609060101010101" pitchFamily="49" charset="-122"/>
                <a:cs typeface="Times New Roman" panose="02020603050405020304" pitchFamily="18" charset="0"/>
              </a:rPr>
              <a:t>/2个	</a:t>
            </a:r>
            <a:r>
              <a:rPr sz="2400" spc="-7" dirty="0">
                <a:latin typeface="Times New Roman" panose="02020603050405020304" pitchFamily="18" charset="0"/>
                <a:ea typeface="黑体" panose="02010609060101010101" pitchFamily="49" charset="-122"/>
                <a:cs typeface="Times New Roman" panose="02020603050405020304" pitchFamily="18" charset="0"/>
              </a:rPr>
              <a:t>(</a:t>
            </a:r>
            <a:r>
              <a:rPr sz="2400" b="1" i="1" spc="-7" dirty="0">
                <a:latin typeface="Times New Roman" panose="02020603050405020304" pitchFamily="18" charset="0"/>
                <a:ea typeface="黑体" panose="02010609060101010101" pitchFamily="49" charset="-122"/>
                <a:cs typeface="Times New Roman" panose="02020603050405020304" pitchFamily="18" charset="0"/>
              </a:rPr>
              <a:t>n</a:t>
            </a:r>
            <a:r>
              <a:rPr sz="2400" b="1" spc="-7" dirty="0">
                <a:latin typeface="Times New Roman" panose="02020603050405020304" pitchFamily="18" charset="0"/>
                <a:ea typeface="黑体" panose="02010609060101010101" pitchFamily="49" charset="-122"/>
                <a:cs typeface="Times New Roman" panose="02020603050405020304" pitchFamily="18" charset="0"/>
              </a:rPr>
              <a:t>-1</a:t>
            </a:r>
            <a:r>
              <a:rPr sz="2400" b="1" i="1" spc="-7" dirty="0">
                <a:latin typeface="Times New Roman" panose="02020603050405020304" pitchFamily="18" charset="0"/>
                <a:ea typeface="黑体" panose="02010609060101010101" pitchFamily="49" charset="-122"/>
                <a:cs typeface="Times New Roman" panose="02020603050405020304" pitchFamily="18" charset="0"/>
              </a:rPr>
              <a:t>)</a:t>
            </a:r>
            <a:r>
              <a:rPr sz="2400" b="1" spc="-7" dirty="0">
                <a:latin typeface="Times New Roman" panose="02020603050405020304" pitchFamily="18" charset="0"/>
                <a:ea typeface="黑体" panose="02010609060101010101" pitchFamily="49" charset="-122"/>
                <a:cs typeface="Times New Roman" panose="02020603050405020304" pitchFamily="18" charset="0"/>
              </a:rPr>
              <a:t>/2个</a:t>
            </a:r>
            <a:endParaRPr sz="24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 name="object 6"/>
          <p:cNvSpPr txBox="1"/>
          <p:nvPr/>
        </p:nvSpPr>
        <p:spPr>
          <a:xfrm>
            <a:off x="539305" y="2890134"/>
            <a:ext cx="6031653" cy="509541"/>
          </a:xfrm>
          <a:prstGeom prst="rect">
            <a:avLst/>
          </a:prstGeom>
        </p:spPr>
        <p:txBody>
          <a:bodyPr vert="horz" wrap="square" lIns="0" tIns="16933" rIns="0" bIns="0" rtlCol="0">
            <a:spAutoFit/>
          </a:bodyPr>
          <a:lstStyle/>
          <a:p>
            <a:pPr marL="17145">
              <a:spcBef>
                <a:spcPts val="1100"/>
              </a:spcBef>
            </a:pPr>
            <a:r>
              <a:rPr sz="3200" b="1" i="1" spc="-13" dirty="0" err="1">
                <a:latin typeface="Times New Roman" panose="02020603050405020304" pitchFamily="18" charset="0"/>
                <a:ea typeface="黑体" panose="02010609060101010101" pitchFamily="49" charset="-122"/>
                <a:cs typeface="Times New Roman" panose="02020603050405020304" pitchFamily="18" charset="0"/>
              </a:rPr>
              <a:t>n</a:t>
            </a:r>
            <a:r>
              <a:rPr sz="3200" b="1" dirty="0" err="1">
                <a:latin typeface="Times New Roman" panose="02020603050405020304" pitchFamily="18" charset="0"/>
                <a:ea typeface="黑体" panose="02010609060101010101" pitchFamily="49" charset="-122"/>
                <a:cs typeface="Times New Roman" panose="02020603050405020304" pitchFamily="18" charset="0"/>
              </a:rPr>
              <a:t>为奇</a:t>
            </a:r>
            <a:r>
              <a:rPr sz="3200" b="1" spc="-13" dirty="0" err="1">
                <a:latin typeface="Times New Roman" panose="02020603050405020304" pitchFamily="18" charset="0"/>
                <a:ea typeface="黑体" panose="02010609060101010101" pitchFamily="49" charset="-122"/>
                <a:cs typeface="Times New Roman" panose="02020603050405020304" pitchFamily="18" charset="0"/>
              </a:rPr>
              <a:t>数</a:t>
            </a:r>
            <a:r>
              <a:rPr sz="3200" b="1" spc="780"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a</a:t>
            </a:r>
            <a:r>
              <a:rPr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 a</a:t>
            </a:r>
            <a:r>
              <a:rPr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sz="3200" b="1" spc="-2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a</a:t>
            </a:r>
            <a:r>
              <a:rPr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a </a:t>
            </a:r>
            <a:r>
              <a:rPr sz="3200" b="1" i="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a</a:t>
            </a:r>
            <a:endParaRPr sz="32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P spid="10" grpId="0"/>
      <p:bldP spid="11" grpId="0" animBg="1"/>
      <p:bldP spid="13" grpId="0"/>
      <p:bldP spid="1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242" y="-18627"/>
            <a:ext cx="8954814"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分治算法分析</a:t>
            </a:r>
            <a:endParaRPr sz="4400" b="1" spc="-13"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546100" y="1165127"/>
            <a:ext cx="8498956" cy="4301490"/>
          </a:xfrm>
          <a:prstGeom prst="rect">
            <a:avLst/>
          </a:prstGeom>
        </p:spPr>
        <p:txBody>
          <a:bodyPr vert="horz" wrap="square" lIns="0" tIns="248073" rIns="0" bIns="0" rtlCol="0">
            <a:spAutoFit/>
          </a:bodyPr>
          <a:lstStyle/>
          <a:p>
            <a:pPr marL="17145">
              <a:spcBef>
                <a:spcPts val="1955"/>
              </a:spcBef>
            </a:pPr>
            <a:r>
              <a:rPr sz="3200" b="1" dirty="0">
                <a:latin typeface="Times New Roman" panose="02020603050405020304" pitchFamily="18" charset="0"/>
                <a:ea typeface="黑体" panose="02010609060101010101" pitchFamily="49" charset="-122"/>
                <a:cs typeface="Times New Roman" panose="02020603050405020304" pitchFamily="18" charset="0"/>
              </a:rPr>
              <a:t>以乘法作为基本运算</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360045" indent="-343535">
              <a:spcBef>
                <a:spcPts val="1835"/>
              </a:spcBef>
              <a:buFont typeface="Arial" panose="020B0604020202020204"/>
              <a:buChar char="•"/>
              <a:tabLst>
                <a:tab pos="359410" algn="l"/>
                <a:tab pos="360045" algn="l"/>
              </a:tabLst>
            </a:pPr>
            <a:r>
              <a:rPr sz="2800" b="1" spc="-7" dirty="0">
                <a:latin typeface="Times New Roman" panose="02020603050405020304" pitchFamily="18" charset="0"/>
                <a:ea typeface="黑体" panose="02010609060101010101" pitchFamily="49" charset="-122"/>
                <a:cs typeface="Times New Roman" panose="02020603050405020304" pitchFamily="18" charset="0"/>
              </a:rPr>
              <a:t>子问题规模：不超</a:t>
            </a:r>
            <a:r>
              <a:rPr sz="2800" b="1" dirty="0">
                <a:latin typeface="Times New Roman" panose="02020603050405020304" pitchFamily="18" charset="0"/>
                <a:ea typeface="黑体" panose="02010609060101010101" pitchFamily="49" charset="-122"/>
                <a:cs typeface="Times New Roman" panose="02020603050405020304" pitchFamily="18" charset="0"/>
              </a:rPr>
              <a:t>过</a:t>
            </a:r>
            <a:r>
              <a:rPr sz="2800" b="1" i="1" spc="-7" dirty="0">
                <a:latin typeface="Times New Roman" panose="02020603050405020304" pitchFamily="18" charset="0"/>
                <a:ea typeface="黑体" panose="02010609060101010101" pitchFamily="49" charset="-122"/>
                <a:cs typeface="Times New Roman" panose="02020603050405020304" pitchFamily="18" charset="0"/>
              </a:rPr>
              <a:t>n</a:t>
            </a:r>
            <a:r>
              <a:rPr sz="2800" b="1" spc="-7" dirty="0">
                <a:latin typeface="Times New Roman" panose="02020603050405020304" pitchFamily="18" charset="0"/>
                <a:ea typeface="黑体" panose="02010609060101010101" pitchFamily="49" charset="-122"/>
                <a:cs typeface="Times New Roman" panose="02020603050405020304" pitchFamily="18" charset="0"/>
              </a:rPr>
              <a:t>/2</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319405" marR="6985" indent="-302895">
              <a:lnSpc>
                <a:spcPct val="121000"/>
              </a:lnSpc>
              <a:buFont typeface="Arial" panose="020B0604020202020204"/>
              <a:buChar char="•"/>
              <a:tabLst>
                <a:tab pos="359410" algn="l"/>
                <a:tab pos="360045" algn="l"/>
              </a:tabLst>
            </a:pPr>
            <a:r>
              <a:rPr sz="2800"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两个规模近</a:t>
            </a:r>
            <a:r>
              <a:rPr sz="2800" b="1" spc="-13" dirty="0">
                <a:latin typeface="Times New Roman" panose="02020603050405020304" pitchFamily="18" charset="0"/>
                <a:ea typeface="黑体" panose="02010609060101010101" pitchFamily="49" charset="-122"/>
                <a:cs typeface="Times New Roman" panose="02020603050405020304" pitchFamily="18" charset="0"/>
              </a:rPr>
              <a:t>似</a:t>
            </a:r>
            <a:r>
              <a:rPr sz="2800" b="1" spc="-913"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n</a:t>
            </a:r>
            <a:r>
              <a:rPr sz="2800" b="1" dirty="0">
                <a:latin typeface="Times New Roman" panose="02020603050405020304" pitchFamily="18" charset="0"/>
                <a:ea typeface="黑体" panose="02010609060101010101" pitchFamily="49" charset="-122"/>
                <a:cs typeface="Times New Roman" panose="02020603050405020304" pitchFamily="18" charset="0"/>
              </a:rPr>
              <a:t>/2的子问题完全一样，只要计算1</a:t>
            </a:r>
            <a:r>
              <a:rPr sz="2800" b="1" spc="-13" dirty="0">
                <a:latin typeface="Times New Roman" panose="02020603050405020304" pitchFamily="18" charset="0"/>
                <a:ea typeface="黑体" panose="02010609060101010101" pitchFamily="49" charset="-122"/>
                <a:cs typeface="Times New Roman" panose="02020603050405020304" pitchFamily="18" charset="0"/>
              </a:rPr>
              <a:t>次</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17145" algn="ctr">
              <a:spcBef>
                <a:spcPts val="2560"/>
              </a:spcBef>
            </a:pPr>
            <a:r>
              <a:rPr sz="3465" b="1" i="1" dirty="0">
                <a:latin typeface="Times New Roman" panose="02020603050405020304"/>
                <a:cs typeface="Times New Roman" panose="02020603050405020304"/>
              </a:rPr>
              <a:t>W </a:t>
            </a:r>
            <a:r>
              <a:rPr sz="3465" b="1" spc="-7" dirty="0">
                <a:latin typeface="Times New Roman" panose="02020603050405020304"/>
                <a:cs typeface="Times New Roman" panose="02020603050405020304"/>
              </a:rPr>
              <a:t>(</a:t>
            </a:r>
            <a:r>
              <a:rPr sz="3465" b="1" i="1" spc="-7" dirty="0">
                <a:latin typeface="Times New Roman" panose="02020603050405020304"/>
                <a:cs typeface="Times New Roman" panose="02020603050405020304"/>
              </a:rPr>
              <a:t>n</a:t>
            </a:r>
            <a:r>
              <a:rPr sz="3465" b="1" spc="-7" dirty="0">
                <a:latin typeface="Times New Roman" panose="02020603050405020304"/>
                <a:cs typeface="Times New Roman" panose="02020603050405020304"/>
              </a:rPr>
              <a:t>) </a:t>
            </a:r>
            <a:r>
              <a:rPr sz="3465" b="1" dirty="0">
                <a:latin typeface="Times New Roman" panose="02020603050405020304"/>
                <a:cs typeface="Times New Roman" panose="02020603050405020304"/>
              </a:rPr>
              <a:t>= </a:t>
            </a:r>
            <a:r>
              <a:rPr sz="3465" b="1" i="1" dirty="0">
                <a:latin typeface="Times New Roman" panose="02020603050405020304"/>
                <a:cs typeface="Times New Roman" panose="02020603050405020304"/>
              </a:rPr>
              <a:t>W </a:t>
            </a:r>
            <a:r>
              <a:rPr sz="3465" b="1" dirty="0">
                <a:latin typeface="Times New Roman" panose="02020603050405020304"/>
                <a:cs typeface="Times New Roman" panose="02020603050405020304"/>
              </a:rPr>
              <a:t>(</a:t>
            </a:r>
            <a:r>
              <a:rPr sz="3465" b="1" i="1" dirty="0">
                <a:latin typeface="Times New Roman" panose="02020603050405020304"/>
                <a:cs typeface="Times New Roman" panose="02020603050405020304"/>
              </a:rPr>
              <a:t>n</a:t>
            </a:r>
            <a:r>
              <a:rPr sz="3465" b="1" dirty="0">
                <a:latin typeface="Times New Roman" panose="02020603050405020304"/>
                <a:cs typeface="Times New Roman" panose="02020603050405020304"/>
              </a:rPr>
              <a:t>/2) + </a:t>
            </a:r>
            <a:r>
              <a:rPr lang="en-US" sz="3665" b="1" i="1" spc="-147" dirty="0">
                <a:latin typeface="Symbol" panose="05050102010706020507"/>
                <a:cs typeface="Symbol" panose="05050102010706020507"/>
              </a:rPr>
              <a:t>O</a:t>
            </a:r>
            <a:r>
              <a:rPr sz="3465" b="1" dirty="0">
                <a:latin typeface="Times New Roman" panose="02020603050405020304"/>
                <a:cs typeface="Times New Roman" panose="02020603050405020304"/>
              </a:rPr>
              <a:t>(1)</a:t>
            </a:r>
            <a:endParaRPr sz="3465" b="1" dirty="0">
              <a:latin typeface="Times New Roman" panose="02020603050405020304"/>
              <a:cs typeface="Times New Roman" panose="02020603050405020304"/>
            </a:endParaRPr>
          </a:p>
          <a:p>
            <a:pPr marL="17145" algn="ctr">
              <a:spcBef>
                <a:spcPts val="2560"/>
              </a:spcBef>
            </a:pPr>
            <a:r>
              <a:rPr sz="3465" b="1" i="1" dirty="0">
                <a:latin typeface="Times New Roman" panose="02020603050405020304"/>
                <a:cs typeface="Times New Roman" panose="02020603050405020304"/>
                <a:sym typeface="+mn-ea"/>
              </a:rPr>
              <a:t>W </a:t>
            </a:r>
            <a:r>
              <a:rPr sz="3465" b="1" spc="-7" dirty="0">
                <a:latin typeface="Times New Roman" panose="02020603050405020304"/>
                <a:cs typeface="Times New Roman" panose="02020603050405020304"/>
                <a:sym typeface="+mn-ea"/>
              </a:rPr>
              <a:t>(</a:t>
            </a:r>
            <a:r>
              <a:rPr lang="en-US" sz="3465" b="1" spc="-7" dirty="0">
                <a:latin typeface="Times New Roman" panose="02020603050405020304"/>
                <a:cs typeface="Times New Roman" panose="02020603050405020304"/>
                <a:sym typeface="+mn-ea"/>
              </a:rPr>
              <a:t>1</a:t>
            </a:r>
            <a:r>
              <a:rPr sz="3465" b="1" spc="-7" dirty="0">
                <a:latin typeface="Times New Roman" panose="02020603050405020304"/>
                <a:cs typeface="Times New Roman" panose="02020603050405020304"/>
                <a:sym typeface="+mn-ea"/>
              </a:rPr>
              <a:t>)</a:t>
            </a:r>
            <a:r>
              <a:rPr lang="en-US" sz="3465" b="1" spc="-7" dirty="0">
                <a:latin typeface="Times New Roman" panose="02020603050405020304"/>
                <a:cs typeface="Times New Roman" panose="02020603050405020304"/>
                <a:sym typeface="+mn-ea"/>
              </a:rPr>
              <a:t>=0</a:t>
            </a:r>
            <a:endParaRPr sz="3465" b="1" dirty="0">
              <a:latin typeface="Times New Roman" panose="02020603050405020304"/>
              <a:cs typeface="Times New Roman" panose="02020603050405020304"/>
            </a:endParaRPr>
          </a:p>
          <a:p>
            <a:pPr marL="17145" algn="ctr">
              <a:spcBef>
                <a:spcPts val="435"/>
              </a:spcBef>
            </a:pPr>
            <a:r>
              <a:rPr sz="3465" b="1" i="1" dirty="0">
                <a:latin typeface="Times New Roman" panose="02020603050405020304"/>
                <a:cs typeface="Times New Roman" panose="02020603050405020304"/>
              </a:rPr>
              <a:t>W </a:t>
            </a:r>
            <a:r>
              <a:rPr sz="3465" b="1" spc="-7" dirty="0">
                <a:latin typeface="Times New Roman" panose="02020603050405020304"/>
                <a:cs typeface="Times New Roman" panose="02020603050405020304"/>
              </a:rPr>
              <a:t>(</a:t>
            </a:r>
            <a:r>
              <a:rPr sz="3465" b="1" i="1" spc="-7" dirty="0">
                <a:latin typeface="Times New Roman" panose="02020603050405020304"/>
                <a:cs typeface="Times New Roman" panose="02020603050405020304"/>
              </a:rPr>
              <a:t>n</a:t>
            </a:r>
            <a:r>
              <a:rPr sz="3465" b="1" spc="-7" dirty="0">
                <a:latin typeface="Times New Roman" panose="02020603050405020304"/>
                <a:cs typeface="Times New Roman" panose="02020603050405020304"/>
              </a:rPr>
              <a:t>) </a:t>
            </a:r>
            <a:r>
              <a:rPr sz="3465" b="1" dirty="0">
                <a:latin typeface="Times New Roman" panose="02020603050405020304"/>
                <a:cs typeface="Times New Roman" panose="02020603050405020304"/>
              </a:rPr>
              <a:t>= </a:t>
            </a:r>
            <a:r>
              <a:rPr lang="en-US" sz="3665" b="1" i="1" spc="-147" dirty="0">
                <a:latin typeface="Symbol" panose="05050102010706020507"/>
                <a:cs typeface="Symbol" panose="05050102010706020507"/>
              </a:rPr>
              <a:t>O</a:t>
            </a:r>
            <a:r>
              <a:rPr sz="3465" b="1" dirty="0">
                <a:latin typeface="Times New Roman" panose="02020603050405020304"/>
                <a:cs typeface="Times New Roman" panose="02020603050405020304"/>
              </a:rPr>
              <a:t>(log</a:t>
            </a:r>
            <a:r>
              <a:rPr sz="3465" b="1" spc="-13" dirty="0">
                <a:latin typeface="Times New Roman" panose="02020603050405020304"/>
                <a:cs typeface="Times New Roman" panose="02020603050405020304"/>
              </a:rPr>
              <a:t> </a:t>
            </a:r>
            <a:r>
              <a:rPr sz="3465" b="1" i="1" dirty="0">
                <a:latin typeface="Times New Roman" panose="02020603050405020304"/>
                <a:cs typeface="Times New Roman" panose="02020603050405020304"/>
              </a:rPr>
              <a:t>n</a:t>
            </a:r>
            <a:r>
              <a:rPr sz="3465" b="1" dirty="0">
                <a:latin typeface="Times New Roman" panose="02020603050405020304"/>
                <a:cs typeface="Times New Roman" panose="02020603050405020304"/>
              </a:rPr>
              <a:t>)</a:t>
            </a:r>
            <a:endParaRPr sz="3465" dirty="0">
              <a:latin typeface="Times New Roman" panose="02020603050405020304"/>
              <a:cs typeface="Times New Roman" panose="020206030504050203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3287" y="55235"/>
            <a:ext cx="8912279"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幂乘算法的应用</a:t>
            </a:r>
            <a:endParaRPr sz="4400" b="1" spc="-13"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457200" y="1161268"/>
            <a:ext cx="8598366" cy="4711065"/>
          </a:xfrm>
          <a:prstGeom prst="rect">
            <a:avLst/>
          </a:prstGeom>
        </p:spPr>
        <p:txBody>
          <a:bodyPr vert="horz" wrap="square" lIns="0" tIns="169333" rIns="0" bIns="0" rtlCol="0">
            <a:spAutoFit/>
          </a:bodyPr>
          <a:lstStyle/>
          <a:p>
            <a:pPr marL="67945">
              <a:spcBef>
                <a:spcPts val="1335"/>
              </a:spcBef>
            </a:pPr>
            <a:r>
              <a:rPr sz="3200" b="1" dirty="0">
                <a:latin typeface="Times New Roman" panose="02020603050405020304" pitchFamily="18" charset="0"/>
                <a:ea typeface="黑体" panose="02010609060101010101" pitchFamily="49" charset="-122"/>
                <a:cs typeface="Times New Roman" panose="02020603050405020304" pitchFamily="18" charset="0"/>
              </a:rPr>
              <a:t>Fibonacci</a:t>
            </a:r>
            <a:r>
              <a:rPr sz="3200" b="1" spc="-7" dirty="0">
                <a:latin typeface="Times New Roman" panose="02020603050405020304" pitchFamily="18" charset="0"/>
                <a:ea typeface="黑体" panose="02010609060101010101" pitchFamily="49" charset="-122"/>
                <a:cs typeface="Times New Roman" panose="02020603050405020304" pitchFamily="18" charset="0"/>
              </a:rPr>
              <a:t>数列</a:t>
            </a:r>
            <a:r>
              <a:rPr sz="3200" b="1" spc="-13" dirty="0">
                <a:latin typeface="Times New Roman" panose="02020603050405020304" pitchFamily="18" charset="0"/>
                <a:ea typeface="黑体" panose="02010609060101010101" pitchFamily="49" charset="-122"/>
                <a:cs typeface="Times New Roman" panose="02020603050405020304" pitchFamily="18" charset="0"/>
              </a:rPr>
              <a:t>：</a:t>
            </a:r>
            <a:r>
              <a:rPr sz="3200" b="1" spc="-860"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latin typeface="Times New Roman" panose="02020603050405020304" pitchFamily="18" charset="0"/>
                <a:ea typeface="黑体" panose="02010609060101010101" pitchFamily="49" charset="-122"/>
                <a:cs typeface="Times New Roman" panose="02020603050405020304" pitchFamily="18" charset="0"/>
              </a:rPr>
              <a:t>1,</a:t>
            </a:r>
            <a:r>
              <a:rPr sz="3200" b="1" spc="-13"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latin typeface="Times New Roman" panose="02020603050405020304" pitchFamily="18" charset="0"/>
                <a:ea typeface="黑体" panose="02010609060101010101" pitchFamily="49" charset="-122"/>
                <a:cs typeface="Times New Roman" panose="02020603050405020304" pitchFamily="18" charset="0"/>
              </a:rPr>
              <a:t>1, 2,</a:t>
            </a:r>
            <a:r>
              <a:rPr sz="3200" b="1" spc="-13"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latin typeface="Times New Roman" panose="02020603050405020304" pitchFamily="18" charset="0"/>
                <a:ea typeface="黑体" panose="02010609060101010101" pitchFamily="49" charset="-122"/>
                <a:cs typeface="Times New Roman" panose="02020603050405020304" pitchFamily="18" charset="0"/>
              </a:rPr>
              <a:t>3, 5,</a:t>
            </a:r>
            <a:r>
              <a:rPr sz="3200" b="1" spc="-13"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latin typeface="Times New Roman" panose="02020603050405020304" pitchFamily="18" charset="0"/>
                <a:ea typeface="黑体" panose="02010609060101010101" pitchFamily="49" charset="-122"/>
                <a:cs typeface="Times New Roman" panose="02020603050405020304" pitchFamily="18" charset="0"/>
              </a:rPr>
              <a:t>8, 13, 21,</a:t>
            </a:r>
            <a:r>
              <a:rPr sz="3200" b="1" spc="-13"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67945">
              <a:spcBef>
                <a:spcPts val="1200"/>
              </a:spcBef>
            </a:pPr>
            <a:r>
              <a:rPr sz="3200" b="1" dirty="0" err="1">
                <a:latin typeface="Times New Roman" panose="02020603050405020304" pitchFamily="18" charset="0"/>
                <a:ea typeface="黑体" panose="02010609060101010101" pitchFamily="49" charset="-122"/>
                <a:cs typeface="Times New Roman" panose="02020603050405020304" pitchFamily="18" charset="0"/>
              </a:rPr>
              <a:t>增</a:t>
            </a:r>
            <a:r>
              <a:rPr sz="3200" b="1" spc="-13" dirty="0" err="1">
                <a:latin typeface="Times New Roman" panose="02020603050405020304" pitchFamily="18" charset="0"/>
                <a:ea typeface="黑体" panose="02010609060101010101" pitchFamily="49" charset="-122"/>
                <a:cs typeface="Times New Roman" panose="02020603050405020304" pitchFamily="18" charset="0"/>
              </a:rPr>
              <a:t>加</a:t>
            </a:r>
            <a:r>
              <a:rPr sz="3200" b="1"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F</a:t>
            </a:r>
            <a:r>
              <a:rPr sz="3200" b="1" spc="-9" baseline="-21000" dirty="0">
                <a:latin typeface="Times New Roman" panose="02020603050405020304" pitchFamily="18" charset="0"/>
                <a:ea typeface="黑体" panose="02010609060101010101" pitchFamily="49" charset="-122"/>
                <a:cs typeface="Times New Roman" panose="02020603050405020304" pitchFamily="18" charset="0"/>
              </a:rPr>
              <a:t>0</a:t>
            </a:r>
            <a:r>
              <a:rPr lang="en-US" sz="3200" b="1" spc="-9" baseline="-21000"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lang="en-US"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latin typeface="Times New Roman" panose="02020603050405020304" pitchFamily="18" charset="0"/>
                <a:ea typeface="黑体" panose="02010609060101010101" pitchFamily="49" charset="-122"/>
                <a:cs typeface="Times New Roman" panose="02020603050405020304" pitchFamily="18" charset="0"/>
              </a:rPr>
              <a:t>0，</a:t>
            </a:r>
            <a:r>
              <a:rPr sz="3200" b="1" dirty="0">
                <a:latin typeface="Times New Roman" panose="02020603050405020304" pitchFamily="18" charset="0"/>
                <a:ea typeface="黑体" panose="02010609060101010101" pitchFamily="49" charset="-122"/>
                <a:cs typeface="Times New Roman" panose="02020603050405020304" pitchFamily="18" charset="0"/>
              </a:rPr>
              <a:t>得到数列</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R="446405" algn="ctr">
              <a:spcBef>
                <a:spcPts val="1205"/>
              </a:spcBef>
              <a:tabLst>
                <a:tab pos="4166870" algn="l"/>
              </a:tabLst>
            </a:pPr>
            <a:r>
              <a:rPr sz="3200" b="1" spc="-7" dirty="0">
                <a:latin typeface="Times New Roman" panose="02020603050405020304" pitchFamily="18" charset="0"/>
                <a:ea typeface="黑体" panose="02010609060101010101" pitchFamily="49" charset="-122"/>
                <a:cs typeface="Times New Roman" panose="02020603050405020304" pitchFamily="18" charset="0"/>
              </a:rPr>
              <a:t>0,1, </a:t>
            </a:r>
            <a:r>
              <a:rPr sz="3200" b="1" dirty="0">
                <a:latin typeface="Times New Roman" panose="02020603050405020304" pitchFamily="18" charset="0"/>
                <a:ea typeface="黑体" panose="02010609060101010101" pitchFamily="49" charset="-122"/>
                <a:cs typeface="Times New Roman" panose="02020603050405020304" pitchFamily="18" charset="0"/>
              </a:rPr>
              <a:t>1, 2, 3, 5, 8,</a:t>
            </a:r>
            <a:r>
              <a:rPr sz="3200" b="1" spc="20"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13, 21,	…</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67945">
              <a:spcBef>
                <a:spcPts val="1600"/>
              </a:spcBef>
            </a:pPr>
            <a:r>
              <a:rPr sz="32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问题</a:t>
            </a:r>
            <a:r>
              <a:rPr sz="3200" b="1" dirty="0" err="1">
                <a:latin typeface="Times New Roman" panose="02020603050405020304" pitchFamily="18" charset="0"/>
                <a:ea typeface="黑体" panose="02010609060101010101" pitchFamily="49" charset="-122"/>
                <a:cs typeface="Times New Roman" panose="02020603050405020304" pitchFamily="18" charset="0"/>
              </a:rPr>
              <a:t>:已</a:t>
            </a:r>
            <a:r>
              <a:rPr sz="3200" b="1" spc="-13" dirty="0" err="1">
                <a:latin typeface="Times New Roman" panose="02020603050405020304" pitchFamily="18" charset="0"/>
                <a:ea typeface="黑体" panose="02010609060101010101" pitchFamily="49" charset="-122"/>
                <a:cs typeface="Times New Roman" panose="02020603050405020304" pitchFamily="18" charset="0"/>
              </a:rPr>
              <a:t>知</a:t>
            </a:r>
            <a:r>
              <a:rPr sz="3200" b="1" spc="-13"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F</a:t>
            </a:r>
            <a:r>
              <a:rPr sz="3200" b="1" spc="-9" baseline="-21000" dirty="0">
                <a:latin typeface="Times New Roman" panose="02020603050405020304" pitchFamily="18" charset="0"/>
                <a:ea typeface="黑体" panose="02010609060101010101" pitchFamily="49" charset="-122"/>
                <a:cs typeface="Times New Roman" panose="02020603050405020304" pitchFamily="18" charset="0"/>
              </a:rPr>
              <a:t>0</a:t>
            </a:r>
            <a:r>
              <a:rPr lang="en-US" sz="3200" b="1" spc="-9" baseline="-21000"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lang="en-US"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latin typeface="Times New Roman" panose="02020603050405020304" pitchFamily="18" charset="0"/>
                <a:ea typeface="黑体" panose="02010609060101010101" pitchFamily="49" charset="-122"/>
                <a:cs typeface="Times New Roman" panose="02020603050405020304" pitchFamily="18" charset="0"/>
              </a:rPr>
              <a:t>0,</a:t>
            </a:r>
            <a:r>
              <a:rPr sz="3200" b="1" spc="-13"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F</a:t>
            </a:r>
            <a:r>
              <a:rPr sz="3200" b="1" spc="-9" baseline="-21000" dirty="0">
                <a:latin typeface="Times New Roman" panose="02020603050405020304" pitchFamily="18" charset="0"/>
                <a:ea typeface="黑体" panose="02010609060101010101" pitchFamily="49" charset="-122"/>
                <a:cs typeface="Times New Roman" panose="02020603050405020304" pitchFamily="18" charset="0"/>
              </a:rPr>
              <a:t>1</a:t>
            </a:r>
            <a:r>
              <a:rPr lang="en-US" sz="3200" b="1" spc="-9" baseline="-21000"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lang="en-US"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latin typeface="Times New Roman" panose="02020603050405020304" pitchFamily="18" charset="0"/>
                <a:ea typeface="黑体" panose="02010609060101010101" pitchFamily="49" charset="-122"/>
                <a:cs typeface="Times New Roman" panose="02020603050405020304" pitchFamily="18" charset="0"/>
              </a:rPr>
              <a:t>1,</a:t>
            </a:r>
            <a:r>
              <a:rPr sz="3200" b="1" spc="-27" dirty="0">
                <a:latin typeface="Times New Roman" panose="02020603050405020304" pitchFamily="18" charset="0"/>
                <a:ea typeface="黑体" panose="02010609060101010101" pitchFamily="49" charset="-122"/>
                <a:cs typeface="Times New Roman" panose="02020603050405020304" pitchFamily="18" charset="0"/>
              </a:rPr>
              <a:t> </a:t>
            </a:r>
            <a:r>
              <a:rPr sz="3200" b="1" dirty="0" err="1">
                <a:latin typeface="Times New Roman" panose="02020603050405020304" pitchFamily="18" charset="0"/>
                <a:ea typeface="黑体" panose="02010609060101010101" pitchFamily="49" charset="-122"/>
                <a:cs typeface="Times New Roman" panose="02020603050405020304" pitchFamily="18" charset="0"/>
              </a:rPr>
              <a:t>给定</a:t>
            </a:r>
            <a:r>
              <a:rPr lang="en-US" sz="3200" b="1"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n</a:t>
            </a:r>
            <a:r>
              <a:rPr lang="en-US"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spc="13"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计</a:t>
            </a:r>
            <a:r>
              <a:rPr sz="3200" b="1" spc="-13" dirty="0">
                <a:latin typeface="Times New Roman" panose="02020603050405020304" pitchFamily="18" charset="0"/>
                <a:ea typeface="黑体" panose="02010609060101010101" pitchFamily="49" charset="-122"/>
                <a:cs typeface="Times New Roman" panose="02020603050405020304" pitchFamily="18" charset="0"/>
              </a:rPr>
              <a:t>算</a:t>
            </a:r>
            <a:r>
              <a:rPr sz="3200" b="1" spc="-807"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F</a:t>
            </a:r>
            <a:r>
              <a:rPr sz="3200" b="1" i="1" spc="-9" baseline="-21000" dirty="0">
                <a:latin typeface="Times New Roman" panose="02020603050405020304" pitchFamily="18" charset="0"/>
                <a:ea typeface="黑体" panose="02010609060101010101" pitchFamily="49" charset="-122"/>
                <a:cs typeface="Times New Roman" panose="02020603050405020304" pitchFamily="18" charset="0"/>
              </a:rPr>
              <a:t>n</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67945" marR="408305">
              <a:spcBef>
                <a:spcPts val="3600"/>
              </a:spcBef>
            </a:pPr>
            <a:r>
              <a:rPr sz="3200" b="1" dirty="0">
                <a:latin typeface="Times New Roman" panose="02020603050405020304" pitchFamily="18" charset="0"/>
                <a:ea typeface="黑体" panose="02010609060101010101" pitchFamily="49" charset="-122"/>
                <a:cs typeface="Times New Roman" panose="02020603050405020304" pitchFamily="18" charset="0"/>
              </a:rPr>
              <a:t>通常算法：</a:t>
            </a:r>
            <a:r>
              <a:rPr sz="3200" b="1" spc="-13" dirty="0">
                <a:latin typeface="Times New Roman" panose="02020603050405020304" pitchFamily="18" charset="0"/>
                <a:ea typeface="黑体" panose="02010609060101010101" pitchFamily="49" charset="-122"/>
                <a:cs typeface="Times New Roman" panose="02020603050405020304" pitchFamily="18" charset="0"/>
              </a:rPr>
              <a:t>从</a:t>
            </a:r>
            <a:r>
              <a:rPr sz="3200" b="1" spc="-840"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F</a:t>
            </a:r>
            <a:r>
              <a:rPr sz="3200" b="1" spc="-9" baseline="-21000" dirty="0">
                <a:latin typeface="Times New Roman" panose="02020603050405020304" pitchFamily="18" charset="0"/>
                <a:ea typeface="黑体" panose="02010609060101010101" pitchFamily="49" charset="-122"/>
                <a:cs typeface="Times New Roman" panose="02020603050405020304" pitchFamily="18" charset="0"/>
              </a:rPr>
              <a:t>0</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spc="-20"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F</a:t>
            </a:r>
            <a:r>
              <a:rPr sz="3200" b="1" spc="-9" baseline="-21000" dirty="0">
                <a:latin typeface="Times New Roman" panose="02020603050405020304" pitchFamily="18" charset="0"/>
                <a:ea typeface="黑体" panose="02010609060101010101" pitchFamily="49" charset="-122"/>
                <a:cs typeface="Times New Roman" panose="02020603050405020304" pitchFamily="18" charset="0"/>
              </a:rPr>
              <a:t>1</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spc="-20"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spc="-27" dirty="0">
                <a:latin typeface="Times New Roman" panose="02020603050405020304" pitchFamily="18" charset="0"/>
                <a:ea typeface="黑体" panose="02010609060101010101" pitchFamily="49" charset="-122"/>
                <a:cs typeface="Times New Roman" panose="02020603050405020304" pitchFamily="18" charset="0"/>
              </a:rPr>
              <a:t> </a:t>
            </a:r>
            <a:r>
              <a:rPr sz="3200" b="1" dirty="0" err="1">
                <a:latin typeface="Times New Roman" panose="02020603050405020304" pitchFamily="18" charset="0"/>
                <a:ea typeface="黑体" panose="02010609060101010101" pitchFamily="49" charset="-122"/>
                <a:cs typeface="Times New Roman" panose="02020603050405020304" pitchFamily="18" charset="0"/>
              </a:rPr>
              <a:t>开始，根据递推公式</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R="358775" algn="ctr">
              <a:spcBef>
                <a:spcPts val="600"/>
              </a:spcBef>
            </a:pPr>
            <a:r>
              <a:rPr sz="3200" b="1" i="1" spc="-9" dirty="0">
                <a:latin typeface="Times New Roman" panose="02020603050405020304" pitchFamily="18" charset="0"/>
                <a:ea typeface="黑体" panose="02010609060101010101" pitchFamily="49" charset="-122"/>
                <a:cs typeface="Times New Roman" panose="02020603050405020304" pitchFamily="18" charset="0"/>
              </a:rPr>
              <a:t>F</a:t>
            </a:r>
            <a:r>
              <a:rPr sz="3200" b="1" i="1" spc="-7" baseline="-25000" dirty="0">
                <a:latin typeface="Times New Roman" panose="02020603050405020304" pitchFamily="18" charset="0"/>
                <a:ea typeface="黑体" panose="02010609060101010101" pitchFamily="49" charset="-122"/>
                <a:cs typeface="Times New Roman" panose="02020603050405020304" pitchFamily="18" charset="0"/>
              </a:rPr>
              <a:t>n</a:t>
            </a:r>
            <a:r>
              <a:rPr sz="3200" b="1" i="1" spc="-7" dirty="0">
                <a:latin typeface="Times New Roman" panose="02020603050405020304" pitchFamily="18" charset="0"/>
                <a:ea typeface="黑体" panose="02010609060101010101" pitchFamily="49" charset="-122"/>
                <a:cs typeface="Times New Roman" panose="02020603050405020304" pitchFamily="18" charset="0"/>
              </a:rPr>
              <a:t> </a:t>
            </a:r>
            <a:r>
              <a:rPr sz="3200" b="1" i="1" baseline="14000" dirty="0">
                <a:latin typeface="Times New Roman" panose="02020603050405020304" pitchFamily="18" charset="0"/>
                <a:ea typeface="黑体" panose="02010609060101010101" pitchFamily="49" charset="-122"/>
                <a:cs typeface="Times New Roman" panose="02020603050405020304" pitchFamily="18" charset="0"/>
              </a:rPr>
              <a:t>= </a:t>
            </a:r>
            <a:r>
              <a:rPr sz="3200" b="1" i="1" spc="-9" dirty="0">
                <a:latin typeface="Times New Roman" panose="02020603050405020304" pitchFamily="18" charset="0"/>
                <a:ea typeface="黑体" panose="02010609060101010101" pitchFamily="49" charset="-122"/>
                <a:cs typeface="Times New Roman" panose="02020603050405020304" pitchFamily="18" charset="0"/>
              </a:rPr>
              <a:t>F</a:t>
            </a:r>
            <a:r>
              <a:rPr sz="3200" b="1" i="1" spc="-7" baseline="-25000" dirty="0">
                <a:latin typeface="Times New Roman" panose="02020603050405020304" pitchFamily="18" charset="0"/>
                <a:ea typeface="黑体" panose="02010609060101010101" pitchFamily="49" charset="-122"/>
                <a:cs typeface="Times New Roman" panose="02020603050405020304" pitchFamily="18" charset="0"/>
              </a:rPr>
              <a:t>n-</a:t>
            </a:r>
            <a:r>
              <a:rPr sz="3200" b="1" spc="-7" baseline="-25000" dirty="0">
                <a:latin typeface="Times New Roman" panose="02020603050405020304" pitchFamily="18" charset="0"/>
                <a:ea typeface="黑体" panose="02010609060101010101" pitchFamily="49" charset="-122"/>
                <a:cs typeface="Times New Roman" panose="02020603050405020304" pitchFamily="18" charset="0"/>
              </a:rPr>
              <a:t>1</a:t>
            </a:r>
            <a:r>
              <a:rPr sz="3200" b="1" i="1" spc="-9" baseline="14000" dirty="0">
                <a:latin typeface="Times New Roman" panose="02020603050405020304" pitchFamily="18" charset="0"/>
                <a:ea typeface="黑体" panose="02010609060101010101" pitchFamily="49" charset="-122"/>
                <a:cs typeface="Times New Roman" panose="02020603050405020304" pitchFamily="18" charset="0"/>
              </a:rPr>
              <a:t>+</a:t>
            </a:r>
            <a:r>
              <a:rPr sz="3200" b="1" i="1" spc="-29" baseline="14000" dirty="0">
                <a:latin typeface="Times New Roman" panose="02020603050405020304" pitchFamily="18" charset="0"/>
                <a:ea typeface="黑体" panose="02010609060101010101" pitchFamily="49" charset="-122"/>
                <a:cs typeface="Times New Roman" panose="02020603050405020304" pitchFamily="18" charset="0"/>
              </a:rPr>
              <a:t> </a:t>
            </a:r>
            <a:r>
              <a:rPr sz="3200" b="1" i="1" spc="-9" dirty="0">
                <a:latin typeface="Times New Roman" panose="02020603050405020304" pitchFamily="18" charset="0"/>
                <a:ea typeface="黑体" panose="02010609060101010101" pitchFamily="49" charset="-122"/>
                <a:cs typeface="Times New Roman" panose="02020603050405020304" pitchFamily="18" charset="0"/>
              </a:rPr>
              <a:t>F</a:t>
            </a:r>
            <a:r>
              <a:rPr sz="3200" b="1" i="1" spc="-7" baseline="-25000" dirty="0">
                <a:latin typeface="Times New Roman" panose="02020603050405020304" pitchFamily="18" charset="0"/>
                <a:ea typeface="黑体" panose="02010609060101010101" pitchFamily="49" charset="-122"/>
                <a:cs typeface="Times New Roman" panose="02020603050405020304" pitchFamily="18" charset="0"/>
              </a:rPr>
              <a:t>n</a:t>
            </a:r>
            <a:r>
              <a:rPr sz="3200" b="1" spc="-7" baseline="-25000" dirty="0">
                <a:latin typeface="Times New Roman" panose="02020603050405020304" pitchFamily="18" charset="0"/>
                <a:ea typeface="黑体" panose="02010609060101010101" pitchFamily="49" charset="-122"/>
                <a:cs typeface="Times New Roman" panose="02020603050405020304" pitchFamily="18" charset="0"/>
              </a:rPr>
              <a:t>-2</a:t>
            </a:r>
            <a:endParaRPr sz="3200" baseline="-25000" dirty="0">
              <a:latin typeface="Times New Roman" panose="02020603050405020304" pitchFamily="18" charset="0"/>
              <a:ea typeface="黑体" panose="02010609060101010101" pitchFamily="49" charset="-122"/>
              <a:cs typeface="Times New Roman" panose="02020603050405020304" pitchFamily="18" charset="0"/>
            </a:endParaRPr>
          </a:p>
          <a:p>
            <a:pPr marL="67945">
              <a:spcBef>
                <a:spcPts val="335"/>
              </a:spcBef>
            </a:pPr>
            <a:r>
              <a:rPr sz="3200" b="1" spc="-7" dirty="0">
                <a:latin typeface="Times New Roman" panose="02020603050405020304" pitchFamily="18" charset="0"/>
                <a:ea typeface="黑体" panose="02010609060101010101" pitchFamily="49" charset="-122"/>
                <a:cs typeface="Times New Roman" panose="02020603050405020304" pitchFamily="18" charset="0"/>
              </a:rPr>
              <a:t>陆续相加可</a:t>
            </a:r>
            <a:r>
              <a:rPr sz="3200" b="1" spc="-13" dirty="0">
                <a:latin typeface="Times New Roman" panose="02020603050405020304" pitchFamily="18" charset="0"/>
                <a:ea typeface="黑体" panose="02010609060101010101" pitchFamily="49" charset="-122"/>
                <a:cs typeface="Times New Roman" panose="02020603050405020304" pitchFamily="18" charset="0"/>
              </a:rPr>
              <a:t>得</a:t>
            </a:r>
            <a:r>
              <a:rPr sz="3200" b="1" spc="-813"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F</a:t>
            </a:r>
            <a:r>
              <a:rPr sz="3200" b="1" i="1" spc="-9" baseline="-21000" dirty="0">
                <a:latin typeface="Times New Roman" panose="02020603050405020304" pitchFamily="18" charset="0"/>
                <a:ea typeface="黑体" panose="02010609060101010101" pitchFamily="49" charset="-122"/>
                <a:cs typeface="Times New Roman" panose="02020603050405020304" pitchFamily="18" charset="0"/>
              </a:rPr>
              <a:t>n</a:t>
            </a:r>
            <a:r>
              <a:rPr sz="3200" b="1" i="1" spc="-20" baseline="-21000" dirty="0">
                <a:latin typeface="Times New Roman" panose="02020603050405020304" pitchFamily="18" charset="0"/>
                <a:ea typeface="黑体" panose="02010609060101010101" pitchFamily="49" charset="-122"/>
                <a:cs typeface="Times New Roman" panose="02020603050405020304" pitchFamily="18" charset="0"/>
              </a:rPr>
              <a:t> </a:t>
            </a:r>
            <a:r>
              <a:rPr sz="3200" b="1" spc="-13" dirty="0">
                <a:latin typeface="Times New Roman" panose="02020603050405020304" pitchFamily="18" charset="0"/>
                <a:ea typeface="黑体" panose="02010609060101010101" pitchFamily="49" charset="-122"/>
                <a:cs typeface="Times New Roman" panose="02020603050405020304" pitchFamily="18" charset="0"/>
              </a:rPr>
              <a:t>，</a:t>
            </a:r>
            <a:r>
              <a:rPr sz="3200" b="1" spc="-1080"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latin typeface="Times New Roman" panose="02020603050405020304" pitchFamily="18" charset="0"/>
                <a:ea typeface="黑体" panose="02010609060101010101" pitchFamily="49" charset="-122"/>
                <a:cs typeface="Times New Roman" panose="02020603050405020304" pitchFamily="18" charset="0"/>
              </a:rPr>
              <a:t>时</a:t>
            </a:r>
            <a:r>
              <a:rPr sz="3200" b="1" spc="-7" dirty="0">
                <a:latin typeface="Times New Roman" panose="02020603050405020304" pitchFamily="18" charset="0"/>
                <a:ea typeface="黑体" panose="02010609060101010101" pitchFamily="49" charset="-122"/>
                <a:cs typeface="Times New Roman" panose="02020603050405020304" pitchFamily="18" charset="0"/>
              </a:rPr>
              <a:t>间复杂度</a:t>
            </a:r>
            <a:r>
              <a:rPr sz="3200" b="1" spc="13" dirty="0">
                <a:latin typeface="Times New Roman" panose="02020603050405020304" pitchFamily="18" charset="0"/>
                <a:ea typeface="黑体" panose="02010609060101010101" pitchFamily="49" charset="-122"/>
                <a:cs typeface="Times New Roman" panose="02020603050405020304" pitchFamily="18" charset="0"/>
              </a:rPr>
              <a:t>为</a:t>
            </a:r>
            <a:r>
              <a:rPr sz="3200" b="1" i="1" spc="-100" dirty="0">
                <a:latin typeface="宋体" panose="02010600030101010101" pitchFamily="2" charset="-122"/>
                <a:ea typeface="宋体" panose="02010600030101010101" pitchFamily="2" charset="-122"/>
                <a:cs typeface="Times New Roman" panose="02020603050405020304" pitchFamily="18" charset="0"/>
              </a:rPr>
              <a:t>θ</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n</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endParaRPr sz="32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6498" y="1239135"/>
            <a:ext cx="8620668" cy="512619"/>
          </a:xfrm>
          <a:prstGeom prst="rect">
            <a:avLst/>
          </a:prstGeom>
        </p:spPr>
        <p:txBody>
          <a:bodyPr vert="horz" wrap="square" lIns="0" tIns="16933" rIns="0" bIns="0" rtlCol="0">
            <a:spAutoFit/>
          </a:bodyPr>
          <a:lstStyle/>
          <a:p>
            <a:pPr marL="33655" marR="23495">
              <a:lnSpc>
                <a:spcPct val="115000"/>
              </a:lnSpc>
              <a:spcBef>
                <a:spcPts val="135"/>
              </a:spcBef>
              <a:tabLst>
                <a:tab pos="1254125" algn="l"/>
              </a:tabLst>
            </a:pPr>
            <a:r>
              <a:rPr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定理1	</a:t>
            </a:r>
            <a:r>
              <a:rPr sz="2800" b="1" spc="-13" dirty="0">
                <a:latin typeface="Times New Roman" panose="02020603050405020304" pitchFamily="18" charset="0"/>
                <a:ea typeface="黑体" panose="02010609060101010101" pitchFamily="49" charset="-122"/>
                <a:cs typeface="Times New Roman" panose="02020603050405020304" pitchFamily="18" charset="0"/>
              </a:rPr>
              <a:t>设</a:t>
            </a:r>
            <a:r>
              <a:rPr sz="2800" b="1" spc="-840" dirty="0">
                <a:latin typeface="Times New Roman" panose="02020603050405020304" pitchFamily="18" charset="0"/>
                <a:ea typeface="黑体" panose="02010609060101010101" pitchFamily="49" charset="-122"/>
                <a:cs typeface="Times New Roman" panose="02020603050405020304" pitchFamily="18" charset="0"/>
              </a:rPr>
              <a:t> </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r>
              <a:rPr sz="2800" b="1" i="1" spc="-7" dirty="0">
                <a:latin typeface="Times New Roman" panose="02020603050405020304" pitchFamily="18" charset="0"/>
                <a:ea typeface="黑体" panose="02010609060101010101" pitchFamily="49" charset="-122"/>
                <a:cs typeface="Times New Roman" panose="02020603050405020304" pitchFamily="18" charset="0"/>
              </a:rPr>
              <a:t>F</a:t>
            </a:r>
            <a:r>
              <a:rPr sz="2800" b="1" i="1" spc="-9" baseline="-24000" dirty="0">
                <a:latin typeface="Times New Roman" panose="02020603050405020304" pitchFamily="18" charset="0"/>
                <a:ea typeface="黑体" panose="02010609060101010101" pitchFamily="49" charset="-122"/>
                <a:cs typeface="Times New Roman" panose="02020603050405020304" pitchFamily="18" charset="0"/>
              </a:rPr>
              <a:t>n</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r>
              <a:rPr sz="2800" b="1" spc="-13" dirty="0">
                <a:latin typeface="Times New Roman" panose="02020603050405020304" pitchFamily="18" charset="0"/>
                <a:ea typeface="黑体" panose="02010609060101010101" pitchFamily="49" charset="-122"/>
                <a:cs typeface="Times New Roman" panose="02020603050405020304" pitchFamily="18" charset="0"/>
              </a:rPr>
              <a:t>为</a:t>
            </a:r>
            <a:r>
              <a:rPr sz="2800" b="1" spc="-827"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Fibonacci</a:t>
            </a:r>
            <a:r>
              <a:rPr sz="2800" b="1" spc="-53" dirty="0">
                <a:latin typeface="Times New Roman" panose="02020603050405020304" pitchFamily="18" charset="0"/>
                <a:ea typeface="黑体" panose="02010609060101010101" pitchFamily="49" charset="-122"/>
                <a:cs typeface="Times New Roman" panose="02020603050405020304" pitchFamily="18" charset="0"/>
              </a:rPr>
              <a:t> </a:t>
            </a:r>
            <a:r>
              <a:rPr sz="2800" b="1" dirty="0" err="1">
                <a:latin typeface="Times New Roman" panose="02020603050405020304" pitchFamily="18" charset="0"/>
                <a:ea typeface="黑体" panose="02010609060101010101" pitchFamily="49" charset="-122"/>
                <a:cs typeface="Times New Roman" panose="02020603050405020304" pitchFamily="18" charset="0"/>
              </a:rPr>
              <a:t>数构成的数列，那么</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object 9"/>
          <p:cNvSpPr txBox="1">
            <a:spLocks noGrp="1"/>
          </p:cNvSpPr>
          <p:nvPr>
            <p:ph type="title"/>
          </p:nvPr>
        </p:nvSpPr>
        <p:spPr>
          <a:xfrm>
            <a:off x="175573" y="70265"/>
            <a:ext cx="8922100" cy="693353"/>
          </a:xfrm>
          <a:prstGeom prst="rect">
            <a:avLst/>
          </a:prstGeom>
        </p:spPr>
        <p:txBody>
          <a:bodyPr vert="horz" wrap="square" lIns="0" tIns="16087" rIns="0" bIns="0" rtlCol="0" anchor="ctr">
            <a:spAutoFit/>
          </a:bodyPr>
          <a:lstStyle/>
          <a:p>
            <a:pPr marL="17145" algn="ctr">
              <a:lnSpc>
                <a:spcPct val="100000"/>
              </a:lnSpc>
              <a:spcBef>
                <a:spcPts val="125"/>
              </a:spcBef>
            </a:pPr>
            <a:r>
              <a:rPr sz="4400"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Fibonacci</a:t>
            </a:r>
            <a:r>
              <a:rPr sz="4400" spc="-13" dirty="0">
                <a:solidFill>
                  <a:srgbClr val="C00000"/>
                </a:solidFill>
                <a:latin typeface="黑体" panose="02010609060101010101" pitchFamily="49" charset="-122"/>
                <a:ea typeface="黑体" panose="02010609060101010101" pitchFamily="49" charset="-122"/>
                <a:cs typeface="Times New Roman" panose="02020603050405020304" pitchFamily="18" charset="0"/>
              </a:rPr>
              <a:t>数的性质</a:t>
            </a:r>
            <a:endParaRPr sz="4400" spc="-13" dirty="0">
              <a:solidFill>
                <a:srgbClr val="C0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0" name="object 10"/>
          <p:cNvSpPr txBox="1"/>
          <p:nvPr/>
        </p:nvSpPr>
        <p:spPr>
          <a:xfrm>
            <a:off x="536498" y="3813799"/>
            <a:ext cx="2138637" cy="447986"/>
          </a:xfrm>
          <a:prstGeom prst="rect">
            <a:avLst/>
          </a:prstGeom>
        </p:spPr>
        <p:txBody>
          <a:bodyPr vert="horz" wrap="square" lIns="0" tIns="16933" rIns="0" bIns="0" rtlCol="0">
            <a:spAutoFit/>
          </a:bodyPr>
          <a:lstStyle/>
          <a:p>
            <a:pPr marL="17145">
              <a:spcBef>
                <a:spcPts val="135"/>
              </a:spcBef>
            </a:pPr>
            <a:r>
              <a:rPr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归纳证明</a:t>
            </a:r>
            <a:endParaRPr sz="28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object 12"/>
          <p:cNvSpPr txBox="1"/>
          <p:nvPr/>
        </p:nvSpPr>
        <p:spPr>
          <a:xfrm>
            <a:off x="6606069" y="4587624"/>
            <a:ext cx="1597660" cy="509541"/>
          </a:xfrm>
          <a:prstGeom prst="rect">
            <a:avLst/>
          </a:prstGeom>
        </p:spPr>
        <p:txBody>
          <a:bodyPr vert="horz" wrap="square" lIns="0" tIns="16933" rIns="0" bIns="0" rtlCol="0">
            <a:spAutoFit/>
          </a:bodyPr>
          <a:lstStyle/>
          <a:p>
            <a:pPr marL="50800">
              <a:spcBef>
                <a:spcPts val="135"/>
              </a:spcBef>
            </a:pPr>
            <a:r>
              <a:rPr sz="3200" b="1" dirty="0" err="1">
                <a:latin typeface="Times New Roman" panose="02020603050405020304" pitchFamily="18" charset="0"/>
                <a:ea typeface="黑体" panose="02010609060101010101" pitchFamily="49" charset="-122"/>
                <a:cs typeface="Times New Roman" panose="02020603050405020304" pitchFamily="18" charset="0"/>
              </a:rPr>
              <a:t>右边</a:t>
            </a:r>
            <a:endParaRPr sz="32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6" name="object 16"/>
          <p:cNvSpPr txBox="1"/>
          <p:nvPr/>
        </p:nvSpPr>
        <p:spPr>
          <a:xfrm>
            <a:off x="647159" y="4711740"/>
            <a:ext cx="2810933" cy="427467"/>
          </a:xfrm>
          <a:prstGeom prst="rect">
            <a:avLst/>
          </a:prstGeom>
        </p:spPr>
        <p:txBody>
          <a:bodyPr vert="horz" wrap="square" lIns="0" tIns="16933" rIns="0" bIns="0" rtlCol="0">
            <a:spAutoFit/>
          </a:bodyPr>
          <a:lstStyle/>
          <a:p>
            <a:pPr marL="50800">
              <a:lnSpc>
                <a:spcPts val="3175"/>
              </a:lnSpc>
              <a:tabLst>
                <a:tab pos="1116965" algn="l"/>
                <a:tab pos="2662555" algn="l"/>
              </a:tabLst>
            </a:pPr>
            <a:r>
              <a:rPr sz="3200" b="1" i="1" spc="-7" dirty="0">
                <a:latin typeface="Times New Roman" panose="02020603050405020304" pitchFamily="18" charset="0"/>
                <a:ea typeface="黑体" panose="02010609060101010101" pitchFamily="49" charset="-122"/>
                <a:cs typeface="Times New Roman" panose="02020603050405020304" pitchFamily="18" charset="0"/>
              </a:rPr>
              <a:t>n</a:t>
            </a:r>
            <a:r>
              <a:rPr sz="3200" b="1" spc="-7" dirty="0">
                <a:latin typeface="Times New Roman" panose="02020603050405020304" pitchFamily="18" charset="0"/>
                <a:ea typeface="黑体" panose="02010609060101010101" pitchFamily="49" charset="-122"/>
                <a:cs typeface="Times New Roman" panose="02020603050405020304" pitchFamily="18" charset="0"/>
              </a:rPr>
              <a:t>=1,	</a:t>
            </a:r>
            <a:r>
              <a:rPr sz="3200" b="1" dirty="0" err="1">
                <a:latin typeface="Times New Roman" panose="02020603050405020304" pitchFamily="18" charset="0"/>
                <a:ea typeface="黑体" panose="02010609060101010101" pitchFamily="49" charset="-122"/>
                <a:cs typeface="Times New Roman" panose="02020603050405020304" pitchFamily="18" charset="0"/>
              </a:rPr>
              <a:t>左</a:t>
            </a:r>
            <a:r>
              <a:rPr sz="3200" b="1" spc="-7" dirty="0" err="1">
                <a:latin typeface="Times New Roman" panose="02020603050405020304" pitchFamily="18" charset="0"/>
                <a:ea typeface="黑体" panose="02010609060101010101" pitchFamily="49" charset="-122"/>
                <a:cs typeface="Times New Roman" panose="02020603050405020304" pitchFamily="18" charset="0"/>
              </a:rPr>
              <a:t>边</a:t>
            </a:r>
            <a:r>
              <a:rPr sz="3200" b="1" dirty="0">
                <a:latin typeface="Times New Roman" panose="02020603050405020304" pitchFamily="18" charset="0"/>
                <a:ea typeface="黑体" panose="02010609060101010101" pitchFamily="49" charset="-122"/>
                <a:cs typeface="Times New Roman" panose="02020603050405020304" pitchFamily="18" charset="0"/>
              </a:rPr>
              <a:t>	</a:t>
            </a:r>
            <a:endParaRPr sz="2200" baseline="66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7" name="object 17"/>
          <p:cNvSpPr/>
          <p:nvPr/>
        </p:nvSpPr>
        <p:spPr>
          <a:xfrm>
            <a:off x="2780070" y="2215464"/>
            <a:ext cx="4064000" cy="1344507"/>
          </a:xfrm>
          <a:custGeom>
            <a:avLst/>
            <a:gdLst/>
            <a:ahLst/>
            <a:cxnLst/>
            <a:rect l="l" t="t" r="r" b="b"/>
            <a:pathLst>
              <a:path w="3048000" h="1008380">
                <a:moveTo>
                  <a:pt x="0" y="168020"/>
                </a:moveTo>
                <a:lnTo>
                  <a:pt x="5998" y="123339"/>
                </a:lnTo>
                <a:lnTo>
                  <a:pt x="22930" y="83199"/>
                </a:lnTo>
                <a:lnTo>
                  <a:pt x="49196" y="49196"/>
                </a:lnTo>
                <a:lnTo>
                  <a:pt x="83199" y="22930"/>
                </a:lnTo>
                <a:lnTo>
                  <a:pt x="123339" y="5998"/>
                </a:lnTo>
                <a:lnTo>
                  <a:pt x="168020" y="0"/>
                </a:lnTo>
                <a:lnTo>
                  <a:pt x="2879979" y="0"/>
                </a:lnTo>
                <a:lnTo>
                  <a:pt x="2924660" y="5998"/>
                </a:lnTo>
                <a:lnTo>
                  <a:pt x="2964800" y="22930"/>
                </a:lnTo>
                <a:lnTo>
                  <a:pt x="2998803" y="49196"/>
                </a:lnTo>
                <a:lnTo>
                  <a:pt x="3025069" y="83199"/>
                </a:lnTo>
                <a:lnTo>
                  <a:pt x="3042001" y="123339"/>
                </a:lnTo>
                <a:lnTo>
                  <a:pt x="3048000" y="168020"/>
                </a:lnTo>
                <a:lnTo>
                  <a:pt x="3048000" y="840105"/>
                </a:lnTo>
                <a:lnTo>
                  <a:pt x="3042001" y="884741"/>
                </a:lnTo>
                <a:lnTo>
                  <a:pt x="3025069" y="924870"/>
                </a:lnTo>
                <a:lnTo>
                  <a:pt x="2998803" y="958881"/>
                </a:lnTo>
                <a:lnTo>
                  <a:pt x="2964800" y="985167"/>
                </a:lnTo>
                <a:lnTo>
                  <a:pt x="2924660" y="1002118"/>
                </a:lnTo>
                <a:lnTo>
                  <a:pt x="2879979" y="1008126"/>
                </a:lnTo>
                <a:lnTo>
                  <a:pt x="168020" y="1008126"/>
                </a:lnTo>
                <a:lnTo>
                  <a:pt x="123339" y="1002118"/>
                </a:lnTo>
                <a:lnTo>
                  <a:pt x="83199" y="985167"/>
                </a:lnTo>
                <a:lnTo>
                  <a:pt x="49196" y="958881"/>
                </a:lnTo>
                <a:lnTo>
                  <a:pt x="22930" y="924870"/>
                </a:lnTo>
                <a:lnTo>
                  <a:pt x="5998" y="884741"/>
                </a:lnTo>
                <a:lnTo>
                  <a:pt x="0" y="840105"/>
                </a:lnTo>
                <a:lnTo>
                  <a:pt x="0" y="168020"/>
                </a:lnTo>
                <a:close/>
              </a:path>
            </a:pathLst>
          </a:custGeom>
          <a:ln w="25400">
            <a:solidFill>
              <a:srgbClr val="C00000"/>
            </a:solidFill>
          </a:ln>
        </p:spPr>
        <p:txBody>
          <a:bodyPr wrap="square" lIns="0" tIns="0" rIns="0" bIns="0" rtlCol="0"/>
          <a:lstStyle/>
          <a:p>
            <a:endParaRPr sz="2400">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8" name="文本框 17"/>
              <p:cNvSpPr txBox="1"/>
              <p:nvPr/>
            </p:nvSpPr>
            <p:spPr>
              <a:xfrm>
                <a:off x="2614627" y="4430112"/>
                <a:ext cx="4156202" cy="908647"/>
              </a:xfrm>
              <a:prstGeom prst="rect">
                <a:avLst/>
              </a:prstGeom>
              <a:noFill/>
            </p:spPr>
            <p:txBody>
              <a:bodyPr wrap="none" lIns="0" tIns="0" rIns="0" bIns="0" rtlCol="0">
                <a:spAutoFit/>
              </a:bodyPr>
              <a:lstStyle/>
              <a:p>
                <a14:m>
                  <m:oMath xmlns:m="http://schemas.openxmlformats.org/officeDocument/2006/math">
                    <m:r>
                      <a:rPr lang="en-US" altLang="zh-CN" sz="3200" i="1">
                        <a:latin typeface="Cambria Math" panose="02040503050406030204" pitchFamily="18" charset="0"/>
                      </a:rPr>
                      <m:t>=</m:t>
                    </m:r>
                    <m:d>
                      <m:dPr>
                        <m:begChr m:val="["/>
                        <m:endChr m:val="]"/>
                        <m:ctrlPr>
                          <a:rPr lang="en-US" altLang="zh-CN" sz="3200" i="1">
                            <a:latin typeface="Cambria Math" panose="02040503050406030204" pitchFamily="18" charset="0"/>
                          </a:rPr>
                        </m:ctrlPr>
                      </m:dPr>
                      <m:e>
                        <m:eqArr>
                          <m:eqArrPr>
                            <m:ctrlPr>
                              <a:rPr lang="en-US" altLang="zh-CN" sz="3200" i="1">
                                <a:latin typeface="Cambria Math" panose="02040503050406030204" pitchFamily="18" charset="0"/>
                              </a:rPr>
                            </m:ctrlPr>
                          </m:eqArrPr>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2</m:t>
                                </m:r>
                              </m:sub>
                            </m:sSub>
                            <m:r>
                              <a:rPr lang="en-US" altLang="zh-CN" sz="3200" i="1">
                                <a:latin typeface="Cambria Math" panose="02040503050406030204" pitchFamily="18" charset="0"/>
                              </a:rPr>
                              <m:t>    </m:t>
                            </m:r>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1</m:t>
                                </m:r>
                              </m:sub>
                            </m:sSub>
                          </m:e>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1</m:t>
                                </m:r>
                                <m:r>
                                  <a:rPr lang="en-US" altLang="zh-CN" sz="3200" i="1">
                                    <a:latin typeface="Cambria Math" panose="02040503050406030204" pitchFamily="18" charset="0"/>
                                  </a:rPr>
                                  <m:t>      </m:t>
                                </m:r>
                              </m:sub>
                            </m:sSub>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0</m:t>
                                </m:r>
                              </m:sub>
                            </m:sSub>
                          </m:e>
                        </m:eqArr>
                      </m:e>
                    </m:d>
                    <m:r>
                      <a:rPr lang="en-US" altLang="zh-CN" sz="3200" i="1">
                        <a:latin typeface="Cambria Math" panose="02040503050406030204" pitchFamily="18" charset="0"/>
                      </a:rPr>
                      <m:t>=</m:t>
                    </m:r>
                    <m:d>
                      <m:dPr>
                        <m:begChr m:val="["/>
                        <m:endChr m:val="]"/>
                        <m:ctrlPr>
                          <a:rPr lang="en-US" altLang="zh-CN" sz="3200" i="1">
                            <a:latin typeface="Cambria Math" panose="02040503050406030204" pitchFamily="18" charset="0"/>
                          </a:rPr>
                        </m:ctrlPr>
                      </m:dPr>
                      <m:e>
                        <m:eqArr>
                          <m:eqArrPr>
                            <m:ctrlPr>
                              <a:rPr lang="en-US" altLang="zh-CN" sz="3200" i="1">
                                <a:latin typeface="Cambria Math" panose="02040503050406030204" pitchFamily="18" charset="0"/>
                              </a:rPr>
                            </m:ctrlPr>
                          </m:eqArrPr>
                          <m:e>
                            <m:r>
                              <a:rPr lang="en-US" altLang="zh-CN" sz="3200" i="1">
                                <a:latin typeface="Cambria Math" panose="02040503050406030204" pitchFamily="18" charset="0"/>
                              </a:rPr>
                              <m:t>1</m:t>
                            </m:r>
                            <m:r>
                              <a:rPr lang="en-US" altLang="zh-CN" sz="3200" i="1">
                                <a:latin typeface="Cambria Math" panose="02040503050406030204" pitchFamily="18" charset="0"/>
                              </a:rPr>
                              <m:t>     </m:t>
                            </m:r>
                            <m:r>
                              <a:rPr lang="en-US" altLang="zh-CN" sz="3200" i="1">
                                <a:latin typeface="Cambria Math" panose="02040503050406030204" pitchFamily="18" charset="0"/>
                              </a:rPr>
                              <m:t>1</m:t>
                            </m:r>
                          </m:e>
                          <m:e>
                            <m:r>
                              <a:rPr lang="en-US" altLang="zh-CN" sz="3200" i="1">
                                <a:latin typeface="Cambria Math" panose="02040503050406030204" pitchFamily="18" charset="0"/>
                              </a:rPr>
                              <m:t>1</m:t>
                            </m:r>
                            <m:r>
                              <a:rPr lang="en-US" altLang="zh-CN" sz="3200" i="1">
                                <a:latin typeface="Cambria Math" panose="02040503050406030204" pitchFamily="18" charset="0"/>
                              </a:rPr>
                              <m:t>     </m:t>
                            </m:r>
                            <m:r>
                              <a:rPr lang="en-US" altLang="zh-CN" sz="3200" i="1">
                                <a:latin typeface="Cambria Math" panose="02040503050406030204" pitchFamily="18" charset="0"/>
                              </a:rPr>
                              <m:t>0</m:t>
                            </m:r>
                          </m:e>
                        </m:eqArr>
                      </m:e>
                    </m:d>
                  </m:oMath>
                </a14:m>
                <a:r>
                  <a:rPr lang="en-US" altLang="zh-CN" sz="3200" dirty="0">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n-US" altLang="zh-CN" sz="3200" i="1">
                        <a:latin typeface="Cambria Math" panose="02040503050406030204" pitchFamily="18" charset="0"/>
                      </a:rPr>
                      <m:t>=</m:t>
                    </m:r>
                  </m:oMath>
                </a14:m>
                <a:endParaRPr lang="zh-CN" altLang="en-US" sz="32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18" name="文本框 17"/>
              <p:cNvSpPr txBox="1">
                <a:spLocks noRot="1" noChangeAspect="1" noMove="1" noResize="1" noEditPoints="1" noAdjustHandles="1" noChangeArrowheads="1" noChangeShapeType="1" noTextEdit="1"/>
              </p:cNvSpPr>
              <p:nvPr/>
            </p:nvSpPr>
            <p:spPr>
              <a:xfrm>
                <a:off x="2614627" y="4430112"/>
                <a:ext cx="4156202" cy="908647"/>
              </a:xfrm>
              <a:prstGeom prst="rect">
                <a:avLst/>
              </a:prstGeom>
              <a:blipFill rotWithShape="1">
                <a:blip r:embed="rId1"/>
                <a:stretch>
                  <a:fillRect l="-8" t="-39" r="-1456" b="3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2808030" y="2369123"/>
                <a:ext cx="4036040" cy="92313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sz="3200" i="1">
                              <a:latin typeface="Cambria Math" panose="02040503050406030204" pitchFamily="18" charset="0"/>
                            </a:rPr>
                          </m:ctrlPr>
                        </m:dPr>
                        <m:e>
                          <m:eqArr>
                            <m:eqArrPr>
                              <m:ctrlPr>
                                <a:rPr lang="en-US" altLang="zh-CN" sz="3200" i="1">
                                  <a:latin typeface="Cambria Math" panose="02040503050406030204" pitchFamily="18" charset="0"/>
                                </a:rPr>
                              </m:ctrlPr>
                            </m:eqArrPr>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𝑛</m:t>
                                  </m:r>
                                  <m:r>
                                    <a:rPr lang="en-US" altLang="zh-CN" sz="3200" i="1">
                                      <a:latin typeface="Cambria Math" panose="02040503050406030204" pitchFamily="18" charset="0"/>
                                    </a:rPr>
                                    <m:t>+</m:t>
                                  </m:r>
                                  <m:r>
                                    <a:rPr lang="en-US" altLang="zh-CN" sz="3200" i="1">
                                      <a:latin typeface="Cambria Math" panose="02040503050406030204" pitchFamily="18" charset="0"/>
                                    </a:rPr>
                                    <m:t>1</m:t>
                                  </m:r>
                                </m:sub>
                              </m:sSub>
                              <m:r>
                                <a:rPr lang="en-US" altLang="zh-CN" sz="3200" i="1">
                                  <a:latin typeface="Cambria Math" panose="02040503050406030204" pitchFamily="18" charset="0"/>
                                </a:rPr>
                                <m:t>    </m:t>
                              </m:r>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𝑛</m:t>
                                  </m:r>
                                </m:sub>
                              </m:sSub>
                            </m:e>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𝑛</m:t>
                                  </m:r>
                                  <m:r>
                                    <a:rPr lang="en-US" altLang="zh-CN" sz="3200" i="1">
                                      <a:latin typeface="Cambria Math" panose="02040503050406030204" pitchFamily="18" charset="0"/>
                                    </a:rPr>
                                    <m:t>      </m:t>
                                  </m:r>
                                </m:sub>
                              </m:sSub>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𝑛</m:t>
                                  </m:r>
                                  <m:r>
                                    <a:rPr lang="en-US" altLang="zh-CN" sz="3200" i="1">
                                      <a:latin typeface="Cambria Math" panose="02040503050406030204" pitchFamily="18" charset="0"/>
                                    </a:rPr>
                                    <m:t>−</m:t>
                                  </m:r>
                                  <m:r>
                                    <a:rPr lang="en-US" altLang="zh-CN" sz="3200" i="1">
                                      <a:latin typeface="Cambria Math" panose="02040503050406030204" pitchFamily="18" charset="0"/>
                                    </a:rPr>
                                    <m:t>1</m:t>
                                  </m:r>
                                </m:sub>
                              </m:sSub>
                            </m:e>
                          </m:eqArr>
                        </m:e>
                      </m:d>
                      <m:r>
                        <a:rPr lang="en-US" altLang="zh-CN" sz="3200" i="1">
                          <a:latin typeface="Cambria Math" panose="02040503050406030204" pitchFamily="18" charset="0"/>
                        </a:rPr>
                        <m:t>=</m:t>
                      </m:r>
                      <m:sSup>
                        <m:sSupPr>
                          <m:ctrlPr>
                            <a:rPr lang="en-US" altLang="zh-CN" sz="3200" i="1">
                              <a:latin typeface="Cambria Math" panose="02040503050406030204" pitchFamily="18" charset="0"/>
                            </a:rPr>
                          </m:ctrlPr>
                        </m:sSupPr>
                        <m:e>
                          <m:d>
                            <m:dPr>
                              <m:begChr m:val="["/>
                              <m:endChr m:val="]"/>
                              <m:ctrlPr>
                                <a:rPr lang="en-US" altLang="zh-CN" sz="3200" i="1">
                                  <a:latin typeface="Cambria Math" panose="02040503050406030204" pitchFamily="18" charset="0"/>
                                </a:rPr>
                              </m:ctrlPr>
                            </m:dPr>
                            <m:e>
                              <m:eqArr>
                                <m:eqArrPr>
                                  <m:ctrlPr>
                                    <a:rPr lang="en-US" altLang="zh-CN" sz="3200" i="1">
                                      <a:latin typeface="Cambria Math" panose="02040503050406030204" pitchFamily="18" charset="0"/>
                                    </a:rPr>
                                  </m:ctrlPr>
                                </m:eqArrPr>
                                <m:e>
                                  <m:r>
                                    <a:rPr lang="en-US" altLang="zh-CN" sz="3200" i="1">
                                      <a:latin typeface="Cambria Math" panose="02040503050406030204" pitchFamily="18" charset="0"/>
                                    </a:rPr>
                                    <m:t>1</m:t>
                                  </m:r>
                                  <m:r>
                                    <a:rPr lang="en-US" altLang="zh-CN" sz="3200" i="1">
                                      <a:latin typeface="Cambria Math" panose="02040503050406030204" pitchFamily="18" charset="0"/>
                                    </a:rPr>
                                    <m:t>     </m:t>
                                  </m:r>
                                  <m:r>
                                    <a:rPr lang="en-US" altLang="zh-CN" sz="3200" i="1">
                                      <a:latin typeface="Cambria Math" panose="02040503050406030204" pitchFamily="18" charset="0"/>
                                    </a:rPr>
                                    <m:t>1</m:t>
                                  </m:r>
                                </m:e>
                                <m:e>
                                  <m:r>
                                    <a:rPr lang="en-US" altLang="zh-CN" sz="3200" i="1">
                                      <a:latin typeface="Cambria Math" panose="02040503050406030204" pitchFamily="18" charset="0"/>
                                    </a:rPr>
                                    <m:t>1</m:t>
                                  </m:r>
                                  <m:r>
                                    <a:rPr lang="en-US" altLang="zh-CN" sz="3200" i="1">
                                      <a:latin typeface="Cambria Math" panose="02040503050406030204" pitchFamily="18" charset="0"/>
                                    </a:rPr>
                                    <m:t>     </m:t>
                                  </m:r>
                                  <m:r>
                                    <a:rPr lang="en-US" altLang="zh-CN" sz="3200" i="1">
                                      <a:latin typeface="Cambria Math" panose="02040503050406030204" pitchFamily="18" charset="0"/>
                                    </a:rPr>
                                    <m:t>0</m:t>
                                  </m:r>
                                </m:e>
                              </m:eqArr>
                            </m:e>
                          </m:d>
                        </m:e>
                        <m:sup>
                          <m:r>
                            <a:rPr lang="en-US" altLang="zh-CN" sz="3200" i="1">
                              <a:latin typeface="Cambria Math" panose="02040503050406030204" pitchFamily="18" charset="0"/>
                            </a:rPr>
                            <m:t>𝑛</m:t>
                          </m:r>
                        </m:sup>
                      </m:sSup>
                    </m:oMath>
                  </m:oMathPara>
                </a14:m>
                <a:endParaRPr lang="zh-CN" altLang="en-US" sz="32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p:sp>
            <p:nvSpPr>
              <p:cNvPr id="19" name="文本框 18"/>
              <p:cNvSpPr txBox="1">
                <a:spLocks noRot="1" noChangeAspect="1" noMove="1" noResize="1" noEditPoints="1" noAdjustHandles="1" noChangeArrowheads="1" noChangeShapeType="1" noTextEdit="1"/>
              </p:cNvSpPr>
              <p:nvPr/>
            </p:nvSpPr>
            <p:spPr>
              <a:xfrm>
                <a:off x="2808030" y="2369123"/>
                <a:ext cx="4036040" cy="923138"/>
              </a:xfrm>
              <a:prstGeom prst="rect">
                <a:avLst/>
              </a:prstGeom>
              <a:blipFill rotWithShape="1">
                <a:blip r:embed="rId2"/>
                <a:stretch>
                  <a:fillRect l="-1" t="-62" r="-1242" b="4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p:nvPr/>
        </p:nvSpPr>
        <p:spPr>
          <a:xfrm>
            <a:off x="480976" y="1318558"/>
            <a:ext cx="8910409" cy="447986"/>
          </a:xfrm>
          <a:prstGeom prst="rect">
            <a:avLst/>
          </a:prstGeom>
        </p:spPr>
        <p:txBody>
          <a:bodyPr vert="horz" wrap="square" lIns="0" tIns="16933" rIns="0" bIns="0" rtlCol="0">
            <a:spAutoFit/>
          </a:bodyPr>
          <a:lstStyle/>
          <a:p>
            <a:pPr marL="17145">
              <a:spcBef>
                <a:spcPts val="135"/>
              </a:spcBef>
            </a:pPr>
            <a:r>
              <a:rPr sz="2800" b="1" spc="-7" dirty="0">
                <a:latin typeface="宋体" panose="02010600030101010101" pitchFamily="2" charset="-122"/>
                <a:cs typeface="宋体" panose="02010600030101010101" pitchFamily="2" charset="-122"/>
              </a:rPr>
              <a:t>假设对任意正整</a:t>
            </a:r>
            <a:r>
              <a:rPr sz="2800" b="1" spc="-13" dirty="0">
                <a:latin typeface="宋体" panose="02010600030101010101" pitchFamily="2" charset="-122"/>
                <a:cs typeface="宋体" panose="02010600030101010101" pitchFamily="2" charset="-122"/>
              </a:rPr>
              <a:t>数</a:t>
            </a:r>
            <a:r>
              <a:rPr sz="2800" b="1" spc="-60" dirty="0">
                <a:latin typeface="宋体" panose="02010600030101010101" pitchFamily="2" charset="-122"/>
                <a:cs typeface="宋体" panose="02010600030101010101" pitchFamily="2" charset="-122"/>
              </a:rPr>
              <a:t> </a:t>
            </a:r>
            <a:r>
              <a:rPr sz="2800" b="1" i="1" spc="-7" dirty="0">
                <a:latin typeface="Times New Roman" panose="02020603050405020304"/>
                <a:cs typeface="Times New Roman" panose="02020603050405020304"/>
              </a:rPr>
              <a:t>n</a:t>
            </a:r>
            <a:r>
              <a:rPr sz="2800" b="1" spc="-7" dirty="0">
                <a:latin typeface="宋体" panose="02010600030101010101" pitchFamily="2" charset="-122"/>
                <a:cs typeface="宋体" panose="02010600030101010101" pitchFamily="2" charset="-122"/>
              </a:rPr>
              <a:t>，命题成立，即</a:t>
            </a:r>
            <a:endParaRPr sz="2800" dirty="0">
              <a:latin typeface="宋体" panose="02010600030101010101" pitchFamily="2" charset="-122"/>
              <a:cs typeface="宋体" panose="02010600030101010101" pitchFamily="2" charset="-122"/>
            </a:endParaRPr>
          </a:p>
        </p:txBody>
      </p:sp>
      <p:sp>
        <p:nvSpPr>
          <p:cNvPr id="11" name="object 11"/>
          <p:cNvSpPr txBox="1">
            <a:spLocks noGrp="1"/>
          </p:cNvSpPr>
          <p:nvPr>
            <p:ph type="title"/>
          </p:nvPr>
        </p:nvSpPr>
        <p:spPr>
          <a:xfrm>
            <a:off x="281005" y="56800"/>
            <a:ext cx="8862995"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Fibonacc</a:t>
            </a:r>
            <a:r>
              <a:rPr sz="4400" b="1" spc="2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i</a:t>
            </a:r>
            <a:r>
              <a:rPr sz="4400" b="1" spc="-13"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数的性</a:t>
            </a:r>
            <a:r>
              <a:rPr sz="4400" b="1" spc="-2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质</a:t>
            </a:r>
            <a:r>
              <a:rPr sz="44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sz="4400" b="1" spc="-13"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续</a:t>
            </a:r>
            <a:r>
              <a:rPr sz="44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endParaRPr sz="44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5" name="object 35"/>
          <p:cNvSpPr txBox="1"/>
          <p:nvPr/>
        </p:nvSpPr>
        <p:spPr>
          <a:xfrm>
            <a:off x="497000" y="3325393"/>
            <a:ext cx="2003213" cy="509541"/>
          </a:xfrm>
          <a:prstGeom prst="rect">
            <a:avLst/>
          </a:prstGeom>
        </p:spPr>
        <p:txBody>
          <a:bodyPr vert="horz" wrap="square" lIns="0" tIns="16933" rIns="0" bIns="0" rtlCol="0">
            <a:spAutoFit/>
          </a:bodyPr>
          <a:lstStyle/>
          <a:p>
            <a:pPr marL="50800">
              <a:spcBef>
                <a:spcPts val="135"/>
              </a:spcBef>
              <a:tabLst>
                <a:tab pos="1205230" algn="l"/>
              </a:tabLst>
            </a:pPr>
            <a:r>
              <a:rPr sz="3200" b="1" dirty="0">
                <a:latin typeface="宋体" panose="02010600030101010101" pitchFamily="2" charset="-122"/>
                <a:cs typeface="宋体" panose="02010600030101010101" pitchFamily="2" charset="-122"/>
              </a:rPr>
              <a:t>那</a:t>
            </a:r>
            <a:r>
              <a:rPr sz="3200" b="1" spc="-13" dirty="0">
                <a:latin typeface="宋体" panose="02010600030101010101" pitchFamily="2" charset="-122"/>
                <a:cs typeface="宋体" panose="02010600030101010101" pitchFamily="2" charset="-122"/>
              </a:rPr>
              <a:t>么	</a:t>
            </a:r>
            <a:endParaRPr sz="1735" dirty="0">
              <a:latin typeface="Times New Roman" panose="02020603050405020304"/>
              <a:cs typeface="Times New Roman" panose="02020603050405020304"/>
            </a:endParaRPr>
          </a:p>
        </p:txBody>
      </p:sp>
      <p:sp>
        <p:nvSpPr>
          <p:cNvPr id="36" name="object 36"/>
          <p:cNvSpPr/>
          <p:nvPr/>
        </p:nvSpPr>
        <p:spPr>
          <a:xfrm>
            <a:off x="1966876" y="3073846"/>
            <a:ext cx="812800" cy="609600"/>
          </a:xfrm>
          <a:custGeom>
            <a:avLst/>
            <a:gdLst/>
            <a:ahLst/>
            <a:cxnLst/>
            <a:rect l="l" t="t" r="r" b="b"/>
            <a:pathLst>
              <a:path w="609600" h="457200">
                <a:moveTo>
                  <a:pt x="0" y="76200"/>
                </a:moveTo>
                <a:lnTo>
                  <a:pt x="5994" y="46559"/>
                </a:lnTo>
                <a:lnTo>
                  <a:pt x="22336" y="22336"/>
                </a:lnTo>
                <a:lnTo>
                  <a:pt x="46559" y="5994"/>
                </a:lnTo>
                <a:lnTo>
                  <a:pt x="76200" y="0"/>
                </a:lnTo>
                <a:lnTo>
                  <a:pt x="533400" y="0"/>
                </a:lnTo>
                <a:lnTo>
                  <a:pt x="563040" y="5994"/>
                </a:lnTo>
                <a:lnTo>
                  <a:pt x="587263" y="22336"/>
                </a:lnTo>
                <a:lnTo>
                  <a:pt x="603605" y="46559"/>
                </a:lnTo>
                <a:lnTo>
                  <a:pt x="609600" y="76200"/>
                </a:lnTo>
                <a:lnTo>
                  <a:pt x="609600" y="381000"/>
                </a:lnTo>
                <a:lnTo>
                  <a:pt x="603605" y="410640"/>
                </a:lnTo>
                <a:lnTo>
                  <a:pt x="587263" y="434863"/>
                </a:lnTo>
                <a:lnTo>
                  <a:pt x="563040" y="451205"/>
                </a:lnTo>
                <a:lnTo>
                  <a:pt x="533400" y="457200"/>
                </a:lnTo>
                <a:lnTo>
                  <a:pt x="76200" y="457200"/>
                </a:lnTo>
                <a:lnTo>
                  <a:pt x="46559" y="451205"/>
                </a:lnTo>
                <a:lnTo>
                  <a:pt x="22336" y="434863"/>
                </a:lnTo>
                <a:lnTo>
                  <a:pt x="5994" y="410640"/>
                </a:lnTo>
                <a:lnTo>
                  <a:pt x="0" y="381000"/>
                </a:lnTo>
                <a:lnTo>
                  <a:pt x="0" y="76200"/>
                </a:lnTo>
                <a:close/>
              </a:path>
            </a:pathLst>
          </a:custGeom>
          <a:ln w="25400">
            <a:solidFill>
              <a:srgbClr val="C00000"/>
            </a:solidFill>
          </a:ln>
        </p:spPr>
        <p:txBody>
          <a:bodyPr wrap="square" lIns="0" tIns="0" rIns="0" bIns="0" rtlCol="0"/>
          <a:lstStyle/>
          <a:p>
            <a:endParaRPr sz="2400"/>
          </a:p>
        </p:txBody>
      </p:sp>
      <p:sp>
        <p:nvSpPr>
          <p:cNvPr id="37" name="object 37"/>
          <p:cNvSpPr/>
          <p:nvPr/>
        </p:nvSpPr>
        <p:spPr>
          <a:xfrm>
            <a:off x="4790723" y="3071502"/>
            <a:ext cx="1524000" cy="609600"/>
          </a:xfrm>
          <a:custGeom>
            <a:avLst/>
            <a:gdLst/>
            <a:ahLst/>
            <a:cxnLst/>
            <a:rect l="l" t="t" r="r" b="b"/>
            <a:pathLst>
              <a:path w="1143000" h="457200">
                <a:moveTo>
                  <a:pt x="0" y="76200"/>
                </a:moveTo>
                <a:lnTo>
                  <a:pt x="5994" y="46559"/>
                </a:lnTo>
                <a:lnTo>
                  <a:pt x="22336" y="22336"/>
                </a:lnTo>
                <a:lnTo>
                  <a:pt x="46559" y="5994"/>
                </a:lnTo>
                <a:lnTo>
                  <a:pt x="76200" y="0"/>
                </a:lnTo>
                <a:lnTo>
                  <a:pt x="1066800" y="0"/>
                </a:lnTo>
                <a:lnTo>
                  <a:pt x="1096440" y="5994"/>
                </a:lnTo>
                <a:lnTo>
                  <a:pt x="1120663" y="22336"/>
                </a:lnTo>
                <a:lnTo>
                  <a:pt x="1137005" y="46559"/>
                </a:lnTo>
                <a:lnTo>
                  <a:pt x="1143000" y="76200"/>
                </a:lnTo>
                <a:lnTo>
                  <a:pt x="1143000" y="381000"/>
                </a:lnTo>
                <a:lnTo>
                  <a:pt x="1137005" y="410640"/>
                </a:lnTo>
                <a:lnTo>
                  <a:pt x="1120663" y="434863"/>
                </a:lnTo>
                <a:lnTo>
                  <a:pt x="1096440" y="451205"/>
                </a:lnTo>
                <a:lnTo>
                  <a:pt x="1066800" y="457200"/>
                </a:lnTo>
                <a:lnTo>
                  <a:pt x="76200" y="457200"/>
                </a:lnTo>
                <a:lnTo>
                  <a:pt x="46559" y="451205"/>
                </a:lnTo>
                <a:lnTo>
                  <a:pt x="22336" y="434863"/>
                </a:lnTo>
                <a:lnTo>
                  <a:pt x="5994" y="410640"/>
                </a:lnTo>
                <a:lnTo>
                  <a:pt x="0" y="381000"/>
                </a:lnTo>
                <a:lnTo>
                  <a:pt x="0" y="76200"/>
                </a:lnTo>
                <a:close/>
              </a:path>
            </a:pathLst>
          </a:custGeom>
          <a:ln w="25400">
            <a:solidFill>
              <a:srgbClr val="C00000"/>
            </a:solidFill>
          </a:ln>
        </p:spPr>
        <p:txBody>
          <a:bodyPr wrap="square" lIns="0" tIns="0" rIns="0" bIns="0" rtlCol="0"/>
          <a:lstStyle/>
          <a:p>
            <a:endParaRPr sz="2400"/>
          </a:p>
        </p:txBody>
      </p:sp>
      <p:sp>
        <p:nvSpPr>
          <p:cNvPr id="38" name="object 38"/>
          <p:cNvSpPr/>
          <p:nvPr/>
        </p:nvSpPr>
        <p:spPr>
          <a:xfrm>
            <a:off x="7311380" y="3072516"/>
            <a:ext cx="406400" cy="1117600"/>
          </a:xfrm>
          <a:custGeom>
            <a:avLst/>
            <a:gdLst/>
            <a:ahLst/>
            <a:cxnLst/>
            <a:rect l="l" t="t" r="r" b="b"/>
            <a:pathLst>
              <a:path w="304800" h="838200">
                <a:moveTo>
                  <a:pt x="0" y="50800"/>
                </a:moveTo>
                <a:lnTo>
                  <a:pt x="3990" y="31021"/>
                </a:lnTo>
                <a:lnTo>
                  <a:pt x="14874" y="14874"/>
                </a:lnTo>
                <a:lnTo>
                  <a:pt x="31021" y="3990"/>
                </a:lnTo>
                <a:lnTo>
                  <a:pt x="50800" y="0"/>
                </a:lnTo>
                <a:lnTo>
                  <a:pt x="254000" y="0"/>
                </a:lnTo>
                <a:lnTo>
                  <a:pt x="273778" y="3990"/>
                </a:lnTo>
                <a:lnTo>
                  <a:pt x="289925" y="14874"/>
                </a:lnTo>
                <a:lnTo>
                  <a:pt x="300809" y="31021"/>
                </a:lnTo>
                <a:lnTo>
                  <a:pt x="304800" y="50800"/>
                </a:lnTo>
                <a:lnTo>
                  <a:pt x="304800" y="787400"/>
                </a:lnTo>
                <a:lnTo>
                  <a:pt x="300809" y="807178"/>
                </a:lnTo>
                <a:lnTo>
                  <a:pt x="289925" y="823325"/>
                </a:lnTo>
                <a:lnTo>
                  <a:pt x="273778" y="834209"/>
                </a:lnTo>
                <a:lnTo>
                  <a:pt x="254000" y="838200"/>
                </a:lnTo>
                <a:lnTo>
                  <a:pt x="50800" y="838200"/>
                </a:lnTo>
                <a:lnTo>
                  <a:pt x="31021" y="834209"/>
                </a:lnTo>
                <a:lnTo>
                  <a:pt x="14874" y="823325"/>
                </a:lnTo>
                <a:lnTo>
                  <a:pt x="3990" y="807178"/>
                </a:lnTo>
                <a:lnTo>
                  <a:pt x="0" y="787400"/>
                </a:lnTo>
                <a:lnTo>
                  <a:pt x="0" y="50800"/>
                </a:lnTo>
                <a:close/>
              </a:path>
            </a:pathLst>
          </a:custGeom>
          <a:ln w="25400">
            <a:solidFill>
              <a:srgbClr val="C00000"/>
            </a:solidFill>
          </a:ln>
        </p:spPr>
        <p:txBody>
          <a:bodyPr wrap="square" lIns="0" tIns="0" rIns="0" bIns="0" rtlCol="0"/>
          <a:lstStyle/>
          <a:p>
            <a:endParaRPr sz="2400"/>
          </a:p>
        </p:txBody>
      </p:sp>
      <p:sp>
        <p:nvSpPr>
          <p:cNvPr id="39" name="object 39"/>
          <p:cNvSpPr/>
          <p:nvPr/>
        </p:nvSpPr>
        <p:spPr>
          <a:xfrm>
            <a:off x="412252" y="5022936"/>
            <a:ext cx="1431713" cy="1090507"/>
          </a:xfrm>
          <a:custGeom>
            <a:avLst/>
            <a:gdLst/>
            <a:ahLst/>
            <a:cxnLst/>
            <a:rect l="l" t="t" r="r" b="b"/>
            <a:pathLst>
              <a:path w="1073785" h="817879">
                <a:moveTo>
                  <a:pt x="964691" y="205054"/>
                </a:moveTo>
                <a:lnTo>
                  <a:pt x="102133" y="205054"/>
                </a:lnTo>
                <a:lnTo>
                  <a:pt x="62375" y="213079"/>
                </a:lnTo>
                <a:lnTo>
                  <a:pt x="29911" y="234965"/>
                </a:lnTo>
                <a:lnTo>
                  <a:pt x="8025" y="267429"/>
                </a:lnTo>
                <a:lnTo>
                  <a:pt x="0" y="307187"/>
                </a:lnTo>
                <a:lnTo>
                  <a:pt x="0" y="715695"/>
                </a:lnTo>
                <a:lnTo>
                  <a:pt x="8025" y="755453"/>
                </a:lnTo>
                <a:lnTo>
                  <a:pt x="29911" y="787917"/>
                </a:lnTo>
                <a:lnTo>
                  <a:pt x="62375" y="809803"/>
                </a:lnTo>
                <a:lnTo>
                  <a:pt x="102133" y="817829"/>
                </a:lnTo>
                <a:lnTo>
                  <a:pt x="964691" y="817829"/>
                </a:lnTo>
                <a:lnTo>
                  <a:pt x="1004435" y="809803"/>
                </a:lnTo>
                <a:lnTo>
                  <a:pt x="1036891" y="787917"/>
                </a:lnTo>
                <a:lnTo>
                  <a:pt x="1058775" y="755453"/>
                </a:lnTo>
                <a:lnTo>
                  <a:pt x="1066800" y="715695"/>
                </a:lnTo>
                <a:lnTo>
                  <a:pt x="1066800" y="307187"/>
                </a:lnTo>
                <a:lnTo>
                  <a:pt x="1058775" y="267429"/>
                </a:lnTo>
                <a:lnTo>
                  <a:pt x="1036891" y="234965"/>
                </a:lnTo>
                <a:lnTo>
                  <a:pt x="1004435" y="213079"/>
                </a:lnTo>
                <a:lnTo>
                  <a:pt x="964691" y="205054"/>
                </a:lnTo>
                <a:close/>
              </a:path>
              <a:path w="1073785" h="817879">
                <a:moveTo>
                  <a:pt x="1073404" y="0"/>
                </a:moveTo>
                <a:lnTo>
                  <a:pt x="622300" y="205054"/>
                </a:lnTo>
                <a:lnTo>
                  <a:pt x="889000" y="205054"/>
                </a:lnTo>
                <a:lnTo>
                  <a:pt x="1073404" y="0"/>
                </a:lnTo>
                <a:close/>
              </a:path>
            </a:pathLst>
          </a:custGeom>
          <a:solidFill>
            <a:srgbClr val="4F81BC"/>
          </a:solidFill>
        </p:spPr>
        <p:txBody>
          <a:bodyPr wrap="square" lIns="0" tIns="0" rIns="0" bIns="0" rtlCol="0"/>
          <a:lstStyle/>
          <a:p>
            <a:endParaRPr sz="2400"/>
          </a:p>
        </p:txBody>
      </p:sp>
      <p:sp>
        <p:nvSpPr>
          <p:cNvPr id="40" name="object 40"/>
          <p:cNvSpPr/>
          <p:nvPr/>
        </p:nvSpPr>
        <p:spPr>
          <a:xfrm>
            <a:off x="412252" y="5022936"/>
            <a:ext cx="1431713" cy="1090507"/>
          </a:xfrm>
          <a:custGeom>
            <a:avLst/>
            <a:gdLst/>
            <a:ahLst/>
            <a:cxnLst/>
            <a:rect l="l" t="t" r="r" b="b"/>
            <a:pathLst>
              <a:path w="1073785" h="817879">
                <a:moveTo>
                  <a:pt x="0" y="307187"/>
                </a:moveTo>
                <a:lnTo>
                  <a:pt x="8025" y="267429"/>
                </a:lnTo>
                <a:lnTo>
                  <a:pt x="29911" y="234965"/>
                </a:lnTo>
                <a:lnTo>
                  <a:pt x="62375" y="213079"/>
                </a:lnTo>
                <a:lnTo>
                  <a:pt x="102133" y="205054"/>
                </a:lnTo>
                <a:lnTo>
                  <a:pt x="622300" y="205054"/>
                </a:lnTo>
                <a:lnTo>
                  <a:pt x="1073404" y="0"/>
                </a:lnTo>
                <a:lnTo>
                  <a:pt x="889000" y="205054"/>
                </a:lnTo>
                <a:lnTo>
                  <a:pt x="964691" y="205054"/>
                </a:lnTo>
                <a:lnTo>
                  <a:pt x="1004435" y="213079"/>
                </a:lnTo>
                <a:lnTo>
                  <a:pt x="1036891" y="234965"/>
                </a:lnTo>
                <a:lnTo>
                  <a:pt x="1058775" y="267429"/>
                </a:lnTo>
                <a:lnTo>
                  <a:pt x="1066800" y="307187"/>
                </a:lnTo>
                <a:lnTo>
                  <a:pt x="1066800" y="460375"/>
                </a:lnTo>
                <a:lnTo>
                  <a:pt x="1066800" y="715695"/>
                </a:lnTo>
                <a:lnTo>
                  <a:pt x="1058775" y="755453"/>
                </a:lnTo>
                <a:lnTo>
                  <a:pt x="1036891" y="787917"/>
                </a:lnTo>
                <a:lnTo>
                  <a:pt x="1004435" y="809803"/>
                </a:lnTo>
                <a:lnTo>
                  <a:pt x="964691" y="817829"/>
                </a:lnTo>
                <a:lnTo>
                  <a:pt x="889000" y="817829"/>
                </a:lnTo>
                <a:lnTo>
                  <a:pt x="622300" y="817829"/>
                </a:lnTo>
                <a:lnTo>
                  <a:pt x="102133" y="817829"/>
                </a:lnTo>
                <a:lnTo>
                  <a:pt x="62375" y="809803"/>
                </a:lnTo>
                <a:lnTo>
                  <a:pt x="29911" y="787917"/>
                </a:lnTo>
                <a:lnTo>
                  <a:pt x="8025" y="755453"/>
                </a:lnTo>
                <a:lnTo>
                  <a:pt x="0" y="715695"/>
                </a:lnTo>
                <a:lnTo>
                  <a:pt x="0" y="460375"/>
                </a:lnTo>
                <a:lnTo>
                  <a:pt x="0" y="307187"/>
                </a:lnTo>
                <a:close/>
              </a:path>
            </a:pathLst>
          </a:custGeom>
          <a:ln w="25400">
            <a:solidFill>
              <a:srgbClr val="385D89"/>
            </a:solidFill>
          </a:ln>
        </p:spPr>
        <p:txBody>
          <a:bodyPr wrap="square" lIns="0" tIns="0" rIns="0" bIns="0" rtlCol="0"/>
          <a:lstStyle/>
          <a:p>
            <a:endParaRPr sz="2400"/>
          </a:p>
        </p:txBody>
      </p:sp>
      <p:sp>
        <p:nvSpPr>
          <p:cNvPr id="41" name="object 41"/>
          <p:cNvSpPr txBox="1"/>
          <p:nvPr/>
        </p:nvSpPr>
        <p:spPr>
          <a:xfrm>
            <a:off x="646471" y="5334067"/>
            <a:ext cx="955040" cy="741228"/>
          </a:xfrm>
          <a:prstGeom prst="rect">
            <a:avLst/>
          </a:prstGeom>
        </p:spPr>
        <p:txBody>
          <a:bodyPr vert="horz" wrap="square" lIns="0" tIns="48259" rIns="0" bIns="0" rtlCol="0">
            <a:spAutoFit/>
          </a:bodyPr>
          <a:lstStyle/>
          <a:p>
            <a:pPr marL="17145" marR="6985">
              <a:lnSpc>
                <a:spcPts val="2695"/>
              </a:lnSpc>
              <a:spcBef>
                <a:spcPts val="380"/>
              </a:spcBef>
            </a:pPr>
            <a:r>
              <a:rPr sz="2400" b="1" dirty="0">
                <a:solidFill>
                  <a:srgbClr val="FFFFFF"/>
                </a:solidFill>
                <a:latin typeface="宋体" panose="02010600030101010101" pitchFamily="2" charset="-122"/>
                <a:cs typeface="宋体" panose="02010600030101010101" pitchFamily="2" charset="-122"/>
              </a:rPr>
              <a:t>归纳假 设代入</a:t>
            </a:r>
            <a:endParaRPr sz="2400">
              <a:latin typeface="宋体" panose="02010600030101010101" pitchFamily="2" charset="-122"/>
              <a:cs typeface="宋体" panose="02010600030101010101" pitchFamily="2" charset="-122"/>
            </a:endParaRPr>
          </a:p>
        </p:txBody>
      </p:sp>
      <mc:AlternateContent xmlns:mc="http://schemas.openxmlformats.org/markup-compatibility/2006">
        <mc:Choice xmlns:a14="http://schemas.microsoft.com/office/drawing/2010/main" Requires="a14">
          <p:sp>
            <p:nvSpPr>
              <p:cNvPr id="44" name="文本框 43"/>
              <p:cNvSpPr txBox="1"/>
              <p:nvPr/>
            </p:nvSpPr>
            <p:spPr>
              <a:xfrm>
                <a:off x="2438672" y="1821467"/>
                <a:ext cx="4036040" cy="92313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sz="3200" i="1">
                              <a:latin typeface="Cambria Math" panose="02040503050406030204" pitchFamily="18" charset="0"/>
                            </a:rPr>
                          </m:ctrlPr>
                        </m:dPr>
                        <m:e>
                          <m:eqArr>
                            <m:eqArrPr>
                              <m:ctrlPr>
                                <a:rPr lang="en-US" altLang="zh-CN" sz="3200" i="1">
                                  <a:latin typeface="Cambria Math" panose="02040503050406030204" pitchFamily="18" charset="0"/>
                                </a:rPr>
                              </m:ctrlPr>
                            </m:eqArrPr>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𝑛</m:t>
                                  </m:r>
                                  <m:r>
                                    <a:rPr lang="en-US" altLang="zh-CN" sz="3200" i="1">
                                      <a:latin typeface="Cambria Math" panose="02040503050406030204" pitchFamily="18" charset="0"/>
                                    </a:rPr>
                                    <m:t>+</m:t>
                                  </m:r>
                                  <m:r>
                                    <a:rPr lang="en-US" altLang="zh-CN" sz="3200" i="1">
                                      <a:latin typeface="Cambria Math" panose="02040503050406030204" pitchFamily="18" charset="0"/>
                                    </a:rPr>
                                    <m:t>1</m:t>
                                  </m:r>
                                </m:sub>
                              </m:sSub>
                              <m:r>
                                <a:rPr lang="en-US" altLang="zh-CN" sz="3200" i="1">
                                  <a:latin typeface="Cambria Math" panose="02040503050406030204" pitchFamily="18" charset="0"/>
                                </a:rPr>
                                <m:t>    </m:t>
                              </m:r>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𝑛</m:t>
                                  </m:r>
                                </m:sub>
                              </m:sSub>
                            </m:e>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𝑛</m:t>
                                  </m:r>
                                  <m:r>
                                    <a:rPr lang="en-US" altLang="zh-CN" sz="3200" i="1">
                                      <a:latin typeface="Cambria Math" panose="02040503050406030204" pitchFamily="18" charset="0"/>
                                    </a:rPr>
                                    <m:t>      </m:t>
                                  </m:r>
                                </m:sub>
                              </m:sSub>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𝑛</m:t>
                                  </m:r>
                                  <m:r>
                                    <a:rPr lang="en-US" altLang="zh-CN" sz="3200" i="1">
                                      <a:latin typeface="Cambria Math" panose="02040503050406030204" pitchFamily="18" charset="0"/>
                                    </a:rPr>
                                    <m:t>−</m:t>
                                  </m:r>
                                  <m:r>
                                    <a:rPr lang="en-US" altLang="zh-CN" sz="3200" i="1">
                                      <a:latin typeface="Cambria Math" panose="02040503050406030204" pitchFamily="18" charset="0"/>
                                    </a:rPr>
                                    <m:t>1</m:t>
                                  </m:r>
                                </m:sub>
                              </m:sSub>
                            </m:e>
                          </m:eqArr>
                        </m:e>
                      </m:d>
                      <m:r>
                        <a:rPr lang="en-US" altLang="zh-CN" sz="3200" i="1">
                          <a:latin typeface="Cambria Math" panose="02040503050406030204" pitchFamily="18" charset="0"/>
                        </a:rPr>
                        <m:t>=</m:t>
                      </m:r>
                      <m:sSup>
                        <m:sSupPr>
                          <m:ctrlPr>
                            <a:rPr lang="en-US" altLang="zh-CN" sz="3200" i="1">
                              <a:latin typeface="Cambria Math" panose="02040503050406030204" pitchFamily="18" charset="0"/>
                            </a:rPr>
                          </m:ctrlPr>
                        </m:sSupPr>
                        <m:e>
                          <m:d>
                            <m:dPr>
                              <m:begChr m:val="["/>
                              <m:endChr m:val="]"/>
                              <m:ctrlPr>
                                <a:rPr lang="en-US" altLang="zh-CN" sz="3200" i="1">
                                  <a:latin typeface="Cambria Math" panose="02040503050406030204" pitchFamily="18" charset="0"/>
                                </a:rPr>
                              </m:ctrlPr>
                            </m:dPr>
                            <m:e>
                              <m:eqArr>
                                <m:eqArrPr>
                                  <m:ctrlPr>
                                    <a:rPr lang="en-US" altLang="zh-CN" sz="3200" i="1">
                                      <a:latin typeface="Cambria Math" panose="02040503050406030204" pitchFamily="18" charset="0"/>
                                    </a:rPr>
                                  </m:ctrlPr>
                                </m:eqArrPr>
                                <m:e>
                                  <m:r>
                                    <a:rPr lang="en-US" altLang="zh-CN" sz="3200" i="1">
                                      <a:latin typeface="Cambria Math" panose="02040503050406030204" pitchFamily="18" charset="0"/>
                                    </a:rPr>
                                    <m:t>1</m:t>
                                  </m:r>
                                  <m:r>
                                    <a:rPr lang="en-US" altLang="zh-CN" sz="3200" i="1">
                                      <a:latin typeface="Cambria Math" panose="02040503050406030204" pitchFamily="18" charset="0"/>
                                    </a:rPr>
                                    <m:t>     </m:t>
                                  </m:r>
                                  <m:r>
                                    <a:rPr lang="en-US" altLang="zh-CN" sz="3200" i="1">
                                      <a:latin typeface="Cambria Math" panose="02040503050406030204" pitchFamily="18" charset="0"/>
                                    </a:rPr>
                                    <m:t>1</m:t>
                                  </m:r>
                                </m:e>
                                <m:e>
                                  <m:r>
                                    <a:rPr lang="en-US" altLang="zh-CN" sz="3200" i="1">
                                      <a:latin typeface="Cambria Math" panose="02040503050406030204" pitchFamily="18" charset="0"/>
                                    </a:rPr>
                                    <m:t>1</m:t>
                                  </m:r>
                                  <m:r>
                                    <a:rPr lang="en-US" altLang="zh-CN" sz="3200" i="1">
                                      <a:latin typeface="Cambria Math" panose="02040503050406030204" pitchFamily="18" charset="0"/>
                                    </a:rPr>
                                    <m:t>     </m:t>
                                  </m:r>
                                  <m:r>
                                    <a:rPr lang="en-US" altLang="zh-CN" sz="3200" i="1">
                                      <a:latin typeface="Cambria Math" panose="02040503050406030204" pitchFamily="18" charset="0"/>
                                    </a:rPr>
                                    <m:t>0</m:t>
                                  </m:r>
                                </m:e>
                              </m:eqArr>
                            </m:e>
                          </m:d>
                        </m:e>
                        <m:sup>
                          <m:r>
                            <a:rPr lang="en-US" altLang="zh-CN" sz="3200" i="1">
                              <a:latin typeface="Cambria Math" panose="02040503050406030204" pitchFamily="18" charset="0"/>
                            </a:rPr>
                            <m:t>𝑛</m:t>
                          </m:r>
                        </m:sup>
                      </m:sSup>
                    </m:oMath>
                  </m:oMathPara>
                </a14:m>
                <a:endParaRPr lang="zh-CN" altLang="en-US" sz="3200" dirty="0"/>
              </a:p>
            </p:txBody>
          </p:sp>
        </mc:Choice>
        <mc:Fallback>
          <p:sp>
            <p:nvSpPr>
              <p:cNvPr id="44" name="文本框 43"/>
              <p:cNvSpPr txBox="1">
                <a:spLocks noRot="1" noChangeAspect="1" noMove="1" noResize="1" noEditPoints="1" noAdjustHandles="1" noChangeArrowheads="1" noChangeShapeType="1" noTextEdit="1"/>
              </p:cNvSpPr>
              <p:nvPr/>
            </p:nvSpPr>
            <p:spPr>
              <a:xfrm>
                <a:off x="2438672" y="1821467"/>
                <a:ext cx="4036040" cy="923138"/>
              </a:xfrm>
              <a:prstGeom prst="rect">
                <a:avLst/>
              </a:prstGeom>
              <a:blipFill rotWithShape="1">
                <a:blip r:embed="rId1"/>
                <a:stretch>
                  <a:fillRect l="-7" t="-31" r="-749" b="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5" name="文本框 44"/>
              <p:cNvSpPr txBox="1"/>
              <p:nvPr/>
            </p:nvSpPr>
            <p:spPr>
              <a:xfrm>
                <a:off x="1741555" y="3160084"/>
                <a:ext cx="6098336" cy="91082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sz="3200" i="1">
                              <a:latin typeface="Cambria Math" panose="02040503050406030204" pitchFamily="18" charset="0"/>
                            </a:rPr>
                          </m:ctrlPr>
                        </m:dPr>
                        <m:e>
                          <m:eqArr>
                            <m:eqArrPr>
                              <m:ctrlPr>
                                <a:rPr lang="en-US" altLang="zh-CN" sz="3200" i="1">
                                  <a:latin typeface="Cambria Math" panose="02040503050406030204" pitchFamily="18" charset="0"/>
                                </a:rPr>
                              </m:ctrlPr>
                            </m:eqArrPr>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𝑛</m:t>
                                  </m:r>
                                  <m:r>
                                    <a:rPr lang="en-US" altLang="zh-CN" sz="3200" i="1">
                                      <a:latin typeface="Cambria Math" panose="02040503050406030204" pitchFamily="18" charset="0"/>
                                    </a:rPr>
                                    <m:t>+</m:t>
                                  </m:r>
                                  <m:r>
                                    <a:rPr lang="en-US" altLang="zh-CN" sz="3200" i="1">
                                      <a:latin typeface="Cambria Math" panose="02040503050406030204" pitchFamily="18" charset="0"/>
                                    </a:rPr>
                                    <m:t>2</m:t>
                                  </m:r>
                                </m:sub>
                              </m:sSub>
                              <m:r>
                                <a:rPr lang="en-US" altLang="zh-CN" sz="3200" i="1">
                                  <a:latin typeface="Cambria Math" panose="02040503050406030204" pitchFamily="18" charset="0"/>
                                </a:rPr>
                                <m:t>    </m:t>
                              </m:r>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𝑛</m:t>
                                  </m:r>
                                  <m:r>
                                    <a:rPr lang="en-US" altLang="zh-CN" sz="3200" i="1">
                                      <a:latin typeface="Cambria Math" panose="02040503050406030204" pitchFamily="18" charset="0"/>
                                    </a:rPr>
                                    <m:t>+</m:t>
                                  </m:r>
                                  <m:r>
                                    <a:rPr lang="en-US" altLang="zh-CN" sz="3200" i="1">
                                      <a:latin typeface="Cambria Math" panose="02040503050406030204" pitchFamily="18" charset="0"/>
                                    </a:rPr>
                                    <m:t>1</m:t>
                                  </m:r>
                                </m:sub>
                              </m:sSub>
                            </m:e>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𝑛</m:t>
                                  </m:r>
                                  <m:r>
                                    <a:rPr lang="en-US" altLang="zh-CN" sz="3200" i="1">
                                      <a:latin typeface="Cambria Math" panose="02040503050406030204" pitchFamily="18" charset="0"/>
                                    </a:rPr>
                                    <m:t>+</m:t>
                                  </m:r>
                                  <m:r>
                                    <a:rPr lang="en-US" altLang="zh-CN" sz="3200" i="1">
                                      <a:latin typeface="Cambria Math" panose="02040503050406030204" pitchFamily="18" charset="0"/>
                                    </a:rPr>
                                    <m:t>1</m:t>
                                  </m:r>
                                  <m:r>
                                    <a:rPr lang="en-US" altLang="zh-CN" sz="3200" i="1">
                                      <a:latin typeface="Cambria Math" panose="02040503050406030204" pitchFamily="18" charset="0"/>
                                    </a:rPr>
                                    <m:t>           </m:t>
                                  </m:r>
                                </m:sub>
                              </m:sSub>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𝑛</m:t>
                                  </m:r>
                                </m:sub>
                              </m:sSub>
                            </m:e>
                          </m:eqArr>
                        </m:e>
                      </m:d>
                      <m:r>
                        <a:rPr lang="en-US" altLang="zh-CN" sz="3200" i="1">
                          <a:latin typeface="Cambria Math" panose="02040503050406030204" pitchFamily="18" charset="0"/>
                        </a:rPr>
                        <m:t>=</m:t>
                      </m:r>
                      <m:d>
                        <m:dPr>
                          <m:begChr m:val="["/>
                          <m:endChr m:val="]"/>
                          <m:ctrlPr>
                            <a:rPr lang="en-US" altLang="zh-CN" sz="3200" i="1">
                              <a:latin typeface="Cambria Math" panose="02040503050406030204" pitchFamily="18" charset="0"/>
                            </a:rPr>
                          </m:ctrlPr>
                        </m:dPr>
                        <m:e>
                          <m:eqArr>
                            <m:eqArrPr>
                              <m:ctrlPr>
                                <a:rPr lang="en-US" altLang="zh-CN" sz="3200" i="1">
                                  <a:latin typeface="Cambria Math" panose="02040503050406030204" pitchFamily="18" charset="0"/>
                                </a:rPr>
                              </m:ctrlPr>
                            </m:eqArrPr>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𝑛</m:t>
                                  </m:r>
                                  <m:r>
                                    <a:rPr lang="en-US" altLang="zh-CN" sz="3200" i="1">
                                      <a:latin typeface="Cambria Math" panose="02040503050406030204" pitchFamily="18" charset="0"/>
                                    </a:rPr>
                                    <m:t>+</m:t>
                                  </m:r>
                                  <m:r>
                                    <a:rPr lang="en-US" altLang="zh-CN" sz="3200" i="1">
                                      <a:latin typeface="Cambria Math" panose="02040503050406030204" pitchFamily="18" charset="0"/>
                                    </a:rPr>
                                    <m:t>1</m:t>
                                  </m:r>
                                </m:sub>
                              </m:sSub>
                              <m:r>
                                <a:rPr lang="en-US" altLang="zh-CN" sz="3200" i="1">
                                  <a:latin typeface="Cambria Math" panose="02040503050406030204" pitchFamily="18" charset="0"/>
                                </a:rPr>
                                <m:t>    </m:t>
                              </m:r>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𝑛</m:t>
                                  </m:r>
                                </m:sub>
                              </m:sSub>
                            </m:e>
                            <m:e>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𝑛</m:t>
                                  </m:r>
                                  <m:r>
                                    <a:rPr lang="en-US" altLang="zh-CN" sz="3200" i="1">
                                      <a:latin typeface="Cambria Math" panose="02040503050406030204" pitchFamily="18" charset="0"/>
                                    </a:rPr>
                                    <m:t>      </m:t>
                                  </m:r>
                                </m:sub>
                              </m:sSub>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𝐹</m:t>
                                  </m:r>
                                </m:e>
                                <m:sub>
                                  <m:r>
                                    <a:rPr lang="en-US" altLang="zh-CN" sz="3200" i="1">
                                      <a:latin typeface="Cambria Math" panose="02040503050406030204" pitchFamily="18" charset="0"/>
                                    </a:rPr>
                                    <m:t>𝑛</m:t>
                                  </m:r>
                                  <m:r>
                                    <a:rPr lang="en-US" altLang="zh-CN" sz="3200" i="1">
                                      <a:latin typeface="Cambria Math" panose="02040503050406030204" pitchFamily="18" charset="0"/>
                                    </a:rPr>
                                    <m:t>−</m:t>
                                  </m:r>
                                  <m:r>
                                    <a:rPr lang="en-US" altLang="zh-CN" sz="3200" i="1">
                                      <a:latin typeface="Cambria Math" panose="02040503050406030204" pitchFamily="18" charset="0"/>
                                    </a:rPr>
                                    <m:t>1</m:t>
                                  </m:r>
                                </m:sub>
                              </m:sSub>
                            </m:e>
                          </m:eqArr>
                        </m:e>
                      </m:d>
                      <m:d>
                        <m:dPr>
                          <m:begChr m:val="["/>
                          <m:endChr m:val="]"/>
                          <m:ctrlPr>
                            <a:rPr lang="en-US" altLang="zh-CN" sz="3200" i="1">
                              <a:latin typeface="Cambria Math" panose="02040503050406030204" pitchFamily="18" charset="0"/>
                            </a:rPr>
                          </m:ctrlPr>
                        </m:dPr>
                        <m:e>
                          <m:eqArr>
                            <m:eqArrPr>
                              <m:ctrlPr>
                                <a:rPr lang="en-US" altLang="zh-CN" sz="3200" i="1">
                                  <a:latin typeface="Cambria Math" panose="02040503050406030204" pitchFamily="18" charset="0"/>
                                </a:rPr>
                              </m:ctrlPr>
                            </m:eqArrPr>
                            <m:e>
                              <m:r>
                                <a:rPr lang="en-US" altLang="zh-CN" sz="3200" i="1">
                                  <a:latin typeface="Cambria Math" panose="02040503050406030204" pitchFamily="18" charset="0"/>
                                </a:rPr>
                                <m:t>1</m:t>
                              </m:r>
                              <m:r>
                                <a:rPr lang="en-US" altLang="zh-CN" sz="3200" i="1">
                                  <a:latin typeface="Cambria Math" panose="02040503050406030204" pitchFamily="18" charset="0"/>
                                </a:rPr>
                                <m:t>     </m:t>
                              </m:r>
                              <m:r>
                                <a:rPr lang="en-US" altLang="zh-CN" sz="3200" i="1">
                                  <a:latin typeface="Cambria Math" panose="02040503050406030204" pitchFamily="18" charset="0"/>
                                </a:rPr>
                                <m:t>1</m:t>
                              </m:r>
                            </m:e>
                            <m:e>
                              <m:r>
                                <a:rPr lang="en-US" altLang="zh-CN" sz="3200" i="1">
                                  <a:latin typeface="Cambria Math" panose="02040503050406030204" pitchFamily="18" charset="0"/>
                                </a:rPr>
                                <m:t>1</m:t>
                              </m:r>
                              <m:r>
                                <a:rPr lang="en-US" altLang="zh-CN" sz="3200" i="1">
                                  <a:latin typeface="Cambria Math" panose="02040503050406030204" pitchFamily="18" charset="0"/>
                                </a:rPr>
                                <m:t>     </m:t>
                              </m:r>
                              <m:r>
                                <a:rPr lang="en-US" altLang="zh-CN" sz="3200" i="1">
                                  <a:latin typeface="Cambria Math" panose="02040503050406030204" pitchFamily="18" charset="0"/>
                                </a:rPr>
                                <m:t>0</m:t>
                              </m:r>
                            </m:e>
                          </m:eqArr>
                        </m:e>
                      </m:d>
                    </m:oMath>
                  </m:oMathPara>
                </a14:m>
                <a:endParaRPr lang="zh-CN" altLang="en-US" sz="3200" dirty="0"/>
              </a:p>
            </p:txBody>
          </p:sp>
        </mc:Choice>
        <mc:Fallback>
          <p:sp>
            <p:nvSpPr>
              <p:cNvPr id="45" name="文本框 44"/>
              <p:cNvSpPr txBox="1">
                <a:spLocks noRot="1" noChangeAspect="1" noMove="1" noResize="1" noEditPoints="1" noAdjustHandles="1" noChangeArrowheads="1" noChangeShapeType="1" noTextEdit="1"/>
              </p:cNvSpPr>
              <p:nvPr/>
            </p:nvSpPr>
            <p:spPr>
              <a:xfrm>
                <a:off x="1741555" y="3160084"/>
                <a:ext cx="6098336" cy="910827"/>
              </a:xfrm>
              <a:prstGeom prst="rect">
                <a:avLst/>
              </a:prstGeom>
              <a:blipFill rotWithShape="1">
                <a:blip r:embed="rId2"/>
                <a:stretch>
                  <a:fillRect l="-6" t="-36" r="-1726" b="6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 name="文本框 45"/>
              <p:cNvSpPr txBox="1"/>
              <p:nvPr/>
            </p:nvSpPr>
            <p:spPr>
              <a:xfrm>
                <a:off x="1535316" y="4379300"/>
                <a:ext cx="5128968" cy="917367"/>
              </a:xfrm>
              <a:prstGeom prst="rect">
                <a:avLst/>
              </a:prstGeom>
              <a:noFill/>
            </p:spPr>
            <p:txBody>
              <a:bodyPr wrap="none" lIns="0" tIns="0" rIns="0" bIns="0" rtlCol="0">
                <a:spAutoFit/>
              </a:bodyPr>
              <a:lstStyle/>
              <a:p>
                <a14:m>
                  <m:oMath xmlns:m="http://schemas.openxmlformats.org/officeDocument/2006/math">
                    <m:r>
                      <a:rPr lang="en-US" altLang="zh-CN" sz="3200" i="1">
                        <a:latin typeface="Cambria Math" panose="02040503050406030204" pitchFamily="18" charset="0"/>
                      </a:rPr>
                      <m:t>=</m:t>
                    </m:r>
                    <m:sSup>
                      <m:sSupPr>
                        <m:ctrlPr>
                          <a:rPr lang="en-US" altLang="zh-CN" sz="3200" i="1">
                            <a:solidFill>
                              <a:srgbClr val="2202AC"/>
                            </a:solidFill>
                            <a:latin typeface="Cambria Math" panose="02040503050406030204" pitchFamily="18" charset="0"/>
                          </a:rPr>
                        </m:ctrlPr>
                      </m:sSupPr>
                      <m:e>
                        <m:d>
                          <m:dPr>
                            <m:begChr m:val="["/>
                            <m:endChr m:val="]"/>
                            <m:ctrlPr>
                              <a:rPr lang="en-US" altLang="zh-CN" sz="3200" i="1">
                                <a:solidFill>
                                  <a:srgbClr val="2202AC"/>
                                </a:solidFill>
                                <a:latin typeface="Cambria Math" panose="02040503050406030204" pitchFamily="18" charset="0"/>
                              </a:rPr>
                            </m:ctrlPr>
                          </m:dPr>
                          <m:e>
                            <m:eqArr>
                              <m:eqArrPr>
                                <m:ctrlPr>
                                  <a:rPr lang="en-US" altLang="zh-CN" sz="3200" i="1">
                                    <a:solidFill>
                                      <a:srgbClr val="2202AC"/>
                                    </a:solidFill>
                                    <a:latin typeface="Cambria Math" panose="02040503050406030204" pitchFamily="18" charset="0"/>
                                  </a:rPr>
                                </m:ctrlPr>
                              </m:eqArrPr>
                              <m:e>
                                <m:r>
                                  <a:rPr lang="en-US" altLang="zh-CN" sz="3200" i="1">
                                    <a:solidFill>
                                      <a:srgbClr val="2202AC"/>
                                    </a:solidFill>
                                    <a:latin typeface="Cambria Math" panose="02040503050406030204" pitchFamily="18" charset="0"/>
                                  </a:rPr>
                                  <m:t>1</m:t>
                                </m:r>
                                <m:r>
                                  <a:rPr lang="en-US" altLang="zh-CN" sz="3200" i="1">
                                    <a:solidFill>
                                      <a:srgbClr val="2202AC"/>
                                    </a:solidFill>
                                    <a:latin typeface="Cambria Math" panose="02040503050406030204" pitchFamily="18" charset="0"/>
                                  </a:rPr>
                                  <m:t>     </m:t>
                                </m:r>
                                <m:r>
                                  <a:rPr lang="en-US" altLang="zh-CN" sz="3200" i="1">
                                    <a:solidFill>
                                      <a:srgbClr val="2202AC"/>
                                    </a:solidFill>
                                    <a:latin typeface="Cambria Math" panose="02040503050406030204" pitchFamily="18" charset="0"/>
                                  </a:rPr>
                                  <m:t>1</m:t>
                                </m:r>
                              </m:e>
                              <m:e>
                                <m:r>
                                  <a:rPr lang="en-US" altLang="zh-CN" sz="3200" i="1">
                                    <a:solidFill>
                                      <a:srgbClr val="2202AC"/>
                                    </a:solidFill>
                                    <a:latin typeface="Cambria Math" panose="02040503050406030204" pitchFamily="18" charset="0"/>
                                  </a:rPr>
                                  <m:t>1</m:t>
                                </m:r>
                                <m:r>
                                  <a:rPr lang="en-US" altLang="zh-CN" sz="3200" i="1">
                                    <a:solidFill>
                                      <a:srgbClr val="2202AC"/>
                                    </a:solidFill>
                                    <a:latin typeface="Cambria Math" panose="02040503050406030204" pitchFamily="18" charset="0"/>
                                  </a:rPr>
                                  <m:t>     </m:t>
                                </m:r>
                                <m:r>
                                  <a:rPr lang="en-US" altLang="zh-CN" sz="3200" i="1">
                                    <a:solidFill>
                                      <a:srgbClr val="2202AC"/>
                                    </a:solidFill>
                                    <a:latin typeface="Cambria Math" panose="02040503050406030204" pitchFamily="18" charset="0"/>
                                  </a:rPr>
                                  <m:t>0</m:t>
                                </m:r>
                              </m:e>
                            </m:eqArr>
                          </m:e>
                        </m:d>
                      </m:e>
                      <m:sup>
                        <m:r>
                          <a:rPr lang="en-US" altLang="zh-CN" sz="3200" i="1">
                            <a:solidFill>
                              <a:srgbClr val="2202AC"/>
                            </a:solidFill>
                            <a:latin typeface="Cambria Math" panose="02040503050406030204" pitchFamily="18" charset="0"/>
                          </a:rPr>
                          <m:t>𝑛</m:t>
                        </m:r>
                      </m:sup>
                    </m:sSup>
                    <m:d>
                      <m:dPr>
                        <m:begChr m:val="["/>
                        <m:endChr m:val="]"/>
                        <m:ctrlPr>
                          <a:rPr lang="en-US" altLang="zh-CN" sz="3200" i="1">
                            <a:latin typeface="Cambria Math" panose="02040503050406030204" pitchFamily="18" charset="0"/>
                          </a:rPr>
                        </m:ctrlPr>
                      </m:dPr>
                      <m:e>
                        <m:eqArr>
                          <m:eqArrPr>
                            <m:ctrlPr>
                              <a:rPr lang="en-US" altLang="zh-CN" sz="3200" i="1">
                                <a:latin typeface="Cambria Math" panose="02040503050406030204" pitchFamily="18" charset="0"/>
                              </a:rPr>
                            </m:ctrlPr>
                          </m:eqArrPr>
                          <m:e>
                            <m:r>
                              <a:rPr lang="en-US" altLang="zh-CN" sz="3200" i="1">
                                <a:latin typeface="Cambria Math" panose="02040503050406030204" pitchFamily="18" charset="0"/>
                              </a:rPr>
                              <m:t>1</m:t>
                            </m:r>
                            <m:r>
                              <a:rPr lang="en-US" altLang="zh-CN" sz="3200" i="1">
                                <a:latin typeface="Cambria Math" panose="02040503050406030204" pitchFamily="18" charset="0"/>
                              </a:rPr>
                              <m:t>     </m:t>
                            </m:r>
                            <m:r>
                              <a:rPr lang="en-US" altLang="zh-CN" sz="3200" i="1">
                                <a:latin typeface="Cambria Math" panose="02040503050406030204" pitchFamily="18" charset="0"/>
                              </a:rPr>
                              <m:t>1</m:t>
                            </m:r>
                          </m:e>
                          <m:e>
                            <m:r>
                              <a:rPr lang="en-US" altLang="zh-CN" sz="3200" i="1">
                                <a:latin typeface="Cambria Math" panose="02040503050406030204" pitchFamily="18" charset="0"/>
                              </a:rPr>
                              <m:t>1</m:t>
                            </m:r>
                            <m:r>
                              <a:rPr lang="en-US" altLang="zh-CN" sz="3200" i="1">
                                <a:latin typeface="Cambria Math" panose="02040503050406030204" pitchFamily="18" charset="0"/>
                              </a:rPr>
                              <m:t>     </m:t>
                            </m:r>
                            <m:r>
                              <a:rPr lang="en-US" altLang="zh-CN" sz="3200" i="1">
                                <a:latin typeface="Cambria Math" panose="02040503050406030204" pitchFamily="18" charset="0"/>
                              </a:rPr>
                              <m:t>0</m:t>
                            </m:r>
                          </m:e>
                        </m:eqArr>
                      </m:e>
                    </m:d>
                  </m:oMath>
                </a14:m>
                <a:r>
                  <a:rPr lang="en-US" altLang="zh-CN" sz="3200" dirty="0"/>
                  <a:t>=</a:t>
                </a:r>
                <a14:m>
                  <m:oMath xmlns:m="http://schemas.openxmlformats.org/officeDocument/2006/math">
                    <m:sSup>
                      <m:sSupPr>
                        <m:ctrlPr>
                          <a:rPr lang="en-US" altLang="zh-CN" sz="3200" i="1">
                            <a:latin typeface="Cambria Math" panose="02040503050406030204" pitchFamily="18" charset="0"/>
                          </a:rPr>
                        </m:ctrlPr>
                      </m:sSupPr>
                      <m:e>
                        <m:d>
                          <m:dPr>
                            <m:begChr m:val="["/>
                            <m:endChr m:val="]"/>
                            <m:ctrlPr>
                              <a:rPr lang="en-US" altLang="zh-CN" sz="3200" i="1">
                                <a:latin typeface="Cambria Math" panose="02040503050406030204" pitchFamily="18" charset="0"/>
                              </a:rPr>
                            </m:ctrlPr>
                          </m:dPr>
                          <m:e>
                            <m:eqArr>
                              <m:eqArrPr>
                                <m:ctrlPr>
                                  <a:rPr lang="en-US" altLang="zh-CN" sz="3200" i="1">
                                    <a:latin typeface="Cambria Math" panose="02040503050406030204" pitchFamily="18" charset="0"/>
                                  </a:rPr>
                                </m:ctrlPr>
                              </m:eqArrPr>
                              <m:e>
                                <m:r>
                                  <a:rPr lang="en-US" altLang="zh-CN" sz="3200" i="1">
                                    <a:latin typeface="Cambria Math" panose="02040503050406030204" pitchFamily="18" charset="0"/>
                                  </a:rPr>
                                  <m:t>1</m:t>
                                </m:r>
                                <m:r>
                                  <a:rPr lang="en-US" altLang="zh-CN" sz="3200" i="1">
                                    <a:latin typeface="Cambria Math" panose="02040503050406030204" pitchFamily="18" charset="0"/>
                                  </a:rPr>
                                  <m:t>     </m:t>
                                </m:r>
                                <m:r>
                                  <a:rPr lang="en-US" altLang="zh-CN" sz="3200" i="1">
                                    <a:latin typeface="Cambria Math" panose="02040503050406030204" pitchFamily="18" charset="0"/>
                                  </a:rPr>
                                  <m:t>1</m:t>
                                </m:r>
                              </m:e>
                              <m:e>
                                <m:r>
                                  <a:rPr lang="en-US" altLang="zh-CN" sz="3200" i="1">
                                    <a:latin typeface="Cambria Math" panose="02040503050406030204" pitchFamily="18" charset="0"/>
                                  </a:rPr>
                                  <m:t>1</m:t>
                                </m:r>
                                <m:r>
                                  <a:rPr lang="en-US" altLang="zh-CN" sz="3200" i="1">
                                    <a:latin typeface="Cambria Math" panose="02040503050406030204" pitchFamily="18" charset="0"/>
                                  </a:rPr>
                                  <m:t>     </m:t>
                                </m:r>
                                <m:r>
                                  <a:rPr lang="en-US" altLang="zh-CN" sz="3200" i="1">
                                    <a:latin typeface="Cambria Math" panose="02040503050406030204" pitchFamily="18" charset="0"/>
                                  </a:rPr>
                                  <m:t>0</m:t>
                                </m:r>
                              </m:e>
                            </m:eqArr>
                          </m:e>
                        </m:d>
                      </m:e>
                      <m:sup>
                        <m:r>
                          <a:rPr lang="en-US" altLang="zh-CN" sz="3200" i="1">
                            <a:latin typeface="Cambria Math" panose="02040503050406030204" pitchFamily="18" charset="0"/>
                          </a:rPr>
                          <m:t>𝑛</m:t>
                        </m:r>
                        <m:r>
                          <a:rPr lang="en-US" altLang="zh-CN" sz="3200" i="1">
                            <a:latin typeface="Cambria Math" panose="02040503050406030204" pitchFamily="18" charset="0"/>
                          </a:rPr>
                          <m:t>+</m:t>
                        </m:r>
                        <m:r>
                          <a:rPr lang="en-US" altLang="zh-CN" sz="3200" i="1">
                            <a:latin typeface="Cambria Math" panose="02040503050406030204" pitchFamily="18" charset="0"/>
                          </a:rPr>
                          <m:t>1</m:t>
                        </m:r>
                      </m:sup>
                    </m:sSup>
                  </m:oMath>
                </a14:m>
                <a:endParaRPr lang="zh-CN" altLang="en-US" sz="3200" dirty="0"/>
              </a:p>
            </p:txBody>
          </p:sp>
        </mc:Choice>
        <mc:Fallback>
          <p:sp>
            <p:nvSpPr>
              <p:cNvPr id="46" name="文本框 45"/>
              <p:cNvSpPr txBox="1">
                <a:spLocks noRot="1" noChangeAspect="1" noMove="1" noResize="1" noEditPoints="1" noAdjustHandles="1" noChangeArrowheads="1" noChangeShapeType="1" noTextEdit="1"/>
              </p:cNvSpPr>
              <p:nvPr/>
            </p:nvSpPr>
            <p:spPr>
              <a:xfrm>
                <a:off x="1535316" y="4379300"/>
                <a:ext cx="5128968" cy="917367"/>
              </a:xfrm>
              <a:prstGeom prst="rect">
                <a:avLst/>
              </a:prstGeom>
              <a:blipFill rotWithShape="1">
                <a:blip r:embed="rId3"/>
                <a:stretch>
                  <a:fillRect l="-10" t="-37" r="-484" b="14"/>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animBg="1"/>
      <p:bldP spid="37" grpId="0" animBg="1"/>
      <p:bldP spid="38" grpId="0" animBg="1"/>
      <p:bldP spid="39" grpId="0" animBg="1"/>
      <p:bldP spid="40" grpId="0" animBg="1"/>
      <p:bldP spid="41" grpId="0"/>
      <p:bldP spid="45" grpId="0"/>
      <p:bldP spid="4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153304" y="-18627"/>
            <a:ext cx="8923283"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算法</a:t>
            </a:r>
            <a:endParaRPr sz="4400" b="1" spc="-13" dirty="0">
              <a:solidFill>
                <a:srgbClr val="C00000"/>
              </a:solidFill>
              <a:latin typeface="黑体" panose="02010609060101010101" pitchFamily="49" charset="-122"/>
              <a:ea typeface="黑体" panose="02010609060101010101" pitchFamily="49" charset="-122"/>
            </a:endParaRPr>
          </a:p>
        </p:txBody>
      </p:sp>
      <p:sp>
        <p:nvSpPr>
          <p:cNvPr id="2" name="object 2"/>
          <p:cNvSpPr txBox="1"/>
          <p:nvPr/>
        </p:nvSpPr>
        <p:spPr>
          <a:xfrm>
            <a:off x="716857" y="2788072"/>
            <a:ext cx="3068322" cy="509541"/>
          </a:xfrm>
          <a:prstGeom prst="rect">
            <a:avLst/>
          </a:prstGeom>
        </p:spPr>
        <p:txBody>
          <a:bodyPr vert="horz" wrap="square" lIns="0" tIns="16933" rIns="0" bIns="0" rtlCol="0">
            <a:spAutoFit/>
          </a:bodyPr>
          <a:lstStyle/>
          <a:p>
            <a:pPr marL="388620" indent="-372745">
              <a:spcBef>
                <a:spcPts val="135"/>
              </a:spcBef>
              <a:buFont typeface="Arial" panose="020B0604020202020204"/>
              <a:buChar char="•"/>
              <a:tabLst>
                <a:tab pos="387985" algn="l"/>
                <a:tab pos="389255" algn="l"/>
              </a:tabLst>
            </a:pPr>
            <a:r>
              <a:rPr sz="3200" b="1" dirty="0">
                <a:latin typeface="黑体" panose="02010609060101010101" pitchFamily="49" charset="-122"/>
                <a:ea typeface="黑体" panose="02010609060101010101" pitchFamily="49" charset="-122"/>
                <a:cs typeface="宋体" panose="02010600030101010101" pitchFamily="2" charset="-122"/>
              </a:rPr>
              <a:t>矩阵乘法次数</a:t>
            </a:r>
            <a:endParaRPr sz="3200" dirty="0">
              <a:latin typeface="黑体" panose="02010609060101010101" pitchFamily="49" charset="-122"/>
              <a:ea typeface="黑体" panose="02010609060101010101" pitchFamily="49" charset="-122"/>
              <a:cs typeface="宋体" panose="02010600030101010101" pitchFamily="2" charset="-122"/>
            </a:endParaRPr>
          </a:p>
        </p:txBody>
      </p:sp>
      <p:sp>
        <p:nvSpPr>
          <p:cNvPr id="3" name="object 3"/>
          <p:cNvSpPr txBox="1"/>
          <p:nvPr/>
        </p:nvSpPr>
        <p:spPr>
          <a:xfrm>
            <a:off x="3647030" y="2814059"/>
            <a:ext cx="2851573" cy="508687"/>
          </a:xfrm>
          <a:prstGeom prst="rect">
            <a:avLst/>
          </a:prstGeom>
        </p:spPr>
        <p:txBody>
          <a:bodyPr vert="horz" wrap="square" lIns="0" tIns="16087" rIns="0" bIns="0" rtlCol="0">
            <a:spAutoFit/>
          </a:bodyPr>
          <a:lstStyle/>
          <a:p>
            <a:pPr marL="17145">
              <a:spcBef>
                <a:spcPts val="125"/>
              </a:spcBef>
            </a:pPr>
            <a:r>
              <a:rPr sz="3200" b="1" i="1" dirty="0">
                <a:latin typeface="Times New Roman" panose="02020603050405020304"/>
                <a:cs typeface="Times New Roman" panose="02020603050405020304"/>
              </a:rPr>
              <a:t>T</a:t>
            </a:r>
            <a:r>
              <a:rPr sz="3200" b="1" dirty="0">
                <a:latin typeface="Times New Roman" panose="02020603050405020304"/>
                <a:cs typeface="Times New Roman" panose="02020603050405020304"/>
              </a:rPr>
              <a:t>(</a:t>
            </a:r>
            <a:r>
              <a:rPr sz="3200" b="1" i="1" dirty="0">
                <a:latin typeface="Times New Roman" panose="02020603050405020304"/>
                <a:cs typeface="Times New Roman" panose="02020603050405020304"/>
              </a:rPr>
              <a:t>n</a:t>
            </a:r>
            <a:r>
              <a:rPr sz="3200" b="1" dirty="0">
                <a:latin typeface="Times New Roman" panose="02020603050405020304"/>
                <a:cs typeface="Times New Roman" panose="02020603050405020304"/>
              </a:rPr>
              <a:t>)= </a:t>
            </a:r>
            <a:r>
              <a:rPr sz="3200" b="1" i="1" spc="-147" dirty="0">
                <a:latin typeface="Symbol" panose="05050102010706020507"/>
                <a:cs typeface="Symbol" panose="05050102010706020507"/>
              </a:rPr>
              <a:t></a:t>
            </a:r>
            <a:r>
              <a:rPr sz="3200" b="1" i="1" spc="-147" dirty="0">
                <a:latin typeface="Times New Roman" panose="02020603050405020304"/>
                <a:cs typeface="Times New Roman" panose="02020603050405020304"/>
              </a:rPr>
              <a:t> </a:t>
            </a:r>
            <a:r>
              <a:rPr sz="3200" b="1" dirty="0">
                <a:latin typeface="Times New Roman" panose="02020603050405020304"/>
                <a:cs typeface="Times New Roman" panose="02020603050405020304"/>
              </a:rPr>
              <a:t>(log</a:t>
            </a:r>
            <a:r>
              <a:rPr sz="3200" b="1" spc="-47" dirty="0">
                <a:latin typeface="Times New Roman" panose="02020603050405020304"/>
                <a:cs typeface="Times New Roman" panose="02020603050405020304"/>
              </a:rPr>
              <a:t> </a:t>
            </a:r>
            <a:r>
              <a:rPr sz="3200" b="1" i="1" dirty="0">
                <a:latin typeface="Times New Roman" panose="02020603050405020304"/>
                <a:cs typeface="Times New Roman" panose="02020603050405020304"/>
              </a:rPr>
              <a:t>n</a:t>
            </a:r>
            <a:r>
              <a:rPr sz="3200" b="1" dirty="0">
                <a:latin typeface="Times New Roman" panose="02020603050405020304"/>
                <a:cs typeface="Times New Roman" panose="02020603050405020304"/>
              </a:rPr>
              <a:t>)</a:t>
            </a:r>
            <a:endParaRPr sz="3200" dirty="0">
              <a:latin typeface="Times New Roman" panose="02020603050405020304"/>
              <a:cs typeface="Times New Roman" panose="02020603050405020304"/>
            </a:endParaRPr>
          </a:p>
        </p:txBody>
      </p:sp>
      <p:sp>
        <p:nvSpPr>
          <p:cNvPr id="4" name="object 4"/>
          <p:cNvSpPr txBox="1"/>
          <p:nvPr/>
        </p:nvSpPr>
        <p:spPr>
          <a:xfrm>
            <a:off x="709940" y="3347880"/>
            <a:ext cx="7043420" cy="1253333"/>
          </a:xfrm>
          <a:prstGeom prst="rect">
            <a:avLst/>
          </a:prstGeom>
        </p:spPr>
        <p:txBody>
          <a:bodyPr vert="horz" wrap="square" lIns="0" tIns="138852" rIns="0" bIns="0" rtlCol="0">
            <a:spAutoFit/>
          </a:bodyPr>
          <a:lstStyle/>
          <a:p>
            <a:pPr marL="388620" indent="-372745">
              <a:spcBef>
                <a:spcPts val="1090"/>
              </a:spcBef>
              <a:buFont typeface="Arial" panose="020B0604020202020204"/>
              <a:buChar char="•"/>
              <a:tabLst>
                <a:tab pos="387985" algn="l"/>
                <a:tab pos="389255" algn="l"/>
              </a:tabLst>
            </a:pPr>
            <a:r>
              <a:rPr sz="3200" b="1" dirty="0">
                <a:latin typeface="Times New Roman" panose="02020603050405020304" pitchFamily="18" charset="0"/>
                <a:ea typeface="黑体" panose="02010609060101010101" pitchFamily="49" charset="-122"/>
                <a:cs typeface="Times New Roman" panose="02020603050405020304" pitchFamily="18" charset="0"/>
              </a:rPr>
              <a:t>每次矩阵乘法需要</a:t>
            </a:r>
            <a:r>
              <a:rPr sz="3200" b="1" spc="-13" dirty="0">
                <a:latin typeface="Times New Roman" panose="02020603050405020304" pitchFamily="18" charset="0"/>
                <a:ea typeface="黑体" panose="02010609060101010101" pitchFamily="49" charset="-122"/>
                <a:cs typeface="Times New Roman" panose="02020603050405020304" pitchFamily="18" charset="0"/>
              </a:rPr>
              <a:t>做</a:t>
            </a:r>
            <a:r>
              <a:rPr sz="3200" b="1" spc="-927"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8</a:t>
            </a:r>
            <a:r>
              <a:rPr sz="3200" b="1" spc="-40"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次元素相乘</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388620" indent="-372745">
              <a:spcBef>
                <a:spcPts val="1000"/>
              </a:spcBef>
              <a:buFont typeface="Arial" panose="020B0604020202020204"/>
              <a:buChar char="•"/>
              <a:tabLst>
                <a:tab pos="387985" algn="l"/>
                <a:tab pos="389255" algn="l"/>
              </a:tabLst>
            </a:pPr>
            <a:r>
              <a:rPr sz="3200" b="1" dirty="0">
                <a:latin typeface="Times New Roman" panose="02020603050405020304" pitchFamily="18" charset="0"/>
                <a:ea typeface="黑体" panose="02010609060101010101" pitchFamily="49" charset="-122"/>
                <a:cs typeface="Times New Roman" panose="02020603050405020304" pitchFamily="18" charset="0"/>
              </a:rPr>
              <a:t>总计元素相乘次数</a:t>
            </a:r>
            <a:r>
              <a:rPr sz="3200" b="1" spc="-13" dirty="0">
                <a:latin typeface="Times New Roman" panose="02020603050405020304" pitchFamily="18" charset="0"/>
                <a:ea typeface="黑体" panose="02010609060101010101" pitchFamily="49" charset="-122"/>
                <a:cs typeface="Times New Roman" panose="02020603050405020304" pitchFamily="18" charset="0"/>
              </a:rPr>
              <a:t>为</a:t>
            </a:r>
            <a:r>
              <a:rPr sz="3200" b="1" spc="-47" dirty="0">
                <a:latin typeface="Times New Roman" panose="02020603050405020304" pitchFamily="18" charset="0"/>
                <a:ea typeface="黑体" panose="02010609060101010101" pitchFamily="49" charset="-122"/>
                <a:cs typeface="Times New Roman" panose="02020603050405020304" pitchFamily="18" charset="0"/>
              </a:rPr>
              <a:t> </a:t>
            </a:r>
            <a:r>
              <a:rPr sz="3200" b="1" i="1" spc="-147" dirty="0">
                <a:latin typeface="Symbol" panose="05050102010706020507"/>
                <a:cs typeface="Symbol" panose="05050102010706020507"/>
              </a:rPr>
              <a:t></a:t>
            </a:r>
            <a:r>
              <a:rPr sz="3200" b="1" i="1" spc="-60" dirty="0">
                <a:latin typeface="Times New Roman" panose="02020603050405020304"/>
                <a:cs typeface="Times New Roman" panose="02020603050405020304"/>
              </a:rPr>
              <a:t> </a:t>
            </a:r>
            <a:r>
              <a:rPr sz="3200" b="1" dirty="0">
                <a:latin typeface="Times New Roman" panose="02020603050405020304"/>
                <a:cs typeface="Times New Roman" panose="02020603050405020304"/>
              </a:rPr>
              <a:t>(log</a:t>
            </a:r>
            <a:r>
              <a:rPr sz="3200" b="1" spc="-20" dirty="0">
                <a:latin typeface="Times New Roman" panose="02020603050405020304"/>
                <a:cs typeface="Times New Roman" panose="02020603050405020304"/>
              </a:rPr>
              <a:t> </a:t>
            </a:r>
            <a:r>
              <a:rPr sz="3200" b="1" i="1" dirty="0">
                <a:latin typeface="Times New Roman" panose="02020603050405020304"/>
                <a:cs typeface="Times New Roman" panose="02020603050405020304"/>
              </a:rPr>
              <a:t>n</a:t>
            </a:r>
            <a:r>
              <a:rPr sz="3200" b="1" dirty="0">
                <a:latin typeface="Times New Roman" panose="02020603050405020304"/>
                <a:cs typeface="Times New Roman" panose="02020603050405020304"/>
              </a:rPr>
              <a:t>)</a:t>
            </a:r>
            <a:endParaRPr sz="3200" dirty="0">
              <a:latin typeface="Times New Roman" panose="02020603050405020304"/>
              <a:cs typeface="Times New Roman" panose="02020603050405020304"/>
            </a:endParaRPr>
          </a:p>
        </p:txBody>
      </p:sp>
      <p:sp>
        <p:nvSpPr>
          <p:cNvPr id="5" name="object 5"/>
          <p:cNvSpPr txBox="1"/>
          <p:nvPr/>
        </p:nvSpPr>
        <p:spPr>
          <a:xfrm>
            <a:off x="532552" y="2052821"/>
            <a:ext cx="4422925" cy="540319"/>
          </a:xfrm>
          <a:prstGeom prst="rect">
            <a:avLst/>
          </a:prstGeom>
        </p:spPr>
        <p:txBody>
          <a:bodyPr vert="horz" wrap="square" lIns="0" tIns="47413" rIns="0" bIns="0" rtlCol="0">
            <a:spAutoFit/>
          </a:bodyPr>
          <a:lstStyle/>
          <a:p>
            <a:pPr marL="17145">
              <a:spcBef>
                <a:spcPts val="305"/>
              </a:spcBef>
            </a:pPr>
            <a:r>
              <a:rPr sz="3200" b="1" dirty="0" err="1">
                <a:latin typeface="黑体" panose="02010609060101010101" pitchFamily="49" charset="-122"/>
                <a:ea typeface="黑体" panose="02010609060101010101" pitchFamily="49" charset="-122"/>
                <a:cs typeface="宋体" panose="02010600030101010101" pitchFamily="2" charset="-122"/>
              </a:rPr>
              <a:t>时间复杂度</a:t>
            </a:r>
            <a:r>
              <a:rPr sz="3200" b="1" dirty="0">
                <a:latin typeface="宋体" panose="02010600030101010101" pitchFamily="2" charset="-122"/>
                <a:cs typeface="宋体" panose="02010600030101010101" pitchFamily="2" charset="-122"/>
              </a:rPr>
              <a:t>：</a:t>
            </a:r>
            <a:endParaRPr sz="3200" dirty="0">
              <a:latin typeface="宋体" panose="02010600030101010101" pitchFamily="2" charset="-122"/>
              <a:cs typeface="宋体" panose="02010600030101010101" pitchFamily="2" charset="-122"/>
            </a:endParaRPr>
          </a:p>
        </p:txBody>
      </p:sp>
      <mc:AlternateContent xmlns:mc="http://schemas.openxmlformats.org/markup-compatibility/2006">
        <mc:Choice xmlns:a14="http://schemas.microsoft.com/office/drawing/2010/main" Requires="a14">
          <p:sp>
            <p:nvSpPr>
              <p:cNvPr id="7" name="object 7"/>
              <p:cNvSpPr txBox="1"/>
              <p:nvPr/>
            </p:nvSpPr>
            <p:spPr>
              <a:xfrm>
                <a:off x="545253" y="1083081"/>
                <a:ext cx="8671034" cy="839140"/>
              </a:xfrm>
              <a:prstGeom prst="rect">
                <a:avLst/>
              </a:prstGeom>
            </p:spPr>
            <p:txBody>
              <a:bodyPr vert="horz" wrap="square" lIns="0" tIns="17780" rIns="0" bIns="0" rtlCol="0">
                <a:spAutoFit/>
              </a:bodyPr>
              <a:lstStyle/>
              <a:p>
                <a:pPr>
                  <a:spcBef>
                    <a:spcPts val="140"/>
                  </a:spcBef>
                  <a:tabLst>
                    <a:tab pos="2815590" algn="l"/>
                  </a:tabLst>
                </a:pPr>
                <a:r>
                  <a:rPr sz="3200" b="1" dirty="0" err="1">
                    <a:latin typeface="Times New Roman" panose="02020603050405020304" pitchFamily="18" charset="0"/>
                    <a:ea typeface="黑体" panose="02010609060101010101" pitchFamily="49" charset="-122"/>
                    <a:cs typeface="Times New Roman" panose="02020603050405020304" pitchFamily="18" charset="0"/>
                  </a:rPr>
                  <a:t>令矩</a:t>
                </a:r>
                <a:r>
                  <a:rPr sz="3200" b="1" spc="-13" dirty="0" err="1">
                    <a:latin typeface="Times New Roman" panose="02020603050405020304" pitchFamily="18" charset="0"/>
                    <a:ea typeface="黑体" panose="02010609060101010101" pitchFamily="49" charset="-122"/>
                    <a:cs typeface="Times New Roman" panose="02020603050405020304" pitchFamily="18" charset="0"/>
                  </a:rPr>
                  <a:t>阵</a:t>
                </a:r>
                <a:r>
                  <a:rPr lang="en-US" sz="3200" b="1" spc="-13" dirty="0" err="1">
                    <a:latin typeface="Times New Roman" panose="02020603050405020304" pitchFamily="18" charset="0"/>
                    <a:ea typeface="黑体" panose="02010609060101010101" pitchFamily="49" charset="-122"/>
                    <a:cs typeface="Times New Roman" panose="02020603050405020304" pitchFamily="18" charset="0"/>
                  </a:rPr>
                  <a:t>M</a:t>
                </a:r>
                <a:r>
                  <a:rPr lang="en-US" sz="3200" b="1" spc="-13" dirty="0">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d>
                      <m:dPr>
                        <m:begChr m:val="["/>
                        <m:endChr m:val="]"/>
                        <m:ctrlPr>
                          <a:rPr lang="en-US" altLang="zh-CN" sz="3200" b="1" i="1">
                            <a:latin typeface="Cambria Math" panose="02040503050406030204" pitchFamily="18" charset="0"/>
                          </a:rPr>
                        </m:ctrlPr>
                      </m:dPr>
                      <m:e>
                        <m:eqArr>
                          <m:eqArrPr>
                            <m:ctrlPr>
                              <a:rPr lang="en-US" altLang="zh-CN" sz="3200" b="1" i="1">
                                <a:latin typeface="Cambria Math" panose="02040503050406030204" pitchFamily="18" charset="0"/>
                              </a:rPr>
                            </m:ctrlPr>
                          </m:eqArrPr>
                          <m:e>
                            <m:r>
                              <a:rPr lang="en-US" altLang="zh-CN" sz="3200" b="1" i="1">
                                <a:latin typeface="Cambria Math" panose="02040503050406030204" pitchFamily="18" charset="0"/>
                              </a:rPr>
                              <m:t>𝟏</m:t>
                            </m:r>
                            <m:r>
                              <a:rPr lang="en-US" altLang="zh-CN" sz="3200" b="1" i="1">
                                <a:latin typeface="Cambria Math" panose="02040503050406030204" pitchFamily="18" charset="0"/>
                              </a:rPr>
                              <m:t>     </m:t>
                            </m:r>
                            <m:r>
                              <a:rPr lang="en-US" altLang="zh-CN" sz="3200" b="1" i="1">
                                <a:latin typeface="Cambria Math" panose="02040503050406030204" pitchFamily="18" charset="0"/>
                              </a:rPr>
                              <m:t>𝟏</m:t>
                            </m:r>
                          </m:e>
                          <m:e>
                            <m:r>
                              <a:rPr lang="en-US" altLang="zh-CN" sz="3200" b="1" i="1">
                                <a:latin typeface="Cambria Math" panose="02040503050406030204" pitchFamily="18" charset="0"/>
                              </a:rPr>
                              <m:t>𝟏</m:t>
                            </m:r>
                            <m:r>
                              <a:rPr lang="en-US" altLang="zh-CN" sz="3200" b="1" i="1">
                                <a:latin typeface="Cambria Math" panose="02040503050406030204" pitchFamily="18" charset="0"/>
                              </a:rPr>
                              <m:t>     </m:t>
                            </m:r>
                            <m:r>
                              <a:rPr lang="en-US" altLang="zh-CN" sz="3200" b="1" i="1">
                                <a:latin typeface="Cambria Math" panose="02040503050406030204" pitchFamily="18" charset="0"/>
                              </a:rPr>
                              <m:t>𝟎</m:t>
                            </m:r>
                          </m:e>
                        </m:eqArr>
                      </m:e>
                    </m:d>
                  </m:oMath>
                </a14:m>
                <a:r>
                  <a:rPr sz="3200" b="1" spc="107" dirty="0" err="1">
                    <a:latin typeface="Times New Roman" panose="02020603050405020304" pitchFamily="18" charset="0"/>
                    <a:ea typeface="黑体" panose="02010609060101010101" pitchFamily="49" charset="-122"/>
                    <a:cs typeface="Times New Roman" panose="02020603050405020304" pitchFamily="18" charset="0"/>
                  </a:rPr>
                  <a:t>,</a:t>
                </a:r>
                <a:r>
                  <a:rPr sz="3200" b="1" dirty="0" err="1">
                    <a:latin typeface="Times New Roman" panose="02020603050405020304" pitchFamily="18" charset="0"/>
                    <a:ea typeface="黑体" panose="02010609060101010101" pitchFamily="49" charset="-122"/>
                    <a:cs typeface="Times New Roman" panose="02020603050405020304" pitchFamily="18" charset="0"/>
                  </a:rPr>
                  <a:t>用乘幂算法计算</a:t>
                </a:r>
                <a:r>
                  <a:rPr sz="3200" b="1" i="1" spc="7" dirty="0" err="1">
                    <a:latin typeface="Times New Roman" panose="02020603050405020304"/>
                    <a:cs typeface="Times New Roman" panose="02020603050405020304"/>
                  </a:rPr>
                  <a:t>M</a:t>
                </a:r>
                <a:r>
                  <a:rPr sz="3200" b="1" i="1" spc="9" baseline="26000" dirty="0" err="1">
                    <a:latin typeface="Times New Roman" panose="02020603050405020304"/>
                    <a:cs typeface="Times New Roman" panose="02020603050405020304"/>
                  </a:rPr>
                  <a:t>n</a:t>
                </a:r>
                <a:endParaRPr sz="3200" baseline="26000" dirty="0">
                  <a:latin typeface="Times New Roman" panose="02020603050405020304"/>
                  <a:cs typeface="Times New Roman" panose="02020603050405020304"/>
                </a:endParaRPr>
              </a:p>
            </p:txBody>
          </p:sp>
        </mc:Choice>
        <mc:Fallback>
          <p:sp>
            <p:nvSpPr>
              <p:cNvPr id="7" name="object 7"/>
              <p:cNvSpPr txBox="1">
                <a:spLocks noRot="1" noChangeAspect="1" noMove="1" noResize="1" noEditPoints="1" noAdjustHandles="1" noChangeArrowheads="1" noChangeShapeType="1" noTextEdit="1"/>
              </p:cNvSpPr>
              <p:nvPr/>
            </p:nvSpPr>
            <p:spPr>
              <a:xfrm>
                <a:off x="545253" y="1083081"/>
                <a:ext cx="8671034" cy="839140"/>
              </a:xfrm>
              <a:prstGeom prst="rect">
                <a:avLst/>
              </a:prstGeom>
              <a:blipFill rotWithShape="1">
                <a:blip r:embed="rId1"/>
                <a:stretch>
                  <a:fillRect l="-5" t="-8070" r="6" b="9"/>
                </a:stretch>
              </a:blipFill>
            </p:spPr>
            <p:txBody>
              <a:bodyPr/>
              <a:lstStyle/>
              <a:p>
                <a:r>
                  <a:rPr lang="zh-CN" altLang="en-US">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3812" y="-18627"/>
            <a:ext cx="8870732"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小结</a:t>
            </a:r>
            <a:endParaRPr sz="4400" b="1" spc="-13" dirty="0">
              <a:solidFill>
                <a:srgbClr val="C00000"/>
              </a:solidFill>
              <a:latin typeface="黑体" panose="02010609060101010101" pitchFamily="49" charset="-122"/>
              <a:ea typeface="黑体" panose="02010609060101010101" pitchFamily="49" charset="-122"/>
            </a:endParaRPr>
          </a:p>
        </p:txBody>
      </p:sp>
      <p:sp>
        <p:nvSpPr>
          <p:cNvPr id="2" name="object 2"/>
          <p:cNvSpPr txBox="1"/>
          <p:nvPr/>
        </p:nvSpPr>
        <p:spPr>
          <a:xfrm>
            <a:off x="508000" y="1131270"/>
            <a:ext cx="8204200" cy="2586904"/>
          </a:xfrm>
          <a:prstGeom prst="rect">
            <a:avLst/>
          </a:prstGeom>
        </p:spPr>
        <p:txBody>
          <a:bodyPr vert="horz" wrap="square" lIns="0" tIns="131233" rIns="0" bIns="0" rtlCol="0">
            <a:spAutoFit/>
          </a:bodyPr>
          <a:lstStyle/>
          <a:p>
            <a:pPr marL="474345" indent="-457200">
              <a:spcBef>
                <a:spcPts val="1035"/>
              </a:spcBef>
              <a:buFont typeface="Arial" panose="020B0604020202020204"/>
              <a:buChar char="•"/>
              <a:tabLst>
                <a:tab pos="473075" algn="l"/>
                <a:tab pos="473710" algn="l"/>
              </a:tabLst>
            </a:pPr>
            <a:r>
              <a:rPr sz="3735" b="1" spc="-7" dirty="0">
                <a:latin typeface="Times New Roman" panose="02020603050405020304" pitchFamily="18" charset="0"/>
                <a:ea typeface="黑体" panose="02010609060101010101" pitchFamily="49" charset="-122"/>
                <a:cs typeface="Times New Roman" panose="02020603050405020304" pitchFamily="18" charset="0"/>
              </a:rPr>
              <a:t>分治算法的例</a:t>
            </a:r>
            <a:r>
              <a:rPr sz="3735" b="1" dirty="0">
                <a:latin typeface="Times New Roman" panose="02020603050405020304" pitchFamily="18" charset="0"/>
                <a:ea typeface="黑体" panose="02010609060101010101" pitchFamily="49" charset="-122"/>
                <a:cs typeface="Times New Roman" panose="02020603050405020304" pitchFamily="18" charset="0"/>
              </a:rPr>
              <a:t>子</a:t>
            </a:r>
            <a:r>
              <a:rPr sz="3735" b="1" spc="-7" dirty="0">
                <a:latin typeface="Times New Roman" panose="02020603050405020304" pitchFamily="18" charset="0"/>
                <a:ea typeface="黑体" panose="02010609060101010101" pitchFamily="49" charset="-122"/>
                <a:cs typeface="Times New Roman" panose="02020603050405020304" pitchFamily="18" charset="0"/>
              </a:rPr>
              <a:t>——幂乘算法</a:t>
            </a:r>
            <a:endParaRPr sz="3735" dirty="0">
              <a:latin typeface="Times New Roman" panose="02020603050405020304" pitchFamily="18" charset="0"/>
              <a:ea typeface="黑体" panose="02010609060101010101" pitchFamily="49" charset="-122"/>
              <a:cs typeface="Times New Roman" panose="02020603050405020304" pitchFamily="18" charset="0"/>
            </a:endParaRPr>
          </a:p>
          <a:p>
            <a:pPr marL="474345" indent="-457200">
              <a:spcBef>
                <a:spcPts val="895"/>
              </a:spcBef>
              <a:buFont typeface="Arial" panose="020B0604020202020204"/>
              <a:buChar char="•"/>
              <a:tabLst>
                <a:tab pos="473075" algn="l"/>
                <a:tab pos="473710" algn="l"/>
              </a:tabLst>
            </a:pPr>
            <a:r>
              <a:rPr sz="3735" b="1" spc="-7" dirty="0">
                <a:latin typeface="Times New Roman" panose="02020603050405020304" pitchFamily="18" charset="0"/>
                <a:ea typeface="黑体" panose="02010609060101010101" pitchFamily="49" charset="-122"/>
                <a:cs typeface="Times New Roman" panose="02020603050405020304" pitchFamily="18" charset="0"/>
              </a:rPr>
              <a:t>幂乘算法的应用</a:t>
            </a:r>
            <a:endParaRPr sz="3735" dirty="0">
              <a:latin typeface="Times New Roman" panose="02020603050405020304" pitchFamily="18" charset="0"/>
              <a:ea typeface="黑体" panose="02010609060101010101" pitchFamily="49" charset="-122"/>
              <a:cs typeface="Times New Roman" panose="02020603050405020304" pitchFamily="18" charset="0"/>
            </a:endParaRPr>
          </a:p>
          <a:p>
            <a:pPr marL="626745">
              <a:spcBef>
                <a:spcPts val="795"/>
              </a:spcBef>
            </a:pPr>
            <a:r>
              <a:rPr sz="3200" b="1" dirty="0">
                <a:latin typeface="Times New Roman" panose="02020603050405020304" pitchFamily="18" charset="0"/>
                <a:ea typeface="黑体" panose="02010609060101010101" pitchFamily="49" charset="-122"/>
                <a:cs typeface="Times New Roman" panose="02020603050405020304" pitchFamily="18" charset="0"/>
              </a:rPr>
              <a:t>计算Fibonacci</a:t>
            </a:r>
            <a:r>
              <a:rPr sz="3200" b="1" spc="-13" dirty="0">
                <a:latin typeface="Times New Roman" panose="02020603050405020304" pitchFamily="18" charset="0"/>
                <a:ea typeface="黑体" panose="02010609060101010101" pitchFamily="49" charset="-122"/>
                <a:cs typeface="Times New Roman" panose="02020603050405020304" pitchFamily="18" charset="0"/>
              </a:rPr>
              <a:t>数</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626745">
              <a:spcBef>
                <a:spcPts val="845"/>
              </a:spcBef>
            </a:pPr>
            <a:r>
              <a:rPr sz="3200" b="1" dirty="0">
                <a:latin typeface="Times New Roman" panose="02020603050405020304" pitchFamily="18" charset="0"/>
                <a:ea typeface="黑体" panose="02010609060101010101" pitchFamily="49" charset="-122"/>
                <a:cs typeface="Times New Roman" panose="02020603050405020304" pitchFamily="18" charset="0"/>
              </a:rPr>
              <a:t>通常算法</a:t>
            </a:r>
            <a:r>
              <a:rPr sz="3200" b="1" i="1" spc="-7" dirty="0">
                <a:latin typeface="Times New Roman" panose="02020603050405020304" pitchFamily="18" charset="0"/>
                <a:ea typeface="黑体" panose="02010609060101010101" pitchFamily="49" charset="-122"/>
                <a:cs typeface="Times New Roman" panose="02020603050405020304" pitchFamily="18" charset="0"/>
              </a:rPr>
              <a:t>O</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n</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dirty="0">
                <a:latin typeface="Times New Roman" panose="02020603050405020304" pitchFamily="18" charset="0"/>
                <a:ea typeface="黑体" panose="02010609060101010101" pitchFamily="49" charset="-122"/>
                <a:cs typeface="Times New Roman" panose="02020603050405020304" pitchFamily="18" charset="0"/>
              </a:rPr>
              <a:t>分治算法</a:t>
            </a:r>
            <a:r>
              <a:rPr sz="3200" b="1" spc="7" dirty="0">
                <a:latin typeface="Times New Roman" panose="02020603050405020304" pitchFamily="18" charset="0"/>
                <a:ea typeface="黑体" panose="02010609060101010101" pitchFamily="49" charset="-122"/>
                <a:cs typeface="Times New Roman" panose="02020603050405020304" pitchFamily="18" charset="0"/>
              </a:rPr>
              <a:t>为</a:t>
            </a:r>
            <a:r>
              <a:rPr sz="3200" b="1" i="1" spc="-7" dirty="0">
                <a:latin typeface="Times New Roman" panose="02020603050405020304"/>
                <a:cs typeface="Times New Roman" panose="02020603050405020304"/>
              </a:rPr>
              <a:t>O</a:t>
            </a:r>
            <a:r>
              <a:rPr sz="3200" b="1" spc="-7" dirty="0">
                <a:latin typeface="Times New Roman" panose="02020603050405020304"/>
                <a:cs typeface="Times New Roman" panose="02020603050405020304"/>
              </a:rPr>
              <a:t>(log</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a:t>
            </a:r>
            <a:endParaRPr sz="3200" dirty="0">
              <a:latin typeface="Times New Roman" panose="02020603050405020304"/>
              <a:cs typeface="Times New Roman" panose="02020603050405020304"/>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2250" y="1963510"/>
            <a:ext cx="8829404" cy="2044957"/>
          </a:xfrm>
          <a:prstGeom prst="rect">
            <a:avLst/>
          </a:prstGeom>
        </p:spPr>
        <p:txBody>
          <a:bodyPr vert="horz" wrap="square" lIns="0" tIns="13500" rIns="0" bIns="0" rtlCol="0" anchor="ctr">
            <a:spAutoFit/>
          </a:bodyPr>
          <a:lstStyle/>
          <a:p>
            <a:pPr marL="13335" marR="5715" indent="1270" algn="ctr">
              <a:lnSpc>
                <a:spcPct val="100000"/>
              </a:lnSpc>
              <a:spcBef>
                <a:spcPts val="105"/>
              </a:spcBef>
            </a:pPr>
            <a:r>
              <a:rPr sz="6600" spc="-27" dirty="0">
                <a:latin typeface="黑体" panose="02010609060101010101" pitchFamily="49" charset="-122"/>
                <a:ea typeface="黑体" panose="02010609060101010101" pitchFamily="49" charset="-122"/>
              </a:rPr>
              <a:t>改</a:t>
            </a:r>
            <a:r>
              <a:rPr sz="6600" spc="-5" dirty="0">
                <a:latin typeface="黑体" panose="02010609060101010101" pitchFamily="49" charset="-122"/>
                <a:ea typeface="黑体" panose="02010609060101010101" pitchFamily="49" charset="-122"/>
              </a:rPr>
              <a:t>进</a:t>
            </a:r>
            <a:r>
              <a:rPr sz="6600" spc="-27" dirty="0">
                <a:latin typeface="黑体" panose="02010609060101010101" pitchFamily="49" charset="-122"/>
                <a:ea typeface="黑体" panose="02010609060101010101" pitchFamily="49" charset="-122"/>
              </a:rPr>
              <a:t>分</a:t>
            </a:r>
            <a:r>
              <a:rPr sz="6600" spc="-5" dirty="0">
                <a:latin typeface="黑体" panose="02010609060101010101" pitchFamily="49" charset="-122"/>
                <a:ea typeface="黑体" panose="02010609060101010101" pitchFamily="49" charset="-122"/>
              </a:rPr>
              <a:t>治算</a:t>
            </a:r>
            <a:r>
              <a:rPr sz="6600" spc="5" dirty="0">
                <a:latin typeface="黑体" panose="02010609060101010101" pitchFamily="49" charset="-122"/>
                <a:ea typeface="黑体" panose="02010609060101010101" pitchFamily="49" charset="-122"/>
              </a:rPr>
              <a:t>法</a:t>
            </a:r>
            <a:r>
              <a:rPr sz="6600" spc="-5" dirty="0">
                <a:latin typeface="黑体" panose="02010609060101010101" pitchFamily="49" charset="-122"/>
                <a:ea typeface="黑体" panose="02010609060101010101" pitchFamily="49" charset="-122"/>
              </a:rPr>
              <a:t>的</a:t>
            </a:r>
            <a:r>
              <a:rPr sz="6600" spc="-21" dirty="0">
                <a:latin typeface="黑体" panose="02010609060101010101" pitchFamily="49" charset="-122"/>
                <a:ea typeface="黑体" panose="02010609060101010101" pitchFamily="49" charset="-122"/>
              </a:rPr>
              <a:t>途</a:t>
            </a:r>
            <a:r>
              <a:rPr sz="6600" spc="-16" dirty="0">
                <a:latin typeface="黑体" panose="02010609060101010101" pitchFamily="49" charset="-122"/>
                <a:ea typeface="黑体" panose="02010609060101010101" pitchFamily="49" charset="-122"/>
              </a:rPr>
              <a:t>径1:</a:t>
            </a:r>
            <a:br>
              <a:rPr lang="en-US" sz="6600" spc="-16" dirty="0">
                <a:latin typeface="黑体" panose="02010609060101010101" pitchFamily="49" charset="-122"/>
                <a:ea typeface="黑体" panose="02010609060101010101" pitchFamily="49" charset="-122"/>
              </a:rPr>
            </a:br>
            <a:r>
              <a:rPr sz="6600" spc="-27" dirty="0" err="1">
                <a:latin typeface="黑体" panose="02010609060101010101" pitchFamily="49" charset="-122"/>
                <a:ea typeface="黑体" panose="02010609060101010101" pitchFamily="49" charset="-122"/>
              </a:rPr>
              <a:t>减</a:t>
            </a:r>
            <a:r>
              <a:rPr sz="6600" spc="11" dirty="0" err="1">
                <a:latin typeface="黑体" panose="02010609060101010101" pitchFamily="49" charset="-122"/>
                <a:ea typeface="黑体" panose="02010609060101010101" pitchFamily="49" charset="-122"/>
              </a:rPr>
              <a:t>少</a:t>
            </a:r>
            <a:r>
              <a:rPr sz="6600" spc="5" dirty="0" err="1">
                <a:latin typeface="黑体" panose="02010609060101010101" pitchFamily="49" charset="-122"/>
                <a:ea typeface="黑体" panose="02010609060101010101" pitchFamily="49" charset="-122"/>
              </a:rPr>
              <a:t>子</a:t>
            </a:r>
            <a:r>
              <a:rPr sz="6600" spc="-5" dirty="0" err="1">
                <a:latin typeface="黑体" panose="02010609060101010101" pitchFamily="49" charset="-122"/>
                <a:ea typeface="黑体" panose="02010609060101010101" pitchFamily="49" charset="-122"/>
              </a:rPr>
              <a:t>问题</a:t>
            </a:r>
            <a:r>
              <a:rPr sz="6600" spc="-27" dirty="0" err="1">
                <a:latin typeface="黑体" panose="02010609060101010101" pitchFamily="49" charset="-122"/>
                <a:ea typeface="黑体" panose="02010609060101010101" pitchFamily="49" charset="-122"/>
              </a:rPr>
              <a:t>数</a:t>
            </a:r>
            <a:endParaRPr sz="6600" dirty="0">
              <a:latin typeface="黑体" panose="02010609060101010101" pitchFamily="49" charset="-122"/>
              <a:ea typeface="黑体" panose="02010609060101010101" pitchFamily="49"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20700" y="1119001"/>
            <a:ext cx="8177252" cy="4555901"/>
          </a:xfrm>
          <a:prstGeom prst="rect">
            <a:avLst/>
          </a:prstGeom>
        </p:spPr>
        <p:txBody>
          <a:bodyPr vert="horz" wrap="square" lIns="0" tIns="13500" rIns="0" bIns="0" rtlCol="0">
            <a:spAutoFit/>
          </a:bodyPr>
          <a:lstStyle/>
          <a:p>
            <a:pPr marL="40640">
              <a:spcBef>
                <a:spcPts val="600"/>
              </a:spcBef>
            </a:pPr>
            <a:r>
              <a:rPr sz="2800" b="1" spc="-5" dirty="0">
                <a:latin typeface="黑体" panose="02010609060101010101" pitchFamily="49" charset="-122"/>
                <a:ea typeface="黑体" panose="02010609060101010101" pitchFamily="49" charset="-122"/>
                <a:cs typeface="Times New Roman" panose="02020603050405020304" pitchFamily="18" charset="0"/>
              </a:rPr>
              <a:t>分</a:t>
            </a:r>
            <a:r>
              <a:rPr sz="2800" b="1" dirty="0">
                <a:latin typeface="黑体" panose="02010609060101010101" pitchFamily="49" charset="-122"/>
                <a:ea typeface="黑体" panose="02010609060101010101" pitchFamily="49" charset="-122"/>
                <a:cs typeface="Times New Roman" panose="02020603050405020304" pitchFamily="18" charset="0"/>
              </a:rPr>
              <a:t>治</a:t>
            </a:r>
            <a:r>
              <a:rPr sz="2800" b="1" spc="-5" dirty="0">
                <a:latin typeface="黑体" panose="02010609060101010101" pitchFamily="49" charset="-122"/>
                <a:ea typeface="黑体" panose="02010609060101010101" pitchFamily="49" charset="-122"/>
                <a:cs typeface="Times New Roman" panose="02020603050405020304" pitchFamily="18" charset="0"/>
              </a:rPr>
              <a:t>算法的时间复</a:t>
            </a:r>
            <a:r>
              <a:rPr sz="2800" b="1" dirty="0">
                <a:latin typeface="黑体" panose="02010609060101010101" pitchFamily="49" charset="-122"/>
                <a:ea typeface="黑体" panose="02010609060101010101" pitchFamily="49" charset="-122"/>
                <a:cs typeface="Times New Roman" panose="02020603050405020304" pitchFamily="18" charset="0"/>
              </a:rPr>
              <a:t>杂</a:t>
            </a:r>
            <a:r>
              <a:rPr sz="2800" b="1" spc="-5" dirty="0">
                <a:latin typeface="黑体" panose="02010609060101010101" pitchFamily="49" charset="-122"/>
                <a:ea typeface="黑体" panose="02010609060101010101" pitchFamily="49" charset="-122"/>
                <a:cs typeface="Times New Roman" panose="02020603050405020304" pitchFamily="18" charset="0"/>
              </a:rPr>
              <a:t>度方程</a:t>
            </a:r>
            <a:endParaRPr sz="2800" b="1" dirty="0">
              <a:latin typeface="黑体" panose="02010609060101010101" pitchFamily="49" charset="-122"/>
              <a:ea typeface="黑体" panose="02010609060101010101" pitchFamily="49" charset="-122"/>
              <a:cs typeface="Times New Roman" panose="02020603050405020304" pitchFamily="18" charset="0"/>
            </a:endParaRPr>
          </a:p>
          <a:p>
            <a:pPr algn="ctr">
              <a:spcBef>
                <a:spcPts val="600"/>
              </a:spcBef>
              <a:spcAft>
                <a:spcPts val="600"/>
              </a:spcAft>
            </a:pPr>
            <a:r>
              <a:rPr sz="2800" b="1" i="1" spc="-5" dirty="0">
                <a:latin typeface="Times New Roman" panose="02020603050405020304" pitchFamily="18" charset="0"/>
                <a:ea typeface="黑体" panose="02010609060101010101" pitchFamily="49" charset="-122"/>
                <a:cs typeface="Times New Roman" panose="02020603050405020304" pitchFamily="18" charset="0"/>
              </a:rPr>
              <a:t>W</a:t>
            </a:r>
            <a:r>
              <a:rPr sz="2800" b="1" spc="-5" dirty="0">
                <a:latin typeface="Times New Roman" panose="02020603050405020304" pitchFamily="18" charset="0"/>
                <a:ea typeface="黑体" panose="02010609060101010101" pitchFamily="49" charset="-122"/>
                <a:cs typeface="Times New Roman" panose="02020603050405020304" pitchFamily="18" charset="0"/>
              </a:rPr>
              <a:t>(</a:t>
            </a:r>
            <a:r>
              <a:rPr sz="2800" b="1" i="1" spc="-5" dirty="0">
                <a:latin typeface="Times New Roman" panose="02020603050405020304" pitchFamily="18" charset="0"/>
                <a:ea typeface="黑体" panose="02010609060101010101" pitchFamily="49" charset="-122"/>
                <a:cs typeface="Times New Roman" panose="02020603050405020304" pitchFamily="18" charset="0"/>
              </a:rPr>
              <a:t>n</a:t>
            </a:r>
            <a:r>
              <a:rPr sz="2800" b="1" spc="-5"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aW</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sz="2800" b="1" i="1" dirty="0">
                <a:latin typeface="Times New Roman" panose="02020603050405020304" pitchFamily="18" charset="0"/>
                <a:ea typeface="黑体" panose="02010609060101010101" pitchFamily="49" charset="-122"/>
                <a:cs typeface="Times New Roman" panose="02020603050405020304" pitchFamily="18" charset="0"/>
              </a:rPr>
              <a:t>n</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sz="2800" b="1" i="1" dirty="0">
                <a:latin typeface="Times New Roman" panose="02020603050405020304" pitchFamily="18" charset="0"/>
                <a:ea typeface="黑体" panose="02010609060101010101" pitchFamily="49" charset="-122"/>
                <a:cs typeface="Times New Roman" panose="02020603050405020304" pitchFamily="18" charset="0"/>
              </a:rPr>
              <a:t>b</a:t>
            </a:r>
            <a:r>
              <a:rPr sz="2800" b="1" dirty="0">
                <a:latin typeface="Times New Roman" panose="02020603050405020304" pitchFamily="18" charset="0"/>
                <a:ea typeface="黑体" panose="02010609060101010101" pitchFamily="49" charset="-122"/>
                <a:cs typeface="Times New Roman" panose="02020603050405020304" pitchFamily="18" charset="0"/>
              </a:rPr>
              <a:t>) +</a:t>
            </a:r>
            <a:r>
              <a:rPr sz="2800" b="1" spc="-16" dirty="0">
                <a:latin typeface="Times New Roman" panose="02020603050405020304" pitchFamily="18" charset="0"/>
                <a:ea typeface="黑体" panose="02010609060101010101" pitchFamily="49" charset="-122"/>
                <a:cs typeface="Times New Roman" panose="02020603050405020304" pitchFamily="18" charset="0"/>
              </a:rPr>
              <a:t> </a:t>
            </a:r>
            <a:r>
              <a:rPr sz="2800" b="1" i="1" spc="-5" dirty="0">
                <a:latin typeface="Times New Roman" panose="02020603050405020304" pitchFamily="18" charset="0"/>
                <a:ea typeface="黑体" panose="02010609060101010101" pitchFamily="49" charset="-122"/>
                <a:cs typeface="Times New Roman" panose="02020603050405020304" pitchFamily="18" charset="0"/>
              </a:rPr>
              <a:t>d</a:t>
            </a:r>
            <a:r>
              <a:rPr sz="2800" b="1" spc="-5" dirty="0">
                <a:latin typeface="Times New Roman" panose="02020603050405020304" pitchFamily="18" charset="0"/>
                <a:ea typeface="黑体" panose="02010609060101010101" pitchFamily="49" charset="-122"/>
                <a:cs typeface="Times New Roman" panose="02020603050405020304" pitchFamily="18" charset="0"/>
              </a:rPr>
              <a:t>(</a:t>
            </a:r>
            <a:r>
              <a:rPr sz="2800" b="1" i="1" spc="-5" dirty="0">
                <a:latin typeface="Times New Roman" panose="02020603050405020304" pitchFamily="18" charset="0"/>
                <a:ea typeface="黑体" panose="02010609060101010101" pitchFamily="49" charset="-122"/>
                <a:cs typeface="Times New Roman" panose="02020603050405020304" pitchFamily="18" charset="0"/>
              </a:rPr>
              <a:t>n</a:t>
            </a:r>
            <a:r>
              <a:rPr sz="2800" b="1" spc="-5" dirty="0">
                <a:latin typeface="Times New Roman" panose="02020603050405020304" pitchFamily="18" charset="0"/>
                <a:ea typeface="黑体" panose="02010609060101010101" pitchFamily="49" charset="-122"/>
                <a:cs typeface="Times New Roman" panose="02020603050405020304" pitchFamily="18" charset="0"/>
              </a:rPr>
              <a:t>)</a:t>
            </a:r>
            <a:endParaRPr sz="2800" b="1" dirty="0">
              <a:latin typeface="Times New Roman" panose="02020603050405020304" pitchFamily="18" charset="0"/>
              <a:ea typeface="黑体" panose="02010609060101010101" pitchFamily="49" charset="-122"/>
              <a:cs typeface="Times New Roman" panose="02020603050405020304" pitchFamily="18" charset="0"/>
            </a:endParaRPr>
          </a:p>
          <a:p>
            <a:pPr marL="1571625" marR="32385" indent="-1531620">
              <a:spcBef>
                <a:spcPts val="600"/>
              </a:spcBef>
            </a:pPr>
            <a:r>
              <a:rPr lang="en-US" altLang="zh-CN" sz="2400" b="1" spc="-11"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b="1" spc="-11" dirty="0">
                <a:latin typeface="Times New Roman" panose="02020603050405020304" pitchFamily="18" charset="0"/>
                <a:ea typeface="黑体" panose="02010609060101010101" pitchFamily="49" charset="-122"/>
                <a:cs typeface="Times New Roman" panose="02020603050405020304" pitchFamily="18" charset="0"/>
              </a:rPr>
              <a:t>子问题数，</a:t>
            </a:r>
            <a:r>
              <a:rPr lang="en-US" altLang="zh-CN" sz="2400" b="1" spc="-11" dirty="0">
                <a:latin typeface="Times New Roman" panose="02020603050405020304" pitchFamily="18" charset="0"/>
                <a:ea typeface="黑体" panose="02010609060101010101" pitchFamily="49" charset="-122"/>
                <a:cs typeface="Times New Roman" panose="02020603050405020304" pitchFamily="18" charset="0"/>
              </a:rPr>
              <a:t>n/b:</a:t>
            </a:r>
            <a:r>
              <a:rPr lang="zh-CN" altLang="en-US" sz="2400" b="1" spc="-11" dirty="0">
                <a:latin typeface="Times New Roman" panose="02020603050405020304" pitchFamily="18" charset="0"/>
                <a:ea typeface="黑体" panose="02010609060101010101" pitchFamily="49" charset="-122"/>
                <a:cs typeface="Times New Roman" panose="02020603050405020304" pitchFamily="18" charset="0"/>
              </a:rPr>
              <a:t>子问题规模，</a:t>
            </a:r>
            <a:r>
              <a:rPr lang="en-US" altLang="zh-CN" sz="2400" b="1" spc="-11" dirty="0">
                <a:latin typeface="Times New Roman" panose="02020603050405020304" pitchFamily="18" charset="0"/>
                <a:ea typeface="黑体" panose="02010609060101010101" pitchFamily="49" charset="-122"/>
                <a:cs typeface="Times New Roman" panose="02020603050405020304" pitchFamily="18" charset="0"/>
              </a:rPr>
              <a:t>d(n):</a:t>
            </a:r>
            <a:r>
              <a:rPr lang="zh-CN" altLang="en-US" sz="2400" b="1" spc="-11" dirty="0">
                <a:latin typeface="Times New Roman" panose="02020603050405020304" pitchFamily="18" charset="0"/>
                <a:ea typeface="黑体" panose="02010609060101010101" pitchFamily="49" charset="-122"/>
                <a:cs typeface="Times New Roman" panose="02020603050405020304" pitchFamily="18" charset="0"/>
              </a:rPr>
              <a:t>划分与综合工作量</a:t>
            </a:r>
            <a:r>
              <a:rPr lang="en-US" altLang="zh-CN" sz="2400" b="1" spc="-1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b="1" spc="-11" dirty="0">
              <a:latin typeface="Times New Roman" panose="02020603050405020304" pitchFamily="18" charset="0"/>
              <a:ea typeface="黑体" panose="02010609060101010101" pitchFamily="49" charset="-122"/>
              <a:cs typeface="Times New Roman" panose="02020603050405020304" pitchFamily="18" charset="0"/>
            </a:endParaRPr>
          </a:p>
          <a:p>
            <a:pPr marL="1571625" marR="32385" indent="-1531620">
              <a:spcBef>
                <a:spcPts val="600"/>
              </a:spcBef>
            </a:pPr>
            <a:r>
              <a:rPr sz="2400" b="1" spc="-11" dirty="0" err="1">
                <a:latin typeface="Times New Roman" panose="02020603050405020304" pitchFamily="18" charset="0"/>
                <a:ea typeface="黑体" panose="02010609060101010101" pitchFamily="49" charset="-122"/>
                <a:cs typeface="Times New Roman" panose="02020603050405020304" pitchFamily="18" charset="0"/>
              </a:rPr>
              <a:t>当</a:t>
            </a:r>
            <a:r>
              <a:rPr sz="2400" b="1" i="1" dirty="0" err="1">
                <a:latin typeface="Times New Roman" panose="02020603050405020304" pitchFamily="18" charset="0"/>
                <a:ea typeface="黑体" panose="02010609060101010101" pitchFamily="49" charset="-122"/>
                <a:cs typeface="Times New Roman" panose="02020603050405020304" pitchFamily="18" charset="0"/>
              </a:rPr>
              <a:t>a</a:t>
            </a:r>
            <a:r>
              <a:rPr sz="2400" b="1" dirty="0" err="1">
                <a:latin typeface="Times New Roman" panose="02020603050405020304" pitchFamily="18" charset="0"/>
                <a:ea typeface="黑体" panose="02010609060101010101" pitchFamily="49" charset="-122"/>
                <a:cs typeface="Times New Roman" panose="02020603050405020304" pitchFamily="18" charset="0"/>
              </a:rPr>
              <a:t>较大,</a:t>
            </a:r>
            <a:r>
              <a:rPr sz="2400" b="1" i="1" dirty="0" err="1">
                <a:latin typeface="Times New Roman" panose="02020603050405020304" pitchFamily="18" charset="0"/>
                <a:ea typeface="黑体" panose="02010609060101010101" pitchFamily="49" charset="-122"/>
                <a:cs typeface="Times New Roman" panose="02020603050405020304" pitchFamily="18" charset="0"/>
              </a:rPr>
              <a:t>b</a:t>
            </a:r>
            <a:r>
              <a:rPr sz="2400" b="1" dirty="0" err="1">
                <a:latin typeface="Times New Roman" panose="02020603050405020304" pitchFamily="18" charset="0"/>
                <a:ea typeface="黑体" panose="02010609060101010101" pitchFamily="49" charset="-122"/>
                <a:cs typeface="Times New Roman" panose="02020603050405020304" pitchFamily="18" charset="0"/>
              </a:rPr>
              <a:t>较小,</a:t>
            </a:r>
            <a:r>
              <a:rPr sz="2400" b="1" i="1" spc="-5" dirty="0" err="1">
                <a:latin typeface="Times New Roman" panose="02020603050405020304" pitchFamily="18" charset="0"/>
                <a:ea typeface="黑体" panose="02010609060101010101" pitchFamily="49" charset="-122"/>
                <a:cs typeface="Times New Roman" panose="02020603050405020304" pitchFamily="18" charset="0"/>
              </a:rPr>
              <a:t>d</a:t>
            </a:r>
            <a:r>
              <a:rPr sz="2400" b="1" spc="-5" dirty="0">
                <a:latin typeface="Times New Roman" panose="02020603050405020304" pitchFamily="18" charset="0"/>
                <a:ea typeface="黑体" panose="02010609060101010101" pitchFamily="49" charset="-122"/>
                <a:cs typeface="Times New Roman" panose="02020603050405020304" pitchFamily="18" charset="0"/>
              </a:rPr>
              <a:t>(</a:t>
            </a:r>
            <a:r>
              <a:rPr sz="2400" b="1" i="1" spc="-5" dirty="0">
                <a:latin typeface="Times New Roman" panose="02020603050405020304" pitchFamily="18" charset="0"/>
                <a:ea typeface="黑体" panose="02010609060101010101" pitchFamily="49" charset="-122"/>
                <a:cs typeface="Times New Roman" panose="02020603050405020304" pitchFamily="18" charset="0"/>
              </a:rPr>
              <a:t>n</a:t>
            </a:r>
            <a:r>
              <a:rPr sz="2400" b="1" spc="-5" dirty="0">
                <a:latin typeface="Times New Roman" panose="02020603050405020304" pitchFamily="18" charset="0"/>
                <a:ea typeface="黑体" panose="02010609060101010101" pitchFamily="49" charset="-122"/>
                <a:cs typeface="Times New Roman" panose="02020603050405020304" pitchFamily="18" charset="0"/>
              </a:rPr>
              <a:t>)</a:t>
            </a:r>
            <a:r>
              <a:rPr sz="2400" b="1" dirty="0" err="1">
                <a:latin typeface="Times New Roman" panose="02020603050405020304" pitchFamily="18" charset="0"/>
                <a:ea typeface="黑体" panose="02010609060101010101" pitchFamily="49" charset="-122"/>
                <a:cs typeface="Times New Roman" panose="02020603050405020304" pitchFamily="18" charset="0"/>
              </a:rPr>
              <a:t>不大时,方程的解</a:t>
            </a:r>
            <a:r>
              <a:rPr sz="2400" b="1" dirty="0">
                <a:latin typeface="Times New Roman" panose="02020603050405020304" pitchFamily="18" charset="0"/>
                <a:ea typeface="黑体" panose="02010609060101010101" pitchFamily="49" charset="-122"/>
                <a:cs typeface="Times New Roman" panose="02020603050405020304" pitchFamily="18" charset="0"/>
              </a:rPr>
              <a:t>：</a:t>
            </a:r>
            <a:endParaRPr lang="en-US" sz="2400" b="1" dirty="0">
              <a:latin typeface="Times New Roman" panose="02020603050405020304" pitchFamily="18" charset="0"/>
              <a:ea typeface="黑体" panose="02010609060101010101" pitchFamily="49" charset="-122"/>
              <a:cs typeface="Times New Roman" panose="02020603050405020304" pitchFamily="18" charset="0"/>
            </a:endParaRPr>
          </a:p>
          <a:p>
            <a:pPr marL="1571625" marR="32385" indent="-1531620">
              <a:spcBef>
                <a:spcPts val="3000"/>
              </a:spcBef>
            </a:pPr>
            <a:r>
              <a:rPr sz="2800" b="1" spc="-5"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减</a:t>
            </a:r>
            <a:r>
              <a:rPr sz="28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少</a:t>
            </a:r>
            <a:r>
              <a:rPr sz="2800" b="1" i="1" spc="-5"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a:t>
            </a:r>
            <a:r>
              <a:rPr sz="2800" b="1" spc="-5"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是降低函数</a:t>
            </a:r>
            <a:r>
              <a:rPr sz="2800" b="1" i="1" spc="-5"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W</a:t>
            </a:r>
            <a:r>
              <a:rPr sz="2800" b="1" spc="-5"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spc="-5"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n</a:t>
            </a:r>
            <a:r>
              <a:rPr sz="2800" b="1" spc="-5"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sz="2800" b="1" spc="-5"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的阶的途</a:t>
            </a:r>
            <a:r>
              <a:rPr sz="2800" b="1"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径</a:t>
            </a:r>
            <a:r>
              <a:rPr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endParaRPr lang="en-US"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marL="40640" algn="just">
              <a:spcBef>
                <a:spcPts val="3000"/>
              </a:spcBef>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利用子问题的依赖关系，使某些子问题的解通过组合其他子问题的解而得到</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a:p>
            <a:pPr marL="40640">
              <a:spcBef>
                <a:spcPts val="1060"/>
              </a:spcBef>
            </a:pPr>
            <a:endParaRPr sz="2800" dirty="0">
              <a:latin typeface="Times New Roman" panose="02020603050405020304"/>
              <a:cs typeface="Times New Roman" panose="02020603050405020304"/>
            </a:endParaRPr>
          </a:p>
        </p:txBody>
      </p:sp>
      <p:sp>
        <p:nvSpPr>
          <p:cNvPr id="6" name="object 3"/>
          <p:cNvSpPr txBox="1"/>
          <p:nvPr/>
        </p:nvSpPr>
        <p:spPr>
          <a:xfrm>
            <a:off x="273268" y="-18627"/>
            <a:ext cx="8870732" cy="693353"/>
          </a:xfrm>
          <a:prstGeom prst="rect">
            <a:avLst/>
          </a:prstGeom>
        </p:spPr>
        <p:txBody>
          <a:bodyPr vert="horz" wrap="square" lIns="0" tIns="16087" rIns="0" bIns="0" rtlCol="0" anchor="ctr">
            <a:spAutoFit/>
          </a:bodyPr>
          <a:lstStyle>
            <a:lvl1pPr algn="l" defTabSz="864235" rtl="0" eaLnBrk="1" latinLnBrk="0" hangingPunct="1">
              <a:lnSpc>
                <a:spcPct val="90000"/>
              </a:lnSpc>
              <a:spcBef>
                <a:spcPct val="0"/>
              </a:spcBef>
              <a:buNone/>
              <a:defRPr sz="4250" b="1" i="0" kern="1200">
                <a:solidFill>
                  <a:srgbClr val="C00000"/>
                </a:solidFill>
                <a:latin typeface="宋体" panose="02010600030101010101" pitchFamily="2" charset="-122"/>
                <a:ea typeface="+mj-ea"/>
                <a:cs typeface="宋体" panose="02010600030101010101" pitchFamily="2" charset="-122"/>
              </a:defRPr>
            </a:lvl1pPr>
          </a:lstStyle>
          <a:p>
            <a:pPr marL="17145" algn="ctr">
              <a:lnSpc>
                <a:spcPct val="100000"/>
              </a:lnSpc>
              <a:spcBef>
                <a:spcPts val="125"/>
              </a:spcBef>
            </a:pPr>
            <a:r>
              <a:rPr lang="zh-CN" altLang="en-US" sz="4400" spc="-13" dirty="0">
                <a:latin typeface="黑体" panose="02010609060101010101" pitchFamily="49" charset="-122"/>
                <a:ea typeface="黑体" panose="02010609060101010101" pitchFamily="49" charset="-122"/>
              </a:rPr>
              <a:t>减少子问题个数的依据</a:t>
            </a:r>
            <a:endParaRPr lang="zh-CN" altLang="en-US" sz="4400" spc="-13" dirty="0">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2" name="文本框 1"/>
              <p:cNvSpPr txBox="1"/>
              <p:nvPr/>
            </p:nvSpPr>
            <p:spPr>
              <a:xfrm>
                <a:off x="5526029" y="2634239"/>
                <a:ext cx="2340769" cy="38324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sz="2400" b="1" i="1">
                          <a:latin typeface="Cambria Math" panose="02040503050406030204" pitchFamily="18" charset="0"/>
                        </a:rPr>
                        <m:t>𝑾</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𝒏</m:t>
                          </m:r>
                        </m:e>
                      </m:d>
                      <m:r>
                        <a:rPr lang="en-US" altLang="zh-CN" sz="2400" b="1" i="1">
                          <a:latin typeface="Cambria Math" panose="02040503050406030204" pitchFamily="18" charset="0"/>
                        </a:rPr>
                        <m:t>=(</m:t>
                      </m:r>
                      <m:sSup>
                        <m:sSupPr>
                          <m:ctrlPr>
                            <a:rPr lang="en-US" altLang="zh-CN" sz="2400" b="1" i="1">
                              <a:latin typeface="Cambria Math" panose="02040503050406030204" pitchFamily="18" charset="0"/>
                            </a:rPr>
                          </m:ctrlPr>
                        </m:sSupPr>
                        <m:e>
                          <m:r>
                            <a:rPr lang="en-US" altLang="zh-CN" sz="2400" b="1" i="1">
                              <a:latin typeface="Cambria Math" panose="02040503050406030204" pitchFamily="18" charset="0"/>
                            </a:rPr>
                            <m:t>𝒏</m:t>
                          </m:r>
                        </m:e>
                        <m:sup>
                          <m:func>
                            <m:funcPr>
                              <m:ctrlPr>
                                <a:rPr lang="en-US" altLang="zh-CN" sz="2400" b="1" i="1">
                                  <a:latin typeface="Cambria Math" panose="02040503050406030204" pitchFamily="18" charset="0"/>
                                </a:rPr>
                              </m:ctrlPr>
                            </m:funcPr>
                            <m:fName>
                              <m:sSub>
                                <m:sSubPr>
                                  <m:ctrlPr>
                                    <a:rPr lang="en-US" altLang="zh-CN" sz="2400" b="1" i="1">
                                      <a:latin typeface="Cambria Math" panose="02040503050406030204" pitchFamily="18" charset="0"/>
                                    </a:rPr>
                                  </m:ctrlPr>
                                </m:sSubPr>
                                <m:e>
                                  <m:r>
                                    <a:rPr lang="en-US" altLang="zh-CN" sz="2400" b="1">
                                      <a:latin typeface="Cambria Math" panose="02040503050406030204" pitchFamily="18" charset="0"/>
                                    </a:rPr>
                                    <m:t>𝐥𝐨𝐠</m:t>
                                  </m:r>
                                </m:e>
                                <m:sub>
                                  <m:r>
                                    <a:rPr lang="en-US" altLang="zh-CN" sz="2400" b="1" i="1">
                                      <a:latin typeface="Cambria Math" panose="02040503050406030204" pitchFamily="18" charset="0"/>
                                    </a:rPr>
                                    <m:t>𝒃</m:t>
                                  </m:r>
                                </m:sub>
                              </m:sSub>
                            </m:fName>
                            <m:e>
                              <m:r>
                                <a:rPr lang="en-US" altLang="zh-CN" sz="2400" b="1" i="1">
                                  <a:latin typeface="Cambria Math" panose="02040503050406030204" pitchFamily="18" charset="0"/>
                                </a:rPr>
                                <m:t>𝒂</m:t>
                              </m:r>
                            </m:e>
                          </m:func>
                        </m:sup>
                      </m:sSup>
                      <m:r>
                        <a:rPr lang="en-US" altLang="zh-CN" sz="2400" b="1" i="1">
                          <a:latin typeface="Cambria Math" panose="02040503050406030204" pitchFamily="18" charset="0"/>
                        </a:rPr>
                        <m:t>)</m:t>
                      </m:r>
                    </m:oMath>
                  </m:oMathPara>
                </a14:m>
                <a:endParaRPr lang="zh-CN" altLang="en-US" sz="2400" b="1" dirty="0"/>
              </a:p>
            </p:txBody>
          </p:sp>
        </mc:Choice>
        <mc:Fallback>
          <p:sp>
            <p:nvSpPr>
              <p:cNvPr id="2" name="文本框 1"/>
              <p:cNvSpPr txBox="1">
                <a:spLocks noRot="1" noChangeAspect="1" noMove="1" noResize="1" noEditPoints="1" noAdjustHandles="1" noChangeArrowheads="1" noChangeShapeType="1" noTextEdit="1"/>
              </p:cNvSpPr>
              <p:nvPr/>
            </p:nvSpPr>
            <p:spPr>
              <a:xfrm>
                <a:off x="5526029" y="2634239"/>
                <a:ext cx="2340769" cy="383246"/>
              </a:xfrm>
              <a:prstGeom prst="rect">
                <a:avLst/>
              </a:prstGeom>
              <a:blipFill rotWithShape="1">
                <a:blip r:embed="rId1"/>
                <a:stretch>
                  <a:fillRect l="-11" t="-68" r="-633" b="15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023" y="45671"/>
            <a:ext cx="8921116" cy="690059"/>
          </a:xfrm>
          <a:prstGeom prst="rect">
            <a:avLst/>
          </a:prstGeom>
        </p:spPr>
        <p:txBody>
          <a:bodyPr vert="horz" wrap="square" lIns="0" tIns="12825" rIns="0" bIns="0" rtlCol="0" anchor="ctr">
            <a:spAutoFit/>
          </a:bodyPr>
          <a:lstStyle/>
          <a:p>
            <a:pPr marL="13335" algn="ctr">
              <a:lnSpc>
                <a:spcPct val="100000"/>
              </a:lnSpc>
              <a:spcBef>
                <a:spcPts val="100"/>
              </a:spcBef>
            </a:pPr>
            <a:r>
              <a:rPr sz="4400" b="1" spc="-16" dirty="0">
                <a:solidFill>
                  <a:srgbClr val="C00000"/>
                </a:solidFill>
                <a:latin typeface="黑体" panose="02010609060101010101" pitchFamily="49" charset="-122"/>
                <a:ea typeface="黑体" panose="02010609060101010101" pitchFamily="49" charset="-122"/>
              </a:rPr>
              <a:t>例</a:t>
            </a:r>
            <a:r>
              <a:rPr sz="4400" b="1" spc="-11" dirty="0">
                <a:solidFill>
                  <a:srgbClr val="C00000"/>
                </a:solidFill>
                <a:latin typeface="黑体" panose="02010609060101010101" pitchFamily="49" charset="-122"/>
                <a:ea typeface="黑体" panose="02010609060101010101" pitchFamily="49" charset="-122"/>
              </a:rPr>
              <a:t>1：</a:t>
            </a:r>
            <a:r>
              <a:rPr sz="4400" b="1" spc="-16" dirty="0">
                <a:solidFill>
                  <a:srgbClr val="C00000"/>
                </a:solidFill>
                <a:latin typeface="黑体" panose="02010609060101010101" pitchFamily="49" charset="-122"/>
                <a:ea typeface="黑体" panose="02010609060101010101" pitchFamily="49" charset="-122"/>
              </a:rPr>
              <a:t>整数位乘问题</a:t>
            </a:r>
            <a:endParaRPr sz="4400" b="1" spc="-16" dirty="0">
              <a:solidFill>
                <a:srgbClr val="C00000"/>
              </a:solidFill>
              <a:latin typeface="黑体" panose="02010609060101010101" pitchFamily="49" charset="-122"/>
              <a:ea typeface="黑体" panose="02010609060101010101" pitchFamily="49" charset="-122"/>
            </a:endParaRPr>
          </a:p>
        </p:txBody>
      </p:sp>
      <p:sp>
        <p:nvSpPr>
          <p:cNvPr id="3" name="object 3"/>
          <p:cNvSpPr/>
          <p:nvPr/>
        </p:nvSpPr>
        <p:spPr>
          <a:xfrm>
            <a:off x="1830505" y="4214462"/>
            <a:ext cx="1397288" cy="243007"/>
          </a:xfrm>
          <a:custGeom>
            <a:avLst/>
            <a:gdLst/>
            <a:ahLst/>
            <a:cxnLst/>
            <a:rect l="l" t="t" r="r" b="b"/>
            <a:pathLst>
              <a:path w="1314450" h="228600">
                <a:moveTo>
                  <a:pt x="0" y="228600"/>
                </a:moveTo>
                <a:lnTo>
                  <a:pt x="1314450" y="228600"/>
                </a:lnTo>
                <a:lnTo>
                  <a:pt x="1314450" y="0"/>
                </a:lnTo>
                <a:lnTo>
                  <a:pt x="0" y="0"/>
                </a:lnTo>
                <a:lnTo>
                  <a:pt x="0" y="228600"/>
                </a:lnTo>
                <a:close/>
              </a:path>
            </a:pathLst>
          </a:custGeom>
          <a:solidFill>
            <a:srgbClr val="B7DEE8"/>
          </a:solidFill>
        </p:spPr>
        <p:txBody>
          <a:bodyPr wrap="square" lIns="0" tIns="0" rIns="0" bIns="0" rtlCol="0"/>
          <a:lstStyle/>
          <a:p>
            <a:endParaRPr sz="1625"/>
          </a:p>
        </p:txBody>
      </p:sp>
      <p:sp>
        <p:nvSpPr>
          <p:cNvPr id="4" name="object 4"/>
          <p:cNvSpPr/>
          <p:nvPr/>
        </p:nvSpPr>
        <p:spPr>
          <a:xfrm>
            <a:off x="1830505" y="4214462"/>
            <a:ext cx="1397288" cy="243007"/>
          </a:xfrm>
          <a:custGeom>
            <a:avLst/>
            <a:gdLst/>
            <a:ahLst/>
            <a:cxnLst/>
            <a:rect l="l" t="t" r="r" b="b"/>
            <a:pathLst>
              <a:path w="1314450" h="228600">
                <a:moveTo>
                  <a:pt x="0" y="228600"/>
                </a:moveTo>
                <a:lnTo>
                  <a:pt x="1314450" y="228600"/>
                </a:lnTo>
                <a:lnTo>
                  <a:pt x="1314450" y="0"/>
                </a:lnTo>
                <a:lnTo>
                  <a:pt x="0" y="0"/>
                </a:lnTo>
                <a:lnTo>
                  <a:pt x="0" y="228600"/>
                </a:lnTo>
                <a:close/>
              </a:path>
            </a:pathLst>
          </a:custGeom>
          <a:ln w="25400">
            <a:solidFill>
              <a:srgbClr val="006FC0"/>
            </a:solidFill>
          </a:ln>
        </p:spPr>
        <p:txBody>
          <a:bodyPr wrap="square" lIns="0" tIns="0" rIns="0" bIns="0" rtlCol="0"/>
          <a:lstStyle/>
          <a:p>
            <a:endParaRPr sz="1625"/>
          </a:p>
        </p:txBody>
      </p:sp>
      <p:sp>
        <p:nvSpPr>
          <p:cNvPr id="5" name="object 5"/>
          <p:cNvSpPr/>
          <p:nvPr/>
        </p:nvSpPr>
        <p:spPr>
          <a:xfrm>
            <a:off x="3227794" y="4214462"/>
            <a:ext cx="1356787" cy="243007"/>
          </a:xfrm>
          <a:custGeom>
            <a:avLst/>
            <a:gdLst/>
            <a:ahLst/>
            <a:cxnLst/>
            <a:rect l="l" t="t" r="r" b="b"/>
            <a:pathLst>
              <a:path w="1276350" h="228600">
                <a:moveTo>
                  <a:pt x="0" y="228600"/>
                </a:moveTo>
                <a:lnTo>
                  <a:pt x="1276350" y="228600"/>
                </a:lnTo>
                <a:lnTo>
                  <a:pt x="1276350" y="0"/>
                </a:lnTo>
                <a:lnTo>
                  <a:pt x="0" y="0"/>
                </a:lnTo>
                <a:lnTo>
                  <a:pt x="0" y="228600"/>
                </a:lnTo>
                <a:close/>
              </a:path>
            </a:pathLst>
          </a:custGeom>
          <a:solidFill>
            <a:srgbClr val="B7DEE8"/>
          </a:solidFill>
        </p:spPr>
        <p:txBody>
          <a:bodyPr wrap="square" lIns="0" tIns="0" rIns="0" bIns="0" rtlCol="0"/>
          <a:lstStyle/>
          <a:p>
            <a:endParaRPr sz="1625"/>
          </a:p>
        </p:txBody>
      </p:sp>
      <p:sp>
        <p:nvSpPr>
          <p:cNvPr id="6" name="object 6"/>
          <p:cNvSpPr/>
          <p:nvPr/>
        </p:nvSpPr>
        <p:spPr>
          <a:xfrm>
            <a:off x="3227794" y="4214462"/>
            <a:ext cx="1356787" cy="243007"/>
          </a:xfrm>
          <a:custGeom>
            <a:avLst/>
            <a:gdLst/>
            <a:ahLst/>
            <a:cxnLst/>
            <a:rect l="l" t="t" r="r" b="b"/>
            <a:pathLst>
              <a:path w="1276350" h="228600">
                <a:moveTo>
                  <a:pt x="0" y="228600"/>
                </a:moveTo>
                <a:lnTo>
                  <a:pt x="1276350" y="228600"/>
                </a:lnTo>
                <a:lnTo>
                  <a:pt x="1276350" y="0"/>
                </a:lnTo>
                <a:lnTo>
                  <a:pt x="0" y="0"/>
                </a:lnTo>
                <a:lnTo>
                  <a:pt x="0" y="228600"/>
                </a:lnTo>
                <a:close/>
              </a:path>
            </a:pathLst>
          </a:custGeom>
          <a:ln w="25400">
            <a:solidFill>
              <a:srgbClr val="006FC0"/>
            </a:solidFill>
          </a:ln>
        </p:spPr>
        <p:txBody>
          <a:bodyPr wrap="square" lIns="0" tIns="0" rIns="0" bIns="0" rtlCol="0"/>
          <a:lstStyle/>
          <a:p>
            <a:endParaRPr sz="1625"/>
          </a:p>
        </p:txBody>
      </p:sp>
      <p:sp>
        <p:nvSpPr>
          <p:cNvPr id="7" name="object 7"/>
          <p:cNvSpPr/>
          <p:nvPr/>
        </p:nvSpPr>
        <p:spPr>
          <a:xfrm>
            <a:off x="1830505" y="4619473"/>
            <a:ext cx="1397288" cy="243007"/>
          </a:xfrm>
          <a:custGeom>
            <a:avLst/>
            <a:gdLst/>
            <a:ahLst/>
            <a:cxnLst/>
            <a:rect l="l" t="t" r="r" b="b"/>
            <a:pathLst>
              <a:path w="1314450" h="228600">
                <a:moveTo>
                  <a:pt x="0" y="228600"/>
                </a:moveTo>
                <a:lnTo>
                  <a:pt x="1314450" y="228600"/>
                </a:lnTo>
                <a:lnTo>
                  <a:pt x="1314450" y="0"/>
                </a:lnTo>
                <a:lnTo>
                  <a:pt x="0" y="0"/>
                </a:lnTo>
                <a:lnTo>
                  <a:pt x="0" y="228600"/>
                </a:lnTo>
                <a:close/>
              </a:path>
            </a:pathLst>
          </a:custGeom>
          <a:solidFill>
            <a:srgbClr val="B7DEE8"/>
          </a:solidFill>
        </p:spPr>
        <p:txBody>
          <a:bodyPr wrap="square" lIns="0" tIns="0" rIns="0" bIns="0" rtlCol="0"/>
          <a:lstStyle/>
          <a:p>
            <a:endParaRPr sz="1625"/>
          </a:p>
        </p:txBody>
      </p:sp>
      <p:sp>
        <p:nvSpPr>
          <p:cNvPr id="8" name="object 8"/>
          <p:cNvSpPr/>
          <p:nvPr/>
        </p:nvSpPr>
        <p:spPr>
          <a:xfrm>
            <a:off x="1830505" y="4619473"/>
            <a:ext cx="1397288" cy="243007"/>
          </a:xfrm>
          <a:custGeom>
            <a:avLst/>
            <a:gdLst/>
            <a:ahLst/>
            <a:cxnLst/>
            <a:rect l="l" t="t" r="r" b="b"/>
            <a:pathLst>
              <a:path w="1314450" h="228600">
                <a:moveTo>
                  <a:pt x="0" y="228600"/>
                </a:moveTo>
                <a:lnTo>
                  <a:pt x="1314450" y="228600"/>
                </a:lnTo>
                <a:lnTo>
                  <a:pt x="1314450" y="0"/>
                </a:lnTo>
                <a:lnTo>
                  <a:pt x="0" y="0"/>
                </a:lnTo>
                <a:lnTo>
                  <a:pt x="0" y="228600"/>
                </a:lnTo>
                <a:close/>
              </a:path>
            </a:pathLst>
          </a:custGeom>
          <a:ln w="25400">
            <a:solidFill>
              <a:srgbClr val="006FC0"/>
            </a:solidFill>
          </a:ln>
        </p:spPr>
        <p:txBody>
          <a:bodyPr wrap="square" lIns="0" tIns="0" rIns="0" bIns="0" rtlCol="0"/>
          <a:lstStyle/>
          <a:p>
            <a:endParaRPr sz="1625"/>
          </a:p>
        </p:txBody>
      </p:sp>
      <p:sp>
        <p:nvSpPr>
          <p:cNvPr id="9" name="object 9"/>
          <p:cNvSpPr/>
          <p:nvPr/>
        </p:nvSpPr>
        <p:spPr>
          <a:xfrm>
            <a:off x="3227794" y="4619473"/>
            <a:ext cx="1356787" cy="243007"/>
          </a:xfrm>
          <a:custGeom>
            <a:avLst/>
            <a:gdLst/>
            <a:ahLst/>
            <a:cxnLst/>
            <a:rect l="l" t="t" r="r" b="b"/>
            <a:pathLst>
              <a:path w="1276350" h="228600">
                <a:moveTo>
                  <a:pt x="0" y="228600"/>
                </a:moveTo>
                <a:lnTo>
                  <a:pt x="1276350" y="228600"/>
                </a:lnTo>
                <a:lnTo>
                  <a:pt x="1276350" y="0"/>
                </a:lnTo>
                <a:lnTo>
                  <a:pt x="0" y="0"/>
                </a:lnTo>
                <a:lnTo>
                  <a:pt x="0" y="228600"/>
                </a:lnTo>
                <a:close/>
              </a:path>
            </a:pathLst>
          </a:custGeom>
          <a:solidFill>
            <a:srgbClr val="B7DEE8"/>
          </a:solidFill>
        </p:spPr>
        <p:txBody>
          <a:bodyPr wrap="square" lIns="0" tIns="0" rIns="0" bIns="0" rtlCol="0"/>
          <a:lstStyle/>
          <a:p>
            <a:endParaRPr sz="1625"/>
          </a:p>
        </p:txBody>
      </p:sp>
      <p:sp>
        <p:nvSpPr>
          <p:cNvPr id="10" name="object 10"/>
          <p:cNvSpPr/>
          <p:nvPr/>
        </p:nvSpPr>
        <p:spPr>
          <a:xfrm>
            <a:off x="3227794" y="4619473"/>
            <a:ext cx="1356787" cy="243007"/>
          </a:xfrm>
          <a:custGeom>
            <a:avLst/>
            <a:gdLst/>
            <a:ahLst/>
            <a:cxnLst/>
            <a:rect l="l" t="t" r="r" b="b"/>
            <a:pathLst>
              <a:path w="1276350" h="228600">
                <a:moveTo>
                  <a:pt x="0" y="228600"/>
                </a:moveTo>
                <a:lnTo>
                  <a:pt x="1276350" y="228600"/>
                </a:lnTo>
                <a:lnTo>
                  <a:pt x="1276350" y="0"/>
                </a:lnTo>
                <a:lnTo>
                  <a:pt x="0" y="0"/>
                </a:lnTo>
                <a:lnTo>
                  <a:pt x="0" y="228600"/>
                </a:lnTo>
                <a:close/>
              </a:path>
            </a:pathLst>
          </a:custGeom>
          <a:ln w="25400">
            <a:solidFill>
              <a:srgbClr val="006FC0"/>
            </a:solidFill>
          </a:ln>
        </p:spPr>
        <p:txBody>
          <a:bodyPr wrap="square" lIns="0" tIns="0" rIns="0" bIns="0" rtlCol="0"/>
          <a:lstStyle/>
          <a:p>
            <a:endParaRPr sz="1625"/>
          </a:p>
        </p:txBody>
      </p:sp>
      <p:sp>
        <p:nvSpPr>
          <p:cNvPr id="11" name="object 11"/>
          <p:cNvSpPr txBox="1"/>
          <p:nvPr/>
        </p:nvSpPr>
        <p:spPr>
          <a:xfrm>
            <a:off x="558800" y="1095239"/>
            <a:ext cx="8161454" cy="4576228"/>
          </a:xfrm>
          <a:prstGeom prst="rect">
            <a:avLst/>
          </a:prstGeom>
        </p:spPr>
        <p:txBody>
          <a:bodyPr vert="horz" wrap="square" lIns="0" tIns="13500" rIns="0" bIns="0" rtlCol="0">
            <a:spAutoFit/>
          </a:bodyPr>
          <a:lstStyle/>
          <a:p>
            <a:pPr marL="68580">
              <a:spcBef>
                <a:spcPts val="105"/>
              </a:spcBef>
            </a:pPr>
            <a:r>
              <a:rPr sz="2800" b="1" spc="-5" dirty="0" err="1">
                <a:latin typeface="Times New Roman" panose="02020603050405020304" pitchFamily="18" charset="0"/>
                <a:ea typeface="黑体" panose="02010609060101010101" pitchFamily="49" charset="-122"/>
                <a:cs typeface="Times New Roman" panose="02020603050405020304" pitchFamily="18" charset="0"/>
              </a:rPr>
              <a:t>输入</a:t>
            </a:r>
            <a:r>
              <a:rPr sz="2800" b="1" dirty="0" err="1">
                <a:latin typeface="Times New Roman" panose="02020603050405020304" pitchFamily="18" charset="0"/>
                <a:ea typeface="黑体" panose="02010609060101010101" pitchFamily="49" charset="-122"/>
                <a:cs typeface="Times New Roman" panose="02020603050405020304" pitchFamily="18" charset="0"/>
              </a:rPr>
              <a:t>：</a:t>
            </a:r>
            <a:r>
              <a:rPr sz="2800" b="1" i="1" dirty="0" err="1">
                <a:latin typeface="Times New Roman" panose="02020603050405020304" pitchFamily="18" charset="0"/>
                <a:ea typeface="黑体" panose="02010609060101010101" pitchFamily="49" charset="-122"/>
                <a:cs typeface="Times New Roman" panose="02020603050405020304" pitchFamily="18" charset="0"/>
              </a:rPr>
              <a:t>X</a:t>
            </a:r>
            <a:r>
              <a:rPr sz="2800" b="1" i="1" spc="-32"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a:t>
            </a:r>
            <a:r>
              <a:rPr lang="en-US" sz="2800" b="1" i="1"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Y</a:t>
            </a:r>
            <a:r>
              <a:rPr sz="2800" b="1" i="1" spc="-101" dirty="0">
                <a:latin typeface="Times New Roman" panose="02020603050405020304" pitchFamily="18" charset="0"/>
                <a:ea typeface="黑体" panose="02010609060101010101" pitchFamily="49" charset="-122"/>
                <a:cs typeface="Times New Roman" panose="02020603050405020304" pitchFamily="18" charset="0"/>
              </a:rPr>
              <a:t> </a:t>
            </a:r>
            <a:r>
              <a:rPr sz="2800" b="1" spc="-11" dirty="0">
                <a:latin typeface="Times New Roman" panose="02020603050405020304" pitchFamily="18" charset="0"/>
                <a:ea typeface="黑体" panose="02010609060101010101" pitchFamily="49" charset="-122"/>
                <a:cs typeface="Times New Roman" panose="02020603050405020304" pitchFamily="18" charset="0"/>
              </a:rPr>
              <a:t>是</a:t>
            </a:r>
            <a:r>
              <a:rPr sz="2800" b="1" spc="-648"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n</a:t>
            </a:r>
            <a:r>
              <a:rPr sz="2800" b="1" i="1" spc="-11" dirty="0">
                <a:latin typeface="Times New Roman" panose="02020603050405020304" pitchFamily="18" charset="0"/>
                <a:ea typeface="黑体" panose="02010609060101010101" pitchFamily="49" charset="-122"/>
                <a:cs typeface="Times New Roman" panose="02020603050405020304" pitchFamily="18" charset="0"/>
              </a:rPr>
              <a:t> </a:t>
            </a:r>
            <a:r>
              <a:rPr sz="2800" b="1" spc="-5" dirty="0">
                <a:latin typeface="Times New Roman" panose="02020603050405020304" pitchFamily="18" charset="0"/>
                <a:ea typeface="黑体" panose="02010609060101010101" pitchFamily="49" charset="-122"/>
                <a:cs typeface="Times New Roman" panose="02020603050405020304" pitchFamily="18" charset="0"/>
              </a:rPr>
              <a:t>位二进制数</a:t>
            </a:r>
            <a:r>
              <a:rPr sz="2800" b="1" spc="-11" dirty="0">
                <a:latin typeface="Times New Roman" panose="02020603050405020304" pitchFamily="18" charset="0"/>
                <a:ea typeface="黑体" panose="02010609060101010101" pitchFamily="49" charset="-122"/>
                <a:cs typeface="Times New Roman" panose="02020603050405020304" pitchFamily="18" charset="0"/>
              </a:rPr>
              <a:t>，</a:t>
            </a:r>
            <a:r>
              <a:rPr sz="2800" b="1" spc="-632"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n</a:t>
            </a:r>
            <a:r>
              <a:rPr sz="2800" b="1" i="1" spc="-11"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sz="2800" b="1" spc="-16" dirty="0">
                <a:latin typeface="Times New Roman" panose="02020603050405020304" pitchFamily="18" charset="0"/>
                <a:ea typeface="黑体" panose="02010609060101010101" pitchFamily="49" charset="-122"/>
                <a:cs typeface="Times New Roman" panose="02020603050405020304" pitchFamily="18" charset="0"/>
              </a:rPr>
              <a:t> </a:t>
            </a:r>
            <a:r>
              <a:rPr sz="2800" b="1" spc="-5" dirty="0">
                <a:latin typeface="Times New Roman" panose="02020603050405020304" pitchFamily="18" charset="0"/>
                <a:ea typeface="黑体" panose="02010609060101010101" pitchFamily="49" charset="-122"/>
                <a:cs typeface="Times New Roman" panose="02020603050405020304" pitchFamily="18" charset="0"/>
              </a:rPr>
              <a:t>2</a:t>
            </a:r>
            <a:r>
              <a:rPr sz="2800" b="1" i="1" spc="-7" baseline="24000" dirty="0">
                <a:latin typeface="Times New Roman" panose="02020603050405020304" pitchFamily="18" charset="0"/>
                <a:ea typeface="黑体" panose="02010609060101010101" pitchFamily="49" charset="-122"/>
                <a:cs typeface="Times New Roman" panose="02020603050405020304" pitchFamily="18" charset="0"/>
              </a:rPr>
              <a:t>k</a:t>
            </a:r>
            <a:endParaRPr sz="2800" baseline="24000" dirty="0">
              <a:latin typeface="Times New Roman" panose="02020603050405020304" pitchFamily="18" charset="0"/>
              <a:ea typeface="黑体" panose="02010609060101010101" pitchFamily="49" charset="-122"/>
              <a:cs typeface="Times New Roman" panose="02020603050405020304" pitchFamily="18" charset="0"/>
            </a:endParaRPr>
          </a:p>
          <a:p>
            <a:pPr marL="68580"/>
            <a:r>
              <a:rPr sz="2800" b="1" dirty="0">
                <a:latin typeface="Times New Roman" panose="02020603050405020304" pitchFamily="18" charset="0"/>
                <a:ea typeface="黑体" panose="02010609060101010101" pitchFamily="49" charset="-122"/>
                <a:cs typeface="Times New Roman" panose="02020603050405020304" pitchFamily="18" charset="0"/>
              </a:rPr>
              <a:t>输出</a:t>
            </a:r>
            <a:r>
              <a:rPr sz="2800" b="1" spc="-5" dirty="0">
                <a:latin typeface="Times New Roman" panose="02020603050405020304" pitchFamily="18" charset="0"/>
                <a:ea typeface="黑体" panose="02010609060101010101" pitchFamily="49" charset="-122"/>
                <a:cs typeface="Times New Roman" panose="02020603050405020304" pitchFamily="18" charset="0"/>
              </a:rPr>
              <a:t>：</a:t>
            </a:r>
            <a:r>
              <a:rPr sz="2800" b="1" i="1" spc="-5" dirty="0">
                <a:latin typeface="Times New Roman" panose="02020603050405020304" pitchFamily="18" charset="0"/>
                <a:ea typeface="黑体" panose="02010609060101010101" pitchFamily="49" charset="-122"/>
                <a:cs typeface="Times New Roman" panose="02020603050405020304" pitchFamily="18" charset="0"/>
              </a:rPr>
              <a:t>XY</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68580">
              <a:spcBef>
                <a:spcPts val="1200"/>
              </a:spcBef>
            </a:pPr>
            <a:r>
              <a:rPr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普通乘法</a:t>
            </a:r>
            <a:r>
              <a:rPr sz="2800" b="1" dirty="0">
                <a:latin typeface="Times New Roman" panose="02020603050405020304" pitchFamily="18" charset="0"/>
                <a:ea typeface="黑体" panose="02010609060101010101" pitchFamily="49" charset="-122"/>
                <a:cs typeface="Times New Roman" panose="02020603050405020304" pitchFamily="18" charset="0"/>
              </a:rPr>
              <a:t>：需要</a:t>
            </a:r>
            <a:r>
              <a:rPr sz="2800" b="1" i="1" spc="-5"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O</a:t>
            </a:r>
            <a:r>
              <a:rPr sz="2800" b="1" spc="-5"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sz="2800" b="1" i="1" spc="-5"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n</a:t>
            </a:r>
            <a:r>
              <a:rPr sz="2800" b="1" spc="-7" baseline="24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2</a:t>
            </a:r>
            <a:r>
              <a:rPr sz="2800" b="1" spc="-5"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sz="2800" b="1" dirty="0">
                <a:latin typeface="Times New Roman" panose="02020603050405020304" pitchFamily="18" charset="0"/>
                <a:ea typeface="黑体" panose="02010609060101010101" pitchFamily="49" charset="-122"/>
                <a:cs typeface="Times New Roman" panose="02020603050405020304" pitchFamily="18" charset="0"/>
              </a:rPr>
              <a:t>次位乘运算</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67310">
              <a:spcBef>
                <a:spcPts val="1800"/>
              </a:spcBef>
            </a:pPr>
            <a:r>
              <a:rPr sz="28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简单划分</a:t>
            </a:r>
            <a:r>
              <a:rPr sz="2800" b="1" dirty="0">
                <a:latin typeface="Times New Roman" panose="02020603050405020304" pitchFamily="18" charset="0"/>
                <a:ea typeface="黑体" panose="02010609060101010101" pitchFamily="49" charset="-122"/>
                <a:cs typeface="Times New Roman" panose="02020603050405020304" pitchFamily="18" charset="0"/>
              </a:rPr>
              <a:t>：令</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391795">
              <a:lnSpc>
                <a:spcPts val="3045"/>
              </a:lnSpc>
              <a:tabLst>
                <a:tab pos="2567305" algn="l"/>
              </a:tabLst>
            </a:pPr>
            <a:r>
              <a:rPr lang="en-US" sz="2800" b="1" i="1" spc="-11" dirty="0">
                <a:latin typeface="Times New Roman" panose="02020603050405020304"/>
                <a:cs typeface="Times New Roman" panose="02020603050405020304"/>
              </a:rPr>
              <a:t>        </a:t>
            </a:r>
            <a:r>
              <a:rPr sz="2800" b="1" i="1" spc="-11" dirty="0">
                <a:latin typeface="Times New Roman" panose="02020603050405020304"/>
                <a:cs typeface="Times New Roman" panose="02020603050405020304"/>
              </a:rPr>
              <a:t>X</a:t>
            </a:r>
            <a:r>
              <a:rPr sz="2800" b="1" spc="-11" dirty="0">
                <a:latin typeface="宋体" panose="02010600030101010101" pitchFamily="2" charset="-122"/>
                <a:cs typeface="宋体" panose="02010600030101010101" pitchFamily="2" charset="-122"/>
              </a:rPr>
              <a:t>＝</a:t>
            </a:r>
            <a:r>
              <a:rPr sz="2800" b="1" spc="-632" dirty="0">
                <a:latin typeface="宋体" panose="02010600030101010101" pitchFamily="2" charset="-122"/>
                <a:cs typeface="宋体" panose="02010600030101010101" pitchFamily="2" charset="-122"/>
              </a:rPr>
              <a:t> </a:t>
            </a:r>
            <a:r>
              <a:rPr sz="2800" b="1" i="1" spc="-5" dirty="0">
                <a:latin typeface="Times New Roman" panose="02020603050405020304"/>
                <a:cs typeface="Times New Roman" panose="02020603050405020304"/>
              </a:rPr>
              <a:t>A</a:t>
            </a:r>
            <a:r>
              <a:rPr sz="2800" b="1" spc="-5" dirty="0">
                <a:latin typeface="Times New Roman" panose="02020603050405020304"/>
                <a:cs typeface="Times New Roman" panose="02020603050405020304"/>
              </a:rPr>
              <a:t>2</a:t>
            </a:r>
            <a:r>
              <a:rPr sz="2800" b="1" i="1" spc="-7" baseline="24000" dirty="0">
                <a:latin typeface="Times New Roman" panose="02020603050405020304"/>
                <a:cs typeface="Times New Roman" panose="02020603050405020304"/>
              </a:rPr>
              <a:t>n</a:t>
            </a:r>
            <a:r>
              <a:rPr sz="2800" b="1" spc="-7" baseline="24000" dirty="0">
                <a:latin typeface="Times New Roman" panose="02020603050405020304"/>
                <a:cs typeface="Times New Roman" panose="02020603050405020304"/>
              </a:rPr>
              <a:t>/2</a:t>
            </a:r>
            <a:r>
              <a:rPr sz="2800" b="1" spc="351" baseline="24000" dirty="0">
                <a:latin typeface="Times New Roman" panose="02020603050405020304"/>
                <a:cs typeface="Times New Roman" panose="02020603050405020304"/>
              </a:rPr>
              <a:t> </a:t>
            </a:r>
            <a:r>
              <a:rPr sz="2800" b="1" spc="-5" dirty="0">
                <a:latin typeface="Times New Roman" panose="02020603050405020304"/>
                <a:cs typeface="Times New Roman" panose="02020603050405020304"/>
              </a:rPr>
              <a:t>+</a:t>
            </a:r>
            <a:r>
              <a:rPr sz="2800" b="1" i="1" spc="-5" dirty="0">
                <a:latin typeface="Times New Roman" panose="02020603050405020304"/>
                <a:cs typeface="Times New Roman" panose="02020603050405020304"/>
              </a:rPr>
              <a:t>B</a:t>
            </a:r>
            <a:r>
              <a:rPr sz="2800" b="1" spc="-5"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Y</a:t>
            </a:r>
            <a:r>
              <a:rPr sz="2800" b="1" spc="5"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C</a:t>
            </a:r>
            <a:r>
              <a:rPr sz="2800" b="1" spc="-5" dirty="0">
                <a:latin typeface="Times New Roman" panose="02020603050405020304"/>
                <a:cs typeface="Times New Roman" panose="02020603050405020304"/>
              </a:rPr>
              <a:t>2</a:t>
            </a:r>
            <a:r>
              <a:rPr sz="2800" b="1" i="1" spc="-7" baseline="24000" dirty="0">
                <a:latin typeface="Times New Roman" panose="02020603050405020304"/>
                <a:cs typeface="Times New Roman" panose="02020603050405020304"/>
              </a:rPr>
              <a:t>n</a:t>
            </a:r>
            <a:r>
              <a:rPr sz="2800" b="1" spc="-7" baseline="24000" dirty="0">
                <a:latin typeface="Times New Roman" panose="02020603050405020304"/>
                <a:cs typeface="Times New Roman" panose="02020603050405020304"/>
              </a:rPr>
              <a:t>/2</a:t>
            </a:r>
            <a:r>
              <a:rPr sz="2800" b="1" spc="279" baseline="24000" dirty="0">
                <a:latin typeface="Times New Roman" panose="02020603050405020304"/>
                <a:cs typeface="Times New Roman" panose="02020603050405020304"/>
              </a:rPr>
              <a:t> </a:t>
            </a:r>
            <a:r>
              <a:rPr sz="2800" b="1" spc="-5" dirty="0">
                <a:latin typeface="Times New Roman" panose="02020603050405020304"/>
                <a:cs typeface="Times New Roman" panose="02020603050405020304"/>
              </a:rPr>
              <a:t>+</a:t>
            </a:r>
            <a:r>
              <a:rPr sz="2800" b="1" i="1" spc="-5" dirty="0">
                <a:latin typeface="Times New Roman" panose="02020603050405020304"/>
                <a:cs typeface="Times New Roman" panose="02020603050405020304"/>
              </a:rPr>
              <a:t>D</a:t>
            </a:r>
            <a:r>
              <a:rPr sz="2800" b="1" spc="-5" dirty="0">
                <a:latin typeface="Times New Roman" panose="02020603050405020304"/>
                <a:cs typeface="Times New Roman" panose="02020603050405020304"/>
              </a:rPr>
              <a:t>.</a:t>
            </a:r>
            <a:endParaRPr sz="2800" dirty="0">
              <a:latin typeface="Times New Roman" panose="02020603050405020304"/>
              <a:cs typeface="Times New Roman" panose="02020603050405020304"/>
            </a:endParaRPr>
          </a:p>
          <a:p>
            <a:pPr marL="391795">
              <a:lnSpc>
                <a:spcPts val="3045"/>
              </a:lnSpc>
            </a:pPr>
            <a:r>
              <a:rPr lang="en-US" sz="2800" b="1" i="1" spc="48" dirty="0">
                <a:latin typeface="Times New Roman" panose="02020603050405020304"/>
                <a:cs typeface="Times New Roman" panose="02020603050405020304"/>
              </a:rPr>
              <a:t>       </a:t>
            </a:r>
            <a:r>
              <a:rPr sz="2800" b="1" i="1" spc="48" dirty="0">
                <a:latin typeface="Times New Roman" panose="02020603050405020304"/>
                <a:cs typeface="Times New Roman" panose="02020603050405020304"/>
              </a:rPr>
              <a:t>XY</a:t>
            </a:r>
            <a:r>
              <a:rPr sz="2800" b="1" spc="48" dirty="0">
                <a:latin typeface="Times New Roman" panose="02020603050405020304"/>
                <a:cs typeface="Times New Roman" panose="02020603050405020304"/>
              </a:rPr>
              <a:t>=</a:t>
            </a:r>
            <a:r>
              <a:rPr sz="2800" b="1" u="heavy" spc="48" dirty="0">
                <a:uFill>
                  <a:solidFill>
                    <a:srgbClr val="C00000"/>
                  </a:solidFill>
                </a:uFill>
                <a:latin typeface="Times New Roman" panose="02020603050405020304"/>
                <a:cs typeface="Times New Roman" panose="02020603050405020304"/>
              </a:rPr>
              <a:t> </a:t>
            </a:r>
            <a:r>
              <a:rPr sz="2800" b="1" i="1" u="heavy" spc="-5" dirty="0">
                <a:uFill>
                  <a:solidFill>
                    <a:srgbClr val="C00000"/>
                  </a:solidFill>
                </a:uFill>
                <a:latin typeface="Times New Roman" panose="02020603050405020304"/>
                <a:cs typeface="Times New Roman" panose="02020603050405020304"/>
              </a:rPr>
              <a:t>AC</a:t>
            </a:r>
            <a:r>
              <a:rPr sz="2800" b="1" i="1" spc="-5" dirty="0">
                <a:latin typeface="Times New Roman" panose="02020603050405020304"/>
                <a:cs typeface="Times New Roman" panose="02020603050405020304"/>
              </a:rPr>
              <a:t> </a:t>
            </a:r>
            <a:r>
              <a:rPr sz="2800" b="1" spc="-5" dirty="0">
                <a:latin typeface="Times New Roman" panose="02020603050405020304"/>
                <a:cs typeface="Times New Roman" panose="02020603050405020304"/>
              </a:rPr>
              <a:t>2</a:t>
            </a:r>
            <a:r>
              <a:rPr sz="2800" b="1" i="1" spc="-7" baseline="24000" dirty="0">
                <a:latin typeface="Times New Roman" panose="02020603050405020304"/>
                <a:cs typeface="Times New Roman" panose="02020603050405020304"/>
              </a:rPr>
              <a:t>n </a:t>
            </a:r>
            <a:r>
              <a:rPr sz="2800" b="1" dirty="0">
                <a:latin typeface="Times New Roman" panose="02020603050405020304"/>
                <a:cs typeface="Times New Roman" panose="02020603050405020304"/>
              </a:rPr>
              <a:t>+ </a:t>
            </a:r>
            <a:r>
              <a:rPr sz="2800" b="1" spc="-5" dirty="0">
                <a:latin typeface="Times New Roman" panose="02020603050405020304"/>
                <a:cs typeface="Times New Roman" panose="02020603050405020304"/>
              </a:rPr>
              <a:t>(</a:t>
            </a:r>
            <a:r>
              <a:rPr sz="2800" b="1" i="1" u="heavy" spc="-5" dirty="0">
                <a:uFill>
                  <a:solidFill>
                    <a:srgbClr val="C00000"/>
                  </a:solidFill>
                </a:uFill>
                <a:latin typeface="Times New Roman" panose="02020603050405020304"/>
                <a:cs typeface="Times New Roman" panose="02020603050405020304"/>
              </a:rPr>
              <a:t>AD</a:t>
            </a:r>
            <a:r>
              <a:rPr sz="2800" b="1" i="1" spc="-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 </a:t>
            </a:r>
            <a:r>
              <a:rPr sz="2800" b="1" i="1" u="heavy" spc="-11" dirty="0">
                <a:uFill>
                  <a:solidFill>
                    <a:srgbClr val="C00000"/>
                  </a:solidFill>
                </a:uFill>
                <a:latin typeface="Times New Roman" panose="02020603050405020304"/>
                <a:cs typeface="Times New Roman" panose="02020603050405020304"/>
              </a:rPr>
              <a:t>BC</a:t>
            </a:r>
            <a:r>
              <a:rPr sz="2800" b="1" spc="-11" dirty="0">
                <a:latin typeface="Times New Roman" panose="02020603050405020304"/>
                <a:cs typeface="Times New Roman" panose="02020603050405020304"/>
              </a:rPr>
              <a:t>) </a:t>
            </a:r>
            <a:r>
              <a:rPr sz="2800" b="1" spc="-5" dirty="0">
                <a:latin typeface="Times New Roman" panose="02020603050405020304"/>
                <a:cs typeface="Times New Roman" panose="02020603050405020304"/>
              </a:rPr>
              <a:t>2</a:t>
            </a:r>
            <a:r>
              <a:rPr sz="2800" b="1" i="1" spc="-7" baseline="24000" dirty="0">
                <a:latin typeface="Times New Roman" panose="02020603050405020304"/>
                <a:cs typeface="Times New Roman" panose="02020603050405020304"/>
              </a:rPr>
              <a:t>n</a:t>
            </a:r>
            <a:r>
              <a:rPr sz="2800" b="1" spc="-7" baseline="24000" dirty="0">
                <a:latin typeface="Times New Roman" panose="02020603050405020304"/>
                <a:cs typeface="Times New Roman" panose="02020603050405020304"/>
              </a:rPr>
              <a:t>/2 </a:t>
            </a:r>
            <a:r>
              <a:rPr sz="2800" b="1" dirty="0">
                <a:latin typeface="Times New Roman" panose="02020603050405020304"/>
                <a:cs typeface="Times New Roman" panose="02020603050405020304"/>
              </a:rPr>
              <a:t>+</a:t>
            </a:r>
            <a:r>
              <a:rPr sz="2800" b="1" spc="-239" dirty="0">
                <a:latin typeface="Times New Roman" panose="02020603050405020304"/>
                <a:cs typeface="Times New Roman" panose="02020603050405020304"/>
              </a:rPr>
              <a:t> </a:t>
            </a:r>
            <a:r>
              <a:rPr sz="2800" b="1" i="1" u="heavy" spc="-11" dirty="0">
                <a:uFill>
                  <a:solidFill>
                    <a:srgbClr val="C00000"/>
                  </a:solidFill>
                </a:uFill>
                <a:latin typeface="Times New Roman" panose="02020603050405020304"/>
                <a:cs typeface="Times New Roman" panose="02020603050405020304"/>
              </a:rPr>
              <a:t>BD</a:t>
            </a:r>
            <a:endParaRPr sz="2800" dirty="0">
              <a:latin typeface="Times New Roman" panose="02020603050405020304"/>
              <a:cs typeface="Times New Roman" panose="02020603050405020304"/>
            </a:endParaRPr>
          </a:p>
          <a:p>
            <a:pPr marL="2002790" indent="-1042670">
              <a:spcBef>
                <a:spcPts val="1750"/>
              </a:spcBef>
              <a:buClr>
                <a:srgbClr val="375F92"/>
              </a:buClr>
              <a:buAutoNum type="alphaUcPeriod" startAt="24"/>
              <a:tabLst>
                <a:tab pos="2001520" algn="l"/>
                <a:tab pos="2002155" algn="l"/>
                <a:tab pos="3378200" algn="l"/>
              </a:tabLst>
            </a:pPr>
            <a:r>
              <a:rPr sz="1915" b="1" i="1" dirty="0">
                <a:latin typeface="Times New Roman" panose="02020603050405020304"/>
                <a:cs typeface="Times New Roman" panose="02020603050405020304"/>
              </a:rPr>
              <a:t>A	B</a:t>
            </a:r>
            <a:endParaRPr sz="1915" dirty="0">
              <a:latin typeface="Times New Roman" panose="02020603050405020304"/>
              <a:cs typeface="Times New Roman" panose="02020603050405020304"/>
            </a:endParaRPr>
          </a:p>
          <a:p>
            <a:pPr marL="2002790" indent="-1042670">
              <a:spcBef>
                <a:spcPts val="900"/>
              </a:spcBef>
              <a:buClr>
                <a:srgbClr val="375F92"/>
              </a:buClr>
              <a:buAutoNum type="alphaUcPeriod" startAt="24"/>
              <a:tabLst>
                <a:tab pos="2001520" algn="l"/>
                <a:tab pos="2002155" algn="l"/>
                <a:tab pos="3371850" algn="l"/>
              </a:tabLst>
            </a:pPr>
            <a:r>
              <a:rPr sz="1915" b="1" i="1" dirty="0">
                <a:latin typeface="Times New Roman" panose="02020603050405020304"/>
                <a:cs typeface="Times New Roman" panose="02020603050405020304"/>
              </a:rPr>
              <a:t>C	D</a:t>
            </a:r>
            <a:endParaRPr sz="1915" dirty="0">
              <a:latin typeface="Times New Roman" panose="02020603050405020304"/>
              <a:cs typeface="Times New Roman" panose="02020603050405020304"/>
            </a:endParaRPr>
          </a:p>
          <a:p>
            <a:pPr>
              <a:spcBef>
                <a:spcPts val="55"/>
              </a:spcBef>
            </a:pPr>
            <a:endParaRPr sz="2075" dirty="0">
              <a:latin typeface="Times New Roman" panose="02020603050405020304"/>
              <a:cs typeface="Times New Roman" panose="02020603050405020304"/>
            </a:endParaRPr>
          </a:p>
          <a:p>
            <a:pPr marL="68580"/>
            <a:r>
              <a:rPr sz="2800" b="1" i="1" spc="-5" dirty="0">
                <a:latin typeface="Times New Roman" panose="02020603050405020304"/>
                <a:cs typeface="Times New Roman" panose="02020603050405020304"/>
              </a:rPr>
              <a:t>W</a:t>
            </a:r>
            <a:r>
              <a:rPr sz="2800" b="1" spc="-5" dirty="0">
                <a:latin typeface="Times New Roman" panose="02020603050405020304"/>
                <a:cs typeface="Times New Roman" panose="02020603050405020304"/>
              </a:rPr>
              <a:t>(</a:t>
            </a:r>
            <a:r>
              <a:rPr sz="2800" b="1" i="1" spc="-5" dirty="0">
                <a:latin typeface="Times New Roman" panose="02020603050405020304"/>
                <a:cs typeface="Times New Roman" panose="02020603050405020304"/>
              </a:rPr>
              <a:t>n</a:t>
            </a:r>
            <a:r>
              <a:rPr sz="2800" b="1" spc="-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a:t>
            </a:r>
            <a:r>
              <a:rPr sz="2800" b="1" spc="-16" dirty="0">
                <a:latin typeface="Times New Roman" panose="02020603050405020304"/>
                <a:cs typeface="Times New Roman" panose="02020603050405020304"/>
              </a:rPr>
              <a:t> </a:t>
            </a:r>
            <a:r>
              <a:rPr sz="2800" b="1" spc="-5" dirty="0">
                <a:latin typeface="Times New Roman" panose="02020603050405020304"/>
                <a:cs typeface="Times New Roman" panose="02020603050405020304"/>
              </a:rPr>
              <a:t>4</a:t>
            </a:r>
            <a:r>
              <a:rPr sz="2800" b="1" i="1" spc="-5" dirty="0">
                <a:latin typeface="Times New Roman" panose="02020603050405020304"/>
                <a:cs typeface="Times New Roman" panose="02020603050405020304"/>
              </a:rPr>
              <a:t>W</a:t>
            </a:r>
            <a:r>
              <a:rPr sz="2800" b="1" spc="-5" dirty="0">
                <a:latin typeface="Times New Roman" panose="02020603050405020304"/>
                <a:cs typeface="Times New Roman" panose="02020603050405020304"/>
              </a:rPr>
              <a:t>(</a:t>
            </a:r>
            <a:r>
              <a:rPr sz="2800" b="1" i="1" spc="-5" dirty="0">
                <a:latin typeface="Times New Roman" panose="02020603050405020304"/>
                <a:cs typeface="Times New Roman" panose="02020603050405020304"/>
              </a:rPr>
              <a:t>n</a:t>
            </a:r>
            <a:r>
              <a:rPr sz="2800" b="1" spc="-5" dirty="0">
                <a:latin typeface="Times New Roman" panose="02020603050405020304"/>
                <a:cs typeface="Times New Roman" panose="02020603050405020304"/>
              </a:rPr>
              <a:t>/2)+</a:t>
            </a:r>
            <a:r>
              <a:rPr sz="2800" b="1" i="1" spc="-5" dirty="0">
                <a:latin typeface="Times New Roman" panose="02020603050405020304"/>
                <a:cs typeface="Times New Roman" panose="02020603050405020304"/>
              </a:rPr>
              <a:t>O</a:t>
            </a:r>
            <a:r>
              <a:rPr sz="2800" b="1" spc="-5" dirty="0">
                <a:latin typeface="Times New Roman" panose="02020603050405020304"/>
                <a:cs typeface="Times New Roman" panose="02020603050405020304"/>
              </a:rPr>
              <a:t>(</a:t>
            </a:r>
            <a:r>
              <a:rPr sz="2800" b="1" i="1" spc="-5" dirty="0">
                <a:latin typeface="Times New Roman" panose="02020603050405020304"/>
                <a:cs typeface="Times New Roman" panose="02020603050405020304"/>
              </a:rPr>
              <a:t>n</a:t>
            </a:r>
            <a:r>
              <a:rPr sz="2800" b="1" spc="-5" dirty="0">
                <a:latin typeface="Times New Roman" panose="02020603050405020304"/>
                <a:cs typeface="Times New Roman" panose="02020603050405020304"/>
              </a:rPr>
              <a:t>)</a:t>
            </a:r>
            <a:r>
              <a:rPr sz="2800" b="1" spc="-5" dirty="0">
                <a:latin typeface="Symbol" panose="05050102010706020507"/>
                <a:cs typeface="Symbol" panose="05050102010706020507"/>
              </a:rPr>
              <a:t></a:t>
            </a:r>
            <a:r>
              <a:rPr sz="2800" b="1" i="1" spc="-5" dirty="0">
                <a:solidFill>
                  <a:srgbClr val="C00000"/>
                </a:solidFill>
                <a:latin typeface="Times New Roman" panose="02020603050405020304"/>
                <a:cs typeface="Times New Roman" panose="02020603050405020304"/>
              </a:rPr>
              <a:t>W</a:t>
            </a:r>
            <a:r>
              <a:rPr sz="2800" b="1" spc="-5" dirty="0">
                <a:solidFill>
                  <a:srgbClr val="C00000"/>
                </a:solidFill>
                <a:latin typeface="Times New Roman" panose="02020603050405020304"/>
                <a:cs typeface="Times New Roman" panose="02020603050405020304"/>
              </a:rPr>
              <a:t>(</a:t>
            </a:r>
            <a:r>
              <a:rPr sz="2800" b="1" i="1" spc="-5" dirty="0">
                <a:solidFill>
                  <a:srgbClr val="C00000"/>
                </a:solidFill>
                <a:latin typeface="Times New Roman" panose="02020603050405020304"/>
                <a:cs typeface="Times New Roman" panose="02020603050405020304"/>
              </a:rPr>
              <a:t>n</a:t>
            </a:r>
            <a:r>
              <a:rPr sz="2800" b="1" spc="-5" dirty="0">
                <a:solidFill>
                  <a:srgbClr val="C00000"/>
                </a:solidFill>
                <a:latin typeface="Times New Roman" panose="02020603050405020304"/>
                <a:cs typeface="Times New Roman" panose="02020603050405020304"/>
              </a:rPr>
              <a:t>)=</a:t>
            </a:r>
            <a:r>
              <a:rPr sz="2800" b="1" i="1" spc="-5" dirty="0">
                <a:solidFill>
                  <a:srgbClr val="C00000"/>
                </a:solidFill>
                <a:latin typeface="Times New Roman" panose="02020603050405020304"/>
                <a:cs typeface="Times New Roman" panose="02020603050405020304"/>
              </a:rPr>
              <a:t>O</a:t>
            </a:r>
            <a:r>
              <a:rPr sz="2800" b="1" spc="-5" dirty="0">
                <a:solidFill>
                  <a:srgbClr val="C00000"/>
                </a:solidFill>
                <a:latin typeface="Times New Roman" panose="02020603050405020304"/>
                <a:cs typeface="Times New Roman" panose="02020603050405020304"/>
              </a:rPr>
              <a:t>(</a:t>
            </a:r>
            <a:r>
              <a:rPr sz="2800" b="1" i="1" spc="-5" dirty="0">
                <a:solidFill>
                  <a:srgbClr val="C00000"/>
                </a:solidFill>
                <a:latin typeface="Times New Roman" panose="02020603050405020304"/>
                <a:cs typeface="Times New Roman" panose="02020603050405020304"/>
              </a:rPr>
              <a:t>n</a:t>
            </a:r>
            <a:r>
              <a:rPr sz="2800" b="1" spc="-7" baseline="24000" dirty="0">
                <a:solidFill>
                  <a:srgbClr val="C00000"/>
                </a:solidFill>
                <a:latin typeface="Times New Roman" panose="02020603050405020304"/>
                <a:cs typeface="Times New Roman" panose="02020603050405020304"/>
              </a:rPr>
              <a:t>2</a:t>
            </a:r>
            <a:r>
              <a:rPr sz="2800" b="1" spc="-5" dirty="0">
                <a:solidFill>
                  <a:srgbClr val="C00000"/>
                </a:solidFill>
                <a:latin typeface="Times New Roman" panose="02020603050405020304"/>
                <a:cs typeface="Times New Roman" panose="02020603050405020304"/>
              </a:rPr>
              <a:t>)</a:t>
            </a:r>
            <a:endParaRPr sz="2800" dirty="0">
              <a:latin typeface="Times New Roman" panose="02020603050405020304"/>
              <a:cs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624" y="-30778"/>
            <a:ext cx="8887056" cy="690059"/>
          </a:xfrm>
          <a:prstGeom prst="rect">
            <a:avLst/>
          </a:prstGeom>
        </p:spPr>
        <p:txBody>
          <a:bodyPr vert="horz" wrap="square" lIns="0" tIns="12825" rIns="0" bIns="0" rtlCol="0" anchor="ctr">
            <a:spAutoFit/>
          </a:bodyPr>
          <a:lstStyle/>
          <a:p>
            <a:pPr marL="13335" algn="ctr">
              <a:lnSpc>
                <a:spcPct val="100000"/>
              </a:lnSpc>
              <a:spcBef>
                <a:spcPts val="100"/>
              </a:spcBef>
            </a:pPr>
            <a:r>
              <a:rPr sz="4400" b="1" spc="-11" dirty="0">
                <a:solidFill>
                  <a:srgbClr val="C00000"/>
                </a:solidFill>
                <a:latin typeface="黑体" panose="02010609060101010101" pitchFamily="49" charset="-122"/>
                <a:ea typeface="黑体" panose="02010609060101010101" pitchFamily="49" charset="-122"/>
              </a:rPr>
              <a:t>减少子问题个数</a:t>
            </a:r>
            <a:endParaRPr sz="4400" b="1" spc="-11"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558800" y="1070060"/>
            <a:ext cx="8094546" cy="3857032"/>
          </a:xfrm>
          <a:prstGeom prst="rect">
            <a:avLst/>
          </a:prstGeom>
        </p:spPr>
        <p:txBody>
          <a:bodyPr vert="horz" wrap="square" lIns="0" tIns="174830" rIns="0" bIns="0" rtlCol="0">
            <a:spAutoFit/>
          </a:bodyPr>
          <a:lstStyle/>
          <a:p>
            <a:pPr marL="53975">
              <a:spcBef>
                <a:spcPts val="1375"/>
              </a:spcBef>
            </a:pPr>
            <a:r>
              <a:rPr sz="2800" b="1" dirty="0">
                <a:latin typeface="黑体" panose="02010609060101010101" pitchFamily="49" charset="-122"/>
                <a:ea typeface="黑体" panose="02010609060101010101" pitchFamily="49" charset="-122"/>
                <a:cs typeface="宋体" panose="02010600030101010101" pitchFamily="2" charset="-122"/>
              </a:rPr>
              <a:t>子问题间的依赖关系：代数变换</a:t>
            </a:r>
            <a:endParaRPr sz="2800" dirty="0">
              <a:latin typeface="黑体" panose="02010609060101010101" pitchFamily="49" charset="-122"/>
              <a:ea typeface="黑体" panose="02010609060101010101" pitchFamily="49" charset="-122"/>
              <a:cs typeface="宋体" panose="02010600030101010101" pitchFamily="2" charset="-122"/>
            </a:endParaRPr>
          </a:p>
          <a:p>
            <a:pPr marL="53975">
              <a:spcBef>
                <a:spcPts val="1375"/>
              </a:spcBef>
            </a:pPr>
            <a:r>
              <a:rPr sz="2800" b="1" i="1" spc="-5" dirty="0">
                <a:latin typeface="Times New Roman" panose="02020603050405020304"/>
                <a:cs typeface="Times New Roman" panose="02020603050405020304"/>
              </a:rPr>
              <a:t>AD+BC </a:t>
            </a:r>
            <a:r>
              <a:rPr sz="2800" b="1" dirty="0">
                <a:latin typeface="Times New Roman" panose="02020603050405020304"/>
                <a:cs typeface="Times New Roman" panose="02020603050405020304"/>
              </a:rPr>
              <a:t>= </a:t>
            </a:r>
            <a:r>
              <a:rPr sz="2800" b="1" spc="-27" dirty="0">
                <a:latin typeface="Times New Roman" panose="02020603050405020304"/>
                <a:cs typeface="Times New Roman" panose="02020603050405020304"/>
              </a:rPr>
              <a:t>(</a:t>
            </a:r>
            <a:r>
              <a:rPr sz="2800" b="1" i="1" u="heavy" spc="-27" dirty="0">
                <a:uFill>
                  <a:solidFill>
                    <a:srgbClr val="C00000"/>
                  </a:solidFill>
                </a:uFill>
                <a:latin typeface="Times New Roman" panose="02020603050405020304"/>
                <a:cs typeface="Times New Roman" panose="02020603050405020304"/>
              </a:rPr>
              <a:t>A</a:t>
            </a:r>
            <a:r>
              <a:rPr sz="2800" b="1" i="1" u="heavy" spc="-27" dirty="0">
                <a:uFill>
                  <a:solidFill>
                    <a:srgbClr val="C00000"/>
                  </a:solidFill>
                </a:uFill>
                <a:latin typeface="宋体" panose="02010600030101010101" pitchFamily="2" charset="-122"/>
                <a:cs typeface="宋体" panose="02010600030101010101" pitchFamily="2" charset="-122"/>
              </a:rPr>
              <a:t>－</a:t>
            </a:r>
            <a:r>
              <a:rPr sz="2800" b="1" i="1" u="heavy" spc="-27" dirty="0">
                <a:uFill>
                  <a:solidFill>
                    <a:srgbClr val="C00000"/>
                  </a:solidFill>
                </a:uFill>
                <a:latin typeface="Times New Roman" panose="02020603050405020304"/>
                <a:cs typeface="Times New Roman" panose="02020603050405020304"/>
              </a:rPr>
              <a:t>B</a:t>
            </a:r>
            <a:r>
              <a:rPr sz="2800" b="1" u="heavy" spc="-27" dirty="0">
                <a:uFill>
                  <a:solidFill>
                    <a:srgbClr val="C00000"/>
                  </a:solidFill>
                </a:uFill>
                <a:latin typeface="Times New Roman" panose="02020603050405020304"/>
                <a:cs typeface="Times New Roman" panose="02020603050405020304"/>
              </a:rPr>
              <a:t>)(</a:t>
            </a:r>
            <a:r>
              <a:rPr sz="2800" b="1" i="1" u="heavy" spc="-27" dirty="0">
                <a:uFill>
                  <a:solidFill>
                    <a:srgbClr val="C00000"/>
                  </a:solidFill>
                </a:uFill>
                <a:latin typeface="Times New Roman" panose="02020603050405020304"/>
                <a:cs typeface="Times New Roman" panose="02020603050405020304"/>
              </a:rPr>
              <a:t>D</a:t>
            </a:r>
            <a:r>
              <a:rPr sz="2800" b="1" i="1" u="heavy" spc="-27" dirty="0">
                <a:uFill>
                  <a:solidFill>
                    <a:srgbClr val="C00000"/>
                  </a:solidFill>
                </a:uFill>
                <a:latin typeface="宋体" panose="02010600030101010101" pitchFamily="2" charset="-122"/>
                <a:cs typeface="宋体" panose="02010600030101010101" pitchFamily="2" charset="-122"/>
              </a:rPr>
              <a:t>－</a:t>
            </a:r>
            <a:r>
              <a:rPr sz="2800" b="1" i="1" u="heavy" spc="-27" dirty="0">
                <a:uFill>
                  <a:solidFill>
                    <a:srgbClr val="C00000"/>
                  </a:solidFill>
                </a:uFill>
                <a:latin typeface="Times New Roman" panose="02020603050405020304"/>
                <a:cs typeface="Times New Roman" panose="02020603050405020304"/>
              </a:rPr>
              <a:t>C</a:t>
            </a:r>
            <a:r>
              <a:rPr sz="2800" b="1" spc="-27"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 </a:t>
            </a:r>
            <a:r>
              <a:rPr sz="2800" b="1" i="1" u="heavy" spc="-5" dirty="0">
                <a:uFill>
                  <a:solidFill>
                    <a:srgbClr val="C00000"/>
                  </a:solidFill>
                </a:uFill>
                <a:latin typeface="Times New Roman" panose="02020603050405020304"/>
                <a:cs typeface="Times New Roman" panose="02020603050405020304"/>
              </a:rPr>
              <a:t>AC</a:t>
            </a:r>
            <a:r>
              <a:rPr sz="2800" b="1" i="1" spc="-5" dirty="0">
                <a:latin typeface="Times New Roman" panose="02020603050405020304"/>
                <a:cs typeface="Times New Roman" panose="02020603050405020304"/>
              </a:rPr>
              <a:t> </a:t>
            </a:r>
            <a:r>
              <a:rPr sz="2800" b="1" i="1" dirty="0">
                <a:latin typeface="Times New Roman" panose="02020603050405020304"/>
                <a:cs typeface="Times New Roman" panose="02020603050405020304"/>
              </a:rPr>
              <a:t>+</a:t>
            </a:r>
            <a:r>
              <a:rPr sz="2800" b="1" i="1" spc="-11" dirty="0">
                <a:latin typeface="Times New Roman" panose="02020603050405020304"/>
                <a:cs typeface="Times New Roman" panose="02020603050405020304"/>
              </a:rPr>
              <a:t> </a:t>
            </a:r>
            <a:r>
              <a:rPr sz="2800" b="1" i="1" u="heavy" spc="-11" dirty="0">
                <a:uFill>
                  <a:solidFill>
                    <a:srgbClr val="C00000"/>
                  </a:solidFill>
                </a:uFill>
                <a:latin typeface="Times New Roman" panose="02020603050405020304"/>
                <a:cs typeface="Times New Roman" panose="02020603050405020304"/>
              </a:rPr>
              <a:t>BD</a:t>
            </a:r>
            <a:endParaRPr sz="2800" dirty="0">
              <a:latin typeface="Times New Roman" panose="02020603050405020304"/>
              <a:cs typeface="Times New Roman" panose="02020603050405020304"/>
            </a:endParaRPr>
          </a:p>
          <a:p>
            <a:pPr marL="53975">
              <a:spcBef>
                <a:spcPts val="3600"/>
              </a:spcBef>
            </a:pPr>
            <a:r>
              <a:rPr sz="2800" b="1" dirty="0">
                <a:latin typeface="黑体" panose="02010609060101010101" pitchFamily="49" charset="-122"/>
                <a:ea typeface="黑体" panose="02010609060101010101" pitchFamily="49" charset="-122"/>
                <a:cs typeface="宋体" panose="02010600030101010101" pitchFamily="2" charset="-122"/>
              </a:rPr>
              <a:t>算法复杂度</a:t>
            </a:r>
            <a:endParaRPr sz="2800" dirty="0">
              <a:latin typeface="黑体" panose="02010609060101010101" pitchFamily="49" charset="-122"/>
              <a:ea typeface="黑体" panose="02010609060101010101" pitchFamily="49" charset="-122"/>
              <a:cs typeface="宋体" panose="02010600030101010101" pitchFamily="2" charset="-122"/>
            </a:endParaRPr>
          </a:p>
          <a:p>
            <a:pPr marL="1017905" marR="1121410">
              <a:lnSpc>
                <a:spcPts val="3580"/>
              </a:lnSpc>
              <a:spcBef>
                <a:spcPts val="600"/>
              </a:spcBef>
              <a:spcAft>
                <a:spcPts val="1800"/>
              </a:spcAft>
            </a:pPr>
            <a:r>
              <a:rPr sz="2800" b="1" i="1" spc="-5" dirty="0">
                <a:latin typeface="Times New Roman" panose="02020603050405020304"/>
                <a:cs typeface="Times New Roman" panose="02020603050405020304"/>
              </a:rPr>
              <a:t>W</a:t>
            </a:r>
            <a:r>
              <a:rPr sz="2800" b="1" spc="-5" dirty="0">
                <a:latin typeface="Times New Roman" panose="02020603050405020304"/>
                <a:cs typeface="Times New Roman" panose="02020603050405020304"/>
              </a:rPr>
              <a:t>(</a:t>
            </a:r>
            <a:r>
              <a:rPr sz="2800" b="1" i="1" spc="-5" dirty="0">
                <a:latin typeface="Times New Roman" panose="02020603050405020304"/>
                <a:cs typeface="Times New Roman" panose="02020603050405020304"/>
              </a:rPr>
              <a:t>n</a:t>
            </a:r>
            <a:r>
              <a:rPr sz="2800" b="1" spc="-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 3 </a:t>
            </a:r>
            <a:r>
              <a:rPr sz="2800" b="1" i="1" spc="-5" dirty="0">
                <a:latin typeface="Times New Roman" panose="02020603050405020304"/>
                <a:cs typeface="Times New Roman" panose="02020603050405020304"/>
              </a:rPr>
              <a:t>W</a:t>
            </a:r>
            <a:r>
              <a:rPr sz="2800" b="1" spc="-5" dirty="0">
                <a:latin typeface="Times New Roman" panose="02020603050405020304"/>
                <a:cs typeface="Times New Roman" panose="02020603050405020304"/>
              </a:rPr>
              <a:t>(</a:t>
            </a:r>
            <a:r>
              <a:rPr sz="2800" b="1" i="1" spc="-5" dirty="0">
                <a:latin typeface="Times New Roman" panose="02020603050405020304"/>
                <a:cs typeface="Times New Roman" panose="02020603050405020304"/>
              </a:rPr>
              <a:t>n</a:t>
            </a:r>
            <a:r>
              <a:rPr sz="2800" b="1" spc="-5" dirty="0">
                <a:latin typeface="Times New Roman" panose="02020603050405020304"/>
                <a:cs typeface="Times New Roman" panose="02020603050405020304"/>
              </a:rPr>
              <a:t>/2) </a:t>
            </a:r>
            <a:r>
              <a:rPr sz="2800" b="1" dirty="0">
                <a:latin typeface="Times New Roman" panose="02020603050405020304"/>
                <a:cs typeface="Times New Roman" panose="02020603050405020304"/>
              </a:rPr>
              <a:t>+</a:t>
            </a:r>
            <a:r>
              <a:rPr sz="2800" b="1" spc="-48" dirty="0">
                <a:latin typeface="Times New Roman" panose="02020603050405020304"/>
                <a:cs typeface="Times New Roman" panose="02020603050405020304"/>
              </a:rPr>
              <a:t> </a:t>
            </a:r>
            <a:r>
              <a:rPr sz="2800" b="1" i="1" spc="-5" dirty="0" err="1">
                <a:latin typeface="Times New Roman" panose="02020603050405020304"/>
                <a:cs typeface="Times New Roman" panose="02020603050405020304"/>
              </a:rPr>
              <a:t>cn</a:t>
            </a:r>
            <a:r>
              <a:rPr sz="2800" b="1" i="1" spc="-5" dirty="0">
                <a:latin typeface="Times New Roman" panose="02020603050405020304"/>
                <a:cs typeface="Times New Roman" panose="02020603050405020304"/>
              </a:rPr>
              <a:t>  </a:t>
            </a:r>
            <a:r>
              <a:rPr lang="en-US" sz="2800" b="1" i="1" spc="-5"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W</a:t>
            </a:r>
            <a:r>
              <a:rPr sz="2800" b="1" spc="-5" dirty="0">
                <a:latin typeface="Times New Roman" panose="02020603050405020304"/>
                <a:cs typeface="Times New Roman" panose="02020603050405020304"/>
              </a:rPr>
              <a:t>(1) </a:t>
            </a:r>
            <a:r>
              <a:rPr sz="2800" b="1" dirty="0">
                <a:latin typeface="Times New Roman" panose="02020603050405020304"/>
                <a:cs typeface="Times New Roman" panose="02020603050405020304"/>
              </a:rPr>
              <a:t>=</a:t>
            </a:r>
            <a:r>
              <a:rPr sz="2800" b="1" spc="-16"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1</a:t>
            </a:r>
            <a:endParaRPr sz="2800" dirty="0">
              <a:latin typeface="Times New Roman" panose="02020603050405020304"/>
              <a:cs typeface="Times New Roman" panose="02020603050405020304"/>
            </a:endParaRPr>
          </a:p>
          <a:p>
            <a:pPr marL="53975">
              <a:spcBef>
                <a:spcPts val="370"/>
              </a:spcBef>
            </a:pPr>
            <a:r>
              <a:rPr sz="2800" b="1" dirty="0">
                <a:latin typeface="黑体" panose="02010609060101010101" pitchFamily="49" charset="-122"/>
                <a:ea typeface="黑体" panose="02010609060101010101" pitchFamily="49" charset="-122"/>
                <a:cs typeface="宋体" panose="02010600030101010101" pitchFamily="2" charset="-122"/>
              </a:rPr>
              <a:t>方程的解</a:t>
            </a:r>
            <a:endParaRPr sz="2800" dirty="0">
              <a:latin typeface="黑体" panose="02010609060101010101" pitchFamily="49" charset="-122"/>
              <a:ea typeface="黑体" panose="02010609060101010101" pitchFamily="49" charset="-122"/>
              <a:cs typeface="宋体" panose="02010600030101010101" pitchFamily="2" charset="-122"/>
            </a:endParaRPr>
          </a:p>
          <a:p>
            <a:pPr marL="1099185">
              <a:spcBef>
                <a:spcPts val="500"/>
              </a:spcBef>
            </a:pPr>
            <a:r>
              <a:rPr sz="2800" b="1" i="1" spc="-5" dirty="0">
                <a:latin typeface="Times New Roman" panose="02020603050405020304"/>
                <a:cs typeface="Times New Roman" panose="02020603050405020304"/>
              </a:rPr>
              <a:t>W</a:t>
            </a:r>
            <a:r>
              <a:rPr sz="2800" b="1" spc="-5" dirty="0">
                <a:latin typeface="Times New Roman" panose="02020603050405020304"/>
                <a:cs typeface="Times New Roman" panose="02020603050405020304"/>
              </a:rPr>
              <a:t>(</a:t>
            </a:r>
            <a:r>
              <a:rPr sz="2800" b="1" i="1" spc="-5" dirty="0">
                <a:latin typeface="Times New Roman" panose="02020603050405020304"/>
                <a:cs typeface="Times New Roman" panose="02020603050405020304"/>
              </a:rPr>
              <a:t>n</a:t>
            </a:r>
            <a:r>
              <a:rPr sz="2800" b="1" spc="-5"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O</a:t>
            </a:r>
            <a:r>
              <a:rPr sz="2800" b="1" spc="-5" dirty="0">
                <a:latin typeface="Times New Roman" panose="02020603050405020304"/>
                <a:cs typeface="Times New Roman" panose="02020603050405020304"/>
              </a:rPr>
              <a:t>(</a:t>
            </a:r>
            <a:r>
              <a:rPr sz="2800" b="1" i="1" spc="-5" dirty="0">
                <a:latin typeface="Times New Roman" panose="02020603050405020304"/>
                <a:cs typeface="Times New Roman" panose="02020603050405020304"/>
              </a:rPr>
              <a:t>n</a:t>
            </a:r>
            <a:r>
              <a:rPr sz="2800" b="1" spc="-7" baseline="24000" dirty="0">
                <a:latin typeface="Times New Roman" panose="02020603050405020304"/>
                <a:cs typeface="Times New Roman" panose="02020603050405020304"/>
              </a:rPr>
              <a:t>log3</a:t>
            </a:r>
            <a:r>
              <a:rPr sz="2800" b="1" spc="-5" dirty="0">
                <a:latin typeface="Times New Roman" panose="02020603050405020304"/>
                <a:cs typeface="Times New Roman" panose="02020603050405020304"/>
              </a:rPr>
              <a:t>)</a:t>
            </a:r>
            <a:r>
              <a:rPr sz="2800" b="1" dirty="0">
                <a:latin typeface="Times New Roman" panose="02020603050405020304"/>
                <a:cs typeface="Times New Roman" panose="02020603050405020304"/>
              </a:rPr>
              <a:t> </a:t>
            </a:r>
            <a:r>
              <a:rPr sz="2800" b="1" spc="-5" dirty="0">
                <a:latin typeface="Times New Roman" panose="02020603050405020304"/>
                <a:cs typeface="Times New Roman" panose="02020603050405020304"/>
              </a:rPr>
              <a:t>=</a:t>
            </a:r>
            <a:r>
              <a:rPr sz="2800" b="1" i="1" spc="-5" dirty="0">
                <a:solidFill>
                  <a:srgbClr val="C00000"/>
                </a:solidFill>
                <a:latin typeface="Times New Roman" panose="02020603050405020304"/>
                <a:cs typeface="Times New Roman" panose="02020603050405020304"/>
              </a:rPr>
              <a:t>O</a:t>
            </a:r>
            <a:r>
              <a:rPr sz="2800" b="1" spc="-5" dirty="0">
                <a:solidFill>
                  <a:srgbClr val="C00000"/>
                </a:solidFill>
                <a:latin typeface="Times New Roman" panose="02020603050405020304"/>
                <a:cs typeface="Times New Roman" panose="02020603050405020304"/>
              </a:rPr>
              <a:t>(</a:t>
            </a:r>
            <a:r>
              <a:rPr sz="2800" b="1" i="1" spc="-5" dirty="0">
                <a:solidFill>
                  <a:srgbClr val="C00000"/>
                </a:solidFill>
                <a:latin typeface="Times New Roman" panose="02020603050405020304"/>
                <a:cs typeface="Times New Roman" panose="02020603050405020304"/>
              </a:rPr>
              <a:t>n</a:t>
            </a:r>
            <a:r>
              <a:rPr sz="2800" b="1" spc="-7" baseline="24000" dirty="0">
                <a:solidFill>
                  <a:srgbClr val="C00000"/>
                </a:solidFill>
                <a:latin typeface="Times New Roman" panose="02020603050405020304"/>
                <a:cs typeface="Times New Roman" panose="02020603050405020304"/>
              </a:rPr>
              <a:t>1.59</a:t>
            </a:r>
            <a:r>
              <a:rPr sz="2800" b="1" spc="-5" dirty="0">
                <a:solidFill>
                  <a:srgbClr val="C00000"/>
                </a:solidFill>
                <a:latin typeface="Times New Roman" panose="02020603050405020304"/>
                <a:cs typeface="Times New Roman" panose="02020603050405020304"/>
              </a:rPr>
              <a:t>)</a:t>
            </a:r>
            <a:endParaRPr sz="2800" dirty="0">
              <a:latin typeface="Times New Roman" panose="02020603050405020304"/>
              <a:cs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3542" y="64688"/>
            <a:ext cx="8859472" cy="690059"/>
          </a:xfrm>
          <a:prstGeom prst="rect">
            <a:avLst/>
          </a:prstGeom>
        </p:spPr>
        <p:txBody>
          <a:bodyPr vert="horz" wrap="square" lIns="0" tIns="12825" rIns="0" bIns="0" rtlCol="0" anchor="ctr">
            <a:spAutoFit/>
          </a:bodyPr>
          <a:lstStyle/>
          <a:p>
            <a:pPr marL="13335" algn="ctr">
              <a:lnSpc>
                <a:spcPct val="100000"/>
              </a:lnSpc>
              <a:spcBef>
                <a:spcPts val="100"/>
              </a:spcBef>
            </a:pPr>
            <a:r>
              <a:rPr sz="4400" b="1" spc="-11" dirty="0">
                <a:solidFill>
                  <a:srgbClr val="C00000"/>
                </a:solidFill>
                <a:latin typeface="黑体" panose="02010609060101010101" pitchFamily="49" charset="-122"/>
                <a:ea typeface="黑体" panose="02010609060101010101" pitchFamily="49" charset="-122"/>
              </a:rPr>
              <a:t>例</a:t>
            </a:r>
            <a:r>
              <a:rPr sz="4400" b="1" spc="-5" dirty="0">
                <a:solidFill>
                  <a:srgbClr val="C00000"/>
                </a:solidFill>
                <a:latin typeface="黑体" panose="02010609060101010101" pitchFamily="49" charset="-122"/>
                <a:ea typeface="黑体" panose="02010609060101010101" pitchFamily="49" charset="-122"/>
              </a:rPr>
              <a:t>2</a:t>
            </a:r>
            <a:r>
              <a:rPr sz="4400" b="1" spc="-11" dirty="0">
                <a:solidFill>
                  <a:srgbClr val="C00000"/>
                </a:solidFill>
                <a:latin typeface="黑体" panose="02010609060101010101" pitchFamily="49" charset="-122"/>
                <a:ea typeface="黑体" panose="02010609060101010101" pitchFamily="49" charset="-122"/>
              </a:rPr>
              <a:t>：矩阵相乘问题</a:t>
            </a:r>
            <a:endParaRPr sz="4400" b="1" spc="-11"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558800" y="1141491"/>
            <a:ext cx="8139151" cy="3886645"/>
          </a:xfrm>
          <a:prstGeom prst="rect">
            <a:avLst/>
          </a:prstGeom>
        </p:spPr>
        <p:txBody>
          <a:bodyPr vert="horz" wrap="square" lIns="0" tIns="91127" rIns="0" bIns="0" rtlCol="0">
            <a:spAutoFit/>
          </a:bodyPr>
          <a:lstStyle/>
          <a:p>
            <a:pPr marL="12700" algn="just">
              <a:spcBef>
                <a:spcPts val="720"/>
              </a:spcBef>
            </a:pPr>
            <a:r>
              <a:rPr sz="2800" b="1" dirty="0">
                <a:latin typeface="Times New Roman" panose="02020603050405020304" pitchFamily="18" charset="0"/>
                <a:ea typeface="黑体" panose="02010609060101010101" pitchFamily="49" charset="-122"/>
                <a:cs typeface="Times New Roman" panose="02020603050405020304" pitchFamily="18" charset="0"/>
              </a:rPr>
              <a:t>输入：</a:t>
            </a:r>
            <a:r>
              <a:rPr sz="2800" b="1" i="1" dirty="0">
                <a:latin typeface="Times New Roman" panose="02020603050405020304" pitchFamily="18" charset="0"/>
                <a:ea typeface="黑体" panose="02010609060101010101" pitchFamily="49" charset="-122"/>
                <a:cs typeface="Times New Roman" panose="02020603050405020304" pitchFamily="18" charset="0"/>
              </a:rPr>
              <a:t>A,</a:t>
            </a:r>
            <a:r>
              <a:rPr sz="2800" b="1" i="1" spc="-37"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B</a:t>
            </a:r>
            <a:r>
              <a:rPr sz="2800" b="1" i="1" spc="-11" dirty="0">
                <a:latin typeface="Times New Roman" panose="02020603050405020304" pitchFamily="18" charset="0"/>
                <a:ea typeface="黑体" panose="02010609060101010101" pitchFamily="49" charset="-122"/>
                <a:cs typeface="Times New Roman" panose="02020603050405020304" pitchFamily="18" charset="0"/>
              </a:rPr>
              <a:t> </a:t>
            </a:r>
            <a:r>
              <a:rPr sz="2800" b="1" spc="-11" dirty="0">
                <a:latin typeface="Times New Roman" panose="02020603050405020304" pitchFamily="18" charset="0"/>
                <a:ea typeface="黑体" panose="02010609060101010101" pitchFamily="49" charset="-122"/>
                <a:cs typeface="Times New Roman" panose="02020603050405020304" pitchFamily="18" charset="0"/>
              </a:rPr>
              <a:t>为</a:t>
            </a:r>
            <a:r>
              <a:rPr sz="2800" b="1" spc="-648" dirty="0">
                <a:latin typeface="Times New Roman" panose="02020603050405020304" pitchFamily="18" charset="0"/>
                <a:ea typeface="黑体" panose="02010609060101010101" pitchFamily="49" charset="-122"/>
                <a:cs typeface="Times New Roman" panose="02020603050405020304" pitchFamily="18" charset="0"/>
              </a:rPr>
              <a:t> </a:t>
            </a:r>
            <a:r>
              <a:rPr sz="2800" b="1" i="1" spc="-5" dirty="0">
                <a:latin typeface="Times New Roman" panose="02020603050405020304" pitchFamily="18" charset="0"/>
                <a:ea typeface="黑体" panose="02010609060101010101" pitchFamily="49" charset="-122"/>
                <a:cs typeface="Times New Roman" panose="02020603050405020304" pitchFamily="18" charset="0"/>
              </a:rPr>
              <a:t>n</a:t>
            </a:r>
            <a:r>
              <a:rPr sz="2800" b="1" i="1" spc="-21"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阶矩阵，</a:t>
            </a:r>
            <a:r>
              <a:rPr sz="2800" b="1" i="1" dirty="0">
                <a:latin typeface="Times New Roman" panose="02020603050405020304" pitchFamily="18" charset="0"/>
                <a:ea typeface="黑体" panose="02010609060101010101" pitchFamily="49" charset="-122"/>
                <a:cs typeface="Times New Roman" panose="02020603050405020304" pitchFamily="18" charset="0"/>
              </a:rPr>
              <a:t>n</a:t>
            </a:r>
            <a:r>
              <a:rPr sz="2800" b="1" i="1" spc="-11" dirty="0">
                <a:latin typeface="Times New Roman" panose="02020603050405020304" pitchFamily="18" charset="0"/>
                <a:ea typeface="黑体" panose="02010609060101010101" pitchFamily="49" charset="-122"/>
                <a:cs typeface="Times New Roman" panose="02020603050405020304" pitchFamily="18" charset="0"/>
              </a:rPr>
              <a:t> </a:t>
            </a:r>
            <a:r>
              <a:rPr sz="2800" b="1" spc="-5" dirty="0">
                <a:latin typeface="Times New Roman" panose="02020603050405020304" pitchFamily="18" charset="0"/>
                <a:ea typeface="黑体" panose="02010609060101010101" pitchFamily="49" charset="-122"/>
                <a:cs typeface="Times New Roman" panose="02020603050405020304" pitchFamily="18" charset="0"/>
              </a:rPr>
              <a:t>=2</a:t>
            </a:r>
            <a:r>
              <a:rPr sz="2800" b="1" i="1" spc="-7" baseline="24000" dirty="0">
                <a:latin typeface="Times New Roman" panose="02020603050405020304" pitchFamily="18" charset="0"/>
                <a:ea typeface="黑体" panose="02010609060101010101" pitchFamily="49" charset="-122"/>
                <a:cs typeface="Times New Roman" panose="02020603050405020304" pitchFamily="18" charset="0"/>
              </a:rPr>
              <a:t>k</a:t>
            </a:r>
            <a:endParaRPr sz="2800" baseline="24000" dirty="0">
              <a:latin typeface="Times New Roman" panose="02020603050405020304" pitchFamily="18" charset="0"/>
              <a:ea typeface="黑体" panose="02010609060101010101" pitchFamily="49" charset="-122"/>
              <a:cs typeface="Times New Roman" panose="02020603050405020304" pitchFamily="18" charset="0"/>
            </a:endParaRPr>
          </a:p>
          <a:p>
            <a:pPr algn="just"/>
            <a:r>
              <a:rPr sz="2800" b="1" spc="-5" dirty="0">
                <a:latin typeface="Times New Roman" panose="02020603050405020304" pitchFamily="18" charset="0"/>
                <a:ea typeface="黑体" panose="02010609060101010101" pitchFamily="49" charset="-122"/>
                <a:cs typeface="Times New Roman" panose="02020603050405020304" pitchFamily="18" charset="0"/>
              </a:rPr>
              <a:t>输出</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sz="2800" b="1" i="1" dirty="0">
                <a:latin typeface="Times New Roman" panose="02020603050405020304" pitchFamily="18" charset="0"/>
                <a:ea typeface="黑体" panose="02010609060101010101" pitchFamily="49" charset="-122"/>
                <a:cs typeface="Times New Roman" panose="02020603050405020304" pitchFamily="18" charset="0"/>
              </a:rPr>
              <a:t>C</a:t>
            </a:r>
            <a:r>
              <a:rPr sz="2800" b="1" i="1" spc="-27"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a:t>
            </a:r>
            <a:r>
              <a:rPr sz="2800" b="1" i="1" spc="-96"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AB</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algn="just">
              <a:spcBef>
                <a:spcPts val="60"/>
              </a:spcBef>
            </a:pP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algn="just"/>
            <a:r>
              <a:rPr sz="2800" b="1" dirty="0">
                <a:latin typeface="Times New Roman" panose="02020603050405020304" pitchFamily="18" charset="0"/>
                <a:ea typeface="黑体" panose="02010609060101010101" pitchFamily="49" charset="-122"/>
                <a:cs typeface="Times New Roman" panose="02020603050405020304" pitchFamily="18" charset="0"/>
              </a:rPr>
              <a:t>通常矩阵乘法：</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700405" algn="just">
              <a:spcBef>
                <a:spcPts val="880"/>
              </a:spcBef>
            </a:pPr>
            <a:r>
              <a:rPr sz="2800" b="1" i="1" dirty="0">
                <a:latin typeface="Times New Roman" panose="02020603050405020304" pitchFamily="18" charset="0"/>
                <a:ea typeface="黑体" panose="02010609060101010101" pitchFamily="49" charset="-122"/>
                <a:cs typeface="Times New Roman" panose="02020603050405020304" pitchFamily="18" charset="0"/>
              </a:rPr>
              <a:t>C</a:t>
            </a:r>
            <a:r>
              <a:rPr sz="2800" b="1" i="1" spc="-16" dirty="0">
                <a:latin typeface="Times New Roman" panose="02020603050405020304" pitchFamily="18" charset="0"/>
                <a:ea typeface="黑体" panose="02010609060101010101" pitchFamily="49" charset="-122"/>
                <a:cs typeface="Times New Roman" panose="02020603050405020304" pitchFamily="18" charset="0"/>
              </a:rPr>
              <a:t> </a:t>
            </a:r>
            <a:r>
              <a:rPr sz="2800" b="1" dirty="0">
                <a:latin typeface="Times New Roman" panose="02020603050405020304" pitchFamily="18" charset="0"/>
                <a:ea typeface="黑体" panose="02010609060101010101" pitchFamily="49" charset="-122"/>
                <a:cs typeface="Times New Roman" panose="02020603050405020304" pitchFamily="18" charset="0"/>
              </a:rPr>
              <a:t>中</a:t>
            </a:r>
            <a:r>
              <a:rPr sz="2800" b="1" spc="-11" dirty="0">
                <a:latin typeface="Times New Roman" panose="02020603050405020304" pitchFamily="18" charset="0"/>
                <a:ea typeface="黑体" panose="02010609060101010101" pitchFamily="49" charset="-122"/>
                <a:cs typeface="Times New Roman" panose="02020603050405020304" pitchFamily="18" charset="0"/>
              </a:rPr>
              <a:t>有</a:t>
            </a:r>
            <a:r>
              <a:rPr sz="2800" b="1" spc="-643" dirty="0">
                <a:latin typeface="Times New Roman" panose="02020603050405020304" pitchFamily="18" charset="0"/>
                <a:ea typeface="黑体" panose="02010609060101010101" pitchFamily="49" charset="-122"/>
                <a:cs typeface="Times New Roman" panose="02020603050405020304" pitchFamily="18" charset="0"/>
              </a:rPr>
              <a:t> </a:t>
            </a:r>
            <a:r>
              <a:rPr sz="2800" b="1" i="1" spc="-5" dirty="0">
                <a:latin typeface="Times New Roman" panose="02020603050405020304" pitchFamily="18" charset="0"/>
                <a:ea typeface="黑体" panose="02010609060101010101" pitchFamily="49" charset="-122"/>
                <a:cs typeface="Times New Roman" panose="02020603050405020304" pitchFamily="18" charset="0"/>
              </a:rPr>
              <a:t>n</a:t>
            </a:r>
            <a:r>
              <a:rPr sz="2800" b="1" spc="-7" baseline="24000" dirty="0">
                <a:latin typeface="Times New Roman" panose="02020603050405020304" pitchFamily="18" charset="0"/>
                <a:ea typeface="黑体" panose="02010609060101010101" pitchFamily="49" charset="-122"/>
                <a:cs typeface="Times New Roman" panose="02020603050405020304" pitchFamily="18" charset="0"/>
              </a:rPr>
              <a:t>2</a:t>
            </a:r>
            <a:r>
              <a:rPr sz="2800" b="1" dirty="0">
                <a:latin typeface="Times New Roman" panose="02020603050405020304" pitchFamily="18" charset="0"/>
                <a:ea typeface="黑体" panose="02010609060101010101" pitchFamily="49" charset="-122"/>
                <a:cs typeface="Times New Roman" panose="02020603050405020304" pitchFamily="18" charset="0"/>
              </a:rPr>
              <a:t>个元素</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700405" marR="123825" algn="just">
              <a:lnSpc>
                <a:spcPct val="118000"/>
              </a:lnSpc>
            </a:pPr>
            <a:r>
              <a:rPr sz="2800" b="1" dirty="0">
                <a:latin typeface="Times New Roman" panose="02020603050405020304" pitchFamily="18" charset="0"/>
                <a:ea typeface="黑体" panose="02010609060101010101" pitchFamily="49" charset="-122"/>
                <a:cs typeface="Times New Roman" panose="02020603050405020304" pitchFamily="18" charset="0"/>
              </a:rPr>
              <a:t>每个元素需要</a:t>
            </a:r>
            <a:r>
              <a:rPr sz="2800" b="1" spc="-11" dirty="0">
                <a:latin typeface="Times New Roman" panose="02020603050405020304" pitchFamily="18" charset="0"/>
                <a:ea typeface="黑体" panose="02010609060101010101" pitchFamily="49" charset="-122"/>
                <a:cs typeface="Times New Roman" panose="02020603050405020304" pitchFamily="18" charset="0"/>
              </a:rPr>
              <a:t>做</a:t>
            </a:r>
            <a:r>
              <a:rPr sz="2800" b="1" spc="-680" dirty="0">
                <a:latin typeface="Times New Roman" panose="02020603050405020304" pitchFamily="18" charset="0"/>
                <a:ea typeface="黑体" panose="02010609060101010101" pitchFamily="49" charset="-122"/>
                <a:cs typeface="Times New Roman" panose="02020603050405020304" pitchFamily="18" charset="0"/>
              </a:rPr>
              <a:t> </a:t>
            </a:r>
            <a:r>
              <a:rPr sz="2800" b="1" i="1" spc="-5" dirty="0">
                <a:latin typeface="Times New Roman" panose="02020603050405020304" pitchFamily="18" charset="0"/>
                <a:ea typeface="黑体" panose="02010609060101010101" pitchFamily="49" charset="-122"/>
                <a:cs typeface="Times New Roman" panose="02020603050405020304" pitchFamily="18" charset="0"/>
              </a:rPr>
              <a:t>n</a:t>
            </a:r>
            <a:r>
              <a:rPr sz="2800" b="1" i="1" spc="-43" dirty="0">
                <a:latin typeface="Times New Roman" panose="02020603050405020304" pitchFamily="18" charset="0"/>
                <a:ea typeface="黑体" panose="02010609060101010101" pitchFamily="49" charset="-122"/>
                <a:cs typeface="Times New Roman" panose="02020603050405020304" pitchFamily="18" charset="0"/>
              </a:rPr>
              <a:t> </a:t>
            </a:r>
            <a:r>
              <a:rPr sz="2800" b="1" dirty="0" err="1">
                <a:latin typeface="Times New Roman" panose="02020603050405020304" pitchFamily="18" charset="0"/>
                <a:ea typeface="黑体" panose="02010609060101010101" pitchFamily="49" charset="-122"/>
                <a:cs typeface="Times New Roman" panose="02020603050405020304" pitchFamily="18" charset="0"/>
              </a:rPr>
              <a:t>次乘法</a:t>
            </a:r>
            <a:r>
              <a:rPr sz="2800" b="1" dirty="0">
                <a:latin typeface="Times New Roman" panose="02020603050405020304" pitchFamily="18" charset="0"/>
                <a:ea typeface="黑体" panose="02010609060101010101" pitchFamily="49" charset="-122"/>
                <a:cs typeface="Times New Roman" panose="02020603050405020304" pitchFamily="18" charset="0"/>
              </a:rPr>
              <a:t> </a:t>
            </a:r>
            <a:endParaRPr lang="en-US" sz="2800" b="1" dirty="0">
              <a:latin typeface="Times New Roman" panose="02020603050405020304" pitchFamily="18" charset="0"/>
              <a:ea typeface="黑体" panose="02010609060101010101" pitchFamily="49" charset="-122"/>
              <a:cs typeface="Times New Roman" panose="02020603050405020304" pitchFamily="18" charset="0"/>
            </a:endParaRPr>
          </a:p>
          <a:p>
            <a:pPr marL="700405" marR="123825" algn="just">
              <a:lnSpc>
                <a:spcPct val="118000"/>
              </a:lnSpc>
            </a:pPr>
            <a:r>
              <a:rPr sz="2800" b="1" dirty="0" err="1">
                <a:latin typeface="Times New Roman" panose="02020603050405020304" pitchFamily="18" charset="0"/>
                <a:ea typeface="黑体" panose="02010609060101010101" pitchFamily="49" charset="-122"/>
                <a:cs typeface="Times New Roman" panose="02020603050405020304" pitchFamily="18" charset="0"/>
              </a:rPr>
              <a:t>以元素相乘为基本运算</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102870" algn="ctr">
              <a:spcBef>
                <a:spcPts val="500"/>
              </a:spcBef>
            </a:pPr>
            <a:r>
              <a:rPr sz="2800" b="1" i="1" dirty="0">
                <a:latin typeface="Times New Roman" panose="02020603050405020304"/>
                <a:cs typeface="Times New Roman" panose="02020603050405020304"/>
              </a:rPr>
              <a:t>W</a:t>
            </a:r>
            <a:r>
              <a:rPr sz="2800" b="1" dirty="0">
                <a:latin typeface="Times New Roman" panose="02020603050405020304"/>
                <a:cs typeface="Times New Roman" panose="02020603050405020304"/>
              </a:rPr>
              <a:t>(</a:t>
            </a:r>
            <a:r>
              <a:rPr sz="2800" b="1" i="1" dirty="0">
                <a:latin typeface="Times New Roman" panose="02020603050405020304"/>
                <a:cs typeface="Times New Roman" panose="02020603050405020304"/>
              </a:rPr>
              <a:t>n</a:t>
            </a:r>
            <a:r>
              <a:rPr sz="2800" b="1" dirty="0">
                <a:latin typeface="Times New Roman" panose="02020603050405020304"/>
                <a:cs typeface="Times New Roman" panose="02020603050405020304"/>
              </a:rPr>
              <a:t>)=</a:t>
            </a:r>
            <a:r>
              <a:rPr sz="2800" b="1" spc="-5" dirty="0">
                <a:latin typeface="Times New Roman" panose="02020603050405020304"/>
                <a:cs typeface="Times New Roman" panose="02020603050405020304"/>
              </a:rPr>
              <a:t> </a:t>
            </a:r>
            <a:r>
              <a:rPr sz="2800" b="1" i="1" spc="-5" dirty="0">
                <a:solidFill>
                  <a:srgbClr val="C00000"/>
                </a:solidFill>
                <a:latin typeface="Times New Roman" panose="02020603050405020304"/>
                <a:cs typeface="Times New Roman" panose="02020603050405020304"/>
              </a:rPr>
              <a:t>O</a:t>
            </a:r>
            <a:r>
              <a:rPr sz="2800" b="1" spc="-5" dirty="0">
                <a:solidFill>
                  <a:srgbClr val="C00000"/>
                </a:solidFill>
                <a:latin typeface="Times New Roman" panose="02020603050405020304"/>
                <a:cs typeface="Times New Roman" panose="02020603050405020304"/>
              </a:rPr>
              <a:t>(</a:t>
            </a:r>
            <a:r>
              <a:rPr sz="2800" b="1" i="1" spc="-5" dirty="0">
                <a:solidFill>
                  <a:srgbClr val="C00000"/>
                </a:solidFill>
                <a:latin typeface="Times New Roman" panose="02020603050405020304"/>
                <a:cs typeface="Times New Roman" panose="02020603050405020304"/>
              </a:rPr>
              <a:t>n</a:t>
            </a:r>
            <a:r>
              <a:rPr sz="2800" b="1" spc="-7" baseline="24000" dirty="0">
                <a:solidFill>
                  <a:srgbClr val="C00000"/>
                </a:solidFill>
                <a:latin typeface="Times New Roman" panose="02020603050405020304"/>
                <a:cs typeface="Times New Roman" panose="02020603050405020304"/>
              </a:rPr>
              <a:t>3</a:t>
            </a:r>
            <a:r>
              <a:rPr sz="2800" b="1" spc="-5" dirty="0">
                <a:solidFill>
                  <a:srgbClr val="C00000"/>
                </a:solidFill>
                <a:latin typeface="Times New Roman" panose="02020603050405020304"/>
                <a:cs typeface="Times New Roman" panose="02020603050405020304"/>
              </a:rPr>
              <a:t>)</a:t>
            </a:r>
            <a:endParaRPr sz="2800" dirty="0">
              <a:latin typeface="Times New Roman" panose="02020603050405020304"/>
              <a:cs typeface="Times New Roman" panose="02020603050405020304"/>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9082" y="1113469"/>
            <a:ext cx="6171765" cy="444519"/>
          </a:xfrm>
          <a:prstGeom prst="rect">
            <a:avLst/>
          </a:prstGeom>
        </p:spPr>
        <p:txBody>
          <a:bodyPr vert="horz" wrap="square" lIns="0" tIns="13500" rIns="0" bIns="0" rtlCol="0">
            <a:spAutoFit/>
          </a:bodyPr>
          <a:lstStyle/>
          <a:p>
            <a:pPr marL="13335">
              <a:spcBef>
                <a:spcPts val="105"/>
              </a:spcBef>
              <a:tabLst>
                <a:tab pos="1312545" algn="l"/>
              </a:tabLst>
            </a:pPr>
            <a:r>
              <a:rPr sz="2800" b="1" dirty="0">
                <a:solidFill>
                  <a:srgbClr val="C00000"/>
                </a:solidFill>
                <a:latin typeface="黑体" panose="02010609060101010101" pitchFamily="49" charset="-122"/>
                <a:ea typeface="黑体" panose="02010609060101010101" pitchFamily="49" charset="-122"/>
                <a:cs typeface="宋体" panose="02010600030101010101" pitchFamily="2" charset="-122"/>
              </a:rPr>
              <a:t>分治</a:t>
            </a:r>
            <a:r>
              <a:rPr sz="2800" b="1" spc="-11" dirty="0">
                <a:solidFill>
                  <a:srgbClr val="C00000"/>
                </a:solidFill>
                <a:latin typeface="黑体" panose="02010609060101010101" pitchFamily="49" charset="-122"/>
                <a:ea typeface="黑体" panose="02010609060101010101" pitchFamily="49" charset="-122"/>
                <a:cs typeface="宋体" panose="02010600030101010101" pitchFamily="2" charset="-122"/>
              </a:rPr>
              <a:t>法</a:t>
            </a:r>
            <a:r>
              <a:rPr sz="2800" b="1" dirty="0">
                <a:latin typeface="黑体" panose="02010609060101010101" pitchFamily="49" charset="-122"/>
                <a:ea typeface="黑体" panose="02010609060101010101" pitchFamily="49" charset="-122"/>
                <a:cs typeface="宋体" panose="02010600030101010101" pitchFamily="2" charset="-122"/>
              </a:rPr>
              <a:t>	将矩阵分块，得</a:t>
            </a:r>
            <a:endParaRPr sz="2800" dirty="0">
              <a:latin typeface="黑体" panose="02010609060101010101" pitchFamily="49" charset="-122"/>
              <a:ea typeface="黑体" panose="02010609060101010101" pitchFamily="49" charset="-122"/>
              <a:cs typeface="宋体" panose="02010600030101010101" pitchFamily="2" charset="-122"/>
            </a:endParaRPr>
          </a:p>
        </p:txBody>
      </p:sp>
      <p:sp>
        <p:nvSpPr>
          <p:cNvPr id="3" name="object 3"/>
          <p:cNvSpPr txBox="1"/>
          <p:nvPr/>
        </p:nvSpPr>
        <p:spPr>
          <a:xfrm>
            <a:off x="2551192" y="1957826"/>
            <a:ext cx="3834779" cy="604900"/>
          </a:xfrm>
          <a:prstGeom prst="rect">
            <a:avLst/>
          </a:prstGeom>
        </p:spPr>
        <p:txBody>
          <a:bodyPr vert="horz" wrap="square" lIns="0" tIns="14850" rIns="0" bIns="0" rtlCol="0">
            <a:spAutoFit/>
          </a:bodyPr>
          <a:lstStyle/>
          <a:p>
            <a:pPr marR="5715" algn="r">
              <a:lnSpc>
                <a:spcPts val="2305"/>
              </a:lnSpc>
              <a:spcBef>
                <a:spcPts val="115"/>
              </a:spcBef>
            </a:pPr>
            <a:r>
              <a:rPr sz="2020" spc="-85" dirty="0">
                <a:latin typeface="Symbol" panose="05050102010706020507"/>
                <a:cs typeface="Symbol" panose="05050102010706020507"/>
              </a:rPr>
              <a:t></a:t>
            </a:r>
            <a:endParaRPr sz="2020">
              <a:latin typeface="Symbol" panose="05050102010706020507"/>
              <a:cs typeface="Symbol" panose="05050102010706020507"/>
            </a:endParaRPr>
          </a:p>
          <a:p>
            <a:pPr marL="13335">
              <a:lnSpc>
                <a:spcPts val="2305"/>
              </a:lnSpc>
              <a:tabLst>
                <a:tab pos="297815" algn="l"/>
                <a:tab pos="865505" algn="l"/>
                <a:tab pos="1562100" algn="l"/>
                <a:tab pos="2130425" algn="l"/>
                <a:tab pos="2665095" algn="l"/>
                <a:tab pos="2950210" algn="l"/>
                <a:tab pos="3518535" algn="l"/>
              </a:tabLst>
            </a:pPr>
            <a:r>
              <a:rPr sz="2020" spc="-85" dirty="0">
                <a:latin typeface="Symbol" panose="05050102010706020507"/>
                <a:cs typeface="Symbol" panose="05050102010706020507"/>
              </a:rPr>
              <a:t></a:t>
            </a:r>
            <a:r>
              <a:rPr sz="2020" spc="-85" dirty="0">
                <a:latin typeface="Times New Roman" panose="02020603050405020304"/>
                <a:cs typeface="Times New Roman" panose="02020603050405020304"/>
              </a:rPr>
              <a:t>	</a:t>
            </a:r>
            <a:r>
              <a:rPr sz="2230" b="1" spc="-80" baseline="2000" dirty="0">
                <a:latin typeface="Times New Roman" panose="02020603050405020304"/>
                <a:cs typeface="Times New Roman" panose="02020603050405020304"/>
              </a:rPr>
              <a:t>21	22</a:t>
            </a:r>
            <a:r>
              <a:rPr sz="2230" b="1" spc="-135" baseline="2000" dirty="0">
                <a:latin typeface="Times New Roman" panose="02020603050405020304"/>
                <a:cs typeface="Times New Roman" panose="02020603050405020304"/>
              </a:rPr>
              <a:t> </a:t>
            </a:r>
            <a:r>
              <a:rPr sz="2020" spc="-85" dirty="0">
                <a:latin typeface="Symbol" panose="05050102010706020507"/>
                <a:cs typeface="Symbol" panose="05050102010706020507"/>
              </a:rPr>
              <a:t></a:t>
            </a:r>
            <a:r>
              <a:rPr sz="2020" spc="-85" dirty="0">
                <a:latin typeface="Times New Roman" panose="02020603050405020304"/>
                <a:cs typeface="Times New Roman" panose="02020603050405020304"/>
              </a:rPr>
              <a:t> </a:t>
            </a:r>
            <a:r>
              <a:rPr sz="2020" spc="-53" dirty="0">
                <a:latin typeface="Times New Roman" panose="02020603050405020304"/>
                <a:cs typeface="Times New Roman" panose="02020603050405020304"/>
              </a:rPr>
              <a:t> </a:t>
            </a:r>
            <a:r>
              <a:rPr sz="2020" spc="-85" dirty="0">
                <a:latin typeface="Symbol" panose="05050102010706020507"/>
                <a:cs typeface="Symbol" panose="05050102010706020507"/>
              </a:rPr>
              <a:t></a:t>
            </a:r>
            <a:r>
              <a:rPr sz="2020" spc="-85" dirty="0">
                <a:latin typeface="Times New Roman" panose="02020603050405020304"/>
                <a:cs typeface="Times New Roman" panose="02020603050405020304"/>
              </a:rPr>
              <a:t>	</a:t>
            </a:r>
            <a:r>
              <a:rPr sz="2230" b="1" spc="-80" baseline="2000" dirty="0">
                <a:latin typeface="Times New Roman" panose="02020603050405020304"/>
                <a:cs typeface="Times New Roman" panose="02020603050405020304"/>
              </a:rPr>
              <a:t>21	22</a:t>
            </a:r>
            <a:r>
              <a:rPr sz="2230" b="1" spc="-128" baseline="2000" dirty="0">
                <a:latin typeface="Times New Roman" panose="02020603050405020304"/>
                <a:cs typeface="Times New Roman" panose="02020603050405020304"/>
              </a:rPr>
              <a:t> </a:t>
            </a:r>
            <a:r>
              <a:rPr sz="2020" spc="-85" dirty="0">
                <a:latin typeface="Symbol" panose="05050102010706020507"/>
                <a:cs typeface="Symbol" panose="05050102010706020507"/>
              </a:rPr>
              <a:t></a:t>
            </a:r>
            <a:r>
              <a:rPr sz="2020" spc="-85" dirty="0">
                <a:latin typeface="Times New Roman" panose="02020603050405020304"/>
                <a:cs typeface="Times New Roman" panose="02020603050405020304"/>
              </a:rPr>
              <a:t>	</a:t>
            </a:r>
            <a:r>
              <a:rPr sz="2020" spc="-85" dirty="0">
                <a:latin typeface="Symbol" panose="05050102010706020507"/>
                <a:cs typeface="Symbol" panose="05050102010706020507"/>
              </a:rPr>
              <a:t></a:t>
            </a:r>
            <a:r>
              <a:rPr sz="2020" spc="-85" dirty="0">
                <a:latin typeface="Times New Roman" panose="02020603050405020304"/>
                <a:cs typeface="Times New Roman" panose="02020603050405020304"/>
              </a:rPr>
              <a:t>	</a:t>
            </a:r>
            <a:r>
              <a:rPr sz="2230" b="1" spc="-80" baseline="2000" dirty="0">
                <a:latin typeface="Times New Roman" panose="02020603050405020304"/>
                <a:cs typeface="Times New Roman" panose="02020603050405020304"/>
              </a:rPr>
              <a:t>21	22</a:t>
            </a:r>
            <a:r>
              <a:rPr sz="2230" b="1" spc="-231" baseline="2000" dirty="0">
                <a:latin typeface="Times New Roman" panose="02020603050405020304"/>
                <a:cs typeface="Times New Roman" panose="02020603050405020304"/>
              </a:rPr>
              <a:t> </a:t>
            </a:r>
            <a:r>
              <a:rPr sz="2020" spc="-85" dirty="0">
                <a:latin typeface="Symbol" panose="05050102010706020507"/>
                <a:cs typeface="Symbol" panose="05050102010706020507"/>
              </a:rPr>
              <a:t></a:t>
            </a:r>
            <a:endParaRPr sz="2020">
              <a:latin typeface="Symbol" panose="05050102010706020507"/>
              <a:cs typeface="Symbol" panose="05050102010706020507"/>
            </a:endParaRPr>
          </a:p>
        </p:txBody>
      </p:sp>
      <p:sp>
        <p:nvSpPr>
          <p:cNvPr id="4" name="object 4"/>
          <p:cNvSpPr txBox="1"/>
          <p:nvPr/>
        </p:nvSpPr>
        <p:spPr>
          <a:xfrm>
            <a:off x="4882081" y="1957826"/>
            <a:ext cx="1187357" cy="527956"/>
          </a:xfrm>
          <a:prstGeom prst="rect">
            <a:avLst/>
          </a:prstGeom>
        </p:spPr>
        <p:txBody>
          <a:bodyPr vert="horz" wrap="square" lIns="0" tIns="14850" rIns="0" bIns="0" rtlCol="0">
            <a:spAutoFit/>
          </a:bodyPr>
          <a:lstStyle/>
          <a:p>
            <a:pPr marL="13335">
              <a:lnSpc>
                <a:spcPts val="2040"/>
              </a:lnSpc>
              <a:spcBef>
                <a:spcPts val="115"/>
              </a:spcBef>
            </a:pPr>
            <a:r>
              <a:rPr sz="2020" spc="-85" dirty="0">
                <a:latin typeface="Symbol" panose="05050102010706020507"/>
                <a:cs typeface="Symbol" panose="05050102010706020507"/>
              </a:rPr>
              <a:t></a:t>
            </a:r>
            <a:r>
              <a:rPr sz="2020" spc="-85" dirty="0">
                <a:latin typeface="Times New Roman" panose="02020603050405020304"/>
                <a:cs typeface="Times New Roman" panose="02020603050405020304"/>
              </a:rPr>
              <a:t> </a:t>
            </a:r>
            <a:r>
              <a:rPr sz="3030" spc="-175" baseline="-3000" dirty="0">
                <a:latin typeface="Symbol" panose="05050102010706020507"/>
                <a:cs typeface="Symbol" panose="05050102010706020507"/>
              </a:rPr>
              <a:t></a:t>
            </a:r>
            <a:r>
              <a:rPr sz="3030" spc="-151" baseline="-3000" dirty="0">
                <a:latin typeface="Times New Roman" panose="02020603050405020304"/>
                <a:cs typeface="Times New Roman" panose="02020603050405020304"/>
              </a:rPr>
              <a:t> </a:t>
            </a:r>
            <a:r>
              <a:rPr sz="2020" spc="-85" dirty="0">
                <a:latin typeface="Symbol" panose="05050102010706020507"/>
                <a:cs typeface="Symbol" panose="05050102010706020507"/>
              </a:rPr>
              <a:t></a:t>
            </a:r>
            <a:endParaRPr sz="2020" dirty="0">
              <a:latin typeface="Symbol" panose="05050102010706020507"/>
              <a:cs typeface="Symbol" panose="05050102010706020507"/>
            </a:endParaRPr>
          </a:p>
          <a:p>
            <a:pPr marL="451485">
              <a:lnSpc>
                <a:spcPts val="2040"/>
              </a:lnSpc>
              <a:tabLst>
                <a:tab pos="1019175" algn="l"/>
              </a:tabLst>
            </a:pPr>
            <a:r>
              <a:rPr sz="2020" b="1" i="1" spc="-144" dirty="0">
                <a:latin typeface="Times New Roman" panose="02020603050405020304"/>
                <a:cs typeface="Times New Roman" panose="02020603050405020304"/>
              </a:rPr>
              <a:t>C	C</a:t>
            </a:r>
            <a:endParaRPr sz="2020" dirty="0">
              <a:latin typeface="Times New Roman" panose="02020603050405020304"/>
              <a:cs typeface="Times New Roman" panose="02020603050405020304"/>
            </a:endParaRPr>
          </a:p>
        </p:txBody>
      </p:sp>
      <p:sp>
        <p:nvSpPr>
          <p:cNvPr id="5" name="object 5"/>
          <p:cNvSpPr txBox="1"/>
          <p:nvPr/>
        </p:nvSpPr>
        <p:spPr>
          <a:xfrm>
            <a:off x="3616822" y="1957826"/>
            <a:ext cx="1078003" cy="527956"/>
          </a:xfrm>
          <a:prstGeom prst="rect">
            <a:avLst/>
          </a:prstGeom>
        </p:spPr>
        <p:txBody>
          <a:bodyPr vert="horz" wrap="square" lIns="0" tIns="14850" rIns="0" bIns="0" rtlCol="0">
            <a:spAutoFit/>
          </a:bodyPr>
          <a:lstStyle/>
          <a:p>
            <a:pPr marL="13335">
              <a:lnSpc>
                <a:spcPts val="2040"/>
              </a:lnSpc>
              <a:spcBef>
                <a:spcPts val="115"/>
              </a:spcBef>
            </a:pPr>
            <a:r>
              <a:rPr sz="2020" spc="-85" dirty="0">
                <a:latin typeface="Symbol" panose="05050102010706020507"/>
                <a:cs typeface="Symbol" panose="05050102010706020507"/>
              </a:rPr>
              <a:t></a:t>
            </a:r>
            <a:r>
              <a:rPr sz="2020" spc="-74" dirty="0">
                <a:latin typeface="Times New Roman" panose="02020603050405020304"/>
                <a:cs typeface="Times New Roman" panose="02020603050405020304"/>
              </a:rPr>
              <a:t> </a:t>
            </a:r>
            <a:r>
              <a:rPr sz="2020" spc="-85" dirty="0">
                <a:latin typeface="Symbol" panose="05050102010706020507"/>
                <a:cs typeface="Symbol" panose="05050102010706020507"/>
              </a:rPr>
              <a:t></a:t>
            </a:r>
            <a:endParaRPr sz="2020">
              <a:latin typeface="Symbol" panose="05050102010706020507"/>
              <a:cs typeface="Symbol" panose="05050102010706020507"/>
            </a:endParaRPr>
          </a:p>
          <a:p>
            <a:pPr marL="341630">
              <a:lnSpc>
                <a:spcPts val="2040"/>
              </a:lnSpc>
              <a:tabLst>
                <a:tab pos="909955" algn="l"/>
              </a:tabLst>
            </a:pPr>
            <a:r>
              <a:rPr sz="2020" b="1" i="1" spc="-144" dirty="0">
                <a:latin typeface="Times New Roman" panose="02020603050405020304"/>
                <a:cs typeface="Times New Roman" panose="02020603050405020304"/>
              </a:rPr>
              <a:t>B	B</a:t>
            </a:r>
            <a:endParaRPr sz="2020">
              <a:latin typeface="Times New Roman" panose="02020603050405020304"/>
              <a:cs typeface="Times New Roman" panose="02020603050405020304"/>
            </a:endParaRPr>
          </a:p>
        </p:txBody>
      </p:sp>
      <p:sp>
        <p:nvSpPr>
          <p:cNvPr id="6" name="object 6"/>
          <p:cNvSpPr txBox="1"/>
          <p:nvPr/>
        </p:nvSpPr>
        <p:spPr>
          <a:xfrm>
            <a:off x="4478920" y="1845173"/>
            <a:ext cx="1947428" cy="325849"/>
          </a:xfrm>
          <a:prstGeom prst="rect">
            <a:avLst/>
          </a:prstGeom>
        </p:spPr>
        <p:txBody>
          <a:bodyPr vert="horz" wrap="square" lIns="0" tIns="14850" rIns="0" bIns="0" rtlCol="0">
            <a:spAutoFit/>
          </a:bodyPr>
          <a:lstStyle/>
          <a:p>
            <a:pPr marL="53975">
              <a:spcBef>
                <a:spcPts val="115"/>
              </a:spcBef>
              <a:tabLst>
                <a:tab pos="737235" algn="l"/>
                <a:tab pos="1427480" algn="l"/>
              </a:tabLst>
            </a:pPr>
            <a:r>
              <a:rPr sz="3030" b="1" i="1" spc="-159" baseline="15000" dirty="0">
                <a:latin typeface="Times New Roman" panose="02020603050405020304"/>
                <a:cs typeface="Times New Roman" panose="02020603050405020304"/>
              </a:rPr>
              <a:t>B</a:t>
            </a:r>
            <a:r>
              <a:rPr sz="1490" b="1" spc="-106" dirty="0">
                <a:latin typeface="Times New Roman" panose="02020603050405020304"/>
                <a:cs typeface="Times New Roman" panose="02020603050405020304"/>
              </a:rPr>
              <a:t>12</a:t>
            </a:r>
            <a:r>
              <a:rPr sz="1490" b="1" spc="-48" dirty="0">
                <a:latin typeface="Times New Roman" panose="02020603050405020304"/>
                <a:cs typeface="Times New Roman" panose="02020603050405020304"/>
              </a:rPr>
              <a:t> </a:t>
            </a:r>
            <a:r>
              <a:rPr sz="3030" spc="-128" baseline="12000" dirty="0">
                <a:latin typeface="Symbol" panose="05050102010706020507"/>
                <a:cs typeface="Symbol" panose="05050102010706020507"/>
              </a:rPr>
              <a:t></a:t>
            </a:r>
            <a:r>
              <a:rPr sz="3030" spc="-128" baseline="12000" dirty="0">
                <a:latin typeface="Times New Roman" panose="02020603050405020304"/>
                <a:cs typeface="Times New Roman" panose="02020603050405020304"/>
              </a:rPr>
              <a:t>	</a:t>
            </a:r>
            <a:r>
              <a:rPr sz="3030" spc="-128" baseline="12000" dirty="0">
                <a:latin typeface="Symbol" panose="05050102010706020507"/>
                <a:cs typeface="Symbol" panose="05050102010706020507"/>
              </a:rPr>
              <a:t></a:t>
            </a:r>
            <a:r>
              <a:rPr sz="3030" spc="-367" baseline="12000" dirty="0">
                <a:latin typeface="Times New Roman" panose="02020603050405020304"/>
                <a:cs typeface="Times New Roman" panose="02020603050405020304"/>
              </a:rPr>
              <a:t> </a:t>
            </a:r>
            <a:r>
              <a:rPr sz="3030" b="1" i="1" spc="-103" baseline="15000" dirty="0">
                <a:latin typeface="Times New Roman" panose="02020603050405020304"/>
                <a:cs typeface="Times New Roman" panose="02020603050405020304"/>
              </a:rPr>
              <a:t>C</a:t>
            </a:r>
            <a:r>
              <a:rPr sz="1490" b="1" spc="-69" dirty="0">
                <a:latin typeface="Times New Roman" panose="02020603050405020304"/>
                <a:cs typeface="Times New Roman" panose="02020603050405020304"/>
              </a:rPr>
              <a:t>11	</a:t>
            </a:r>
            <a:r>
              <a:rPr sz="3030" b="1" i="1" spc="-103" baseline="15000" dirty="0">
                <a:latin typeface="Times New Roman" panose="02020603050405020304"/>
                <a:cs typeface="Times New Roman" panose="02020603050405020304"/>
              </a:rPr>
              <a:t>C</a:t>
            </a:r>
            <a:r>
              <a:rPr sz="1490" b="1" spc="-69" dirty="0">
                <a:latin typeface="Times New Roman" panose="02020603050405020304"/>
                <a:cs typeface="Times New Roman" panose="02020603050405020304"/>
              </a:rPr>
              <a:t>12</a:t>
            </a:r>
            <a:r>
              <a:rPr sz="1490" b="1" spc="-85" dirty="0">
                <a:latin typeface="Times New Roman" panose="02020603050405020304"/>
                <a:cs typeface="Times New Roman" panose="02020603050405020304"/>
              </a:rPr>
              <a:t> </a:t>
            </a:r>
            <a:r>
              <a:rPr sz="3030" spc="-128" baseline="12000" dirty="0">
                <a:latin typeface="Symbol" panose="05050102010706020507"/>
                <a:cs typeface="Symbol" panose="05050102010706020507"/>
              </a:rPr>
              <a:t></a:t>
            </a:r>
            <a:endParaRPr sz="3030" baseline="12000">
              <a:latin typeface="Symbol" panose="05050102010706020507"/>
              <a:cs typeface="Symbol" panose="05050102010706020507"/>
            </a:endParaRPr>
          </a:p>
        </p:txBody>
      </p:sp>
      <p:sp>
        <p:nvSpPr>
          <p:cNvPr id="7" name="object 7"/>
          <p:cNvSpPr txBox="1"/>
          <p:nvPr/>
        </p:nvSpPr>
        <p:spPr>
          <a:xfrm>
            <a:off x="2551190" y="1957826"/>
            <a:ext cx="889674" cy="527956"/>
          </a:xfrm>
          <a:prstGeom prst="rect">
            <a:avLst/>
          </a:prstGeom>
        </p:spPr>
        <p:txBody>
          <a:bodyPr vert="horz" wrap="square" lIns="0" tIns="14850" rIns="0" bIns="0" rtlCol="0">
            <a:spAutoFit/>
          </a:bodyPr>
          <a:lstStyle/>
          <a:p>
            <a:pPr marL="13335">
              <a:lnSpc>
                <a:spcPts val="2040"/>
              </a:lnSpc>
              <a:spcBef>
                <a:spcPts val="115"/>
              </a:spcBef>
            </a:pPr>
            <a:r>
              <a:rPr sz="2020" spc="-85" dirty="0">
                <a:latin typeface="Symbol" panose="05050102010706020507"/>
                <a:cs typeface="Symbol" panose="05050102010706020507"/>
              </a:rPr>
              <a:t></a:t>
            </a:r>
            <a:endParaRPr sz="2020">
              <a:latin typeface="Symbol" panose="05050102010706020507"/>
              <a:cs typeface="Symbol" panose="05050102010706020507"/>
            </a:endParaRPr>
          </a:p>
          <a:p>
            <a:pPr marL="154305">
              <a:lnSpc>
                <a:spcPts val="2040"/>
              </a:lnSpc>
              <a:tabLst>
                <a:tab pos="721995" algn="l"/>
              </a:tabLst>
            </a:pPr>
            <a:r>
              <a:rPr sz="2020" b="1" i="1" spc="-144" dirty="0">
                <a:latin typeface="Times New Roman" panose="02020603050405020304"/>
                <a:cs typeface="Times New Roman" panose="02020603050405020304"/>
              </a:rPr>
              <a:t>A	A</a:t>
            </a:r>
            <a:endParaRPr sz="2020">
              <a:latin typeface="Times New Roman" panose="02020603050405020304"/>
              <a:cs typeface="Times New Roman" panose="02020603050405020304"/>
            </a:endParaRPr>
          </a:p>
        </p:txBody>
      </p:sp>
      <p:sp>
        <p:nvSpPr>
          <p:cNvPr id="8" name="object 8"/>
          <p:cNvSpPr txBox="1"/>
          <p:nvPr/>
        </p:nvSpPr>
        <p:spPr>
          <a:xfrm>
            <a:off x="2510691" y="1845173"/>
            <a:ext cx="1838749" cy="325849"/>
          </a:xfrm>
          <a:prstGeom prst="rect">
            <a:avLst/>
          </a:prstGeom>
        </p:spPr>
        <p:txBody>
          <a:bodyPr vert="horz" wrap="square" lIns="0" tIns="14850" rIns="0" bIns="0" rtlCol="0">
            <a:spAutoFit/>
          </a:bodyPr>
          <a:lstStyle/>
          <a:p>
            <a:pPr marL="53975">
              <a:spcBef>
                <a:spcPts val="115"/>
              </a:spcBef>
              <a:tabLst>
                <a:tab pos="767715" algn="l"/>
              </a:tabLst>
            </a:pPr>
            <a:r>
              <a:rPr sz="3030" spc="-128" baseline="12000" dirty="0">
                <a:latin typeface="Symbol" panose="05050102010706020507"/>
                <a:cs typeface="Symbol" panose="05050102010706020507"/>
              </a:rPr>
              <a:t></a:t>
            </a:r>
            <a:r>
              <a:rPr sz="3030" spc="-71" baseline="12000" dirty="0">
                <a:latin typeface="Times New Roman" panose="02020603050405020304"/>
                <a:cs typeface="Times New Roman" panose="02020603050405020304"/>
              </a:rPr>
              <a:t> </a:t>
            </a:r>
            <a:r>
              <a:rPr sz="3030" b="1" i="1" spc="-199" baseline="15000" dirty="0">
                <a:latin typeface="Times New Roman" panose="02020603050405020304"/>
                <a:cs typeface="Times New Roman" panose="02020603050405020304"/>
              </a:rPr>
              <a:t>A</a:t>
            </a:r>
            <a:r>
              <a:rPr sz="1490" b="1" spc="-133" dirty="0">
                <a:latin typeface="Times New Roman" panose="02020603050405020304"/>
                <a:cs typeface="Times New Roman" panose="02020603050405020304"/>
              </a:rPr>
              <a:t>11	</a:t>
            </a:r>
            <a:r>
              <a:rPr sz="3030" b="1" i="1" spc="-207" baseline="15000" dirty="0">
                <a:latin typeface="Times New Roman" panose="02020603050405020304"/>
                <a:cs typeface="Times New Roman" panose="02020603050405020304"/>
              </a:rPr>
              <a:t>A</a:t>
            </a:r>
            <a:r>
              <a:rPr sz="1490" b="1" spc="-138" dirty="0">
                <a:latin typeface="Times New Roman" panose="02020603050405020304"/>
                <a:cs typeface="Times New Roman" panose="02020603050405020304"/>
              </a:rPr>
              <a:t>12 </a:t>
            </a:r>
            <a:r>
              <a:rPr sz="3030" spc="-128" baseline="12000" dirty="0">
                <a:latin typeface="Symbol" panose="05050102010706020507"/>
                <a:cs typeface="Symbol" panose="05050102010706020507"/>
              </a:rPr>
              <a:t></a:t>
            </a:r>
            <a:r>
              <a:rPr sz="3030" spc="-128" baseline="12000" dirty="0">
                <a:latin typeface="Times New Roman" panose="02020603050405020304"/>
                <a:cs typeface="Times New Roman" panose="02020603050405020304"/>
              </a:rPr>
              <a:t> </a:t>
            </a:r>
            <a:r>
              <a:rPr sz="3030" spc="-128" baseline="12000" dirty="0">
                <a:latin typeface="Symbol" panose="05050102010706020507"/>
                <a:cs typeface="Symbol" panose="05050102010706020507"/>
              </a:rPr>
              <a:t></a:t>
            </a:r>
            <a:r>
              <a:rPr sz="3030" spc="-478" baseline="12000" dirty="0">
                <a:latin typeface="Times New Roman" panose="02020603050405020304"/>
                <a:cs typeface="Times New Roman" panose="02020603050405020304"/>
              </a:rPr>
              <a:t> </a:t>
            </a:r>
            <a:r>
              <a:rPr sz="3030" b="1" i="1" spc="-119" baseline="15000" dirty="0">
                <a:latin typeface="Times New Roman" panose="02020603050405020304"/>
                <a:cs typeface="Times New Roman" panose="02020603050405020304"/>
              </a:rPr>
              <a:t>B</a:t>
            </a:r>
            <a:r>
              <a:rPr sz="1490" b="1" spc="-80" dirty="0">
                <a:latin typeface="Times New Roman" panose="02020603050405020304"/>
                <a:cs typeface="Times New Roman" panose="02020603050405020304"/>
              </a:rPr>
              <a:t>11</a:t>
            </a:r>
            <a:endParaRPr sz="1490">
              <a:latin typeface="Times New Roman" panose="02020603050405020304"/>
              <a:cs typeface="Times New Roman" panose="02020603050405020304"/>
            </a:endParaRPr>
          </a:p>
        </p:txBody>
      </p:sp>
      <p:sp>
        <p:nvSpPr>
          <p:cNvPr id="9" name="object 9"/>
          <p:cNvSpPr txBox="1"/>
          <p:nvPr/>
        </p:nvSpPr>
        <p:spPr>
          <a:xfrm>
            <a:off x="484835" y="3383045"/>
            <a:ext cx="8263916" cy="2103119"/>
          </a:xfrm>
          <a:prstGeom prst="rect">
            <a:avLst/>
          </a:prstGeom>
        </p:spPr>
        <p:txBody>
          <a:bodyPr vert="horz" wrap="square" lIns="0" tIns="166730" rIns="0" bIns="0" rtlCol="0">
            <a:spAutoFit/>
          </a:bodyPr>
          <a:lstStyle/>
          <a:p>
            <a:pPr marL="165100">
              <a:spcBef>
                <a:spcPts val="1315"/>
              </a:spcBef>
              <a:tabLst>
                <a:tab pos="2831465" algn="l"/>
              </a:tabLst>
            </a:pPr>
            <a:r>
              <a:rPr sz="3510" b="1" i="1" spc="-32" baseline="14000" dirty="0">
                <a:latin typeface="Times New Roman" panose="02020603050405020304"/>
                <a:cs typeface="Times New Roman" panose="02020603050405020304"/>
              </a:rPr>
              <a:t>C</a:t>
            </a:r>
            <a:r>
              <a:rPr sz="1380" b="1" spc="-21" dirty="0">
                <a:latin typeface="Times New Roman" panose="02020603050405020304"/>
                <a:cs typeface="Times New Roman" panose="02020603050405020304"/>
              </a:rPr>
              <a:t>21  </a:t>
            </a:r>
            <a:r>
              <a:rPr sz="3510" spc="-64" baseline="14000" dirty="0">
                <a:latin typeface="Symbol" panose="05050102010706020507"/>
                <a:cs typeface="Symbol" panose="05050102010706020507"/>
              </a:rPr>
              <a:t></a:t>
            </a:r>
            <a:r>
              <a:rPr sz="3510" spc="-64" baseline="14000" dirty="0">
                <a:latin typeface="Times New Roman" panose="02020603050405020304"/>
                <a:cs typeface="Times New Roman" panose="02020603050405020304"/>
              </a:rPr>
              <a:t> </a:t>
            </a:r>
            <a:r>
              <a:rPr sz="3510" b="1" i="1" spc="-151" baseline="14000" dirty="0">
                <a:latin typeface="Times New Roman" panose="02020603050405020304"/>
                <a:cs typeface="Times New Roman" panose="02020603050405020304"/>
              </a:rPr>
              <a:t>A</a:t>
            </a:r>
            <a:r>
              <a:rPr sz="1380" b="1" spc="-101" dirty="0">
                <a:latin typeface="Times New Roman" panose="02020603050405020304"/>
                <a:cs typeface="Times New Roman" panose="02020603050405020304"/>
              </a:rPr>
              <a:t>21 </a:t>
            </a:r>
            <a:r>
              <a:rPr sz="3510" b="1" i="1" spc="-135" baseline="14000" dirty="0">
                <a:latin typeface="Times New Roman" panose="02020603050405020304"/>
                <a:cs typeface="Times New Roman" panose="02020603050405020304"/>
              </a:rPr>
              <a:t>B</a:t>
            </a:r>
            <a:r>
              <a:rPr sz="1380" b="1" spc="-90" dirty="0">
                <a:latin typeface="Times New Roman" panose="02020603050405020304"/>
                <a:cs typeface="Times New Roman" panose="02020603050405020304"/>
              </a:rPr>
              <a:t>11</a:t>
            </a:r>
            <a:r>
              <a:rPr sz="1380" b="1" spc="165" dirty="0">
                <a:latin typeface="Times New Roman" panose="02020603050405020304"/>
                <a:cs typeface="Times New Roman" panose="02020603050405020304"/>
              </a:rPr>
              <a:t> </a:t>
            </a:r>
            <a:r>
              <a:rPr sz="3510" spc="-64" baseline="14000" dirty="0">
                <a:latin typeface="Symbol" panose="05050102010706020507"/>
                <a:cs typeface="Symbol" panose="05050102010706020507"/>
              </a:rPr>
              <a:t></a:t>
            </a:r>
            <a:r>
              <a:rPr sz="3510" spc="87" baseline="14000" dirty="0">
                <a:latin typeface="Times New Roman" panose="02020603050405020304"/>
                <a:cs typeface="Times New Roman" panose="02020603050405020304"/>
              </a:rPr>
              <a:t> </a:t>
            </a:r>
            <a:r>
              <a:rPr sz="3510" b="1" i="1" spc="-151" baseline="14000" dirty="0">
                <a:latin typeface="Times New Roman" panose="02020603050405020304"/>
                <a:cs typeface="Times New Roman" panose="02020603050405020304"/>
              </a:rPr>
              <a:t>A</a:t>
            </a:r>
            <a:r>
              <a:rPr sz="1380" b="1" spc="-101" dirty="0">
                <a:latin typeface="Times New Roman" panose="02020603050405020304"/>
                <a:cs typeface="Times New Roman" panose="02020603050405020304"/>
              </a:rPr>
              <a:t>22</a:t>
            </a:r>
            <a:r>
              <a:rPr sz="1380" b="1" spc="-197" dirty="0">
                <a:latin typeface="Times New Roman" panose="02020603050405020304"/>
                <a:cs typeface="Times New Roman" panose="02020603050405020304"/>
              </a:rPr>
              <a:t> </a:t>
            </a:r>
            <a:r>
              <a:rPr sz="3510" b="1" i="1" spc="-95" baseline="14000" dirty="0">
                <a:latin typeface="Times New Roman" panose="02020603050405020304"/>
                <a:cs typeface="Times New Roman" panose="02020603050405020304"/>
              </a:rPr>
              <a:t>B</a:t>
            </a:r>
            <a:r>
              <a:rPr sz="1380" b="1" spc="-64" dirty="0">
                <a:latin typeface="Times New Roman" panose="02020603050405020304"/>
                <a:cs typeface="Times New Roman" panose="02020603050405020304"/>
              </a:rPr>
              <a:t>21	</a:t>
            </a:r>
            <a:r>
              <a:rPr sz="3510" b="1" i="1" spc="-32" baseline="14000" dirty="0">
                <a:latin typeface="Times New Roman" panose="02020603050405020304"/>
                <a:cs typeface="Times New Roman" panose="02020603050405020304"/>
              </a:rPr>
              <a:t>C</a:t>
            </a:r>
            <a:r>
              <a:rPr sz="1380" b="1" spc="-21" dirty="0">
                <a:latin typeface="Times New Roman" panose="02020603050405020304"/>
                <a:cs typeface="Times New Roman" panose="02020603050405020304"/>
              </a:rPr>
              <a:t>22 </a:t>
            </a:r>
            <a:r>
              <a:rPr sz="3510" spc="-64" baseline="14000" dirty="0">
                <a:latin typeface="Symbol" panose="05050102010706020507"/>
                <a:cs typeface="Symbol" panose="05050102010706020507"/>
              </a:rPr>
              <a:t></a:t>
            </a:r>
            <a:r>
              <a:rPr sz="3510" spc="-64" baseline="14000" dirty="0">
                <a:latin typeface="Times New Roman" panose="02020603050405020304"/>
                <a:cs typeface="Times New Roman" panose="02020603050405020304"/>
              </a:rPr>
              <a:t> </a:t>
            </a:r>
            <a:r>
              <a:rPr sz="3510" b="1" i="1" spc="-151" baseline="14000" dirty="0">
                <a:latin typeface="Times New Roman" panose="02020603050405020304"/>
                <a:cs typeface="Times New Roman" panose="02020603050405020304"/>
              </a:rPr>
              <a:t>A</a:t>
            </a:r>
            <a:r>
              <a:rPr sz="1380" b="1" spc="-101" dirty="0">
                <a:latin typeface="Times New Roman" panose="02020603050405020304"/>
                <a:cs typeface="Times New Roman" panose="02020603050405020304"/>
              </a:rPr>
              <a:t>21 </a:t>
            </a:r>
            <a:r>
              <a:rPr sz="3510" b="1" i="1" spc="-135" baseline="14000" dirty="0">
                <a:latin typeface="Times New Roman" panose="02020603050405020304"/>
                <a:cs typeface="Times New Roman" panose="02020603050405020304"/>
              </a:rPr>
              <a:t>B</a:t>
            </a:r>
            <a:r>
              <a:rPr sz="1380" b="1" spc="-90" dirty="0">
                <a:latin typeface="Times New Roman" panose="02020603050405020304"/>
                <a:cs typeface="Times New Roman" panose="02020603050405020304"/>
              </a:rPr>
              <a:t>12 </a:t>
            </a:r>
            <a:r>
              <a:rPr sz="3510" spc="-64" baseline="14000" dirty="0">
                <a:latin typeface="Symbol" panose="05050102010706020507"/>
                <a:cs typeface="Symbol" panose="05050102010706020507"/>
              </a:rPr>
              <a:t></a:t>
            </a:r>
            <a:r>
              <a:rPr sz="3510" spc="-64" baseline="14000" dirty="0">
                <a:latin typeface="Times New Roman" panose="02020603050405020304"/>
                <a:cs typeface="Times New Roman" panose="02020603050405020304"/>
              </a:rPr>
              <a:t> </a:t>
            </a:r>
            <a:r>
              <a:rPr sz="3510" b="1" i="1" spc="-151" baseline="14000" dirty="0">
                <a:latin typeface="Times New Roman" panose="02020603050405020304"/>
                <a:cs typeface="Times New Roman" panose="02020603050405020304"/>
              </a:rPr>
              <a:t>A</a:t>
            </a:r>
            <a:r>
              <a:rPr sz="1380" b="1" spc="-101" dirty="0">
                <a:latin typeface="Times New Roman" panose="02020603050405020304"/>
                <a:cs typeface="Times New Roman" panose="02020603050405020304"/>
              </a:rPr>
              <a:t>22</a:t>
            </a:r>
            <a:r>
              <a:rPr sz="1380" b="1" spc="-74" dirty="0">
                <a:latin typeface="Times New Roman" panose="02020603050405020304"/>
                <a:cs typeface="Times New Roman" panose="02020603050405020304"/>
              </a:rPr>
              <a:t> </a:t>
            </a:r>
            <a:r>
              <a:rPr sz="3510" b="1" i="1" spc="-111" baseline="14000" dirty="0">
                <a:latin typeface="Times New Roman" panose="02020603050405020304"/>
                <a:cs typeface="Times New Roman" panose="02020603050405020304"/>
              </a:rPr>
              <a:t>B</a:t>
            </a:r>
            <a:r>
              <a:rPr sz="1380" b="1" spc="-74" dirty="0">
                <a:latin typeface="Times New Roman" panose="02020603050405020304"/>
                <a:cs typeface="Times New Roman" panose="02020603050405020304"/>
              </a:rPr>
              <a:t>22</a:t>
            </a:r>
            <a:endParaRPr sz="1380" dirty="0">
              <a:latin typeface="Times New Roman" panose="02020603050405020304"/>
              <a:cs typeface="Times New Roman" panose="02020603050405020304"/>
            </a:endParaRPr>
          </a:p>
          <a:p>
            <a:pPr marL="67310">
              <a:spcBef>
                <a:spcPts val="1295"/>
              </a:spcBef>
            </a:pPr>
            <a:r>
              <a:rPr sz="2800" b="1" dirty="0">
                <a:latin typeface="黑体" panose="02010609060101010101" pitchFamily="49" charset="-122"/>
                <a:ea typeface="黑体" panose="02010609060101010101" pitchFamily="49" charset="-122"/>
                <a:cs typeface="宋体" panose="02010600030101010101" pitchFamily="2" charset="-122"/>
              </a:rPr>
              <a:t>递推方</a:t>
            </a:r>
            <a:r>
              <a:rPr sz="2800" b="1" spc="-11" dirty="0">
                <a:latin typeface="黑体" panose="02010609060101010101" pitchFamily="49" charset="-122"/>
                <a:ea typeface="黑体" panose="02010609060101010101" pitchFamily="49" charset="-122"/>
                <a:cs typeface="宋体" panose="02010600030101010101" pitchFamily="2" charset="-122"/>
              </a:rPr>
              <a:t>程</a:t>
            </a:r>
            <a:r>
              <a:rPr sz="2550" b="1" spc="-21" dirty="0">
                <a:latin typeface="宋体" panose="02010600030101010101" pitchFamily="2" charset="-122"/>
                <a:cs typeface="宋体" panose="02010600030101010101" pitchFamily="2" charset="-122"/>
              </a:rPr>
              <a:t> </a:t>
            </a:r>
            <a:r>
              <a:rPr sz="2550" b="1" i="1" spc="-5" dirty="0">
                <a:latin typeface="Times New Roman" panose="02020603050405020304"/>
                <a:cs typeface="Times New Roman" panose="02020603050405020304"/>
              </a:rPr>
              <a:t>W</a:t>
            </a:r>
            <a:r>
              <a:rPr sz="2550" b="1" spc="-5" dirty="0">
                <a:latin typeface="Times New Roman" panose="02020603050405020304"/>
                <a:cs typeface="Times New Roman" panose="02020603050405020304"/>
              </a:rPr>
              <a:t>(</a:t>
            </a:r>
            <a:r>
              <a:rPr sz="2550" b="1" i="1" spc="-5" dirty="0">
                <a:latin typeface="Times New Roman" panose="02020603050405020304"/>
                <a:cs typeface="Times New Roman" panose="02020603050405020304"/>
              </a:rPr>
              <a:t>n</a:t>
            </a:r>
            <a:r>
              <a:rPr sz="2550" b="1" spc="-5" dirty="0">
                <a:latin typeface="Times New Roman" panose="02020603050405020304"/>
                <a:cs typeface="Times New Roman" panose="02020603050405020304"/>
              </a:rPr>
              <a:t>)</a:t>
            </a:r>
            <a:r>
              <a:rPr sz="2550" b="1" dirty="0">
                <a:latin typeface="Times New Roman" panose="02020603050405020304"/>
                <a:cs typeface="Times New Roman" panose="02020603050405020304"/>
              </a:rPr>
              <a:t> =</a:t>
            </a:r>
            <a:r>
              <a:rPr sz="2550" b="1" spc="-5" dirty="0">
                <a:latin typeface="Times New Roman" panose="02020603050405020304"/>
                <a:cs typeface="Times New Roman" panose="02020603050405020304"/>
              </a:rPr>
              <a:t> </a:t>
            </a:r>
            <a:r>
              <a:rPr sz="2550" b="1" dirty="0">
                <a:latin typeface="Times New Roman" panose="02020603050405020304"/>
                <a:cs typeface="Times New Roman" panose="02020603050405020304"/>
              </a:rPr>
              <a:t>8 </a:t>
            </a:r>
            <a:r>
              <a:rPr sz="2550" b="1" i="1" spc="-5" dirty="0">
                <a:latin typeface="Times New Roman" panose="02020603050405020304"/>
                <a:cs typeface="Times New Roman" panose="02020603050405020304"/>
              </a:rPr>
              <a:t>W</a:t>
            </a:r>
            <a:r>
              <a:rPr sz="2550" b="1" spc="-5" dirty="0">
                <a:latin typeface="Times New Roman" panose="02020603050405020304"/>
                <a:cs typeface="Times New Roman" panose="02020603050405020304"/>
              </a:rPr>
              <a:t>(</a:t>
            </a:r>
            <a:r>
              <a:rPr sz="2550" b="1" i="1" spc="-5" dirty="0">
                <a:latin typeface="Times New Roman" panose="02020603050405020304"/>
                <a:cs typeface="Times New Roman" panose="02020603050405020304"/>
              </a:rPr>
              <a:t>n</a:t>
            </a:r>
            <a:r>
              <a:rPr sz="2550" b="1" spc="-5" dirty="0">
                <a:latin typeface="Times New Roman" panose="02020603050405020304"/>
                <a:cs typeface="Times New Roman" panose="02020603050405020304"/>
              </a:rPr>
              <a:t>/2) </a:t>
            </a:r>
            <a:r>
              <a:rPr sz="2550" b="1" dirty="0">
                <a:latin typeface="Times New Roman" panose="02020603050405020304"/>
                <a:cs typeface="Times New Roman" panose="02020603050405020304"/>
              </a:rPr>
              <a:t>+</a:t>
            </a:r>
            <a:r>
              <a:rPr sz="2550" b="1" spc="-16" dirty="0">
                <a:latin typeface="Times New Roman" panose="02020603050405020304"/>
                <a:cs typeface="Times New Roman" panose="02020603050405020304"/>
              </a:rPr>
              <a:t> </a:t>
            </a:r>
            <a:r>
              <a:rPr sz="2550" b="1" i="1" spc="-5" dirty="0">
                <a:latin typeface="Times New Roman" panose="02020603050405020304"/>
                <a:cs typeface="Times New Roman" panose="02020603050405020304"/>
              </a:rPr>
              <a:t>cn</a:t>
            </a:r>
            <a:r>
              <a:rPr sz="2550" b="1" spc="-7" baseline="24000" dirty="0">
                <a:latin typeface="Times New Roman" panose="02020603050405020304"/>
                <a:cs typeface="Times New Roman" panose="02020603050405020304"/>
              </a:rPr>
              <a:t>2</a:t>
            </a:r>
            <a:endParaRPr sz="2550" baseline="24000" dirty="0">
              <a:latin typeface="Times New Roman" panose="02020603050405020304"/>
              <a:cs typeface="Times New Roman" panose="02020603050405020304"/>
            </a:endParaRPr>
          </a:p>
          <a:p>
            <a:pPr marL="1523365">
              <a:spcBef>
                <a:spcPts val="610"/>
              </a:spcBef>
            </a:pPr>
            <a:r>
              <a:rPr sz="2550" b="1" i="1" spc="-5" dirty="0">
                <a:latin typeface="Times New Roman" panose="02020603050405020304"/>
                <a:cs typeface="Times New Roman" panose="02020603050405020304"/>
              </a:rPr>
              <a:t>W</a:t>
            </a:r>
            <a:r>
              <a:rPr sz="2550" b="1" spc="-5" dirty="0">
                <a:latin typeface="Times New Roman" panose="02020603050405020304"/>
                <a:cs typeface="Times New Roman" panose="02020603050405020304"/>
              </a:rPr>
              <a:t>(1) </a:t>
            </a:r>
            <a:r>
              <a:rPr sz="2550" b="1" dirty="0">
                <a:latin typeface="Times New Roman" panose="02020603050405020304"/>
                <a:cs typeface="Times New Roman" panose="02020603050405020304"/>
              </a:rPr>
              <a:t>=</a:t>
            </a:r>
            <a:r>
              <a:rPr sz="2550" b="1" spc="-5" dirty="0">
                <a:latin typeface="Times New Roman" panose="02020603050405020304"/>
                <a:cs typeface="Times New Roman" panose="02020603050405020304"/>
              </a:rPr>
              <a:t> </a:t>
            </a:r>
            <a:r>
              <a:rPr sz="2550" b="1" dirty="0">
                <a:latin typeface="Times New Roman" panose="02020603050405020304"/>
                <a:cs typeface="Times New Roman" panose="02020603050405020304"/>
              </a:rPr>
              <a:t>1</a:t>
            </a:r>
            <a:endParaRPr sz="2550" dirty="0">
              <a:latin typeface="Times New Roman" panose="02020603050405020304"/>
              <a:cs typeface="Times New Roman" panose="02020603050405020304"/>
            </a:endParaRPr>
          </a:p>
          <a:p>
            <a:pPr marL="67310">
              <a:spcBef>
                <a:spcPts val="610"/>
              </a:spcBef>
              <a:tabLst>
                <a:tab pos="1525270" algn="l"/>
              </a:tabLst>
            </a:pPr>
            <a:r>
              <a:rPr sz="2800" b="1" spc="-11" dirty="0">
                <a:latin typeface="黑体" panose="02010609060101010101" pitchFamily="49" charset="-122"/>
                <a:ea typeface="黑体" panose="02010609060101010101" pitchFamily="49" charset="-122"/>
                <a:cs typeface="宋体" panose="02010600030101010101" pitchFamily="2" charset="-122"/>
              </a:rPr>
              <a:t>解</a:t>
            </a:r>
            <a:r>
              <a:rPr sz="2550" b="1" spc="-11" dirty="0">
                <a:latin typeface="宋体" panose="02010600030101010101" pitchFamily="2" charset="-122"/>
                <a:cs typeface="宋体" panose="02010600030101010101" pitchFamily="2" charset="-122"/>
              </a:rPr>
              <a:t>	</a:t>
            </a:r>
            <a:r>
              <a:rPr sz="2550" b="1" i="1" spc="-5" dirty="0">
                <a:latin typeface="Times New Roman" panose="02020603050405020304"/>
                <a:cs typeface="Times New Roman" panose="02020603050405020304"/>
              </a:rPr>
              <a:t>W</a:t>
            </a:r>
            <a:r>
              <a:rPr sz="2550" b="1" spc="-5" dirty="0">
                <a:latin typeface="Times New Roman" panose="02020603050405020304"/>
                <a:cs typeface="Times New Roman" panose="02020603050405020304"/>
              </a:rPr>
              <a:t>(</a:t>
            </a:r>
            <a:r>
              <a:rPr sz="2550" b="1" i="1" spc="-5" dirty="0">
                <a:latin typeface="Times New Roman" panose="02020603050405020304"/>
                <a:cs typeface="Times New Roman" panose="02020603050405020304"/>
              </a:rPr>
              <a:t>n</a:t>
            </a:r>
            <a:r>
              <a:rPr sz="2550" b="1" spc="-5" dirty="0">
                <a:latin typeface="Times New Roman" panose="02020603050405020304"/>
                <a:cs typeface="Times New Roman" panose="02020603050405020304"/>
              </a:rPr>
              <a:t>) </a:t>
            </a:r>
            <a:r>
              <a:rPr sz="2550" b="1" dirty="0">
                <a:latin typeface="Times New Roman" panose="02020603050405020304"/>
                <a:cs typeface="Times New Roman" panose="02020603050405020304"/>
              </a:rPr>
              <a:t>=</a:t>
            </a:r>
            <a:r>
              <a:rPr sz="2550" b="1" spc="5" dirty="0">
                <a:latin typeface="Times New Roman" panose="02020603050405020304"/>
                <a:cs typeface="Times New Roman" panose="02020603050405020304"/>
              </a:rPr>
              <a:t> </a:t>
            </a:r>
            <a:r>
              <a:rPr sz="2550" b="1" i="1" spc="-5" dirty="0">
                <a:solidFill>
                  <a:srgbClr val="C00000"/>
                </a:solidFill>
                <a:latin typeface="Times New Roman" panose="02020603050405020304"/>
                <a:cs typeface="Times New Roman" panose="02020603050405020304"/>
              </a:rPr>
              <a:t>O</a:t>
            </a:r>
            <a:r>
              <a:rPr sz="2550" b="1" spc="-5" dirty="0">
                <a:solidFill>
                  <a:srgbClr val="C00000"/>
                </a:solidFill>
                <a:latin typeface="Times New Roman" panose="02020603050405020304"/>
                <a:cs typeface="Times New Roman" panose="02020603050405020304"/>
              </a:rPr>
              <a:t>(</a:t>
            </a:r>
            <a:r>
              <a:rPr sz="2550" b="1" i="1" spc="-5" dirty="0">
                <a:solidFill>
                  <a:srgbClr val="C00000"/>
                </a:solidFill>
                <a:latin typeface="Times New Roman" panose="02020603050405020304"/>
                <a:cs typeface="Times New Roman" panose="02020603050405020304"/>
              </a:rPr>
              <a:t>n</a:t>
            </a:r>
            <a:r>
              <a:rPr sz="2550" b="1" spc="-7" baseline="24000" dirty="0">
                <a:solidFill>
                  <a:srgbClr val="C00000"/>
                </a:solidFill>
                <a:latin typeface="Times New Roman" panose="02020603050405020304"/>
                <a:cs typeface="Times New Roman" panose="02020603050405020304"/>
              </a:rPr>
              <a:t>3</a:t>
            </a:r>
            <a:r>
              <a:rPr sz="2550" b="1" spc="-5" dirty="0">
                <a:solidFill>
                  <a:srgbClr val="C00000"/>
                </a:solidFill>
                <a:latin typeface="Times New Roman" panose="02020603050405020304"/>
                <a:cs typeface="Times New Roman" panose="02020603050405020304"/>
              </a:rPr>
              <a:t>)</a:t>
            </a:r>
            <a:r>
              <a:rPr sz="2550" b="1" spc="-5" dirty="0">
                <a:latin typeface="Times New Roman" panose="02020603050405020304"/>
                <a:cs typeface="Times New Roman" panose="02020603050405020304"/>
              </a:rPr>
              <a:t>.</a:t>
            </a:r>
            <a:endParaRPr sz="2550" dirty="0">
              <a:latin typeface="Times New Roman" panose="02020603050405020304"/>
              <a:cs typeface="Times New Roman" panose="02020603050405020304"/>
            </a:endParaRPr>
          </a:p>
        </p:txBody>
      </p:sp>
      <p:sp>
        <p:nvSpPr>
          <p:cNvPr id="10" name="object 10"/>
          <p:cNvSpPr txBox="1"/>
          <p:nvPr/>
        </p:nvSpPr>
        <p:spPr>
          <a:xfrm>
            <a:off x="3243360" y="3041538"/>
            <a:ext cx="2450991" cy="375518"/>
          </a:xfrm>
          <a:prstGeom prst="rect">
            <a:avLst/>
          </a:prstGeom>
        </p:spPr>
        <p:txBody>
          <a:bodyPr vert="horz" wrap="square" lIns="0" tIns="15524" rIns="0" bIns="0" rtlCol="0">
            <a:spAutoFit/>
          </a:bodyPr>
          <a:lstStyle/>
          <a:p>
            <a:pPr marL="40640">
              <a:spcBef>
                <a:spcPts val="120"/>
              </a:spcBef>
            </a:pPr>
            <a:r>
              <a:rPr sz="3510" b="1" i="1" spc="-71" baseline="14000" dirty="0">
                <a:latin typeface="Times New Roman" panose="02020603050405020304"/>
                <a:cs typeface="Times New Roman" panose="02020603050405020304"/>
              </a:rPr>
              <a:t>C</a:t>
            </a:r>
            <a:r>
              <a:rPr sz="1380" b="1" spc="-48" dirty="0">
                <a:latin typeface="Times New Roman" panose="02020603050405020304"/>
                <a:cs typeface="Times New Roman" panose="02020603050405020304"/>
              </a:rPr>
              <a:t>12 </a:t>
            </a:r>
            <a:r>
              <a:rPr sz="3510" spc="-64" baseline="14000" dirty="0">
                <a:latin typeface="Symbol" panose="05050102010706020507"/>
                <a:cs typeface="Symbol" panose="05050102010706020507"/>
              </a:rPr>
              <a:t></a:t>
            </a:r>
            <a:r>
              <a:rPr sz="3510" spc="-64" baseline="14000" dirty="0">
                <a:latin typeface="Times New Roman" panose="02020603050405020304"/>
                <a:cs typeface="Times New Roman" panose="02020603050405020304"/>
              </a:rPr>
              <a:t> </a:t>
            </a:r>
            <a:r>
              <a:rPr sz="3510" b="1" i="1" spc="-190" baseline="14000" dirty="0">
                <a:latin typeface="Times New Roman" panose="02020603050405020304"/>
                <a:cs typeface="Times New Roman" panose="02020603050405020304"/>
              </a:rPr>
              <a:t>A</a:t>
            </a:r>
            <a:r>
              <a:rPr sz="1380" b="1" spc="-128" dirty="0">
                <a:latin typeface="Times New Roman" panose="02020603050405020304"/>
                <a:cs typeface="Times New Roman" panose="02020603050405020304"/>
              </a:rPr>
              <a:t>11 </a:t>
            </a:r>
            <a:r>
              <a:rPr sz="3510" b="1" i="1" spc="-135" baseline="14000" dirty="0">
                <a:latin typeface="Times New Roman" panose="02020603050405020304"/>
                <a:cs typeface="Times New Roman" panose="02020603050405020304"/>
              </a:rPr>
              <a:t>B</a:t>
            </a:r>
            <a:r>
              <a:rPr sz="1380" b="1" spc="-90" dirty="0">
                <a:latin typeface="Times New Roman" panose="02020603050405020304"/>
                <a:cs typeface="Times New Roman" panose="02020603050405020304"/>
              </a:rPr>
              <a:t>12 </a:t>
            </a:r>
            <a:r>
              <a:rPr sz="3510" spc="-64" baseline="14000" dirty="0">
                <a:latin typeface="Symbol" panose="05050102010706020507"/>
                <a:cs typeface="Symbol" panose="05050102010706020507"/>
              </a:rPr>
              <a:t></a:t>
            </a:r>
            <a:r>
              <a:rPr sz="3510" spc="-64" baseline="14000" dirty="0">
                <a:latin typeface="Times New Roman" panose="02020603050405020304"/>
                <a:cs typeface="Times New Roman" panose="02020603050405020304"/>
              </a:rPr>
              <a:t> </a:t>
            </a:r>
            <a:r>
              <a:rPr sz="3510" b="1" i="1" spc="-190" baseline="14000" dirty="0">
                <a:latin typeface="Times New Roman" panose="02020603050405020304"/>
                <a:cs typeface="Times New Roman" panose="02020603050405020304"/>
              </a:rPr>
              <a:t>A</a:t>
            </a:r>
            <a:r>
              <a:rPr sz="1380" b="1" spc="-128" dirty="0">
                <a:latin typeface="Times New Roman" panose="02020603050405020304"/>
                <a:cs typeface="Times New Roman" panose="02020603050405020304"/>
              </a:rPr>
              <a:t>12</a:t>
            </a:r>
            <a:r>
              <a:rPr sz="1380" b="1" spc="-5" dirty="0">
                <a:latin typeface="Times New Roman" panose="02020603050405020304"/>
                <a:cs typeface="Times New Roman" panose="02020603050405020304"/>
              </a:rPr>
              <a:t> </a:t>
            </a:r>
            <a:r>
              <a:rPr sz="3510" b="1" i="1" spc="-111" baseline="14000" dirty="0">
                <a:latin typeface="Times New Roman" panose="02020603050405020304"/>
                <a:cs typeface="Times New Roman" panose="02020603050405020304"/>
              </a:rPr>
              <a:t>B</a:t>
            </a:r>
            <a:r>
              <a:rPr sz="1380" b="1" spc="-74" dirty="0">
                <a:latin typeface="Times New Roman" panose="02020603050405020304"/>
                <a:cs typeface="Times New Roman" panose="02020603050405020304"/>
              </a:rPr>
              <a:t>22</a:t>
            </a:r>
            <a:endParaRPr sz="1380" dirty="0">
              <a:latin typeface="Times New Roman" panose="02020603050405020304"/>
              <a:cs typeface="Times New Roman" panose="02020603050405020304"/>
            </a:endParaRPr>
          </a:p>
        </p:txBody>
      </p:sp>
      <p:sp>
        <p:nvSpPr>
          <p:cNvPr id="11" name="object 11"/>
          <p:cNvSpPr txBox="1"/>
          <p:nvPr/>
        </p:nvSpPr>
        <p:spPr>
          <a:xfrm>
            <a:off x="486663" y="2340244"/>
            <a:ext cx="2538744" cy="1047921"/>
          </a:xfrm>
          <a:prstGeom prst="rect">
            <a:avLst/>
          </a:prstGeom>
        </p:spPr>
        <p:txBody>
          <a:bodyPr vert="horz" wrap="square" lIns="0" tIns="140404" rIns="0" bIns="0" rtlCol="0">
            <a:spAutoFit/>
          </a:bodyPr>
          <a:lstStyle/>
          <a:p>
            <a:pPr marL="40640">
              <a:spcBef>
                <a:spcPts val="1105"/>
              </a:spcBef>
            </a:pPr>
            <a:r>
              <a:rPr sz="2800" b="1" dirty="0">
                <a:latin typeface="黑体" panose="02010609060101010101" pitchFamily="49" charset="-122"/>
                <a:ea typeface="黑体" panose="02010609060101010101" pitchFamily="49" charset="-122"/>
                <a:cs typeface="宋体" panose="02010600030101010101" pitchFamily="2" charset="-122"/>
              </a:rPr>
              <a:t>其中</a:t>
            </a:r>
            <a:endParaRPr sz="2800" dirty="0">
              <a:latin typeface="黑体" panose="02010609060101010101" pitchFamily="49" charset="-122"/>
              <a:ea typeface="黑体" panose="02010609060101010101" pitchFamily="49" charset="-122"/>
              <a:cs typeface="宋体" panose="02010600030101010101" pitchFamily="2" charset="-122"/>
            </a:endParaRPr>
          </a:p>
          <a:p>
            <a:pPr marL="138430">
              <a:spcBef>
                <a:spcPts val="945"/>
              </a:spcBef>
            </a:pPr>
            <a:r>
              <a:rPr sz="3510" b="1" i="1" spc="-71" baseline="14000" dirty="0">
                <a:latin typeface="Times New Roman" panose="02020603050405020304"/>
                <a:cs typeface="Times New Roman" panose="02020603050405020304"/>
              </a:rPr>
              <a:t>C</a:t>
            </a:r>
            <a:r>
              <a:rPr sz="1380" b="1" spc="-48" dirty="0">
                <a:latin typeface="Times New Roman" panose="02020603050405020304"/>
                <a:cs typeface="Times New Roman" panose="02020603050405020304"/>
              </a:rPr>
              <a:t>11 </a:t>
            </a:r>
            <a:r>
              <a:rPr sz="3510" spc="-64" baseline="14000" dirty="0">
                <a:latin typeface="Symbol" panose="05050102010706020507"/>
                <a:cs typeface="Symbol" panose="05050102010706020507"/>
              </a:rPr>
              <a:t></a:t>
            </a:r>
            <a:r>
              <a:rPr sz="3510" spc="-64" baseline="14000" dirty="0">
                <a:latin typeface="Times New Roman" panose="02020603050405020304"/>
                <a:cs typeface="Times New Roman" panose="02020603050405020304"/>
              </a:rPr>
              <a:t> </a:t>
            </a:r>
            <a:r>
              <a:rPr sz="3510" b="1" i="1" spc="-190" baseline="14000" dirty="0">
                <a:latin typeface="Times New Roman" panose="02020603050405020304"/>
                <a:cs typeface="Times New Roman" panose="02020603050405020304"/>
              </a:rPr>
              <a:t>A</a:t>
            </a:r>
            <a:r>
              <a:rPr sz="1380" b="1" spc="-128" dirty="0">
                <a:latin typeface="Times New Roman" panose="02020603050405020304"/>
                <a:cs typeface="Times New Roman" panose="02020603050405020304"/>
              </a:rPr>
              <a:t>11 </a:t>
            </a:r>
            <a:r>
              <a:rPr sz="3510" b="1" i="1" spc="-135" baseline="14000" dirty="0">
                <a:latin typeface="Times New Roman" panose="02020603050405020304"/>
                <a:cs typeface="Times New Roman" panose="02020603050405020304"/>
              </a:rPr>
              <a:t>B</a:t>
            </a:r>
            <a:r>
              <a:rPr sz="1380" b="1" spc="-90" dirty="0">
                <a:latin typeface="Times New Roman" panose="02020603050405020304"/>
                <a:cs typeface="Times New Roman" panose="02020603050405020304"/>
              </a:rPr>
              <a:t>11 </a:t>
            </a:r>
            <a:r>
              <a:rPr sz="3510" spc="-64" baseline="14000" dirty="0">
                <a:latin typeface="Symbol" panose="05050102010706020507"/>
                <a:cs typeface="Symbol" panose="05050102010706020507"/>
              </a:rPr>
              <a:t></a:t>
            </a:r>
            <a:r>
              <a:rPr sz="3510" spc="-64" baseline="14000" dirty="0">
                <a:latin typeface="Times New Roman" panose="02020603050405020304"/>
                <a:cs typeface="Times New Roman" panose="02020603050405020304"/>
              </a:rPr>
              <a:t> </a:t>
            </a:r>
            <a:r>
              <a:rPr sz="3510" b="1" i="1" spc="-190" baseline="14000" dirty="0">
                <a:latin typeface="Times New Roman" panose="02020603050405020304"/>
                <a:cs typeface="Times New Roman" panose="02020603050405020304"/>
              </a:rPr>
              <a:t>A</a:t>
            </a:r>
            <a:r>
              <a:rPr sz="1380" b="1" spc="-128" dirty="0">
                <a:latin typeface="Times New Roman" panose="02020603050405020304"/>
                <a:cs typeface="Times New Roman" panose="02020603050405020304"/>
              </a:rPr>
              <a:t>12</a:t>
            </a:r>
            <a:r>
              <a:rPr sz="1380" b="1" spc="-101" dirty="0">
                <a:latin typeface="Times New Roman" panose="02020603050405020304"/>
                <a:cs typeface="Times New Roman" panose="02020603050405020304"/>
              </a:rPr>
              <a:t> </a:t>
            </a:r>
            <a:r>
              <a:rPr sz="3510" b="1" i="1" spc="-111" baseline="14000" dirty="0">
                <a:latin typeface="Times New Roman" panose="02020603050405020304"/>
                <a:cs typeface="Times New Roman" panose="02020603050405020304"/>
              </a:rPr>
              <a:t>B</a:t>
            </a:r>
            <a:r>
              <a:rPr sz="1380" b="1" spc="-74" dirty="0">
                <a:latin typeface="Times New Roman" panose="02020603050405020304"/>
                <a:cs typeface="Times New Roman" panose="02020603050405020304"/>
              </a:rPr>
              <a:t>21</a:t>
            </a:r>
            <a:endParaRPr sz="1380" dirty="0">
              <a:latin typeface="Times New Roman" panose="02020603050405020304"/>
              <a:cs typeface="Times New Roman" panose="02020603050405020304"/>
            </a:endParaRPr>
          </a:p>
        </p:txBody>
      </p:sp>
      <p:sp>
        <p:nvSpPr>
          <p:cNvPr id="12" name="object 12"/>
          <p:cNvSpPr txBox="1">
            <a:spLocks noGrp="1"/>
          </p:cNvSpPr>
          <p:nvPr>
            <p:ph type="title"/>
          </p:nvPr>
        </p:nvSpPr>
        <p:spPr>
          <a:xfrm>
            <a:off x="385844" y="64644"/>
            <a:ext cx="8617961" cy="690059"/>
          </a:xfrm>
          <a:prstGeom prst="rect">
            <a:avLst/>
          </a:prstGeom>
        </p:spPr>
        <p:txBody>
          <a:bodyPr vert="horz" wrap="square" lIns="0" tIns="12825" rIns="0" bIns="0" rtlCol="0" anchor="ctr">
            <a:spAutoFit/>
          </a:bodyPr>
          <a:lstStyle/>
          <a:p>
            <a:pPr marL="13335" algn="ctr">
              <a:lnSpc>
                <a:spcPct val="100000"/>
              </a:lnSpc>
              <a:spcBef>
                <a:spcPts val="100"/>
              </a:spcBef>
            </a:pPr>
            <a:r>
              <a:rPr sz="4400" b="1" spc="-16" dirty="0">
                <a:solidFill>
                  <a:srgbClr val="C00000"/>
                </a:solidFill>
                <a:latin typeface="黑体" panose="02010609060101010101" pitchFamily="49" charset="-122"/>
                <a:ea typeface="黑体" panose="02010609060101010101" pitchFamily="49" charset="-122"/>
              </a:rPr>
              <a:t>简单分治算法</a:t>
            </a:r>
            <a:endParaRPr sz="4400" b="1" spc="-16" dirty="0">
              <a:solidFill>
                <a:srgbClr val="C00000"/>
              </a:solidFill>
              <a:latin typeface="黑体" panose="02010609060101010101" pitchFamily="49" charset="-122"/>
              <a:ea typeface="黑体" panose="02010609060101010101" pitchFamily="49" charset="-122"/>
            </a:endParaRPr>
          </a:p>
        </p:txBody>
      </p:sp>
      <p:sp>
        <p:nvSpPr>
          <p:cNvPr id="13" name="object 13"/>
          <p:cNvSpPr/>
          <p:nvPr/>
        </p:nvSpPr>
        <p:spPr>
          <a:xfrm>
            <a:off x="5287395" y="1797982"/>
            <a:ext cx="486013" cy="324009"/>
          </a:xfrm>
          <a:custGeom>
            <a:avLst/>
            <a:gdLst/>
            <a:ahLst/>
            <a:cxnLst/>
            <a:rect l="l" t="t" r="r" b="b"/>
            <a:pathLst>
              <a:path w="457200" h="304800">
                <a:moveTo>
                  <a:pt x="0" y="50800"/>
                </a:moveTo>
                <a:lnTo>
                  <a:pt x="3990" y="31021"/>
                </a:lnTo>
                <a:lnTo>
                  <a:pt x="14874" y="14874"/>
                </a:lnTo>
                <a:lnTo>
                  <a:pt x="31021" y="3990"/>
                </a:lnTo>
                <a:lnTo>
                  <a:pt x="50800" y="0"/>
                </a:lnTo>
                <a:lnTo>
                  <a:pt x="406400" y="0"/>
                </a:lnTo>
                <a:lnTo>
                  <a:pt x="426178" y="3990"/>
                </a:lnTo>
                <a:lnTo>
                  <a:pt x="442325" y="14874"/>
                </a:lnTo>
                <a:lnTo>
                  <a:pt x="453209" y="31021"/>
                </a:lnTo>
                <a:lnTo>
                  <a:pt x="457200" y="50800"/>
                </a:lnTo>
                <a:lnTo>
                  <a:pt x="457200" y="254000"/>
                </a:lnTo>
                <a:lnTo>
                  <a:pt x="453209" y="273778"/>
                </a:lnTo>
                <a:lnTo>
                  <a:pt x="442325" y="289925"/>
                </a:lnTo>
                <a:lnTo>
                  <a:pt x="426178" y="300809"/>
                </a:lnTo>
                <a:lnTo>
                  <a:pt x="406400" y="304800"/>
                </a:lnTo>
                <a:lnTo>
                  <a:pt x="50800" y="304800"/>
                </a:lnTo>
                <a:lnTo>
                  <a:pt x="31021" y="300809"/>
                </a:lnTo>
                <a:lnTo>
                  <a:pt x="14874" y="289925"/>
                </a:lnTo>
                <a:lnTo>
                  <a:pt x="3990" y="273778"/>
                </a:lnTo>
                <a:lnTo>
                  <a:pt x="0" y="254000"/>
                </a:lnTo>
                <a:lnTo>
                  <a:pt x="0" y="50800"/>
                </a:lnTo>
                <a:close/>
              </a:path>
            </a:pathLst>
          </a:custGeom>
          <a:ln w="25400">
            <a:solidFill>
              <a:srgbClr val="C00000"/>
            </a:solidFill>
          </a:ln>
        </p:spPr>
        <p:txBody>
          <a:bodyPr wrap="square" lIns="0" tIns="0" rIns="0" bIns="0" rtlCol="0"/>
          <a:lstStyle/>
          <a:p>
            <a:endParaRPr sz="1625"/>
          </a:p>
        </p:txBody>
      </p:sp>
      <p:sp>
        <p:nvSpPr>
          <p:cNvPr id="14" name="object 14"/>
          <p:cNvSpPr/>
          <p:nvPr/>
        </p:nvSpPr>
        <p:spPr>
          <a:xfrm>
            <a:off x="3910358" y="1797980"/>
            <a:ext cx="486013" cy="729020"/>
          </a:xfrm>
          <a:custGeom>
            <a:avLst/>
            <a:gdLst/>
            <a:ahLst/>
            <a:cxnLst/>
            <a:rect l="l" t="t" r="r" b="b"/>
            <a:pathLst>
              <a:path w="457200" h="685800">
                <a:moveTo>
                  <a:pt x="0" y="76200"/>
                </a:moveTo>
                <a:lnTo>
                  <a:pt x="5994" y="46559"/>
                </a:lnTo>
                <a:lnTo>
                  <a:pt x="22336" y="22336"/>
                </a:lnTo>
                <a:lnTo>
                  <a:pt x="46559" y="5994"/>
                </a:lnTo>
                <a:lnTo>
                  <a:pt x="76200" y="0"/>
                </a:lnTo>
                <a:lnTo>
                  <a:pt x="381000" y="0"/>
                </a:lnTo>
                <a:lnTo>
                  <a:pt x="410640" y="5994"/>
                </a:lnTo>
                <a:lnTo>
                  <a:pt x="434863" y="22336"/>
                </a:lnTo>
                <a:lnTo>
                  <a:pt x="451205" y="46559"/>
                </a:lnTo>
                <a:lnTo>
                  <a:pt x="457200" y="76200"/>
                </a:lnTo>
                <a:lnTo>
                  <a:pt x="457200" y="609600"/>
                </a:lnTo>
                <a:lnTo>
                  <a:pt x="451205" y="639240"/>
                </a:lnTo>
                <a:lnTo>
                  <a:pt x="434863" y="663463"/>
                </a:lnTo>
                <a:lnTo>
                  <a:pt x="410640" y="679805"/>
                </a:lnTo>
                <a:lnTo>
                  <a:pt x="381000" y="685800"/>
                </a:lnTo>
                <a:lnTo>
                  <a:pt x="76200" y="685800"/>
                </a:lnTo>
                <a:lnTo>
                  <a:pt x="46559" y="679805"/>
                </a:lnTo>
                <a:lnTo>
                  <a:pt x="22336" y="663463"/>
                </a:lnTo>
                <a:lnTo>
                  <a:pt x="5994" y="639240"/>
                </a:lnTo>
                <a:lnTo>
                  <a:pt x="0" y="609600"/>
                </a:lnTo>
                <a:lnTo>
                  <a:pt x="0" y="76200"/>
                </a:lnTo>
                <a:close/>
              </a:path>
            </a:pathLst>
          </a:custGeom>
          <a:ln w="25400">
            <a:solidFill>
              <a:srgbClr val="C00000"/>
            </a:solidFill>
          </a:ln>
        </p:spPr>
        <p:txBody>
          <a:bodyPr wrap="square" lIns="0" tIns="0" rIns="0" bIns="0" rtlCol="0"/>
          <a:lstStyle/>
          <a:p>
            <a:endParaRPr sz="1625"/>
          </a:p>
        </p:txBody>
      </p:sp>
      <p:sp>
        <p:nvSpPr>
          <p:cNvPr id="15" name="object 15"/>
          <p:cNvSpPr/>
          <p:nvPr/>
        </p:nvSpPr>
        <p:spPr>
          <a:xfrm>
            <a:off x="2614321" y="1878984"/>
            <a:ext cx="1053028" cy="324009"/>
          </a:xfrm>
          <a:custGeom>
            <a:avLst/>
            <a:gdLst/>
            <a:ahLst/>
            <a:cxnLst/>
            <a:rect l="l" t="t" r="r" b="b"/>
            <a:pathLst>
              <a:path w="990600" h="304800">
                <a:moveTo>
                  <a:pt x="0" y="50800"/>
                </a:moveTo>
                <a:lnTo>
                  <a:pt x="3992" y="31021"/>
                </a:lnTo>
                <a:lnTo>
                  <a:pt x="14879" y="14874"/>
                </a:lnTo>
                <a:lnTo>
                  <a:pt x="31027" y="3990"/>
                </a:lnTo>
                <a:lnTo>
                  <a:pt x="50800" y="0"/>
                </a:lnTo>
                <a:lnTo>
                  <a:pt x="939800" y="0"/>
                </a:lnTo>
                <a:lnTo>
                  <a:pt x="959578" y="3990"/>
                </a:lnTo>
                <a:lnTo>
                  <a:pt x="975725" y="14874"/>
                </a:lnTo>
                <a:lnTo>
                  <a:pt x="986609" y="31021"/>
                </a:lnTo>
                <a:lnTo>
                  <a:pt x="990600" y="50800"/>
                </a:lnTo>
                <a:lnTo>
                  <a:pt x="990600" y="254000"/>
                </a:lnTo>
                <a:lnTo>
                  <a:pt x="986609" y="273778"/>
                </a:lnTo>
                <a:lnTo>
                  <a:pt x="975725" y="289925"/>
                </a:lnTo>
                <a:lnTo>
                  <a:pt x="959578" y="300809"/>
                </a:lnTo>
                <a:lnTo>
                  <a:pt x="939800" y="304800"/>
                </a:lnTo>
                <a:lnTo>
                  <a:pt x="50800" y="304800"/>
                </a:lnTo>
                <a:lnTo>
                  <a:pt x="31027" y="300809"/>
                </a:lnTo>
                <a:lnTo>
                  <a:pt x="14879" y="289925"/>
                </a:lnTo>
                <a:lnTo>
                  <a:pt x="3992" y="273778"/>
                </a:lnTo>
                <a:lnTo>
                  <a:pt x="0" y="254000"/>
                </a:lnTo>
                <a:lnTo>
                  <a:pt x="0" y="50800"/>
                </a:lnTo>
                <a:close/>
              </a:path>
            </a:pathLst>
          </a:custGeom>
          <a:ln w="25400">
            <a:solidFill>
              <a:srgbClr val="C00000"/>
            </a:solidFill>
          </a:ln>
        </p:spPr>
        <p:txBody>
          <a:bodyPr wrap="square" lIns="0" tIns="0" rIns="0" bIns="0" rtlCol="0"/>
          <a:lstStyle/>
          <a:p>
            <a:endParaRPr sz="1625"/>
          </a:p>
        </p:txBody>
      </p:sp>
      <p:sp>
        <p:nvSpPr>
          <p:cNvPr id="16" name="object 16"/>
          <p:cNvSpPr/>
          <p:nvPr/>
        </p:nvSpPr>
        <p:spPr>
          <a:xfrm>
            <a:off x="994276" y="3322088"/>
            <a:ext cx="648018" cy="2025"/>
          </a:xfrm>
          <a:custGeom>
            <a:avLst/>
            <a:gdLst/>
            <a:ahLst/>
            <a:cxnLst/>
            <a:rect l="l" t="t" r="r" b="b"/>
            <a:pathLst>
              <a:path w="609600" h="1905">
                <a:moveTo>
                  <a:pt x="0" y="0"/>
                </a:moveTo>
                <a:lnTo>
                  <a:pt x="609600" y="1650"/>
                </a:lnTo>
              </a:path>
            </a:pathLst>
          </a:custGeom>
          <a:ln w="25399">
            <a:solidFill>
              <a:srgbClr val="C00000"/>
            </a:solidFill>
          </a:ln>
        </p:spPr>
        <p:txBody>
          <a:bodyPr wrap="square" lIns="0" tIns="0" rIns="0" bIns="0" rtlCol="0"/>
          <a:lstStyle/>
          <a:p>
            <a:endParaRPr sz="1625"/>
          </a:p>
        </p:txBody>
      </p:sp>
      <p:sp>
        <p:nvSpPr>
          <p:cNvPr id="17" name="object 17"/>
          <p:cNvSpPr/>
          <p:nvPr/>
        </p:nvSpPr>
        <p:spPr>
          <a:xfrm>
            <a:off x="1966303" y="3322088"/>
            <a:ext cx="648018" cy="2025"/>
          </a:xfrm>
          <a:custGeom>
            <a:avLst/>
            <a:gdLst/>
            <a:ahLst/>
            <a:cxnLst/>
            <a:rect l="l" t="t" r="r" b="b"/>
            <a:pathLst>
              <a:path w="609600" h="1905">
                <a:moveTo>
                  <a:pt x="0" y="0"/>
                </a:moveTo>
                <a:lnTo>
                  <a:pt x="609600" y="1650"/>
                </a:lnTo>
              </a:path>
            </a:pathLst>
          </a:custGeom>
          <a:ln w="25399">
            <a:solidFill>
              <a:srgbClr val="C00000"/>
            </a:solidFill>
          </a:ln>
        </p:spPr>
        <p:txBody>
          <a:bodyPr wrap="square" lIns="0" tIns="0" rIns="0" bIns="0" rtlCol="0"/>
          <a:lstStyle/>
          <a:p>
            <a:endParaRPr sz="1625"/>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8983" y="71414"/>
            <a:ext cx="8912076" cy="690059"/>
          </a:xfrm>
          <a:prstGeom prst="rect">
            <a:avLst/>
          </a:prstGeom>
        </p:spPr>
        <p:txBody>
          <a:bodyPr vert="horz" wrap="square" lIns="0" tIns="12825" rIns="0" bIns="0" rtlCol="0" anchor="ctr">
            <a:spAutoFit/>
          </a:bodyPr>
          <a:lstStyle/>
          <a:p>
            <a:pPr marL="13335" algn="ctr">
              <a:lnSpc>
                <a:spcPct val="100000"/>
              </a:lnSpc>
              <a:spcBef>
                <a:spcPts val="100"/>
              </a:spcBef>
            </a:pPr>
            <a:r>
              <a:rPr sz="4400" b="1" spc="-5"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Strassen 矩阵乘法</a:t>
            </a:r>
            <a:endParaRPr sz="4400" b="1" spc="-5"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object 3"/>
          <p:cNvSpPr txBox="1"/>
          <p:nvPr/>
        </p:nvSpPr>
        <p:spPr>
          <a:xfrm>
            <a:off x="571500" y="1097874"/>
            <a:ext cx="8552620" cy="4769728"/>
          </a:xfrm>
          <a:prstGeom prst="rect">
            <a:avLst/>
          </a:prstGeom>
        </p:spPr>
        <p:txBody>
          <a:bodyPr vert="horz" wrap="square" lIns="0" tIns="147154" rIns="0" bIns="0" rtlCol="0">
            <a:spAutoFit/>
          </a:bodyPr>
          <a:lstStyle/>
          <a:p>
            <a:r>
              <a:rPr sz="2800" b="1" dirty="0">
                <a:latin typeface="Times New Roman" panose="02020603050405020304" pitchFamily="18" charset="0"/>
                <a:ea typeface="黑体" panose="02010609060101010101" pitchFamily="49" charset="-122"/>
                <a:cs typeface="Times New Roman" panose="02020603050405020304" pitchFamily="18" charset="0"/>
              </a:rPr>
              <a:t>变换方法：</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R="19050" indent="-647065">
              <a:lnSpc>
                <a:spcPct val="121000"/>
              </a:lnSpc>
            </a:pPr>
            <a:r>
              <a:rPr lang="en-US" sz="2800" b="1" dirty="0">
                <a:latin typeface="Times New Roman" panose="02020603050405020304" pitchFamily="18" charset="0"/>
                <a:ea typeface="黑体" panose="02010609060101010101" pitchFamily="49" charset="-122"/>
                <a:cs typeface="Times New Roman" panose="02020603050405020304" pitchFamily="18" charset="0"/>
              </a:rPr>
              <a:t>        </a:t>
            </a:r>
            <a:r>
              <a:rPr sz="2800" b="1" dirty="0" err="1">
                <a:latin typeface="Times New Roman" panose="02020603050405020304" pitchFamily="18" charset="0"/>
                <a:ea typeface="黑体" panose="02010609060101010101" pitchFamily="49" charset="-122"/>
                <a:cs typeface="Times New Roman" panose="02020603050405020304" pitchFamily="18" charset="0"/>
              </a:rPr>
              <a:t>设</a:t>
            </a:r>
            <a:r>
              <a:rPr sz="2800" b="1" spc="-11" dirty="0" err="1">
                <a:latin typeface="Times New Roman" panose="02020603050405020304" pitchFamily="18" charset="0"/>
                <a:ea typeface="黑体" panose="02010609060101010101" pitchFamily="49" charset="-122"/>
                <a:cs typeface="Times New Roman" panose="02020603050405020304" pitchFamily="18" charset="0"/>
              </a:rPr>
              <a:t>计</a:t>
            </a:r>
            <a:r>
              <a:rPr sz="2800" b="1" spc="-670"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M</a:t>
            </a:r>
            <a:r>
              <a:rPr sz="2800" b="1" baseline="-21000" dirty="0">
                <a:latin typeface="Times New Roman" panose="02020603050405020304" pitchFamily="18" charset="0"/>
                <a:ea typeface="黑体" panose="02010609060101010101" pitchFamily="49" charset="-122"/>
                <a:cs typeface="Times New Roman" panose="02020603050405020304" pitchFamily="18" charset="0"/>
              </a:rPr>
              <a:t>1</a:t>
            </a:r>
            <a:r>
              <a:rPr sz="2800" b="1" i="1" dirty="0">
                <a:latin typeface="Times New Roman" panose="02020603050405020304" pitchFamily="18" charset="0"/>
                <a:ea typeface="黑体" panose="02010609060101010101" pitchFamily="49" charset="-122"/>
                <a:cs typeface="Times New Roman" panose="02020603050405020304" pitchFamily="18" charset="0"/>
              </a:rPr>
              <a:t>,</a:t>
            </a:r>
            <a:r>
              <a:rPr sz="2800" b="1" i="1" spc="-21"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M</a:t>
            </a:r>
            <a:r>
              <a:rPr sz="2800" b="1" baseline="-21000" dirty="0">
                <a:latin typeface="Times New Roman" panose="02020603050405020304" pitchFamily="18" charset="0"/>
                <a:ea typeface="黑体" panose="02010609060101010101" pitchFamily="49" charset="-122"/>
                <a:cs typeface="Times New Roman" panose="02020603050405020304" pitchFamily="18" charset="0"/>
              </a:rPr>
              <a:t>2</a:t>
            </a:r>
            <a:r>
              <a:rPr sz="2800" b="1" i="1" dirty="0">
                <a:latin typeface="Times New Roman" panose="02020603050405020304" pitchFamily="18" charset="0"/>
                <a:ea typeface="黑体" panose="02010609060101010101" pitchFamily="49" charset="-122"/>
                <a:cs typeface="Times New Roman" panose="02020603050405020304" pitchFamily="18" charset="0"/>
              </a:rPr>
              <a:t>,</a:t>
            </a:r>
            <a:r>
              <a:rPr sz="2800" b="1" i="1" spc="-21"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a:t>
            </a:r>
            <a:r>
              <a:rPr sz="2800" b="1" i="1" spc="-21"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M</a:t>
            </a:r>
            <a:r>
              <a:rPr sz="2800" b="1" baseline="-21000" dirty="0">
                <a:latin typeface="Times New Roman" panose="02020603050405020304" pitchFamily="18" charset="0"/>
                <a:ea typeface="黑体" panose="02010609060101010101" pitchFamily="49" charset="-122"/>
                <a:cs typeface="Times New Roman" panose="02020603050405020304" pitchFamily="18" charset="0"/>
              </a:rPr>
              <a:t>7</a:t>
            </a:r>
            <a:r>
              <a:rPr sz="2800" b="1" dirty="0">
                <a:latin typeface="Times New Roman" panose="02020603050405020304" pitchFamily="18" charset="0"/>
                <a:ea typeface="黑体" panose="02010609060101010101" pitchFamily="49" charset="-122"/>
                <a:cs typeface="Times New Roman" panose="02020603050405020304" pitchFamily="18" charset="0"/>
              </a:rPr>
              <a:t>，对应7个子问题 </a:t>
            </a:r>
            <a:endParaRPr lang="en-US" sz="2800" b="1" dirty="0">
              <a:latin typeface="Times New Roman" panose="02020603050405020304" pitchFamily="18" charset="0"/>
              <a:ea typeface="黑体" panose="02010609060101010101" pitchFamily="49" charset="-122"/>
              <a:cs typeface="Times New Roman" panose="02020603050405020304" pitchFamily="18" charset="0"/>
            </a:endParaRPr>
          </a:p>
          <a:p>
            <a:pPr marR="19050">
              <a:lnSpc>
                <a:spcPct val="121000"/>
              </a:lnSpc>
            </a:pPr>
            <a:r>
              <a:rPr lang="en-US" sz="2550" b="1" i="1" spc="-5" dirty="0">
                <a:latin typeface="Times New Roman" panose="02020603050405020304"/>
                <a:cs typeface="Times New Roman" panose="02020603050405020304"/>
              </a:rPr>
              <a:t>        </a:t>
            </a:r>
            <a:endParaRPr lang="en-US" sz="2550" b="1" i="1" spc="-5" dirty="0">
              <a:latin typeface="Times New Roman" panose="02020603050405020304"/>
              <a:cs typeface="Times New Roman" panose="02020603050405020304"/>
            </a:endParaRPr>
          </a:p>
          <a:p>
            <a:pPr marR="19050">
              <a:lnSpc>
                <a:spcPct val="121000"/>
              </a:lnSpc>
            </a:pPr>
            <a:r>
              <a:rPr lang="en-US" sz="2800" b="1" i="1" spc="-5"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M</a:t>
            </a:r>
            <a:r>
              <a:rPr sz="2800" b="1" spc="-7" baseline="-21000" dirty="0">
                <a:latin typeface="Times New Roman" panose="02020603050405020304"/>
                <a:cs typeface="Times New Roman" panose="02020603050405020304"/>
              </a:rPr>
              <a:t>1 </a:t>
            </a:r>
            <a:r>
              <a:rPr sz="2800" b="1" dirty="0">
                <a:latin typeface="Times New Roman" panose="02020603050405020304"/>
                <a:cs typeface="Times New Roman" panose="02020603050405020304"/>
              </a:rPr>
              <a:t>= </a:t>
            </a:r>
            <a:r>
              <a:rPr sz="2800" b="1" i="1" spc="-32" dirty="0">
                <a:latin typeface="Times New Roman" panose="02020603050405020304"/>
                <a:cs typeface="Times New Roman" panose="02020603050405020304"/>
              </a:rPr>
              <a:t>A</a:t>
            </a:r>
            <a:r>
              <a:rPr sz="2800" b="1" spc="-47" baseline="-21000" dirty="0">
                <a:latin typeface="Times New Roman" panose="02020603050405020304"/>
                <a:cs typeface="Times New Roman" panose="02020603050405020304"/>
              </a:rPr>
              <a:t>11 </a:t>
            </a:r>
            <a:r>
              <a:rPr sz="2800" b="1"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B</a:t>
            </a:r>
            <a:r>
              <a:rPr sz="2800" b="1" spc="-7" baseline="-21000" dirty="0">
                <a:latin typeface="Times New Roman" panose="02020603050405020304"/>
                <a:cs typeface="Times New Roman" panose="02020603050405020304"/>
              </a:rPr>
              <a:t>12</a:t>
            </a:r>
            <a:r>
              <a:rPr sz="2800" b="1" spc="-5" dirty="0">
                <a:latin typeface="宋体" panose="02010600030101010101" pitchFamily="2" charset="-122"/>
                <a:cs typeface="宋体" panose="02010600030101010101" pitchFamily="2" charset="-122"/>
              </a:rPr>
              <a:t>－</a:t>
            </a:r>
            <a:r>
              <a:rPr sz="2800" b="1" i="1" spc="-5" dirty="0">
                <a:latin typeface="Times New Roman" panose="02020603050405020304"/>
                <a:cs typeface="Times New Roman" panose="02020603050405020304"/>
              </a:rPr>
              <a:t>B</a:t>
            </a:r>
            <a:r>
              <a:rPr sz="2800" b="1" spc="-7" baseline="-21000" dirty="0">
                <a:latin typeface="Times New Roman" panose="02020603050405020304"/>
                <a:cs typeface="Times New Roman" panose="02020603050405020304"/>
              </a:rPr>
              <a:t>22</a:t>
            </a:r>
            <a:r>
              <a:rPr sz="2800" b="1" baseline="-2100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a:t>
            </a:r>
            <a:endParaRPr sz="2800" dirty="0">
              <a:latin typeface="Times New Roman" panose="02020603050405020304"/>
              <a:cs typeface="Times New Roman" panose="02020603050405020304"/>
            </a:endParaRPr>
          </a:p>
          <a:p>
            <a:pPr marR="1724660">
              <a:lnSpc>
                <a:spcPts val="3700"/>
              </a:lnSpc>
            </a:pPr>
            <a:r>
              <a:rPr lang="en-US" sz="2800" b="1" i="1" spc="-5"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M</a:t>
            </a:r>
            <a:r>
              <a:rPr sz="2800" b="1" spc="-7" baseline="-21000" dirty="0">
                <a:latin typeface="Times New Roman" panose="02020603050405020304"/>
                <a:cs typeface="Times New Roman" panose="02020603050405020304"/>
              </a:rPr>
              <a:t>2 </a:t>
            </a:r>
            <a:r>
              <a:rPr sz="2800" b="1" dirty="0">
                <a:latin typeface="Times New Roman" panose="02020603050405020304"/>
                <a:cs typeface="Times New Roman" panose="02020603050405020304"/>
              </a:rPr>
              <a:t>= ( </a:t>
            </a:r>
            <a:r>
              <a:rPr sz="2800" b="1" i="1" spc="-32" dirty="0">
                <a:latin typeface="Times New Roman" panose="02020603050405020304"/>
                <a:cs typeface="Times New Roman" panose="02020603050405020304"/>
              </a:rPr>
              <a:t>A</a:t>
            </a:r>
            <a:r>
              <a:rPr sz="2800" b="1" spc="-47" baseline="-21000" dirty="0">
                <a:latin typeface="Times New Roman" panose="02020603050405020304"/>
                <a:cs typeface="Times New Roman" panose="02020603050405020304"/>
              </a:rPr>
              <a:t>11 </a:t>
            </a:r>
            <a:r>
              <a:rPr sz="2800" b="1"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A</a:t>
            </a:r>
            <a:r>
              <a:rPr sz="2800" b="1" spc="-7" baseline="-21000" dirty="0">
                <a:latin typeface="Times New Roman" panose="02020603050405020304"/>
                <a:cs typeface="Times New Roman" panose="02020603050405020304"/>
              </a:rPr>
              <a:t>12 </a:t>
            </a:r>
            <a:r>
              <a:rPr sz="2800" b="1" dirty="0">
                <a:latin typeface="Times New Roman" panose="02020603050405020304"/>
                <a:cs typeface="Times New Roman" panose="02020603050405020304"/>
              </a:rPr>
              <a:t>) </a:t>
            </a:r>
            <a:r>
              <a:rPr sz="2800" b="1" i="1" dirty="0">
                <a:latin typeface="Times New Roman" panose="02020603050405020304"/>
                <a:cs typeface="Times New Roman" panose="02020603050405020304"/>
              </a:rPr>
              <a:t>B</a:t>
            </a:r>
            <a:r>
              <a:rPr sz="2800" b="1" baseline="-21000" dirty="0">
                <a:latin typeface="Times New Roman" panose="02020603050405020304"/>
                <a:cs typeface="Times New Roman" panose="02020603050405020304"/>
              </a:rPr>
              <a:t>22 </a:t>
            </a:r>
            <a:endParaRPr lang="en-US" sz="2800" b="1" baseline="-21000" dirty="0">
              <a:latin typeface="Times New Roman" panose="02020603050405020304"/>
              <a:cs typeface="Times New Roman" panose="02020603050405020304"/>
            </a:endParaRPr>
          </a:p>
          <a:p>
            <a:pPr marR="1724660">
              <a:lnSpc>
                <a:spcPts val="3700"/>
              </a:lnSpc>
            </a:pPr>
            <a:r>
              <a:rPr sz="2800" b="1" baseline="-21000" dirty="0">
                <a:latin typeface="Times New Roman" panose="02020603050405020304"/>
                <a:cs typeface="Times New Roman" panose="02020603050405020304"/>
              </a:rPr>
              <a:t> </a:t>
            </a:r>
            <a:r>
              <a:rPr lang="en-US" sz="2800" b="1" baseline="-21000"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M</a:t>
            </a:r>
            <a:r>
              <a:rPr sz="2800" b="1" spc="-7" baseline="-21000" dirty="0">
                <a:latin typeface="Times New Roman" panose="02020603050405020304"/>
                <a:cs typeface="Times New Roman" panose="02020603050405020304"/>
              </a:rPr>
              <a:t>3 </a:t>
            </a:r>
            <a:r>
              <a:rPr sz="2800" b="1" dirty="0">
                <a:latin typeface="Times New Roman" panose="02020603050405020304"/>
                <a:cs typeface="Times New Roman" panose="02020603050405020304"/>
              </a:rPr>
              <a:t>= ( </a:t>
            </a:r>
            <a:r>
              <a:rPr sz="2800" b="1" i="1" spc="-5" dirty="0">
                <a:latin typeface="Times New Roman" panose="02020603050405020304"/>
                <a:cs typeface="Times New Roman" panose="02020603050405020304"/>
              </a:rPr>
              <a:t>A</a:t>
            </a:r>
            <a:r>
              <a:rPr sz="2800" b="1" spc="-7" baseline="-21000" dirty="0">
                <a:latin typeface="Times New Roman" panose="02020603050405020304"/>
                <a:cs typeface="Times New Roman" panose="02020603050405020304"/>
              </a:rPr>
              <a:t>21 </a:t>
            </a:r>
            <a:r>
              <a:rPr sz="2800" b="1"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A</a:t>
            </a:r>
            <a:r>
              <a:rPr sz="2800" b="1" spc="-7" baseline="-21000" dirty="0">
                <a:latin typeface="Times New Roman" panose="02020603050405020304"/>
                <a:cs typeface="Times New Roman" panose="02020603050405020304"/>
              </a:rPr>
              <a:t>22 </a:t>
            </a:r>
            <a:r>
              <a:rPr sz="2800" b="1" dirty="0">
                <a:latin typeface="Times New Roman" panose="02020603050405020304"/>
                <a:cs typeface="Times New Roman" panose="02020603050405020304"/>
              </a:rPr>
              <a:t>)</a:t>
            </a:r>
            <a:r>
              <a:rPr sz="2800" b="1" spc="-276" dirty="0">
                <a:latin typeface="Times New Roman" panose="02020603050405020304"/>
                <a:cs typeface="Times New Roman" panose="02020603050405020304"/>
              </a:rPr>
              <a:t> </a:t>
            </a:r>
            <a:r>
              <a:rPr sz="2800" b="1" i="1" spc="-32" dirty="0">
                <a:latin typeface="Times New Roman" panose="02020603050405020304"/>
                <a:cs typeface="Times New Roman" panose="02020603050405020304"/>
              </a:rPr>
              <a:t>B</a:t>
            </a:r>
            <a:r>
              <a:rPr sz="2800" b="1" spc="-47" baseline="-21000" dirty="0">
                <a:latin typeface="Times New Roman" panose="02020603050405020304"/>
                <a:cs typeface="Times New Roman" panose="02020603050405020304"/>
              </a:rPr>
              <a:t>11</a:t>
            </a:r>
            <a:endParaRPr sz="2800" baseline="-21000" dirty="0">
              <a:latin typeface="Times New Roman" panose="02020603050405020304"/>
              <a:cs typeface="Times New Roman" panose="02020603050405020304"/>
            </a:endParaRPr>
          </a:p>
          <a:p>
            <a:r>
              <a:rPr lang="en-US" sz="2800" b="1" i="1" spc="-5"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M</a:t>
            </a:r>
            <a:r>
              <a:rPr sz="2800" b="1" spc="-7" baseline="-21000" dirty="0">
                <a:latin typeface="Times New Roman" panose="02020603050405020304"/>
                <a:cs typeface="Times New Roman" panose="02020603050405020304"/>
              </a:rPr>
              <a:t>4 </a:t>
            </a:r>
            <a:r>
              <a:rPr sz="2800" b="1"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A</a:t>
            </a:r>
            <a:r>
              <a:rPr sz="2800" b="1" spc="-7" baseline="-21000" dirty="0">
                <a:latin typeface="Times New Roman" panose="02020603050405020304"/>
                <a:cs typeface="Times New Roman" panose="02020603050405020304"/>
              </a:rPr>
              <a:t>22 </a:t>
            </a:r>
            <a:r>
              <a:rPr sz="2800" b="1"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B</a:t>
            </a:r>
            <a:r>
              <a:rPr sz="2800" b="1" spc="-7" baseline="-21000" dirty="0">
                <a:latin typeface="Times New Roman" panose="02020603050405020304"/>
                <a:cs typeface="Times New Roman" panose="02020603050405020304"/>
              </a:rPr>
              <a:t>21</a:t>
            </a:r>
            <a:r>
              <a:rPr sz="2800" b="1" spc="-5" dirty="0">
                <a:latin typeface="宋体" panose="02010600030101010101" pitchFamily="2" charset="-122"/>
                <a:cs typeface="宋体" panose="02010600030101010101" pitchFamily="2" charset="-122"/>
              </a:rPr>
              <a:t>－</a:t>
            </a:r>
            <a:r>
              <a:rPr sz="2800" b="1" spc="-1074" dirty="0">
                <a:latin typeface="宋体" panose="02010600030101010101" pitchFamily="2" charset="-122"/>
                <a:cs typeface="宋体" panose="02010600030101010101" pitchFamily="2" charset="-122"/>
              </a:rPr>
              <a:t> </a:t>
            </a:r>
            <a:r>
              <a:rPr sz="2800" b="1" i="1" spc="-27" dirty="0">
                <a:latin typeface="Times New Roman" panose="02020603050405020304"/>
                <a:cs typeface="Times New Roman" panose="02020603050405020304"/>
              </a:rPr>
              <a:t>B</a:t>
            </a:r>
            <a:r>
              <a:rPr sz="2800" b="1" spc="-39" baseline="-21000" dirty="0">
                <a:latin typeface="Times New Roman" panose="02020603050405020304"/>
                <a:cs typeface="Times New Roman" panose="02020603050405020304"/>
              </a:rPr>
              <a:t>11</a:t>
            </a:r>
            <a:r>
              <a:rPr sz="2800" b="1" spc="-27" dirty="0">
                <a:latin typeface="Times New Roman" panose="02020603050405020304"/>
                <a:cs typeface="Times New Roman" panose="02020603050405020304"/>
              </a:rPr>
              <a:t>)</a:t>
            </a:r>
            <a:endParaRPr sz="2800" dirty="0">
              <a:latin typeface="Times New Roman" panose="02020603050405020304"/>
              <a:cs typeface="Times New Roman" panose="02020603050405020304"/>
            </a:endParaRPr>
          </a:p>
          <a:p>
            <a:r>
              <a:rPr lang="en-US" sz="2800" b="1" i="1" spc="-5"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M</a:t>
            </a:r>
            <a:r>
              <a:rPr sz="2800" b="1" spc="-7" baseline="-21000" dirty="0">
                <a:latin typeface="Times New Roman" panose="02020603050405020304"/>
                <a:cs typeface="Times New Roman" panose="02020603050405020304"/>
              </a:rPr>
              <a:t>5 </a:t>
            </a:r>
            <a:r>
              <a:rPr sz="2800" b="1" dirty="0">
                <a:latin typeface="Times New Roman" panose="02020603050405020304"/>
                <a:cs typeface="Times New Roman" panose="02020603050405020304"/>
              </a:rPr>
              <a:t>= ( </a:t>
            </a:r>
            <a:r>
              <a:rPr sz="2800" b="1" i="1" spc="-32" dirty="0">
                <a:latin typeface="Times New Roman" panose="02020603050405020304"/>
                <a:cs typeface="Times New Roman" panose="02020603050405020304"/>
              </a:rPr>
              <a:t>A</a:t>
            </a:r>
            <a:r>
              <a:rPr sz="2800" b="1" spc="-47" baseline="-21000" dirty="0">
                <a:latin typeface="Times New Roman" panose="02020603050405020304"/>
                <a:cs typeface="Times New Roman" panose="02020603050405020304"/>
              </a:rPr>
              <a:t>11 </a:t>
            </a:r>
            <a:r>
              <a:rPr sz="2800" b="1"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A</a:t>
            </a:r>
            <a:r>
              <a:rPr sz="2800" b="1" spc="-7" baseline="-21000" dirty="0">
                <a:latin typeface="Times New Roman" panose="02020603050405020304"/>
                <a:cs typeface="Times New Roman" panose="02020603050405020304"/>
              </a:rPr>
              <a:t>22 </a:t>
            </a:r>
            <a:r>
              <a:rPr sz="2800" b="1" dirty="0">
                <a:latin typeface="Times New Roman" panose="02020603050405020304"/>
                <a:cs typeface="Times New Roman" panose="02020603050405020304"/>
              </a:rPr>
              <a:t>) ( </a:t>
            </a:r>
            <a:r>
              <a:rPr sz="2800" b="1" i="1" spc="-32" dirty="0">
                <a:latin typeface="Times New Roman" panose="02020603050405020304"/>
                <a:cs typeface="Times New Roman" panose="02020603050405020304"/>
              </a:rPr>
              <a:t>B</a:t>
            </a:r>
            <a:r>
              <a:rPr sz="2800" b="1" spc="-47" baseline="-21000" dirty="0">
                <a:latin typeface="Times New Roman" panose="02020603050405020304"/>
                <a:cs typeface="Times New Roman" panose="02020603050405020304"/>
              </a:rPr>
              <a:t>11 </a:t>
            </a:r>
            <a:r>
              <a:rPr sz="2800" b="1"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B</a:t>
            </a:r>
            <a:r>
              <a:rPr sz="2800" b="1" spc="-7" baseline="-21000" dirty="0">
                <a:latin typeface="Times New Roman" panose="02020603050405020304"/>
                <a:cs typeface="Times New Roman" panose="02020603050405020304"/>
              </a:rPr>
              <a:t>22</a:t>
            </a:r>
            <a:r>
              <a:rPr sz="2800" b="1" spc="399" baseline="-2100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a:t>
            </a:r>
            <a:endParaRPr sz="2800" dirty="0">
              <a:latin typeface="Times New Roman" panose="02020603050405020304"/>
              <a:cs typeface="Times New Roman" panose="02020603050405020304"/>
            </a:endParaRPr>
          </a:p>
          <a:p>
            <a:r>
              <a:rPr lang="en-US" sz="2800" b="1" i="1" spc="-5"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M</a:t>
            </a:r>
            <a:r>
              <a:rPr sz="2800" b="1" spc="-7" baseline="-21000" dirty="0">
                <a:latin typeface="Times New Roman" panose="02020603050405020304"/>
                <a:cs typeface="Times New Roman" panose="02020603050405020304"/>
              </a:rPr>
              <a:t>6 </a:t>
            </a:r>
            <a:r>
              <a:rPr sz="2800" b="1" dirty="0">
                <a:latin typeface="Times New Roman" panose="02020603050405020304"/>
                <a:cs typeface="Times New Roman" panose="02020603050405020304"/>
              </a:rPr>
              <a:t>= </a:t>
            </a:r>
            <a:r>
              <a:rPr sz="2800" b="1" spc="-5" dirty="0">
                <a:latin typeface="Times New Roman" panose="02020603050405020304"/>
                <a:cs typeface="Times New Roman" panose="02020603050405020304"/>
              </a:rPr>
              <a:t>(</a:t>
            </a:r>
            <a:r>
              <a:rPr sz="2800" b="1" i="1" spc="-5" dirty="0">
                <a:latin typeface="Times New Roman" panose="02020603050405020304"/>
                <a:cs typeface="Times New Roman" panose="02020603050405020304"/>
              </a:rPr>
              <a:t>A</a:t>
            </a:r>
            <a:r>
              <a:rPr sz="2800" b="1" spc="-7" baseline="-21000" dirty="0">
                <a:latin typeface="Times New Roman" panose="02020603050405020304"/>
                <a:cs typeface="Times New Roman" panose="02020603050405020304"/>
              </a:rPr>
              <a:t>12</a:t>
            </a:r>
            <a:r>
              <a:rPr sz="2800" b="1" spc="-5" dirty="0">
                <a:latin typeface="宋体" panose="02010600030101010101" pitchFamily="2" charset="-122"/>
                <a:cs typeface="宋体" panose="02010600030101010101" pitchFamily="2" charset="-122"/>
              </a:rPr>
              <a:t>－</a:t>
            </a:r>
            <a:r>
              <a:rPr sz="2800" b="1" i="1" spc="-5" dirty="0">
                <a:latin typeface="Times New Roman" panose="02020603050405020304"/>
                <a:cs typeface="Times New Roman" panose="02020603050405020304"/>
              </a:rPr>
              <a:t>A</a:t>
            </a:r>
            <a:r>
              <a:rPr sz="2800" b="1" spc="-7" baseline="-21000" dirty="0">
                <a:latin typeface="Times New Roman" panose="02020603050405020304"/>
                <a:cs typeface="Times New Roman" panose="02020603050405020304"/>
              </a:rPr>
              <a:t>22</a:t>
            </a:r>
            <a:r>
              <a:rPr sz="2800" b="1" spc="-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B</a:t>
            </a:r>
            <a:r>
              <a:rPr sz="2800" b="1" spc="-7" baseline="-21000" dirty="0">
                <a:latin typeface="Times New Roman" panose="02020603050405020304"/>
                <a:cs typeface="Times New Roman" panose="02020603050405020304"/>
              </a:rPr>
              <a:t>21 </a:t>
            </a:r>
            <a:r>
              <a:rPr sz="2800" b="1"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B</a:t>
            </a:r>
            <a:r>
              <a:rPr sz="2800" b="1" spc="-7" baseline="-21000" dirty="0">
                <a:latin typeface="Times New Roman" panose="02020603050405020304"/>
                <a:cs typeface="Times New Roman" panose="02020603050405020304"/>
              </a:rPr>
              <a:t>22</a:t>
            </a:r>
            <a:r>
              <a:rPr sz="2800" b="1" spc="-64" baseline="-2100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a:t>
            </a:r>
            <a:endParaRPr lang="en-US" sz="2800" b="1" dirty="0">
              <a:latin typeface="Times New Roman" panose="02020603050405020304"/>
              <a:cs typeface="Times New Roman" panose="02020603050405020304"/>
            </a:endParaRPr>
          </a:p>
          <a:p>
            <a:r>
              <a:rPr lang="en-US" altLang="zh-CN" sz="2800" b="1" i="1" spc="-5" dirty="0">
                <a:latin typeface="Times New Roman" panose="02020603050405020304"/>
                <a:cs typeface="Times New Roman" panose="02020603050405020304"/>
              </a:rPr>
              <a:t>          M</a:t>
            </a:r>
            <a:r>
              <a:rPr lang="en-US" altLang="zh-CN" sz="2800" b="1" spc="-7" baseline="-21000" dirty="0">
                <a:latin typeface="Times New Roman" panose="02020603050405020304"/>
                <a:cs typeface="Times New Roman" panose="02020603050405020304"/>
              </a:rPr>
              <a:t>7 </a:t>
            </a:r>
            <a:r>
              <a:rPr lang="en-US" altLang="zh-CN" sz="2800" b="1" dirty="0">
                <a:latin typeface="Times New Roman" panose="02020603050405020304"/>
                <a:cs typeface="Times New Roman" panose="02020603050405020304"/>
              </a:rPr>
              <a:t>= </a:t>
            </a:r>
            <a:r>
              <a:rPr lang="en-US" altLang="zh-CN" sz="2800" b="1" spc="-11" dirty="0">
                <a:latin typeface="Times New Roman" panose="02020603050405020304"/>
                <a:cs typeface="Times New Roman" panose="02020603050405020304"/>
              </a:rPr>
              <a:t>(</a:t>
            </a:r>
            <a:r>
              <a:rPr lang="en-US" altLang="zh-CN" sz="2800" b="1" i="1" spc="-11" dirty="0">
                <a:latin typeface="Times New Roman" panose="02020603050405020304"/>
                <a:cs typeface="Times New Roman" panose="02020603050405020304"/>
              </a:rPr>
              <a:t>A</a:t>
            </a:r>
            <a:r>
              <a:rPr lang="en-US" altLang="zh-CN" sz="2800" b="1" spc="-16" baseline="-21000" dirty="0">
                <a:latin typeface="Times New Roman" panose="02020603050405020304"/>
                <a:cs typeface="Times New Roman" panose="02020603050405020304"/>
              </a:rPr>
              <a:t>11</a:t>
            </a:r>
            <a:r>
              <a:rPr lang="zh-CN" altLang="en-US" sz="2800" b="1" spc="-11" dirty="0">
                <a:latin typeface="宋体" panose="02010600030101010101" pitchFamily="2" charset="-122"/>
                <a:cs typeface="宋体" panose="02010600030101010101" pitchFamily="2" charset="-122"/>
              </a:rPr>
              <a:t>－</a:t>
            </a:r>
            <a:r>
              <a:rPr lang="en-US" altLang="zh-CN" sz="2800" b="1" i="1" spc="-11" dirty="0">
                <a:latin typeface="Times New Roman" panose="02020603050405020304"/>
                <a:cs typeface="Times New Roman" panose="02020603050405020304"/>
              </a:rPr>
              <a:t>A</a:t>
            </a:r>
            <a:r>
              <a:rPr lang="en-US" altLang="zh-CN" sz="2800" b="1" spc="-16" baseline="-21000" dirty="0">
                <a:latin typeface="Times New Roman" panose="02020603050405020304"/>
                <a:cs typeface="Times New Roman" panose="02020603050405020304"/>
              </a:rPr>
              <a:t>21</a:t>
            </a:r>
            <a:r>
              <a:rPr lang="en-US" altLang="zh-CN" sz="2800" b="1" spc="-11" dirty="0">
                <a:latin typeface="Times New Roman" panose="02020603050405020304"/>
                <a:cs typeface="Times New Roman" panose="02020603050405020304"/>
              </a:rPr>
              <a:t>) </a:t>
            </a:r>
            <a:r>
              <a:rPr lang="en-US" altLang="zh-CN" sz="2800" b="1" dirty="0">
                <a:latin typeface="Times New Roman" panose="02020603050405020304"/>
                <a:cs typeface="Times New Roman" panose="02020603050405020304"/>
              </a:rPr>
              <a:t>( </a:t>
            </a:r>
            <a:r>
              <a:rPr lang="en-US" altLang="zh-CN" sz="2800" b="1" i="1" spc="-32" dirty="0">
                <a:latin typeface="Times New Roman" panose="02020603050405020304"/>
                <a:cs typeface="Times New Roman" panose="02020603050405020304"/>
              </a:rPr>
              <a:t>B</a:t>
            </a:r>
            <a:r>
              <a:rPr lang="en-US" altLang="zh-CN" sz="2800" b="1" spc="-47" baseline="-21000" dirty="0">
                <a:latin typeface="Times New Roman" panose="02020603050405020304"/>
                <a:cs typeface="Times New Roman" panose="02020603050405020304"/>
              </a:rPr>
              <a:t>11 </a:t>
            </a:r>
            <a:r>
              <a:rPr lang="en-US" altLang="zh-CN" sz="2800" b="1" dirty="0">
                <a:latin typeface="Times New Roman" panose="02020603050405020304"/>
                <a:cs typeface="Times New Roman" panose="02020603050405020304"/>
              </a:rPr>
              <a:t>+ </a:t>
            </a:r>
            <a:r>
              <a:rPr lang="en-US" altLang="zh-CN" sz="2800" b="1" i="1" spc="-5" dirty="0">
                <a:latin typeface="Times New Roman" panose="02020603050405020304"/>
                <a:cs typeface="Times New Roman" panose="02020603050405020304"/>
              </a:rPr>
              <a:t>B</a:t>
            </a:r>
            <a:r>
              <a:rPr lang="en-US" altLang="zh-CN" sz="2800" b="1" spc="-7" baseline="-21000" dirty="0">
                <a:latin typeface="Times New Roman" panose="02020603050405020304"/>
                <a:cs typeface="Times New Roman" panose="02020603050405020304"/>
              </a:rPr>
              <a:t>12</a:t>
            </a:r>
            <a:r>
              <a:rPr lang="en-US" altLang="zh-CN" sz="2800" b="1" spc="-351" baseline="-21000" dirty="0">
                <a:latin typeface="Times New Roman" panose="02020603050405020304"/>
                <a:cs typeface="Times New Roman" panose="02020603050405020304"/>
              </a:rPr>
              <a:t> </a:t>
            </a:r>
            <a:r>
              <a:rPr lang="en-US" altLang="zh-CN" sz="2800" b="1" dirty="0">
                <a:latin typeface="Times New Roman" panose="02020603050405020304"/>
                <a:cs typeface="Times New Roman" panose="02020603050405020304"/>
              </a:rPr>
              <a:t>)</a:t>
            </a:r>
            <a:endParaRPr lang="en-US" altLang="zh-CN" sz="2800" dirty="0">
              <a:latin typeface="Times New Roman" panose="02020603050405020304"/>
              <a:cs typeface="Times New Roman" panose="02020603050405020304"/>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7506" y="75033"/>
            <a:ext cx="8996030" cy="690059"/>
          </a:xfrm>
          <a:prstGeom prst="rect">
            <a:avLst/>
          </a:prstGeom>
        </p:spPr>
        <p:txBody>
          <a:bodyPr vert="horz" wrap="square" lIns="0" tIns="12825" rIns="0" bIns="0" rtlCol="0" anchor="ctr">
            <a:spAutoFit/>
          </a:bodyPr>
          <a:lstStyle/>
          <a:p>
            <a:pPr marL="13335" algn="ctr">
              <a:lnSpc>
                <a:spcPct val="100000"/>
              </a:lnSpc>
              <a:spcBef>
                <a:spcPts val="100"/>
              </a:spcBef>
            </a:pPr>
            <a:r>
              <a:rPr sz="4400" b="1" spc="-5"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Strassen</a:t>
            </a:r>
            <a:r>
              <a:rPr sz="4400" b="1" spc="-12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sz="4400" b="1" spc="-1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矩阵乘</a:t>
            </a:r>
            <a:r>
              <a:rPr sz="4400" b="1" spc="-5"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法(</a:t>
            </a:r>
            <a:r>
              <a:rPr sz="4400" b="1" spc="-1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续</a:t>
            </a:r>
            <a:r>
              <a:rPr sz="4400" b="1" spc="-2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endParaRPr sz="3600" b="1" spc="-2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object 5"/>
          <p:cNvSpPr txBox="1">
            <a:spLocks noGrp="1"/>
          </p:cNvSpPr>
          <p:nvPr>
            <p:ph type="sldNum" sz="quarter" idx="12"/>
          </p:nvPr>
        </p:nvSpPr>
        <p:spPr>
          <a:xfrm>
            <a:off x="7009441" y="7862225"/>
            <a:ext cx="2324889" cy="192360"/>
          </a:xfrm>
          <a:prstGeom prst="rect">
            <a:avLst/>
          </a:prstGeom>
        </p:spPr>
        <p:txBody>
          <a:bodyPr vert="horz" wrap="square" lIns="0" tIns="0" rIns="0" bIns="0" rtlCol="0" anchor="ctr">
            <a:spAutoFit/>
          </a:bodyPr>
          <a:lstStyle/>
          <a:p>
            <a:pPr marL="27305">
              <a:lnSpc>
                <a:spcPts val="1515"/>
              </a:lnSpc>
            </a:pPr>
            <a:fld id="{81D60167-4931-47E6-BA6A-407CBD079E47}" type="slidenum">
              <a:rPr spc="-5" dirty="0"/>
            </a:fld>
            <a:endParaRPr spc="-5" dirty="0"/>
          </a:p>
        </p:txBody>
      </p:sp>
      <p:sp>
        <p:nvSpPr>
          <p:cNvPr id="3" name="object 3"/>
          <p:cNvSpPr txBox="1"/>
          <p:nvPr/>
        </p:nvSpPr>
        <p:spPr>
          <a:xfrm>
            <a:off x="546100" y="1087917"/>
            <a:ext cx="8396857" cy="4425777"/>
          </a:xfrm>
          <a:prstGeom prst="rect">
            <a:avLst/>
          </a:prstGeom>
        </p:spPr>
        <p:txBody>
          <a:bodyPr vert="horz" wrap="square" lIns="0" tIns="14175" rIns="0" bIns="0" rtlCol="0">
            <a:spAutoFit/>
          </a:bodyPr>
          <a:lstStyle/>
          <a:p>
            <a:pPr marL="27305">
              <a:spcBef>
                <a:spcPts val="110"/>
              </a:spcBef>
            </a:pPr>
            <a:r>
              <a:rPr sz="2800" b="1" dirty="0">
                <a:latin typeface="黑体" panose="02010609060101010101" pitchFamily="49" charset="-122"/>
                <a:ea typeface="黑体" panose="02010609060101010101" pitchFamily="49" charset="-122"/>
                <a:cs typeface="宋体" panose="02010600030101010101" pitchFamily="2" charset="-122"/>
              </a:rPr>
              <a:t>利用中间矩阵，得到结果矩阵</a:t>
            </a:r>
            <a:endParaRPr sz="2800" dirty="0">
              <a:latin typeface="黑体" panose="02010609060101010101" pitchFamily="49" charset="-122"/>
              <a:ea typeface="黑体" panose="02010609060101010101" pitchFamily="49" charset="-122"/>
              <a:cs typeface="宋体" panose="02010600030101010101" pitchFamily="2" charset="-122"/>
            </a:endParaRPr>
          </a:p>
          <a:p>
            <a:pPr marL="430530">
              <a:lnSpc>
                <a:spcPts val="3040"/>
              </a:lnSpc>
              <a:spcBef>
                <a:spcPts val="1200"/>
              </a:spcBef>
            </a:pPr>
            <a:r>
              <a:rPr lang="en-US" sz="2800" b="1" i="1" spc="-32" dirty="0">
                <a:latin typeface="Times New Roman" panose="02020603050405020304"/>
                <a:cs typeface="Times New Roman" panose="02020603050405020304"/>
              </a:rPr>
              <a:t>              </a:t>
            </a:r>
            <a:r>
              <a:rPr sz="2800" b="1" i="1" spc="-32" dirty="0">
                <a:latin typeface="Times New Roman" panose="02020603050405020304"/>
                <a:cs typeface="Times New Roman" panose="02020603050405020304"/>
              </a:rPr>
              <a:t>C</a:t>
            </a:r>
            <a:r>
              <a:rPr sz="2800" b="1" spc="-47" baseline="-21000" dirty="0">
                <a:latin typeface="Times New Roman" panose="02020603050405020304"/>
                <a:cs typeface="Times New Roman" panose="02020603050405020304"/>
              </a:rPr>
              <a:t>11 </a:t>
            </a:r>
            <a:r>
              <a:rPr sz="2800" b="1" dirty="0">
                <a:latin typeface="Times New Roman" panose="02020603050405020304"/>
                <a:cs typeface="Times New Roman" panose="02020603050405020304"/>
              </a:rPr>
              <a:t>= </a:t>
            </a:r>
            <a:r>
              <a:rPr sz="2800" b="1" i="1" dirty="0">
                <a:latin typeface="Times New Roman" panose="02020603050405020304"/>
                <a:cs typeface="Times New Roman" panose="02020603050405020304"/>
              </a:rPr>
              <a:t>M</a:t>
            </a:r>
            <a:r>
              <a:rPr sz="2800" b="1" baseline="-21000" dirty="0">
                <a:latin typeface="Times New Roman" panose="02020603050405020304"/>
                <a:cs typeface="Times New Roman" panose="02020603050405020304"/>
              </a:rPr>
              <a:t>5 </a:t>
            </a:r>
            <a:r>
              <a:rPr sz="2800" b="1" dirty="0">
                <a:latin typeface="Times New Roman" panose="02020603050405020304"/>
                <a:cs typeface="Times New Roman" panose="02020603050405020304"/>
              </a:rPr>
              <a:t>+ </a:t>
            </a:r>
            <a:r>
              <a:rPr sz="2800" b="1" i="1" dirty="0">
                <a:latin typeface="Times New Roman" panose="02020603050405020304"/>
                <a:cs typeface="Times New Roman" panose="02020603050405020304"/>
              </a:rPr>
              <a:t>M</a:t>
            </a:r>
            <a:r>
              <a:rPr sz="2800" b="1" baseline="-21000" dirty="0">
                <a:latin typeface="Times New Roman" panose="02020603050405020304"/>
                <a:cs typeface="Times New Roman" panose="02020603050405020304"/>
              </a:rPr>
              <a:t>4</a:t>
            </a:r>
            <a:r>
              <a:rPr sz="2800" b="1" dirty="0">
                <a:latin typeface="宋体" panose="02010600030101010101" pitchFamily="2" charset="-122"/>
                <a:cs typeface="宋体" panose="02010600030101010101" pitchFamily="2" charset="-122"/>
              </a:rPr>
              <a:t>－</a:t>
            </a:r>
            <a:r>
              <a:rPr sz="2800" b="1" i="1" dirty="0">
                <a:latin typeface="Times New Roman" panose="02020603050405020304"/>
                <a:cs typeface="Times New Roman" panose="02020603050405020304"/>
              </a:rPr>
              <a:t>M</a:t>
            </a:r>
            <a:r>
              <a:rPr sz="2800" b="1" baseline="-21000" dirty="0">
                <a:latin typeface="Times New Roman" panose="02020603050405020304"/>
                <a:cs typeface="Times New Roman" panose="02020603050405020304"/>
              </a:rPr>
              <a:t>2 </a:t>
            </a:r>
            <a:r>
              <a:rPr sz="2800" b="1" dirty="0">
                <a:latin typeface="Times New Roman" panose="02020603050405020304"/>
                <a:cs typeface="Times New Roman" panose="02020603050405020304"/>
              </a:rPr>
              <a:t>+</a:t>
            </a:r>
            <a:r>
              <a:rPr sz="2800" b="1" spc="191" dirty="0">
                <a:latin typeface="Times New Roman" panose="02020603050405020304"/>
                <a:cs typeface="Times New Roman" panose="02020603050405020304"/>
              </a:rPr>
              <a:t> </a:t>
            </a:r>
            <a:r>
              <a:rPr sz="2800" b="1" i="1" dirty="0">
                <a:latin typeface="Times New Roman" panose="02020603050405020304"/>
                <a:cs typeface="Times New Roman" panose="02020603050405020304"/>
              </a:rPr>
              <a:t>M</a:t>
            </a:r>
            <a:r>
              <a:rPr sz="2800" b="1" baseline="-21000" dirty="0">
                <a:latin typeface="Times New Roman" panose="02020603050405020304"/>
                <a:cs typeface="Times New Roman" panose="02020603050405020304"/>
              </a:rPr>
              <a:t>6</a:t>
            </a:r>
            <a:endParaRPr sz="2800" baseline="-21000" dirty="0">
              <a:latin typeface="Times New Roman" panose="02020603050405020304"/>
              <a:cs typeface="Times New Roman" panose="02020603050405020304"/>
            </a:endParaRPr>
          </a:p>
          <a:p>
            <a:pPr marL="430530" marR="2289175">
              <a:lnSpc>
                <a:spcPts val="3060"/>
              </a:lnSpc>
              <a:spcBef>
                <a:spcPts val="85"/>
              </a:spcBef>
            </a:pPr>
            <a:r>
              <a:rPr lang="en-US" sz="2800" b="1" i="1" spc="-5"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C</a:t>
            </a:r>
            <a:r>
              <a:rPr sz="2800" b="1" spc="-7" baseline="-21000" dirty="0">
                <a:latin typeface="Times New Roman" panose="02020603050405020304"/>
                <a:cs typeface="Times New Roman" panose="02020603050405020304"/>
              </a:rPr>
              <a:t>12 </a:t>
            </a:r>
            <a:r>
              <a:rPr sz="2800" b="1"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M</a:t>
            </a:r>
            <a:r>
              <a:rPr sz="2800" b="1" spc="-7" baseline="-21000" dirty="0">
                <a:latin typeface="Times New Roman" panose="02020603050405020304"/>
                <a:cs typeface="Times New Roman" panose="02020603050405020304"/>
              </a:rPr>
              <a:t>1 </a:t>
            </a:r>
            <a:r>
              <a:rPr sz="2800" b="1"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M</a:t>
            </a:r>
            <a:r>
              <a:rPr sz="2800" b="1" spc="-7" baseline="-21000" dirty="0">
                <a:latin typeface="Times New Roman" panose="02020603050405020304"/>
                <a:cs typeface="Times New Roman" panose="02020603050405020304"/>
              </a:rPr>
              <a:t>2 </a:t>
            </a:r>
            <a:endParaRPr lang="en-US" sz="2800" b="1" spc="-7" baseline="-21000" dirty="0">
              <a:latin typeface="Times New Roman" panose="02020603050405020304"/>
              <a:cs typeface="Times New Roman" panose="02020603050405020304"/>
            </a:endParaRPr>
          </a:p>
          <a:p>
            <a:pPr marL="430530" marR="2289175">
              <a:lnSpc>
                <a:spcPts val="3060"/>
              </a:lnSpc>
              <a:spcBef>
                <a:spcPts val="85"/>
              </a:spcBef>
            </a:pPr>
            <a:r>
              <a:rPr lang="en-US" sz="2800" b="1" i="1" spc="-5"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C</a:t>
            </a:r>
            <a:r>
              <a:rPr sz="2800" b="1" spc="-7" baseline="-21000" dirty="0">
                <a:latin typeface="Times New Roman" panose="02020603050405020304"/>
                <a:cs typeface="Times New Roman" panose="02020603050405020304"/>
              </a:rPr>
              <a:t>21 </a:t>
            </a:r>
            <a:r>
              <a:rPr sz="2800" b="1"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M</a:t>
            </a:r>
            <a:r>
              <a:rPr sz="2800" b="1" spc="-7" baseline="-21000" dirty="0">
                <a:latin typeface="Times New Roman" panose="02020603050405020304"/>
                <a:cs typeface="Times New Roman" panose="02020603050405020304"/>
              </a:rPr>
              <a:t>3 </a:t>
            </a:r>
            <a:r>
              <a:rPr sz="2800" b="1" dirty="0">
                <a:latin typeface="Times New Roman" panose="02020603050405020304"/>
                <a:cs typeface="Times New Roman" panose="02020603050405020304"/>
              </a:rPr>
              <a:t>+</a:t>
            </a:r>
            <a:r>
              <a:rPr sz="2800" b="1" spc="351"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M</a:t>
            </a:r>
            <a:r>
              <a:rPr sz="2800" b="1" spc="-7" baseline="-21000" dirty="0">
                <a:latin typeface="Times New Roman" panose="02020603050405020304"/>
                <a:cs typeface="Times New Roman" panose="02020603050405020304"/>
              </a:rPr>
              <a:t>4</a:t>
            </a:r>
            <a:endParaRPr sz="2800" baseline="-21000" dirty="0">
              <a:latin typeface="Times New Roman" panose="02020603050405020304"/>
              <a:cs typeface="Times New Roman" panose="02020603050405020304"/>
            </a:endParaRPr>
          </a:p>
          <a:p>
            <a:pPr marL="430530">
              <a:lnSpc>
                <a:spcPts val="3005"/>
              </a:lnSpc>
            </a:pPr>
            <a:r>
              <a:rPr lang="en-US" sz="2800" b="1" i="1" spc="-5"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C</a:t>
            </a:r>
            <a:r>
              <a:rPr sz="2800" b="1" spc="-7" baseline="-21000" dirty="0">
                <a:latin typeface="Times New Roman" panose="02020603050405020304"/>
                <a:cs typeface="Times New Roman" panose="02020603050405020304"/>
              </a:rPr>
              <a:t>22 </a:t>
            </a:r>
            <a:r>
              <a:rPr sz="2800" b="1" dirty="0">
                <a:latin typeface="Times New Roman" panose="02020603050405020304"/>
                <a:cs typeface="Times New Roman" panose="02020603050405020304"/>
              </a:rPr>
              <a:t>= </a:t>
            </a:r>
            <a:r>
              <a:rPr sz="2800" b="1" i="1" dirty="0">
                <a:latin typeface="Times New Roman" panose="02020603050405020304"/>
                <a:cs typeface="Times New Roman" panose="02020603050405020304"/>
              </a:rPr>
              <a:t>M</a:t>
            </a:r>
            <a:r>
              <a:rPr sz="2800" b="1" baseline="-21000" dirty="0">
                <a:latin typeface="Times New Roman" panose="02020603050405020304"/>
                <a:cs typeface="Times New Roman" panose="02020603050405020304"/>
              </a:rPr>
              <a:t>5</a:t>
            </a:r>
            <a:r>
              <a:rPr sz="2800" b="1" dirty="0">
                <a:latin typeface="Times New Roman" panose="02020603050405020304"/>
                <a:cs typeface="Times New Roman" panose="02020603050405020304"/>
              </a:rPr>
              <a:t>+</a:t>
            </a:r>
            <a:r>
              <a:rPr sz="2800" b="1" spc="-243" dirty="0">
                <a:latin typeface="Times New Roman" panose="02020603050405020304"/>
                <a:cs typeface="Times New Roman" panose="02020603050405020304"/>
              </a:rPr>
              <a:t> </a:t>
            </a:r>
            <a:r>
              <a:rPr sz="2800" b="1" i="1" dirty="0">
                <a:latin typeface="Times New Roman" panose="02020603050405020304"/>
                <a:cs typeface="Times New Roman" panose="02020603050405020304"/>
              </a:rPr>
              <a:t>M</a:t>
            </a:r>
            <a:r>
              <a:rPr sz="2800" b="1" baseline="-21000" dirty="0">
                <a:latin typeface="Times New Roman" panose="02020603050405020304"/>
                <a:cs typeface="Times New Roman" panose="02020603050405020304"/>
              </a:rPr>
              <a:t>1</a:t>
            </a:r>
            <a:r>
              <a:rPr sz="2800" b="1" dirty="0">
                <a:latin typeface="宋体" panose="02010600030101010101" pitchFamily="2" charset="-122"/>
                <a:cs typeface="宋体" panose="02010600030101010101" pitchFamily="2" charset="-122"/>
              </a:rPr>
              <a:t>－</a:t>
            </a:r>
            <a:r>
              <a:rPr sz="2800" b="1" i="1" dirty="0">
                <a:latin typeface="Times New Roman" panose="02020603050405020304"/>
                <a:cs typeface="Times New Roman" panose="02020603050405020304"/>
              </a:rPr>
              <a:t>M</a:t>
            </a:r>
            <a:r>
              <a:rPr sz="2800" b="1" baseline="-21000" dirty="0">
                <a:latin typeface="Times New Roman" panose="02020603050405020304"/>
                <a:cs typeface="Times New Roman" panose="02020603050405020304"/>
              </a:rPr>
              <a:t>3</a:t>
            </a:r>
            <a:r>
              <a:rPr sz="2800" b="1" dirty="0">
                <a:latin typeface="宋体" panose="02010600030101010101" pitchFamily="2" charset="-122"/>
                <a:cs typeface="宋体" panose="02010600030101010101" pitchFamily="2" charset="-122"/>
              </a:rPr>
              <a:t>－</a:t>
            </a:r>
            <a:r>
              <a:rPr sz="2800" b="1" i="1" dirty="0">
                <a:latin typeface="Times New Roman" panose="02020603050405020304"/>
                <a:cs typeface="Times New Roman" panose="02020603050405020304"/>
              </a:rPr>
              <a:t>M</a:t>
            </a:r>
            <a:r>
              <a:rPr sz="2800" b="1" baseline="-21000" dirty="0">
                <a:latin typeface="Times New Roman" panose="02020603050405020304"/>
                <a:cs typeface="Times New Roman" panose="02020603050405020304"/>
              </a:rPr>
              <a:t>7</a:t>
            </a:r>
            <a:endParaRPr sz="2800" baseline="-21000" dirty="0">
              <a:latin typeface="Times New Roman" panose="02020603050405020304"/>
              <a:cs typeface="Times New Roman" panose="02020603050405020304"/>
            </a:endParaRPr>
          </a:p>
          <a:p>
            <a:pPr marL="27305">
              <a:spcBef>
                <a:spcPts val="2205"/>
              </a:spcBef>
            </a:pPr>
            <a:r>
              <a:rPr sz="2800" b="1" dirty="0">
                <a:latin typeface="黑体" panose="02010609060101010101" pitchFamily="49" charset="-122"/>
                <a:ea typeface="黑体" panose="02010609060101010101" pitchFamily="49" charset="-122"/>
                <a:cs typeface="宋体" panose="02010600030101010101" pitchFamily="2" charset="-122"/>
              </a:rPr>
              <a:t>时间复杂度函数：</a:t>
            </a:r>
            <a:endParaRPr sz="2800" dirty="0">
              <a:latin typeface="黑体" panose="02010609060101010101" pitchFamily="49" charset="-122"/>
              <a:ea typeface="黑体" panose="02010609060101010101" pitchFamily="49" charset="-122"/>
              <a:cs typeface="宋体" panose="02010600030101010101" pitchFamily="2" charset="-122"/>
            </a:endParaRPr>
          </a:p>
          <a:p>
            <a:pPr marL="497840">
              <a:spcBef>
                <a:spcPts val="1005"/>
              </a:spcBef>
            </a:pPr>
            <a:r>
              <a:rPr lang="en-US" sz="2800" b="1" i="1" spc="-5"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W</a:t>
            </a:r>
            <a:r>
              <a:rPr sz="2800" b="1" spc="-5" dirty="0">
                <a:latin typeface="Times New Roman" panose="02020603050405020304"/>
                <a:cs typeface="Times New Roman" panose="02020603050405020304"/>
              </a:rPr>
              <a:t>(</a:t>
            </a:r>
            <a:r>
              <a:rPr sz="2800" b="1" i="1" spc="-5" dirty="0">
                <a:latin typeface="Times New Roman" panose="02020603050405020304"/>
                <a:cs typeface="Times New Roman" panose="02020603050405020304"/>
              </a:rPr>
              <a:t>n</a:t>
            </a:r>
            <a:r>
              <a:rPr sz="2800" b="1" spc="-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 7 </a:t>
            </a:r>
            <a:r>
              <a:rPr sz="2800" b="1" i="1" spc="-5" dirty="0">
                <a:latin typeface="Times New Roman" panose="02020603050405020304"/>
                <a:cs typeface="Times New Roman" panose="02020603050405020304"/>
              </a:rPr>
              <a:t>W</a:t>
            </a:r>
            <a:r>
              <a:rPr sz="2800" b="1" spc="-5" dirty="0">
                <a:latin typeface="Times New Roman" panose="02020603050405020304"/>
                <a:cs typeface="Times New Roman" panose="02020603050405020304"/>
              </a:rPr>
              <a:t>(</a:t>
            </a:r>
            <a:r>
              <a:rPr sz="2800" b="1" i="1" spc="-5" dirty="0">
                <a:latin typeface="Times New Roman" panose="02020603050405020304"/>
                <a:cs typeface="Times New Roman" panose="02020603050405020304"/>
              </a:rPr>
              <a:t>n</a:t>
            </a:r>
            <a:r>
              <a:rPr sz="2800" b="1" spc="-5" dirty="0">
                <a:latin typeface="Times New Roman" panose="02020603050405020304"/>
                <a:cs typeface="Times New Roman" panose="02020603050405020304"/>
              </a:rPr>
              <a:t>/2) </a:t>
            </a:r>
            <a:r>
              <a:rPr sz="2800" b="1" dirty="0">
                <a:latin typeface="Times New Roman" panose="02020603050405020304"/>
                <a:cs typeface="Times New Roman" panose="02020603050405020304"/>
              </a:rPr>
              <a:t>+</a:t>
            </a:r>
            <a:r>
              <a:rPr sz="2800" b="1" spc="-32"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18(</a:t>
            </a:r>
            <a:r>
              <a:rPr sz="2800" b="1" i="1" dirty="0">
                <a:latin typeface="Times New Roman" panose="02020603050405020304"/>
                <a:cs typeface="Times New Roman" panose="02020603050405020304"/>
              </a:rPr>
              <a:t>n</a:t>
            </a:r>
            <a:r>
              <a:rPr sz="2800" b="1" dirty="0">
                <a:latin typeface="Times New Roman" panose="02020603050405020304"/>
                <a:cs typeface="Times New Roman" panose="02020603050405020304"/>
              </a:rPr>
              <a:t>/2)</a:t>
            </a:r>
            <a:r>
              <a:rPr sz="2800" b="1" baseline="24000" dirty="0">
                <a:latin typeface="Times New Roman" panose="02020603050405020304"/>
                <a:cs typeface="Times New Roman" panose="02020603050405020304"/>
              </a:rPr>
              <a:t>2</a:t>
            </a:r>
            <a:endParaRPr sz="2800" baseline="24000" dirty="0">
              <a:latin typeface="Times New Roman" panose="02020603050405020304"/>
              <a:cs typeface="Times New Roman" panose="02020603050405020304"/>
            </a:endParaRPr>
          </a:p>
          <a:p>
            <a:pPr marL="511810">
              <a:spcBef>
                <a:spcPts val="105"/>
              </a:spcBef>
            </a:pPr>
            <a:r>
              <a:rPr lang="en-US" sz="2800" b="1" i="1" spc="-5"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W</a:t>
            </a:r>
            <a:r>
              <a:rPr sz="2800" b="1" spc="-5" dirty="0">
                <a:latin typeface="Times New Roman" panose="02020603050405020304"/>
                <a:cs typeface="Times New Roman" panose="02020603050405020304"/>
              </a:rPr>
              <a:t>(1) </a:t>
            </a:r>
            <a:r>
              <a:rPr sz="2800" b="1" dirty="0">
                <a:latin typeface="Times New Roman" panose="02020603050405020304"/>
                <a:cs typeface="Times New Roman" panose="02020603050405020304"/>
              </a:rPr>
              <a:t>=</a:t>
            </a:r>
            <a:r>
              <a:rPr sz="2800" b="1" spc="-11"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1</a:t>
            </a:r>
            <a:endParaRPr sz="2800" dirty="0">
              <a:latin typeface="Times New Roman" panose="02020603050405020304"/>
              <a:cs typeface="Times New Roman" panose="02020603050405020304"/>
            </a:endParaRPr>
          </a:p>
          <a:p>
            <a:pPr marL="27305">
              <a:spcBef>
                <a:spcPts val="675"/>
              </a:spcBef>
              <a:tabLst>
                <a:tab pos="675005" algn="l"/>
                <a:tab pos="2884170" algn="l"/>
              </a:tabLst>
            </a:pPr>
            <a:r>
              <a:rPr lang="en-US" sz="2800" b="1" spc="-11" dirty="0">
                <a:latin typeface="黑体" panose="02010609060101010101" pitchFamily="49" charset="-122"/>
                <a:ea typeface="黑体" panose="02010609060101010101" pitchFamily="49" charset="-122"/>
                <a:cs typeface="宋体" panose="02010600030101010101" pitchFamily="2" charset="-122"/>
              </a:rPr>
              <a:t>  </a:t>
            </a:r>
            <a:r>
              <a:rPr sz="2800" b="1" spc="-11" dirty="0">
                <a:latin typeface="黑体" panose="02010609060101010101" pitchFamily="49" charset="-122"/>
                <a:ea typeface="黑体" panose="02010609060101010101" pitchFamily="49" charset="-122"/>
                <a:cs typeface="宋体" panose="02010600030101010101" pitchFamily="2" charset="-122"/>
              </a:rPr>
              <a:t>解</a:t>
            </a:r>
            <a:r>
              <a:rPr lang="en-US" sz="2800" b="1" spc="-11" dirty="0">
                <a:latin typeface="宋体" panose="02010600030101010101" pitchFamily="2" charset="-122"/>
                <a:cs typeface="宋体" panose="02010600030101010101" pitchFamily="2" charset="-122"/>
              </a:rPr>
              <a:t>     </a:t>
            </a:r>
            <a:r>
              <a:rPr sz="2800" b="1" i="1" spc="-5" dirty="0">
                <a:latin typeface="Times New Roman" panose="02020603050405020304"/>
                <a:cs typeface="Times New Roman" panose="02020603050405020304"/>
              </a:rPr>
              <a:t>W</a:t>
            </a:r>
            <a:r>
              <a:rPr sz="2800" b="1" spc="-5" dirty="0">
                <a:latin typeface="Times New Roman" panose="02020603050405020304"/>
                <a:cs typeface="Times New Roman" panose="02020603050405020304"/>
              </a:rPr>
              <a:t>(</a:t>
            </a:r>
            <a:r>
              <a:rPr sz="2800" b="1" i="1" spc="-5" dirty="0">
                <a:latin typeface="Times New Roman" panose="02020603050405020304"/>
                <a:cs typeface="Times New Roman" panose="02020603050405020304"/>
              </a:rPr>
              <a:t>n</a:t>
            </a:r>
            <a:r>
              <a:rPr sz="2800" b="1" spc="-5" dirty="0">
                <a:latin typeface="Times New Roman" panose="02020603050405020304"/>
                <a:cs typeface="Times New Roman" panose="02020603050405020304"/>
              </a:rPr>
              <a:t>)</a:t>
            </a:r>
            <a:r>
              <a:rPr sz="2800" b="1" spc="11"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a:t>
            </a:r>
            <a:r>
              <a:rPr sz="2800" b="1" spc="16" dirty="0">
                <a:latin typeface="Times New Roman" panose="02020603050405020304"/>
                <a:cs typeface="Times New Roman" panose="02020603050405020304"/>
              </a:rPr>
              <a:t> </a:t>
            </a:r>
            <a:r>
              <a:rPr sz="2800" b="1" i="1" spc="-5" dirty="0">
                <a:latin typeface="Times New Roman" panose="02020603050405020304"/>
                <a:cs typeface="Times New Roman" panose="02020603050405020304"/>
              </a:rPr>
              <a:t>O</a:t>
            </a:r>
            <a:r>
              <a:rPr sz="2800" b="1" spc="-5" dirty="0">
                <a:latin typeface="Times New Roman" panose="02020603050405020304"/>
                <a:cs typeface="Times New Roman" panose="02020603050405020304"/>
              </a:rPr>
              <a:t>(</a:t>
            </a:r>
            <a:r>
              <a:rPr sz="2800" b="1" i="1" spc="-5" dirty="0">
                <a:latin typeface="Times New Roman" panose="02020603050405020304"/>
                <a:cs typeface="Times New Roman" panose="02020603050405020304"/>
              </a:rPr>
              <a:t>n</a:t>
            </a:r>
            <a:r>
              <a:rPr sz="2800" b="1" spc="-7" baseline="24000" dirty="0">
                <a:latin typeface="Times New Roman" panose="02020603050405020304"/>
                <a:cs typeface="Times New Roman" panose="02020603050405020304"/>
              </a:rPr>
              <a:t>log7</a:t>
            </a:r>
            <a:r>
              <a:rPr sz="2800" b="1" spc="-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a:t>
            </a:r>
            <a:r>
              <a:rPr sz="2800" b="1" spc="-27" dirty="0">
                <a:latin typeface="Times New Roman" panose="02020603050405020304"/>
                <a:cs typeface="Times New Roman" panose="02020603050405020304"/>
              </a:rPr>
              <a:t> </a:t>
            </a:r>
            <a:r>
              <a:rPr sz="2800" b="1" i="1" spc="-5" dirty="0">
                <a:solidFill>
                  <a:srgbClr val="C00000"/>
                </a:solidFill>
                <a:latin typeface="Times New Roman" panose="02020603050405020304"/>
                <a:cs typeface="Times New Roman" panose="02020603050405020304"/>
              </a:rPr>
              <a:t>O</a:t>
            </a:r>
            <a:r>
              <a:rPr sz="2800" b="1" spc="-5" dirty="0">
                <a:solidFill>
                  <a:srgbClr val="C00000"/>
                </a:solidFill>
                <a:latin typeface="Times New Roman" panose="02020603050405020304"/>
                <a:cs typeface="Times New Roman" panose="02020603050405020304"/>
              </a:rPr>
              <a:t>(</a:t>
            </a:r>
            <a:r>
              <a:rPr sz="2800" b="1" i="1" spc="-5" dirty="0">
                <a:solidFill>
                  <a:srgbClr val="C00000"/>
                </a:solidFill>
                <a:latin typeface="Times New Roman" panose="02020603050405020304"/>
                <a:cs typeface="Times New Roman" panose="02020603050405020304"/>
              </a:rPr>
              <a:t>n</a:t>
            </a:r>
            <a:r>
              <a:rPr sz="2800" b="1" spc="-7" baseline="24000" dirty="0">
                <a:solidFill>
                  <a:srgbClr val="C00000"/>
                </a:solidFill>
                <a:latin typeface="Times New Roman" panose="02020603050405020304"/>
                <a:cs typeface="Times New Roman" panose="02020603050405020304"/>
              </a:rPr>
              <a:t>2.8075</a:t>
            </a:r>
            <a:r>
              <a:rPr sz="2800" b="1" spc="-5" dirty="0">
                <a:solidFill>
                  <a:srgbClr val="C00000"/>
                </a:solidFill>
                <a:latin typeface="Times New Roman" panose="02020603050405020304"/>
                <a:cs typeface="Times New Roman" panose="02020603050405020304"/>
              </a:rPr>
              <a:t>)</a:t>
            </a:r>
            <a:endParaRPr sz="2800" dirty="0">
              <a:latin typeface="Times New Roman" panose="02020603050405020304"/>
              <a:cs typeface="Times New Roman" panose="02020603050405020304"/>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5241" y="48046"/>
            <a:ext cx="8625387" cy="690059"/>
          </a:xfrm>
          <a:prstGeom prst="rect">
            <a:avLst/>
          </a:prstGeom>
        </p:spPr>
        <p:txBody>
          <a:bodyPr vert="horz" wrap="square" lIns="0" tIns="12825" rIns="0" bIns="0" rtlCol="0" anchor="ctr">
            <a:spAutoFit/>
          </a:bodyPr>
          <a:lstStyle/>
          <a:p>
            <a:pPr marL="13335" algn="ctr">
              <a:lnSpc>
                <a:spcPct val="100000"/>
              </a:lnSpc>
              <a:spcBef>
                <a:spcPts val="100"/>
              </a:spcBef>
            </a:pPr>
            <a:r>
              <a:rPr sz="4400" b="1" spc="-11" dirty="0">
                <a:solidFill>
                  <a:srgbClr val="C00000"/>
                </a:solidFill>
                <a:latin typeface="黑体" panose="02010609060101010101" pitchFamily="49" charset="-122"/>
                <a:ea typeface="黑体" panose="02010609060101010101" pitchFamily="49" charset="-122"/>
              </a:rPr>
              <a:t>矩阵乘法的研究及应用</a:t>
            </a:r>
            <a:endParaRPr sz="4400" b="1" spc="-11"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595630" y="997720"/>
            <a:ext cx="8414872" cy="5152390"/>
          </a:xfrm>
          <a:prstGeom prst="rect">
            <a:avLst/>
          </a:prstGeom>
        </p:spPr>
        <p:txBody>
          <a:bodyPr vert="horz" wrap="square" lIns="0" tIns="95853" rIns="0" bIns="0" rtlCol="0">
            <a:spAutoFit/>
          </a:bodyPr>
          <a:lstStyle/>
          <a:p>
            <a:pPr marR="2660015" algn="just">
              <a:spcBef>
                <a:spcPts val="755"/>
              </a:spcBef>
            </a:pPr>
            <a:r>
              <a:rPr sz="2800" b="1" dirty="0">
                <a:latin typeface="Times New Roman" panose="02020603050405020304" pitchFamily="18" charset="0"/>
                <a:ea typeface="黑体" panose="02010609060101010101" pitchFamily="49" charset="-122"/>
                <a:cs typeface="Times New Roman" panose="02020603050405020304" pitchFamily="18" charset="0"/>
              </a:rPr>
              <a:t>矩阵乘法问题的难</a:t>
            </a:r>
            <a:r>
              <a:rPr sz="2800" b="1" spc="5" dirty="0">
                <a:latin typeface="Times New Roman" panose="02020603050405020304" pitchFamily="18" charset="0"/>
                <a:ea typeface="黑体" panose="02010609060101010101" pitchFamily="49" charset="-122"/>
                <a:cs typeface="Times New Roman" panose="02020603050405020304" pitchFamily="18" charset="0"/>
              </a:rPr>
              <a:t>度</a:t>
            </a:r>
            <a:r>
              <a:rPr sz="2800" b="1" spc="-5" dirty="0">
                <a:latin typeface="Times New Roman" panose="02020603050405020304" pitchFamily="18" charset="0"/>
                <a:ea typeface="黑体" panose="02010609060101010101" pitchFamily="49" charset="-122"/>
                <a:cs typeface="Times New Roman" panose="02020603050405020304" pitchFamily="18" charset="0"/>
              </a:rPr>
              <a:t>：</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80010" algn="just">
              <a:spcBef>
                <a:spcPts val="655"/>
              </a:spcBef>
              <a:tabLst>
                <a:tab pos="434975" algn="l"/>
                <a:tab pos="435610" algn="l"/>
              </a:tabLst>
            </a:pPr>
            <a:r>
              <a:rPr lang="en-US" sz="2800" b="1" spc="-5" dirty="0">
                <a:latin typeface="Times New Roman" panose="02020603050405020304" pitchFamily="18" charset="0"/>
                <a:ea typeface="黑体" panose="02010609060101010101" pitchFamily="49" charset="-122"/>
                <a:cs typeface="Times New Roman" panose="02020603050405020304" pitchFamily="18" charset="0"/>
              </a:rPr>
              <a:t>       1987</a:t>
            </a:r>
            <a:r>
              <a:rPr lang="zh-CN" altLang="en-US" sz="2800" b="1" spc="-5" dirty="0">
                <a:latin typeface="Times New Roman" panose="02020603050405020304" pitchFamily="18" charset="0"/>
                <a:ea typeface="黑体" panose="02010609060101010101" pitchFamily="49" charset="-122"/>
                <a:cs typeface="Times New Roman" panose="02020603050405020304" pitchFamily="18" charset="0"/>
              </a:rPr>
              <a:t>年</a:t>
            </a:r>
            <a:r>
              <a:rPr lang="en-US" sz="2800" b="1" spc="-5" dirty="0">
                <a:latin typeface="Times New Roman" panose="02020603050405020304" pitchFamily="18" charset="0"/>
                <a:ea typeface="黑体" panose="02010609060101010101" pitchFamily="49" charset="-122"/>
                <a:cs typeface="Times New Roman" panose="02020603050405020304" pitchFamily="18" charset="0"/>
              </a:rPr>
              <a:t>   </a:t>
            </a:r>
            <a:r>
              <a:rPr sz="2800" b="1" spc="-5" dirty="0">
                <a:latin typeface="Times New Roman" panose="02020603050405020304" pitchFamily="18" charset="0"/>
                <a:ea typeface="黑体" panose="02010609060101010101" pitchFamily="49" charset="-122"/>
                <a:cs typeface="Times New Roman" panose="02020603050405020304" pitchFamily="18" charset="0"/>
              </a:rPr>
              <a:t>Coppersmith–</a:t>
            </a:r>
            <a:r>
              <a:rPr sz="2800" b="1" spc="-5" dirty="0" err="1">
                <a:latin typeface="Times New Roman" panose="02020603050405020304" pitchFamily="18" charset="0"/>
                <a:ea typeface="黑体" panose="02010609060101010101" pitchFamily="49" charset="-122"/>
                <a:cs typeface="Times New Roman" panose="02020603050405020304" pitchFamily="18" charset="0"/>
              </a:rPr>
              <a:t>Winograd</a:t>
            </a:r>
            <a:r>
              <a:rPr sz="2800" b="1" dirty="0" err="1">
                <a:latin typeface="Times New Roman" panose="02020603050405020304" pitchFamily="18" charset="0"/>
                <a:ea typeface="黑体" panose="02010609060101010101" pitchFamily="49" charset="-122"/>
                <a:cs typeface="Times New Roman" panose="02020603050405020304" pitchFamily="18" charset="0"/>
              </a:rPr>
              <a:t>算法</a:t>
            </a:r>
            <a:r>
              <a:rPr sz="2800" b="1" spc="-5" dirty="0" err="1">
                <a:latin typeface="宋体" panose="02010600030101010101" pitchFamily="2" charset="-122"/>
                <a:cs typeface="宋体" panose="02010600030101010101" pitchFamily="2" charset="-122"/>
              </a:rPr>
              <a:t>：</a:t>
            </a:r>
            <a:r>
              <a:rPr sz="2800" b="1" i="1" spc="-5" dirty="0" err="1">
                <a:latin typeface="Times New Roman" panose="02020603050405020304"/>
                <a:cs typeface="Times New Roman" panose="02020603050405020304"/>
              </a:rPr>
              <a:t>O</a:t>
            </a:r>
            <a:r>
              <a:rPr sz="2800" b="1" spc="-5" dirty="0">
                <a:latin typeface="Times New Roman" panose="02020603050405020304"/>
                <a:cs typeface="Times New Roman" panose="02020603050405020304"/>
              </a:rPr>
              <a:t>(</a:t>
            </a:r>
            <a:r>
              <a:rPr sz="2800" b="1" i="1" spc="-5" dirty="0">
                <a:latin typeface="Times New Roman" panose="02020603050405020304"/>
                <a:cs typeface="Times New Roman" panose="02020603050405020304"/>
              </a:rPr>
              <a:t>n</a:t>
            </a:r>
            <a:r>
              <a:rPr sz="2800" b="1" spc="-7" baseline="24000" dirty="0">
                <a:latin typeface="Times New Roman" panose="02020603050405020304"/>
                <a:cs typeface="Times New Roman" panose="02020603050405020304"/>
              </a:rPr>
              <a:t>2.376</a:t>
            </a:r>
            <a:r>
              <a:rPr sz="2800" b="1" spc="-5" dirty="0">
                <a:latin typeface="Times New Roman" panose="02020603050405020304"/>
                <a:cs typeface="Times New Roman" panose="02020603050405020304"/>
              </a:rPr>
              <a:t>)</a:t>
            </a:r>
            <a:endParaRPr sz="2800" dirty="0">
              <a:latin typeface="Times New Roman" panose="02020603050405020304"/>
              <a:cs typeface="Times New Roman" panose="02020603050405020304"/>
            </a:endParaRPr>
          </a:p>
          <a:p>
            <a:pPr marR="2661920" algn="just">
              <a:spcBef>
                <a:spcPts val="640"/>
              </a:spcBef>
            </a:pPr>
            <a:endParaRPr sz="2800" b="1" spc="-5" dirty="0" err="1">
              <a:latin typeface="Times New Roman" panose="02020603050405020304" pitchFamily="18" charset="0"/>
              <a:ea typeface="黑体" panose="02010609060101010101" pitchFamily="49" charset="-122"/>
              <a:cs typeface="Times New Roman" panose="02020603050405020304" pitchFamily="18" charset="0"/>
            </a:endParaRPr>
          </a:p>
          <a:p>
            <a:pPr marR="2661920" algn="just">
              <a:spcBef>
                <a:spcPts val="640"/>
              </a:spcBef>
            </a:pPr>
            <a:r>
              <a:rPr sz="2800" b="1" spc="-5" dirty="0" err="1">
                <a:latin typeface="Times New Roman" panose="02020603050405020304" pitchFamily="18" charset="0"/>
                <a:ea typeface="黑体" panose="02010609060101010101" pitchFamily="49" charset="-122"/>
                <a:cs typeface="Times New Roman" panose="02020603050405020304" pitchFamily="18" charset="0"/>
              </a:rPr>
              <a:t>目前为止最好的上界</a:t>
            </a:r>
            <a:r>
              <a:rPr lang="en-US" sz="2800" b="1" spc="-5" dirty="0">
                <a:latin typeface="Times New Roman" panose="02020603050405020304" pitchFamily="18" charset="0"/>
                <a:ea typeface="黑体" panose="02010609060101010101" pitchFamily="49" charset="-122"/>
                <a:cs typeface="Times New Roman" panose="02020603050405020304" pitchFamily="18" charset="0"/>
              </a:rPr>
              <a:t>: </a:t>
            </a:r>
            <a:endParaRPr lang="en-US" sz="2800" b="1" spc="-5" dirty="0">
              <a:latin typeface="Times New Roman" panose="02020603050405020304" pitchFamily="18" charset="0"/>
              <a:ea typeface="黑体" panose="02010609060101010101" pitchFamily="49" charset="-122"/>
              <a:cs typeface="Times New Roman" panose="02020603050405020304" pitchFamily="18" charset="0"/>
            </a:endParaRPr>
          </a:p>
          <a:p>
            <a:pPr marR="2661920" algn="just">
              <a:spcBef>
                <a:spcPts val="640"/>
              </a:spcBef>
            </a:pPr>
            <a:r>
              <a:rPr lang="en-US" sz="2800" b="1" spc="-5" dirty="0">
                <a:latin typeface="Times New Roman" panose="02020603050405020304" pitchFamily="18" charset="0"/>
                <a:ea typeface="黑体" panose="02010609060101010101" pitchFamily="49" charset="-122"/>
                <a:cs typeface="Times New Roman" panose="02020603050405020304" pitchFamily="18" charset="0"/>
              </a:rPr>
              <a:t>        2020</a:t>
            </a:r>
            <a:r>
              <a:rPr lang="zh-CN" sz="2800" b="1" spc="-5" dirty="0">
                <a:latin typeface="Times New Roman" panose="02020603050405020304" pitchFamily="18" charset="0"/>
                <a:ea typeface="黑体" panose="02010609060101010101" pitchFamily="49" charset="-122"/>
                <a:cs typeface="Times New Roman" panose="02020603050405020304" pitchFamily="18" charset="0"/>
              </a:rPr>
              <a:t>年</a:t>
            </a:r>
            <a:r>
              <a:rPr lang="en-US" altLang="zh-CN" sz="2800" b="1" spc="-5" dirty="0">
                <a:latin typeface="Times New Roman" panose="02020603050405020304" pitchFamily="18" charset="0"/>
                <a:ea typeface="黑体" panose="02010609060101010101" pitchFamily="49" charset="-122"/>
                <a:cs typeface="Times New Roman" panose="02020603050405020304" pitchFamily="18" charset="0"/>
              </a:rPr>
              <a:t>     </a:t>
            </a:r>
            <a:r>
              <a:rPr sz="2800" b="1" i="1" spc="-5" dirty="0" err="1">
                <a:latin typeface="Times New Roman" panose="02020603050405020304"/>
                <a:cs typeface="Times New Roman" panose="02020603050405020304"/>
                <a:sym typeface="+mn-ea"/>
              </a:rPr>
              <a:t>O</a:t>
            </a:r>
            <a:r>
              <a:rPr sz="2800" b="1" spc="-5" dirty="0">
                <a:latin typeface="Times New Roman" panose="02020603050405020304"/>
                <a:cs typeface="Times New Roman" panose="02020603050405020304"/>
                <a:sym typeface="+mn-ea"/>
              </a:rPr>
              <a:t>(</a:t>
            </a:r>
            <a:r>
              <a:rPr sz="2800" b="1" i="1" spc="-5" dirty="0">
                <a:latin typeface="Times New Roman" panose="02020603050405020304"/>
                <a:cs typeface="Times New Roman" panose="02020603050405020304"/>
                <a:sym typeface="+mn-ea"/>
              </a:rPr>
              <a:t>n</a:t>
            </a:r>
            <a:r>
              <a:rPr sz="2800" b="1" spc="-7" baseline="24000" dirty="0">
                <a:latin typeface="Times New Roman" panose="02020603050405020304"/>
                <a:cs typeface="Times New Roman" panose="02020603050405020304"/>
                <a:sym typeface="+mn-ea"/>
              </a:rPr>
              <a:t>2.37</a:t>
            </a:r>
            <a:r>
              <a:rPr lang="en-US" sz="2800" b="1" spc="-7" baseline="24000" dirty="0">
                <a:latin typeface="Times New Roman" panose="02020603050405020304"/>
                <a:cs typeface="Times New Roman" panose="02020603050405020304"/>
                <a:sym typeface="+mn-ea"/>
              </a:rPr>
              <a:t>28596</a:t>
            </a:r>
            <a:r>
              <a:rPr sz="2800" b="1" spc="-5" dirty="0">
                <a:latin typeface="Times New Roman" panose="02020603050405020304"/>
                <a:cs typeface="Times New Roman" panose="02020603050405020304"/>
                <a:sym typeface="+mn-ea"/>
              </a:rPr>
              <a:t>)</a:t>
            </a:r>
            <a:r>
              <a:rPr lang="en-US" altLang="zh-CN" sz="2800" b="1" spc="-5" dirty="0">
                <a:latin typeface="Times New Roman" panose="02020603050405020304" pitchFamily="18" charset="0"/>
                <a:ea typeface="黑体" panose="02010609060101010101" pitchFamily="49" charset="-122"/>
                <a:cs typeface="Times New Roman" panose="02020603050405020304" pitchFamily="18" charset="0"/>
              </a:rPr>
              <a:t> </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80010" algn="just">
              <a:spcBef>
                <a:spcPts val="530"/>
              </a:spcBef>
              <a:tabLst>
                <a:tab pos="434975" algn="l"/>
                <a:tab pos="435610" algn="l"/>
              </a:tabLst>
            </a:pPr>
            <a:r>
              <a:rPr lang="en-US" sz="2800" b="1" dirty="0">
                <a:latin typeface="Times New Roman" panose="02020603050405020304" pitchFamily="18" charset="0"/>
                <a:ea typeface="黑体" panose="02010609060101010101" pitchFamily="49" charset="-122"/>
                <a:cs typeface="Times New Roman" panose="02020603050405020304" pitchFamily="18" charset="0"/>
              </a:rPr>
              <a:t>             </a:t>
            </a:r>
            <a:endParaRPr sz="2800" dirty="0">
              <a:latin typeface="Times New Roman" panose="02020603050405020304"/>
              <a:cs typeface="Times New Roman" panose="02020603050405020304"/>
            </a:endParaRPr>
          </a:p>
          <a:p>
            <a:pPr marL="81280" algn="just">
              <a:spcBef>
                <a:spcPts val="1250"/>
              </a:spcBef>
            </a:pPr>
            <a:r>
              <a:rPr sz="2800" b="1" dirty="0">
                <a:latin typeface="Times New Roman" panose="02020603050405020304" pitchFamily="18" charset="0"/>
                <a:ea typeface="黑体" panose="02010609060101010101" pitchFamily="49" charset="-122"/>
                <a:cs typeface="Times New Roman" panose="02020603050405020304" pitchFamily="18" charset="0"/>
              </a:rPr>
              <a:t>应用：</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720090" indent="-297180" algn="just">
              <a:spcBef>
                <a:spcPts val="815"/>
              </a:spcBef>
              <a:buSzPct val="108000"/>
              <a:buFont typeface="Arial" panose="020B0604020202020204"/>
              <a:buChar char="•"/>
              <a:tabLst>
                <a:tab pos="377190" algn="l"/>
                <a:tab pos="377825" algn="l"/>
              </a:tabLst>
            </a:pPr>
            <a:r>
              <a:rPr sz="2800" b="1" dirty="0">
                <a:latin typeface="Times New Roman" panose="02020603050405020304" pitchFamily="18" charset="0"/>
                <a:ea typeface="黑体" panose="02010609060101010101" pitchFamily="49" charset="-122"/>
                <a:cs typeface="Times New Roman" panose="02020603050405020304" pitchFamily="18" charset="0"/>
              </a:rPr>
              <a:t>科学计算、图像处理、数据挖掘等</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720090" indent="-354965" algn="just">
              <a:spcBef>
                <a:spcPts val="665"/>
              </a:spcBef>
              <a:buFont typeface="Arial" panose="020B0604020202020204"/>
              <a:buChar char="•"/>
              <a:tabLst>
                <a:tab pos="434975" algn="l"/>
                <a:tab pos="435610" algn="l"/>
              </a:tabLst>
            </a:pPr>
            <a:r>
              <a:rPr sz="2800" b="1" spc="-5" dirty="0" err="1">
                <a:latin typeface="Times New Roman" panose="02020603050405020304" pitchFamily="18" charset="0"/>
                <a:ea typeface="黑体" panose="02010609060101010101" pitchFamily="49" charset="-122"/>
                <a:cs typeface="Times New Roman" panose="02020603050405020304" pitchFamily="18" charset="0"/>
              </a:rPr>
              <a:t>回归、聚类、主成分分析、决策树</a:t>
            </a:r>
            <a:r>
              <a:rPr sz="2800" b="1" dirty="0" err="1">
                <a:latin typeface="Times New Roman" panose="02020603050405020304" pitchFamily="18" charset="0"/>
                <a:ea typeface="黑体" panose="02010609060101010101" pitchFamily="49" charset="-122"/>
                <a:cs typeface="Times New Roman" panose="02020603050405020304" pitchFamily="18" charset="0"/>
              </a:rPr>
              <a:t>等挖掘算法常涉及大规模矩阵运算</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491" y="30605"/>
            <a:ext cx="8905481" cy="690059"/>
          </a:xfrm>
          <a:prstGeom prst="rect">
            <a:avLst/>
          </a:prstGeom>
        </p:spPr>
        <p:txBody>
          <a:bodyPr vert="horz" wrap="square" lIns="0" tIns="12825" rIns="0" bIns="0" rtlCol="0" anchor="ctr">
            <a:spAutoFit/>
          </a:bodyPr>
          <a:lstStyle/>
          <a:p>
            <a:pPr marL="13335" algn="ctr">
              <a:lnSpc>
                <a:spcPct val="100000"/>
              </a:lnSpc>
              <a:spcBef>
                <a:spcPts val="600"/>
              </a:spcBef>
              <a:spcAft>
                <a:spcPts val="600"/>
              </a:spcAft>
            </a:pPr>
            <a:r>
              <a:rPr sz="4400" b="1" spc="-1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改进途径小结</a:t>
            </a:r>
            <a:endParaRPr sz="4400" b="1" spc="-1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object 3"/>
          <p:cNvSpPr txBox="1"/>
          <p:nvPr/>
        </p:nvSpPr>
        <p:spPr>
          <a:xfrm>
            <a:off x="431800" y="1257419"/>
            <a:ext cx="8529172" cy="4416776"/>
          </a:xfrm>
          <a:prstGeom prst="rect">
            <a:avLst/>
          </a:prstGeom>
        </p:spPr>
        <p:txBody>
          <a:bodyPr vert="horz" wrap="square" lIns="0" tIns="45901" rIns="0" bIns="0" rtlCol="0">
            <a:spAutoFit/>
          </a:bodyPr>
          <a:lstStyle/>
          <a:p>
            <a:pPr marL="391795" marR="106045" indent="-364490" algn="just">
              <a:spcBef>
                <a:spcPts val="1800"/>
              </a:spcBef>
              <a:spcAft>
                <a:spcPts val="600"/>
              </a:spcAft>
              <a:buFont typeface="Arial" panose="020B0604020202020204"/>
              <a:buChar char="•"/>
              <a:tabLst>
                <a:tab pos="391160" algn="l"/>
              </a:tabLst>
            </a:pPr>
            <a:r>
              <a:rPr sz="2800" b="1" dirty="0" err="1">
                <a:latin typeface="Times New Roman" panose="02020603050405020304" pitchFamily="18" charset="0"/>
                <a:ea typeface="黑体" panose="02010609060101010101" pitchFamily="49" charset="-122"/>
                <a:cs typeface="Times New Roman" panose="02020603050405020304" pitchFamily="18" charset="0"/>
              </a:rPr>
              <a:t>适用于：子问题个数多，划分和综合工作量不太大，时间复杂度函数</a:t>
            </a:r>
            <a:endParaRPr lang="en-US" sz="2800" dirty="0">
              <a:latin typeface="Times New Roman" panose="02020603050405020304" pitchFamily="18" charset="0"/>
              <a:ea typeface="黑体" panose="02010609060101010101" pitchFamily="49" charset="-122"/>
              <a:cs typeface="Times New Roman" panose="02020603050405020304" pitchFamily="18" charset="0"/>
            </a:endParaRPr>
          </a:p>
          <a:p>
            <a:pPr marL="27305" marR="106045" algn="ctr">
              <a:spcBef>
                <a:spcPts val="1800"/>
              </a:spcBef>
              <a:spcAft>
                <a:spcPts val="600"/>
              </a:spcAft>
              <a:tabLst>
                <a:tab pos="391160" algn="l"/>
              </a:tabLst>
            </a:pPr>
            <a:r>
              <a:rPr sz="2800" b="1" i="1" dirty="0">
                <a:latin typeface="Times New Roman" panose="02020603050405020304"/>
                <a:cs typeface="Times New Roman" panose="02020603050405020304"/>
              </a:rPr>
              <a:t>W</a:t>
            </a:r>
            <a:r>
              <a:rPr sz="2800" b="1" dirty="0">
                <a:latin typeface="Times New Roman" panose="02020603050405020304"/>
                <a:cs typeface="Times New Roman" panose="02020603050405020304"/>
              </a:rPr>
              <a:t>(</a:t>
            </a:r>
            <a:r>
              <a:rPr sz="2800" b="1" i="1" spc="-5" dirty="0">
                <a:latin typeface="Times New Roman" panose="02020603050405020304"/>
                <a:cs typeface="Times New Roman" panose="02020603050405020304"/>
              </a:rPr>
              <a:t>n</a:t>
            </a:r>
            <a:r>
              <a:rPr sz="2800" b="1" dirty="0">
                <a:latin typeface="Times New Roman" panose="02020603050405020304"/>
                <a:cs typeface="Times New Roman" panose="02020603050405020304"/>
              </a:rPr>
              <a:t>) =</a:t>
            </a:r>
            <a:r>
              <a:rPr sz="2800" b="1" spc="-11" dirty="0">
                <a:latin typeface="Times New Roman" panose="02020603050405020304"/>
                <a:cs typeface="Times New Roman" panose="02020603050405020304"/>
              </a:rPr>
              <a:t> </a:t>
            </a:r>
            <a:r>
              <a:rPr sz="2800" b="1" i="1" spc="-80" dirty="0">
                <a:latin typeface="Symbol" panose="05050102010706020507"/>
                <a:cs typeface="Symbol" panose="05050102010706020507"/>
              </a:rPr>
              <a:t></a:t>
            </a:r>
            <a:r>
              <a:rPr sz="2800" spc="-32"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a:t>
            </a:r>
            <a:r>
              <a:rPr sz="2800" b="1" i="1" spc="-5" dirty="0">
                <a:latin typeface="Times New Roman" panose="02020603050405020304"/>
                <a:cs typeface="Times New Roman" panose="02020603050405020304"/>
              </a:rPr>
              <a:t>n</a:t>
            </a:r>
            <a:r>
              <a:rPr sz="2800" b="1" spc="-7" baseline="24000" dirty="0">
                <a:latin typeface="Times New Roman" panose="02020603050405020304"/>
                <a:cs typeface="Times New Roman" panose="02020603050405020304"/>
              </a:rPr>
              <a:t>lo</a:t>
            </a:r>
            <a:r>
              <a:rPr sz="2800" b="1" baseline="24000" dirty="0">
                <a:latin typeface="Times New Roman" panose="02020603050405020304"/>
                <a:cs typeface="Times New Roman" panose="02020603050405020304"/>
              </a:rPr>
              <a:t>g</a:t>
            </a:r>
            <a:r>
              <a:rPr sz="2800" b="1" i="1" spc="23" baseline="25000" dirty="0">
                <a:latin typeface="Times New Roman" panose="02020603050405020304"/>
                <a:cs typeface="Times New Roman" panose="02020603050405020304"/>
              </a:rPr>
              <a:t>b</a:t>
            </a:r>
            <a:r>
              <a:rPr sz="2800" b="1" i="1" spc="-7" baseline="24000" dirty="0">
                <a:latin typeface="Times New Roman" panose="02020603050405020304"/>
                <a:cs typeface="Times New Roman" panose="02020603050405020304"/>
              </a:rPr>
              <a:t>a</a:t>
            </a:r>
            <a:r>
              <a:rPr sz="2800" b="1" dirty="0">
                <a:latin typeface="Times New Roman" panose="02020603050405020304"/>
                <a:cs typeface="Times New Roman" panose="02020603050405020304"/>
              </a:rPr>
              <a:t>)</a:t>
            </a:r>
            <a:endParaRPr sz="2800" dirty="0">
              <a:latin typeface="Times New Roman" panose="02020603050405020304"/>
              <a:cs typeface="Times New Roman" panose="02020603050405020304"/>
            </a:endParaRPr>
          </a:p>
          <a:p>
            <a:pPr marL="391795" marR="19050" indent="-364490" algn="just">
              <a:spcBef>
                <a:spcPts val="1800"/>
              </a:spcBef>
              <a:spcAft>
                <a:spcPts val="600"/>
              </a:spcAft>
              <a:buFont typeface="Arial" panose="020B0604020202020204"/>
              <a:buChar char="•"/>
              <a:tabLst>
                <a:tab pos="391160" algn="l"/>
              </a:tabLst>
            </a:pPr>
            <a:r>
              <a:rPr sz="2800" b="1" dirty="0" err="1">
                <a:latin typeface="Times New Roman" panose="02020603050405020304" pitchFamily="18" charset="0"/>
                <a:ea typeface="黑体" panose="02010609060101010101" pitchFamily="49" charset="-122"/>
                <a:cs typeface="Times New Roman" panose="02020603050405020304" pitchFamily="18" charset="0"/>
              </a:rPr>
              <a:t>利用子问题依赖关系，用某些子问</a:t>
            </a:r>
            <a:r>
              <a:rPr sz="2800" b="1" spc="-5" dirty="0" err="1">
                <a:latin typeface="Times New Roman" panose="02020603050405020304" pitchFamily="18" charset="0"/>
                <a:ea typeface="黑体" panose="02010609060101010101" pitchFamily="49" charset="-122"/>
                <a:cs typeface="Times New Roman" panose="02020603050405020304" pitchFamily="18" charset="0"/>
              </a:rPr>
              <a:t>题解的代数表达式表示另一些子问</a:t>
            </a:r>
            <a:r>
              <a:rPr sz="2800" b="1" dirty="0" err="1">
                <a:latin typeface="Times New Roman" panose="02020603050405020304" pitchFamily="18" charset="0"/>
                <a:ea typeface="黑体" panose="02010609060101010101" pitchFamily="49" charset="-122"/>
                <a:cs typeface="Times New Roman" panose="02020603050405020304" pitchFamily="18" charset="0"/>
              </a:rPr>
              <a:t>题的解，减少独立计算子问题个</a:t>
            </a:r>
            <a:r>
              <a:rPr sz="2800" b="1" spc="5" dirty="0" err="1">
                <a:latin typeface="Times New Roman" panose="02020603050405020304" pitchFamily="18" charset="0"/>
                <a:ea typeface="黑体" panose="02010609060101010101" pitchFamily="49" charset="-122"/>
                <a:cs typeface="Times New Roman" panose="02020603050405020304" pitchFamily="18" charset="0"/>
              </a:rPr>
              <a:t>数</a:t>
            </a:r>
            <a:r>
              <a:rPr sz="2800" b="1" dirty="0">
                <a:latin typeface="Times New Roman" panose="02020603050405020304" pitchFamily="18" charset="0"/>
                <a:ea typeface="黑体" panose="02010609060101010101" pitchFamily="49" charset="-122"/>
                <a:cs typeface="Times New Roman" panose="02020603050405020304" pitchFamily="18" charset="0"/>
              </a:rPr>
              <a:t>.</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391795" marR="106045" indent="-364490" algn="just">
              <a:spcBef>
                <a:spcPts val="1800"/>
              </a:spcBef>
              <a:spcAft>
                <a:spcPts val="600"/>
              </a:spcAft>
              <a:buFont typeface="Arial" panose="020B0604020202020204"/>
              <a:buChar char="•"/>
              <a:tabLst>
                <a:tab pos="391160" algn="l"/>
              </a:tabLst>
            </a:pPr>
            <a:r>
              <a:rPr sz="2800" b="1" dirty="0" err="1">
                <a:latin typeface="Times New Roman" panose="02020603050405020304" pitchFamily="18" charset="0"/>
                <a:ea typeface="黑体" panose="02010609060101010101" pitchFamily="49" charset="-122"/>
                <a:cs typeface="Times New Roman" panose="02020603050405020304" pitchFamily="18" charset="0"/>
              </a:rPr>
              <a:t>综合解的工作量可能会增加，但增加的工作量不影</a:t>
            </a:r>
            <a:r>
              <a:rPr sz="2800" b="1" spc="-11" dirty="0" err="1">
                <a:latin typeface="Times New Roman" panose="02020603050405020304" pitchFamily="18" charset="0"/>
                <a:ea typeface="黑体" panose="02010609060101010101" pitchFamily="49" charset="-122"/>
                <a:cs typeface="Times New Roman" panose="02020603050405020304" pitchFamily="18" charset="0"/>
              </a:rPr>
              <a:t>响</a:t>
            </a:r>
            <a:r>
              <a:rPr sz="2800" b="1" spc="-718" dirty="0">
                <a:latin typeface="Times New Roman" panose="02020603050405020304" pitchFamily="18" charset="0"/>
                <a:ea typeface="黑体" panose="02010609060101010101" pitchFamily="49" charset="-122"/>
                <a:cs typeface="Times New Roman" panose="02020603050405020304" pitchFamily="18" charset="0"/>
              </a:rPr>
              <a:t> </a:t>
            </a:r>
            <a:r>
              <a:rPr sz="2800" b="1" i="1" spc="-5" dirty="0">
                <a:latin typeface="Times New Roman" panose="02020603050405020304" pitchFamily="18" charset="0"/>
                <a:ea typeface="黑体" panose="02010609060101010101" pitchFamily="49" charset="-122"/>
                <a:cs typeface="Times New Roman" panose="02020603050405020304" pitchFamily="18" charset="0"/>
              </a:rPr>
              <a:t>W</a:t>
            </a:r>
            <a:r>
              <a:rPr sz="2800" b="1" spc="-5" dirty="0">
                <a:latin typeface="Times New Roman" panose="02020603050405020304" pitchFamily="18" charset="0"/>
                <a:ea typeface="黑体" panose="02010609060101010101" pitchFamily="49" charset="-122"/>
                <a:cs typeface="Times New Roman" panose="02020603050405020304" pitchFamily="18" charset="0"/>
              </a:rPr>
              <a:t>(</a:t>
            </a:r>
            <a:r>
              <a:rPr sz="2800" b="1" i="1" spc="-5" dirty="0">
                <a:latin typeface="Times New Roman" panose="02020603050405020304" pitchFamily="18" charset="0"/>
                <a:ea typeface="黑体" panose="02010609060101010101" pitchFamily="49" charset="-122"/>
                <a:cs typeface="Times New Roman" panose="02020603050405020304" pitchFamily="18" charset="0"/>
              </a:rPr>
              <a:t>n</a:t>
            </a:r>
            <a:r>
              <a:rPr sz="2800" b="1" spc="-5" dirty="0">
                <a:latin typeface="Times New Roman" panose="02020603050405020304" pitchFamily="18" charset="0"/>
                <a:ea typeface="黑体" panose="02010609060101010101" pitchFamily="49" charset="-122"/>
                <a:cs typeface="Times New Roman" panose="02020603050405020304" pitchFamily="18" charset="0"/>
              </a:rPr>
              <a:t>)</a:t>
            </a:r>
            <a:r>
              <a:rPr sz="2800" b="1" dirty="0">
                <a:latin typeface="Times New Roman" panose="02020603050405020304" pitchFamily="18" charset="0"/>
                <a:ea typeface="黑体" panose="02010609060101010101" pitchFamily="49" charset="-122"/>
                <a:cs typeface="Times New Roman" panose="02020603050405020304" pitchFamily="18" charset="0"/>
              </a:rPr>
              <a:t>的阶.</a:t>
            </a:r>
            <a:endParaRPr sz="28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531813" y="2355850"/>
            <a:ext cx="8447087" cy="2047875"/>
          </a:xfrm>
          <a:prstGeom prst="rect">
            <a:avLst/>
          </a:prstGeom>
        </p:spPr>
        <p:txBody>
          <a:bodyPr vert="horz" wrap="square" lIns="0" tIns="16933" rIns="0" bIns="0" rtlCol="0" anchor="ctr">
            <a:spAutoFit/>
          </a:bodyPr>
          <a:lstStyle/>
          <a:p>
            <a:pPr marL="246380" marR="6985" indent="-230505" algn="ctr">
              <a:lnSpc>
                <a:spcPct val="100000"/>
              </a:lnSpc>
              <a:spcBef>
                <a:spcPts val="135"/>
              </a:spcBef>
            </a:pPr>
            <a:r>
              <a:rPr sz="6600" b="1" spc="-27" dirty="0">
                <a:solidFill>
                  <a:srgbClr val="C00000"/>
                </a:solidFill>
                <a:latin typeface="黑体" panose="02010609060101010101" pitchFamily="49" charset="-122"/>
                <a:ea typeface="黑体" panose="02010609060101010101" pitchFamily="49" charset="-122"/>
              </a:rPr>
              <a:t>改</a:t>
            </a:r>
            <a:r>
              <a:rPr sz="6600" b="1" spc="-7" dirty="0">
                <a:solidFill>
                  <a:srgbClr val="C00000"/>
                </a:solidFill>
                <a:latin typeface="黑体" panose="02010609060101010101" pitchFamily="49" charset="-122"/>
                <a:ea typeface="黑体" panose="02010609060101010101" pitchFamily="49" charset="-122"/>
              </a:rPr>
              <a:t>进</a:t>
            </a:r>
            <a:r>
              <a:rPr sz="6600" b="1" spc="-27" dirty="0">
                <a:solidFill>
                  <a:srgbClr val="C00000"/>
                </a:solidFill>
                <a:latin typeface="黑体" panose="02010609060101010101" pitchFamily="49" charset="-122"/>
                <a:ea typeface="黑体" panose="02010609060101010101" pitchFamily="49" charset="-122"/>
              </a:rPr>
              <a:t>分</a:t>
            </a:r>
            <a:r>
              <a:rPr sz="6600" b="1" spc="-7" dirty="0">
                <a:solidFill>
                  <a:srgbClr val="C00000"/>
                </a:solidFill>
                <a:latin typeface="黑体" panose="02010609060101010101" pitchFamily="49" charset="-122"/>
                <a:ea typeface="黑体" panose="02010609060101010101" pitchFamily="49" charset="-122"/>
              </a:rPr>
              <a:t>治算</a:t>
            </a:r>
            <a:r>
              <a:rPr sz="6600" b="1" spc="13" dirty="0">
                <a:solidFill>
                  <a:srgbClr val="C00000"/>
                </a:solidFill>
                <a:latin typeface="黑体" panose="02010609060101010101" pitchFamily="49" charset="-122"/>
                <a:ea typeface="黑体" panose="02010609060101010101" pitchFamily="49" charset="-122"/>
              </a:rPr>
              <a:t>法</a:t>
            </a:r>
            <a:r>
              <a:rPr sz="6600" b="1" spc="-7" dirty="0">
                <a:solidFill>
                  <a:srgbClr val="C00000"/>
                </a:solidFill>
                <a:latin typeface="黑体" panose="02010609060101010101" pitchFamily="49" charset="-122"/>
                <a:ea typeface="黑体" panose="02010609060101010101" pitchFamily="49" charset="-122"/>
              </a:rPr>
              <a:t>的</a:t>
            </a:r>
            <a:r>
              <a:rPr sz="6600" b="1" spc="-20" dirty="0">
                <a:solidFill>
                  <a:srgbClr val="C00000"/>
                </a:solidFill>
                <a:latin typeface="黑体" panose="02010609060101010101" pitchFamily="49" charset="-122"/>
                <a:ea typeface="黑体" panose="02010609060101010101" pitchFamily="49" charset="-122"/>
              </a:rPr>
              <a:t>途</a:t>
            </a:r>
            <a:r>
              <a:rPr sz="6600" b="1" spc="-13" dirty="0">
                <a:solidFill>
                  <a:srgbClr val="C00000"/>
                </a:solidFill>
                <a:latin typeface="黑体" panose="02010609060101010101" pitchFamily="49" charset="-122"/>
                <a:ea typeface="黑体" panose="02010609060101010101" pitchFamily="49" charset="-122"/>
              </a:rPr>
              <a:t>径</a:t>
            </a:r>
            <a:r>
              <a:rPr sz="6600" b="1" spc="-20" dirty="0">
                <a:solidFill>
                  <a:srgbClr val="C00000"/>
                </a:solidFill>
                <a:latin typeface="黑体" panose="02010609060101010101" pitchFamily="49" charset="-122"/>
                <a:ea typeface="黑体" panose="02010609060101010101" pitchFamily="49" charset="-122"/>
              </a:rPr>
              <a:t>2：</a:t>
            </a:r>
            <a:r>
              <a:rPr sz="6600" b="1" spc="-7" dirty="0">
                <a:solidFill>
                  <a:srgbClr val="C00000"/>
                </a:solidFill>
                <a:latin typeface="黑体" panose="02010609060101010101" pitchFamily="49" charset="-122"/>
                <a:ea typeface="黑体" panose="02010609060101010101" pitchFamily="49" charset="-122"/>
              </a:rPr>
              <a:t>增加</a:t>
            </a:r>
            <a:r>
              <a:rPr sz="6600" b="1" spc="13" dirty="0">
                <a:solidFill>
                  <a:srgbClr val="C00000"/>
                </a:solidFill>
                <a:latin typeface="黑体" panose="02010609060101010101" pitchFamily="49" charset="-122"/>
                <a:ea typeface="黑体" panose="02010609060101010101" pitchFamily="49" charset="-122"/>
              </a:rPr>
              <a:t>预</a:t>
            </a:r>
            <a:r>
              <a:rPr sz="6600" b="1" spc="-7" dirty="0">
                <a:solidFill>
                  <a:srgbClr val="C00000"/>
                </a:solidFill>
                <a:latin typeface="黑体" panose="02010609060101010101" pitchFamily="49" charset="-122"/>
                <a:ea typeface="黑体" panose="02010609060101010101" pitchFamily="49" charset="-122"/>
              </a:rPr>
              <a:t>处</a:t>
            </a:r>
            <a:r>
              <a:rPr sz="6600" b="1" spc="-27" dirty="0">
                <a:solidFill>
                  <a:srgbClr val="C00000"/>
                </a:solidFill>
                <a:latin typeface="黑体" panose="02010609060101010101" pitchFamily="49" charset="-122"/>
                <a:ea typeface="黑体" panose="02010609060101010101" pitchFamily="49" charset="-122"/>
              </a:rPr>
              <a:t>理</a:t>
            </a:r>
            <a:endParaRPr sz="6600" b="1" dirty="0">
              <a:solidFill>
                <a:srgbClr val="C00000"/>
              </a:solidFill>
              <a:latin typeface="黑体" panose="02010609060101010101" pitchFamily="49" charset="-122"/>
              <a:ea typeface="黑体" panose="02010609060101010101" pitchFamily="49"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3201" y="-18627"/>
            <a:ext cx="8920799"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例子：平面点对问题</a:t>
            </a:r>
            <a:endParaRPr sz="4400" b="1" spc="-13"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596899" y="1119256"/>
            <a:ext cx="8490197" cy="2333117"/>
          </a:xfrm>
          <a:prstGeom prst="rect">
            <a:avLst/>
          </a:prstGeom>
        </p:spPr>
        <p:txBody>
          <a:bodyPr vert="horz" wrap="square" lIns="0" tIns="16933" rIns="0" bIns="0" rtlCol="0">
            <a:spAutoFit/>
          </a:bodyPr>
          <a:lstStyle/>
          <a:p>
            <a:pPr>
              <a:spcBef>
                <a:spcPts val="135"/>
              </a:spcBef>
            </a:pPr>
            <a:r>
              <a:rPr sz="3200" b="1" spc="-7" dirty="0">
                <a:latin typeface="黑体" panose="02010609060101010101" pitchFamily="49" charset="-122"/>
                <a:ea typeface="黑体" panose="02010609060101010101" pitchFamily="49" charset="-122"/>
                <a:cs typeface="宋体" panose="02010600030101010101" pitchFamily="2" charset="-122"/>
              </a:rPr>
              <a:t>输</a:t>
            </a:r>
            <a:r>
              <a:rPr sz="3200" b="1" dirty="0">
                <a:latin typeface="黑体" panose="02010609060101010101" pitchFamily="49" charset="-122"/>
                <a:ea typeface="黑体" panose="02010609060101010101" pitchFamily="49" charset="-122"/>
                <a:cs typeface="宋体" panose="02010600030101010101" pitchFamily="2" charset="-122"/>
              </a:rPr>
              <a:t>入</a:t>
            </a:r>
            <a:r>
              <a:rPr sz="3200" b="1" dirty="0">
                <a:latin typeface="黑体" panose="02010609060101010101" pitchFamily="49" charset="-122"/>
                <a:ea typeface="黑体" panose="02010609060101010101" pitchFamily="49" charset="-122"/>
                <a:cs typeface="Times New Roman" panose="02020603050405020304"/>
              </a:rPr>
              <a:t>:</a:t>
            </a:r>
            <a:r>
              <a:rPr sz="3200" b="1" spc="-27" dirty="0">
                <a:latin typeface="黑体" panose="02010609060101010101" pitchFamily="49" charset="-122"/>
                <a:ea typeface="黑体" panose="02010609060101010101" pitchFamily="49" charset="-122"/>
                <a:cs typeface="Times New Roman" panose="02020603050405020304"/>
              </a:rPr>
              <a:t> </a:t>
            </a:r>
            <a:r>
              <a:rPr sz="3200" b="1" spc="-7" dirty="0">
                <a:latin typeface="黑体" panose="02010609060101010101" pitchFamily="49" charset="-122"/>
                <a:ea typeface="黑体" panose="02010609060101010101" pitchFamily="49" charset="-122"/>
                <a:cs typeface="宋体" panose="02010600030101010101" pitchFamily="2" charset="-122"/>
              </a:rPr>
              <a:t>平面点</a:t>
            </a:r>
            <a:r>
              <a:rPr sz="3200" b="1" spc="-13" dirty="0">
                <a:latin typeface="黑体" panose="02010609060101010101" pitchFamily="49" charset="-122"/>
                <a:ea typeface="黑体" panose="02010609060101010101" pitchFamily="49" charset="-122"/>
                <a:cs typeface="宋体" panose="02010600030101010101" pitchFamily="2" charset="-122"/>
              </a:rPr>
              <a:t>集</a:t>
            </a:r>
            <a:r>
              <a:rPr sz="3200" b="1" spc="-813" dirty="0">
                <a:latin typeface="黑体" panose="02010609060101010101" pitchFamily="49" charset="-122"/>
                <a:ea typeface="黑体" panose="02010609060101010101" pitchFamily="49" charset="-122"/>
                <a:cs typeface="宋体" panose="02010600030101010101" pitchFamily="2" charset="-122"/>
              </a:rPr>
              <a:t> </a:t>
            </a:r>
            <a:r>
              <a:rPr sz="3200" b="1" i="1" dirty="0">
                <a:latin typeface="黑体" panose="02010609060101010101" pitchFamily="49" charset="-122"/>
                <a:ea typeface="黑体" panose="02010609060101010101" pitchFamily="49" charset="-122"/>
                <a:cs typeface="Times New Roman" panose="02020603050405020304"/>
              </a:rPr>
              <a:t>P</a:t>
            </a:r>
            <a:r>
              <a:rPr sz="3200" b="1" i="1" spc="-140" dirty="0">
                <a:latin typeface="黑体" panose="02010609060101010101" pitchFamily="49" charset="-122"/>
                <a:ea typeface="黑体" panose="02010609060101010101" pitchFamily="49" charset="-122"/>
                <a:cs typeface="Times New Roman" panose="02020603050405020304"/>
              </a:rPr>
              <a:t> </a:t>
            </a:r>
            <a:r>
              <a:rPr sz="3200" b="1" spc="-7" dirty="0">
                <a:latin typeface="黑体" panose="02010609060101010101" pitchFamily="49" charset="-122"/>
                <a:ea typeface="黑体" panose="02010609060101010101" pitchFamily="49" charset="-122"/>
                <a:cs typeface="宋体" panose="02010600030101010101" pitchFamily="2" charset="-122"/>
              </a:rPr>
              <a:t>中</a:t>
            </a:r>
            <a:r>
              <a:rPr sz="3200" b="1" dirty="0">
                <a:latin typeface="黑体" panose="02010609060101010101" pitchFamily="49" charset="-122"/>
                <a:ea typeface="黑体" panose="02010609060101010101" pitchFamily="49" charset="-122"/>
                <a:cs typeface="宋体" panose="02010600030101010101" pitchFamily="2" charset="-122"/>
              </a:rPr>
              <a:t>有</a:t>
            </a:r>
            <a:r>
              <a:rPr sz="3200" b="1" i="1" dirty="0">
                <a:latin typeface="黑体" panose="02010609060101010101" pitchFamily="49" charset="-122"/>
                <a:ea typeface="黑体" panose="02010609060101010101" pitchFamily="49" charset="-122"/>
                <a:cs typeface="Times New Roman" panose="02020603050405020304"/>
              </a:rPr>
              <a:t>n</a:t>
            </a:r>
            <a:r>
              <a:rPr sz="3200" b="1" i="1" spc="-7" dirty="0">
                <a:latin typeface="黑体" panose="02010609060101010101" pitchFamily="49" charset="-122"/>
                <a:ea typeface="黑体" panose="02010609060101010101" pitchFamily="49" charset="-122"/>
                <a:cs typeface="Times New Roman" panose="02020603050405020304"/>
              </a:rPr>
              <a:t> </a:t>
            </a:r>
            <a:r>
              <a:rPr sz="3200" b="1" spc="-7" dirty="0">
                <a:latin typeface="黑体" panose="02010609060101010101" pitchFamily="49" charset="-122"/>
                <a:ea typeface="黑体" panose="02010609060101010101" pitchFamily="49" charset="-122"/>
                <a:cs typeface="宋体" panose="02010600030101010101" pitchFamily="2" charset="-122"/>
              </a:rPr>
              <a:t>个点</a:t>
            </a:r>
            <a:r>
              <a:rPr sz="3200" b="1" dirty="0">
                <a:latin typeface="黑体" panose="02010609060101010101" pitchFamily="49" charset="-122"/>
                <a:ea typeface="黑体" panose="02010609060101010101" pitchFamily="49" charset="-122"/>
                <a:cs typeface="Times New Roman" panose="02020603050405020304"/>
              </a:rPr>
              <a:t>,</a:t>
            </a:r>
            <a:r>
              <a:rPr sz="3200" b="1" spc="-13" dirty="0">
                <a:latin typeface="黑体" panose="02010609060101010101" pitchFamily="49" charset="-122"/>
                <a:ea typeface="黑体" panose="02010609060101010101" pitchFamily="49" charset="-122"/>
                <a:cs typeface="Times New Roman" panose="02020603050405020304"/>
              </a:rPr>
              <a:t> </a:t>
            </a:r>
            <a:r>
              <a:rPr sz="3200" b="1" i="1" dirty="0">
                <a:latin typeface="黑体" panose="02010609060101010101" pitchFamily="49" charset="-122"/>
                <a:ea typeface="黑体" panose="02010609060101010101" pitchFamily="49" charset="-122"/>
                <a:cs typeface="Times New Roman" panose="02020603050405020304"/>
              </a:rPr>
              <a:t>n</a:t>
            </a:r>
            <a:r>
              <a:rPr sz="3200" b="1" i="1" spc="-20" dirty="0">
                <a:latin typeface="黑体" panose="02010609060101010101" pitchFamily="49" charset="-122"/>
                <a:ea typeface="黑体" panose="02010609060101010101" pitchFamily="49" charset="-122"/>
                <a:cs typeface="Times New Roman" panose="02020603050405020304"/>
              </a:rPr>
              <a:t> </a:t>
            </a:r>
            <a:r>
              <a:rPr sz="3200" b="1" spc="-7" dirty="0">
                <a:latin typeface="黑体" panose="02010609060101010101" pitchFamily="49" charset="-122"/>
                <a:ea typeface="黑体" panose="02010609060101010101" pitchFamily="49" charset="-122"/>
                <a:cs typeface="Times New Roman" panose="02020603050405020304"/>
              </a:rPr>
              <a:t>&gt;1</a:t>
            </a:r>
            <a:endParaRPr sz="3200" dirty="0">
              <a:latin typeface="黑体" panose="02010609060101010101" pitchFamily="49" charset="-122"/>
              <a:ea typeface="黑体" panose="02010609060101010101" pitchFamily="49" charset="-122"/>
              <a:cs typeface="Times New Roman" panose="02020603050405020304"/>
            </a:endParaRPr>
          </a:p>
          <a:p>
            <a:r>
              <a:rPr sz="3200" b="1" dirty="0">
                <a:latin typeface="黑体" panose="02010609060101010101" pitchFamily="49" charset="-122"/>
                <a:ea typeface="黑体" panose="02010609060101010101" pitchFamily="49" charset="-122"/>
                <a:cs typeface="宋体" panose="02010600030101010101" pitchFamily="2" charset="-122"/>
              </a:rPr>
              <a:t>输出</a:t>
            </a:r>
            <a:r>
              <a:rPr sz="3200" b="1" dirty="0">
                <a:latin typeface="黑体" panose="02010609060101010101" pitchFamily="49" charset="-122"/>
                <a:ea typeface="黑体" panose="02010609060101010101" pitchFamily="49" charset="-122"/>
                <a:cs typeface="Times New Roman" panose="02020603050405020304"/>
              </a:rPr>
              <a:t>:</a:t>
            </a:r>
            <a:r>
              <a:rPr sz="3200" b="1" spc="-40" dirty="0">
                <a:latin typeface="黑体" panose="02010609060101010101" pitchFamily="49" charset="-122"/>
                <a:ea typeface="黑体" panose="02010609060101010101" pitchFamily="49" charset="-122"/>
                <a:cs typeface="Times New Roman" panose="02020603050405020304"/>
              </a:rPr>
              <a:t> </a:t>
            </a:r>
            <a:r>
              <a:rPr sz="3200" b="1" i="1" spc="-7" dirty="0">
                <a:latin typeface="黑体" panose="02010609060101010101" pitchFamily="49" charset="-122"/>
                <a:ea typeface="黑体" panose="02010609060101010101" pitchFamily="49" charset="-122"/>
                <a:cs typeface="Times New Roman" panose="02020603050405020304"/>
              </a:rPr>
              <a:t>P</a:t>
            </a:r>
            <a:r>
              <a:rPr sz="3200" b="1" dirty="0">
                <a:latin typeface="黑体" panose="02010609060101010101" pitchFamily="49" charset="-122"/>
                <a:ea typeface="黑体" panose="02010609060101010101" pitchFamily="49" charset="-122"/>
                <a:cs typeface="宋体" panose="02010600030101010101" pitchFamily="2" charset="-122"/>
              </a:rPr>
              <a:t>中的两个点，其距离最小</a:t>
            </a:r>
            <a:endParaRPr sz="3200" dirty="0">
              <a:latin typeface="黑体" panose="02010609060101010101" pitchFamily="49" charset="-122"/>
              <a:ea typeface="黑体" panose="02010609060101010101" pitchFamily="49" charset="-122"/>
              <a:cs typeface="宋体" panose="02010600030101010101" pitchFamily="2" charset="-122"/>
            </a:endParaRPr>
          </a:p>
          <a:p>
            <a:pPr>
              <a:spcBef>
                <a:spcPts val="2725"/>
              </a:spcBef>
            </a:pPr>
            <a:r>
              <a:rPr sz="3200" b="1" spc="-7" dirty="0">
                <a:solidFill>
                  <a:srgbClr val="C00000"/>
                </a:solidFill>
                <a:latin typeface="黑体" panose="02010609060101010101" pitchFamily="49" charset="-122"/>
                <a:ea typeface="黑体" panose="02010609060101010101" pitchFamily="49" charset="-122"/>
                <a:cs typeface="宋体" panose="02010600030101010101" pitchFamily="2" charset="-122"/>
              </a:rPr>
              <a:t>蛮力算</a:t>
            </a:r>
            <a:r>
              <a:rPr sz="3200" b="1" dirty="0">
                <a:solidFill>
                  <a:srgbClr val="C00000"/>
                </a:solidFill>
                <a:latin typeface="黑体" panose="02010609060101010101" pitchFamily="49" charset="-122"/>
                <a:ea typeface="黑体" panose="02010609060101010101" pitchFamily="49" charset="-122"/>
                <a:cs typeface="宋体" panose="02010600030101010101" pitchFamily="2" charset="-122"/>
              </a:rPr>
              <a:t>法</a:t>
            </a:r>
            <a:r>
              <a:rPr sz="3200" b="1" spc="-13" dirty="0">
                <a:latin typeface="黑体" panose="02010609060101010101" pitchFamily="49" charset="-122"/>
                <a:ea typeface="黑体" panose="02010609060101010101" pitchFamily="49" charset="-122"/>
                <a:cs typeface="宋体" panose="02010600030101010101" pitchFamily="2" charset="-122"/>
              </a:rPr>
              <a:t>：</a:t>
            </a:r>
            <a:endParaRPr sz="3200" dirty="0">
              <a:latin typeface="黑体" panose="02010609060101010101" pitchFamily="49" charset="-122"/>
              <a:ea typeface="黑体" panose="02010609060101010101" pitchFamily="49" charset="-122"/>
              <a:cs typeface="宋体" panose="02010600030101010101" pitchFamily="2" charset="-122"/>
            </a:endParaRPr>
          </a:p>
          <a:p>
            <a:r>
              <a:rPr sz="3200" b="1" i="1" spc="-7" dirty="0">
                <a:latin typeface="黑体" panose="02010609060101010101" pitchFamily="49" charset="-122"/>
                <a:ea typeface="黑体" panose="02010609060101010101" pitchFamily="49" charset="-122"/>
                <a:cs typeface="Times New Roman" panose="02020603050405020304"/>
              </a:rPr>
              <a:t>C</a:t>
            </a:r>
            <a:r>
              <a:rPr sz="3200" b="1" spc="-7" dirty="0">
                <a:latin typeface="黑体" panose="02010609060101010101" pitchFamily="49" charset="-122"/>
                <a:ea typeface="黑体" panose="02010609060101010101" pitchFamily="49" charset="-122"/>
                <a:cs typeface="Times New Roman" panose="02020603050405020304"/>
              </a:rPr>
              <a:t>(</a:t>
            </a:r>
            <a:r>
              <a:rPr sz="3200" b="1" i="1" spc="-7" dirty="0">
                <a:latin typeface="黑体" panose="02010609060101010101" pitchFamily="49" charset="-122"/>
                <a:ea typeface="黑体" panose="02010609060101010101" pitchFamily="49" charset="-122"/>
                <a:cs typeface="Times New Roman" panose="02020603050405020304"/>
              </a:rPr>
              <a:t>n</a:t>
            </a:r>
            <a:r>
              <a:rPr sz="3200" b="1" spc="-7" dirty="0">
                <a:latin typeface="黑体" panose="02010609060101010101" pitchFamily="49" charset="-122"/>
                <a:ea typeface="黑体" panose="02010609060101010101" pitchFamily="49" charset="-122"/>
                <a:cs typeface="Times New Roman" panose="02020603050405020304"/>
              </a:rPr>
              <a:t>,2)</a:t>
            </a:r>
            <a:r>
              <a:rPr sz="3200" b="1" dirty="0" err="1">
                <a:latin typeface="黑体" panose="02010609060101010101" pitchFamily="49" charset="-122"/>
                <a:ea typeface="黑体" panose="02010609060101010101" pitchFamily="49" charset="-122"/>
                <a:cs typeface="宋体" panose="02010600030101010101" pitchFamily="2" charset="-122"/>
              </a:rPr>
              <a:t>个点对</a:t>
            </a:r>
            <a:r>
              <a:rPr lang="zh-CN" altLang="en-US" sz="3200" b="1" dirty="0">
                <a:latin typeface="黑体" panose="02010609060101010101" pitchFamily="49" charset="-122"/>
                <a:ea typeface="黑体" panose="02010609060101010101" pitchFamily="49" charset="-122"/>
                <a:cs typeface="宋体" panose="02010600030101010101" pitchFamily="2" charset="-122"/>
              </a:rPr>
              <a:t>，</a:t>
            </a:r>
            <a:r>
              <a:rPr sz="3200" b="1" dirty="0" err="1">
                <a:latin typeface="黑体" panose="02010609060101010101" pitchFamily="49" charset="-122"/>
                <a:ea typeface="黑体" panose="02010609060101010101" pitchFamily="49" charset="-122"/>
                <a:cs typeface="宋体" panose="02010600030101010101" pitchFamily="2" charset="-122"/>
              </a:rPr>
              <a:t>计算最小距离</a:t>
            </a:r>
            <a:r>
              <a:rPr sz="3200" b="1" spc="-7" dirty="0" err="1">
                <a:latin typeface="黑体" panose="02010609060101010101" pitchFamily="49" charset="-122"/>
                <a:ea typeface="黑体" panose="02010609060101010101" pitchFamily="49" charset="-122"/>
                <a:cs typeface="宋体" panose="02010600030101010101" pitchFamily="2" charset="-122"/>
              </a:rPr>
              <a:t>，</a:t>
            </a:r>
            <a:r>
              <a:rPr sz="3200" b="1" i="1" spc="-7" dirty="0" err="1">
                <a:solidFill>
                  <a:srgbClr val="C00000"/>
                </a:solidFill>
                <a:latin typeface="Times New Roman" panose="02020603050405020304"/>
                <a:cs typeface="Times New Roman" panose="02020603050405020304"/>
              </a:rPr>
              <a:t>O</a:t>
            </a:r>
            <a:r>
              <a:rPr sz="3200" b="1" spc="-7" dirty="0">
                <a:solidFill>
                  <a:srgbClr val="C00000"/>
                </a:solidFill>
                <a:latin typeface="Times New Roman" panose="02020603050405020304"/>
                <a:cs typeface="Times New Roman" panose="02020603050405020304"/>
              </a:rPr>
              <a:t>(</a:t>
            </a:r>
            <a:r>
              <a:rPr sz="3200" b="1" i="1" spc="-7" dirty="0">
                <a:solidFill>
                  <a:srgbClr val="C00000"/>
                </a:solidFill>
                <a:latin typeface="Times New Roman" panose="02020603050405020304"/>
                <a:cs typeface="Times New Roman" panose="02020603050405020304"/>
              </a:rPr>
              <a:t>n</a:t>
            </a:r>
            <a:r>
              <a:rPr sz="3200" b="1" spc="-9" baseline="24000" dirty="0">
                <a:solidFill>
                  <a:srgbClr val="C00000"/>
                </a:solidFill>
                <a:latin typeface="Times New Roman" panose="02020603050405020304"/>
                <a:cs typeface="Times New Roman" panose="02020603050405020304"/>
              </a:rPr>
              <a:t>2</a:t>
            </a:r>
            <a:r>
              <a:rPr sz="3200" b="1" spc="-7" dirty="0">
                <a:solidFill>
                  <a:srgbClr val="C00000"/>
                </a:solidFill>
                <a:latin typeface="Times New Roman" panose="02020603050405020304"/>
                <a:cs typeface="Times New Roman" panose="02020603050405020304"/>
              </a:rPr>
              <a:t>)</a:t>
            </a:r>
            <a:endParaRPr sz="3200" dirty="0">
              <a:latin typeface="Times New Roman" panose="02020603050405020304"/>
              <a:cs typeface="Times New Roman" panose="02020603050405020304"/>
            </a:endParaRPr>
          </a:p>
        </p:txBody>
      </p:sp>
      <p:sp>
        <p:nvSpPr>
          <p:cNvPr id="4" name="object 4"/>
          <p:cNvSpPr txBox="1"/>
          <p:nvPr/>
        </p:nvSpPr>
        <p:spPr>
          <a:xfrm>
            <a:off x="504497" y="4025312"/>
            <a:ext cx="8303172" cy="2162986"/>
          </a:xfrm>
          <a:prstGeom prst="rect">
            <a:avLst/>
          </a:prstGeom>
        </p:spPr>
        <p:txBody>
          <a:bodyPr vert="horz" wrap="square" lIns="0" tIns="92287" rIns="0" bIns="0" rtlCol="0">
            <a:spAutoFit/>
          </a:bodyPr>
          <a:lstStyle/>
          <a:p>
            <a:pPr>
              <a:spcBef>
                <a:spcPts val="725"/>
              </a:spcBef>
            </a:pPr>
            <a:r>
              <a:rPr sz="32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分治策</a:t>
            </a:r>
            <a:r>
              <a:rPr sz="3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略</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spc="-47" dirty="0">
                <a:latin typeface="Times New Roman" panose="02020603050405020304" pitchFamily="18" charset="0"/>
                <a:ea typeface="黑体" panose="02010609060101010101" pitchFamily="49" charset="-122"/>
                <a:cs typeface="Times New Roman" panose="02020603050405020304" pitchFamily="18" charset="0"/>
              </a:rPr>
              <a:t> </a:t>
            </a:r>
            <a:r>
              <a:rPr sz="3200" b="1" i="1" dirty="0">
                <a:latin typeface="Times New Roman" panose="02020603050405020304" pitchFamily="18" charset="0"/>
                <a:ea typeface="黑体" panose="02010609060101010101" pitchFamily="49" charset="-122"/>
                <a:cs typeface="Times New Roman" panose="02020603050405020304" pitchFamily="18" charset="0"/>
              </a:rPr>
              <a:t>P</a:t>
            </a:r>
            <a:r>
              <a:rPr sz="3200" b="1" i="1" spc="-160"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a:latin typeface="Times New Roman" panose="02020603050405020304" pitchFamily="18" charset="0"/>
                <a:ea typeface="黑体" panose="02010609060101010101" pitchFamily="49" charset="-122"/>
                <a:cs typeface="Times New Roman" panose="02020603050405020304" pitchFamily="18" charset="0"/>
              </a:rPr>
              <a:t>划为大小相等</a:t>
            </a:r>
            <a:r>
              <a:rPr sz="3200" b="1" dirty="0">
                <a:latin typeface="Times New Roman" panose="02020603050405020304" pitchFamily="18" charset="0"/>
                <a:ea typeface="黑体" panose="02010609060101010101" pitchFamily="49" charset="-122"/>
                <a:cs typeface="Times New Roman" panose="02020603050405020304" pitchFamily="18" charset="0"/>
              </a:rPr>
              <a:t>的</a:t>
            </a:r>
            <a:r>
              <a:rPr sz="3200" b="1" i="1" spc="-7" dirty="0">
                <a:latin typeface="Times New Roman" panose="02020603050405020304" pitchFamily="18" charset="0"/>
                <a:ea typeface="黑体" panose="02010609060101010101" pitchFamily="49" charset="-122"/>
                <a:cs typeface="Times New Roman" panose="02020603050405020304" pitchFamily="18" charset="0"/>
              </a:rPr>
              <a:t>P</a:t>
            </a:r>
            <a:r>
              <a:rPr sz="3200" b="1" i="1" spc="-9" baseline="-21000" dirty="0">
                <a:latin typeface="Times New Roman" panose="02020603050405020304" pitchFamily="18" charset="0"/>
                <a:ea typeface="黑体" panose="02010609060101010101" pitchFamily="49" charset="-122"/>
                <a:cs typeface="Times New Roman" panose="02020603050405020304" pitchFamily="18" charset="0"/>
              </a:rPr>
              <a:t>L</a:t>
            </a:r>
            <a:r>
              <a:rPr sz="3200" b="1" dirty="0">
                <a:latin typeface="Times New Roman" panose="02020603050405020304" pitchFamily="18" charset="0"/>
                <a:ea typeface="黑体" panose="02010609060101010101" pitchFamily="49" charset="-122"/>
                <a:cs typeface="Times New Roman" panose="02020603050405020304" pitchFamily="18" charset="0"/>
              </a:rPr>
              <a:t>和</a:t>
            </a:r>
            <a:r>
              <a:rPr sz="3200" b="1" i="1" spc="-7" dirty="0">
                <a:latin typeface="Times New Roman" panose="02020603050405020304" pitchFamily="18" charset="0"/>
                <a:ea typeface="黑体" panose="02010609060101010101" pitchFamily="49" charset="-122"/>
                <a:cs typeface="Times New Roman" panose="02020603050405020304" pitchFamily="18" charset="0"/>
              </a:rPr>
              <a:t>P</a:t>
            </a:r>
            <a:r>
              <a:rPr sz="3200" b="1" i="1" spc="-9" baseline="-21000" dirty="0">
                <a:latin typeface="Times New Roman" panose="02020603050405020304" pitchFamily="18" charset="0"/>
                <a:ea typeface="黑体" panose="02010609060101010101" pitchFamily="49" charset="-122"/>
                <a:cs typeface="Times New Roman" panose="02020603050405020304" pitchFamily="18" charset="0"/>
              </a:rPr>
              <a:t>R</a:t>
            </a:r>
            <a:endParaRPr sz="3200" baseline="-21000" dirty="0">
              <a:latin typeface="Times New Roman" panose="02020603050405020304" pitchFamily="18" charset="0"/>
              <a:ea typeface="黑体" panose="02010609060101010101" pitchFamily="49" charset="-122"/>
              <a:cs typeface="Times New Roman" panose="02020603050405020304" pitchFamily="18" charset="0"/>
            </a:endParaRPr>
          </a:p>
          <a:p>
            <a:pPr marL="861695" indent="-509905">
              <a:lnSpc>
                <a:spcPts val="3985"/>
              </a:lnSpc>
              <a:spcBef>
                <a:spcPts val="665"/>
              </a:spcBef>
              <a:buFont typeface="Times New Roman" panose="02020603050405020304"/>
              <a:buAutoNum type="arabicPeriod"/>
              <a:tabLst>
                <a:tab pos="860425" algn="l"/>
                <a:tab pos="862330" algn="l"/>
              </a:tabLst>
            </a:pPr>
            <a:r>
              <a:rPr sz="3200" b="1" dirty="0">
                <a:latin typeface="Times New Roman" panose="02020603050405020304" pitchFamily="18" charset="0"/>
                <a:ea typeface="黑体" panose="02010609060101010101" pitchFamily="49" charset="-122"/>
                <a:cs typeface="Times New Roman" panose="02020603050405020304" pitchFamily="18" charset="0"/>
              </a:rPr>
              <a:t>分别计</a:t>
            </a:r>
            <a:r>
              <a:rPr sz="3200" b="1" spc="-13" dirty="0">
                <a:latin typeface="Times New Roman" panose="02020603050405020304" pitchFamily="18" charset="0"/>
                <a:ea typeface="黑体" panose="02010609060101010101" pitchFamily="49" charset="-122"/>
                <a:cs typeface="Times New Roman" panose="02020603050405020304" pitchFamily="18" charset="0"/>
              </a:rPr>
              <a:t>算</a:t>
            </a:r>
            <a:r>
              <a:rPr sz="3200" b="1" spc="-820" dirty="0">
                <a:latin typeface="Times New Roman" panose="02020603050405020304" pitchFamily="18" charset="0"/>
                <a:ea typeface="黑体" panose="02010609060101010101" pitchFamily="49" charset="-122"/>
                <a:cs typeface="Times New Roman" panose="02020603050405020304" pitchFamily="18" charset="0"/>
              </a:rPr>
              <a:t> </a:t>
            </a:r>
            <a:r>
              <a:rPr sz="3200" b="1" i="1" spc="-13" dirty="0">
                <a:latin typeface="Times New Roman" panose="02020603050405020304" pitchFamily="18" charset="0"/>
                <a:ea typeface="黑体" panose="02010609060101010101" pitchFamily="49" charset="-122"/>
                <a:cs typeface="Times New Roman" panose="02020603050405020304" pitchFamily="18" charset="0"/>
              </a:rPr>
              <a:t>P</a:t>
            </a:r>
            <a:r>
              <a:rPr sz="3200" b="1" i="1" spc="-20" baseline="-21000" dirty="0">
                <a:latin typeface="Times New Roman" panose="02020603050405020304" pitchFamily="18" charset="0"/>
                <a:ea typeface="黑体" panose="02010609060101010101" pitchFamily="49" charset="-122"/>
                <a:cs typeface="Times New Roman" panose="02020603050405020304" pitchFamily="18" charset="0"/>
              </a:rPr>
              <a:t>L</a:t>
            </a:r>
            <a:r>
              <a:rPr sz="3335" b="1" i="1" spc="-12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P</a:t>
            </a:r>
            <a:r>
              <a:rPr sz="3200" b="1" i="1" spc="-9" baseline="-21000" dirty="0">
                <a:latin typeface="Times New Roman" panose="02020603050405020304" pitchFamily="18" charset="0"/>
                <a:ea typeface="黑体" panose="02010609060101010101" pitchFamily="49" charset="-122"/>
                <a:cs typeface="Times New Roman" panose="02020603050405020304" pitchFamily="18" charset="0"/>
              </a:rPr>
              <a:t>R</a:t>
            </a:r>
            <a:r>
              <a:rPr sz="3200" b="1" dirty="0">
                <a:latin typeface="Times New Roman" panose="02020603050405020304" pitchFamily="18" charset="0"/>
                <a:ea typeface="黑体" panose="02010609060101010101" pitchFamily="49" charset="-122"/>
                <a:cs typeface="Times New Roman" panose="02020603050405020304" pitchFamily="18" charset="0"/>
              </a:rPr>
              <a:t>中最近点对</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861695" marR="106045" indent="-508635">
              <a:lnSpc>
                <a:spcPts val="3840"/>
              </a:lnSpc>
              <a:spcBef>
                <a:spcPts val="120"/>
              </a:spcBef>
              <a:buFont typeface="Times New Roman" panose="02020603050405020304"/>
              <a:buAutoNum type="arabicPeriod"/>
              <a:tabLst>
                <a:tab pos="860425" algn="l"/>
                <a:tab pos="862330" algn="l"/>
              </a:tabLst>
            </a:pPr>
            <a:r>
              <a:rPr sz="3200" b="1" dirty="0">
                <a:latin typeface="Times New Roman" panose="02020603050405020304" pitchFamily="18" charset="0"/>
                <a:ea typeface="黑体" panose="02010609060101010101" pitchFamily="49" charset="-122"/>
                <a:cs typeface="Times New Roman" panose="02020603050405020304" pitchFamily="18" charset="0"/>
              </a:rPr>
              <a:t>计</a:t>
            </a:r>
            <a:r>
              <a:rPr sz="3200" b="1" spc="-13" dirty="0">
                <a:latin typeface="Times New Roman" panose="02020603050405020304" pitchFamily="18" charset="0"/>
                <a:ea typeface="黑体" panose="02010609060101010101" pitchFamily="49" charset="-122"/>
                <a:cs typeface="Times New Roman" panose="02020603050405020304" pitchFamily="18" charset="0"/>
              </a:rPr>
              <a:t>算</a:t>
            </a:r>
            <a:r>
              <a:rPr sz="3200" b="1" spc="-907" dirty="0">
                <a:latin typeface="Times New Roman" panose="02020603050405020304" pitchFamily="18" charset="0"/>
                <a:ea typeface="黑体" panose="02010609060101010101" pitchFamily="49" charset="-122"/>
                <a:cs typeface="Times New Roman" panose="02020603050405020304" pitchFamily="18" charset="0"/>
              </a:rPr>
              <a:t> </a:t>
            </a:r>
            <a:r>
              <a:rPr sz="3200" b="1" i="1" spc="-13" dirty="0" err="1">
                <a:latin typeface="Times New Roman" panose="02020603050405020304" pitchFamily="18" charset="0"/>
                <a:ea typeface="黑体" panose="02010609060101010101" pitchFamily="49" charset="-122"/>
                <a:cs typeface="Times New Roman" panose="02020603050405020304" pitchFamily="18" charset="0"/>
              </a:rPr>
              <a:t>P</a:t>
            </a:r>
            <a:r>
              <a:rPr sz="3200" b="1" i="1" spc="-20" baseline="-21000" dirty="0" err="1">
                <a:latin typeface="Times New Roman" panose="02020603050405020304" pitchFamily="18" charset="0"/>
                <a:ea typeface="黑体" panose="02010609060101010101" pitchFamily="49" charset="-122"/>
                <a:cs typeface="Times New Roman" panose="02020603050405020304" pitchFamily="18" charset="0"/>
              </a:rPr>
              <a:t>L</a:t>
            </a:r>
            <a:r>
              <a:rPr sz="3200" b="1" dirty="0" err="1">
                <a:latin typeface="Times New Roman" panose="02020603050405020304" pitchFamily="18" charset="0"/>
                <a:ea typeface="黑体" panose="02010609060101010101" pitchFamily="49" charset="-122"/>
                <a:cs typeface="Times New Roman" panose="02020603050405020304" pitchFamily="18" charset="0"/>
              </a:rPr>
              <a:t>与</a:t>
            </a:r>
            <a:r>
              <a:rPr sz="3200" b="1" i="1" spc="-7" dirty="0" err="1">
                <a:latin typeface="Times New Roman" panose="02020603050405020304" pitchFamily="18" charset="0"/>
                <a:ea typeface="黑体" panose="02010609060101010101" pitchFamily="49" charset="-122"/>
                <a:cs typeface="Times New Roman" panose="02020603050405020304" pitchFamily="18" charset="0"/>
              </a:rPr>
              <a:t>P</a:t>
            </a:r>
            <a:r>
              <a:rPr sz="3200" b="1" i="1" spc="-9" baseline="-21000" dirty="0" err="1">
                <a:latin typeface="Times New Roman" panose="02020603050405020304" pitchFamily="18" charset="0"/>
                <a:ea typeface="黑体" panose="02010609060101010101" pitchFamily="49" charset="-122"/>
                <a:cs typeface="Times New Roman" panose="02020603050405020304" pitchFamily="18" charset="0"/>
              </a:rPr>
              <a:t>R</a:t>
            </a:r>
            <a:r>
              <a:rPr sz="3200" b="1" dirty="0" err="1">
                <a:latin typeface="Times New Roman" panose="02020603050405020304" pitchFamily="18" charset="0"/>
                <a:ea typeface="黑体" panose="02010609060101010101" pitchFamily="49" charset="-122"/>
                <a:cs typeface="Times New Roman" panose="02020603050405020304" pitchFamily="18" charset="0"/>
              </a:rPr>
              <a:t>中各一个点的最近点对</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861695" indent="-509905">
              <a:lnSpc>
                <a:spcPts val="3715"/>
              </a:lnSpc>
              <a:buFont typeface="Times New Roman" panose="02020603050405020304"/>
              <a:buAutoNum type="arabicPeriod"/>
              <a:tabLst>
                <a:tab pos="860425" algn="l"/>
                <a:tab pos="862330" algn="l"/>
              </a:tabLst>
            </a:pPr>
            <a:r>
              <a:rPr sz="3200" b="1" dirty="0">
                <a:latin typeface="Times New Roman" panose="02020603050405020304" pitchFamily="18" charset="0"/>
                <a:ea typeface="黑体" panose="02010609060101010101" pitchFamily="49" charset="-122"/>
                <a:cs typeface="Times New Roman" panose="02020603050405020304" pitchFamily="18" charset="0"/>
              </a:rPr>
              <a:t>上述情况下的最近点对是解</a:t>
            </a:r>
            <a:endParaRPr sz="32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68120" y="59690"/>
            <a:ext cx="4511675" cy="583565"/>
          </a:xfrm>
          <a:prstGeom prst="rect">
            <a:avLst/>
          </a:prstGeom>
          <a:noFill/>
        </p:spPr>
        <p:txBody>
          <a:bodyPr wrap="square" rtlCol="0">
            <a:spAutoFit/>
          </a:bodyPr>
          <a:lstStyle/>
          <a:p>
            <a:pPr algn="ctr"/>
            <a:r>
              <a:rPr lang="zh-CN" altLang="en-US" sz="3200" b="1"/>
              <a:t>各种距离</a:t>
            </a:r>
            <a:endParaRPr lang="zh-CN" altLang="en-US" sz="3200" b="1"/>
          </a:p>
        </p:txBody>
      </p:sp>
      <p:sp>
        <p:nvSpPr>
          <p:cNvPr id="3" name="文本框 2"/>
          <p:cNvSpPr txBox="1"/>
          <p:nvPr/>
        </p:nvSpPr>
        <p:spPr>
          <a:xfrm>
            <a:off x="737870" y="1108075"/>
            <a:ext cx="6986905" cy="3969385"/>
          </a:xfrm>
          <a:prstGeom prst="rect">
            <a:avLst/>
          </a:prstGeom>
          <a:noFill/>
        </p:spPr>
        <p:txBody>
          <a:bodyPr wrap="square" rtlCol="0">
            <a:spAutoFit/>
          </a:bodyPr>
          <a:lstStyle/>
          <a:p>
            <a:r>
              <a:rPr lang="zh-CN" altLang="en-US" sz="2800" b="1"/>
              <a:t>1、欧式距离（欧几里得距离）</a:t>
            </a:r>
            <a:endParaRPr lang="zh-CN" altLang="en-US" sz="2800" b="1"/>
          </a:p>
          <a:p>
            <a:r>
              <a:rPr lang="zh-CN" altLang="en-US" sz="2800" b="1"/>
              <a:t>2、曼哈顿距离</a:t>
            </a:r>
            <a:endParaRPr lang="zh-CN" altLang="en-US" sz="2800" b="1"/>
          </a:p>
          <a:p>
            <a:r>
              <a:rPr lang="zh-CN" altLang="en-US" sz="2800" b="1"/>
              <a:t>3、切比雪夫距离</a:t>
            </a:r>
            <a:endParaRPr lang="zh-CN" altLang="en-US" sz="2800" b="1"/>
          </a:p>
          <a:p>
            <a:r>
              <a:rPr lang="zh-CN" altLang="en-US" sz="2800" b="1"/>
              <a:t>4、闵可夫斯基距离</a:t>
            </a:r>
            <a:endParaRPr lang="zh-CN" altLang="en-US" sz="2800" b="1"/>
          </a:p>
          <a:p>
            <a:r>
              <a:rPr lang="en-US" altLang="zh-CN" sz="2800" b="1"/>
              <a:t>5</a:t>
            </a:r>
            <a:r>
              <a:rPr lang="zh-CN" altLang="en-US" sz="2800" b="1"/>
              <a:t>、余弦相似度</a:t>
            </a:r>
            <a:endParaRPr lang="zh-CN" altLang="en-US" sz="2800" b="1"/>
          </a:p>
          <a:p>
            <a:r>
              <a:rPr lang="zh-CN" altLang="en-US" sz="2800" b="1"/>
              <a:t>6、马氏距离</a:t>
            </a:r>
            <a:endParaRPr lang="zh-CN" altLang="en-US" sz="2800" b="1"/>
          </a:p>
          <a:p>
            <a:r>
              <a:rPr lang="zh-CN" altLang="en-US" sz="2800" b="1"/>
              <a:t>7、汉明距离</a:t>
            </a:r>
            <a:endParaRPr lang="zh-CN" altLang="en-US" sz="2800" b="1"/>
          </a:p>
          <a:p>
            <a:r>
              <a:rPr lang="en-US" altLang="zh-CN" sz="2800" b="1"/>
              <a:t>8</a:t>
            </a:r>
            <a:r>
              <a:rPr lang="zh-CN" altLang="en-US" sz="2800" b="1"/>
              <a:t>、KL距离</a:t>
            </a:r>
            <a:r>
              <a:rPr lang="en-US" altLang="zh-CN" sz="2800" b="1"/>
              <a:t> </a:t>
            </a:r>
            <a:r>
              <a:rPr lang="zh-CN" altLang="en-US" sz="2800" b="1"/>
              <a:t>（相对熵）</a:t>
            </a:r>
            <a:endParaRPr lang="zh-CN" altLang="en-US" sz="2800" b="1"/>
          </a:p>
          <a:p>
            <a:r>
              <a:rPr lang="en-US" altLang="zh-CN" sz="2800" b="1"/>
              <a:t>9</a:t>
            </a:r>
            <a:r>
              <a:rPr lang="zh-CN" altLang="en-US" sz="2800" b="1"/>
              <a:t>、测地线距离</a:t>
            </a:r>
            <a:endParaRPr lang="zh-CN" altLang="en-US" sz="2800" b="1"/>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39495" y="187960"/>
            <a:ext cx="6668770" cy="5384800"/>
          </a:xfrm>
          <a:prstGeom prst="rect">
            <a:avLst/>
          </a:prstGeom>
          <a:noFill/>
        </p:spPr>
        <p:txBody>
          <a:bodyPr wrap="square" rtlCol="0">
            <a:spAutoFit/>
          </a:bodyPr>
          <a:lstStyle/>
          <a:p>
            <a:r>
              <a:rPr lang="zh-CN" altLang="zh-CN" sz="2800" b="1"/>
              <a:t>曼哈顿距离：</a:t>
            </a:r>
            <a:endParaRPr lang="zh-CN" altLang="zh-CN" sz="2800" b="1"/>
          </a:p>
          <a:p>
            <a:endParaRPr lang="zh-CN" altLang="zh-CN" sz="2800" b="1"/>
          </a:p>
          <a:p>
            <a:r>
              <a:rPr lang="zh-CN" altLang="zh-CN" sz="2800" b="1"/>
              <a:t>曼哈顿距离是各坐标点的坐标差值相加。</a:t>
            </a:r>
            <a:endParaRPr lang="zh-CN" altLang="zh-CN" sz="2800" b="1"/>
          </a:p>
          <a:p>
            <a:endParaRPr lang="zh-CN" altLang="zh-CN" sz="2800"/>
          </a:p>
          <a:p>
            <a:r>
              <a:rPr lang="zh-CN" altLang="zh-CN" sz="2800" b="1"/>
              <a:t>二维平面上点</a:t>
            </a:r>
            <a:r>
              <a:rPr lang="en-US" altLang="zh-CN" sz="2800" b="1"/>
              <a:t>a(x</a:t>
            </a:r>
            <a:r>
              <a:rPr lang="en-US" altLang="zh-CN" sz="2800" b="1" baseline="-25000"/>
              <a:t>1</a:t>
            </a:r>
            <a:r>
              <a:rPr lang="en-US" altLang="zh-CN" sz="2800" b="1"/>
              <a:t>,</a:t>
            </a:r>
            <a:r>
              <a:rPr lang="zh-CN" altLang="zh-CN" sz="2800" b="1"/>
              <a:t> </a:t>
            </a:r>
            <a:r>
              <a:rPr lang="en-US" altLang="zh-CN" sz="2800" b="1"/>
              <a:t>y</a:t>
            </a:r>
            <a:r>
              <a:rPr lang="en-US" altLang="zh-CN" sz="2800" b="1" baseline="-25000"/>
              <a:t>1</a:t>
            </a:r>
            <a:r>
              <a:rPr lang="en-US" altLang="zh-CN" sz="2800" b="1"/>
              <a:t>)</a:t>
            </a:r>
            <a:r>
              <a:rPr lang="zh-CN" altLang="zh-CN" sz="2800" b="1"/>
              <a:t>与点</a:t>
            </a:r>
            <a:r>
              <a:rPr lang="en-US" altLang="zh-CN" sz="2800" b="1"/>
              <a:t>b</a:t>
            </a:r>
            <a:r>
              <a:rPr lang="zh-CN" altLang="zh-CN" sz="2800" b="1"/>
              <a:t> </a:t>
            </a:r>
            <a:r>
              <a:rPr lang="en-US" altLang="zh-CN" sz="2800" b="1">
                <a:sym typeface="+mn-ea"/>
              </a:rPr>
              <a:t>(x</a:t>
            </a:r>
            <a:r>
              <a:rPr lang="en-US" altLang="zh-CN" sz="2800" b="1" baseline="-25000">
                <a:sym typeface="+mn-ea"/>
              </a:rPr>
              <a:t>2</a:t>
            </a:r>
            <a:r>
              <a:rPr lang="en-US" altLang="zh-CN" sz="2800" b="1">
                <a:sym typeface="+mn-ea"/>
              </a:rPr>
              <a:t>,</a:t>
            </a:r>
            <a:r>
              <a:rPr lang="zh-CN" altLang="zh-CN" sz="2800" b="1">
                <a:sym typeface="+mn-ea"/>
              </a:rPr>
              <a:t> </a:t>
            </a:r>
            <a:r>
              <a:rPr lang="en-US" altLang="zh-CN" sz="2800" b="1">
                <a:sym typeface="+mn-ea"/>
              </a:rPr>
              <a:t>y</a:t>
            </a:r>
            <a:r>
              <a:rPr lang="en-US" altLang="zh-CN" sz="2800" b="1" baseline="-25000">
                <a:sym typeface="+mn-ea"/>
              </a:rPr>
              <a:t>2</a:t>
            </a:r>
            <a:r>
              <a:rPr lang="en-US" altLang="zh-CN" sz="2800" b="1">
                <a:sym typeface="+mn-ea"/>
              </a:rPr>
              <a:t>)</a:t>
            </a:r>
            <a:r>
              <a:rPr lang="zh-CN" altLang="zh-CN" sz="2800" b="1"/>
              <a:t>之间的距离公式是：</a:t>
            </a:r>
            <a:endParaRPr lang="zh-CN" altLang="zh-CN" sz="2800" b="1"/>
          </a:p>
          <a:p>
            <a:endParaRPr lang="zh-CN" altLang="zh-CN" sz="2800"/>
          </a:p>
          <a:p>
            <a:endParaRPr lang="zh-CN" altLang="zh-CN" sz="2800"/>
          </a:p>
          <a:p>
            <a:endParaRPr lang="zh-CN" altLang="zh-CN" sz="2800"/>
          </a:p>
          <a:p>
            <a:r>
              <a:rPr lang="zh-CN" altLang="zh-CN" sz="2800" b="1"/>
              <a:t>n维空间上点</a:t>
            </a:r>
            <a:r>
              <a:rPr lang="en-US" altLang="zh-CN" sz="2800" b="1">
                <a:sym typeface="+mn-ea"/>
              </a:rPr>
              <a:t>a(x</a:t>
            </a:r>
            <a:r>
              <a:rPr lang="en-US" altLang="zh-CN" sz="2800" b="1" baseline="-25000">
                <a:sym typeface="+mn-ea"/>
              </a:rPr>
              <a:t>1</a:t>
            </a:r>
            <a:r>
              <a:rPr lang="en-US" altLang="zh-CN" sz="2800" b="1">
                <a:sym typeface="+mn-ea"/>
              </a:rPr>
              <a:t>,</a:t>
            </a:r>
            <a:r>
              <a:rPr lang="zh-CN" altLang="zh-CN" sz="2800" b="1">
                <a:sym typeface="+mn-ea"/>
              </a:rPr>
              <a:t> </a:t>
            </a:r>
            <a:r>
              <a:rPr lang="en-US" altLang="zh-CN" sz="2800" b="1">
                <a:sym typeface="+mn-ea"/>
              </a:rPr>
              <a:t>x</a:t>
            </a:r>
            <a:r>
              <a:rPr lang="en-US" altLang="zh-CN" sz="2800" b="1" baseline="-25000">
                <a:sym typeface="+mn-ea"/>
              </a:rPr>
              <a:t>2,....,</a:t>
            </a:r>
            <a:r>
              <a:rPr lang="en-US" altLang="zh-CN" sz="2800" b="1">
                <a:sym typeface="+mn-ea"/>
              </a:rPr>
              <a:t>x</a:t>
            </a:r>
            <a:r>
              <a:rPr lang="en-US" altLang="zh-CN" sz="2800" b="1" baseline="-25000">
                <a:sym typeface="+mn-ea"/>
              </a:rPr>
              <a:t>n</a:t>
            </a:r>
            <a:r>
              <a:rPr lang="en-US" altLang="zh-CN" sz="2800" b="1">
                <a:sym typeface="+mn-ea"/>
              </a:rPr>
              <a:t>)</a:t>
            </a:r>
            <a:r>
              <a:rPr lang="zh-CN" altLang="zh-CN" sz="2800" b="1"/>
              <a:t> 和点</a:t>
            </a:r>
            <a:r>
              <a:rPr lang="en-US" altLang="zh-CN" sz="2800" b="1"/>
              <a:t>b</a:t>
            </a:r>
            <a:r>
              <a:rPr lang="en-US" altLang="zh-CN" sz="2800" b="1">
                <a:sym typeface="+mn-ea"/>
              </a:rPr>
              <a:t>(y</a:t>
            </a:r>
            <a:r>
              <a:rPr lang="en-US" altLang="zh-CN" sz="2800" b="1" baseline="-25000">
                <a:sym typeface="+mn-ea"/>
              </a:rPr>
              <a:t>1</a:t>
            </a:r>
            <a:r>
              <a:rPr lang="en-US" altLang="zh-CN" sz="2800" b="1">
                <a:sym typeface="+mn-ea"/>
              </a:rPr>
              <a:t>,</a:t>
            </a:r>
            <a:r>
              <a:rPr lang="zh-CN" altLang="zh-CN" sz="2800" b="1">
                <a:sym typeface="+mn-ea"/>
              </a:rPr>
              <a:t> </a:t>
            </a:r>
            <a:r>
              <a:rPr lang="en-US" altLang="zh-CN" sz="2800" b="1">
                <a:sym typeface="+mn-ea"/>
              </a:rPr>
              <a:t>y</a:t>
            </a:r>
            <a:r>
              <a:rPr lang="en-US" altLang="zh-CN" sz="2800" b="1" baseline="-25000">
                <a:sym typeface="+mn-ea"/>
              </a:rPr>
              <a:t>2,....,</a:t>
            </a:r>
            <a:r>
              <a:rPr lang="en-US" altLang="zh-CN" sz="2800" b="1">
                <a:sym typeface="+mn-ea"/>
              </a:rPr>
              <a:t>y</a:t>
            </a:r>
            <a:r>
              <a:rPr lang="en-US" altLang="zh-CN" sz="2800" b="1" baseline="-25000">
                <a:sym typeface="+mn-ea"/>
              </a:rPr>
              <a:t>n</a:t>
            </a:r>
            <a:r>
              <a:rPr lang="en-US" altLang="zh-CN" sz="2800" b="1">
                <a:sym typeface="+mn-ea"/>
              </a:rPr>
              <a:t>)</a:t>
            </a:r>
            <a:r>
              <a:rPr lang="zh-CN" altLang="zh-CN" sz="2800" b="1"/>
              <a:t> 之间的距离公式是：</a:t>
            </a:r>
            <a:endParaRPr lang="zh-CN" altLang="zh-CN" sz="2800" b="1"/>
          </a:p>
          <a:p>
            <a:endParaRPr lang="zh-CN" altLang="zh-CN"/>
          </a:p>
          <a:p>
            <a:endParaRPr lang="zh-CN" altLang="zh-CN"/>
          </a:p>
        </p:txBody>
      </p:sp>
      <p:pic>
        <p:nvPicPr>
          <p:cNvPr id="3" name="图片 2" descr="(I(GPD73U8FBU9$TY46A}0D"/>
          <p:cNvPicPr>
            <a:picLocks noChangeAspect="1"/>
          </p:cNvPicPr>
          <p:nvPr/>
        </p:nvPicPr>
        <p:blipFill>
          <a:blip r:embed="rId1"/>
          <a:stretch>
            <a:fillRect/>
          </a:stretch>
        </p:blipFill>
        <p:spPr>
          <a:xfrm>
            <a:off x="1842135" y="2767965"/>
            <a:ext cx="5459730" cy="1321435"/>
          </a:xfrm>
          <a:prstGeom prst="rect">
            <a:avLst/>
          </a:prstGeom>
        </p:spPr>
      </p:pic>
      <p:pic>
        <p:nvPicPr>
          <p:cNvPr id="5" name="图片 4" descr="]}_T0[WP(_9%)LFWA1Q$8%4"/>
          <p:cNvPicPr>
            <a:picLocks noChangeAspect="1"/>
          </p:cNvPicPr>
          <p:nvPr/>
        </p:nvPicPr>
        <p:blipFill>
          <a:blip r:embed="rId2"/>
          <a:stretch>
            <a:fillRect/>
          </a:stretch>
        </p:blipFill>
        <p:spPr>
          <a:xfrm>
            <a:off x="1158240" y="5046980"/>
            <a:ext cx="6431915" cy="89598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39495" y="187960"/>
            <a:ext cx="6668770" cy="4523105"/>
          </a:xfrm>
          <a:prstGeom prst="rect">
            <a:avLst/>
          </a:prstGeom>
          <a:noFill/>
        </p:spPr>
        <p:txBody>
          <a:bodyPr wrap="square" rtlCol="0">
            <a:spAutoFit/>
          </a:bodyPr>
          <a:lstStyle/>
          <a:p>
            <a:r>
              <a:rPr lang="zh-CN" altLang="zh-CN" sz="2800" b="1"/>
              <a:t>切比雪夫距离</a:t>
            </a:r>
            <a:r>
              <a:rPr lang="zh-CN" altLang="zh-CN" sz="2800"/>
              <a:t>：</a:t>
            </a:r>
            <a:endParaRPr lang="zh-CN" altLang="zh-CN" sz="2800"/>
          </a:p>
          <a:p>
            <a:endParaRPr lang="zh-CN" altLang="zh-CN" sz="2800"/>
          </a:p>
          <a:p>
            <a:r>
              <a:rPr lang="zh-CN" altLang="zh-CN" sz="2800" b="1"/>
              <a:t>切比雪夫距离是各坐标的坐标差值中的最大值。二维平面上点</a:t>
            </a:r>
            <a:r>
              <a:rPr lang="en-US" altLang="zh-CN" sz="2800" b="1"/>
              <a:t>a(x</a:t>
            </a:r>
            <a:r>
              <a:rPr lang="en-US" altLang="zh-CN" sz="2800" b="1" baseline="-25000"/>
              <a:t>1</a:t>
            </a:r>
            <a:r>
              <a:rPr lang="en-US" altLang="zh-CN" sz="2800" b="1"/>
              <a:t>,</a:t>
            </a:r>
            <a:r>
              <a:rPr lang="zh-CN" altLang="zh-CN" sz="2800" b="1"/>
              <a:t> </a:t>
            </a:r>
            <a:r>
              <a:rPr lang="en-US" altLang="zh-CN" sz="2800" b="1"/>
              <a:t>y</a:t>
            </a:r>
            <a:r>
              <a:rPr lang="en-US" altLang="zh-CN" sz="2800" b="1" baseline="-25000"/>
              <a:t>1</a:t>
            </a:r>
            <a:r>
              <a:rPr lang="en-US" altLang="zh-CN" sz="2800" b="1"/>
              <a:t>)</a:t>
            </a:r>
            <a:r>
              <a:rPr lang="zh-CN" altLang="zh-CN" sz="2800" b="1"/>
              <a:t>与点</a:t>
            </a:r>
            <a:r>
              <a:rPr lang="en-US" altLang="zh-CN" sz="2800" b="1"/>
              <a:t>b</a:t>
            </a:r>
            <a:r>
              <a:rPr lang="zh-CN" altLang="zh-CN" sz="2800" b="1"/>
              <a:t> </a:t>
            </a:r>
            <a:r>
              <a:rPr lang="en-US" altLang="zh-CN" sz="2800" b="1">
                <a:sym typeface="+mn-ea"/>
              </a:rPr>
              <a:t>(x</a:t>
            </a:r>
            <a:r>
              <a:rPr lang="en-US" altLang="zh-CN" sz="2800" b="1" baseline="-25000">
                <a:sym typeface="+mn-ea"/>
              </a:rPr>
              <a:t>2</a:t>
            </a:r>
            <a:r>
              <a:rPr lang="en-US" altLang="zh-CN" sz="2800" b="1">
                <a:sym typeface="+mn-ea"/>
              </a:rPr>
              <a:t>,</a:t>
            </a:r>
            <a:r>
              <a:rPr lang="zh-CN" altLang="zh-CN" sz="2800" b="1">
                <a:sym typeface="+mn-ea"/>
              </a:rPr>
              <a:t> </a:t>
            </a:r>
            <a:r>
              <a:rPr lang="en-US" altLang="zh-CN" sz="2800" b="1">
                <a:sym typeface="+mn-ea"/>
              </a:rPr>
              <a:t>y</a:t>
            </a:r>
            <a:r>
              <a:rPr lang="en-US" altLang="zh-CN" sz="2800" b="1" baseline="-25000">
                <a:sym typeface="+mn-ea"/>
              </a:rPr>
              <a:t>2</a:t>
            </a:r>
            <a:r>
              <a:rPr lang="en-US" altLang="zh-CN" sz="2800" b="1">
                <a:sym typeface="+mn-ea"/>
              </a:rPr>
              <a:t>)</a:t>
            </a:r>
            <a:r>
              <a:rPr lang="zh-CN" altLang="zh-CN" sz="2800" b="1"/>
              <a:t>之间的距离公式是：</a:t>
            </a:r>
            <a:endParaRPr lang="zh-CN" altLang="zh-CN" sz="2800" b="1"/>
          </a:p>
          <a:p>
            <a:endParaRPr lang="zh-CN" altLang="zh-CN" sz="2800"/>
          </a:p>
          <a:p>
            <a:endParaRPr lang="zh-CN" altLang="zh-CN" sz="2800"/>
          </a:p>
          <a:p>
            <a:r>
              <a:rPr lang="zh-CN" altLang="zh-CN" sz="2800" b="1"/>
              <a:t>n维空间上点</a:t>
            </a:r>
            <a:r>
              <a:rPr lang="en-US" altLang="zh-CN" sz="2800" b="1">
                <a:sym typeface="+mn-ea"/>
              </a:rPr>
              <a:t>a(x</a:t>
            </a:r>
            <a:r>
              <a:rPr lang="en-US" altLang="zh-CN" sz="2800" b="1" baseline="-25000">
                <a:sym typeface="+mn-ea"/>
              </a:rPr>
              <a:t>1</a:t>
            </a:r>
            <a:r>
              <a:rPr lang="en-US" altLang="zh-CN" sz="2800" b="1">
                <a:sym typeface="+mn-ea"/>
              </a:rPr>
              <a:t>,</a:t>
            </a:r>
            <a:r>
              <a:rPr lang="zh-CN" altLang="zh-CN" sz="2800" b="1">
                <a:sym typeface="+mn-ea"/>
              </a:rPr>
              <a:t> </a:t>
            </a:r>
            <a:r>
              <a:rPr lang="en-US" altLang="zh-CN" sz="2800" b="1">
                <a:sym typeface="+mn-ea"/>
              </a:rPr>
              <a:t>x</a:t>
            </a:r>
            <a:r>
              <a:rPr lang="en-US" altLang="zh-CN" sz="2800" b="1" baseline="-25000">
                <a:sym typeface="+mn-ea"/>
              </a:rPr>
              <a:t>2,....,</a:t>
            </a:r>
            <a:r>
              <a:rPr lang="en-US" altLang="zh-CN" sz="2800" b="1">
                <a:sym typeface="+mn-ea"/>
              </a:rPr>
              <a:t>x</a:t>
            </a:r>
            <a:r>
              <a:rPr lang="en-US" altLang="zh-CN" sz="2800" b="1" baseline="-25000">
                <a:sym typeface="+mn-ea"/>
              </a:rPr>
              <a:t>n</a:t>
            </a:r>
            <a:r>
              <a:rPr lang="en-US" altLang="zh-CN" sz="2800" b="1">
                <a:sym typeface="+mn-ea"/>
              </a:rPr>
              <a:t>)</a:t>
            </a:r>
            <a:r>
              <a:rPr lang="zh-CN" altLang="zh-CN" sz="2800" b="1"/>
              <a:t> 和点</a:t>
            </a:r>
            <a:r>
              <a:rPr lang="en-US" altLang="zh-CN" sz="2800" b="1"/>
              <a:t>b</a:t>
            </a:r>
            <a:r>
              <a:rPr lang="en-US" altLang="zh-CN" sz="2800" b="1">
                <a:sym typeface="+mn-ea"/>
              </a:rPr>
              <a:t>(y</a:t>
            </a:r>
            <a:r>
              <a:rPr lang="en-US" altLang="zh-CN" sz="2800" b="1" baseline="-25000">
                <a:sym typeface="+mn-ea"/>
              </a:rPr>
              <a:t>1</a:t>
            </a:r>
            <a:r>
              <a:rPr lang="en-US" altLang="zh-CN" sz="2800" b="1">
                <a:sym typeface="+mn-ea"/>
              </a:rPr>
              <a:t>,</a:t>
            </a:r>
            <a:r>
              <a:rPr lang="zh-CN" altLang="zh-CN" sz="2800" b="1">
                <a:sym typeface="+mn-ea"/>
              </a:rPr>
              <a:t> </a:t>
            </a:r>
            <a:r>
              <a:rPr lang="en-US" altLang="zh-CN" sz="2800" b="1">
                <a:sym typeface="+mn-ea"/>
              </a:rPr>
              <a:t>y</a:t>
            </a:r>
            <a:r>
              <a:rPr lang="en-US" altLang="zh-CN" sz="2800" b="1" baseline="-25000">
                <a:sym typeface="+mn-ea"/>
              </a:rPr>
              <a:t>2,....,</a:t>
            </a:r>
            <a:r>
              <a:rPr lang="en-US" altLang="zh-CN" sz="2800" b="1">
                <a:sym typeface="+mn-ea"/>
              </a:rPr>
              <a:t>y</a:t>
            </a:r>
            <a:r>
              <a:rPr lang="en-US" altLang="zh-CN" sz="2800" b="1" baseline="-25000">
                <a:sym typeface="+mn-ea"/>
              </a:rPr>
              <a:t>n</a:t>
            </a:r>
            <a:r>
              <a:rPr lang="en-US" altLang="zh-CN" sz="2800" b="1">
                <a:sym typeface="+mn-ea"/>
              </a:rPr>
              <a:t>)</a:t>
            </a:r>
            <a:r>
              <a:rPr lang="zh-CN" altLang="zh-CN" sz="2800" b="1"/>
              <a:t> 之间的距离公式是：</a:t>
            </a:r>
            <a:endParaRPr lang="zh-CN" altLang="zh-CN" sz="2800" b="1"/>
          </a:p>
          <a:p>
            <a:endParaRPr lang="zh-CN" altLang="zh-CN"/>
          </a:p>
          <a:p>
            <a:endParaRPr lang="zh-CN" altLang="zh-CN"/>
          </a:p>
        </p:txBody>
      </p:sp>
      <p:pic>
        <p:nvPicPr>
          <p:cNvPr id="6" name="图片 5" descr="{}CL0)X4QE_NJO_]_@OH8H0"/>
          <p:cNvPicPr>
            <a:picLocks noChangeAspect="1"/>
          </p:cNvPicPr>
          <p:nvPr/>
        </p:nvPicPr>
        <p:blipFill>
          <a:blip r:embed="rId1"/>
          <a:stretch>
            <a:fillRect/>
          </a:stretch>
        </p:blipFill>
        <p:spPr>
          <a:xfrm>
            <a:off x="1615440" y="2355215"/>
            <a:ext cx="5614035" cy="911225"/>
          </a:xfrm>
          <a:prstGeom prst="rect">
            <a:avLst/>
          </a:prstGeom>
        </p:spPr>
      </p:pic>
      <p:pic>
        <p:nvPicPr>
          <p:cNvPr id="7" name="图片 6" descr="D`T7Y}78$GJ4H%148{0K0(M"/>
          <p:cNvPicPr>
            <a:picLocks noChangeAspect="1"/>
          </p:cNvPicPr>
          <p:nvPr/>
        </p:nvPicPr>
        <p:blipFill>
          <a:blip r:embed="rId2"/>
          <a:stretch>
            <a:fillRect/>
          </a:stretch>
        </p:blipFill>
        <p:spPr>
          <a:xfrm>
            <a:off x="1615440" y="4212590"/>
            <a:ext cx="6064885" cy="1087755"/>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52500" y="1108075"/>
            <a:ext cx="6754495" cy="4524315"/>
          </a:xfrm>
          <a:prstGeom prst="rect">
            <a:avLst/>
          </a:prstGeom>
          <a:noFill/>
        </p:spPr>
        <p:txBody>
          <a:bodyPr wrap="square" rtlCol="0">
            <a:spAutoFit/>
          </a:bodyPr>
          <a:lstStyle/>
          <a:p>
            <a:r>
              <a:rPr lang="zh-CN" altLang="en-US" sz="3200" b="1" dirty="0"/>
              <a:t>汉明距离：</a:t>
            </a:r>
            <a:endParaRPr lang="zh-CN" altLang="en-US" sz="3200" b="1" dirty="0"/>
          </a:p>
          <a:p>
            <a:endParaRPr lang="zh-CN" altLang="en-US" sz="3200" b="1" dirty="0"/>
          </a:p>
          <a:p>
            <a:r>
              <a:rPr lang="zh-CN" altLang="en-US" sz="3200" b="1" dirty="0"/>
              <a:t>汉明距离是使用在数据传输差错控制编码里面的，</a:t>
            </a:r>
            <a:r>
              <a:rPr lang="zh-CN" altLang="en-US" sz="3200" b="1" i="0" dirty="0">
                <a:solidFill>
                  <a:srgbClr val="FF0000"/>
                </a:solidFill>
                <a:effectLst/>
                <a:latin typeface="Arial" panose="020B0604020202020204" pitchFamily="34" charset="0"/>
              </a:rPr>
              <a:t>在信息论中，两个等长字符串之间的汉明距离是两个字符串对应位置的不同字符的个数。</a:t>
            </a:r>
            <a:r>
              <a:rPr lang="zh-CN" altLang="en-US" sz="3200" b="0" i="0" dirty="0">
                <a:solidFill>
                  <a:srgbClr val="333333"/>
                </a:solidFill>
                <a:effectLst/>
                <a:latin typeface="Arial" panose="020B0604020202020204" pitchFamily="34" charset="0"/>
              </a:rPr>
              <a:t>”</a:t>
            </a:r>
            <a:endParaRPr lang="en-US" altLang="zh-CN" sz="3200" b="1" dirty="0"/>
          </a:p>
          <a:p>
            <a:endParaRPr lang="en-US" altLang="zh-CN" sz="3200" b="1" dirty="0"/>
          </a:p>
          <a:p>
            <a:r>
              <a:rPr lang="zh-CN" altLang="en-US" sz="3200" b="1" dirty="0"/>
              <a:t>如111000与111001的汉明距离是1，因为它有一位数不一样。</a:t>
            </a:r>
            <a:endParaRPr lang="zh-CN" altLang="en-US" sz="3200" b="1"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4313" y="60962"/>
            <a:ext cx="8921254" cy="695062"/>
          </a:xfrm>
          <a:prstGeom prst="rect">
            <a:avLst/>
          </a:prstGeom>
        </p:spPr>
        <p:txBody>
          <a:bodyPr vert="horz" wrap="square" lIns="0" tIns="17780" rIns="0" bIns="0" rtlCol="0" anchor="ctr">
            <a:spAutoFit/>
          </a:bodyPr>
          <a:lstStyle/>
          <a:p>
            <a:pPr marL="17145" algn="ctr">
              <a:lnSpc>
                <a:spcPct val="100000"/>
              </a:lnSpc>
              <a:spcBef>
                <a:spcPts val="140"/>
              </a:spcBef>
            </a:pPr>
            <a:r>
              <a:rPr sz="44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划分实例：</a:t>
            </a:r>
            <a:r>
              <a:rPr sz="4400" b="1" i="1" spc="-13"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n</a:t>
            </a:r>
            <a:r>
              <a:rPr sz="44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=10</a:t>
            </a:r>
            <a:endParaRPr sz="44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object 3"/>
          <p:cNvSpPr/>
          <p:nvPr/>
        </p:nvSpPr>
        <p:spPr>
          <a:xfrm>
            <a:off x="4459891" y="1859455"/>
            <a:ext cx="2540" cy="3759200"/>
          </a:xfrm>
          <a:custGeom>
            <a:avLst/>
            <a:gdLst/>
            <a:ahLst/>
            <a:cxnLst/>
            <a:rect l="l" t="t" r="r" b="b"/>
            <a:pathLst>
              <a:path w="1905" h="2819400">
                <a:moveTo>
                  <a:pt x="1650" y="0"/>
                </a:moveTo>
                <a:lnTo>
                  <a:pt x="0" y="2819400"/>
                </a:lnTo>
              </a:path>
            </a:pathLst>
          </a:custGeom>
          <a:ln w="25399">
            <a:solidFill>
              <a:srgbClr val="FF0000"/>
            </a:solidFill>
          </a:ln>
        </p:spPr>
        <p:txBody>
          <a:bodyPr wrap="square" lIns="0" tIns="0" rIns="0" bIns="0" rtlCol="0"/>
          <a:lstStyle/>
          <a:p>
            <a:endParaRPr sz="2400"/>
          </a:p>
        </p:txBody>
      </p:sp>
      <p:sp>
        <p:nvSpPr>
          <p:cNvPr id="4" name="object 4"/>
          <p:cNvSpPr/>
          <p:nvPr/>
        </p:nvSpPr>
        <p:spPr>
          <a:xfrm>
            <a:off x="3681807" y="1757855"/>
            <a:ext cx="138007" cy="4165600"/>
          </a:xfrm>
          <a:custGeom>
            <a:avLst/>
            <a:gdLst/>
            <a:ahLst/>
            <a:cxnLst/>
            <a:rect l="l" t="t" r="r" b="b"/>
            <a:pathLst>
              <a:path w="103505" h="3124200">
                <a:moveTo>
                  <a:pt x="51744" y="25205"/>
                </a:moveTo>
                <a:lnTo>
                  <a:pt x="45327" y="36176"/>
                </a:lnTo>
                <a:lnTo>
                  <a:pt x="43814" y="3124200"/>
                </a:lnTo>
                <a:lnTo>
                  <a:pt x="56514" y="3124200"/>
                </a:lnTo>
                <a:lnTo>
                  <a:pt x="58027" y="35975"/>
                </a:lnTo>
                <a:lnTo>
                  <a:pt x="51744" y="25205"/>
                </a:lnTo>
                <a:close/>
              </a:path>
              <a:path w="103505" h="3124200">
                <a:moveTo>
                  <a:pt x="51688" y="0"/>
                </a:moveTo>
                <a:lnTo>
                  <a:pt x="1777" y="85598"/>
                </a:lnTo>
                <a:lnTo>
                  <a:pt x="0" y="88519"/>
                </a:lnTo>
                <a:lnTo>
                  <a:pt x="1015" y="92455"/>
                </a:lnTo>
                <a:lnTo>
                  <a:pt x="7112" y="96012"/>
                </a:lnTo>
                <a:lnTo>
                  <a:pt x="10921" y="94996"/>
                </a:lnTo>
                <a:lnTo>
                  <a:pt x="45327" y="36176"/>
                </a:lnTo>
                <a:lnTo>
                  <a:pt x="45338" y="12573"/>
                </a:lnTo>
                <a:lnTo>
                  <a:pt x="59020" y="12573"/>
                </a:lnTo>
                <a:lnTo>
                  <a:pt x="51688" y="0"/>
                </a:lnTo>
                <a:close/>
              </a:path>
              <a:path w="103505" h="3124200">
                <a:moveTo>
                  <a:pt x="59020" y="12573"/>
                </a:moveTo>
                <a:lnTo>
                  <a:pt x="58038" y="12573"/>
                </a:lnTo>
                <a:lnTo>
                  <a:pt x="58144" y="36176"/>
                </a:lnTo>
                <a:lnTo>
                  <a:pt x="92456" y="94996"/>
                </a:lnTo>
                <a:lnTo>
                  <a:pt x="96265" y="96012"/>
                </a:lnTo>
                <a:lnTo>
                  <a:pt x="102362" y="92455"/>
                </a:lnTo>
                <a:lnTo>
                  <a:pt x="103377" y="88646"/>
                </a:lnTo>
                <a:lnTo>
                  <a:pt x="59020" y="12573"/>
                </a:lnTo>
                <a:close/>
              </a:path>
              <a:path w="103505" h="3124200">
                <a:moveTo>
                  <a:pt x="58038" y="12573"/>
                </a:moveTo>
                <a:lnTo>
                  <a:pt x="45338" y="12573"/>
                </a:lnTo>
                <a:lnTo>
                  <a:pt x="45327" y="36176"/>
                </a:lnTo>
                <a:lnTo>
                  <a:pt x="51744" y="25205"/>
                </a:lnTo>
                <a:lnTo>
                  <a:pt x="46227" y="15748"/>
                </a:lnTo>
                <a:lnTo>
                  <a:pt x="58037" y="15748"/>
                </a:lnTo>
                <a:lnTo>
                  <a:pt x="58038" y="12573"/>
                </a:lnTo>
                <a:close/>
              </a:path>
              <a:path w="103505" h="3124200">
                <a:moveTo>
                  <a:pt x="58037" y="15748"/>
                </a:moveTo>
                <a:lnTo>
                  <a:pt x="57276" y="15748"/>
                </a:lnTo>
                <a:lnTo>
                  <a:pt x="51744" y="25205"/>
                </a:lnTo>
                <a:lnTo>
                  <a:pt x="58027" y="35975"/>
                </a:lnTo>
                <a:lnTo>
                  <a:pt x="58037" y="15748"/>
                </a:lnTo>
                <a:close/>
              </a:path>
              <a:path w="103505" h="3124200">
                <a:moveTo>
                  <a:pt x="57276" y="15748"/>
                </a:moveTo>
                <a:lnTo>
                  <a:pt x="46227" y="15748"/>
                </a:lnTo>
                <a:lnTo>
                  <a:pt x="51744" y="25205"/>
                </a:lnTo>
                <a:lnTo>
                  <a:pt x="57276" y="15748"/>
                </a:lnTo>
                <a:close/>
              </a:path>
            </a:pathLst>
          </a:custGeom>
          <a:solidFill>
            <a:srgbClr val="000000"/>
          </a:solidFill>
        </p:spPr>
        <p:txBody>
          <a:bodyPr wrap="square" lIns="0" tIns="0" rIns="0" bIns="0" rtlCol="0"/>
          <a:lstStyle/>
          <a:p>
            <a:endParaRPr sz="2400"/>
          </a:p>
        </p:txBody>
      </p:sp>
      <p:sp>
        <p:nvSpPr>
          <p:cNvPr id="5" name="object 5"/>
          <p:cNvSpPr/>
          <p:nvPr/>
        </p:nvSpPr>
        <p:spPr>
          <a:xfrm>
            <a:off x="1513490" y="3926172"/>
            <a:ext cx="5486400" cy="138007"/>
          </a:xfrm>
          <a:custGeom>
            <a:avLst/>
            <a:gdLst/>
            <a:ahLst/>
            <a:cxnLst/>
            <a:rect l="l" t="t" r="r" b="b"/>
            <a:pathLst>
              <a:path w="4114800" h="103505">
                <a:moveTo>
                  <a:pt x="4026154" y="0"/>
                </a:moveTo>
                <a:lnTo>
                  <a:pt x="4022344" y="1015"/>
                </a:lnTo>
                <a:lnTo>
                  <a:pt x="4018788" y="7112"/>
                </a:lnTo>
                <a:lnTo>
                  <a:pt x="4019804" y="10921"/>
                </a:lnTo>
                <a:lnTo>
                  <a:pt x="4078627" y="45330"/>
                </a:lnTo>
                <a:lnTo>
                  <a:pt x="4102354" y="45338"/>
                </a:lnTo>
                <a:lnTo>
                  <a:pt x="4102354" y="58038"/>
                </a:lnTo>
                <a:lnTo>
                  <a:pt x="4078804" y="58038"/>
                </a:lnTo>
                <a:lnTo>
                  <a:pt x="4019804" y="92456"/>
                </a:lnTo>
                <a:lnTo>
                  <a:pt x="4018788" y="96392"/>
                </a:lnTo>
                <a:lnTo>
                  <a:pt x="4020566" y="99313"/>
                </a:lnTo>
                <a:lnTo>
                  <a:pt x="4022344" y="102362"/>
                </a:lnTo>
                <a:lnTo>
                  <a:pt x="4026154" y="103377"/>
                </a:lnTo>
                <a:lnTo>
                  <a:pt x="4103909" y="58038"/>
                </a:lnTo>
                <a:lnTo>
                  <a:pt x="4102354" y="58038"/>
                </a:lnTo>
                <a:lnTo>
                  <a:pt x="4103924" y="58030"/>
                </a:lnTo>
                <a:lnTo>
                  <a:pt x="4114800" y="51688"/>
                </a:lnTo>
                <a:lnTo>
                  <a:pt x="4026154" y="0"/>
                </a:lnTo>
                <a:close/>
              </a:path>
              <a:path w="4114800" h="103505">
                <a:moveTo>
                  <a:pt x="4089594" y="51744"/>
                </a:moveTo>
                <a:lnTo>
                  <a:pt x="4078819" y="58030"/>
                </a:lnTo>
                <a:lnTo>
                  <a:pt x="4102354" y="58038"/>
                </a:lnTo>
                <a:lnTo>
                  <a:pt x="4102354" y="57276"/>
                </a:lnTo>
                <a:lnTo>
                  <a:pt x="4099052" y="57276"/>
                </a:lnTo>
                <a:lnTo>
                  <a:pt x="4089594" y="51744"/>
                </a:lnTo>
                <a:close/>
              </a:path>
              <a:path w="4114800" h="103505">
                <a:moveTo>
                  <a:pt x="0" y="43814"/>
                </a:moveTo>
                <a:lnTo>
                  <a:pt x="0" y="56514"/>
                </a:lnTo>
                <a:lnTo>
                  <a:pt x="4078819" y="58030"/>
                </a:lnTo>
                <a:lnTo>
                  <a:pt x="4089594" y="51744"/>
                </a:lnTo>
                <a:lnTo>
                  <a:pt x="4078627" y="45330"/>
                </a:lnTo>
                <a:lnTo>
                  <a:pt x="0" y="43814"/>
                </a:lnTo>
                <a:close/>
              </a:path>
              <a:path w="4114800" h="103505">
                <a:moveTo>
                  <a:pt x="4099052" y="46227"/>
                </a:moveTo>
                <a:lnTo>
                  <a:pt x="4089594" y="51744"/>
                </a:lnTo>
                <a:lnTo>
                  <a:pt x="4099052" y="57276"/>
                </a:lnTo>
                <a:lnTo>
                  <a:pt x="4099052" y="46227"/>
                </a:lnTo>
                <a:close/>
              </a:path>
              <a:path w="4114800" h="103505">
                <a:moveTo>
                  <a:pt x="4102354" y="46227"/>
                </a:moveTo>
                <a:lnTo>
                  <a:pt x="4099052" y="46227"/>
                </a:lnTo>
                <a:lnTo>
                  <a:pt x="4099052" y="57276"/>
                </a:lnTo>
                <a:lnTo>
                  <a:pt x="4102354" y="57276"/>
                </a:lnTo>
                <a:lnTo>
                  <a:pt x="4102354" y="46227"/>
                </a:lnTo>
                <a:close/>
              </a:path>
              <a:path w="4114800" h="103505">
                <a:moveTo>
                  <a:pt x="4078627" y="45330"/>
                </a:moveTo>
                <a:lnTo>
                  <a:pt x="4089594" y="51744"/>
                </a:lnTo>
                <a:lnTo>
                  <a:pt x="4099052" y="46227"/>
                </a:lnTo>
                <a:lnTo>
                  <a:pt x="4102354" y="46227"/>
                </a:lnTo>
                <a:lnTo>
                  <a:pt x="4102354" y="45338"/>
                </a:lnTo>
                <a:lnTo>
                  <a:pt x="4078627" y="45330"/>
                </a:lnTo>
                <a:close/>
              </a:path>
            </a:pathLst>
          </a:custGeom>
          <a:solidFill>
            <a:srgbClr val="000000"/>
          </a:solidFill>
        </p:spPr>
        <p:txBody>
          <a:bodyPr wrap="square" lIns="0" tIns="0" rIns="0" bIns="0" rtlCol="0"/>
          <a:lstStyle/>
          <a:p>
            <a:endParaRPr sz="2400"/>
          </a:p>
        </p:txBody>
      </p:sp>
      <p:sp>
        <p:nvSpPr>
          <p:cNvPr id="6" name="object 6"/>
          <p:cNvSpPr/>
          <p:nvPr/>
        </p:nvSpPr>
        <p:spPr>
          <a:xfrm>
            <a:off x="2110390" y="2049955"/>
            <a:ext cx="228600" cy="228600"/>
          </a:xfrm>
          <a:prstGeom prst="rect">
            <a:avLst/>
          </a:prstGeom>
          <a:blipFill>
            <a:blip r:embed="rId1" cstate="print"/>
            <a:stretch>
              <a:fillRect/>
            </a:stretch>
          </a:blipFill>
        </p:spPr>
        <p:txBody>
          <a:bodyPr wrap="square" lIns="0" tIns="0" rIns="0" bIns="0" rtlCol="0"/>
          <a:lstStyle/>
          <a:p>
            <a:endParaRPr sz="2400"/>
          </a:p>
        </p:txBody>
      </p:sp>
      <p:sp>
        <p:nvSpPr>
          <p:cNvPr id="7" name="object 7"/>
          <p:cNvSpPr/>
          <p:nvPr/>
        </p:nvSpPr>
        <p:spPr>
          <a:xfrm>
            <a:off x="2529490" y="2773855"/>
            <a:ext cx="203200" cy="203200"/>
          </a:xfrm>
          <a:custGeom>
            <a:avLst/>
            <a:gdLst/>
            <a:ahLst/>
            <a:cxnLst/>
            <a:rect l="l" t="t" r="r" b="b"/>
            <a:pathLst>
              <a:path w="152400" h="152400">
                <a:moveTo>
                  <a:pt x="76200" y="0"/>
                </a:moveTo>
                <a:lnTo>
                  <a:pt x="46559" y="5994"/>
                </a:lnTo>
                <a:lnTo>
                  <a:pt x="22336" y="22336"/>
                </a:lnTo>
                <a:lnTo>
                  <a:pt x="5994" y="46559"/>
                </a:lnTo>
                <a:lnTo>
                  <a:pt x="0" y="76200"/>
                </a:lnTo>
                <a:lnTo>
                  <a:pt x="5994" y="105840"/>
                </a:lnTo>
                <a:lnTo>
                  <a:pt x="22336" y="130063"/>
                </a:lnTo>
                <a:lnTo>
                  <a:pt x="46559" y="146405"/>
                </a:lnTo>
                <a:lnTo>
                  <a:pt x="76200" y="152400"/>
                </a:lnTo>
                <a:lnTo>
                  <a:pt x="105840" y="146405"/>
                </a:lnTo>
                <a:lnTo>
                  <a:pt x="130063" y="130063"/>
                </a:lnTo>
                <a:lnTo>
                  <a:pt x="146405" y="105840"/>
                </a:lnTo>
                <a:lnTo>
                  <a:pt x="152400" y="76200"/>
                </a:lnTo>
                <a:lnTo>
                  <a:pt x="146405" y="46559"/>
                </a:lnTo>
                <a:lnTo>
                  <a:pt x="130063" y="22336"/>
                </a:lnTo>
                <a:lnTo>
                  <a:pt x="105840" y="5994"/>
                </a:lnTo>
                <a:lnTo>
                  <a:pt x="76200" y="0"/>
                </a:lnTo>
                <a:close/>
              </a:path>
            </a:pathLst>
          </a:custGeom>
          <a:solidFill>
            <a:srgbClr val="FFC000"/>
          </a:solidFill>
        </p:spPr>
        <p:txBody>
          <a:bodyPr wrap="square" lIns="0" tIns="0" rIns="0" bIns="0" rtlCol="0"/>
          <a:lstStyle/>
          <a:p>
            <a:endParaRPr sz="2400"/>
          </a:p>
        </p:txBody>
      </p:sp>
      <p:sp>
        <p:nvSpPr>
          <p:cNvPr id="8" name="object 8"/>
          <p:cNvSpPr/>
          <p:nvPr/>
        </p:nvSpPr>
        <p:spPr>
          <a:xfrm>
            <a:off x="2529490" y="2773855"/>
            <a:ext cx="203200" cy="203200"/>
          </a:xfrm>
          <a:custGeom>
            <a:avLst/>
            <a:gdLst/>
            <a:ahLst/>
            <a:cxnLst/>
            <a:rect l="l" t="t" r="r" b="b"/>
            <a:pathLst>
              <a:path w="152400" h="152400">
                <a:moveTo>
                  <a:pt x="0" y="76200"/>
                </a:moveTo>
                <a:lnTo>
                  <a:pt x="5994" y="46559"/>
                </a:lnTo>
                <a:lnTo>
                  <a:pt x="22336" y="22336"/>
                </a:lnTo>
                <a:lnTo>
                  <a:pt x="46559" y="5994"/>
                </a:lnTo>
                <a:lnTo>
                  <a:pt x="76200" y="0"/>
                </a:lnTo>
                <a:lnTo>
                  <a:pt x="105840" y="5994"/>
                </a:lnTo>
                <a:lnTo>
                  <a:pt x="130063" y="22336"/>
                </a:lnTo>
                <a:lnTo>
                  <a:pt x="146405" y="46559"/>
                </a:lnTo>
                <a:lnTo>
                  <a:pt x="152400" y="76200"/>
                </a:lnTo>
                <a:lnTo>
                  <a:pt x="146405" y="105840"/>
                </a:lnTo>
                <a:lnTo>
                  <a:pt x="130063" y="130063"/>
                </a:lnTo>
                <a:lnTo>
                  <a:pt x="105840" y="146405"/>
                </a:lnTo>
                <a:lnTo>
                  <a:pt x="76200" y="152400"/>
                </a:lnTo>
                <a:lnTo>
                  <a:pt x="46559" y="146405"/>
                </a:lnTo>
                <a:lnTo>
                  <a:pt x="22336" y="130063"/>
                </a:lnTo>
                <a:lnTo>
                  <a:pt x="5994" y="105840"/>
                </a:lnTo>
                <a:lnTo>
                  <a:pt x="0" y="76200"/>
                </a:lnTo>
                <a:close/>
              </a:path>
            </a:pathLst>
          </a:custGeom>
          <a:ln w="19050">
            <a:solidFill>
              <a:srgbClr val="000000"/>
            </a:solidFill>
          </a:ln>
        </p:spPr>
        <p:txBody>
          <a:bodyPr wrap="square" lIns="0" tIns="0" rIns="0" bIns="0" rtlCol="0"/>
          <a:lstStyle/>
          <a:p>
            <a:endParaRPr sz="2400"/>
          </a:p>
        </p:txBody>
      </p:sp>
      <p:sp>
        <p:nvSpPr>
          <p:cNvPr id="9" name="object 9"/>
          <p:cNvSpPr/>
          <p:nvPr/>
        </p:nvSpPr>
        <p:spPr>
          <a:xfrm>
            <a:off x="2935890" y="2570655"/>
            <a:ext cx="203200" cy="203200"/>
          </a:xfrm>
          <a:custGeom>
            <a:avLst/>
            <a:gdLst/>
            <a:ahLst/>
            <a:cxnLst/>
            <a:rect l="l" t="t" r="r" b="b"/>
            <a:pathLst>
              <a:path w="152400" h="152400">
                <a:moveTo>
                  <a:pt x="76200" y="0"/>
                </a:moveTo>
                <a:lnTo>
                  <a:pt x="46559" y="5994"/>
                </a:lnTo>
                <a:lnTo>
                  <a:pt x="22336" y="22336"/>
                </a:lnTo>
                <a:lnTo>
                  <a:pt x="5994" y="46559"/>
                </a:lnTo>
                <a:lnTo>
                  <a:pt x="0" y="76200"/>
                </a:lnTo>
                <a:lnTo>
                  <a:pt x="5994" y="105840"/>
                </a:lnTo>
                <a:lnTo>
                  <a:pt x="22336" y="130063"/>
                </a:lnTo>
                <a:lnTo>
                  <a:pt x="46559" y="146405"/>
                </a:lnTo>
                <a:lnTo>
                  <a:pt x="76200" y="152400"/>
                </a:lnTo>
                <a:lnTo>
                  <a:pt x="105840" y="146405"/>
                </a:lnTo>
                <a:lnTo>
                  <a:pt x="130063" y="130063"/>
                </a:lnTo>
                <a:lnTo>
                  <a:pt x="146405" y="105840"/>
                </a:lnTo>
                <a:lnTo>
                  <a:pt x="152400" y="76200"/>
                </a:lnTo>
                <a:lnTo>
                  <a:pt x="146405" y="46559"/>
                </a:lnTo>
                <a:lnTo>
                  <a:pt x="130063" y="22336"/>
                </a:lnTo>
                <a:lnTo>
                  <a:pt x="105840" y="5994"/>
                </a:lnTo>
                <a:lnTo>
                  <a:pt x="76200" y="0"/>
                </a:lnTo>
                <a:close/>
              </a:path>
            </a:pathLst>
          </a:custGeom>
          <a:solidFill>
            <a:srgbClr val="FFC000"/>
          </a:solidFill>
        </p:spPr>
        <p:txBody>
          <a:bodyPr wrap="square" lIns="0" tIns="0" rIns="0" bIns="0" rtlCol="0"/>
          <a:lstStyle/>
          <a:p>
            <a:endParaRPr sz="2400"/>
          </a:p>
        </p:txBody>
      </p:sp>
      <p:sp>
        <p:nvSpPr>
          <p:cNvPr id="10" name="object 10"/>
          <p:cNvSpPr/>
          <p:nvPr/>
        </p:nvSpPr>
        <p:spPr>
          <a:xfrm>
            <a:off x="2935890" y="2570655"/>
            <a:ext cx="203200" cy="203200"/>
          </a:xfrm>
          <a:custGeom>
            <a:avLst/>
            <a:gdLst/>
            <a:ahLst/>
            <a:cxnLst/>
            <a:rect l="l" t="t" r="r" b="b"/>
            <a:pathLst>
              <a:path w="152400" h="152400">
                <a:moveTo>
                  <a:pt x="0" y="76200"/>
                </a:moveTo>
                <a:lnTo>
                  <a:pt x="5994" y="46559"/>
                </a:lnTo>
                <a:lnTo>
                  <a:pt x="22336" y="22336"/>
                </a:lnTo>
                <a:lnTo>
                  <a:pt x="46559" y="5994"/>
                </a:lnTo>
                <a:lnTo>
                  <a:pt x="76200" y="0"/>
                </a:lnTo>
                <a:lnTo>
                  <a:pt x="105840" y="5994"/>
                </a:lnTo>
                <a:lnTo>
                  <a:pt x="130063" y="22336"/>
                </a:lnTo>
                <a:lnTo>
                  <a:pt x="146405" y="46559"/>
                </a:lnTo>
                <a:lnTo>
                  <a:pt x="152400" y="76200"/>
                </a:lnTo>
                <a:lnTo>
                  <a:pt x="146405" y="105840"/>
                </a:lnTo>
                <a:lnTo>
                  <a:pt x="130063" y="130063"/>
                </a:lnTo>
                <a:lnTo>
                  <a:pt x="105840" y="146405"/>
                </a:lnTo>
                <a:lnTo>
                  <a:pt x="76200" y="152400"/>
                </a:lnTo>
                <a:lnTo>
                  <a:pt x="46559" y="146405"/>
                </a:lnTo>
                <a:lnTo>
                  <a:pt x="22336" y="130063"/>
                </a:lnTo>
                <a:lnTo>
                  <a:pt x="5994" y="105840"/>
                </a:lnTo>
                <a:lnTo>
                  <a:pt x="0" y="76200"/>
                </a:lnTo>
                <a:close/>
              </a:path>
            </a:pathLst>
          </a:custGeom>
          <a:ln w="19050">
            <a:solidFill>
              <a:srgbClr val="000000"/>
            </a:solidFill>
          </a:ln>
        </p:spPr>
        <p:txBody>
          <a:bodyPr wrap="square" lIns="0" tIns="0" rIns="0" bIns="0" rtlCol="0"/>
          <a:lstStyle/>
          <a:p>
            <a:endParaRPr sz="2400"/>
          </a:p>
        </p:txBody>
      </p:sp>
      <p:sp>
        <p:nvSpPr>
          <p:cNvPr id="11" name="object 11"/>
          <p:cNvSpPr/>
          <p:nvPr/>
        </p:nvSpPr>
        <p:spPr>
          <a:xfrm>
            <a:off x="2821590" y="4691555"/>
            <a:ext cx="228600" cy="228600"/>
          </a:xfrm>
          <a:prstGeom prst="rect">
            <a:avLst/>
          </a:prstGeom>
          <a:blipFill>
            <a:blip r:embed="rId1" cstate="print"/>
            <a:stretch>
              <a:fillRect/>
            </a:stretch>
          </a:blipFill>
        </p:spPr>
        <p:txBody>
          <a:bodyPr wrap="square" lIns="0" tIns="0" rIns="0" bIns="0" rtlCol="0"/>
          <a:lstStyle/>
          <a:p>
            <a:endParaRPr sz="2400"/>
          </a:p>
        </p:txBody>
      </p:sp>
      <p:sp>
        <p:nvSpPr>
          <p:cNvPr id="12" name="object 12"/>
          <p:cNvSpPr/>
          <p:nvPr/>
        </p:nvSpPr>
        <p:spPr>
          <a:xfrm>
            <a:off x="4955190" y="2253155"/>
            <a:ext cx="228600" cy="228600"/>
          </a:xfrm>
          <a:prstGeom prst="rect">
            <a:avLst/>
          </a:prstGeom>
          <a:blipFill>
            <a:blip r:embed="rId1" cstate="print"/>
            <a:stretch>
              <a:fillRect/>
            </a:stretch>
          </a:blipFill>
        </p:spPr>
        <p:txBody>
          <a:bodyPr wrap="square" lIns="0" tIns="0" rIns="0" bIns="0" rtlCol="0"/>
          <a:lstStyle/>
          <a:p>
            <a:endParaRPr sz="2400"/>
          </a:p>
        </p:txBody>
      </p:sp>
      <p:sp>
        <p:nvSpPr>
          <p:cNvPr id="13" name="object 13"/>
          <p:cNvSpPr/>
          <p:nvPr/>
        </p:nvSpPr>
        <p:spPr>
          <a:xfrm>
            <a:off x="3939190" y="3472355"/>
            <a:ext cx="228600" cy="228600"/>
          </a:xfrm>
          <a:prstGeom prst="rect">
            <a:avLst/>
          </a:prstGeom>
          <a:blipFill>
            <a:blip r:embed="rId1" cstate="print"/>
            <a:stretch>
              <a:fillRect/>
            </a:stretch>
          </a:blipFill>
        </p:spPr>
        <p:txBody>
          <a:bodyPr wrap="square" lIns="0" tIns="0" rIns="0" bIns="0" rtlCol="0"/>
          <a:lstStyle/>
          <a:p>
            <a:endParaRPr sz="2400"/>
          </a:p>
        </p:txBody>
      </p:sp>
      <p:sp>
        <p:nvSpPr>
          <p:cNvPr id="14" name="object 14"/>
          <p:cNvSpPr/>
          <p:nvPr/>
        </p:nvSpPr>
        <p:spPr>
          <a:xfrm>
            <a:off x="4955190" y="4488355"/>
            <a:ext cx="228600" cy="228600"/>
          </a:xfrm>
          <a:prstGeom prst="rect">
            <a:avLst/>
          </a:prstGeom>
          <a:blipFill>
            <a:blip r:embed="rId1" cstate="print"/>
            <a:stretch>
              <a:fillRect/>
            </a:stretch>
          </a:blipFill>
        </p:spPr>
        <p:txBody>
          <a:bodyPr wrap="square" lIns="0" tIns="0" rIns="0" bIns="0" rtlCol="0"/>
          <a:lstStyle/>
          <a:p>
            <a:endParaRPr sz="2400"/>
          </a:p>
        </p:txBody>
      </p:sp>
      <p:sp>
        <p:nvSpPr>
          <p:cNvPr id="15" name="object 15"/>
          <p:cNvSpPr/>
          <p:nvPr/>
        </p:nvSpPr>
        <p:spPr>
          <a:xfrm>
            <a:off x="4853590" y="3167555"/>
            <a:ext cx="228600" cy="228600"/>
          </a:xfrm>
          <a:prstGeom prst="rect">
            <a:avLst/>
          </a:prstGeom>
          <a:blipFill>
            <a:blip r:embed="rId1" cstate="print"/>
            <a:stretch>
              <a:fillRect/>
            </a:stretch>
          </a:blipFill>
        </p:spPr>
        <p:txBody>
          <a:bodyPr wrap="square" lIns="0" tIns="0" rIns="0" bIns="0" rtlCol="0"/>
          <a:lstStyle/>
          <a:p>
            <a:endParaRPr sz="2400"/>
          </a:p>
        </p:txBody>
      </p:sp>
      <p:sp>
        <p:nvSpPr>
          <p:cNvPr id="16" name="object 16"/>
          <p:cNvSpPr/>
          <p:nvPr/>
        </p:nvSpPr>
        <p:spPr>
          <a:xfrm>
            <a:off x="5463190" y="3573955"/>
            <a:ext cx="228600" cy="228600"/>
          </a:xfrm>
          <a:prstGeom prst="rect">
            <a:avLst/>
          </a:prstGeom>
          <a:blipFill>
            <a:blip r:embed="rId1" cstate="print"/>
            <a:stretch>
              <a:fillRect/>
            </a:stretch>
          </a:blipFill>
        </p:spPr>
        <p:txBody>
          <a:bodyPr wrap="square" lIns="0" tIns="0" rIns="0" bIns="0" rtlCol="0"/>
          <a:lstStyle/>
          <a:p>
            <a:endParaRPr sz="2400"/>
          </a:p>
        </p:txBody>
      </p:sp>
      <p:sp>
        <p:nvSpPr>
          <p:cNvPr id="17" name="object 17"/>
          <p:cNvSpPr/>
          <p:nvPr/>
        </p:nvSpPr>
        <p:spPr>
          <a:xfrm>
            <a:off x="5564790" y="5097955"/>
            <a:ext cx="228600" cy="228600"/>
          </a:xfrm>
          <a:prstGeom prst="rect">
            <a:avLst/>
          </a:prstGeom>
          <a:blipFill>
            <a:blip r:embed="rId2" cstate="print"/>
            <a:stretch>
              <a:fillRect/>
            </a:stretch>
          </a:blipFill>
        </p:spPr>
        <p:txBody>
          <a:bodyPr wrap="square" lIns="0" tIns="0" rIns="0" bIns="0" rtlCol="0"/>
          <a:lstStyle/>
          <a:p>
            <a:endParaRPr sz="2400"/>
          </a:p>
        </p:txBody>
      </p:sp>
      <p:sp>
        <p:nvSpPr>
          <p:cNvPr id="18" name="object 18"/>
          <p:cNvSpPr txBox="1"/>
          <p:nvPr/>
        </p:nvSpPr>
        <p:spPr>
          <a:xfrm>
            <a:off x="4667327" y="5243890"/>
            <a:ext cx="147319" cy="509541"/>
          </a:xfrm>
          <a:prstGeom prst="rect">
            <a:avLst/>
          </a:prstGeom>
        </p:spPr>
        <p:txBody>
          <a:bodyPr vert="horz" wrap="square" lIns="0" tIns="16933" rIns="0" bIns="0" rtlCol="0">
            <a:spAutoFit/>
          </a:bodyPr>
          <a:lstStyle/>
          <a:p>
            <a:pPr marL="17145">
              <a:spcBef>
                <a:spcPts val="135"/>
              </a:spcBef>
            </a:pPr>
            <a:r>
              <a:rPr sz="3200" b="1" i="1" dirty="0">
                <a:latin typeface="Times New Roman" panose="02020603050405020304"/>
                <a:cs typeface="Times New Roman" panose="02020603050405020304"/>
              </a:rPr>
              <a:t>l</a:t>
            </a:r>
            <a:endParaRPr sz="3200">
              <a:latin typeface="Times New Roman" panose="02020603050405020304"/>
              <a:cs typeface="Times New Roman" panose="02020603050405020304"/>
            </a:endParaRPr>
          </a:p>
        </p:txBody>
      </p:sp>
      <p:sp>
        <p:nvSpPr>
          <p:cNvPr id="19" name="object 19"/>
          <p:cNvSpPr txBox="1"/>
          <p:nvPr/>
        </p:nvSpPr>
        <p:spPr>
          <a:xfrm>
            <a:off x="1889819" y="5040282"/>
            <a:ext cx="514773" cy="509541"/>
          </a:xfrm>
          <a:prstGeom prst="rect">
            <a:avLst/>
          </a:prstGeom>
        </p:spPr>
        <p:txBody>
          <a:bodyPr vert="horz" wrap="square" lIns="0" tIns="16933" rIns="0" bIns="0" rtlCol="0">
            <a:spAutoFit/>
          </a:bodyPr>
          <a:lstStyle/>
          <a:p>
            <a:pPr marL="50800">
              <a:spcBef>
                <a:spcPts val="135"/>
              </a:spcBef>
            </a:pPr>
            <a:r>
              <a:rPr sz="3200" b="1" i="1" spc="-7" dirty="0">
                <a:latin typeface="Times New Roman" panose="02020603050405020304"/>
                <a:cs typeface="Times New Roman" panose="02020603050405020304"/>
              </a:rPr>
              <a:t>P</a:t>
            </a:r>
            <a:r>
              <a:rPr sz="3200" b="1" i="1" spc="-9" baseline="-21000" dirty="0">
                <a:latin typeface="Times New Roman" panose="02020603050405020304"/>
                <a:cs typeface="Times New Roman" panose="02020603050405020304"/>
              </a:rPr>
              <a:t>L</a:t>
            </a:r>
            <a:endParaRPr sz="3200" baseline="-21000">
              <a:latin typeface="Times New Roman" panose="02020603050405020304"/>
              <a:cs typeface="Times New Roman" panose="02020603050405020304"/>
            </a:endParaRPr>
          </a:p>
        </p:txBody>
      </p:sp>
      <p:sp>
        <p:nvSpPr>
          <p:cNvPr id="20" name="object 20"/>
          <p:cNvSpPr txBox="1"/>
          <p:nvPr/>
        </p:nvSpPr>
        <p:spPr>
          <a:xfrm>
            <a:off x="6157457" y="5141882"/>
            <a:ext cx="530860" cy="509541"/>
          </a:xfrm>
          <a:prstGeom prst="rect">
            <a:avLst/>
          </a:prstGeom>
        </p:spPr>
        <p:txBody>
          <a:bodyPr vert="horz" wrap="square" lIns="0" tIns="16933" rIns="0" bIns="0" rtlCol="0">
            <a:spAutoFit/>
          </a:bodyPr>
          <a:lstStyle/>
          <a:p>
            <a:pPr marL="50800">
              <a:spcBef>
                <a:spcPts val="135"/>
              </a:spcBef>
            </a:pPr>
            <a:r>
              <a:rPr sz="3200" b="1" i="1" spc="-7" dirty="0">
                <a:latin typeface="Times New Roman" panose="02020603050405020304"/>
                <a:cs typeface="Times New Roman" panose="02020603050405020304"/>
              </a:rPr>
              <a:t>P</a:t>
            </a:r>
            <a:r>
              <a:rPr sz="3200" b="1" i="1" spc="-9" baseline="-21000" dirty="0">
                <a:latin typeface="Times New Roman" panose="02020603050405020304"/>
                <a:cs typeface="Times New Roman" panose="02020603050405020304"/>
              </a:rPr>
              <a:t>R</a:t>
            </a:r>
            <a:endParaRPr sz="3200" baseline="-21000">
              <a:latin typeface="Times New Roman" panose="02020603050405020304"/>
              <a:cs typeface="Times New Roman" panose="02020603050405020304"/>
            </a:endParaRPr>
          </a:p>
        </p:txBody>
      </p:sp>
      <p:sp>
        <p:nvSpPr>
          <p:cNvPr id="22" name="object 22"/>
          <p:cNvSpPr/>
          <p:nvPr/>
        </p:nvSpPr>
        <p:spPr>
          <a:xfrm>
            <a:off x="2732694" y="2744226"/>
            <a:ext cx="232833" cy="131233"/>
          </a:xfrm>
          <a:custGeom>
            <a:avLst/>
            <a:gdLst/>
            <a:ahLst/>
            <a:cxnLst/>
            <a:rect l="l" t="t" r="r" b="b"/>
            <a:pathLst>
              <a:path w="174625" h="98425">
                <a:moveTo>
                  <a:pt x="0" y="98425"/>
                </a:moveTo>
                <a:lnTo>
                  <a:pt x="174625" y="0"/>
                </a:lnTo>
              </a:path>
            </a:pathLst>
          </a:custGeom>
          <a:ln w="25400">
            <a:solidFill>
              <a:srgbClr val="497DBA"/>
            </a:solidFill>
          </a:ln>
        </p:spPr>
        <p:txBody>
          <a:bodyPr wrap="square" lIns="0" tIns="0" rIns="0" bIns="0" rtlCol="0"/>
          <a:lstStyle/>
          <a:p>
            <a:endParaRPr sz="2400"/>
          </a:p>
        </p:txBody>
      </p:sp>
      <p:sp>
        <p:nvSpPr>
          <p:cNvPr id="23" name="object 23"/>
          <p:cNvSpPr/>
          <p:nvPr/>
        </p:nvSpPr>
        <p:spPr>
          <a:xfrm>
            <a:off x="5069494" y="3311488"/>
            <a:ext cx="436033" cy="304800"/>
          </a:xfrm>
          <a:custGeom>
            <a:avLst/>
            <a:gdLst/>
            <a:ahLst/>
            <a:cxnLst/>
            <a:rect l="l" t="t" r="r" b="b"/>
            <a:pathLst>
              <a:path w="327025" h="228600">
                <a:moveTo>
                  <a:pt x="0" y="0"/>
                </a:moveTo>
                <a:lnTo>
                  <a:pt x="327025" y="228600"/>
                </a:lnTo>
              </a:path>
            </a:pathLst>
          </a:custGeom>
          <a:ln w="25400">
            <a:solidFill>
              <a:srgbClr val="497DBA"/>
            </a:solidFill>
          </a:ln>
        </p:spPr>
        <p:txBody>
          <a:bodyPr wrap="square" lIns="0" tIns="0" rIns="0" bIns="0" rtlCol="0"/>
          <a:lstStyle/>
          <a:p>
            <a:endParaRPr sz="2400"/>
          </a:p>
        </p:txBody>
      </p:sp>
      <p:sp>
        <p:nvSpPr>
          <p:cNvPr id="24" name="object 24"/>
          <p:cNvSpPr/>
          <p:nvPr/>
        </p:nvSpPr>
        <p:spPr>
          <a:xfrm>
            <a:off x="4155090" y="3281855"/>
            <a:ext cx="711200" cy="304800"/>
          </a:xfrm>
          <a:custGeom>
            <a:avLst/>
            <a:gdLst/>
            <a:ahLst/>
            <a:cxnLst/>
            <a:rect l="l" t="t" r="r" b="b"/>
            <a:pathLst>
              <a:path w="533400" h="228600">
                <a:moveTo>
                  <a:pt x="533400" y="0"/>
                </a:moveTo>
                <a:lnTo>
                  <a:pt x="0" y="228600"/>
                </a:lnTo>
              </a:path>
            </a:pathLst>
          </a:custGeom>
          <a:ln w="25400">
            <a:solidFill>
              <a:srgbClr val="497DBA"/>
            </a:solidFill>
          </a:ln>
        </p:spPr>
        <p:txBody>
          <a:bodyPr wrap="square" lIns="0" tIns="0" rIns="0" bIns="0" rtlCol="0"/>
          <a:lstStyle/>
          <a:p>
            <a:endParaRPr sz="24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658" y="52412"/>
            <a:ext cx="8900342"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20" dirty="0">
                <a:solidFill>
                  <a:srgbClr val="C00000"/>
                </a:solidFill>
                <a:latin typeface="黑体" panose="02010609060101010101" pitchFamily="49" charset="-122"/>
                <a:ea typeface="黑体" panose="02010609060101010101" pitchFamily="49" charset="-122"/>
              </a:rPr>
              <a:t>算法伪码</a:t>
            </a:r>
            <a:endParaRPr sz="4400" b="1" spc="-20"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482600" y="853713"/>
            <a:ext cx="8178800" cy="5328920"/>
          </a:xfrm>
          <a:prstGeom prst="rect">
            <a:avLst/>
          </a:prstGeom>
        </p:spPr>
        <p:txBody>
          <a:bodyPr vert="horz" wrap="square" lIns="0" tIns="16933" rIns="0" bIns="0" rtlCol="0">
            <a:spAutoFit/>
          </a:bodyPr>
          <a:lstStyle/>
          <a:p>
            <a:pPr marL="67945">
              <a:spcBef>
                <a:spcPts val="135"/>
              </a:spcBef>
            </a:pPr>
            <a:r>
              <a:rPr sz="2800" b="1" dirty="0">
                <a:latin typeface="Times New Roman" panose="02020603050405020304" pitchFamily="18" charset="0"/>
                <a:ea typeface="黑体" panose="02010609060101010101" pitchFamily="49" charset="-122"/>
                <a:cs typeface="Times New Roman" panose="02020603050405020304" pitchFamily="18" charset="0"/>
              </a:rPr>
              <a:t>MinDistance </a:t>
            </a:r>
            <a:r>
              <a:rPr sz="2800" b="1" spc="-140" dirty="0">
                <a:latin typeface="Times New Roman" panose="02020603050405020304" pitchFamily="18" charset="0"/>
                <a:ea typeface="黑体" panose="02010609060101010101" pitchFamily="49" charset="-122"/>
                <a:cs typeface="Times New Roman" panose="02020603050405020304" pitchFamily="18" charset="0"/>
              </a:rPr>
              <a:t>(</a:t>
            </a:r>
            <a:r>
              <a:rPr sz="2800" b="1" i="1" spc="-140" dirty="0">
                <a:latin typeface="Times New Roman" panose="02020603050405020304" pitchFamily="18" charset="0"/>
                <a:ea typeface="黑体" panose="02010609060101010101" pitchFamily="49" charset="-122"/>
                <a:cs typeface="Times New Roman" panose="02020603050405020304" pitchFamily="18" charset="0"/>
              </a:rPr>
              <a:t>P, </a:t>
            </a:r>
            <a:r>
              <a:rPr lang="en-US" sz="2800" b="1" i="1" spc="-140"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X,</a:t>
            </a:r>
            <a:r>
              <a:rPr lang="en-US" sz="2800" b="1" i="1" spc="20" dirty="0">
                <a:latin typeface="Times New Roman" panose="02020603050405020304" pitchFamily="18" charset="0"/>
                <a:ea typeface="黑体" panose="02010609060101010101" pitchFamily="49" charset="-122"/>
                <a:cs typeface="Times New Roman" panose="02020603050405020304" pitchFamily="18" charset="0"/>
              </a:rPr>
              <a:t> </a:t>
            </a:r>
            <a:r>
              <a:rPr sz="2800" b="1" i="1" spc="7" dirty="0">
                <a:latin typeface="Times New Roman" panose="02020603050405020304" pitchFamily="18" charset="0"/>
                <a:ea typeface="黑体" panose="02010609060101010101" pitchFamily="49" charset="-122"/>
                <a:cs typeface="Times New Roman" panose="02020603050405020304" pitchFamily="18" charset="0"/>
              </a:rPr>
              <a:t>Y</a:t>
            </a:r>
            <a:r>
              <a:rPr sz="2800" b="1" spc="7" dirty="0">
                <a:latin typeface="Times New Roman" panose="02020603050405020304" pitchFamily="18" charset="0"/>
                <a:ea typeface="黑体" panose="02010609060101010101" pitchFamily="49" charset="-122"/>
                <a:cs typeface="Times New Roman" panose="02020603050405020304" pitchFamily="18" charset="0"/>
              </a:rPr>
              <a:t>)</a:t>
            </a: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67945" marR="156845">
              <a:spcBef>
                <a:spcPts val="45"/>
              </a:spcBef>
              <a:tabLst>
                <a:tab pos="2436495" algn="l"/>
              </a:tabLst>
            </a:pPr>
            <a:r>
              <a:rPr sz="2800" b="1" dirty="0">
                <a:latin typeface="Times New Roman" panose="02020603050405020304" pitchFamily="18" charset="0"/>
                <a:ea typeface="黑体" panose="02010609060101010101" pitchFamily="49" charset="-122"/>
                <a:cs typeface="Times New Roman" panose="02020603050405020304" pitchFamily="18" charset="0"/>
              </a:rPr>
              <a:t>输入:</a:t>
            </a:r>
            <a:r>
              <a:rPr sz="2800" b="1" spc="-13" dirty="0">
                <a:latin typeface="Times New Roman" panose="02020603050405020304" pitchFamily="18" charset="0"/>
                <a:ea typeface="黑体" panose="02010609060101010101" pitchFamily="49" charset="-122"/>
                <a:cs typeface="Times New Roman" panose="02020603050405020304" pitchFamily="18" charset="0"/>
              </a:rPr>
              <a:t> </a:t>
            </a:r>
            <a:r>
              <a:rPr sz="2800" b="1" dirty="0" err="1">
                <a:latin typeface="Times New Roman" panose="02020603050405020304" pitchFamily="18" charset="0"/>
                <a:ea typeface="黑体" panose="02010609060101010101" pitchFamily="49" charset="-122"/>
                <a:cs typeface="Times New Roman" panose="02020603050405020304" pitchFamily="18" charset="0"/>
              </a:rPr>
              <a:t>点集</a:t>
            </a:r>
            <a:r>
              <a:rPr sz="2800" b="1" i="1" spc="-420" dirty="0" err="1">
                <a:latin typeface="Times New Roman" panose="02020603050405020304" pitchFamily="18" charset="0"/>
                <a:ea typeface="黑体" panose="02010609060101010101" pitchFamily="49" charset="-122"/>
                <a:cs typeface="Times New Roman" panose="02020603050405020304" pitchFamily="18" charset="0"/>
              </a:rPr>
              <a:t>P</a:t>
            </a:r>
            <a:r>
              <a:rPr sz="2800" b="1" i="1" dirty="0">
                <a:latin typeface="Times New Roman" panose="02020603050405020304" pitchFamily="18" charset="0"/>
                <a:ea typeface="黑体" panose="02010609060101010101" pitchFamily="49" charset="-122"/>
                <a:cs typeface="Times New Roman" panose="02020603050405020304" pitchFamily="18" charset="0"/>
              </a:rPr>
              <a:t>,</a:t>
            </a:r>
            <a:r>
              <a:rPr lang="en-US" sz="2800" b="1" i="1" dirty="0">
                <a:latin typeface="Times New Roman" panose="02020603050405020304" pitchFamily="18" charset="0"/>
                <a:ea typeface="黑体" panose="02010609060101010101" pitchFamily="49" charset="-122"/>
                <a:cs typeface="Times New Roman" panose="02020603050405020304" pitchFamily="18" charset="0"/>
              </a:rPr>
              <a:t> </a:t>
            </a:r>
            <a:r>
              <a:rPr sz="2800" b="1" i="1" dirty="0">
                <a:latin typeface="Times New Roman" panose="02020603050405020304" pitchFamily="18" charset="0"/>
                <a:ea typeface="黑体" panose="02010609060101010101" pitchFamily="49" charset="-122"/>
                <a:cs typeface="Times New Roman" panose="02020603050405020304" pitchFamily="18" charset="0"/>
              </a:rPr>
              <a:t> </a:t>
            </a:r>
            <a:r>
              <a:rPr sz="2800" b="1" i="1" spc="-7" dirty="0" err="1">
                <a:latin typeface="Times New Roman" panose="02020603050405020304" pitchFamily="18" charset="0"/>
                <a:ea typeface="黑体" panose="02010609060101010101" pitchFamily="49" charset="-122"/>
                <a:cs typeface="Times New Roman" panose="02020603050405020304" pitchFamily="18" charset="0"/>
              </a:rPr>
              <a:t>X</a:t>
            </a:r>
            <a:r>
              <a:rPr sz="2800" b="1" dirty="0" err="1">
                <a:latin typeface="Times New Roman" panose="02020603050405020304" pitchFamily="18" charset="0"/>
                <a:ea typeface="黑体" panose="02010609060101010101" pitchFamily="49" charset="-122"/>
                <a:cs typeface="Times New Roman" panose="02020603050405020304" pitchFamily="18" charset="0"/>
              </a:rPr>
              <a:t>和</a:t>
            </a:r>
            <a:r>
              <a:rPr sz="2800" b="1" i="1" spc="13" dirty="0" err="1">
                <a:latin typeface="Times New Roman" panose="02020603050405020304" pitchFamily="18" charset="0"/>
                <a:ea typeface="黑体" panose="02010609060101010101" pitchFamily="49" charset="-122"/>
                <a:cs typeface="Times New Roman" panose="02020603050405020304" pitchFamily="18" charset="0"/>
              </a:rPr>
              <a:t>Y</a:t>
            </a:r>
            <a:r>
              <a:rPr sz="2800" b="1" dirty="0" err="1">
                <a:latin typeface="Times New Roman" panose="02020603050405020304" pitchFamily="18" charset="0"/>
                <a:ea typeface="黑体" panose="02010609060101010101" pitchFamily="49" charset="-122"/>
                <a:cs typeface="Times New Roman" panose="02020603050405020304" pitchFamily="18" charset="0"/>
              </a:rPr>
              <a:t>为横、纵坐标数组</a:t>
            </a:r>
            <a:endParaRPr lang="en-US" sz="2800" b="1" dirty="0">
              <a:latin typeface="Times New Roman" panose="02020603050405020304" pitchFamily="18" charset="0"/>
              <a:ea typeface="黑体" panose="02010609060101010101" pitchFamily="49" charset="-122"/>
              <a:cs typeface="Times New Roman" panose="02020603050405020304" pitchFamily="18" charset="0"/>
            </a:endParaRPr>
          </a:p>
          <a:p>
            <a:pPr marL="67945" marR="156845">
              <a:spcBef>
                <a:spcPts val="45"/>
              </a:spcBef>
              <a:tabLst>
                <a:tab pos="2436495" algn="l"/>
              </a:tabLst>
            </a:pPr>
            <a:r>
              <a:rPr sz="2800" b="1" dirty="0" err="1">
                <a:latin typeface="Times New Roman" panose="02020603050405020304" pitchFamily="18" charset="0"/>
                <a:ea typeface="黑体" panose="02010609060101010101" pitchFamily="49" charset="-122"/>
                <a:cs typeface="Times New Roman" panose="02020603050405020304" pitchFamily="18" charset="0"/>
              </a:rPr>
              <a:t>输出</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sz="2800" b="1" spc="-20" dirty="0">
                <a:latin typeface="Times New Roman" panose="02020603050405020304" pitchFamily="18" charset="0"/>
                <a:ea typeface="黑体" panose="02010609060101010101" pitchFamily="49" charset="-122"/>
                <a:cs typeface="Times New Roman" panose="02020603050405020304" pitchFamily="18" charset="0"/>
              </a:rPr>
              <a:t> </a:t>
            </a:r>
            <a:r>
              <a:rPr sz="2800" b="1" dirty="0" err="1">
                <a:latin typeface="Times New Roman" panose="02020603050405020304" pitchFamily="18" charset="0"/>
                <a:ea typeface="黑体" panose="02010609060101010101" pitchFamily="49" charset="-122"/>
                <a:cs typeface="Times New Roman" panose="02020603050405020304" pitchFamily="18" charset="0"/>
              </a:rPr>
              <a:t>最近的两个点及距离</a:t>
            </a:r>
            <a:endParaRPr sz="2800" b="1" dirty="0" err="1">
              <a:latin typeface="Times New Roman" panose="02020603050405020304" pitchFamily="18" charset="0"/>
              <a:ea typeface="黑体" panose="02010609060101010101" pitchFamily="49" charset="-122"/>
              <a:cs typeface="Times New Roman" panose="02020603050405020304" pitchFamily="18" charset="0"/>
            </a:endParaRPr>
          </a:p>
          <a:p>
            <a:pPr marL="67945" marR="156845">
              <a:spcBef>
                <a:spcPts val="45"/>
              </a:spcBef>
              <a:tabLst>
                <a:tab pos="2436495" algn="l"/>
              </a:tabLst>
            </a:pPr>
            <a:endParaRPr sz="2800" dirty="0">
              <a:latin typeface="Times New Roman" panose="02020603050405020304" pitchFamily="18" charset="0"/>
              <a:ea typeface="黑体" panose="02010609060101010101" pitchFamily="49" charset="-122"/>
              <a:cs typeface="Times New Roman" panose="02020603050405020304" pitchFamily="18" charset="0"/>
            </a:endParaRPr>
          </a:p>
          <a:p>
            <a:pPr marL="573405" indent="-407035">
              <a:spcBef>
                <a:spcPts val="5"/>
              </a:spcBef>
              <a:buFont typeface="Times New Roman" panose="02020603050405020304"/>
              <a:buAutoNum type="arabicPeriod"/>
              <a:tabLst>
                <a:tab pos="573405" algn="l"/>
              </a:tabLst>
            </a:pPr>
            <a:r>
              <a:rPr sz="2800" b="1" dirty="0" err="1">
                <a:latin typeface="宋体" panose="02010600030101010101" pitchFamily="2" charset="-122"/>
                <a:cs typeface="宋体" panose="02010600030101010101" pitchFamily="2" charset="-122"/>
              </a:rPr>
              <a:t>若</a:t>
            </a:r>
            <a:r>
              <a:rPr sz="2800" b="1" spc="-7" dirty="0" err="1">
                <a:latin typeface="Times New Roman" panose="02020603050405020304"/>
                <a:cs typeface="Times New Roman" panose="02020603050405020304"/>
              </a:rPr>
              <a:t>|</a:t>
            </a:r>
            <a:r>
              <a:rPr sz="2800" b="1" i="1" spc="-7" dirty="0" err="1">
                <a:latin typeface="Times New Roman" panose="02020603050405020304"/>
                <a:cs typeface="Times New Roman" panose="02020603050405020304"/>
              </a:rPr>
              <a:t>P</a:t>
            </a:r>
            <a:r>
              <a:rPr sz="2800" b="1" i="1" spc="-7" dirty="0">
                <a:latin typeface="Times New Roman" panose="02020603050405020304"/>
                <a:cs typeface="Times New Roman" panose="02020603050405020304"/>
              </a:rPr>
              <a:t>|</a:t>
            </a:r>
            <a:r>
              <a:rPr lang="en-US" sz="2800" b="1" i="1" spc="-7" dirty="0">
                <a:latin typeface="Times New Roman" panose="02020603050405020304"/>
                <a:cs typeface="Times New Roman" panose="02020603050405020304"/>
              </a:rPr>
              <a:t> </a:t>
            </a:r>
            <a:r>
              <a:rPr sz="2800" b="1" spc="-7" dirty="0">
                <a:latin typeface="Symbol" panose="05050102010706020507"/>
                <a:cs typeface="Symbol" panose="05050102010706020507"/>
              </a:rPr>
              <a:t></a:t>
            </a:r>
            <a:r>
              <a:rPr lang="en-US" sz="2800" b="1" spc="-7" dirty="0">
                <a:latin typeface="Symbol" panose="05050102010706020507"/>
                <a:cs typeface="Symbol" panose="05050102010706020507"/>
              </a:rPr>
              <a:t> </a:t>
            </a:r>
            <a:r>
              <a:rPr sz="2800" b="1" spc="-7" dirty="0">
                <a:latin typeface="Times New Roman" panose="02020603050405020304"/>
                <a:cs typeface="Times New Roman" panose="02020603050405020304"/>
              </a:rPr>
              <a:t>3</a:t>
            </a:r>
            <a:r>
              <a:rPr sz="2800" b="1" spc="-7" dirty="0">
                <a:latin typeface="宋体" panose="02010600030101010101" pitchFamily="2" charset="-122"/>
                <a:cs typeface="宋体" panose="02010600030101010101" pitchFamily="2" charset="-122"/>
              </a:rPr>
              <a:t>，</a:t>
            </a:r>
            <a:r>
              <a:rPr sz="2800" b="1" dirty="0">
                <a:latin typeface="宋体" panose="02010600030101010101" pitchFamily="2" charset="-122"/>
                <a:cs typeface="宋体" panose="02010600030101010101" pitchFamily="2" charset="-122"/>
              </a:rPr>
              <a:t>直接计算其最小距离</a:t>
            </a:r>
            <a:endParaRPr sz="2800" dirty="0">
              <a:latin typeface="宋体" panose="02010600030101010101" pitchFamily="2" charset="-122"/>
              <a:cs typeface="宋体" panose="02010600030101010101" pitchFamily="2" charset="-122"/>
            </a:endParaRPr>
          </a:p>
          <a:p>
            <a:pPr marL="573405" indent="-407035">
              <a:buFont typeface="Times New Roman" panose="02020603050405020304"/>
              <a:buAutoNum type="arabicPeriod"/>
              <a:tabLst>
                <a:tab pos="573405" algn="l"/>
              </a:tabLst>
            </a:pPr>
            <a:r>
              <a:rPr sz="2800" b="1" spc="-7" dirty="0" err="1">
                <a:latin typeface="宋体" panose="02010600030101010101" pitchFamily="2" charset="-122"/>
                <a:cs typeface="宋体" panose="02010600030101010101" pitchFamily="2" charset="-122"/>
              </a:rPr>
              <a:t>排</a:t>
            </a:r>
            <a:r>
              <a:rPr sz="2800" b="1" dirty="0" err="1">
                <a:latin typeface="宋体" panose="02010600030101010101" pitchFamily="2" charset="-122"/>
                <a:cs typeface="宋体" panose="02010600030101010101" pitchFamily="2" charset="-122"/>
              </a:rPr>
              <a:t>序</a:t>
            </a:r>
            <a:r>
              <a:rPr sz="2800" b="1" i="1" dirty="0" err="1">
                <a:latin typeface="Times New Roman" panose="02020603050405020304"/>
                <a:cs typeface="Times New Roman" panose="02020603050405020304"/>
              </a:rPr>
              <a:t>X</a:t>
            </a:r>
            <a:r>
              <a:rPr sz="2800" b="1" i="1" dirty="0">
                <a:latin typeface="Times New Roman" panose="02020603050405020304"/>
                <a:cs typeface="Times New Roman" panose="02020603050405020304"/>
              </a:rPr>
              <a:t>,</a:t>
            </a:r>
            <a:r>
              <a:rPr lang="en-US" sz="2800" b="1" i="1" dirty="0">
                <a:latin typeface="Times New Roman" panose="02020603050405020304"/>
                <a:cs typeface="Times New Roman" panose="02020603050405020304"/>
              </a:rPr>
              <a:t> </a:t>
            </a:r>
            <a:r>
              <a:rPr sz="2800" b="1" i="1" dirty="0">
                <a:latin typeface="Times New Roman" panose="02020603050405020304"/>
                <a:cs typeface="Times New Roman" panose="02020603050405020304"/>
              </a:rPr>
              <a:t>Y</a:t>
            </a:r>
            <a:endParaRPr sz="2800" dirty="0">
              <a:latin typeface="Times New Roman" panose="02020603050405020304"/>
              <a:cs typeface="Times New Roman" panose="02020603050405020304"/>
            </a:endParaRPr>
          </a:p>
          <a:p>
            <a:pPr marL="573405" indent="-407035">
              <a:lnSpc>
                <a:spcPts val="3815"/>
              </a:lnSpc>
              <a:buFont typeface="Times New Roman" panose="02020603050405020304"/>
              <a:buAutoNum type="arabicPeriod"/>
              <a:tabLst>
                <a:tab pos="573405" algn="l"/>
              </a:tabLst>
            </a:pPr>
            <a:r>
              <a:rPr sz="2800" b="1" dirty="0">
                <a:latin typeface="宋体" panose="02010600030101010101" pitchFamily="2" charset="-122"/>
                <a:cs typeface="宋体" panose="02010600030101010101" pitchFamily="2" charset="-122"/>
              </a:rPr>
              <a:t>做中垂</a:t>
            </a:r>
            <a:r>
              <a:rPr sz="2800" b="1" spc="-13" dirty="0">
                <a:latin typeface="宋体" panose="02010600030101010101" pitchFamily="2" charset="-122"/>
                <a:cs typeface="宋体" panose="02010600030101010101" pitchFamily="2" charset="-122"/>
              </a:rPr>
              <a:t>线</a:t>
            </a:r>
            <a:r>
              <a:rPr sz="2800" b="1" spc="-813" dirty="0">
                <a:latin typeface="宋体" panose="02010600030101010101" pitchFamily="2" charset="-122"/>
                <a:cs typeface="宋体" panose="02010600030101010101" pitchFamily="2" charset="-122"/>
              </a:rPr>
              <a:t> </a:t>
            </a:r>
            <a:r>
              <a:rPr sz="2800" b="1" i="1" dirty="0">
                <a:latin typeface="Times New Roman" panose="02020603050405020304"/>
                <a:cs typeface="Times New Roman" panose="02020603050405020304"/>
              </a:rPr>
              <a:t>l</a:t>
            </a:r>
            <a:r>
              <a:rPr sz="2800" b="1" i="1" spc="-20" dirty="0">
                <a:latin typeface="Times New Roman" panose="02020603050405020304"/>
                <a:cs typeface="Times New Roman" panose="02020603050405020304"/>
              </a:rPr>
              <a:t> </a:t>
            </a:r>
            <a:r>
              <a:rPr sz="2800" b="1" dirty="0">
                <a:latin typeface="宋体" panose="02010600030101010101" pitchFamily="2" charset="-122"/>
                <a:cs typeface="宋体" panose="02010600030101010101" pitchFamily="2" charset="-122"/>
              </a:rPr>
              <a:t>将</a:t>
            </a:r>
            <a:r>
              <a:rPr sz="2800" b="1" i="1" dirty="0">
                <a:latin typeface="Times New Roman" panose="02020603050405020304"/>
                <a:cs typeface="Times New Roman" panose="02020603050405020304"/>
              </a:rPr>
              <a:t>P</a:t>
            </a:r>
            <a:r>
              <a:rPr sz="2800" b="1" dirty="0">
                <a:latin typeface="宋体" panose="02010600030101010101" pitchFamily="2" charset="-122"/>
                <a:cs typeface="宋体" panose="02010600030101010101" pitchFamily="2" charset="-122"/>
              </a:rPr>
              <a:t>划分为</a:t>
            </a:r>
            <a:r>
              <a:rPr sz="2800" b="1" i="1" spc="-13" dirty="0">
                <a:latin typeface="Times New Roman" panose="02020603050405020304"/>
                <a:cs typeface="Times New Roman" panose="02020603050405020304"/>
              </a:rPr>
              <a:t>P</a:t>
            </a:r>
            <a:r>
              <a:rPr sz="2800" b="1" i="1" spc="-20" baseline="-21000" dirty="0">
                <a:latin typeface="Times New Roman" panose="02020603050405020304"/>
                <a:cs typeface="Times New Roman" panose="02020603050405020304"/>
              </a:rPr>
              <a:t>L</a:t>
            </a:r>
            <a:r>
              <a:rPr sz="2800" b="1" dirty="0">
                <a:latin typeface="宋体" panose="02010600030101010101" pitchFamily="2" charset="-122"/>
                <a:cs typeface="宋体" panose="02010600030101010101" pitchFamily="2" charset="-122"/>
              </a:rPr>
              <a:t>和</a:t>
            </a:r>
            <a:r>
              <a:rPr sz="2800" b="1" i="1" spc="-7" dirty="0">
                <a:latin typeface="Times New Roman" panose="02020603050405020304"/>
                <a:cs typeface="Times New Roman" panose="02020603050405020304"/>
              </a:rPr>
              <a:t>P</a:t>
            </a:r>
            <a:r>
              <a:rPr sz="2800" b="1" i="1" spc="-9" baseline="-21000" dirty="0">
                <a:latin typeface="Times New Roman" panose="02020603050405020304"/>
                <a:cs typeface="Times New Roman" panose="02020603050405020304"/>
              </a:rPr>
              <a:t>R</a:t>
            </a:r>
            <a:endParaRPr sz="2800" baseline="-21000" dirty="0">
              <a:latin typeface="Times New Roman" panose="02020603050405020304"/>
              <a:cs typeface="Times New Roman" panose="02020603050405020304"/>
            </a:endParaRPr>
          </a:p>
          <a:p>
            <a:pPr marL="573405" indent="-407035">
              <a:lnSpc>
                <a:spcPts val="3815"/>
              </a:lnSpc>
              <a:buAutoNum type="arabicPeriod"/>
              <a:tabLst>
                <a:tab pos="573405" algn="l"/>
              </a:tabLst>
            </a:pPr>
            <a:r>
              <a:rPr sz="2800" b="1" u="heavy" dirty="0">
                <a:uFill>
                  <a:solidFill>
                    <a:srgbClr val="C00000"/>
                  </a:solidFill>
                </a:uFill>
                <a:latin typeface="Times New Roman" panose="02020603050405020304"/>
                <a:cs typeface="Times New Roman" panose="02020603050405020304"/>
              </a:rPr>
              <a:t>MinDidtance</a:t>
            </a:r>
            <a:r>
              <a:rPr sz="2800" b="1" spc="-87" dirty="0">
                <a:latin typeface="Times New Roman" panose="02020603050405020304"/>
                <a:cs typeface="Times New Roman" panose="02020603050405020304"/>
              </a:rPr>
              <a:t> </a:t>
            </a:r>
            <a:r>
              <a:rPr sz="2800" b="1" spc="-7" dirty="0">
                <a:latin typeface="Times New Roman" panose="02020603050405020304"/>
                <a:cs typeface="Times New Roman" panose="02020603050405020304"/>
              </a:rPr>
              <a:t>(</a:t>
            </a:r>
            <a:r>
              <a:rPr sz="2800" b="1" i="1" spc="-7" dirty="0">
                <a:latin typeface="Times New Roman" panose="02020603050405020304"/>
                <a:cs typeface="Times New Roman" panose="02020603050405020304"/>
              </a:rPr>
              <a:t>P</a:t>
            </a:r>
            <a:r>
              <a:rPr sz="2800" b="1" i="1" spc="-9" baseline="-21000" dirty="0">
                <a:latin typeface="Times New Roman" panose="02020603050405020304"/>
                <a:cs typeface="Times New Roman" panose="02020603050405020304"/>
              </a:rPr>
              <a:t>L</a:t>
            </a:r>
            <a:r>
              <a:rPr sz="2800" b="1" spc="-7" dirty="0">
                <a:latin typeface="Times New Roman" panose="02020603050405020304"/>
                <a:cs typeface="Times New Roman" panose="02020603050405020304"/>
              </a:rPr>
              <a:t>,</a:t>
            </a:r>
            <a:r>
              <a:rPr lang="en-US" sz="2800" b="1" spc="-7" dirty="0">
                <a:latin typeface="Times New Roman" panose="02020603050405020304"/>
                <a:cs typeface="Times New Roman" panose="02020603050405020304"/>
              </a:rPr>
              <a:t> </a:t>
            </a:r>
            <a:r>
              <a:rPr sz="2800" b="1" i="1" spc="-7" dirty="0">
                <a:latin typeface="Times New Roman" panose="02020603050405020304"/>
                <a:cs typeface="Times New Roman" panose="02020603050405020304"/>
              </a:rPr>
              <a:t>X</a:t>
            </a:r>
            <a:r>
              <a:rPr sz="2800" b="1" i="1" spc="-9" baseline="-21000" dirty="0">
                <a:latin typeface="Times New Roman" panose="02020603050405020304"/>
                <a:cs typeface="Times New Roman" panose="02020603050405020304"/>
              </a:rPr>
              <a:t>L</a:t>
            </a:r>
            <a:r>
              <a:rPr sz="2800" b="1" spc="-7" dirty="0">
                <a:latin typeface="Times New Roman" panose="02020603050405020304"/>
                <a:cs typeface="Times New Roman" panose="02020603050405020304"/>
              </a:rPr>
              <a:t>,</a:t>
            </a:r>
            <a:r>
              <a:rPr lang="en-US" sz="2800" b="1" spc="-7" dirty="0">
                <a:latin typeface="Times New Roman" panose="02020603050405020304"/>
                <a:cs typeface="Times New Roman" panose="02020603050405020304"/>
              </a:rPr>
              <a:t> </a:t>
            </a:r>
            <a:r>
              <a:rPr sz="2800" b="1" i="1" spc="-7" dirty="0">
                <a:latin typeface="Times New Roman" panose="02020603050405020304"/>
                <a:cs typeface="Times New Roman" panose="02020603050405020304"/>
              </a:rPr>
              <a:t>Y</a:t>
            </a:r>
            <a:r>
              <a:rPr sz="2800" b="1" i="1" spc="-9" baseline="-21000" dirty="0">
                <a:latin typeface="Times New Roman" panose="02020603050405020304"/>
                <a:cs typeface="Times New Roman" panose="02020603050405020304"/>
              </a:rPr>
              <a:t>L</a:t>
            </a:r>
            <a:r>
              <a:rPr sz="2800" b="1" spc="-7" dirty="0">
                <a:latin typeface="Times New Roman" panose="02020603050405020304"/>
                <a:cs typeface="Times New Roman" panose="02020603050405020304"/>
              </a:rPr>
              <a:t>)</a:t>
            </a:r>
            <a:endParaRPr sz="2800" dirty="0">
              <a:latin typeface="Times New Roman" panose="02020603050405020304"/>
              <a:cs typeface="Times New Roman" panose="02020603050405020304"/>
            </a:endParaRPr>
          </a:p>
          <a:p>
            <a:pPr marL="574040" indent="-408305">
              <a:buAutoNum type="arabicPeriod"/>
              <a:tabLst>
                <a:tab pos="574675" algn="l"/>
              </a:tabLst>
            </a:pPr>
            <a:r>
              <a:rPr sz="2800" b="1" u="heavy" dirty="0">
                <a:uFill>
                  <a:solidFill>
                    <a:srgbClr val="C00000"/>
                  </a:solidFill>
                </a:uFill>
                <a:latin typeface="Times New Roman" panose="02020603050405020304"/>
                <a:cs typeface="Times New Roman" panose="02020603050405020304"/>
              </a:rPr>
              <a:t>MinDistance</a:t>
            </a:r>
            <a:r>
              <a:rPr sz="2800" b="1" spc="-93" dirty="0">
                <a:latin typeface="Times New Roman" panose="02020603050405020304"/>
                <a:cs typeface="Times New Roman" panose="02020603050405020304"/>
              </a:rPr>
              <a:t> </a:t>
            </a:r>
            <a:r>
              <a:rPr sz="2800" b="1" spc="-7" dirty="0">
                <a:latin typeface="Times New Roman" panose="02020603050405020304"/>
                <a:cs typeface="Times New Roman" panose="02020603050405020304"/>
              </a:rPr>
              <a:t>(</a:t>
            </a:r>
            <a:r>
              <a:rPr sz="2800" b="1" i="1" spc="-7" dirty="0">
                <a:latin typeface="Times New Roman" panose="02020603050405020304"/>
                <a:cs typeface="Times New Roman" panose="02020603050405020304"/>
              </a:rPr>
              <a:t>P</a:t>
            </a:r>
            <a:r>
              <a:rPr sz="2800" b="1" i="1" spc="-9" baseline="-21000" dirty="0">
                <a:latin typeface="Times New Roman" panose="02020603050405020304"/>
                <a:cs typeface="Times New Roman" panose="02020603050405020304"/>
              </a:rPr>
              <a:t>R</a:t>
            </a:r>
            <a:r>
              <a:rPr sz="2800" b="1" spc="-7" dirty="0">
                <a:latin typeface="Times New Roman" panose="02020603050405020304"/>
                <a:cs typeface="Times New Roman" panose="02020603050405020304"/>
              </a:rPr>
              <a:t>,</a:t>
            </a:r>
            <a:r>
              <a:rPr lang="en-US" sz="2800" b="1" spc="-7" dirty="0">
                <a:latin typeface="Times New Roman" panose="02020603050405020304"/>
                <a:cs typeface="Times New Roman" panose="02020603050405020304"/>
              </a:rPr>
              <a:t> </a:t>
            </a:r>
            <a:r>
              <a:rPr sz="2800" b="1" i="1" spc="-7" dirty="0">
                <a:latin typeface="Times New Roman" panose="02020603050405020304"/>
                <a:cs typeface="Times New Roman" panose="02020603050405020304"/>
              </a:rPr>
              <a:t>X</a:t>
            </a:r>
            <a:r>
              <a:rPr sz="2800" b="1" i="1" spc="-9" baseline="-21000" dirty="0">
                <a:latin typeface="Times New Roman" panose="02020603050405020304"/>
                <a:cs typeface="Times New Roman" panose="02020603050405020304"/>
              </a:rPr>
              <a:t>R</a:t>
            </a:r>
            <a:r>
              <a:rPr sz="2800" b="1" spc="-7" dirty="0">
                <a:latin typeface="Times New Roman" panose="02020603050405020304"/>
                <a:cs typeface="Times New Roman" panose="02020603050405020304"/>
              </a:rPr>
              <a:t>,</a:t>
            </a:r>
            <a:r>
              <a:rPr lang="en-US" sz="2800" b="1" spc="-7" dirty="0">
                <a:latin typeface="Times New Roman" panose="02020603050405020304"/>
                <a:cs typeface="Times New Roman" panose="02020603050405020304"/>
              </a:rPr>
              <a:t> </a:t>
            </a:r>
            <a:r>
              <a:rPr sz="2800" b="1" i="1" spc="-7" dirty="0">
                <a:latin typeface="Times New Roman" panose="02020603050405020304"/>
                <a:cs typeface="Times New Roman" panose="02020603050405020304"/>
              </a:rPr>
              <a:t>Y</a:t>
            </a:r>
            <a:r>
              <a:rPr sz="2800" b="1" i="1" spc="-9" baseline="-21000" dirty="0">
                <a:latin typeface="Times New Roman" panose="02020603050405020304"/>
                <a:cs typeface="Times New Roman" panose="02020603050405020304"/>
              </a:rPr>
              <a:t>R</a:t>
            </a:r>
            <a:r>
              <a:rPr sz="2800" b="1" spc="-7" dirty="0">
                <a:latin typeface="Times New Roman" panose="02020603050405020304"/>
                <a:cs typeface="Times New Roman" panose="02020603050405020304"/>
              </a:rPr>
              <a:t>)</a:t>
            </a:r>
            <a:endParaRPr sz="2800" dirty="0">
              <a:latin typeface="Times New Roman" panose="02020603050405020304"/>
              <a:cs typeface="Times New Roman" panose="02020603050405020304"/>
            </a:endParaRPr>
          </a:p>
          <a:p>
            <a:pPr marL="573405" indent="-407035">
              <a:spcBef>
                <a:spcPts val="55"/>
              </a:spcBef>
              <a:buFont typeface="Times New Roman" panose="02020603050405020304"/>
              <a:buAutoNum type="arabicPeriod"/>
              <a:tabLst>
                <a:tab pos="573405" algn="l"/>
              </a:tabLst>
            </a:pPr>
            <a:r>
              <a:rPr sz="2800" b="1" spc="-7" dirty="0">
                <a:latin typeface="Symbol" panose="05050102010706020507"/>
                <a:cs typeface="Symbol" panose="05050102010706020507"/>
              </a:rPr>
              <a:t></a:t>
            </a:r>
            <a:r>
              <a:rPr sz="2800" b="1" spc="-7" dirty="0">
                <a:latin typeface="Times New Roman" panose="02020603050405020304"/>
                <a:cs typeface="Times New Roman" panose="02020603050405020304"/>
              </a:rPr>
              <a:t>=min(</a:t>
            </a:r>
            <a:r>
              <a:rPr sz="2800" b="1" spc="-7" dirty="0">
                <a:latin typeface="Symbol" panose="05050102010706020507"/>
                <a:cs typeface="Symbol" panose="05050102010706020507"/>
              </a:rPr>
              <a:t></a:t>
            </a:r>
            <a:r>
              <a:rPr sz="2800" b="1" i="1" spc="-9" baseline="-21000" dirty="0">
                <a:latin typeface="Times New Roman" panose="02020603050405020304"/>
                <a:cs typeface="Times New Roman" panose="02020603050405020304"/>
              </a:rPr>
              <a:t>L</a:t>
            </a:r>
            <a:r>
              <a:rPr sz="2800" b="1" spc="-7" dirty="0">
                <a:latin typeface="Times New Roman" panose="02020603050405020304"/>
                <a:cs typeface="Times New Roman" panose="02020603050405020304"/>
              </a:rPr>
              <a:t>,</a:t>
            </a:r>
            <a:r>
              <a:rPr sz="2800" b="1" spc="-7" dirty="0">
                <a:latin typeface="Symbol" panose="05050102010706020507"/>
                <a:cs typeface="Symbol" panose="05050102010706020507"/>
              </a:rPr>
              <a:t></a:t>
            </a:r>
            <a:r>
              <a:rPr sz="2800" b="1" i="1" spc="-9" baseline="-21000" dirty="0">
                <a:latin typeface="Times New Roman" panose="02020603050405020304"/>
                <a:cs typeface="Times New Roman" panose="02020603050405020304"/>
              </a:rPr>
              <a:t>R</a:t>
            </a:r>
            <a:r>
              <a:rPr sz="2800" b="1" spc="-7" dirty="0">
                <a:latin typeface="Times New Roman" panose="02020603050405020304"/>
                <a:cs typeface="Times New Roman" panose="02020603050405020304"/>
              </a:rPr>
              <a:t>)</a:t>
            </a:r>
            <a:r>
              <a:rPr lang="en-US" sz="2800" b="1" spc="-7" dirty="0">
                <a:latin typeface="Times New Roman" panose="02020603050405020304"/>
                <a:cs typeface="Times New Roman" panose="02020603050405020304"/>
              </a:rPr>
              <a:t> </a:t>
            </a:r>
            <a:r>
              <a:rPr sz="2800" b="1" spc="-7" dirty="0">
                <a:latin typeface="Times New Roman" panose="02020603050405020304"/>
                <a:cs typeface="Times New Roman" panose="02020603050405020304"/>
              </a:rPr>
              <a:t>//</a:t>
            </a:r>
            <a:r>
              <a:rPr sz="2800" b="1" spc="-7" dirty="0">
                <a:latin typeface="Symbol" panose="05050102010706020507"/>
                <a:cs typeface="Symbol" panose="05050102010706020507"/>
              </a:rPr>
              <a:t></a:t>
            </a:r>
            <a:r>
              <a:rPr sz="2800" b="1" i="1" spc="-9" baseline="-21000" dirty="0">
                <a:latin typeface="Times New Roman" panose="02020603050405020304"/>
                <a:cs typeface="Times New Roman" panose="02020603050405020304"/>
              </a:rPr>
              <a:t>L</a:t>
            </a:r>
            <a:r>
              <a:rPr sz="2800" b="1" spc="-7" dirty="0">
                <a:latin typeface="Times New Roman" panose="02020603050405020304"/>
                <a:cs typeface="Times New Roman" panose="02020603050405020304"/>
              </a:rPr>
              <a:t>,</a:t>
            </a:r>
            <a:r>
              <a:rPr sz="2800" b="1" spc="-7" dirty="0">
                <a:latin typeface="Symbol" panose="05050102010706020507"/>
                <a:cs typeface="Symbol" panose="05050102010706020507"/>
              </a:rPr>
              <a:t></a:t>
            </a:r>
            <a:r>
              <a:rPr sz="2800" b="1" i="1" spc="-9" baseline="-21000" dirty="0">
                <a:latin typeface="Times New Roman" panose="02020603050405020304"/>
                <a:cs typeface="Times New Roman" panose="02020603050405020304"/>
              </a:rPr>
              <a:t>R</a:t>
            </a:r>
            <a:r>
              <a:rPr sz="2800" b="1" dirty="0">
                <a:latin typeface="宋体" panose="02010600030101010101" pitchFamily="2" charset="-122"/>
                <a:cs typeface="宋体" panose="02010600030101010101" pitchFamily="2" charset="-122"/>
              </a:rPr>
              <a:t>为子问题的距离</a:t>
            </a:r>
            <a:endParaRPr sz="2800" dirty="0">
              <a:latin typeface="宋体" panose="02010600030101010101" pitchFamily="2" charset="-122"/>
              <a:cs typeface="宋体" panose="02010600030101010101" pitchFamily="2" charset="-122"/>
            </a:endParaRPr>
          </a:p>
          <a:p>
            <a:pPr marL="573405" indent="-407035">
              <a:buFont typeface="Times New Roman" panose="02020603050405020304"/>
              <a:buAutoNum type="arabicPeriod"/>
              <a:tabLst>
                <a:tab pos="573405" algn="l"/>
              </a:tabLst>
            </a:pPr>
            <a:r>
              <a:rPr sz="2800" b="1" dirty="0">
                <a:latin typeface="宋体" panose="02010600030101010101" pitchFamily="2" charset="-122"/>
                <a:cs typeface="宋体" panose="02010600030101010101" pitchFamily="2" charset="-122"/>
              </a:rPr>
              <a:t>检查</a:t>
            </a:r>
            <a:r>
              <a:rPr sz="2800" b="1" i="1" dirty="0">
                <a:latin typeface="Times New Roman" panose="02020603050405020304"/>
                <a:cs typeface="Times New Roman" panose="02020603050405020304"/>
                <a:sym typeface="+mn-ea"/>
              </a:rPr>
              <a:t>l</a:t>
            </a:r>
            <a:r>
              <a:rPr sz="2800" b="1" i="1" spc="-20" dirty="0">
                <a:latin typeface="Times New Roman" panose="02020603050405020304"/>
                <a:cs typeface="Times New Roman" panose="02020603050405020304"/>
                <a:sym typeface="+mn-ea"/>
              </a:rPr>
              <a:t> </a:t>
            </a:r>
            <a:r>
              <a:rPr lang="zh-CN" sz="2800" b="1" spc="-20" dirty="0">
                <a:latin typeface="Times New Roman" panose="02020603050405020304"/>
                <a:cs typeface="Times New Roman" panose="02020603050405020304"/>
                <a:sym typeface="+mn-ea"/>
              </a:rPr>
              <a:t>左边距离</a:t>
            </a:r>
            <a:r>
              <a:rPr sz="2800" b="1" spc="-7" dirty="0">
                <a:latin typeface="Symbol" panose="05050102010706020507"/>
                <a:cs typeface="Symbol" panose="05050102010706020507"/>
                <a:sym typeface="+mn-ea"/>
              </a:rPr>
              <a:t></a:t>
            </a:r>
            <a:r>
              <a:rPr lang="zh-CN" sz="2800" b="1" spc="-7" dirty="0">
                <a:latin typeface="Symbol" panose="05050102010706020507"/>
                <a:cs typeface="Symbol" panose="05050102010706020507"/>
                <a:sym typeface="+mn-ea"/>
              </a:rPr>
              <a:t>范围内的每个点，检查</a:t>
            </a:r>
            <a:r>
              <a:rPr sz="2800" b="1" i="1" dirty="0">
                <a:latin typeface="Times New Roman" panose="02020603050405020304"/>
                <a:cs typeface="Times New Roman" panose="02020603050405020304"/>
                <a:sym typeface="+mn-ea"/>
              </a:rPr>
              <a:t>l</a:t>
            </a:r>
            <a:r>
              <a:rPr lang="zh-CN" sz="2800" b="1" dirty="0">
                <a:latin typeface="Times New Roman" panose="02020603050405020304"/>
                <a:cs typeface="Times New Roman" panose="02020603050405020304"/>
                <a:sym typeface="+mn-ea"/>
              </a:rPr>
              <a:t>右边是否有点与它的距离小于</a:t>
            </a:r>
            <a:r>
              <a:rPr lang="zh-CN" altLang="en-US" sz="2800" b="1" spc="-20" dirty="0">
                <a:latin typeface="Symbol" panose="05050102010706020507"/>
                <a:cs typeface="Symbol" panose="05050102010706020507"/>
                <a:sym typeface="+mn-ea"/>
              </a:rPr>
              <a:t></a:t>
            </a:r>
            <a:r>
              <a:rPr lang="en-US" altLang="zh-CN" sz="2800" b="1" dirty="0">
                <a:latin typeface="Times New Roman" panose="02020603050405020304"/>
                <a:cs typeface="Times New Roman" panose="02020603050405020304"/>
              </a:rPr>
              <a:t>. </a:t>
            </a:r>
            <a:r>
              <a:rPr lang="zh-CN" altLang="en-US" sz="2800" b="1" dirty="0">
                <a:latin typeface="Times New Roman" panose="02020603050405020304"/>
                <a:cs typeface="Times New Roman" panose="02020603050405020304"/>
              </a:rPr>
              <a:t>如果存在将</a:t>
            </a:r>
            <a:r>
              <a:rPr lang="zh-CN" altLang="en-US" sz="2800" b="1" spc="-20" dirty="0">
                <a:latin typeface="Symbol" panose="05050102010706020507"/>
                <a:cs typeface="Symbol" panose="05050102010706020507"/>
              </a:rPr>
              <a:t>修改</a:t>
            </a:r>
            <a:r>
              <a:rPr lang="zh-CN" altLang="en-US" sz="2800" b="1" spc="-7" dirty="0">
                <a:latin typeface="宋体" panose="02010600030101010101" pitchFamily="2" charset="-122"/>
                <a:ea typeface="宋体" panose="02010600030101010101" pitchFamily="2" charset="-122"/>
                <a:cs typeface="宋体" panose="02010600030101010101" pitchFamily="2" charset="-122"/>
              </a:rPr>
              <a:t>为新值。</a:t>
            </a:r>
            <a:endParaRPr sz="2800" b="1" spc="-7"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82596" y="2046480"/>
            <a:ext cx="47413" cy="33867"/>
          </a:xfrm>
          <a:custGeom>
            <a:avLst/>
            <a:gdLst/>
            <a:ahLst/>
            <a:cxnLst/>
            <a:rect l="l" t="t" r="r" b="b"/>
            <a:pathLst>
              <a:path w="35559" h="25400">
                <a:moveTo>
                  <a:pt x="0" y="25101"/>
                </a:moveTo>
                <a:lnTo>
                  <a:pt x="35266" y="0"/>
                </a:lnTo>
              </a:path>
            </a:pathLst>
          </a:custGeom>
          <a:ln w="13088">
            <a:solidFill>
              <a:srgbClr val="000000"/>
            </a:solidFill>
          </a:ln>
        </p:spPr>
        <p:txBody>
          <a:bodyPr wrap="square" lIns="0" tIns="0" rIns="0" bIns="0" rtlCol="0"/>
          <a:lstStyle/>
          <a:p>
            <a:endParaRPr sz="2400"/>
          </a:p>
        </p:txBody>
      </p:sp>
      <p:sp>
        <p:nvSpPr>
          <p:cNvPr id="3" name="object 3"/>
          <p:cNvSpPr/>
          <p:nvPr/>
        </p:nvSpPr>
        <p:spPr>
          <a:xfrm>
            <a:off x="1229618" y="2055783"/>
            <a:ext cx="69425" cy="215053"/>
          </a:xfrm>
          <a:custGeom>
            <a:avLst/>
            <a:gdLst/>
            <a:ahLst/>
            <a:cxnLst/>
            <a:rect l="l" t="t" r="r" b="b"/>
            <a:pathLst>
              <a:path w="52069" h="161290">
                <a:moveTo>
                  <a:pt x="0" y="0"/>
                </a:moveTo>
                <a:lnTo>
                  <a:pt x="51744" y="161213"/>
                </a:lnTo>
              </a:path>
            </a:pathLst>
          </a:custGeom>
          <a:ln w="23810">
            <a:solidFill>
              <a:srgbClr val="000000"/>
            </a:solidFill>
          </a:ln>
        </p:spPr>
        <p:txBody>
          <a:bodyPr wrap="square" lIns="0" tIns="0" rIns="0" bIns="0" rtlCol="0"/>
          <a:lstStyle/>
          <a:p>
            <a:endParaRPr sz="2400"/>
          </a:p>
        </p:txBody>
      </p:sp>
      <p:sp>
        <p:nvSpPr>
          <p:cNvPr id="4" name="object 4"/>
          <p:cNvSpPr/>
          <p:nvPr/>
        </p:nvSpPr>
        <p:spPr>
          <a:xfrm>
            <a:off x="1306187" y="1657494"/>
            <a:ext cx="91440" cy="613833"/>
          </a:xfrm>
          <a:custGeom>
            <a:avLst/>
            <a:gdLst/>
            <a:ahLst/>
            <a:cxnLst/>
            <a:rect l="l" t="t" r="r" b="b"/>
            <a:pathLst>
              <a:path w="68580" h="460375">
                <a:moveTo>
                  <a:pt x="0" y="459930"/>
                </a:moveTo>
                <a:lnTo>
                  <a:pt x="68244" y="0"/>
                </a:lnTo>
              </a:path>
            </a:pathLst>
          </a:custGeom>
          <a:ln w="11428">
            <a:solidFill>
              <a:srgbClr val="000000"/>
            </a:solidFill>
          </a:ln>
        </p:spPr>
        <p:txBody>
          <a:bodyPr wrap="square" lIns="0" tIns="0" rIns="0" bIns="0" rtlCol="0"/>
          <a:lstStyle/>
          <a:p>
            <a:endParaRPr sz="2400"/>
          </a:p>
        </p:txBody>
      </p:sp>
      <p:sp>
        <p:nvSpPr>
          <p:cNvPr id="5" name="object 5"/>
          <p:cNvSpPr/>
          <p:nvPr/>
        </p:nvSpPr>
        <p:spPr>
          <a:xfrm>
            <a:off x="1397184" y="1657490"/>
            <a:ext cx="2699173" cy="0"/>
          </a:xfrm>
          <a:custGeom>
            <a:avLst/>
            <a:gdLst/>
            <a:ahLst/>
            <a:cxnLst/>
            <a:rect l="l" t="t" r="r" b="b"/>
            <a:pathLst>
              <a:path w="2024380">
                <a:moveTo>
                  <a:pt x="0" y="0"/>
                </a:moveTo>
                <a:lnTo>
                  <a:pt x="2024371" y="0"/>
                </a:lnTo>
              </a:path>
            </a:pathLst>
          </a:custGeom>
          <a:ln w="13958">
            <a:solidFill>
              <a:srgbClr val="000000"/>
            </a:solidFill>
          </a:ln>
        </p:spPr>
        <p:txBody>
          <a:bodyPr wrap="square" lIns="0" tIns="0" rIns="0" bIns="0" rtlCol="0"/>
          <a:lstStyle/>
          <a:p>
            <a:endParaRPr sz="2400"/>
          </a:p>
        </p:txBody>
      </p:sp>
      <p:sp>
        <p:nvSpPr>
          <p:cNvPr id="6" name="object 6"/>
          <p:cNvSpPr/>
          <p:nvPr/>
        </p:nvSpPr>
        <p:spPr>
          <a:xfrm>
            <a:off x="1252359" y="2859732"/>
            <a:ext cx="47413" cy="33020"/>
          </a:xfrm>
          <a:custGeom>
            <a:avLst/>
            <a:gdLst/>
            <a:ahLst/>
            <a:cxnLst/>
            <a:rect l="l" t="t" r="r" b="b"/>
            <a:pathLst>
              <a:path w="35559" h="24764">
                <a:moveTo>
                  <a:pt x="0" y="24448"/>
                </a:moveTo>
                <a:lnTo>
                  <a:pt x="35266" y="0"/>
                </a:lnTo>
              </a:path>
            </a:pathLst>
          </a:custGeom>
          <a:ln w="13119">
            <a:solidFill>
              <a:srgbClr val="000000"/>
            </a:solidFill>
          </a:ln>
        </p:spPr>
        <p:txBody>
          <a:bodyPr wrap="square" lIns="0" tIns="0" rIns="0" bIns="0" rtlCol="0"/>
          <a:lstStyle/>
          <a:p>
            <a:endParaRPr sz="2400"/>
          </a:p>
        </p:txBody>
      </p:sp>
      <p:sp>
        <p:nvSpPr>
          <p:cNvPr id="7" name="object 7"/>
          <p:cNvSpPr/>
          <p:nvPr/>
        </p:nvSpPr>
        <p:spPr>
          <a:xfrm>
            <a:off x="1299381" y="2869077"/>
            <a:ext cx="69425" cy="178647"/>
          </a:xfrm>
          <a:custGeom>
            <a:avLst/>
            <a:gdLst/>
            <a:ahLst/>
            <a:cxnLst/>
            <a:rect l="l" t="t" r="r" b="b"/>
            <a:pathLst>
              <a:path w="52069" h="133985">
                <a:moveTo>
                  <a:pt x="0" y="0"/>
                </a:moveTo>
                <a:lnTo>
                  <a:pt x="51744" y="133985"/>
                </a:lnTo>
              </a:path>
            </a:pathLst>
          </a:custGeom>
          <a:ln w="24003">
            <a:solidFill>
              <a:srgbClr val="000000"/>
            </a:solidFill>
          </a:ln>
        </p:spPr>
        <p:txBody>
          <a:bodyPr wrap="square" lIns="0" tIns="0" rIns="0" bIns="0" rtlCol="0"/>
          <a:lstStyle/>
          <a:p>
            <a:endParaRPr sz="2400"/>
          </a:p>
        </p:txBody>
      </p:sp>
      <p:sp>
        <p:nvSpPr>
          <p:cNvPr id="8" name="object 8"/>
          <p:cNvSpPr/>
          <p:nvPr/>
        </p:nvSpPr>
        <p:spPr>
          <a:xfrm>
            <a:off x="1375950" y="2526605"/>
            <a:ext cx="91440" cy="521547"/>
          </a:xfrm>
          <a:custGeom>
            <a:avLst/>
            <a:gdLst/>
            <a:ahLst/>
            <a:cxnLst/>
            <a:rect l="l" t="t" r="r" b="b"/>
            <a:pathLst>
              <a:path w="68580" h="391160">
                <a:moveTo>
                  <a:pt x="0" y="390838"/>
                </a:moveTo>
                <a:lnTo>
                  <a:pt x="68244" y="0"/>
                </a:lnTo>
              </a:path>
            </a:pathLst>
          </a:custGeom>
          <a:ln w="11449">
            <a:solidFill>
              <a:srgbClr val="000000"/>
            </a:solidFill>
          </a:ln>
        </p:spPr>
        <p:txBody>
          <a:bodyPr wrap="square" lIns="0" tIns="0" rIns="0" bIns="0" rtlCol="0"/>
          <a:lstStyle/>
          <a:p>
            <a:endParaRPr sz="2400"/>
          </a:p>
        </p:txBody>
      </p:sp>
      <p:sp>
        <p:nvSpPr>
          <p:cNvPr id="9" name="object 9"/>
          <p:cNvSpPr/>
          <p:nvPr/>
        </p:nvSpPr>
        <p:spPr>
          <a:xfrm>
            <a:off x="1466946" y="2526602"/>
            <a:ext cx="2060787" cy="0"/>
          </a:xfrm>
          <a:custGeom>
            <a:avLst/>
            <a:gdLst/>
            <a:ahLst/>
            <a:cxnLst/>
            <a:rect l="l" t="t" r="r" b="b"/>
            <a:pathLst>
              <a:path w="1545589">
                <a:moveTo>
                  <a:pt x="0" y="0"/>
                </a:moveTo>
                <a:lnTo>
                  <a:pt x="1545040" y="0"/>
                </a:lnTo>
              </a:path>
            </a:pathLst>
          </a:custGeom>
          <a:ln w="13958">
            <a:solidFill>
              <a:srgbClr val="000000"/>
            </a:solidFill>
          </a:ln>
        </p:spPr>
        <p:txBody>
          <a:bodyPr wrap="square" lIns="0" tIns="0" rIns="0" bIns="0" rtlCol="0"/>
          <a:lstStyle/>
          <a:p>
            <a:endParaRPr sz="2400"/>
          </a:p>
        </p:txBody>
      </p:sp>
      <p:sp>
        <p:nvSpPr>
          <p:cNvPr id="10" name="object 10"/>
          <p:cNvSpPr/>
          <p:nvPr/>
        </p:nvSpPr>
        <p:spPr>
          <a:xfrm>
            <a:off x="1252359" y="3690720"/>
            <a:ext cx="47413" cy="33020"/>
          </a:xfrm>
          <a:custGeom>
            <a:avLst/>
            <a:gdLst/>
            <a:ahLst/>
            <a:cxnLst/>
            <a:rect l="l" t="t" r="r" b="b"/>
            <a:pathLst>
              <a:path w="35559" h="24764">
                <a:moveTo>
                  <a:pt x="0" y="24426"/>
                </a:moveTo>
                <a:lnTo>
                  <a:pt x="35266" y="0"/>
                </a:lnTo>
              </a:path>
            </a:pathLst>
          </a:custGeom>
          <a:ln w="13120">
            <a:solidFill>
              <a:srgbClr val="000000"/>
            </a:solidFill>
          </a:ln>
        </p:spPr>
        <p:txBody>
          <a:bodyPr wrap="square" lIns="0" tIns="0" rIns="0" bIns="0" rtlCol="0"/>
          <a:lstStyle/>
          <a:p>
            <a:endParaRPr sz="2400"/>
          </a:p>
        </p:txBody>
      </p:sp>
      <p:sp>
        <p:nvSpPr>
          <p:cNvPr id="11" name="object 11"/>
          <p:cNvSpPr/>
          <p:nvPr/>
        </p:nvSpPr>
        <p:spPr>
          <a:xfrm>
            <a:off x="1299381" y="3700030"/>
            <a:ext cx="69425" cy="179493"/>
          </a:xfrm>
          <a:custGeom>
            <a:avLst/>
            <a:gdLst/>
            <a:ahLst/>
            <a:cxnLst/>
            <a:rect l="l" t="t" r="r" b="b"/>
            <a:pathLst>
              <a:path w="52069" h="134619">
                <a:moveTo>
                  <a:pt x="0" y="0"/>
                </a:moveTo>
                <a:lnTo>
                  <a:pt x="51744" y="133997"/>
                </a:lnTo>
              </a:path>
            </a:pathLst>
          </a:custGeom>
          <a:ln w="24003">
            <a:solidFill>
              <a:srgbClr val="000000"/>
            </a:solidFill>
          </a:ln>
        </p:spPr>
        <p:txBody>
          <a:bodyPr wrap="square" lIns="0" tIns="0" rIns="0" bIns="0" rtlCol="0"/>
          <a:lstStyle/>
          <a:p>
            <a:endParaRPr sz="2400"/>
          </a:p>
        </p:txBody>
      </p:sp>
      <p:sp>
        <p:nvSpPr>
          <p:cNvPr id="12" name="object 12"/>
          <p:cNvSpPr/>
          <p:nvPr/>
        </p:nvSpPr>
        <p:spPr>
          <a:xfrm>
            <a:off x="1375950" y="3356652"/>
            <a:ext cx="91440" cy="522393"/>
          </a:xfrm>
          <a:custGeom>
            <a:avLst/>
            <a:gdLst/>
            <a:ahLst/>
            <a:cxnLst/>
            <a:rect l="l" t="t" r="r" b="b"/>
            <a:pathLst>
              <a:path w="68580" h="391794">
                <a:moveTo>
                  <a:pt x="0" y="391530"/>
                </a:moveTo>
                <a:lnTo>
                  <a:pt x="68244" y="0"/>
                </a:lnTo>
              </a:path>
            </a:pathLst>
          </a:custGeom>
          <a:ln w="11449">
            <a:solidFill>
              <a:srgbClr val="000000"/>
            </a:solidFill>
          </a:ln>
        </p:spPr>
        <p:txBody>
          <a:bodyPr wrap="square" lIns="0" tIns="0" rIns="0" bIns="0" rtlCol="0"/>
          <a:lstStyle/>
          <a:p>
            <a:endParaRPr sz="2400"/>
          </a:p>
        </p:txBody>
      </p:sp>
      <p:sp>
        <p:nvSpPr>
          <p:cNvPr id="13" name="object 13"/>
          <p:cNvSpPr/>
          <p:nvPr/>
        </p:nvSpPr>
        <p:spPr>
          <a:xfrm>
            <a:off x="1466946" y="3356648"/>
            <a:ext cx="1298787" cy="0"/>
          </a:xfrm>
          <a:custGeom>
            <a:avLst/>
            <a:gdLst/>
            <a:ahLst/>
            <a:cxnLst/>
            <a:rect l="l" t="t" r="r" b="b"/>
            <a:pathLst>
              <a:path w="974089">
                <a:moveTo>
                  <a:pt x="0" y="0"/>
                </a:moveTo>
                <a:lnTo>
                  <a:pt x="973545" y="0"/>
                </a:lnTo>
              </a:path>
            </a:pathLst>
          </a:custGeom>
          <a:ln w="13958">
            <a:solidFill>
              <a:srgbClr val="000000"/>
            </a:solidFill>
          </a:ln>
        </p:spPr>
        <p:txBody>
          <a:bodyPr wrap="square" lIns="0" tIns="0" rIns="0" bIns="0" rtlCol="0"/>
          <a:lstStyle/>
          <a:p>
            <a:endParaRPr sz="2400"/>
          </a:p>
        </p:txBody>
      </p:sp>
      <p:sp>
        <p:nvSpPr>
          <p:cNvPr id="14" name="object 14"/>
          <p:cNvSpPr txBox="1"/>
          <p:nvPr/>
        </p:nvSpPr>
        <p:spPr>
          <a:xfrm>
            <a:off x="886149" y="2534179"/>
            <a:ext cx="2678007" cy="585695"/>
          </a:xfrm>
          <a:prstGeom prst="rect">
            <a:avLst/>
          </a:prstGeom>
        </p:spPr>
        <p:txBody>
          <a:bodyPr vert="horz" wrap="square" lIns="0" tIns="21167" rIns="0" bIns="0" rtlCol="0">
            <a:spAutoFit/>
          </a:bodyPr>
          <a:lstStyle/>
          <a:p>
            <a:pPr marL="50800">
              <a:spcBef>
                <a:spcPts val="165"/>
              </a:spcBef>
              <a:tabLst>
                <a:tab pos="579755" algn="l"/>
              </a:tabLst>
            </a:pPr>
            <a:r>
              <a:rPr sz="3535" spc="-347" dirty="0">
                <a:latin typeface="Symbol" panose="05050102010706020507"/>
                <a:cs typeface="Symbol" panose="05050102010706020507"/>
              </a:rPr>
              <a:t></a:t>
            </a:r>
            <a:r>
              <a:rPr sz="3535" spc="-347" dirty="0">
                <a:latin typeface="Times New Roman" panose="02020603050405020304"/>
                <a:cs typeface="Times New Roman" panose="02020603050405020304"/>
              </a:rPr>
              <a:t>	</a:t>
            </a:r>
            <a:r>
              <a:rPr sz="3665" i="1" spc="-373" dirty="0">
                <a:latin typeface="Symbol" panose="05050102010706020507"/>
                <a:cs typeface="Symbol" panose="05050102010706020507"/>
              </a:rPr>
              <a:t></a:t>
            </a:r>
            <a:r>
              <a:rPr sz="3665" i="1" spc="-373" dirty="0">
                <a:latin typeface="Times New Roman" panose="02020603050405020304"/>
                <a:cs typeface="Times New Roman" panose="02020603050405020304"/>
              </a:rPr>
              <a:t> </a:t>
            </a:r>
            <a:r>
              <a:rPr sz="3100" b="1" spc="-279" baseline="43000" dirty="0">
                <a:latin typeface="Times New Roman" panose="02020603050405020304"/>
                <a:cs typeface="Times New Roman" panose="02020603050405020304"/>
              </a:rPr>
              <a:t>2 </a:t>
            </a:r>
            <a:r>
              <a:rPr sz="3535" b="1" spc="-147" dirty="0">
                <a:latin typeface="Times New Roman" panose="02020603050405020304"/>
                <a:cs typeface="Times New Roman" panose="02020603050405020304"/>
              </a:rPr>
              <a:t>/4 </a:t>
            </a:r>
            <a:r>
              <a:rPr sz="3535" spc="-347" dirty="0">
                <a:latin typeface="Symbol" panose="05050102010706020507"/>
                <a:cs typeface="Symbol" panose="05050102010706020507"/>
              </a:rPr>
              <a:t></a:t>
            </a:r>
            <a:r>
              <a:rPr sz="3535" spc="-347" dirty="0">
                <a:latin typeface="Times New Roman" panose="02020603050405020304"/>
                <a:cs typeface="Times New Roman" panose="02020603050405020304"/>
              </a:rPr>
              <a:t> </a:t>
            </a:r>
            <a:r>
              <a:rPr sz="3535" b="1" spc="-413" dirty="0">
                <a:latin typeface="Times New Roman" panose="02020603050405020304"/>
                <a:cs typeface="Times New Roman" panose="02020603050405020304"/>
              </a:rPr>
              <a:t>4</a:t>
            </a:r>
            <a:r>
              <a:rPr sz="3665" i="1" spc="-413" dirty="0">
                <a:latin typeface="Symbol" panose="05050102010706020507"/>
                <a:cs typeface="Symbol" panose="05050102010706020507"/>
              </a:rPr>
              <a:t></a:t>
            </a:r>
            <a:r>
              <a:rPr sz="3665" i="1" spc="-413" dirty="0">
                <a:latin typeface="Times New Roman" panose="02020603050405020304"/>
                <a:cs typeface="Times New Roman" panose="02020603050405020304"/>
              </a:rPr>
              <a:t> </a:t>
            </a:r>
            <a:r>
              <a:rPr sz="3100" b="1" spc="-279" baseline="43000" dirty="0">
                <a:latin typeface="Times New Roman" panose="02020603050405020304"/>
                <a:cs typeface="Times New Roman" panose="02020603050405020304"/>
              </a:rPr>
              <a:t>2 </a:t>
            </a:r>
            <a:r>
              <a:rPr sz="3535" b="1" spc="-173" dirty="0">
                <a:latin typeface="Times New Roman" panose="02020603050405020304"/>
                <a:cs typeface="Times New Roman" panose="02020603050405020304"/>
              </a:rPr>
              <a:t>/</a:t>
            </a:r>
            <a:r>
              <a:rPr sz="3535" b="1" spc="-420" dirty="0">
                <a:latin typeface="Times New Roman" panose="02020603050405020304"/>
                <a:cs typeface="Times New Roman" panose="02020603050405020304"/>
              </a:rPr>
              <a:t> </a:t>
            </a:r>
            <a:r>
              <a:rPr sz="3535" b="1" spc="-313" dirty="0">
                <a:latin typeface="Times New Roman" panose="02020603050405020304"/>
                <a:cs typeface="Times New Roman" panose="02020603050405020304"/>
              </a:rPr>
              <a:t>9</a:t>
            </a:r>
            <a:endParaRPr sz="3535" dirty="0">
              <a:latin typeface="Times New Roman" panose="02020603050405020304"/>
              <a:cs typeface="Times New Roman" panose="02020603050405020304"/>
            </a:endParaRPr>
          </a:p>
        </p:txBody>
      </p:sp>
      <p:sp>
        <p:nvSpPr>
          <p:cNvPr id="15" name="object 15"/>
          <p:cNvSpPr txBox="1"/>
          <p:nvPr/>
        </p:nvSpPr>
        <p:spPr>
          <a:xfrm>
            <a:off x="508557" y="1665068"/>
            <a:ext cx="3583093" cy="585695"/>
          </a:xfrm>
          <a:prstGeom prst="rect">
            <a:avLst/>
          </a:prstGeom>
        </p:spPr>
        <p:txBody>
          <a:bodyPr vert="horz" wrap="square" lIns="0" tIns="21167" rIns="0" bIns="0" rtlCol="0">
            <a:spAutoFit/>
          </a:bodyPr>
          <a:lstStyle/>
          <a:p>
            <a:pPr marL="50800">
              <a:spcBef>
                <a:spcPts val="165"/>
              </a:spcBef>
              <a:tabLst>
                <a:tab pos="898525" algn="l"/>
              </a:tabLst>
            </a:pPr>
            <a:r>
              <a:rPr sz="3535" b="1" i="1" spc="-313" dirty="0">
                <a:latin typeface="Times New Roman" panose="02020603050405020304"/>
                <a:cs typeface="Times New Roman" panose="02020603050405020304"/>
              </a:rPr>
              <a:t>d</a:t>
            </a:r>
            <a:r>
              <a:rPr sz="3535" b="1" i="1" spc="80" dirty="0">
                <a:latin typeface="Times New Roman" panose="02020603050405020304"/>
                <a:cs typeface="Times New Roman" panose="02020603050405020304"/>
              </a:rPr>
              <a:t> </a:t>
            </a:r>
            <a:r>
              <a:rPr sz="3535" spc="-347" dirty="0">
                <a:latin typeface="Symbol" panose="05050102010706020507"/>
                <a:cs typeface="Symbol" panose="05050102010706020507"/>
              </a:rPr>
              <a:t></a:t>
            </a:r>
            <a:r>
              <a:rPr sz="3535" spc="-347" dirty="0">
                <a:latin typeface="Times New Roman" panose="02020603050405020304"/>
                <a:cs typeface="Times New Roman" panose="02020603050405020304"/>
              </a:rPr>
              <a:t>	</a:t>
            </a:r>
            <a:r>
              <a:rPr sz="3535" b="1" spc="-320" dirty="0">
                <a:latin typeface="Times New Roman" panose="02020603050405020304"/>
                <a:cs typeface="Times New Roman" panose="02020603050405020304"/>
              </a:rPr>
              <a:t>(</a:t>
            </a:r>
            <a:r>
              <a:rPr sz="3665" i="1" spc="-320" dirty="0">
                <a:latin typeface="Symbol" panose="05050102010706020507"/>
                <a:cs typeface="Symbol" panose="05050102010706020507"/>
              </a:rPr>
              <a:t></a:t>
            </a:r>
            <a:r>
              <a:rPr sz="3665" i="1" spc="-320" dirty="0">
                <a:latin typeface="Times New Roman" panose="02020603050405020304"/>
                <a:cs typeface="Times New Roman" panose="02020603050405020304"/>
              </a:rPr>
              <a:t> </a:t>
            </a:r>
            <a:r>
              <a:rPr sz="3535" b="1" spc="-173" dirty="0">
                <a:latin typeface="Times New Roman" panose="02020603050405020304"/>
                <a:cs typeface="Times New Roman" panose="02020603050405020304"/>
              </a:rPr>
              <a:t>/ </a:t>
            </a:r>
            <a:r>
              <a:rPr sz="3535" b="1" spc="-187" dirty="0">
                <a:latin typeface="Times New Roman" panose="02020603050405020304"/>
                <a:cs typeface="Times New Roman" panose="02020603050405020304"/>
              </a:rPr>
              <a:t>2)</a:t>
            </a:r>
            <a:r>
              <a:rPr sz="3100" b="1" spc="-279" baseline="43000" dirty="0">
                <a:latin typeface="Times New Roman" panose="02020603050405020304"/>
                <a:cs typeface="Times New Roman" panose="02020603050405020304"/>
              </a:rPr>
              <a:t>2 </a:t>
            </a:r>
            <a:r>
              <a:rPr sz="3535" spc="-347" dirty="0">
                <a:latin typeface="Symbol" panose="05050102010706020507"/>
                <a:cs typeface="Symbol" panose="05050102010706020507"/>
              </a:rPr>
              <a:t></a:t>
            </a:r>
            <a:r>
              <a:rPr sz="3535" spc="-347" dirty="0">
                <a:latin typeface="Times New Roman" panose="02020603050405020304"/>
                <a:cs typeface="Times New Roman" panose="02020603050405020304"/>
              </a:rPr>
              <a:t> </a:t>
            </a:r>
            <a:r>
              <a:rPr sz="3535" b="1" spc="-300" dirty="0">
                <a:latin typeface="Times New Roman" panose="02020603050405020304"/>
                <a:cs typeface="Times New Roman" panose="02020603050405020304"/>
              </a:rPr>
              <a:t>(2</a:t>
            </a:r>
            <a:r>
              <a:rPr sz="3665" i="1" spc="-300" dirty="0">
                <a:latin typeface="Symbol" panose="05050102010706020507"/>
                <a:cs typeface="Symbol" panose="05050102010706020507"/>
              </a:rPr>
              <a:t></a:t>
            </a:r>
            <a:r>
              <a:rPr sz="3665" i="1" spc="-300" dirty="0">
                <a:latin typeface="Times New Roman" panose="02020603050405020304"/>
                <a:cs typeface="Times New Roman" panose="02020603050405020304"/>
              </a:rPr>
              <a:t> </a:t>
            </a:r>
            <a:r>
              <a:rPr sz="3535" b="1" spc="-173" dirty="0">
                <a:latin typeface="Times New Roman" panose="02020603050405020304"/>
                <a:cs typeface="Times New Roman" panose="02020603050405020304"/>
              </a:rPr>
              <a:t>/</a:t>
            </a:r>
            <a:r>
              <a:rPr sz="3535" b="1" spc="-272" dirty="0">
                <a:latin typeface="Times New Roman" panose="02020603050405020304"/>
                <a:cs typeface="Times New Roman" panose="02020603050405020304"/>
              </a:rPr>
              <a:t> </a:t>
            </a:r>
            <a:r>
              <a:rPr sz="3535" b="1" spc="-187" dirty="0">
                <a:latin typeface="Times New Roman" panose="02020603050405020304"/>
                <a:cs typeface="Times New Roman" panose="02020603050405020304"/>
              </a:rPr>
              <a:t>3)</a:t>
            </a:r>
            <a:r>
              <a:rPr sz="3100" b="1" spc="-279" baseline="43000" dirty="0">
                <a:latin typeface="Times New Roman" panose="02020603050405020304"/>
                <a:cs typeface="Times New Roman" panose="02020603050405020304"/>
              </a:rPr>
              <a:t>2</a:t>
            </a:r>
            <a:endParaRPr sz="3100" baseline="43000" dirty="0">
              <a:latin typeface="Times New Roman" panose="02020603050405020304"/>
              <a:cs typeface="Times New Roman" panose="02020603050405020304"/>
            </a:endParaRPr>
          </a:p>
        </p:txBody>
      </p:sp>
      <p:sp>
        <p:nvSpPr>
          <p:cNvPr id="16" name="object 16"/>
          <p:cNvSpPr txBox="1">
            <a:spLocks noGrp="1"/>
          </p:cNvSpPr>
          <p:nvPr>
            <p:ph type="title"/>
          </p:nvPr>
        </p:nvSpPr>
        <p:spPr>
          <a:xfrm>
            <a:off x="114334" y="123157"/>
            <a:ext cx="8878169"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20" dirty="0">
                <a:solidFill>
                  <a:srgbClr val="C00000"/>
                </a:solidFill>
                <a:latin typeface="黑体" panose="02010609060101010101" pitchFamily="49" charset="-122"/>
                <a:ea typeface="黑体" panose="02010609060101010101" pitchFamily="49" charset="-122"/>
              </a:rPr>
              <a:t>跨边界处理</a:t>
            </a:r>
            <a:endParaRPr sz="4400" b="1" spc="-20" dirty="0">
              <a:solidFill>
                <a:srgbClr val="C00000"/>
              </a:solidFill>
              <a:latin typeface="黑体" panose="02010609060101010101" pitchFamily="49" charset="-122"/>
              <a:ea typeface="黑体" panose="02010609060101010101" pitchFamily="49" charset="-122"/>
            </a:endParaRPr>
          </a:p>
        </p:txBody>
      </p:sp>
      <p:sp>
        <p:nvSpPr>
          <p:cNvPr id="17" name="object 17"/>
          <p:cNvSpPr txBox="1"/>
          <p:nvPr/>
        </p:nvSpPr>
        <p:spPr>
          <a:xfrm>
            <a:off x="699843" y="3212745"/>
            <a:ext cx="8597461" cy="1316728"/>
          </a:xfrm>
          <a:prstGeom prst="rect">
            <a:avLst/>
          </a:prstGeom>
        </p:spPr>
        <p:txBody>
          <a:bodyPr vert="horz" wrap="square" lIns="0" tIns="21167" rIns="0" bIns="0" rtlCol="0">
            <a:spAutoFit/>
          </a:bodyPr>
          <a:lstStyle/>
          <a:p>
            <a:pPr marL="238125">
              <a:spcBef>
                <a:spcPts val="165"/>
              </a:spcBef>
              <a:tabLst>
                <a:tab pos="790575" algn="l"/>
              </a:tabLst>
            </a:pPr>
            <a:r>
              <a:rPr sz="3535" spc="-347" dirty="0">
                <a:latin typeface="Symbol" panose="05050102010706020507"/>
                <a:cs typeface="Symbol" panose="05050102010706020507"/>
              </a:rPr>
              <a:t></a:t>
            </a:r>
            <a:r>
              <a:rPr sz="3535" spc="-347" dirty="0">
                <a:latin typeface="Times New Roman" panose="02020603050405020304"/>
                <a:cs typeface="Times New Roman" panose="02020603050405020304"/>
              </a:rPr>
              <a:t>	</a:t>
            </a:r>
            <a:r>
              <a:rPr sz="3535" b="1" spc="-380" dirty="0">
                <a:latin typeface="Times New Roman" panose="02020603050405020304"/>
                <a:cs typeface="Times New Roman" panose="02020603050405020304"/>
              </a:rPr>
              <a:t>25</a:t>
            </a:r>
            <a:r>
              <a:rPr sz="3665" i="1" spc="-380" dirty="0">
                <a:latin typeface="Symbol" panose="05050102010706020507"/>
                <a:cs typeface="Symbol" panose="05050102010706020507"/>
              </a:rPr>
              <a:t></a:t>
            </a:r>
            <a:r>
              <a:rPr sz="3665" i="1" spc="-380" dirty="0">
                <a:latin typeface="Times New Roman" panose="02020603050405020304"/>
                <a:cs typeface="Times New Roman" panose="02020603050405020304"/>
              </a:rPr>
              <a:t> </a:t>
            </a:r>
            <a:r>
              <a:rPr sz="3100" b="1" spc="-279" baseline="43000" dirty="0">
                <a:latin typeface="Times New Roman" panose="02020603050405020304"/>
                <a:cs typeface="Times New Roman" panose="02020603050405020304"/>
              </a:rPr>
              <a:t>2 </a:t>
            </a:r>
            <a:r>
              <a:rPr sz="3535" b="1" spc="-167" dirty="0">
                <a:latin typeface="Times New Roman" panose="02020603050405020304"/>
                <a:cs typeface="Times New Roman" panose="02020603050405020304"/>
              </a:rPr>
              <a:t>/36 </a:t>
            </a:r>
            <a:r>
              <a:rPr sz="3535" spc="-347" dirty="0">
                <a:latin typeface="Symbol" panose="05050102010706020507"/>
                <a:cs typeface="Symbol" panose="05050102010706020507"/>
              </a:rPr>
              <a:t></a:t>
            </a:r>
            <a:r>
              <a:rPr sz="3535" spc="-347" dirty="0">
                <a:latin typeface="Times New Roman" panose="02020603050405020304"/>
                <a:cs typeface="Times New Roman" panose="02020603050405020304"/>
              </a:rPr>
              <a:t> </a:t>
            </a:r>
            <a:r>
              <a:rPr sz="3535" b="1" spc="-413" dirty="0">
                <a:latin typeface="Times New Roman" panose="02020603050405020304"/>
                <a:cs typeface="Times New Roman" panose="02020603050405020304"/>
              </a:rPr>
              <a:t>5</a:t>
            </a:r>
            <a:r>
              <a:rPr sz="3665" i="1" spc="-413" dirty="0">
                <a:latin typeface="Symbol" panose="05050102010706020507"/>
                <a:cs typeface="Symbol" panose="05050102010706020507"/>
              </a:rPr>
              <a:t></a:t>
            </a:r>
            <a:r>
              <a:rPr sz="3665" i="1" spc="-413" dirty="0">
                <a:latin typeface="Times New Roman" panose="02020603050405020304"/>
                <a:cs typeface="Times New Roman" panose="02020603050405020304"/>
              </a:rPr>
              <a:t> </a:t>
            </a:r>
            <a:r>
              <a:rPr sz="3535" b="1" spc="-173" dirty="0">
                <a:latin typeface="Times New Roman" panose="02020603050405020304"/>
                <a:cs typeface="Times New Roman" panose="02020603050405020304"/>
              </a:rPr>
              <a:t>/</a:t>
            </a:r>
            <a:r>
              <a:rPr sz="3535" b="1" spc="-640" dirty="0">
                <a:latin typeface="Times New Roman" panose="02020603050405020304"/>
                <a:cs typeface="Times New Roman" panose="02020603050405020304"/>
              </a:rPr>
              <a:t> </a:t>
            </a:r>
            <a:r>
              <a:rPr sz="3535" b="1" spc="-313" dirty="0">
                <a:latin typeface="Times New Roman" panose="02020603050405020304"/>
                <a:cs typeface="Times New Roman" panose="02020603050405020304"/>
              </a:rPr>
              <a:t>6</a:t>
            </a:r>
            <a:endParaRPr sz="3535" dirty="0">
              <a:latin typeface="Times New Roman" panose="02020603050405020304"/>
              <a:cs typeface="Times New Roman" panose="02020603050405020304"/>
            </a:endParaRPr>
          </a:p>
          <a:p>
            <a:pPr>
              <a:spcBef>
                <a:spcPts val="65"/>
              </a:spcBef>
            </a:pPr>
            <a:endParaRPr sz="4665" dirty="0">
              <a:latin typeface="Times New Roman" panose="02020603050405020304"/>
              <a:cs typeface="Times New Roman" panose="02020603050405020304"/>
            </a:endParaRPr>
          </a:p>
        </p:txBody>
      </p:sp>
      <p:sp>
        <p:nvSpPr>
          <p:cNvPr id="18" name="object 18"/>
          <p:cNvSpPr/>
          <p:nvPr/>
        </p:nvSpPr>
        <p:spPr>
          <a:xfrm>
            <a:off x="6757714" y="4060910"/>
            <a:ext cx="787400" cy="1693"/>
          </a:xfrm>
          <a:custGeom>
            <a:avLst/>
            <a:gdLst/>
            <a:ahLst/>
            <a:cxnLst/>
            <a:rect l="l" t="t" r="r" b="b"/>
            <a:pathLst>
              <a:path w="590550" h="1269">
                <a:moveTo>
                  <a:pt x="0" y="0"/>
                </a:moveTo>
                <a:lnTo>
                  <a:pt x="590550" y="1269"/>
                </a:lnTo>
              </a:path>
            </a:pathLst>
          </a:custGeom>
          <a:ln w="15875">
            <a:solidFill>
              <a:srgbClr val="000000"/>
            </a:solidFill>
          </a:ln>
        </p:spPr>
        <p:txBody>
          <a:bodyPr wrap="square" lIns="0" tIns="0" rIns="0" bIns="0" rtlCol="0"/>
          <a:lstStyle/>
          <a:p>
            <a:endParaRPr sz="2400"/>
          </a:p>
        </p:txBody>
      </p:sp>
      <p:sp>
        <p:nvSpPr>
          <p:cNvPr id="19" name="object 19"/>
          <p:cNvSpPr/>
          <p:nvPr/>
        </p:nvSpPr>
        <p:spPr>
          <a:xfrm>
            <a:off x="5597784" y="1684400"/>
            <a:ext cx="569807" cy="785707"/>
          </a:xfrm>
          <a:custGeom>
            <a:avLst/>
            <a:gdLst/>
            <a:ahLst/>
            <a:cxnLst/>
            <a:rect l="l" t="t" r="r" b="b"/>
            <a:pathLst>
              <a:path w="427354" h="589280">
                <a:moveTo>
                  <a:pt x="0" y="588962"/>
                </a:moveTo>
                <a:lnTo>
                  <a:pt x="427037" y="588962"/>
                </a:lnTo>
                <a:lnTo>
                  <a:pt x="427037" y="0"/>
                </a:lnTo>
                <a:lnTo>
                  <a:pt x="0" y="0"/>
                </a:lnTo>
                <a:lnTo>
                  <a:pt x="0" y="588962"/>
                </a:lnTo>
                <a:close/>
              </a:path>
            </a:pathLst>
          </a:custGeom>
          <a:solidFill>
            <a:srgbClr val="92D050"/>
          </a:solidFill>
        </p:spPr>
        <p:txBody>
          <a:bodyPr wrap="square" lIns="0" tIns="0" rIns="0" bIns="0" rtlCol="0"/>
          <a:lstStyle/>
          <a:p>
            <a:endParaRPr sz="2400"/>
          </a:p>
        </p:txBody>
      </p:sp>
      <p:sp>
        <p:nvSpPr>
          <p:cNvPr id="20" name="object 20"/>
          <p:cNvSpPr/>
          <p:nvPr/>
        </p:nvSpPr>
        <p:spPr>
          <a:xfrm>
            <a:off x="5597784" y="1684400"/>
            <a:ext cx="569807" cy="785707"/>
          </a:xfrm>
          <a:custGeom>
            <a:avLst/>
            <a:gdLst/>
            <a:ahLst/>
            <a:cxnLst/>
            <a:rect l="l" t="t" r="r" b="b"/>
            <a:pathLst>
              <a:path w="427354" h="589280">
                <a:moveTo>
                  <a:pt x="0" y="588962"/>
                </a:moveTo>
                <a:lnTo>
                  <a:pt x="427037" y="588962"/>
                </a:lnTo>
                <a:lnTo>
                  <a:pt x="427037" y="0"/>
                </a:lnTo>
                <a:lnTo>
                  <a:pt x="0" y="0"/>
                </a:lnTo>
                <a:lnTo>
                  <a:pt x="0" y="588962"/>
                </a:lnTo>
                <a:close/>
              </a:path>
            </a:pathLst>
          </a:custGeom>
          <a:ln w="25400">
            <a:solidFill>
              <a:srgbClr val="000000"/>
            </a:solidFill>
          </a:ln>
        </p:spPr>
        <p:txBody>
          <a:bodyPr wrap="square" lIns="0" tIns="0" rIns="0" bIns="0" rtlCol="0"/>
          <a:lstStyle/>
          <a:p>
            <a:endParaRPr sz="2400"/>
          </a:p>
        </p:txBody>
      </p:sp>
      <p:sp>
        <p:nvSpPr>
          <p:cNvPr id="21" name="object 21"/>
          <p:cNvSpPr/>
          <p:nvPr/>
        </p:nvSpPr>
        <p:spPr>
          <a:xfrm>
            <a:off x="6190448" y="1684400"/>
            <a:ext cx="571500" cy="785707"/>
          </a:xfrm>
          <a:custGeom>
            <a:avLst/>
            <a:gdLst/>
            <a:ahLst/>
            <a:cxnLst/>
            <a:rect l="l" t="t" r="r" b="b"/>
            <a:pathLst>
              <a:path w="428625" h="589280">
                <a:moveTo>
                  <a:pt x="0" y="588962"/>
                </a:moveTo>
                <a:lnTo>
                  <a:pt x="428625" y="588962"/>
                </a:lnTo>
                <a:lnTo>
                  <a:pt x="428625" y="0"/>
                </a:lnTo>
                <a:lnTo>
                  <a:pt x="0" y="0"/>
                </a:lnTo>
                <a:lnTo>
                  <a:pt x="0" y="588962"/>
                </a:lnTo>
                <a:close/>
              </a:path>
            </a:pathLst>
          </a:custGeom>
          <a:solidFill>
            <a:srgbClr val="92D050"/>
          </a:solidFill>
        </p:spPr>
        <p:txBody>
          <a:bodyPr wrap="square" lIns="0" tIns="0" rIns="0" bIns="0" rtlCol="0"/>
          <a:lstStyle/>
          <a:p>
            <a:endParaRPr sz="2400"/>
          </a:p>
        </p:txBody>
      </p:sp>
      <p:sp>
        <p:nvSpPr>
          <p:cNvPr id="22" name="object 22"/>
          <p:cNvSpPr/>
          <p:nvPr/>
        </p:nvSpPr>
        <p:spPr>
          <a:xfrm>
            <a:off x="6190448" y="1684400"/>
            <a:ext cx="571500" cy="785707"/>
          </a:xfrm>
          <a:custGeom>
            <a:avLst/>
            <a:gdLst/>
            <a:ahLst/>
            <a:cxnLst/>
            <a:rect l="l" t="t" r="r" b="b"/>
            <a:pathLst>
              <a:path w="428625" h="589280">
                <a:moveTo>
                  <a:pt x="0" y="588962"/>
                </a:moveTo>
                <a:lnTo>
                  <a:pt x="428625" y="588962"/>
                </a:lnTo>
                <a:lnTo>
                  <a:pt x="428625" y="0"/>
                </a:lnTo>
                <a:lnTo>
                  <a:pt x="0" y="0"/>
                </a:lnTo>
                <a:lnTo>
                  <a:pt x="0" y="588962"/>
                </a:lnTo>
                <a:close/>
              </a:path>
            </a:pathLst>
          </a:custGeom>
          <a:ln w="25400">
            <a:solidFill>
              <a:srgbClr val="000000"/>
            </a:solidFill>
          </a:ln>
        </p:spPr>
        <p:txBody>
          <a:bodyPr wrap="square" lIns="0" tIns="0" rIns="0" bIns="0" rtlCol="0"/>
          <a:lstStyle/>
          <a:p>
            <a:endParaRPr sz="2400"/>
          </a:p>
        </p:txBody>
      </p:sp>
      <p:sp>
        <p:nvSpPr>
          <p:cNvPr id="23" name="object 23"/>
          <p:cNvSpPr/>
          <p:nvPr/>
        </p:nvSpPr>
        <p:spPr>
          <a:xfrm>
            <a:off x="5597784" y="2469599"/>
            <a:ext cx="569807" cy="785707"/>
          </a:xfrm>
          <a:custGeom>
            <a:avLst/>
            <a:gdLst/>
            <a:ahLst/>
            <a:cxnLst/>
            <a:rect l="l" t="t" r="r" b="b"/>
            <a:pathLst>
              <a:path w="427354" h="589280">
                <a:moveTo>
                  <a:pt x="0" y="588962"/>
                </a:moveTo>
                <a:lnTo>
                  <a:pt x="427037" y="588962"/>
                </a:lnTo>
                <a:lnTo>
                  <a:pt x="427037" y="0"/>
                </a:lnTo>
                <a:lnTo>
                  <a:pt x="0" y="0"/>
                </a:lnTo>
                <a:lnTo>
                  <a:pt x="0" y="588962"/>
                </a:lnTo>
                <a:close/>
              </a:path>
            </a:pathLst>
          </a:custGeom>
          <a:solidFill>
            <a:srgbClr val="92D050"/>
          </a:solidFill>
        </p:spPr>
        <p:txBody>
          <a:bodyPr wrap="square" lIns="0" tIns="0" rIns="0" bIns="0" rtlCol="0"/>
          <a:lstStyle/>
          <a:p>
            <a:endParaRPr sz="2400"/>
          </a:p>
        </p:txBody>
      </p:sp>
      <p:sp>
        <p:nvSpPr>
          <p:cNvPr id="24" name="object 24"/>
          <p:cNvSpPr/>
          <p:nvPr/>
        </p:nvSpPr>
        <p:spPr>
          <a:xfrm>
            <a:off x="5597784" y="2469599"/>
            <a:ext cx="569807" cy="785707"/>
          </a:xfrm>
          <a:custGeom>
            <a:avLst/>
            <a:gdLst/>
            <a:ahLst/>
            <a:cxnLst/>
            <a:rect l="l" t="t" r="r" b="b"/>
            <a:pathLst>
              <a:path w="427354" h="589280">
                <a:moveTo>
                  <a:pt x="0" y="588962"/>
                </a:moveTo>
                <a:lnTo>
                  <a:pt x="427037" y="588962"/>
                </a:lnTo>
                <a:lnTo>
                  <a:pt x="427037" y="0"/>
                </a:lnTo>
                <a:lnTo>
                  <a:pt x="0" y="0"/>
                </a:lnTo>
                <a:lnTo>
                  <a:pt x="0" y="588962"/>
                </a:lnTo>
                <a:close/>
              </a:path>
            </a:pathLst>
          </a:custGeom>
          <a:ln w="25400">
            <a:solidFill>
              <a:srgbClr val="000000"/>
            </a:solidFill>
          </a:ln>
        </p:spPr>
        <p:txBody>
          <a:bodyPr wrap="square" lIns="0" tIns="0" rIns="0" bIns="0" rtlCol="0"/>
          <a:lstStyle/>
          <a:p>
            <a:endParaRPr sz="2400"/>
          </a:p>
        </p:txBody>
      </p:sp>
      <p:sp>
        <p:nvSpPr>
          <p:cNvPr id="25" name="object 25"/>
          <p:cNvSpPr/>
          <p:nvPr/>
        </p:nvSpPr>
        <p:spPr>
          <a:xfrm>
            <a:off x="6190448" y="2469599"/>
            <a:ext cx="571500" cy="785707"/>
          </a:xfrm>
          <a:custGeom>
            <a:avLst/>
            <a:gdLst/>
            <a:ahLst/>
            <a:cxnLst/>
            <a:rect l="l" t="t" r="r" b="b"/>
            <a:pathLst>
              <a:path w="428625" h="589280">
                <a:moveTo>
                  <a:pt x="0" y="588962"/>
                </a:moveTo>
                <a:lnTo>
                  <a:pt x="428625" y="588962"/>
                </a:lnTo>
                <a:lnTo>
                  <a:pt x="428625" y="0"/>
                </a:lnTo>
                <a:lnTo>
                  <a:pt x="0" y="0"/>
                </a:lnTo>
                <a:lnTo>
                  <a:pt x="0" y="588962"/>
                </a:lnTo>
                <a:close/>
              </a:path>
            </a:pathLst>
          </a:custGeom>
          <a:solidFill>
            <a:srgbClr val="92D050"/>
          </a:solidFill>
        </p:spPr>
        <p:txBody>
          <a:bodyPr wrap="square" lIns="0" tIns="0" rIns="0" bIns="0" rtlCol="0"/>
          <a:lstStyle/>
          <a:p>
            <a:endParaRPr sz="2400"/>
          </a:p>
        </p:txBody>
      </p:sp>
      <p:sp>
        <p:nvSpPr>
          <p:cNvPr id="26" name="object 26"/>
          <p:cNvSpPr/>
          <p:nvPr/>
        </p:nvSpPr>
        <p:spPr>
          <a:xfrm>
            <a:off x="6190448" y="2469599"/>
            <a:ext cx="571500" cy="785707"/>
          </a:xfrm>
          <a:custGeom>
            <a:avLst/>
            <a:gdLst/>
            <a:ahLst/>
            <a:cxnLst/>
            <a:rect l="l" t="t" r="r" b="b"/>
            <a:pathLst>
              <a:path w="428625" h="589280">
                <a:moveTo>
                  <a:pt x="0" y="588962"/>
                </a:moveTo>
                <a:lnTo>
                  <a:pt x="428625" y="588962"/>
                </a:lnTo>
                <a:lnTo>
                  <a:pt x="428625" y="0"/>
                </a:lnTo>
                <a:lnTo>
                  <a:pt x="0" y="0"/>
                </a:lnTo>
                <a:lnTo>
                  <a:pt x="0" y="588962"/>
                </a:lnTo>
                <a:close/>
              </a:path>
            </a:pathLst>
          </a:custGeom>
          <a:ln w="25400">
            <a:solidFill>
              <a:srgbClr val="000000"/>
            </a:solidFill>
          </a:ln>
        </p:spPr>
        <p:txBody>
          <a:bodyPr wrap="square" lIns="0" tIns="0" rIns="0" bIns="0" rtlCol="0"/>
          <a:lstStyle/>
          <a:p>
            <a:endParaRPr sz="2400"/>
          </a:p>
        </p:txBody>
      </p:sp>
      <p:sp>
        <p:nvSpPr>
          <p:cNvPr id="27" name="object 27"/>
          <p:cNvSpPr/>
          <p:nvPr/>
        </p:nvSpPr>
        <p:spPr>
          <a:xfrm>
            <a:off x="5597784" y="3254880"/>
            <a:ext cx="569807" cy="787400"/>
          </a:xfrm>
          <a:custGeom>
            <a:avLst/>
            <a:gdLst/>
            <a:ahLst/>
            <a:cxnLst/>
            <a:rect l="l" t="t" r="r" b="b"/>
            <a:pathLst>
              <a:path w="427354" h="590550">
                <a:moveTo>
                  <a:pt x="0" y="590550"/>
                </a:moveTo>
                <a:lnTo>
                  <a:pt x="427037" y="590550"/>
                </a:lnTo>
                <a:lnTo>
                  <a:pt x="427037" y="0"/>
                </a:lnTo>
                <a:lnTo>
                  <a:pt x="0" y="0"/>
                </a:lnTo>
                <a:lnTo>
                  <a:pt x="0" y="590550"/>
                </a:lnTo>
                <a:close/>
              </a:path>
            </a:pathLst>
          </a:custGeom>
          <a:solidFill>
            <a:srgbClr val="92D050"/>
          </a:solidFill>
        </p:spPr>
        <p:txBody>
          <a:bodyPr wrap="square" lIns="0" tIns="0" rIns="0" bIns="0" rtlCol="0"/>
          <a:lstStyle/>
          <a:p>
            <a:endParaRPr sz="2400"/>
          </a:p>
        </p:txBody>
      </p:sp>
      <p:sp>
        <p:nvSpPr>
          <p:cNvPr id="28" name="object 28"/>
          <p:cNvSpPr/>
          <p:nvPr/>
        </p:nvSpPr>
        <p:spPr>
          <a:xfrm>
            <a:off x="5597784" y="3254880"/>
            <a:ext cx="569807" cy="787400"/>
          </a:xfrm>
          <a:custGeom>
            <a:avLst/>
            <a:gdLst/>
            <a:ahLst/>
            <a:cxnLst/>
            <a:rect l="l" t="t" r="r" b="b"/>
            <a:pathLst>
              <a:path w="427354" h="590550">
                <a:moveTo>
                  <a:pt x="0" y="590550"/>
                </a:moveTo>
                <a:lnTo>
                  <a:pt x="427037" y="590550"/>
                </a:lnTo>
                <a:lnTo>
                  <a:pt x="427037" y="0"/>
                </a:lnTo>
                <a:lnTo>
                  <a:pt x="0" y="0"/>
                </a:lnTo>
                <a:lnTo>
                  <a:pt x="0" y="590550"/>
                </a:lnTo>
                <a:close/>
              </a:path>
            </a:pathLst>
          </a:custGeom>
          <a:ln w="25400">
            <a:solidFill>
              <a:srgbClr val="000000"/>
            </a:solidFill>
          </a:ln>
        </p:spPr>
        <p:txBody>
          <a:bodyPr wrap="square" lIns="0" tIns="0" rIns="0" bIns="0" rtlCol="0"/>
          <a:lstStyle/>
          <a:p>
            <a:endParaRPr sz="2400"/>
          </a:p>
        </p:txBody>
      </p:sp>
      <p:sp>
        <p:nvSpPr>
          <p:cNvPr id="29" name="object 29"/>
          <p:cNvSpPr/>
          <p:nvPr/>
        </p:nvSpPr>
        <p:spPr>
          <a:xfrm>
            <a:off x="6190448" y="3254880"/>
            <a:ext cx="571500" cy="787400"/>
          </a:xfrm>
          <a:custGeom>
            <a:avLst/>
            <a:gdLst/>
            <a:ahLst/>
            <a:cxnLst/>
            <a:rect l="l" t="t" r="r" b="b"/>
            <a:pathLst>
              <a:path w="428625" h="590550">
                <a:moveTo>
                  <a:pt x="0" y="590550"/>
                </a:moveTo>
                <a:lnTo>
                  <a:pt x="428625" y="590550"/>
                </a:lnTo>
                <a:lnTo>
                  <a:pt x="428625" y="0"/>
                </a:lnTo>
                <a:lnTo>
                  <a:pt x="0" y="0"/>
                </a:lnTo>
                <a:lnTo>
                  <a:pt x="0" y="590550"/>
                </a:lnTo>
                <a:close/>
              </a:path>
            </a:pathLst>
          </a:custGeom>
          <a:solidFill>
            <a:srgbClr val="92D050"/>
          </a:solidFill>
        </p:spPr>
        <p:txBody>
          <a:bodyPr wrap="square" lIns="0" tIns="0" rIns="0" bIns="0" rtlCol="0"/>
          <a:lstStyle/>
          <a:p>
            <a:endParaRPr sz="2400"/>
          </a:p>
        </p:txBody>
      </p:sp>
      <p:sp>
        <p:nvSpPr>
          <p:cNvPr id="30" name="object 30"/>
          <p:cNvSpPr/>
          <p:nvPr/>
        </p:nvSpPr>
        <p:spPr>
          <a:xfrm>
            <a:off x="6190448" y="3254880"/>
            <a:ext cx="571500" cy="787400"/>
          </a:xfrm>
          <a:custGeom>
            <a:avLst/>
            <a:gdLst/>
            <a:ahLst/>
            <a:cxnLst/>
            <a:rect l="l" t="t" r="r" b="b"/>
            <a:pathLst>
              <a:path w="428625" h="590550">
                <a:moveTo>
                  <a:pt x="0" y="590550"/>
                </a:moveTo>
                <a:lnTo>
                  <a:pt x="428625" y="590550"/>
                </a:lnTo>
                <a:lnTo>
                  <a:pt x="428625" y="0"/>
                </a:lnTo>
                <a:lnTo>
                  <a:pt x="0" y="0"/>
                </a:lnTo>
                <a:lnTo>
                  <a:pt x="0" y="590550"/>
                </a:lnTo>
                <a:close/>
              </a:path>
            </a:pathLst>
          </a:custGeom>
          <a:ln w="25400">
            <a:solidFill>
              <a:srgbClr val="000000"/>
            </a:solidFill>
          </a:ln>
        </p:spPr>
        <p:txBody>
          <a:bodyPr wrap="square" lIns="0" tIns="0" rIns="0" bIns="0" rtlCol="0"/>
          <a:lstStyle/>
          <a:p>
            <a:endParaRPr sz="2400"/>
          </a:p>
        </p:txBody>
      </p:sp>
      <p:sp>
        <p:nvSpPr>
          <p:cNvPr id="31" name="object 31"/>
          <p:cNvSpPr/>
          <p:nvPr/>
        </p:nvSpPr>
        <p:spPr>
          <a:xfrm>
            <a:off x="6738752" y="1684314"/>
            <a:ext cx="785707" cy="2540"/>
          </a:xfrm>
          <a:custGeom>
            <a:avLst/>
            <a:gdLst/>
            <a:ahLst/>
            <a:cxnLst/>
            <a:rect l="l" t="t" r="r" b="b"/>
            <a:pathLst>
              <a:path w="589279" h="1905">
                <a:moveTo>
                  <a:pt x="0" y="0"/>
                </a:moveTo>
                <a:lnTo>
                  <a:pt x="588899" y="1650"/>
                </a:lnTo>
              </a:path>
            </a:pathLst>
          </a:custGeom>
          <a:ln w="15874">
            <a:solidFill>
              <a:srgbClr val="000000"/>
            </a:solidFill>
          </a:ln>
        </p:spPr>
        <p:txBody>
          <a:bodyPr wrap="square" lIns="0" tIns="0" rIns="0" bIns="0" rtlCol="0"/>
          <a:lstStyle/>
          <a:p>
            <a:endParaRPr sz="2400"/>
          </a:p>
        </p:txBody>
      </p:sp>
      <p:sp>
        <p:nvSpPr>
          <p:cNvPr id="32" name="object 32"/>
          <p:cNvSpPr/>
          <p:nvPr/>
        </p:nvSpPr>
        <p:spPr>
          <a:xfrm>
            <a:off x="4382818" y="1705480"/>
            <a:ext cx="1214967" cy="2336800"/>
          </a:xfrm>
          <a:custGeom>
            <a:avLst/>
            <a:gdLst/>
            <a:ahLst/>
            <a:cxnLst/>
            <a:rect l="l" t="t" r="r" b="b"/>
            <a:pathLst>
              <a:path w="911225" h="1752600">
                <a:moveTo>
                  <a:pt x="0" y="1752600"/>
                </a:moveTo>
                <a:lnTo>
                  <a:pt x="911225" y="1752600"/>
                </a:lnTo>
                <a:lnTo>
                  <a:pt x="911225" y="0"/>
                </a:lnTo>
                <a:lnTo>
                  <a:pt x="0" y="0"/>
                </a:lnTo>
                <a:lnTo>
                  <a:pt x="0" y="1752600"/>
                </a:lnTo>
                <a:close/>
              </a:path>
            </a:pathLst>
          </a:custGeom>
          <a:solidFill>
            <a:srgbClr val="FFFFFF"/>
          </a:solidFill>
        </p:spPr>
        <p:txBody>
          <a:bodyPr wrap="square" lIns="0" tIns="0" rIns="0" bIns="0" rtlCol="0"/>
          <a:lstStyle/>
          <a:p>
            <a:endParaRPr sz="2400"/>
          </a:p>
        </p:txBody>
      </p:sp>
      <p:sp>
        <p:nvSpPr>
          <p:cNvPr id="33" name="object 33"/>
          <p:cNvSpPr/>
          <p:nvPr/>
        </p:nvSpPr>
        <p:spPr>
          <a:xfrm>
            <a:off x="4382818" y="1705480"/>
            <a:ext cx="1214967" cy="2336800"/>
          </a:xfrm>
          <a:custGeom>
            <a:avLst/>
            <a:gdLst/>
            <a:ahLst/>
            <a:cxnLst/>
            <a:rect l="l" t="t" r="r" b="b"/>
            <a:pathLst>
              <a:path w="911225" h="1752600">
                <a:moveTo>
                  <a:pt x="0" y="1752600"/>
                </a:moveTo>
                <a:lnTo>
                  <a:pt x="911225" y="1752600"/>
                </a:lnTo>
                <a:lnTo>
                  <a:pt x="911225" y="0"/>
                </a:lnTo>
                <a:lnTo>
                  <a:pt x="0" y="0"/>
                </a:lnTo>
                <a:lnTo>
                  <a:pt x="0" y="1752600"/>
                </a:lnTo>
                <a:close/>
              </a:path>
            </a:pathLst>
          </a:custGeom>
          <a:ln w="25400">
            <a:solidFill>
              <a:srgbClr val="000000"/>
            </a:solidFill>
          </a:ln>
        </p:spPr>
        <p:txBody>
          <a:bodyPr wrap="square" lIns="0" tIns="0" rIns="0" bIns="0" rtlCol="0"/>
          <a:lstStyle/>
          <a:p>
            <a:endParaRPr sz="2400"/>
          </a:p>
        </p:txBody>
      </p:sp>
      <p:sp>
        <p:nvSpPr>
          <p:cNvPr id="34" name="object 34"/>
          <p:cNvSpPr/>
          <p:nvPr/>
        </p:nvSpPr>
        <p:spPr>
          <a:xfrm>
            <a:off x="7116361" y="3041010"/>
            <a:ext cx="101600" cy="990600"/>
          </a:xfrm>
          <a:custGeom>
            <a:avLst/>
            <a:gdLst/>
            <a:ahLst/>
            <a:cxnLst/>
            <a:rect l="l" t="t" r="r" b="b"/>
            <a:pathLst>
              <a:path w="76200" h="742950">
                <a:moveTo>
                  <a:pt x="0" y="666495"/>
                </a:moveTo>
                <a:lnTo>
                  <a:pt x="37337" y="742950"/>
                </a:lnTo>
                <a:lnTo>
                  <a:pt x="63311" y="692276"/>
                </a:lnTo>
                <a:lnTo>
                  <a:pt x="37846" y="692276"/>
                </a:lnTo>
                <a:lnTo>
                  <a:pt x="25146" y="692150"/>
                </a:lnTo>
                <a:lnTo>
                  <a:pt x="25217" y="683674"/>
                </a:lnTo>
                <a:lnTo>
                  <a:pt x="0" y="666495"/>
                </a:lnTo>
                <a:close/>
              </a:path>
              <a:path w="76200" h="742950">
                <a:moveTo>
                  <a:pt x="37942" y="692213"/>
                </a:moveTo>
                <a:lnTo>
                  <a:pt x="50546" y="692276"/>
                </a:lnTo>
                <a:lnTo>
                  <a:pt x="37942" y="692213"/>
                </a:lnTo>
                <a:close/>
              </a:path>
              <a:path w="76200" h="742950">
                <a:moveTo>
                  <a:pt x="50616" y="683904"/>
                </a:moveTo>
                <a:lnTo>
                  <a:pt x="37942" y="692213"/>
                </a:lnTo>
                <a:lnTo>
                  <a:pt x="50546" y="692276"/>
                </a:lnTo>
                <a:lnTo>
                  <a:pt x="50616" y="683904"/>
                </a:lnTo>
                <a:close/>
              </a:path>
              <a:path w="76200" h="742950">
                <a:moveTo>
                  <a:pt x="76200" y="667131"/>
                </a:moveTo>
                <a:lnTo>
                  <a:pt x="50616" y="683904"/>
                </a:lnTo>
                <a:lnTo>
                  <a:pt x="50546" y="692276"/>
                </a:lnTo>
                <a:lnTo>
                  <a:pt x="63311" y="692276"/>
                </a:lnTo>
                <a:lnTo>
                  <a:pt x="76200" y="667131"/>
                </a:lnTo>
                <a:close/>
              </a:path>
              <a:path w="76200" h="742950">
                <a:moveTo>
                  <a:pt x="30987" y="0"/>
                </a:moveTo>
                <a:lnTo>
                  <a:pt x="25217" y="683674"/>
                </a:lnTo>
                <a:lnTo>
                  <a:pt x="37752" y="692213"/>
                </a:lnTo>
                <a:lnTo>
                  <a:pt x="37942" y="692213"/>
                </a:lnTo>
                <a:lnTo>
                  <a:pt x="50616" y="683904"/>
                </a:lnTo>
                <a:lnTo>
                  <a:pt x="56387" y="126"/>
                </a:lnTo>
                <a:lnTo>
                  <a:pt x="30987" y="0"/>
                </a:lnTo>
                <a:close/>
              </a:path>
              <a:path w="76200" h="742950">
                <a:moveTo>
                  <a:pt x="25217" y="683674"/>
                </a:moveTo>
                <a:lnTo>
                  <a:pt x="25146" y="692150"/>
                </a:lnTo>
                <a:lnTo>
                  <a:pt x="37752" y="692213"/>
                </a:lnTo>
                <a:lnTo>
                  <a:pt x="25217" y="683674"/>
                </a:lnTo>
                <a:close/>
              </a:path>
            </a:pathLst>
          </a:custGeom>
          <a:solidFill>
            <a:srgbClr val="000000"/>
          </a:solidFill>
        </p:spPr>
        <p:txBody>
          <a:bodyPr wrap="square" lIns="0" tIns="0" rIns="0" bIns="0" rtlCol="0"/>
          <a:lstStyle/>
          <a:p>
            <a:endParaRPr sz="2400"/>
          </a:p>
        </p:txBody>
      </p:sp>
      <p:sp>
        <p:nvSpPr>
          <p:cNvPr id="35" name="object 35"/>
          <p:cNvSpPr/>
          <p:nvPr/>
        </p:nvSpPr>
        <p:spPr>
          <a:xfrm>
            <a:off x="7115345" y="1686514"/>
            <a:ext cx="101600" cy="927100"/>
          </a:xfrm>
          <a:custGeom>
            <a:avLst/>
            <a:gdLst/>
            <a:ahLst/>
            <a:cxnLst/>
            <a:rect l="l" t="t" r="r" b="b"/>
            <a:pathLst>
              <a:path w="76200" h="695325">
                <a:moveTo>
                  <a:pt x="38100" y="50800"/>
                </a:moveTo>
                <a:lnTo>
                  <a:pt x="25400" y="59266"/>
                </a:lnTo>
                <a:lnTo>
                  <a:pt x="25400" y="695325"/>
                </a:lnTo>
                <a:lnTo>
                  <a:pt x="50800" y="695325"/>
                </a:lnTo>
                <a:lnTo>
                  <a:pt x="50800" y="59266"/>
                </a:lnTo>
                <a:lnTo>
                  <a:pt x="38100" y="50800"/>
                </a:lnTo>
                <a:close/>
              </a:path>
              <a:path w="76200" h="695325">
                <a:moveTo>
                  <a:pt x="38100" y="0"/>
                </a:moveTo>
                <a:lnTo>
                  <a:pt x="0" y="76200"/>
                </a:lnTo>
                <a:lnTo>
                  <a:pt x="25400" y="59266"/>
                </a:lnTo>
                <a:lnTo>
                  <a:pt x="25400" y="50800"/>
                </a:lnTo>
                <a:lnTo>
                  <a:pt x="63500" y="50800"/>
                </a:lnTo>
                <a:lnTo>
                  <a:pt x="38100" y="0"/>
                </a:lnTo>
                <a:close/>
              </a:path>
              <a:path w="76200" h="695325">
                <a:moveTo>
                  <a:pt x="63500" y="50800"/>
                </a:moveTo>
                <a:lnTo>
                  <a:pt x="50800" y="50800"/>
                </a:lnTo>
                <a:lnTo>
                  <a:pt x="50800" y="59266"/>
                </a:lnTo>
                <a:lnTo>
                  <a:pt x="76200" y="76200"/>
                </a:lnTo>
                <a:lnTo>
                  <a:pt x="63500" y="50800"/>
                </a:lnTo>
                <a:close/>
              </a:path>
              <a:path w="76200" h="695325">
                <a:moveTo>
                  <a:pt x="38100" y="50800"/>
                </a:moveTo>
                <a:lnTo>
                  <a:pt x="25400" y="50800"/>
                </a:lnTo>
                <a:lnTo>
                  <a:pt x="25400" y="59266"/>
                </a:lnTo>
                <a:lnTo>
                  <a:pt x="38100" y="50800"/>
                </a:lnTo>
                <a:close/>
              </a:path>
              <a:path w="76200" h="695325">
                <a:moveTo>
                  <a:pt x="50800" y="50800"/>
                </a:moveTo>
                <a:lnTo>
                  <a:pt x="38100" y="50800"/>
                </a:lnTo>
                <a:lnTo>
                  <a:pt x="50800" y="59266"/>
                </a:lnTo>
                <a:lnTo>
                  <a:pt x="50800" y="50800"/>
                </a:lnTo>
                <a:close/>
              </a:path>
            </a:pathLst>
          </a:custGeom>
          <a:solidFill>
            <a:srgbClr val="000000"/>
          </a:solidFill>
        </p:spPr>
        <p:txBody>
          <a:bodyPr wrap="square" lIns="0" tIns="0" rIns="0" bIns="0" rtlCol="0"/>
          <a:lstStyle/>
          <a:p>
            <a:endParaRPr sz="2400"/>
          </a:p>
        </p:txBody>
      </p:sp>
      <p:sp>
        <p:nvSpPr>
          <p:cNvPr id="36" name="object 36"/>
          <p:cNvSpPr txBox="1"/>
          <p:nvPr/>
        </p:nvSpPr>
        <p:spPr>
          <a:xfrm>
            <a:off x="6988345" y="2647310"/>
            <a:ext cx="388620" cy="447986"/>
          </a:xfrm>
          <a:prstGeom prst="rect">
            <a:avLst/>
          </a:prstGeom>
        </p:spPr>
        <p:txBody>
          <a:bodyPr vert="horz" wrap="square" lIns="0" tIns="16933" rIns="0" bIns="0" rtlCol="0">
            <a:spAutoFit/>
          </a:bodyPr>
          <a:lstStyle/>
          <a:p>
            <a:pPr marL="17145">
              <a:spcBef>
                <a:spcPts val="135"/>
              </a:spcBef>
            </a:pPr>
            <a:r>
              <a:rPr sz="2800" b="1" spc="7" dirty="0">
                <a:latin typeface="Times New Roman" panose="02020603050405020304"/>
                <a:cs typeface="Times New Roman" panose="02020603050405020304"/>
              </a:rPr>
              <a:t>2</a:t>
            </a:r>
            <a:r>
              <a:rPr sz="2800" b="1" spc="-7" dirty="0">
                <a:latin typeface="Symbol" panose="05050102010706020507"/>
                <a:cs typeface="Symbol" panose="05050102010706020507"/>
              </a:rPr>
              <a:t></a:t>
            </a:r>
            <a:endParaRPr sz="2800">
              <a:latin typeface="Symbol" panose="05050102010706020507"/>
              <a:cs typeface="Symbol" panose="05050102010706020507"/>
            </a:endParaRPr>
          </a:p>
        </p:txBody>
      </p:sp>
      <p:sp>
        <p:nvSpPr>
          <p:cNvPr id="37" name="object 37"/>
          <p:cNvSpPr/>
          <p:nvPr/>
        </p:nvSpPr>
        <p:spPr>
          <a:xfrm>
            <a:off x="6281674" y="1442744"/>
            <a:ext cx="449622" cy="45719"/>
          </a:xfrm>
          <a:custGeom>
            <a:avLst/>
            <a:gdLst/>
            <a:ahLst/>
            <a:cxnLst/>
            <a:rect l="l" t="t" r="r" b="b"/>
            <a:pathLst>
              <a:path w="276225" h="76200">
                <a:moveTo>
                  <a:pt x="200278" y="0"/>
                </a:moveTo>
                <a:lnTo>
                  <a:pt x="217039" y="25479"/>
                </a:lnTo>
                <a:lnTo>
                  <a:pt x="225551" y="25526"/>
                </a:lnTo>
                <a:lnTo>
                  <a:pt x="225425" y="50926"/>
                </a:lnTo>
                <a:lnTo>
                  <a:pt x="216887" y="50926"/>
                </a:lnTo>
                <a:lnTo>
                  <a:pt x="199898" y="76200"/>
                </a:lnTo>
                <a:lnTo>
                  <a:pt x="251039" y="50926"/>
                </a:lnTo>
                <a:lnTo>
                  <a:pt x="225425" y="50926"/>
                </a:lnTo>
                <a:lnTo>
                  <a:pt x="251146" y="50874"/>
                </a:lnTo>
                <a:lnTo>
                  <a:pt x="276225" y="38480"/>
                </a:lnTo>
                <a:lnTo>
                  <a:pt x="200278" y="0"/>
                </a:lnTo>
                <a:close/>
              </a:path>
              <a:path w="276225" h="76200">
                <a:moveTo>
                  <a:pt x="217039" y="25479"/>
                </a:moveTo>
                <a:lnTo>
                  <a:pt x="225425" y="38226"/>
                </a:lnTo>
                <a:lnTo>
                  <a:pt x="216922" y="50874"/>
                </a:lnTo>
                <a:lnTo>
                  <a:pt x="225425" y="50926"/>
                </a:lnTo>
                <a:lnTo>
                  <a:pt x="225551" y="25526"/>
                </a:lnTo>
                <a:lnTo>
                  <a:pt x="217039" y="25479"/>
                </a:lnTo>
                <a:close/>
              </a:path>
              <a:path w="276225" h="76200">
                <a:moveTo>
                  <a:pt x="126" y="24256"/>
                </a:moveTo>
                <a:lnTo>
                  <a:pt x="0" y="49529"/>
                </a:lnTo>
                <a:lnTo>
                  <a:pt x="216922" y="50874"/>
                </a:lnTo>
                <a:lnTo>
                  <a:pt x="225425" y="38226"/>
                </a:lnTo>
                <a:lnTo>
                  <a:pt x="217039" y="25479"/>
                </a:lnTo>
                <a:lnTo>
                  <a:pt x="126" y="24256"/>
                </a:lnTo>
                <a:close/>
              </a:path>
            </a:pathLst>
          </a:custGeom>
          <a:solidFill>
            <a:srgbClr val="000000"/>
          </a:solidFill>
        </p:spPr>
        <p:txBody>
          <a:bodyPr wrap="square" lIns="0" tIns="0" rIns="0" bIns="0" rtlCol="0"/>
          <a:lstStyle/>
          <a:p>
            <a:endParaRPr sz="2400"/>
          </a:p>
        </p:txBody>
      </p:sp>
      <p:sp>
        <p:nvSpPr>
          <p:cNvPr id="38" name="object 38"/>
          <p:cNvSpPr txBox="1"/>
          <p:nvPr/>
        </p:nvSpPr>
        <p:spPr>
          <a:xfrm>
            <a:off x="5980475" y="1238528"/>
            <a:ext cx="209973" cy="447986"/>
          </a:xfrm>
          <a:prstGeom prst="rect">
            <a:avLst/>
          </a:prstGeom>
        </p:spPr>
        <p:txBody>
          <a:bodyPr vert="horz" wrap="square" lIns="0" tIns="16933" rIns="0" bIns="0" rtlCol="0">
            <a:spAutoFit/>
          </a:bodyPr>
          <a:lstStyle/>
          <a:p>
            <a:pPr marL="17145">
              <a:spcBef>
                <a:spcPts val="135"/>
              </a:spcBef>
            </a:pPr>
            <a:r>
              <a:rPr sz="2800" b="1" dirty="0">
                <a:latin typeface="Symbol" panose="05050102010706020507"/>
                <a:cs typeface="Symbol" panose="05050102010706020507"/>
              </a:rPr>
              <a:t></a:t>
            </a:r>
            <a:endParaRPr sz="2800">
              <a:latin typeface="Symbol" panose="05050102010706020507"/>
              <a:cs typeface="Symbol" panose="05050102010706020507"/>
            </a:endParaRPr>
          </a:p>
        </p:txBody>
      </p:sp>
      <p:sp>
        <p:nvSpPr>
          <p:cNvPr id="39" name="object 39"/>
          <p:cNvSpPr/>
          <p:nvPr/>
        </p:nvSpPr>
        <p:spPr>
          <a:xfrm>
            <a:off x="6731296" y="1100758"/>
            <a:ext cx="2540" cy="574040"/>
          </a:xfrm>
          <a:custGeom>
            <a:avLst/>
            <a:gdLst/>
            <a:ahLst/>
            <a:cxnLst/>
            <a:rect l="l" t="t" r="r" b="b"/>
            <a:pathLst>
              <a:path w="1904" h="430530">
                <a:moveTo>
                  <a:pt x="0" y="430275"/>
                </a:moveTo>
                <a:lnTo>
                  <a:pt x="1524" y="0"/>
                </a:lnTo>
              </a:path>
            </a:pathLst>
          </a:custGeom>
          <a:ln w="9525">
            <a:solidFill>
              <a:srgbClr val="000000"/>
            </a:solidFill>
          </a:ln>
        </p:spPr>
        <p:txBody>
          <a:bodyPr wrap="square" lIns="0" tIns="0" rIns="0" bIns="0" rtlCol="0"/>
          <a:lstStyle/>
          <a:p>
            <a:endParaRPr sz="2400"/>
          </a:p>
        </p:txBody>
      </p:sp>
      <p:sp>
        <p:nvSpPr>
          <p:cNvPr id="40" name="object 40"/>
          <p:cNvSpPr/>
          <p:nvPr/>
        </p:nvSpPr>
        <p:spPr>
          <a:xfrm>
            <a:off x="5579116" y="1220476"/>
            <a:ext cx="2540" cy="3213100"/>
          </a:xfrm>
          <a:custGeom>
            <a:avLst/>
            <a:gdLst/>
            <a:ahLst/>
            <a:cxnLst/>
            <a:rect l="l" t="t" r="r" b="b"/>
            <a:pathLst>
              <a:path w="1904" h="2409825">
                <a:moveTo>
                  <a:pt x="1524" y="0"/>
                </a:moveTo>
                <a:lnTo>
                  <a:pt x="0" y="2409825"/>
                </a:lnTo>
              </a:path>
            </a:pathLst>
          </a:custGeom>
          <a:ln w="38100">
            <a:solidFill>
              <a:srgbClr val="FF0000"/>
            </a:solidFill>
          </a:ln>
        </p:spPr>
        <p:txBody>
          <a:bodyPr wrap="square" lIns="0" tIns="0" rIns="0" bIns="0" rtlCol="0"/>
          <a:lstStyle/>
          <a:p>
            <a:endParaRPr sz="2400"/>
          </a:p>
        </p:txBody>
      </p:sp>
      <p:sp>
        <p:nvSpPr>
          <p:cNvPr id="41" name="object 41"/>
          <p:cNvSpPr/>
          <p:nvPr/>
        </p:nvSpPr>
        <p:spPr>
          <a:xfrm>
            <a:off x="5597784" y="1684314"/>
            <a:ext cx="569807" cy="713740"/>
          </a:xfrm>
          <a:custGeom>
            <a:avLst/>
            <a:gdLst/>
            <a:ahLst/>
            <a:cxnLst/>
            <a:rect l="l" t="t" r="r" b="b"/>
            <a:pathLst>
              <a:path w="427354" h="535305">
                <a:moveTo>
                  <a:pt x="0" y="0"/>
                </a:moveTo>
                <a:lnTo>
                  <a:pt x="427100" y="535051"/>
                </a:lnTo>
              </a:path>
            </a:pathLst>
          </a:custGeom>
          <a:ln w="19050">
            <a:solidFill>
              <a:srgbClr val="000000"/>
            </a:solidFill>
          </a:ln>
        </p:spPr>
        <p:txBody>
          <a:bodyPr wrap="square" lIns="0" tIns="0" rIns="0" bIns="0" rtlCol="0"/>
          <a:lstStyle/>
          <a:p>
            <a:endParaRPr sz="2400"/>
          </a:p>
        </p:txBody>
      </p:sp>
      <p:sp>
        <p:nvSpPr>
          <p:cNvPr id="42" name="object 42"/>
          <p:cNvSpPr txBox="1"/>
          <p:nvPr/>
        </p:nvSpPr>
        <p:spPr>
          <a:xfrm>
            <a:off x="5623184" y="1790147"/>
            <a:ext cx="539327" cy="386430"/>
          </a:xfrm>
          <a:prstGeom prst="rect">
            <a:avLst/>
          </a:prstGeom>
        </p:spPr>
        <p:txBody>
          <a:bodyPr vert="horz" wrap="square" lIns="0" tIns="16933" rIns="0" bIns="0" rtlCol="0">
            <a:spAutoFit/>
          </a:bodyPr>
          <a:lstStyle/>
          <a:p>
            <a:pPr marL="310515">
              <a:spcBef>
                <a:spcPts val="135"/>
              </a:spcBef>
            </a:pPr>
            <a:r>
              <a:rPr sz="2400" b="1" i="1" dirty="0">
                <a:latin typeface="Times New Roman" panose="02020603050405020304"/>
                <a:cs typeface="Times New Roman" panose="02020603050405020304"/>
              </a:rPr>
              <a:t>d</a:t>
            </a:r>
            <a:endParaRPr sz="2400">
              <a:latin typeface="Times New Roman" panose="02020603050405020304"/>
              <a:cs typeface="Times New Roman" panose="02020603050405020304"/>
            </a:endParaRPr>
          </a:p>
        </p:txBody>
      </p:sp>
      <p:sp>
        <p:nvSpPr>
          <p:cNvPr id="43" name="object 43"/>
          <p:cNvSpPr/>
          <p:nvPr/>
        </p:nvSpPr>
        <p:spPr>
          <a:xfrm>
            <a:off x="5227453" y="2731305"/>
            <a:ext cx="169841" cy="169841"/>
          </a:xfrm>
          <a:prstGeom prst="rect">
            <a:avLst/>
          </a:prstGeom>
          <a:blipFill>
            <a:blip r:embed="rId1" cstate="print"/>
            <a:stretch>
              <a:fillRect/>
            </a:stretch>
          </a:blipFill>
        </p:spPr>
        <p:txBody>
          <a:bodyPr wrap="square" lIns="0" tIns="0" rIns="0" bIns="0" rtlCol="0"/>
          <a:lstStyle/>
          <a:p>
            <a:endParaRPr sz="2400"/>
          </a:p>
        </p:txBody>
      </p:sp>
      <p:sp>
        <p:nvSpPr>
          <p:cNvPr id="44" name="object 44"/>
          <p:cNvSpPr/>
          <p:nvPr/>
        </p:nvSpPr>
        <p:spPr>
          <a:xfrm>
            <a:off x="5585381" y="1441728"/>
            <a:ext cx="341582" cy="57111"/>
          </a:xfrm>
          <a:custGeom>
            <a:avLst/>
            <a:gdLst/>
            <a:ahLst/>
            <a:cxnLst/>
            <a:rect l="l" t="t" r="r" b="b"/>
            <a:pathLst>
              <a:path w="305435" h="76200">
                <a:moveTo>
                  <a:pt x="76453" y="0"/>
                </a:moveTo>
                <a:lnTo>
                  <a:pt x="0" y="37591"/>
                </a:lnTo>
                <a:lnTo>
                  <a:pt x="75946" y="76200"/>
                </a:lnTo>
                <a:lnTo>
                  <a:pt x="76115" y="50740"/>
                </a:lnTo>
                <a:lnTo>
                  <a:pt x="63373" y="50672"/>
                </a:lnTo>
                <a:lnTo>
                  <a:pt x="63500" y="25272"/>
                </a:lnTo>
                <a:lnTo>
                  <a:pt x="76285" y="25272"/>
                </a:lnTo>
                <a:lnTo>
                  <a:pt x="76453" y="0"/>
                </a:lnTo>
                <a:close/>
              </a:path>
              <a:path w="305435" h="76200">
                <a:moveTo>
                  <a:pt x="76285" y="25340"/>
                </a:moveTo>
                <a:lnTo>
                  <a:pt x="76115" y="50740"/>
                </a:lnTo>
                <a:lnTo>
                  <a:pt x="304673" y="51942"/>
                </a:lnTo>
                <a:lnTo>
                  <a:pt x="304926" y="26542"/>
                </a:lnTo>
                <a:lnTo>
                  <a:pt x="76285" y="25340"/>
                </a:lnTo>
                <a:close/>
              </a:path>
              <a:path w="305435" h="76200">
                <a:moveTo>
                  <a:pt x="63500" y="25272"/>
                </a:moveTo>
                <a:lnTo>
                  <a:pt x="63373" y="50672"/>
                </a:lnTo>
                <a:lnTo>
                  <a:pt x="76115" y="50740"/>
                </a:lnTo>
                <a:lnTo>
                  <a:pt x="76285" y="25340"/>
                </a:lnTo>
                <a:lnTo>
                  <a:pt x="63500" y="25272"/>
                </a:lnTo>
                <a:close/>
              </a:path>
              <a:path w="305435" h="76200">
                <a:moveTo>
                  <a:pt x="76285" y="25272"/>
                </a:moveTo>
                <a:lnTo>
                  <a:pt x="63500" y="25272"/>
                </a:lnTo>
                <a:lnTo>
                  <a:pt x="76285" y="25340"/>
                </a:lnTo>
                <a:close/>
              </a:path>
            </a:pathLst>
          </a:custGeom>
          <a:solidFill>
            <a:srgbClr val="000000"/>
          </a:solidFill>
        </p:spPr>
        <p:txBody>
          <a:bodyPr wrap="square" lIns="0" tIns="0" rIns="0" bIns="0" rtlCol="0"/>
          <a:lstStyle/>
          <a:p>
            <a:endParaRPr sz="2400"/>
          </a:p>
        </p:txBody>
      </p:sp>
      <p:sp>
        <p:nvSpPr>
          <p:cNvPr id="45" name="object 45"/>
          <p:cNvSpPr/>
          <p:nvPr/>
        </p:nvSpPr>
        <p:spPr>
          <a:xfrm>
            <a:off x="5635884" y="1722416"/>
            <a:ext cx="575733" cy="768773"/>
          </a:xfrm>
          <a:custGeom>
            <a:avLst/>
            <a:gdLst/>
            <a:ahLst/>
            <a:cxnLst/>
            <a:rect l="l" t="t" r="r" b="b"/>
            <a:pathLst>
              <a:path w="431800" h="576580">
                <a:moveTo>
                  <a:pt x="0" y="0"/>
                </a:moveTo>
                <a:lnTo>
                  <a:pt x="0" y="561086"/>
                </a:lnTo>
                <a:lnTo>
                  <a:pt x="431800" y="576326"/>
                </a:lnTo>
                <a:lnTo>
                  <a:pt x="0" y="0"/>
                </a:lnTo>
                <a:close/>
              </a:path>
            </a:pathLst>
          </a:custGeom>
          <a:solidFill>
            <a:srgbClr val="4F81BC"/>
          </a:solidFill>
        </p:spPr>
        <p:txBody>
          <a:bodyPr wrap="square" lIns="0" tIns="0" rIns="0" bIns="0" rtlCol="0"/>
          <a:lstStyle/>
          <a:p>
            <a:endParaRPr sz="2400"/>
          </a:p>
        </p:txBody>
      </p:sp>
      <p:sp>
        <p:nvSpPr>
          <p:cNvPr id="46" name="object 46"/>
          <p:cNvSpPr/>
          <p:nvPr/>
        </p:nvSpPr>
        <p:spPr>
          <a:xfrm>
            <a:off x="5635884" y="1722416"/>
            <a:ext cx="575733" cy="768773"/>
          </a:xfrm>
          <a:custGeom>
            <a:avLst/>
            <a:gdLst/>
            <a:ahLst/>
            <a:cxnLst/>
            <a:rect l="l" t="t" r="r" b="b"/>
            <a:pathLst>
              <a:path w="431800" h="576580">
                <a:moveTo>
                  <a:pt x="0" y="0"/>
                </a:moveTo>
                <a:lnTo>
                  <a:pt x="431800" y="576326"/>
                </a:lnTo>
                <a:lnTo>
                  <a:pt x="0" y="561086"/>
                </a:lnTo>
                <a:lnTo>
                  <a:pt x="0" y="0"/>
                </a:lnTo>
                <a:close/>
              </a:path>
            </a:pathLst>
          </a:custGeom>
          <a:ln w="25400">
            <a:solidFill>
              <a:srgbClr val="385D89"/>
            </a:solidFill>
          </a:ln>
        </p:spPr>
        <p:txBody>
          <a:bodyPr wrap="square" lIns="0" tIns="0" rIns="0" bIns="0" rtlCol="0"/>
          <a:lstStyle/>
          <a:p>
            <a:endParaRPr sz="2400"/>
          </a:p>
        </p:txBody>
      </p:sp>
      <p:sp>
        <p:nvSpPr>
          <p:cNvPr id="47" name="矩形 46"/>
          <p:cNvSpPr/>
          <p:nvPr/>
        </p:nvSpPr>
        <p:spPr>
          <a:xfrm>
            <a:off x="508556" y="4672662"/>
            <a:ext cx="8229043" cy="1397883"/>
          </a:xfrm>
          <a:prstGeom prst="rect">
            <a:avLst/>
          </a:prstGeom>
        </p:spPr>
        <p:txBody>
          <a:bodyPr wrap="square">
            <a:spAutoFit/>
          </a:bodyPr>
          <a:lstStyle/>
          <a:p>
            <a:pPr marR="23495" algn="just">
              <a:lnSpc>
                <a:spcPct val="101000"/>
              </a:lnSpc>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右边每个小方格至</a:t>
            </a:r>
            <a:r>
              <a:rPr lang="zh-CN" altLang="en-US" sz="2800" b="1" spc="7" dirty="0">
                <a:latin typeface="Times New Roman" panose="02020603050405020304" pitchFamily="18" charset="0"/>
                <a:ea typeface="黑体" panose="02010609060101010101" pitchFamily="49" charset="-122"/>
                <a:cs typeface="Times New Roman" panose="02020603050405020304" pitchFamily="18" charset="0"/>
              </a:rPr>
              <a:t>多</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个点，每个点至多比较对面的</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6</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个点</a:t>
            </a:r>
            <a:r>
              <a:rPr lang="zh-CN" altLang="en-US" sz="2800" b="1" spc="7"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检查</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个点是</a:t>
            </a:r>
            <a:r>
              <a:rPr lang="zh-CN" altLang="en-US" sz="2800" b="1" spc="-7" dirty="0">
                <a:latin typeface="Times New Roman" panose="02020603050405020304" pitchFamily="18" charset="0"/>
                <a:ea typeface="黑体" panose="02010609060101010101" pitchFamily="49" charset="-122"/>
                <a:cs typeface="Times New Roman" panose="02020603050405020304" pitchFamily="18" charset="0"/>
              </a:rPr>
              <a:t>常数时间，</a:t>
            </a:r>
            <a:r>
              <a:rPr lang="en-US" altLang="zh-CN" sz="2800" b="1" i="1" spc="-7" dirty="0">
                <a:latin typeface="Times New Roman" panose="02020603050405020304" pitchFamily="18" charset="0"/>
                <a:ea typeface="黑体" panose="02010609060101010101" pitchFamily="49" charset="-122"/>
                <a:cs typeface="Times New Roman" panose="02020603050405020304" pitchFamily="18" charset="0"/>
              </a:rPr>
              <a:t>O</a:t>
            </a:r>
            <a:r>
              <a:rPr lang="en-US" altLang="zh-CN" sz="2800" b="1" spc="-7"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spc="-7" dirty="0">
                <a:latin typeface="Times New Roman" panose="02020603050405020304" pitchFamily="18" charset="0"/>
                <a:ea typeface="黑体" panose="02010609060101010101" pitchFamily="49" charset="-122"/>
                <a:cs typeface="Times New Roman" panose="02020603050405020304" pitchFamily="18" charset="0"/>
              </a:rPr>
              <a:t>n</a:t>
            </a:r>
            <a:r>
              <a:rPr lang="en-US" altLang="zh-CN" sz="2800" b="1" spc="-7"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spc="-7" dirty="0">
                <a:latin typeface="Times New Roman" panose="02020603050405020304" pitchFamily="18" charset="0"/>
                <a:ea typeface="黑体" panose="02010609060101010101" pitchFamily="49" charset="-122"/>
                <a:cs typeface="Times New Roman" panose="02020603050405020304" pitchFamily="18" charset="0"/>
              </a:rPr>
              <a:t>个点需</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要</a:t>
            </a:r>
            <a:r>
              <a:rPr lang="en-US" altLang="zh-CN" sz="2800" b="1" i="1" spc="-7" dirty="0">
                <a:latin typeface="Times New Roman" panose="02020603050405020304" pitchFamily="18" charset="0"/>
                <a:ea typeface="黑体" panose="02010609060101010101" pitchFamily="49" charset="-122"/>
                <a:cs typeface="Times New Roman" panose="02020603050405020304" pitchFamily="18" charset="0"/>
              </a:rPr>
              <a:t>O</a:t>
            </a:r>
            <a:r>
              <a:rPr lang="en-US" altLang="zh-CN" sz="2800" b="1" spc="-7"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spc="-7" dirty="0">
                <a:latin typeface="Times New Roman" panose="02020603050405020304" pitchFamily="18" charset="0"/>
                <a:ea typeface="黑体" panose="02010609060101010101" pitchFamily="49" charset="-122"/>
                <a:cs typeface="Times New Roman" panose="02020603050405020304" pitchFamily="18" charset="0"/>
              </a:rPr>
              <a:t>n</a:t>
            </a:r>
            <a:r>
              <a:rPr lang="en-US" altLang="zh-CN" sz="2800" b="1" spc="-7"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spc="-7" dirty="0">
                <a:latin typeface="Times New Roman" panose="02020603050405020304" pitchFamily="18" charset="0"/>
                <a:ea typeface="黑体" panose="02010609060101010101" pitchFamily="49" charset="-122"/>
                <a:cs typeface="Times New Roman" panose="02020603050405020304" pitchFamily="18" charset="0"/>
              </a:rPr>
              <a:t>时间</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8" name="object 39"/>
          <p:cNvSpPr/>
          <p:nvPr/>
        </p:nvSpPr>
        <p:spPr>
          <a:xfrm>
            <a:off x="5587920" y="1091094"/>
            <a:ext cx="2540" cy="574040"/>
          </a:xfrm>
          <a:custGeom>
            <a:avLst/>
            <a:gdLst/>
            <a:ahLst/>
            <a:cxnLst/>
            <a:rect l="l" t="t" r="r" b="b"/>
            <a:pathLst>
              <a:path w="1904" h="430530">
                <a:moveTo>
                  <a:pt x="0" y="430275"/>
                </a:moveTo>
                <a:lnTo>
                  <a:pt x="1524" y="0"/>
                </a:lnTo>
              </a:path>
            </a:pathLst>
          </a:custGeom>
          <a:ln w="9525">
            <a:solidFill>
              <a:srgbClr val="000000"/>
            </a:solidFill>
          </a:ln>
        </p:spPr>
        <p:txBody>
          <a:bodyPr wrap="square" lIns="0" tIns="0" rIns="0" bIns="0" rtlCol="0"/>
          <a:lstStyle/>
          <a:p>
            <a:endParaRPr sz="24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2793" y="73991"/>
            <a:ext cx="8923283"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20" dirty="0">
                <a:solidFill>
                  <a:srgbClr val="C00000"/>
                </a:solidFill>
                <a:latin typeface="黑体" panose="02010609060101010101" pitchFamily="49" charset="-122"/>
                <a:ea typeface="黑体" panose="02010609060101010101" pitchFamily="49" charset="-122"/>
              </a:rPr>
              <a:t>算法分析</a:t>
            </a:r>
            <a:endParaRPr sz="4400" b="1" spc="-20" dirty="0">
              <a:solidFill>
                <a:srgbClr val="C00000"/>
              </a:solidFill>
              <a:latin typeface="黑体" panose="02010609060101010101" pitchFamily="49" charset="-122"/>
              <a:ea typeface="黑体" panose="02010609060101010101" pitchFamily="49" charset="-122"/>
            </a:endParaRPr>
          </a:p>
        </p:txBody>
      </p:sp>
      <p:sp>
        <p:nvSpPr>
          <p:cNvPr id="4" name="object 4"/>
          <p:cNvSpPr txBox="1"/>
          <p:nvPr/>
        </p:nvSpPr>
        <p:spPr>
          <a:xfrm>
            <a:off x="558799" y="1085294"/>
            <a:ext cx="8547617" cy="2990092"/>
          </a:xfrm>
          <a:prstGeom prst="rect">
            <a:avLst/>
          </a:prstGeom>
        </p:spPr>
        <p:txBody>
          <a:bodyPr vert="horz" wrap="square" lIns="0" tIns="16933" rIns="0" bIns="0" rtlCol="0">
            <a:spAutoFit/>
          </a:bodyPr>
          <a:lstStyle/>
          <a:p>
            <a:pPr marL="17145" marR="655320">
              <a:lnSpc>
                <a:spcPct val="114000"/>
              </a:lnSpc>
              <a:spcBef>
                <a:spcPts val="135"/>
              </a:spcBef>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步</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b="1" spc="-2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递归边界处理</a:t>
            </a:r>
            <a:r>
              <a:rPr lang="zh-CN" altLang="en-US" sz="2800" b="1" spc="-13"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spc="-13" dirty="0">
                <a:latin typeface="Times New Roman" panose="02020603050405020304" pitchFamily="18" charset="0"/>
                <a:ea typeface="黑体" panose="02010609060101010101" pitchFamily="49" charset="-122"/>
                <a:cs typeface="Times New Roman" panose="02020603050405020304" pitchFamily="18" charset="0"/>
              </a:rPr>
              <a:t>O</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spc="-7" dirty="0">
                <a:latin typeface="Times New Roman" panose="02020603050405020304" pitchFamily="18" charset="0"/>
                <a:ea typeface="黑体" panose="02010609060101010101" pitchFamily="49" charset="-122"/>
                <a:cs typeface="Times New Roman" panose="02020603050405020304" pitchFamily="18" charset="0"/>
              </a:rPr>
              <a:t>1</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lang="en-US" sz="2800" b="1" dirty="0">
              <a:latin typeface="Times New Roman" panose="02020603050405020304" pitchFamily="18" charset="0"/>
              <a:ea typeface="黑体" panose="02010609060101010101" pitchFamily="49" charset="-122"/>
              <a:cs typeface="Times New Roman" panose="02020603050405020304" pitchFamily="18" charset="0"/>
            </a:endParaRPr>
          </a:p>
          <a:p>
            <a:pPr marL="17145" marR="655320">
              <a:lnSpc>
                <a:spcPct val="114000"/>
              </a:lnSpc>
              <a:spcBef>
                <a:spcPts val="135"/>
              </a:spcBef>
            </a:pPr>
            <a:r>
              <a:rPr sz="2800" b="1" dirty="0">
                <a:latin typeface="Times New Roman" panose="02020603050405020304" pitchFamily="18" charset="0"/>
                <a:ea typeface="黑体" panose="02010609060101010101" pitchFamily="49" charset="-122"/>
                <a:cs typeface="Times New Roman" panose="02020603050405020304" pitchFamily="18" charset="0"/>
              </a:rPr>
              <a:t>步2</a:t>
            </a:r>
            <a:r>
              <a:rPr sz="2800" b="1" spc="-147" dirty="0">
                <a:latin typeface="Times New Roman" panose="02020603050405020304" pitchFamily="18" charset="0"/>
                <a:ea typeface="黑体" panose="02010609060101010101" pitchFamily="49" charset="-122"/>
                <a:cs typeface="Times New Roman" panose="02020603050405020304" pitchFamily="18" charset="0"/>
              </a:rPr>
              <a:t> </a:t>
            </a:r>
            <a:r>
              <a:rPr sz="2800" b="1" dirty="0" err="1">
                <a:latin typeface="Times New Roman" panose="02020603050405020304" pitchFamily="18" charset="0"/>
                <a:ea typeface="黑体" panose="02010609060101010101" pitchFamily="49" charset="-122"/>
                <a:cs typeface="Times New Roman" panose="02020603050405020304" pitchFamily="18" charset="0"/>
              </a:rPr>
              <a:t>排序</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lang="en-US" sz="28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spc="-13" dirty="0">
                <a:latin typeface="Times New Roman" panose="02020603050405020304" pitchFamily="18" charset="0"/>
                <a:ea typeface="黑体" panose="02010609060101010101" pitchFamily="49" charset="-122"/>
                <a:cs typeface="Times New Roman" panose="02020603050405020304" pitchFamily="18" charset="0"/>
              </a:rPr>
              <a:t>O</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spc="-13" dirty="0" err="1">
                <a:latin typeface="Times New Roman" panose="02020603050405020304" pitchFamily="18" charset="0"/>
                <a:ea typeface="黑体" panose="02010609060101010101" pitchFamily="49" charset="-122"/>
                <a:cs typeface="Times New Roman" panose="02020603050405020304" pitchFamily="18" charset="0"/>
              </a:rPr>
              <a:t>n</a:t>
            </a:r>
            <a:r>
              <a:rPr lang="en-US" altLang="zh-CN" sz="2800" b="1" dirty="0" err="1">
                <a:latin typeface="Times New Roman" panose="02020603050405020304" pitchFamily="18" charset="0"/>
                <a:ea typeface="黑体" panose="02010609060101010101" pitchFamily="49" charset="-122"/>
                <a:cs typeface="Times New Roman" panose="02020603050405020304" pitchFamily="18" charset="0"/>
              </a:rPr>
              <a:t>l</a:t>
            </a:r>
            <a:r>
              <a:rPr lang="en-US" altLang="zh-CN" sz="2800" b="1" spc="7" dirty="0" err="1">
                <a:latin typeface="Times New Roman" panose="02020603050405020304" pitchFamily="18" charset="0"/>
                <a:ea typeface="黑体" panose="02010609060101010101" pitchFamily="49" charset="-122"/>
                <a:cs typeface="Times New Roman" panose="02020603050405020304" pitchFamily="18" charset="0"/>
              </a:rPr>
              <a:t>o</a:t>
            </a:r>
            <a:r>
              <a:rPr lang="en-US" altLang="zh-CN" sz="2800" b="1" dirty="0" err="1">
                <a:latin typeface="Times New Roman" panose="02020603050405020304" pitchFamily="18" charset="0"/>
                <a:ea typeface="黑体" panose="02010609060101010101" pitchFamily="49" charset="-122"/>
                <a:cs typeface="Times New Roman" panose="02020603050405020304" pitchFamily="18" charset="0"/>
              </a:rPr>
              <a:t>g</a:t>
            </a:r>
            <a:r>
              <a:rPr lang="en-US" altLang="zh-CN" sz="2800" b="1" i="1" spc="-13" dirty="0" err="1">
                <a:latin typeface="Times New Roman" panose="02020603050405020304" pitchFamily="18" charset="0"/>
                <a:ea typeface="黑体" panose="02010609060101010101" pitchFamily="49" charset="-122"/>
                <a:cs typeface="Times New Roman" panose="02020603050405020304" pitchFamily="18" charset="0"/>
              </a:rPr>
              <a:t>n</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a:p>
            <a:pPr marL="17145" marR="655320">
              <a:lnSpc>
                <a:spcPct val="114000"/>
              </a:lnSpc>
              <a:spcBef>
                <a:spcPts val="135"/>
              </a:spcBef>
            </a:pPr>
            <a:r>
              <a:rPr sz="2800" b="1" dirty="0">
                <a:latin typeface="Times New Roman" panose="02020603050405020304" pitchFamily="18" charset="0"/>
                <a:ea typeface="黑体" panose="02010609060101010101" pitchFamily="49" charset="-122"/>
                <a:cs typeface="Times New Roman" panose="02020603050405020304" pitchFamily="18" charset="0"/>
              </a:rPr>
              <a:t>步3</a:t>
            </a:r>
            <a:r>
              <a:rPr sz="2800" b="1" spc="-147" dirty="0">
                <a:latin typeface="Times New Roman" panose="02020603050405020304" pitchFamily="18" charset="0"/>
                <a:ea typeface="黑体" panose="02010609060101010101" pitchFamily="49" charset="-122"/>
                <a:cs typeface="Times New Roman" panose="02020603050405020304" pitchFamily="18" charset="0"/>
              </a:rPr>
              <a:t> </a:t>
            </a:r>
            <a:r>
              <a:rPr sz="2800" b="1" dirty="0" err="1">
                <a:latin typeface="Times New Roman" panose="02020603050405020304" pitchFamily="18" charset="0"/>
                <a:ea typeface="黑体" panose="02010609060101010101" pitchFamily="49" charset="-122"/>
                <a:cs typeface="Times New Roman" panose="02020603050405020304" pitchFamily="18" charset="0"/>
              </a:rPr>
              <a:t>划分</a:t>
            </a:r>
            <a:r>
              <a:rPr sz="2800" b="1" dirty="0">
                <a:latin typeface="Times New Roman" panose="02020603050405020304" pitchFamily="18" charset="0"/>
                <a:ea typeface="黑体" panose="02010609060101010101" pitchFamily="49" charset="-122"/>
                <a:cs typeface="Times New Roman" panose="02020603050405020304" pitchFamily="18" charset="0"/>
              </a:rPr>
              <a:t>：</a:t>
            </a:r>
            <a:r>
              <a:rPr lang="en-US" sz="28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spc="-13" dirty="0">
                <a:latin typeface="Times New Roman" panose="02020603050405020304" pitchFamily="18" charset="0"/>
                <a:ea typeface="黑体" panose="02010609060101010101" pitchFamily="49" charset="-122"/>
                <a:cs typeface="Times New Roman" panose="02020603050405020304" pitchFamily="18" charset="0"/>
              </a:rPr>
              <a:t> O</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 </a:t>
            </a:r>
            <a:endParaRPr sz="2800" b="1" dirty="0">
              <a:latin typeface="Times New Roman" panose="02020603050405020304" pitchFamily="18" charset="0"/>
              <a:ea typeface="黑体" panose="02010609060101010101" pitchFamily="49" charset="-122"/>
              <a:cs typeface="Times New Roman" panose="02020603050405020304" pitchFamily="18" charset="0"/>
            </a:endParaRPr>
          </a:p>
          <a:p>
            <a:pPr marL="17145" marR="6985">
              <a:lnSpc>
                <a:spcPct val="114000"/>
              </a:lnSpc>
              <a:spcBef>
                <a:spcPts val="20"/>
              </a:spcBef>
            </a:pPr>
            <a:r>
              <a:rPr sz="2800" b="1" dirty="0">
                <a:latin typeface="Times New Roman" panose="02020603050405020304" pitchFamily="18" charset="0"/>
                <a:ea typeface="黑体" panose="02010609060101010101" pitchFamily="49" charset="-122"/>
                <a:cs typeface="Times New Roman" panose="02020603050405020304" pitchFamily="18" charset="0"/>
              </a:rPr>
              <a:t>步4-5子问题：</a:t>
            </a:r>
            <a:r>
              <a:rPr lang="en-US" sz="28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2</a:t>
            </a:r>
            <a:r>
              <a:rPr lang="en-US" altLang="zh-CN" sz="2800" b="1" i="1" spc="-7"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spc="-13" dirty="0">
                <a:latin typeface="Times New Roman" panose="02020603050405020304" pitchFamily="18" charset="0"/>
                <a:ea typeface="黑体" panose="02010609060101010101" pitchFamily="49" charset="-122"/>
                <a:cs typeface="Times New Roman" panose="02020603050405020304" pitchFamily="18" charset="0"/>
              </a:rPr>
              <a:t>n</a:t>
            </a:r>
            <a:r>
              <a:rPr lang="en-US" altLang="zh-CN" sz="2800" b="1" spc="7"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2)</a:t>
            </a:r>
            <a:endParaRPr lang="en-US" sz="2800" b="1" dirty="0">
              <a:latin typeface="Times New Roman" panose="02020603050405020304" pitchFamily="18" charset="0"/>
              <a:ea typeface="黑体" panose="02010609060101010101" pitchFamily="49" charset="-122"/>
              <a:cs typeface="Times New Roman" panose="02020603050405020304" pitchFamily="18" charset="0"/>
            </a:endParaRPr>
          </a:p>
          <a:p>
            <a:pPr marL="17145" marR="6985">
              <a:lnSpc>
                <a:spcPct val="114000"/>
              </a:lnSpc>
              <a:spcBef>
                <a:spcPts val="20"/>
              </a:spcBef>
            </a:pPr>
            <a:r>
              <a:rPr sz="2800" b="1" dirty="0">
                <a:latin typeface="Times New Roman" panose="02020603050405020304" pitchFamily="18" charset="0"/>
                <a:ea typeface="黑体" panose="02010609060101010101" pitchFamily="49" charset="-122"/>
                <a:cs typeface="Times New Roman" panose="02020603050405020304" pitchFamily="18" charset="0"/>
              </a:rPr>
              <a:t>步6确</a:t>
            </a:r>
            <a:r>
              <a:rPr sz="2800" b="1" spc="-7" dirty="0">
                <a:latin typeface="Times New Roman" panose="02020603050405020304" pitchFamily="18" charset="0"/>
                <a:ea typeface="黑体" panose="02010609060101010101" pitchFamily="49" charset="-122"/>
                <a:cs typeface="Times New Roman" panose="02020603050405020304" pitchFamily="18" charset="0"/>
              </a:rPr>
              <a:t>定</a:t>
            </a:r>
            <a:r>
              <a:rPr sz="2800" b="1" spc="-13" dirty="0">
                <a:latin typeface="Times New Roman" panose="02020603050405020304" pitchFamily="18" charset="0"/>
                <a:ea typeface="黑体" panose="02010609060101010101" pitchFamily="49" charset="-122"/>
                <a:cs typeface="Times New Roman" panose="02020603050405020304" pitchFamily="18" charset="0"/>
              </a:rPr>
              <a:t>:</a:t>
            </a:r>
            <a:r>
              <a:rPr lang="en-US" sz="2800" b="1" spc="-13"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spc="-13" dirty="0">
                <a:latin typeface="Times New Roman" panose="02020603050405020304" pitchFamily="18" charset="0"/>
                <a:ea typeface="黑体" panose="02010609060101010101" pitchFamily="49" charset="-122"/>
                <a:cs typeface="Times New Roman" panose="02020603050405020304" pitchFamily="18" charset="0"/>
              </a:rPr>
              <a:t>O</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a:p>
            <a:pPr marL="17145" marR="6985">
              <a:lnSpc>
                <a:spcPct val="114000"/>
              </a:lnSpc>
              <a:spcBef>
                <a:spcPts val="20"/>
              </a:spcBef>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步</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7</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检查跨边界点对</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spc="-13" dirty="0">
                <a:latin typeface="Times New Roman" panose="02020603050405020304" pitchFamily="18" charset="0"/>
                <a:ea typeface="黑体" panose="02010609060101010101" pitchFamily="49" charset="-122"/>
                <a:cs typeface="Times New Roman" panose="02020603050405020304" pitchFamily="18" charset="0"/>
              </a:rPr>
              <a:t>O</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spc="-7" dirty="0">
                <a:latin typeface="Times New Roman" panose="02020603050405020304" pitchFamily="18" charset="0"/>
                <a:ea typeface="黑体" panose="02010609060101010101" pitchFamily="49" charset="-122"/>
                <a:cs typeface="Times New Roman" panose="02020603050405020304" pitchFamily="18" charset="0"/>
              </a:rPr>
              <a:t>n</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object 7"/>
          <p:cNvSpPr txBox="1"/>
          <p:nvPr/>
        </p:nvSpPr>
        <p:spPr>
          <a:xfrm>
            <a:off x="2581615" y="3983987"/>
            <a:ext cx="4734560" cy="1124325"/>
          </a:xfrm>
          <a:prstGeom prst="rect">
            <a:avLst/>
          </a:prstGeom>
        </p:spPr>
        <p:txBody>
          <a:bodyPr vert="horz" wrap="square" lIns="0" tIns="242993" rIns="0" bIns="0" rtlCol="0">
            <a:spAutoFit/>
          </a:bodyPr>
          <a:lstStyle/>
          <a:p>
            <a:pPr marL="421640" marR="248285" indent="42545">
              <a:lnSpc>
                <a:spcPct val="102000"/>
              </a:lnSpc>
              <a:spcBef>
                <a:spcPts val="1685"/>
              </a:spcBef>
            </a:pPr>
            <a:r>
              <a:rPr sz="2800" b="1" i="1" spc="-7" dirty="0">
                <a:latin typeface="Times New Roman" panose="02020603050405020304"/>
                <a:cs typeface="Times New Roman" panose="02020603050405020304"/>
              </a:rPr>
              <a:t>T</a:t>
            </a:r>
            <a:r>
              <a:rPr sz="2800" b="1" spc="-7" dirty="0">
                <a:latin typeface="Times New Roman" panose="02020603050405020304"/>
                <a:cs typeface="Times New Roman" panose="02020603050405020304"/>
              </a:rPr>
              <a:t>(</a:t>
            </a:r>
            <a:r>
              <a:rPr sz="2800" b="1" i="1" spc="-7" dirty="0">
                <a:latin typeface="Times New Roman" panose="02020603050405020304"/>
                <a:cs typeface="Times New Roman" panose="02020603050405020304"/>
              </a:rPr>
              <a:t>n</a:t>
            </a:r>
            <a:r>
              <a:rPr sz="2800" b="1" spc="-7" dirty="0">
                <a:latin typeface="Times New Roman" panose="02020603050405020304"/>
                <a:cs typeface="Times New Roman" panose="02020603050405020304"/>
              </a:rPr>
              <a:t>)=2</a:t>
            </a:r>
            <a:r>
              <a:rPr sz="2800" b="1" i="1" spc="-7" dirty="0">
                <a:latin typeface="Times New Roman" panose="02020603050405020304"/>
                <a:cs typeface="Times New Roman" panose="02020603050405020304"/>
              </a:rPr>
              <a:t>T</a:t>
            </a:r>
            <a:r>
              <a:rPr sz="2800" b="1" spc="-7" dirty="0">
                <a:latin typeface="Times New Roman" panose="02020603050405020304"/>
                <a:cs typeface="Times New Roman" panose="02020603050405020304"/>
              </a:rPr>
              <a:t>(</a:t>
            </a:r>
            <a:r>
              <a:rPr sz="2800" b="1" i="1" spc="-7" dirty="0">
                <a:latin typeface="Times New Roman" panose="02020603050405020304"/>
                <a:cs typeface="Times New Roman" panose="02020603050405020304"/>
              </a:rPr>
              <a:t>n</a:t>
            </a:r>
            <a:r>
              <a:rPr sz="2800" b="1" spc="-7" dirty="0">
                <a:latin typeface="Times New Roman" panose="02020603050405020304"/>
                <a:cs typeface="Times New Roman" panose="02020603050405020304"/>
              </a:rPr>
              <a:t>/2)+</a:t>
            </a:r>
            <a:r>
              <a:rPr sz="2800" b="1" i="1" spc="-7" dirty="0">
                <a:latin typeface="Times New Roman" panose="02020603050405020304"/>
                <a:cs typeface="Times New Roman" panose="02020603050405020304"/>
              </a:rPr>
              <a:t>O</a:t>
            </a:r>
            <a:r>
              <a:rPr sz="2800" b="1" spc="-7" dirty="0">
                <a:latin typeface="Times New Roman" panose="02020603050405020304"/>
                <a:cs typeface="Times New Roman" panose="02020603050405020304"/>
              </a:rPr>
              <a:t>(</a:t>
            </a:r>
            <a:r>
              <a:rPr sz="2800" b="1" i="1" spc="-7" dirty="0">
                <a:latin typeface="Times New Roman" panose="02020603050405020304"/>
                <a:cs typeface="Times New Roman" panose="02020603050405020304"/>
              </a:rPr>
              <a:t>n</a:t>
            </a:r>
            <a:r>
              <a:rPr sz="2800" b="1" spc="-7" dirty="0">
                <a:latin typeface="Times New Roman" panose="02020603050405020304"/>
                <a:cs typeface="Times New Roman" panose="02020603050405020304"/>
              </a:rPr>
              <a:t>log</a:t>
            </a:r>
            <a:r>
              <a:rPr sz="2800" b="1" i="1" spc="-7" dirty="0">
                <a:latin typeface="Times New Roman" panose="02020603050405020304"/>
                <a:cs typeface="Times New Roman" panose="02020603050405020304"/>
              </a:rPr>
              <a:t>n</a:t>
            </a:r>
            <a:r>
              <a:rPr sz="2800" b="1" spc="-7" dirty="0">
                <a:latin typeface="Times New Roman" panose="02020603050405020304"/>
                <a:cs typeface="Times New Roman" panose="02020603050405020304"/>
              </a:rPr>
              <a:t>)  </a:t>
            </a:r>
            <a:r>
              <a:rPr sz="2800" b="1" i="1" spc="-7" dirty="0">
                <a:latin typeface="Times New Roman" panose="02020603050405020304"/>
                <a:cs typeface="Times New Roman" panose="02020603050405020304"/>
              </a:rPr>
              <a:t>T</a:t>
            </a:r>
            <a:r>
              <a:rPr sz="2800" b="1" spc="-7" dirty="0">
                <a:latin typeface="Times New Roman" panose="02020603050405020304"/>
                <a:cs typeface="Times New Roman" panose="02020603050405020304"/>
              </a:rPr>
              <a:t>(</a:t>
            </a:r>
            <a:r>
              <a:rPr sz="2800" b="1" i="1" spc="-7" dirty="0">
                <a:latin typeface="Times New Roman" panose="02020603050405020304"/>
                <a:cs typeface="Times New Roman" panose="02020603050405020304"/>
              </a:rPr>
              <a:t>n</a:t>
            </a:r>
            <a:r>
              <a:rPr sz="2800" b="1" spc="-7" dirty="0">
                <a:latin typeface="Times New Roman" panose="02020603050405020304"/>
                <a:cs typeface="Times New Roman" panose="02020603050405020304"/>
              </a:rPr>
              <a:t>)=</a:t>
            </a:r>
            <a:r>
              <a:rPr sz="2800" b="1" i="1" spc="-7" dirty="0">
                <a:latin typeface="Times New Roman" panose="02020603050405020304"/>
                <a:cs typeface="Times New Roman" panose="02020603050405020304"/>
              </a:rPr>
              <a:t>O</a:t>
            </a:r>
            <a:r>
              <a:rPr sz="2800" b="1" spc="-7" dirty="0">
                <a:latin typeface="Times New Roman" panose="02020603050405020304"/>
                <a:cs typeface="Times New Roman" panose="02020603050405020304"/>
              </a:rPr>
              <a:t>(1),</a:t>
            </a:r>
            <a:r>
              <a:rPr sz="2800" b="1" spc="-20" dirty="0">
                <a:latin typeface="Times New Roman" panose="02020603050405020304"/>
                <a:cs typeface="Times New Roman" panose="02020603050405020304"/>
              </a:rPr>
              <a:t> </a:t>
            </a:r>
            <a:r>
              <a:rPr sz="2800" b="1" i="1" dirty="0">
                <a:latin typeface="Times New Roman" panose="02020603050405020304"/>
                <a:cs typeface="Times New Roman" panose="02020603050405020304"/>
              </a:rPr>
              <a:t>n</a:t>
            </a:r>
            <a:r>
              <a:rPr lang="en-US" sz="2800" b="1" i="1" dirty="0">
                <a:latin typeface="Times New Roman" panose="02020603050405020304"/>
                <a:cs typeface="Times New Roman" panose="02020603050405020304"/>
              </a:rPr>
              <a:t> </a:t>
            </a:r>
            <a:r>
              <a:rPr sz="2800" b="1" dirty="0">
                <a:latin typeface="Symbol" panose="05050102010706020507"/>
                <a:cs typeface="Symbol" panose="05050102010706020507"/>
              </a:rPr>
              <a:t></a:t>
            </a:r>
            <a:r>
              <a:rPr lang="en-US" sz="2800" b="1" dirty="0">
                <a:latin typeface="Symbol" panose="05050102010706020507"/>
                <a:cs typeface="Symbol" panose="05050102010706020507"/>
              </a:rPr>
              <a:t> </a:t>
            </a:r>
            <a:r>
              <a:rPr sz="2800" b="1" dirty="0">
                <a:latin typeface="Times New Roman" panose="02020603050405020304"/>
                <a:cs typeface="Times New Roman" panose="02020603050405020304"/>
              </a:rPr>
              <a:t>3</a:t>
            </a:r>
            <a:endParaRPr sz="2800" dirty="0">
              <a:latin typeface="Times New Roman" panose="02020603050405020304"/>
              <a:cs typeface="Times New Roman" panose="02020603050405020304"/>
            </a:endParaRPr>
          </a:p>
        </p:txBody>
      </p:sp>
      <p:sp>
        <p:nvSpPr>
          <p:cNvPr id="8" name="object 8"/>
          <p:cNvSpPr/>
          <p:nvPr/>
        </p:nvSpPr>
        <p:spPr>
          <a:xfrm>
            <a:off x="2910373" y="4099828"/>
            <a:ext cx="3852945" cy="1117600"/>
          </a:xfrm>
          <a:custGeom>
            <a:avLst/>
            <a:gdLst/>
            <a:ahLst/>
            <a:cxnLst/>
            <a:rect l="l" t="t" r="r" b="b"/>
            <a:pathLst>
              <a:path w="3276600" h="838200">
                <a:moveTo>
                  <a:pt x="0" y="139700"/>
                </a:moveTo>
                <a:lnTo>
                  <a:pt x="7122" y="95520"/>
                </a:lnTo>
                <a:lnTo>
                  <a:pt x="26954" y="57168"/>
                </a:lnTo>
                <a:lnTo>
                  <a:pt x="57195" y="26936"/>
                </a:lnTo>
                <a:lnTo>
                  <a:pt x="95544" y="7116"/>
                </a:lnTo>
                <a:lnTo>
                  <a:pt x="139700" y="0"/>
                </a:lnTo>
                <a:lnTo>
                  <a:pt x="3136900" y="0"/>
                </a:lnTo>
                <a:lnTo>
                  <a:pt x="3181030" y="7116"/>
                </a:lnTo>
                <a:lnTo>
                  <a:pt x="3219376" y="26936"/>
                </a:lnTo>
                <a:lnTo>
                  <a:pt x="3249627" y="57168"/>
                </a:lnTo>
                <a:lnTo>
                  <a:pt x="3269471" y="95520"/>
                </a:lnTo>
                <a:lnTo>
                  <a:pt x="3276600" y="139700"/>
                </a:lnTo>
                <a:lnTo>
                  <a:pt x="3276600" y="698500"/>
                </a:lnTo>
                <a:lnTo>
                  <a:pt x="3269471" y="742655"/>
                </a:lnTo>
                <a:lnTo>
                  <a:pt x="3249627" y="781004"/>
                </a:lnTo>
                <a:lnTo>
                  <a:pt x="3219376" y="811245"/>
                </a:lnTo>
                <a:lnTo>
                  <a:pt x="3181030" y="831077"/>
                </a:lnTo>
                <a:lnTo>
                  <a:pt x="3136900" y="838200"/>
                </a:lnTo>
                <a:lnTo>
                  <a:pt x="139700" y="838200"/>
                </a:lnTo>
                <a:lnTo>
                  <a:pt x="95544" y="831077"/>
                </a:lnTo>
                <a:lnTo>
                  <a:pt x="57195" y="811245"/>
                </a:lnTo>
                <a:lnTo>
                  <a:pt x="26954" y="781004"/>
                </a:lnTo>
                <a:lnTo>
                  <a:pt x="7122" y="742655"/>
                </a:lnTo>
                <a:lnTo>
                  <a:pt x="0" y="698500"/>
                </a:lnTo>
                <a:lnTo>
                  <a:pt x="0" y="139700"/>
                </a:lnTo>
                <a:close/>
              </a:path>
            </a:pathLst>
          </a:custGeom>
          <a:ln w="25400">
            <a:solidFill>
              <a:srgbClr val="C00000"/>
            </a:solidFill>
          </a:ln>
        </p:spPr>
        <p:txBody>
          <a:bodyPr wrap="square" lIns="0" tIns="0" rIns="0" bIns="0" rtlCol="0"/>
          <a:lstStyle/>
          <a:p>
            <a:endParaRPr sz="2400"/>
          </a:p>
        </p:txBody>
      </p:sp>
      <p:sp>
        <p:nvSpPr>
          <p:cNvPr id="9" name="object 9"/>
          <p:cNvSpPr txBox="1"/>
          <p:nvPr/>
        </p:nvSpPr>
        <p:spPr>
          <a:xfrm>
            <a:off x="558799" y="5374793"/>
            <a:ext cx="4985727" cy="447986"/>
          </a:xfrm>
          <a:prstGeom prst="rect">
            <a:avLst/>
          </a:prstGeom>
        </p:spPr>
        <p:txBody>
          <a:bodyPr vert="horz" wrap="square" lIns="0" tIns="16933" rIns="0" bIns="0" rtlCol="0">
            <a:spAutoFit/>
          </a:bodyPr>
          <a:lstStyle/>
          <a:p>
            <a:pPr>
              <a:spcBef>
                <a:spcPts val="135"/>
              </a:spcBef>
            </a:pPr>
            <a:r>
              <a:rPr sz="2800" b="1" dirty="0">
                <a:latin typeface="黑体" panose="02010609060101010101" pitchFamily="49" charset="-122"/>
                <a:ea typeface="黑体" panose="02010609060101010101" pitchFamily="49" charset="-122"/>
                <a:cs typeface="宋体" panose="02010600030101010101" pitchFamily="2" charset="-122"/>
              </a:rPr>
              <a:t>递归树求</a:t>
            </a:r>
            <a:r>
              <a:rPr sz="2800" b="1" spc="-13" dirty="0">
                <a:latin typeface="黑体" panose="02010609060101010101" pitchFamily="49" charset="-122"/>
                <a:ea typeface="黑体" panose="02010609060101010101" pitchFamily="49" charset="-122"/>
                <a:cs typeface="宋体" panose="02010600030101010101" pitchFamily="2" charset="-122"/>
              </a:rPr>
              <a:t>解</a:t>
            </a:r>
            <a:r>
              <a:rPr sz="2800" b="1" spc="727" dirty="0">
                <a:latin typeface="宋体" panose="02010600030101010101" pitchFamily="2" charset="-122"/>
                <a:cs typeface="宋体" panose="02010600030101010101" pitchFamily="2" charset="-122"/>
              </a:rPr>
              <a:t> </a:t>
            </a:r>
            <a:r>
              <a:rPr sz="2800" b="1" i="1" spc="-7" dirty="0">
                <a:latin typeface="Times New Roman" panose="02020603050405020304"/>
                <a:cs typeface="Times New Roman" panose="02020603050405020304"/>
              </a:rPr>
              <a:t>T</a:t>
            </a:r>
            <a:r>
              <a:rPr sz="2800" b="1" spc="-7" dirty="0">
                <a:latin typeface="Times New Roman" panose="02020603050405020304"/>
                <a:cs typeface="Times New Roman" panose="02020603050405020304"/>
              </a:rPr>
              <a:t>(</a:t>
            </a:r>
            <a:r>
              <a:rPr sz="2800" b="1" i="1" spc="-7" dirty="0">
                <a:latin typeface="Times New Roman" panose="02020603050405020304"/>
                <a:cs typeface="Times New Roman" panose="02020603050405020304"/>
              </a:rPr>
              <a:t>n</a:t>
            </a:r>
            <a:r>
              <a:rPr sz="2800" b="1" spc="-7" dirty="0">
                <a:latin typeface="Times New Roman" panose="02020603050405020304"/>
                <a:cs typeface="Times New Roman" panose="02020603050405020304"/>
              </a:rPr>
              <a:t>)=</a:t>
            </a:r>
            <a:r>
              <a:rPr sz="2800" b="1" i="1" spc="-7" dirty="0">
                <a:latin typeface="Times New Roman" panose="02020603050405020304"/>
                <a:cs typeface="Times New Roman" panose="02020603050405020304"/>
              </a:rPr>
              <a:t>O</a:t>
            </a:r>
            <a:r>
              <a:rPr sz="2800" b="1" spc="-7" dirty="0">
                <a:latin typeface="Times New Roman" panose="02020603050405020304"/>
                <a:cs typeface="Times New Roman" panose="02020603050405020304"/>
              </a:rPr>
              <a:t>(</a:t>
            </a:r>
            <a:r>
              <a:rPr sz="2800" b="1" i="1" spc="-7" dirty="0">
                <a:latin typeface="Times New Roman" panose="02020603050405020304"/>
                <a:cs typeface="Times New Roman" panose="02020603050405020304"/>
              </a:rPr>
              <a:t>n</a:t>
            </a:r>
            <a:r>
              <a:rPr sz="2800" b="1" spc="-7" dirty="0">
                <a:latin typeface="Times New Roman" panose="02020603050405020304"/>
                <a:cs typeface="Times New Roman" panose="02020603050405020304"/>
              </a:rPr>
              <a:t>log</a:t>
            </a:r>
            <a:r>
              <a:rPr sz="2800" b="1" spc="-9" baseline="24000" dirty="0">
                <a:latin typeface="Times New Roman" panose="02020603050405020304"/>
                <a:cs typeface="Times New Roman" panose="02020603050405020304"/>
              </a:rPr>
              <a:t>2</a:t>
            </a:r>
            <a:r>
              <a:rPr sz="2800" b="1" i="1" spc="-7" dirty="0">
                <a:latin typeface="Times New Roman" panose="02020603050405020304"/>
                <a:cs typeface="Times New Roman" panose="02020603050405020304"/>
              </a:rPr>
              <a:t>n</a:t>
            </a:r>
            <a:r>
              <a:rPr sz="2800" b="1" spc="-7" dirty="0">
                <a:latin typeface="Times New Roman" panose="02020603050405020304"/>
                <a:cs typeface="Times New Roman" panose="02020603050405020304"/>
              </a:rPr>
              <a:t>)</a:t>
            </a:r>
            <a:endParaRPr sz="2800" dirty="0">
              <a:latin typeface="Times New Roman" panose="02020603050405020304"/>
              <a:cs typeface="Times New Roman" panose="02020603050405020304"/>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2284" y="47636"/>
            <a:ext cx="8933793"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20" dirty="0">
                <a:solidFill>
                  <a:srgbClr val="C00000"/>
                </a:solidFill>
                <a:latin typeface="黑体" panose="02010609060101010101" pitchFamily="49" charset="-122"/>
                <a:ea typeface="黑体" panose="02010609060101010101" pitchFamily="49" charset="-122"/>
              </a:rPr>
              <a:t>增加预处理</a:t>
            </a:r>
            <a:endParaRPr sz="4400" b="1" spc="-20"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424385" y="1091580"/>
            <a:ext cx="8313216" cy="4510636"/>
          </a:xfrm>
          <a:prstGeom prst="rect">
            <a:avLst/>
          </a:prstGeom>
        </p:spPr>
        <p:txBody>
          <a:bodyPr vert="horz" wrap="square" lIns="0" tIns="16933" rIns="0" bIns="0" rtlCol="0">
            <a:spAutoFit/>
          </a:bodyPr>
          <a:lstStyle/>
          <a:p>
            <a:pPr marL="33655">
              <a:spcBef>
                <a:spcPts val="135"/>
              </a:spcBef>
            </a:pPr>
            <a:r>
              <a:rPr sz="3200" b="1" dirty="0">
                <a:latin typeface="Times New Roman" panose="02020603050405020304" pitchFamily="18" charset="0"/>
                <a:ea typeface="黑体" panose="02010609060101010101" pitchFamily="49" charset="-122"/>
                <a:cs typeface="Times New Roman" panose="02020603050405020304" pitchFamily="18" charset="0"/>
              </a:rPr>
              <a:t>原算法：</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33655"/>
            <a:r>
              <a:rPr lang="en-US" sz="3200" b="1" dirty="0">
                <a:latin typeface="Times New Roman" panose="02020603050405020304" pitchFamily="18" charset="0"/>
                <a:ea typeface="黑体" panose="02010609060101010101" pitchFamily="49" charset="-122"/>
                <a:cs typeface="Times New Roman" panose="02020603050405020304" pitchFamily="18" charset="0"/>
              </a:rPr>
              <a:t>          </a:t>
            </a:r>
            <a:r>
              <a:rPr sz="3200" b="1" dirty="0" err="1">
                <a:latin typeface="Times New Roman" panose="02020603050405020304" pitchFamily="18" charset="0"/>
                <a:ea typeface="黑体" panose="02010609060101010101" pitchFamily="49" charset="-122"/>
                <a:cs typeface="Times New Roman" panose="02020603050405020304" pitchFamily="18" charset="0"/>
              </a:rPr>
              <a:t>在每次划分时对子问题数组重新排序</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135255">
              <a:lnSpc>
                <a:spcPts val="3760"/>
              </a:lnSpc>
              <a:spcBef>
                <a:spcPts val="2485"/>
              </a:spcBef>
            </a:pPr>
            <a:r>
              <a:rPr sz="3200" b="1" dirty="0">
                <a:latin typeface="Times New Roman" panose="02020603050405020304" pitchFamily="18" charset="0"/>
                <a:ea typeface="黑体" panose="02010609060101010101" pitchFamily="49" charset="-122"/>
                <a:cs typeface="Times New Roman" panose="02020603050405020304" pitchFamily="18" charset="0"/>
              </a:rPr>
              <a:t>改进算法：</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134620">
              <a:lnSpc>
                <a:spcPts val="3760"/>
              </a:lnSpc>
              <a:buClr>
                <a:srgbClr val="000000"/>
              </a:buClr>
              <a:tabLst>
                <a:tab pos="539750" algn="l"/>
              </a:tabLst>
            </a:pPr>
            <a:r>
              <a:rPr lang="en-US" sz="3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1.</a:t>
            </a:r>
            <a:r>
              <a:rPr sz="3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在递归前</a:t>
            </a:r>
            <a:r>
              <a:rPr sz="3200" b="1" spc="-13"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对</a:t>
            </a:r>
            <a:r>
              <a:rPr sz="3200" b="1" spc="-82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X</a:t>
            </a:r>
            <a:r>
              <a:rPr sz="32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lang="en-US" sz="32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sz="3200" b="1" i="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Y</a:t>
            </a:r>
            <a:r>
              <a:rPr sz="3200" b="1" i="1" spc="-12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sz="3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排序，作为预处理</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134620" marR="57785" algn="just">
              <a:spcBef>
                <a:spcPts val="5"/>
              </a:spcBef>
              <a:tabLst>
                <a:tab pos="541655" algn="l"/>
              </a:tabLst>
            </a:pPr>
            <a:r>
              <a:rPr lang="en-US" sz="3200" b="1" spc="-7" dirty="0">
                <a:latin typeface="Times New Roman" panose="02020603050405020304" pitchFamily="18" charset="0"/>
                <a:ea typeface="黑体" panose="02010609060101010101" pitchFamily="49" charset="-122"/>
                <a:cs typeface="Times New Roman" panose="02020603050405020304" pitchFamily="18" charset="0"/>
              </a:rPr>
              <a:t>    2.</a:t>
            </a:r>
            <a:r>
              <a:rPr sz="3200" b="1" spc="-7" dirty="0">
                <a:latin typeface="Times New Roman" panose="02020603050405020304" pitchFamily="18" charset="0"/>
                <a:ea typeface="黑体" panose="02010609060101010101" pitchFamily="49" charset="-122"/>
                <a:cs typeface="Times New Roman" panose="02020603050405020304" pitchFamily="18" charset="0"/>
              </a:rPr>
              <a:t>划分时对排序的数</a:t>
            </a:r>
            <a:r>
              <a:rPr sz="3200" b="1" spc="-13" dirty="0">
                <a:latin typeface="Times New Roman" panose="02020603050405020304" pitchFamily="18" charset="0"/>
                <a:ea typeface="黑体" panose="02010609060101010101" pitchFamily="49" charset="-122"/>
                <a:cs typeface="Times New Roman" panose="02020603050405020304" pitchFamily="18" charset="0"/>
              </a:rPr>
              <a:t>组</a:t>
            </a:r>
            <a:r>
              <a:rPr sz="3200" b="1" spc="-833"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X</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lang="en-US"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Y</a:t>
            </a:r>
            <a:r>
              <a:rPr sz="3200" b="1" i="1" spc="-27" dirty="0">
                <a:latin typeface="Times New Roman" panose="02020603050405020304" pitchFamily="18" charset="0"/>
                <a:ea typeface="黑体" panose="02010609060101010101" pitchFamily="49" charset="-122"/>
                <a:cs typeface="Times New Roman" panose="02020603050405020304" pitchFamily="18" charset="0"/>
              </a:rPr>
              <a:t> </a:t>
            </a:r>
            <a:r>
              <a:rPr sz="3200" b="1" spc="-7" dirty="0" err="1">
                <a:latin typeface="Times New Roman" panose="02020603050405020304" pitchFamily="18" charset="0"/>
                <a:ea typeface="黑体" panose="02010609060101010101" pitchFamily="49" charset="-122"/>
                <a:cs typeface="Times New Roman" panose="02020603050405020304" pitchFamily="18" charset="0"/>
              </a:rPr>
              <a:t>进行</a:t>
            </a:r>
            <a:r>
              <a:rPr sz="3200" b="1" spc="-13" dirty="0" err="1">
                <a:latin typeface="Times New Roman" panose="02020603050405020304" pitchFamily="18" charset="0"/>
                <a:ea typeface="黑体" panose="02010609060101010101" pitchFamily="49" charset="-122"/>
                <a:cs typeface="Times New Roman" panose="02020603050405020304" pitchFamily="18" charset="0"/>
              </a:rPr>
              <a:t>拆分</a:t>
            </a:r>
            <a:r>
              <a:rPr lang="en-US" sz="3200" b="1" spc="-13" dirty="0" err="1">
                <a:latin typeface="Times New Roman" panose="02020603050405020304" pitchFamily="18" charset="0"/>
                <a:ea typeface="黑体" panose="02010609060101010101" pitchFamily="49" charset="-122"/>
                <a:cs typeface="Times New Roman" panose="02020603050405020304" pitchFamily="18" charset="0"/>
              </a:rPr>
              <a:t>,</a:t>
            </a:r>
            <a:r>
              <a:rPr sz="3200" b="1" dirty="0" err="1">
                <a:latin typeface="Times New Roman" panose="02020603050405020304" pitchFamily="18" charset="0"/>
                <a:ea typeface="黑体" panose="02010609060101010101" pitchFamily="49" charset="-122"/>
                <a:cs typeface="Times New Roman" panose="02020603050405020304" pitchFamily="18" charset="0"/>
              </a:rPr>
              <a:t>得到针对子问</a:t>
            </a:r>
            <a:r>
              <a:rPr sz="3200" b="1" spc="-13" dirty="0" err="1">
                <a:latin typeface="Times New Roman" panose="02020603050405020304" pitchFamily="18" charset="0"/>
                <a:ea typeface="黑体" panose="02010609060101010101" pitchFamily="49" charset="-122"/>
                <a:cs typeface="Times New Roman" panose="02020603050405020304" pitchFamily="18" charset="0"/>
              </a:rPr>
              <a:t>题</a:t>
            </a:r>
            <a:r>
              <a:rPr sz="3200" b="1" spc="-807" dirty="0">
                <a:latin typeface="Times New Roman" panose="02020603050405020304" pitchFamily="18" charset="0"/>
                <a:ea typeface="黑体" panose="02010609060101010101" pitchFamily="49" charset="-122"/>
                <a:cs typeface="Times New Roman" panose="02020603050405020304" pitchFamily="18" charset="0"/>
              </a:rPr>
              <a:t> </a:t>
            </a:r>
            <a:r>
              <a:rPr sz="3200" b="1" i="1" spc="-13" dirty="0">
                <a:latin typeface="Times New Roman" panose="02020603050405020304" pitchFamily="18" charset="0"/>
                <a:ea typeface="黑体" panose="02010609060101010101" pitchFamily="49" charset="-122"/>
                <a:cs typeface="Times New Roman" panose="02020603050405020304" pitchFamily="18" charset="0"/>
              </a:rPr>
              <a:t>P</a:t>
            </a:r>
            <a:r>
              <a:rPr sz="3200" b="1" i="1" spc="-20" baseline="-21000" dirty="0">
                <a:latin typeface="Times New Roman" panose="02020603050405020304" pitchFamily="18" charset="0"/>
                <a:ea typeface="黑体" panose="02010609060101010101" pitchFamily="49" charset="-122"/>
                <a:cs typeface="Times New Roman" panose="02020603050405020304" pitchFamily="18" charset="0"/>
              </a:rPr>
              <a:t>L</a:t>
            </a:r>
            <a:r>
              <a:rPr lang="en-US" sz="3200" b="1" i="1" spc="-20" baseline="-21000" dirty="0">
                <a:latin typeface="Times New Roman" panose="02020603050405020304" pitchFamily="18" charset="0"/>
                <a:ea typeface="黑体" panose="02010609060101010101" pitchFamily="49" charset="-122"/>
                <a:cs typeface="Times New Roman" panose="02020603050405020304" pitchFamily="18" charset="0"/>
              </a:rPr>
              <a:t> </a:t>
            </a:r>
            <a:r>
              <a:rPr sz="3200" b="1" dirty="0" err="1">
                <a:latin typeface="Times New Roman" panose="02020603050405020304" pitchFamily="18" charset="0"/>
                <a:ea typeface="黑体" panose="02010609060101010101" pitchFamily="49" charset="-122"/>
                <a:cs typeface="Times New Roman" panose="02020603050405020304" pitchFamily="18" charset="0"/>
              </a:rPr>
              <a:t>的数</a:t>
            </a:r>
            <a:r>
              <a:rPr sz="3200" b="1" spc="-13" dirty="0" err="1">
                <a:latin typeface="Times New Roman" panose="02020603050405020304" pitchFamily="18" charset="0"/>
                <a:ea typeface="黑体" panose="02010609060101010101" pitchFamily="49" charset="-122"/>
                <a:cs typeface="Times New Roman" panose="02020603050405020304" pitchFamily="18" charset="0"/>
              </a:rPr>
              <a:t>组</a:t>
            </a:r>
            <a:r>
              <a:rPr sz="3200" b="1" spc="-800"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X</a:t>
            </a:r>
            <a:r>
              <a:rPr sz="3200" b="1" i="1" spc="-9" baseline="-21000" dirty="0">
                <a:latin typeface="Times New Roman" panose="02020603050405020304" pitchFamily="18" charset="0"/>
                <a:ea typeface="黑体" panose="02010609060101010101" pitchFamily="49" charset="-122"/>
                <a:cs typeface="Times New Roman" panose="02020603050405020304" pitchFamily="18" charset="0"/>
              </a:rPr>
              <a:t>L</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lang="en-US"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Y</a:t>
            </a:r>
            <a:r>
              <a:rPr sz="3200" b="1" i="1" spc="-9" baseline="-21000" dirty="0">
                <a:latin typeface="Times New Roman" panose="02020603050405020304" pitchFamily="18" charset="0"/>
                <a:ea typeface="黑体" panose="02010609060101010101" pitchFamily="49" charset="-122"/>
                <a:cs typeface="Times New Roman" panose="02020603050405020304" pitchFamily="18" charset="0"/>
              </a:rPr>
              <a:t>L</a:t>
            </a:r>
            <a:r>
              <a:rPr sz="3200" b="1" i="1" spc="-149" baseline="-21000" dirty="0">
                <a:latin typeface="Times New Roman" panose="02020603050405020304" pitchFamily="18" charset="0"/>
                <a:ea typeface="黑体" panose="02010609060101010101" pitchFamily="49" charset="-122"/>
                <a:cs typeface="Times New Roman" panose="02020603050405020304" pitchFamily="18" charset="0"/>
              </a:rPr>
              <a:t> </a:t>
            </a:r>
            <a:r>
              <a:rPr sz="3200" b="1" spc="-13" dirty="0" err="1">
                <a:latin typeface="Times New Roman" panose="02020603050405020304" pitchFamily="18" charset="0"/>
                <a:ea typeface="黑体" panose="02010609060101010101" pitchFamily="49" charset="-122"/>
                <a:cs typeface="Times New Roman" panose="02020603050405020304" pitchFamily="18" charset="0"/>
              </a:rPr>
              <a:t>及</a:t>
            </a:r>
            <a:r>
              <a:rPr sz="3200" b="1" dirty="0" err="1">
                <a:latin typeface="Times New Roman" panose="02020603050405020304" pitchFamily="18" charset="0"/>
                <a:ea typeface="黑体" panose="02010609060101010101" pitchFamily="49" charset="-122"/>
                <a:cs typeface="Times New Roman" panose="02020603050405020304" pitchFamily="18" charset="0"/>
              </a:rPr>
              <a:t>针对子问</a:t>
            </a:r>
            <a:r>
              <a:rPr sz="3200" b="1" spc="-13" dirty="0" err="1">
                <a:latin typeface="Times New Roman" panose="02020603050405020304" pitchFamily="18" charset="0"/>
                <a:ea typeface="黑体" panose="02010609060101010101" pitchFamily="49" charset="-122"/>
                <a:cs typeface="Times New Roman" panose="02020603050405020304" pitchFamily="18" charset="0"/>
              </a:rPr>
              <a:t>题</a:t>
            </a:r>
            <a:r>
              <a:rPr sz="3200" b="1" spc="-807"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P</a:t>
            </a:r>
            <a:r>
              <a:rPr sz="3200" b="1" i="1" spc="-9" baseline="-21000" dirty="0">
                <a:latin typeface="Times New Roman" panose="02020603050405020304" pitchFamily="18" charset="0"/>
                <a:ea typeface="黑体" panose="02010609060101010101" pitchFamily="49" charset="-122"/>
                <a:cs typeface="Times New Roman" panose="02020603050405020304" pitchFamily="18" charset="0"/>
              </a:rPr>
              <a:t>R</a:t>
            </a:r>
            <a:r>
              <a:rPr lang="en-US" sz="3200" b="1" i="1" spc="-9" baseline="-21000" dirty="0">
                <a:latin typeface="Times New Roman" panose="02020603050405020304" pitchFamily="18" charset="0"/>
                <a:ea typeface="黑体" panose="02010609060101010101" pitchFamily="49" charset="-122"/>
                <a:cs typeface="Times New Roman" panose="02020603050405020304" pitchFamily="18" charset="0"/>
              </a:rPr>
              <a:t> </a:t>
            </a:r>
            <a:r>
              <a:rPr sz="3200" b="1" dirty="0" err="1">
                <a:latin typeface="Times New Roman" panose="02020603050405020304" pitchFamily="18" charset="0"/>
                <a:ea typeface="黑体" panose="02010609060101010101" pitchFamily="49" charset="-122"/>
                <a:cs typeface="Times New Roman" panose="02020603050405020304" pitchFamily="18" charset="0"/>
              </a:rPr>
              <a:t>的数</a:t>
            </a:r>
            <a:r>
              <a:rPr sz="3200" b="1" spc="-13" dirty="0" err="1">
                <a:latin typeface="Times New Roman" panose="02020603050405020304" pitchFamily="18" charset="0"/>
                <a:ea typeface="黑体" panose="02010609060101010101" pitchFamily="49" charset="-122"/>
                <a:cs typeface="Times New Roman" panose="02020603050405020304" pitchFamily="18" charset="0"/>
              </a:rPr>
              <a:t>组</a:t>
            </a:r>
            <a:r>
              <a:rPr sz="3200" b="1" spc="-807"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X</a:t>
            </a:r>
            <a:r>
              <a:rPr sz="3200" b="1" i="1" spc="-9" baseline="-21000" dirty="0">
                <a:latin typeface="Times New Roman" panose="02020603050405020304" pitchFamily="18" charset="0"/>
                <a:ea typeface="黑体" panose="02010609060101010101" pitchFamily="49" charset="-122"/>
                <a:cs typeface="Times New Roman" panose="02020603050405020304" pitchFamily="18" charset="0"/>
              </a:rPr>
              <a:t>R</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lang="en-US"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Y</a:t>
            </a:r>
            <a:r>
              <a:rPr sz="3200" b="1" i="1" spc="-9" baseline="-21000" dirty="0">
                <a:latin typeface="Times New Roman" panose="02020603050405020304" pitchFamily="18" charset="0"/>
                <a:ea typeface="黑体" panose="02010609060101010101" pitchFamily="49" charset="-122"/>
                <a:cs typeface="Times New Roman" panose="02020603050405020304" pitchFamily="18" charset="0"/>
              </a:rPr>
              <a:t>R</a:t>
            </a:r>
            <a:endParaRPr sz="3200" baseline="-21000" dirty="0">
              <a:latin typeface="Times New Roman" panose="02020603050405020304" pitchFamily="18" charset="0"/>
              <a:ea typeface="黑体" panose="02010609060101010101" pitchFamily="49" charset="-122"/>
              <a:cs typeface="Times New Roman" panose="02020603050405020304" pitchFamily="18" charset="0"/>
            </a:endParaRPr>
          </a:p>
          <a:p>
            <a:pPr marL="135255">
              <a:spcBef>
                <a:spcPts val="1855"/>
              </a:spcBef>
            </a:pPr>
            <a:r>
              <a:rPr sz="3200" b="1" spc="-7" dirty="0">
                <a:latin typeface="Times New Roman" panose="02020603050405020304" pitchFamily="18" charset="0"/>
                <a:ea typeface="黑体" panose="02010609060101010101" pitchFamily="49" charset="-122"/>
                <a:cs typeface="Times New Roman" panose="02020603050405020304" pitchFamily="18" charset="0"/>
              </a:rPr>
              <a:t>原问题规模</a:t>
            </a:r>
            <a:r>
              <a:rPr sz="3200" b="1" spc="-13" dirty="0">
                <a:latin typeface="Times New Roman" panose="02020603050405020304" pitchFamily="18" charset="0"/>
                <a:ea typeface="黑体" panose="02010609060101010101" pitchFamily="49" charset="-122"/>
                <a:cs typeface="Times New Roman" panose="02020603050405020304" pitchFamily="18" charset="0"/>
              </a:rPr>
              <a:t>为</a:t>
            </a:r>
            <a:r>
              <a:rPr sz="3200" b="1" spc="-20"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err="1">
                <a:latin typeface="Times New Roman" panose="02020603050405020304" pitchFamily="18" charset="0"/>
                <a:ea typeface="黑体" panose="02010609060101010101" pitchFamily="49" charset="-122"/>
                <a:cs typeface="Times New Roman" panose="02020603050405020304" pitchFamily="18" charset="0"/>
              </a:rPr>
              <a:t>n</a:t>
            </a:r>
            <a:r>
              <a:rPr sz="3200" b="1" spc="-7" dirty="0" err="1">
                <a:latin typeface="Times New Roman" panose="02020603050405020304" pitchFamily="18" charset="0"/>
                <a:ea typeface="黑体" panose="02010609060101010101" pitchFamily="49" charset="-122"/>
                <a:cs typeface="Times New Roman" panose="02020603050405020304" pitchFamily="18" charset="0"/>
              </a:rPr>
              <a:t>，拆分的时间</a:t>
            </a:r>
            <a:r>
              <a:rPr sz="3200" b="1" dirty="0" err="1">
                <a:latin typeface="Times New Roman" panose="02020603050405020304" pitchFamily="18" charset="0"/>
                <a:ea typeface="黑体" panose="02010609060101010101" pitchFamily="49" charset="-122"/>
                <a:cs typeface="Times New Roman" panose="02020603050405020304" pitchFamily="18" charset="0"/>
              </a:rPr>
              <a:t>为</a:t>
            </a:r>
            <a:r>
              <a:rPr sz="3200" b="1" i="1" spc="-7"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O</a:t>
            </a:r>
            <a:r>
              <a:rPr sz="32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sz="3200" b="1" i="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n</a:t>
            </a:r>
            <a:r>
              <a:rPr sz="3200" b="1" spc="-7"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endParaRPr sz="32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335" y="22108"/>
            <a:ext cx="8861680"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实例：递归中的拆分</a:t>
            </a:r>
            <a:endParaRPr sz="4400" b="1" spc="-13" dirty="0">
              <a:solidFill>
                <a:srgbClr val="C00000"/>
              </a:solidFill>
              <a:latin typeface="黑体" panose="02010609060101010101" pitchFamily="49" charset="-122"/>
              <a:ea typeface="黑体" panose="02010609060101010101" pitchFamily="49" charset="-122"/>
            </a:endParaRPr>
          </a:p>
        </p:txBody>
      </p:sp>
      <p:graphicFrame>
        <p:nvGraphicFramePr>
          <p:cNvPr id="3" name="object 3"/>
          <p:cNvGraphicFramePr>
            <a:graphicFrameLocks noGrp="1"/>
          </p:cNvGraphicFramePr>
          <p:nvPr/>
        </p:nvGraphicFramePr>
        <p:xfrm>
          <a:off x="3643876" y="1328404"/>
          <a:ext cx="3861644" cy="1494365"/>
        </p:xfrm>
        <a:graphic>
          <a:graphicData uri="http://schemas.openxmlformats.org/drawingml/2006/table">
            <a:tbl>
              <a:tblPr firstRow="1" bandRow="1">
                <a:tableStyleId>{2D5ABB26-0587-4C30-8999-92F81FD0307C}</a:tableStyleId>
              </a:tblPr>
              <a:tblGrid>
                <a:gridCol w="770467"/>
                <a:gridCol w="772159"/>
                <a:gridCol w="776392"/>
                <a:gridCol w="770467"/>
                <a:gridCol w="772159"/>
              </a:tblGrid>
              <a:tr h="498009">
                <a:tc>
                  <a:txBody>
                    <a:bodyPr/>
                    <a:lstStyle/>
                    <a:p>
                      <a:pPr algn="ctr">
                        <a:lnSpc>
                          <a:spcPct val="100000"/>
                        </a:lnSpc>
                        <a:spcBef>
                          <a:spcPts val="205"/>
                        </a:spcBef>
                      </a:pPr>
                      <a:r>
                        <a:rPr sz="2700" b="1" i="1" dirty="0">
                          <a:latin typeface="Times New Roman" panose="02020603050405020304"/>
                          <a:cs typeface="Times New Roman" panose="02020603050405020304"/>
                        </a:rPr>
                        <a:t>P</a:t>
                      </a:r>
                      <a:endParaRPr sz="2700">
                        <a:latin typeface="Times New Roman" panose="02020603050405020304"/>
                        <a:cs typeface="Times New Roman" panose="02020603050405020304"/>
                      </a:endParaRPr>
                    </a:p>
                  </a:txBody>
                  <a:tcPr marL="0" marR="0" marT="34712"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c>
                  <a:txBody>
                    <a:bodyPr/>
                    <a:lstStyle/>
                    <a:p>
                      <a:pPr marL="635" algn="ctr">
                        <a:lnSpc>
                          <a:spcPct val="100000"/>
                        </a:lnSpc>
                        <a:spcBef>
                          <a:spcPts val="205"/>
                        </a:spcBef>
                      </a:pPr>
                      <a:r>
                        <a:rPr sz="2700" b="1" dirty="0">
                          <a:latin typeface="Times New Roman" panose="02020603050405020304"/>
                          <a:cs typeface="Times New Roman" panose="02020603050405020304"/>
                        </a:rPr>
                        <a:t>1</a:t>
                      </a:r>
                      <a:endParaRPr sz="2700">
                        <a:latin typeface="Times New Roman" panose="02020603050405020304"/>
                        <a:cs typeface="Times New Roman" panose="02020603050405020304"/>
                      </a:endParaRPr>
                    </a:p>
                  </a:txBody>
                  <a:tcPr marL="0" marR="0" marT="34712"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c>
                  <a:txBody>
                    <a:bodyPr/>
                    <a:lstStyle/>
                    <a:p>
                      <a:pPr marL="635" algn="ctr">
                        <a:lnSpc>
                          <a:spcPct val="100000"/>
                        </a:lnSpc>
                        <a:spcBef>
                          <a:spcPts val="205"/>
                        </a:spcBef>
                      </a:pPr>
                      <a:r>
                        <a:rPr sz="2700" b="1" dirty="0">
                          <a:latin typeface="Times New Roman" panose="02020603050405020304"/>
                          <a:cs typeface="Times New Roman" panose="02020603050405020304"/>
                        </a:rPr>
                        <a:t>2</a:t>
                      </a:r>
                      <a:endParaRPr sz="2700">
                        <a:latin typeface="Times New Roman" panose="02020603050405020304"/>
                        <a:cs typeface="Times New Roman" panose="02020603050405020304"/>
                      </a:endParaRPr>
                    </a:p>
                  </a:txBody>
                  <a:tcPr marL="0" marR="0" marT="34712"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c>
                  <a:txBody>
                    <a:bodyPr/>
                    <a:lstStyle/>
                    <a:p>
                      <a:pPr algn="ctr">
                        <a:lnSpc>
                          <a:spcPct val="100000"/>
                        </a:lnSpc>
                        <a:spcBef>
                          <a:spcPts val="205"/>
                        </a:spcBef>
                      </a:pPr>
                      <a:r>
                        <a:rPr sz="2700" b="1" dirty="0">
                          <a:latin typeface="Times New Roman" panose="02020603050405020304"/>
                          <a:cs typeface="Times New Roman" panose="02020603050405020304"/>
                        </a:rPr>
                        <a:t>3</a:t>
                      </a:r>
                      <a:endParaRPr sz="2700">
                        <a:latin typeface="Times New Roman" panose="02020603050405020304"/>
                        <a:cs typeface="Times New Roman" panose="02020603050405020304"/>
                      </a:endParaRPr>
                    </a:p>
                  </a:txBody>
                  <a:tcPr marL="0" marR="0" marT="34712"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c>
                  <a:txBody>
                    <a:bodyPr/>
                    <a:lstStyle/>
                    <a:p>
                      <a:pPr marR="217170" algn="r">
                        <a:lnSpc>
                          <a:spcPct val="100000"/>
                        </a:lnSpc>
                        <a:spcBef>
                          <a:spcPts val="205"/>
                        </a:spcBef>
                      </a:pPr>
                      <a:r>
                        <a:rPr sz="2700" b="1" dirty="0">
                          <a:latin typeface="Times New Roman" panose="02020603050405020304"/>
                          <a:cs typeface="Times New Roman" panose="02020603050405020304"/>
                        </a:rPr>
                        <a:t>4</a:t>
                      </a:r>
                      <a:endParaRPr sz="2700">
                        <a:latin typeface="Times New Roman" panose="02020603050405020304"/>
                        <a:cs typeface="Times New Roman" panose="02020603050405020304"/>
                      </a:endParaRPr>
                    </a:p>
                  </a:txBody>
                  <a:tcPr marL="0" marR="0" marT="34712"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r>
              <a:tr h="498177">
                <a:tc>
                  <a:txBody>
                    <a:bodyPr/>
                    <a:lstStyle/>
                    <a:p>
                      <a:pPr marL="1270" algn="ctr">
                        <a:lnSpc>
                          <a:spcPct val="100000"/>
                        </a:lnSpc>
                        <a:spcBef>
                          <a:spcPts val="205"/>
                        </a:spcBef>
                      </a:pPr>
                      <a:r>
                        <a:rPr sz="2700" b="1" i="1" dirty="0">
                          <a:latin typeface="Times New Roman" panose="02020603050405020304"/>
                          <a:cs typeface="Times New Roman" panose="02020603050405020304"/>
                        </a:rPr>
                        <a:t>X</a:t>
                      </a:r>
                      <a:endParaRPr sz="2700">
                        <a:latin typeface="Times New Roman" panose="02020603050405020304"/>
                        <a:cs typeface="Times New Roman" panose="02020603050405020304"/>
                      </a:endParaRPr>
                    </a:p>
                  </a:txBody>
                  <a:tcPr marL="0" marR="0" marT="34712"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c>
                  <a:txBody>
                    <a:bodyPr/>
                    <a:lstStyle/>
                    <a:p>
                      <a:pPr marL="635" algn="ctr">
                        <a:lnSpc>
                          <a:spcPct val="100000"/>
                        </a:lnSpc>
                        <a:spcBef>
                          <a:spcPts val="205"/>
                        </a:spcBef>
                      </a:pPr>
                      <a:r>
                        <a:rPr sz="2700" b="1" dirty="0">
                          <a:latin typeface="Times New Roman" panose="02020603050405020304"/>
                          <a:cs typeface="Times New Roman" panose="02020603050405020304"/>
                        </a:rPr>
                        <a:t>0.5</a:t>
                      </a:r>
                      <a:endParaRPr sz="2700">
                        <a:latin typeface="Times New Roman" panose="02020603050405020304"/>
                        <a:cs typeface="Times New Roman" panose="02020603050405020304"/>
                      </a:endParaRPr>
                    </a:p>
                  </a:txBody>
                  <a:tcPr marL="0" marR="0" marT="34712"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c>
                  <a:txBody>
                    <a:bodyPr/>
                    <a:lstStyle/>
                    <a:p>
                      <a:pPr marL="635" algn="ctr">
                        <a:lnSpc>
                          <a:spcPct val="100000"/>
                        </a:lnSpc>
                        <a:spcBef>
                          <a:spcPts val="205"/>
                        </a:spcBef>
                      </a:pPr>
                      <a:r>
                        <a:rPr sz="2700" b="1" dirty="0">
                          <a:latin typeface="Times New Roman" panose="02020603050405020304"/>
                          <a:cs typeface="Times New Roman" panose="02020603050405020304"/>
                        </a:rPr>
                        <a:t>2</a:t>
                      </a:r>
                      <a:endParaRPr sz="2700">
                        <a:latin typeface="Times New Roman" panose="02020603050405020304"/>
                        <a:cs typeface="Times New Roman" panose="02020603050405020304"/>
                      </a:endParaRPr>
                    </a:p>
                  </a:txBody>
                  <a:tcPr marL="0" marR="0" marT="34712"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c>
                  <a:txBody>
                    <a:bodyPr/>
                    <a:lstStyle/>
                    <a:p>
                      <a:pPr algn="ctr">
                        <a:lnSpc>
                          <a:spcPct val="100000"/>
                        </a:lnSpc>
                        <a:spcBef>
                          <a:spcPts val="205"/>
                        </a:spcBef>
                      </a:pPr>
                      <a:r>
                        <a:rPr sz="2700" b="1" dirty="0">
                          <a:latin typeface="Times New Roman" panose="02020603050405020304"/>
                          <a:cs typeface="Times New Roman" panose="02020603050405020304"/>
                        </a:rPr>
                        <a:t>-2</a:t>
                      </a:r>
                      <a:endParaRPr sz="2700">
                        <a:latin typeface="Times New Roman" panose="02020603050405020304"/>
                        <a:cs typeface="Times New Roman" panose="02020603050405020304"/>
                      </a:endParaRPr>
                    </a:p>
                  </a:txBody>
                  <a:tcPr marL="0" marR="0" marT="34712"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c>
                  <a:txBody>
                    <a:bodyPr/>
                    <a:lstStyle/>
                    <a:p>
                      <a:pPr marR="217170" algn="r">
                        <a:lnSpc>
                          <a:spcPct val="100000"/>
                        </a:lnSpc>
                        <a:spcBef>
                          <a:spcPts val="205"/>
                        </a:spcBef>
                      </a:pPr>
                      <a:r>
                        <a:rPr sz="2700" b="1" dirty="0">
                          <a:latin typeface="Times New Roman" panose="02020603050405020304"/>
                          <a:cs typeface="Times New Roman" panose="02020603050405020304"/>
                        </a:rPr>
                        <a:t>1</a:t>
                      </a:r>
                      <a:endParaRPr sz="2700">
                        <a:latin typeface="Times New Roman" panose="02020603050405020304"/>
                        <a:cs typeface="Times New Roman" panose="02020603050405020304"/>
                      </a:endParaRPr>
                    </a:p>
                  </a:txBody>
                  <a:tcPr marL="0" marR="0" marT="34712"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r>
              <a:tr h="498179">
                <a:tc>
                  <a:txBody>
                    <a:bodyPr/>
                    <a:lstStyle/>
                    <a:p>
                      <a:pPr algn="ctr">
                        <a:lnSpc>
                          <a:spcPct val="100000"/>
                        </a:lnSpc>
                        <a:spcBef>
                          <a:spcPts val="205"/>
                        </a:spcBef>
                      </a:pPr>
                      <a:r>
                        <a:rPr sz="2700" b="1" i="1" dirty="0">
                          <a:latin typeface="Times New Roman" panose="02020603050405020304"/>
                          <a:cs typeface="Times New Roman" panose="02020603050405020304"/>
                        </a:rPr>
                        <a:t>Y</a:t>
                      </a:r>
                      <a:endParaRPr sz="2700">
                        <a:latin typeface="Times New Roman" panose="02020603050405020304"/>
                        <a:cs typeface="Times New Roman" panose="02020603050405020304"/>
                      </a:endParaRPr>
                    </a:p>
                  </a:txBody>
                  <a:tcPr marL="0" marR="0" marT="34712"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c>
                  <a:txBody>
                    <a:bodyPr/>
                    <a:lstStyle/>
                    <a:p>
                      <a:pPr marL="635" algn="ctr">
                        <a:lnSpc>
                          <a:spcPct val="100000"/>
                        </a:lnSpc>
                        <a:spcBef>
                          <a:spcPts val="205"/>
                        </a:spcBef>
                      </a:pPr>
                      <a:r>
                        <a:rPr sz="2700" b="1" dirty="0">
                          <a:latin typeface="Times New Roman" panose="02020603050405020304"/>
                          <a:cs typeface="Times New Roman" panose="02020603050405020304"/>
                        </a:rPr>
                        <a:t>2</a:t>
                      </a:r>
                      <a:endParaRPr sz="2700">
                        <a:latin typeface="Times New Roman" panose="02020603050405020304"/>
                        <a:cs typeface="Times New Roman" panose="02020603050405020304"/>
                      </a:endParaRPr>
                    </a:p>
                  </a:txBody>
                  <a:tcPr marL="0" marR="0" marT="34712"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c>
                  <a:txBody>
                    <a:bodyPr/>
                    <a:lstStyle/>
                    <a:p>
                      <a:pPr marL="635" algn="ctr">
                        <a:lnSpc>
                          <a:spcPct val="100000"/>
                        </a:lnSpc>
                        <a:spcBef>
                          <a:spcPts val="205"/>
                        </a:spcBef>
                      </a:pPr>
                      <a:r>
                        <a:rPr sz="2700" b="1" dirty="0">
                          <a:latin typeface="Times New Roman" panose="02020603050405020304"/>
                          <a:cs typeface="Times New Roman" panose="02020603050405020304"/>
                        </a:rPr>
                        <a:t>3</a:t>
                      </a:r>
                      <a:endParaRPr sz="2700">
                        <a:latin typeface="Times New Roman" panose="02020603050405020304"/>
                        <a:cs typeface="Times New Roman" panose="02020603050405020304"/>
                      </a:endParaRPr>
                    </a:p>
                  </a:txBody>
                  <a:tcPr marL="0" marR="0" marT="34712"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c>
                  <a:txBody>
                    <a:bodyPr/>
                    <a:lstStyle/>
                    <a:p>
                      <a:pPr algn="ctr">
                        <a:lnSpc>
                          <a:spcPct val="100000"/>
                        </a:lnSpc>
                        <a:spcBef>
                          <a:spcPts val="205"/>
                        </a:spcBef>
                      </a:pPr>
                      <a:r>
                        <a:rPr sz="2700" b="1" dirty="0">
                          <a:latin typeface="Times New Roman" panose="02020603050405020304"/>
                          <a:cs typeface="Times New Roman" panose="02020603050405020304"/>
                        </a:rPr>
                        <a:t>4</a:t>
                      </a:r>
                      <a:endParaRPr sz="2700">
                        <a:latin typeface="Times New Roman" panose="02020603050405020304"/>
                        <a:cs typeface="Times New Roman" panose="02020603050405020304"/>
                      </a:endParaRPr>
                    </a:p>
                  </a:txBody>
                  <a:tcPr marL="0" marR="0" marT="34712"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c>
                  <a:txBody>
                    <a:bodyPr/>
                    <a:lstStyle/>
                    <a:p>
                      <a:pPr marR="174625" algn="r">
                        <a:lnSpc>
                          <a:spcPct val="100000"/>
                        </a:lnSpc>
                        <a:spcBef>
                          <a:spcPts val="205"/>
                        </a:spcBef>
                      </a:pPr>
                      <a:r>
                        <a:rPr sz="2700" b="1" dirty="0">
                          <a:latin typeface="Times New Roman" panose="02020603050405020304"/>
                          <a:cs typeface="Times New Roman" panose="02020603050405020304"/>
                        </a:rPr>
                        <a:t>-1</a:t>
                      </a:r>
                      <a:endParaRPr sz="2700">
                        <a:latin typeface="Times New Roman" panose="02020603050405020304"/>
                        <a:cs typeface="Times New Roman" panose="02020603050405020304"/>
                      </a:endParaRPr>
                    </a:p>
                  </a:txBody>
                  <a:tcPr marL="0" marR="0" marT="34712" marB="0">
                    <a:lnL w="12700">
                      <a:solidFill>
                        <a:srgbClr val="4F81BC"/>
                      </a:solidFill>
                      <a:prstDash val="solid"/>
                    </a:lnL>
                    <a:lnR w="12700">
                      <a:solidFill>
                        <a:srgbClr val="4F81BC"/>
                      </a:solidFill>
                      <a:prstDash val="solid"/>
                    </a:lnR>
                    <a:lnT w="12700">
                      <a:solidFill>
                        <a:srgbClr val="4F81BC"/>
                      </a:solidFill>
                      <a:prstDash val="solid"/>
                    </a:lnT>
                    <a:lnB w="12700">
                      <a:solidFill>
                        <a:srgbClr val="4F81BC"/>
                      </a:solidFill>
                      <a:prstDash val="solid"/>
                    </a:lnB>
                    <a:solidFill>
                      <a:srgbClr val="E9ECF4"/>
                    </a:solidFill>
                  </a:tcPr>
                </a:tc>
              </a:tr>
            </a:tbl>
          </a:graphicData>
        </a:graphic>
      </p:graphicFrame>
      <p:sp>
        <p:nvSpPr>
          <p:cNvPr id="4" name="object 4"/>
          <p:cNvSpPr txBox="1"/>
          <p:nvPr/>
        </p:nvSpPr>
        <p:spPr>
          <a:xfrm>
            <a:off x="7720914" y="1548879"/>
            <a:ext cx="373380" cy="838819"/>
          </a:xfrm>
          <a:prstGeom prst="rect">
            <a:avLst/>
          </a:prstGeom>
        </p:spPr>
        <p:txBody>
          <a:bodyPr vert="horz" wrap="square" lIns="0" tIns="17780" rIns="0" bIns="0" rtlCol="0">
            <a:spAutoFit/>
          </a:bodyPr>
          <a:lstStyle/>
          <a:p>
            <a:pPr marL="17145" marR="6985">
              <a:spcBef>
                <a:spcPts val="140"/>
              </a:spcBef>
            </a:pPr>
            <a:r>
              <a:rPr sz="2665" b="1" spc="-7" dirty="0">
                <a:latin typeface="宋体" panose="02010600030101010101" pitchFamily="2" charset="-122"/>
                <a:cs typeface="宋体" panose="02010600030101010101" pitchFamily="2" charset="-122"/>
              </a:rPr>
              <a:t>输 入</a:t>
            </a:r>
            <a:endParaRPr sz="2665">
              <a:latin typeface="宋体" panose="02010600030101010101" pitchFamily="2" charset="-122"/>
              <a:cs typeface="宋体" panose="02010600030101010101" pitchFamily="2" charset="-122"/>
            </a:endParaRPr>
          </a:p>
        </p:txBody>
      </p:sp>
      <p:sp>
        <p:nvSpPr>
          <p:cNvPr id="5" name="object 5"/>
          <p:cNvSpPr txBox="1"/>
          <p:nvPr/>
        </p:nvSpPr>
        <p:spPr>
          <a:xfrm>
            <a:off x="7943251" y="2961119"/>
            <a:ext cx="374227" cy="1248397"/>
          </a:xfrm>
          <a:prstGeom prst="rect">
            <a:avLst/>
          </a:prstGeom>
        </p:spPr>
        <p:txBody>
          <a:bodyPr vert="horz" wrap="square" lIns="0" tIns="16933" rIns="0" bIns="0" rtlCol="0">
            <a:spAutoFit/>
          </a:bodyPr>
          <a:lstStyle/>
          <a:p>
            <a:pPr marL="17145" marR="6985" algn="just">
              <a:spcBef>
                <a:spcPts val="135"/>
              </a:spcBef>
            </a:pPr>
            <a:r>
              <a:rPr sz="2665" b="1" spc="-7" dirty="0">
                <a:latin typeface="宋体" panose="02010600030101010101" pitchFamily="2" charset="-122"/>
                <a:cs typeface="宋体" panose="02010600030101010101" pitchFamily="2" charset="-122"/>
              </a:rPr>
              <a:t>预 处 理</a:t>
            </a:r>
            <a:endParaRPr sz="2665">
              <a:latin typeface="宋体" panose="02010600030101010101" pitchFamily="2" charset="-122"/>
              <a:cs typeface="宋体" panose="02010600030101010101" pitchFamily="2" charset="-122"/>
            </a:endParaRPr>
          </a:p>
        </p:txBody>
      </p:sp>
      <p:sp>
        <p:nvSpPr>
          <p:cNvPr id="6" name="object 6"/>
          <p:cNvSpPr txBox="1"/>
          <p:nvPr/>
        </p:nvSpPr>
        <p:spPr>
          <a:xfrm>
            <a:off x="5282180" y="5817327"/>
            <a:ext cx="1058333" cy="427532"/>
          </a:xfrm>
          <a:prstGeom prst="rect">
            <a:avLst/>
          </a:prstGeom>
        </p:spPr>
        <p:txBody>
          <a:bodyPr vert="horz" wrap="square" lIns="0" tIns="16933" rIns="0" bIns="0" rtlCol="0">
            <a:spAutoFit/>
          </a:bodyPr>
          <a:lstStyle/>
          <a:p>
            <a:pPr marL="17145">
              <a:spcBef>
                <a:spcPts val="135"/>
              </a:spcBef>
            </a:pPr>
            <a:r>
              <a:rPr sz="2665" b="1" spc="7" dirty="0">
                <a:latin typeface="宋体" panose="02010600030101010101" pitchFamily="2" charset="-122"/>
                <a:cs typeface="宋体" panose="02010600030101010101" pitchFamily="2" charset="-122"/>
              </a:rPr>
              <a:t>拆分后</a:t>
            </a:r>
            <a:endParaRPr sz="2665" dirty="0">
              <a:latin typeface="宋体" panose="02010600030101010101" pitchFamily="2" charset="-122"/>
              <a:cs typeface="宋体" panose="02010600030101010101" pitchFamily="2" charset="-122"/>
            </a:endParaRPr>
          </a:p>
        </p:txBody>
      </p:sp>
      <p:graphicFrame>
        <p:nvGraphicFramePr>
          <p:cNvPr id="7" name="object 7"/>
          <p:cNvGraphicFramePr>
            <a:graphicFrameLocks noGrp="1"/>
          </p:cNvGraphicFramePr>
          <p:nvPr/>
        </p:nvGraphicFramePr>
        <p:xfrm>
          <a:off x="3440678" y="3025973"/>
          <a:ext cx="4367105" cy="1024805"/>
        </p:xfrm>
        <a:graphic>
          <a:graphicData uri="http://schemas.openxmlformats.org/drawingml/2006/table">
            <a:tbl>
              <a:tblPr firstRow="1" bandRow="1">
                <a:tableStyleId>{2D5ABB26-0587-4C30-8999-92F81FD0307C}</a:tableStyleId>
              </a:tblPr>
              <a:tblGrid>
                <a:gridCol w="545253"/>
                <a:gridCol w="946572"/>
                <a:gridCol w="934720"/>
                <a:gridCol w="931333"/>
                <a:gridCol w="1009227"/>
              </a:tblGrid>
              <a:tr h="526965">
                <a:tc>
                  <a:txBody>
                    <a:bodyPr/>
                    <a:lstStyle/>
                    <a:p>
                      <a:pPr marL="118745">
                        <a:lnSpc>
                          <a:spcPct val="100000"/>
                        </a:lnSpc>
                        <a:spcBef>
                          <a:spcPts val="210"/>
                        </a:spcBef>
                      </a:pPr>
                      <a:r>
                        <a:rPr sz="2700" b="1" i="1" dirty="0">
                          <a:latin typeface="Times New Roman" panose="02020603050405020304"/>
                          <a:cs typeface="Times New Roman" panose="02020603050405020304"/>
                        </a:rPr>
                        <a:t>X</a:t>
                      </a:r>
                      <a:endParaRPr sz="2700">
                        <a:latin typeface="Times New Roman" panose="02020603050405020304"/>
                        <a:cs typeface="Times New Roman" panose="02020603050405020304"/>
                      </a:endParaRPr>
                    </a:p>
                  </a:txBody>
                  <a:tcPr marL="0" marR="0" marT="35559" marB="0">
                    <a:lnL w="12700">
                      <a:solidFill>
                        <a:srgbClr val="94B3D6"/>
                      </a:solidFill>
                      <a:prstDash val="solid"/>
                    </a:lnL>
                    <a:lnR w="12700">
                      <a:solidFill>
                        <a:srgbClr val="94B3D6"/>
                      </a:solidFill>
                      <a:prstDash val="solid"/>
                    </a:lnR>
                    <a:lnT w="12700">
                      <a:solidFill>
                        <a:srgbClr val="94B3D6"/>
                      </a:solidFill>
                      <a:prstDash val="solid"/>
                    </a:lnT>
                    <a:lnB w="12700">
                      <a:solidFill>
                        <a:srgbClr val="94B3D6"/>
                      </a:solidFill>
                      <a:prstDash val="solid"/>
                    </a:lnB>
                    <a:solidFill>
                      <a:srgbClr val="E7E7E7"/>
                    </a:solidFill>
                  </a:tcPr>
                </a:tc>
                <a:tc>
                  <a:txBody>
                    <a:bodyPr/>
                    <a:lstStyle/>
                    <a:p>
                      <a:pPr marL="130175">
                        <a:lnSpc>
                          <a:spcPct val="100000"/>
                        </a:lnSpc>
                        <a:spcBef>
                          <a:spcPts val="210"/>
                        </a:spcBef>
                      </a:pPr>
                      <a:r>
                        <a:rPr sz="2700" b="1" spc="-80" dirty="0">
                          <a:latin typeface="Times New Roman" panose="02020603050405020304"/>
                          <a:cs typeface="Times New Roman" panose="02020603050405020304"/>
                        </a:rPr>
                        <a:t>-2(3)</a:t>
                      </a:r>
                      <a:endParaRPr sz="2700">
                        <a:latin typeface="Times New Roman" panose="02020603050405020304"/>
                        <a:cs typeface="Times New Roman" panose="02020603050405020304"/>
                      </a:endParaRPr>
                    </a:p>
                  </a:txBody>
                  <a:tcPr marL="0" marR="0" marT="35559" marB="0">
                    <a:lnL w="12700">
                      <a:solidFill>
                        <a:srgbClr val="94B3D6"/>
                      </a:solidFill>
                      <a:prstDash val="solid"/>
                    </a:lnL>
                    <a:lnR w="12700">
                      <a:solidFill>
                        <a:srgbClr val="94B3D6"/>
                      </a:solidFill>
                      <a:prstDash val="solid"/>
                    </a:lnR>
                    <a:lnT w="12700">
                      <a:solidFill>
                        <a:srgbClr val="94B3D6"/>
                      </a:solidFill>
                      <a:prstDash val="solid"/>
                    </a:lnT>
                    <a:lnB w="12700">
                      <a:solidFill>
                        <a:srgbClr val="94B3D6"/>
                      </a:solidFill>
                      <a:prstDash val="solid"/>
                    </a:lnB>
                    <a:solidFill>
                      <a:srgbClr val="DBEDF4"/>
                    </a:solidFill>
                  </a:tcPr>
                </a:tc>
                <a:tc>
                  <a:txBody>
                    <a:bodyPr/>
                    <a:lstStyle/>
                    <a:p>
                      <a:pPr marL="12700" algn="ctr">
                        <a:lnSpc>
                          <a:spcPct val="100000"/>
                        </a:lnSpc>
                        <a:spcBef>
                          <a:spcPts val="210"/>
                        </a:spcBef>
                      </a:pPr>
                      <a:r>
                        <a:rPr sz="2700" b="1" spc="-80" dirty="0">
                          <a:latin typeface="Times New Roman" panose="02020603050405020304"/>
                          <a:cs typeface="Times New Roman" panose="02020603050405020304"/>
                        </a:rPr>
                        <a:t>0.5(1)</a:t>
                      </a:r>
                      <a:endParaRPr sz="2700">
                        <a:latin typeface="Times New Roman" panose="02020603050405020304"/>
                        <a:cs typeface="Times New Roman" panose="02020603050405020304"/>
                      </a:endParaRPr>
                    </a:p>
                  </a:txBody>
                  <a:tcPr marL="0" marR="0" marT="35559" marB="0">
                    <a:lnL w="12700">
                      <a:solidFill>
                        <a:srgbClr val="94B3D6"/>
                      </a:solidFill>
                      <a:prstDash val="solid"/>
                    </a:lnL>
                    <a:lnR w="12700">
                      <a:solidFill>
                        <a:srgbClr val="94B3D6"/>
                      </a:solidFill>
                      <a:prstDash val="solid"/>
                    </a:lnR>
                    <a:lnT w="12700">
                      <a:solidFill>
                        <a:srgbClr val="94B3D6"/>
                      </a:solidFill>
                      <a:prstDash val="solid"/>
                    </a:lnT>
                    <a:lnB w="12700">
                      <a:solidFill>
                        <a:srgbClr val="94B3D6"/>
                      </a:solidFill>
                      <a:prstDash val="solid"/>
                    </a:lnB>
                    <a:solidFill>
                      <a:srgbClr val="DBEDF4"/>
                    </a:solidFill>
                  </a:tcPr>
                </a:tc>
                <a:tc>
                  <a:txBody>
                    <a:bodyPr/>
                    <a:lstStyle/>
                    <a:p>
                      <a:pPr marR="151765" algn="r">
                        <a:lnSpc>
                          <a:spcPct val="100000"/>
                        </a:lnSpc>
                        <a:spcBef>
                          <a:spcPts val="210"/>
                        </a:spcBef>
                      </a:pPr>
                      <a:r>
                        <a:rPr sz="2700" b="1" spc="-95" dirty="0">
                          <a:latin typeface="Times New Roman" panose="02020603050405020304"/>
                          <a:cs typeface="Times New Roman" panose="02020603050405020304"/>
                        </a:rPr>
                        <a:t>1(4)</a:t>
                      </a:r>
                      <a:endParaRPr sz="2700">
                        <a:latin typeface="Times New Roman" panose="02020603050405020304"/>
                        <a:cs typeface="Times New Roman" panose="02020603050405020304"/>
                      </a:endParaRPr>
                    </a:p>
                  </a:txBody>
                  <a:tcPr marL="0" marR="0" marT="35559" marB="0">
                    <a:lnL w="12700">
                      <a:solidFill>
                        <a:srgbClr val="94B3D6"/>
                      </a:solidFill>
                      <a:prstDash val="solid"/>
                    </a:lnL>
                    <a:lnR w="12700">
                      <a:solidFill>
                        <a:srgbClr val="94B3D6"/>
                      </a:solidFill>
                      <a:prstDash val="solid"/>
                    </a:lnR>
                    <a:lnT w="12700">
                      <a:solidFill>
                        <a:srgbClr val="94B3D6"/>
                      </a:solidFill>
                      <a:prstDash val="solid"/>
                    </a:lnT>
                    <a:lnB w="12700">
                      <a:solidFill>
                        <a:srgbClr val="94B3D6"/>
                      </a:solidFill>
                      <a:prstDash val="solid"/>
                    </a:lnB>
                    <a:solidFill>
                      <a:srgbClr val="DBEDF4"/>
                    </a:solidFill>
                  </a:tcPr>
                </a:tc>
                <a:tc>
                  <a:txBody>
                    <a:bodyPr/>
                    <a:lstStyle/>
                    <a:p>
                      <a:pPr marL="1270" algn="ctr">
                        <a:lnSpc>
                          <a:spcPct val="100000"/>
                        </a:lnSpc>
                        <a:spcBef>
                          <a:spcPts val="210"/>
                        </a:spcBef>
                      </a:pPr>
                      <a:r>
                        <a:rPr sz="2700" b="1" spc="-95" dirty="0">
                          <a:latin typeface="Times New Roman" panose="02020603050405020304"/>
                          <a:cs typeface="Times New Roman" panose="02020603050405020304"/>
                        </a:rPr>
                        <a:t>2(2)</a:t>
                      </a:r>
                      <a:endParaRPr sz="2700">
                        <a:latin typeface="Times New Roman" panose="02020603050405020304"/>
                        <a:cs typeface="Times New Roman" panose="02020603050405020304"/>
                      </a:endParaRPr>
                    </a:p>
                  </a:txBody>
                  <a:tcPr marL="0" marR="0" marT="35559" marB="0">
                    <a:lnL w="12700">
                      <a:solidFill>
                        <a:srgbClr val="94B3D6"/>
                      </a:solidFill>
                      <a:prstDash val="solid"/>
                    </a:lnL>
                    <a:lnR w="12700">
                      <a:solidFill>
                        <a:srgbClr val="94B3D6"/>
                      </a:solidFill>
                      <a:prstDash val="solid"/>
                    </a:lnR>
                    <a:lnT w="12700">
                      <a:solidFill>
                        <a:srgbClr val="94B3D6"/>
                      </a:solidFill>
                      <a:prstDash val="solid"/>
                    </a:lnT>
                    <a:lnB w="12700">
                      <a:solidFill>
                        <a:srgbClr val="94B3D6"/>
                      </a:solidFill>
                      <a:prstDash val="solid"/>
                    </a:lnB>
                    <a:solidFill>
                      <a:srgbClr val="DBEDF4"/>
                    </a:solidFill>
                  </a:tcPr>
                </a:tc>
              </a:tr>
              <a:tr h="497840">
                <a:tc>
                  <a:txBody>
                    <a:bodyPr/>
                    <a:lstStyle/>
                    <a:p>
                      <a:pPr marL="125095">
                        <a:lnSpc>
                          <a:spcPct val="100000"/>
                        </a:lnSpc>
                        <a:spcBef>
                          <a:spcPts val="210"/>
                        </a:spcBef>
                      </a:pPr>
                      <a:r>
                        <a:rPr sz="2700" b="1" i="1" dirty="0">
                          <a:latin typeface="Times New Roman" panose="02020603050405020304"/>
                          <a:cs typeface="Times New Roman" panose="02020603050405020304"/>
                        </a:rPr>
                        <a:t>Y</a:t>
                      </a:r>
                      <a:endParaRPr sz="2700">
                        <a:latin typeface="Times New Roman" panose="02020603050405020304"/>
                        <a:cs typeface="Times New Roman" panose="02020603050405020304"/>
                      </a:endParaRPr>
                    </a:p>
                  </a:txBody>
                  <a:tcPr marL="0" marR="0" marT="35560" marB="0">
                    <a:lnL w="12700">
                      <a:solidFill>
                        <a:srgbClr val="94B3D6"/>
                      </a:solidFill>
                      <a:prstDash val="solid"/>
                    </a:lnL>
                    <a:lnR w="12700">
                      <a:solidFill>
                        <a:srgbClr val="94B3D6"/>
                      </a:solidFill>
                      <a:prstDash val="solid"/>
                    </a:lnR>
                    <a:lnT w="12700">
                      <a:solidFill>
                        <a:srgbClr val="94B3D6"/>
                      </a:solidFill>
                      <a:prstDash val="solid"/>
                    </a:lnT>
                    <a:lnB w="12700">
                      <a:solidFill>
                        <a:srgbClr val="94B3D6"/>
                      </a:solidFill>
                      <a:prstDash val="solid"/>
                    </a:lnB>
                    <a:solidFill>
                      <a:srgbClr val="E7E7E7"/>
                    </a:solidFill>
                  </a:tcPr>
                </a:tc>
                <a:tc>
                  <a:txBody>
                    <a:bodyPr/>
                    <a:lstStyle/>
                    <a:p>
                      <a:pPr marL="130175">
                        <a:lnSpc>
                          <a:spcPct val="100000"/>
                        </a:lnSpc>
                        <a:spcBef>
                          <a:spcPts val="210"/>
                        </a:spcBef>
                      </a:pPr>
                      <a:r>
                        <a:rPr sz="2700" b="1" spc="-80" dirty="0">
                          <a:latin typeface="Times New Roman" panose="02020603050405020304"/>
                          <a:cs typeface="Times New Roman" panose="02020603050405020304"/>
                        </a:rPr>
                        <a:t>-1(4)</a:t>
                      </a:r>
                      <a:endParaRPr sz="2700">
                        <a:latin typeface="Times New Roman" panose="02020603050405020304"/>
                        <a:cs typeface="Times New Roman" panose="02020603050405020304"/>
                      </a:endParaRPr>
                    </a:p>
                  </a:txBody>
                  <a:tcPr marL="0" marR="0" marT="35560" marB="0">
                    <a:lnL w="12700">
                      <a:solidFill>
                        <a:srgbClr val="94B3D6"/>
                      </a:solidFill>
                      <a:prstDash val="solid"/>
                    </a:lnL>
                    <a:lnR w="12700">
                      <a:solidFill>
                        <a:srgbClr val="94B3D6"/>
                      </a:solidFill>
                      <a:prstDash val="solid"/>
                    </a:lnR>
                    <a:lnT w="12700">
                      <a:solidFill>
                        <a:srgbClr val="94B3D6"/>
                      </a:solidFill>
                      <a:prstDash val="solid"/>
                    </a:lnT>
                    <a:lnB w="12700">
                      <a:solidFill>
                        <a:srgbClr val="94B3D6"/>
                      </a:solidFill>
                      <a:prstDash val="solid"/>
                    </a:lnB>
                    <a:solidFill>
                      <a:srgbClr val="DBEDF4"/>
                    </a:solidFill>
                  </a:tcPr>
                </a:tc>
                <a:tc>
                  <a:txBody>
                    <a:bodyPr/>
                    <a:lstStyle/>
                    <a:p>
                      <a:pPr marL="12065" algn="ctr">
                        <a:lnSpc>
                          <a:spcPct val="100000"/>
                        </a:lnSpc>
                        <a:spcBef>
                          <a:spcPts val="210"/>
                        </a:spcBef>
                      </a:pPr>
                      <a:r>
                        <a:rPr sz="2700" b="1" spc="-70" dirty="0">
                          <a:latin typeface="Times New Roman" panose="02020603050405020304"/>
                          <a:cs typeface="Times New Roman" panose="02020603050405020304"/>
                        </a:rPr>
                        <a:t>2(1)</a:t>
                      </a:r>
                      <a:endParaRPr sz="2700">
                        <a:latin typeface="Times New Roman" panose="02020603050405020304"/>
                        <a:cs typeface="Times New Roman" panose="02020603050405020304"/>
                      </a:endParaRPr>
                    </a:p>
                  </a:txBody>
                  <a:tcPr marL="0" marR="0" marT="35560" marB="0">
                    <a:lnL w="12700">
                      <a:solidFill>
                        <a:srgbClr val="94B3D6"/>
                      </a:solidFill>
                      <a:prstDash val="solid"/>
                    </a:lnL>
                    <a:lnR w="12700">
                      <a:solidFill>
                        <a:srgbClr val="94B3D6"/>
                      </a:solidFill>
                      <a:prstDash val="solid"/>
                    </a:lnR>
                    <a:lnT w="12700">
                      <a:solidFill>
                        <a:srgbClr val="94B3D6"/>
                      </a:solidFill>
                      <a:prstDash val="solid"/>
                    </a:lnT>
                    <a:lnB w="12700">
                      <a:solidFill>
                        <a:srgbClr val="94B3D6"/>
                      </a:solidFill>
                      <a:prstDash val="solid"/>
                    </a:lnB>
                    <a:solidFill>
                      <a:srgbClr val="DBEDF4"/>
                    </a:solidFill>
                  </a:tcPr>
                </a:tc>
                <a:tc>
                  <a:txBody>
                    <a:bodyPr/>
                    <a:lstStyle/>
                    <a:p>
                      <a:pPr marR="140335" algn="r">
                        <a:lnSpc>
                          <a:spcPct val="100000"/>
                        </a:lnSpc>
                        <a:spcBef>
                          <a:spcPts val="210"/>
                        </a:spcBef>
                      </a:pPr>
                      <a:r>
                        <a:rPr sz="2700" b="1" spc="-95" dirty="0">
                          <a:latin typeface="Times New Roman" panose="02020603050405020304"/>
                          <a:cs typeface="Times New Roman" panose="02020603050405020304"/>
                        </a:rPr>
                        <a:t>3(2</a:t>
                      </a:r>
                      <a:r>
                        <a:rPr sz="2700" b="1" dirty="0">
                          <a:latin typeface="Times New Roman" panose="02020603050405020304"/>
                          <a:cs typeface="Times New Roman" panose="02020603050405020304"/>
                        </a:rPr>
                        <a:t>)</a:t>
                      </a:r>
                      <a:endParaRPr sz="2700">
                        <a:latin typeface="Times New Roman" panose="02020603050405020304"/>
                        <a:cs typeface="Times New Roman" panose="02020603050405020304"/>
                      </a:endParaRPr>
                    </a:p>
                  </a:txBody>
                  <a:tcPr marL="0" marR="0" marT="35560" marB="0">
                    <a:lnL w="12700">
                      <a:solidFill>
                        <a:srgbClr val="94B3D6"/>
                      </a:solidFill>
                      <a:prstDash val="solid"/>
                    </a:lnL>
                    <a:lnR w="12700">
                      <a:solidFill>
                        <a:srgbClr val="94B3D6"/>
                      </a:solidFill>
                      <a:prstDash val="solid"/>
                    </a:lnR>
                    <a:lnT w="12700">
                      <a:solidFill>
                        <a:srgbClr val="94B3D6"/>
                      </a:solidFill>
                      <a:prstDash val="solid"/>
                    </a:lnT>
                    <a:lnB w="12700">
                      <a:solidFill>
                        <a:srgbClr val="BEBEBE"/>
                      </a:solidFill>
                      <a:prstDash val="solid"/>
                    </a:lnB>
                    <a:solidFill>
                      <a:srgbClr val="DBEDF4"/>
                    </a:solidFill>
                  </a:tcPr>
                </a:tc>
                <a:tc>
                  <a:txBody>
                    <a:bodyPr/>
                    <a:lstStyle/>
                    <a:p>
                      <a:pPr marL="12065" algn="ctr">
                        <a:lnSpc>
                          <a:spcPct val="100000"/>
                        </a:lnSpc>
                        <a:spcBef>
                          <a:spcPts val="210"/>
                        </a:spcBef>
                      </a:pPr>
                      <a:r>
                        <a:rPr sz="2700" b="1" spc="-70" dirty="0">
                          <a:latin typeface="Times New Roman" panose="02020603050405020304"/>
                          <a:cs typeface="Times New Roman" panose="02020603050405020304"/>
                        </a:rPr>
                        <a:t>4(3)</a:t>
                      </a:r>
                      <a:endParaRPr sz="2700">
                        <a:latin typeface="Times New Roman" panose="02020603050405020304"/>
                        <a:cs typeface="Times New Roman" panose="02020603050405020304"/>
                      </a:endParaRPr>
                    </a:p>
                  </a:txBody>
                  <a:tcPr marL="0" marR="0" marT="35560" marB="0">
                    <a:lnL w="12700">
                      <a:solidFill>
                        <a:srgbClr val="94B3D6"/>
                      </a:solidFill>
                      <a:prstDash val="solid"/>
                    </a:lnL>
                    <a:lnR w="12700">
                      <a:solidFill>
                        <a:srgbClr val="94B3D6"/>
                      </a:solidFill>
                      <a:prstDash val="solid"/>
                    </a:lnR>
                    <a:lnT w="12700">
                      <a:solidFill>
                        <a:srgbClr val="94B3D6"/>
                      </a:solidFill>
                      <a:prstDash val="solid"/>
                    </a:lnT>
                    <a:lnB w="12700">
                      <a:solidFill>
                        <a:srgbClr val="94B3D6"/>
                      </a:solidFill>
                      <a:prstDash val="solid"/>
                    </a:lnB>
                    <a:solidFill>
                      <a:srgbClr val="DBEDF4"/>
                    </a:solidFill>
                  </a:tcPr>
                </a:tc>
              </a:tr>
            </a:tbl>
          </a:graphicData>
        </a:graphic>
      </p:graphicFrame>
      <p:sp>
        <p:nvSpPr>
          <p:cNvPr id="8" name="object 8"/>
          <p:cNvSpPr/>
          <p:nvPr/>
        </p:nvSpPr>
        <p:spPr>
          <a:xfrm>
            <a:off x="2075429" y="3129690"/>
            <a:ext cx="160867" cy="156633"/>
          </a:xfrm>
          <a:prstGeom prst="rect">
            <a:avLst/>
          </a:prstGeom>
          <a:blipFill>
            <a:blip r:embed="rId1" cstate="print"/>
            <a:stretch>
              <a:fillRect/>
            </a:stretch>
          </a:blipFill>
        </p:spPr>
        <p:txBody>
          <a:bodyPr wrap="square" lIns="0" tIns="0" rIns="0" bIns="0" rtlCol="0"/>
          <a:lstStyle/>
          <a:p>
            <a:endParaRPr sz="2400"/>
          </a:p>
        </p:txBody>
      </p:sp>
      <p:sp>
        <p:nvSpPr>
          <p:cNvPr id="9" name="object 9"/>
          <p:cNvSpPr txBox="1"/>
          <p:nvPr/>
        </p:nvSpPr>
        <p:spPr>
          <a:xfrm>
            <a:off x="1895071" y="3167197"/>
            <a:ext cx="440267" cy="509541"/>
          </a:xfrm>
          <a:prstGeom prst="rect">
            <a:avLst/>
          </a:prstGeom>
        </p:spPr>
        <p:txBody>
          <a:bodyPr vert="horz" wrap="square" lIns="0" tIns="16933" rIns="0" bIns="0" rtlCol="0">
            <a:spAutoFit/>
          </a:bodyPr>
          <a:lstStyle/>
          <a:p>
            <a:pPr marL="50800">
              <a:spcBef>
                <a:spcPts val="135"/>
              </a:spcBef>
            </a:pPr>
            <a:r>
              <a:rPr sz="3200" b="1" i="1" spc="-7" dirty="0">
                <a:latin typeface="Times New Roman" panose="02020603050405020304"/>
                <a:cs typeface="Times New Roman" panose="02020603050405020304"/>
              </a:rPr>
              <a:t>p</a:t>
            </a:r>
            <a:r>
              <a:rPr sz="3200" b="1" spc="-9" baseline="-21000" dirty="0">
                <a:latin typeface="Times New Roman" panose="02020603050405020304"/>
                <a:cs typeface="Times New Roman" panose="02020603050405020304"/>
              </a:rPr>
              <a:t>1</a:t>
            </a:r>
            <a:endParaRPr sz="3200" baseline="-21000">
              <a:latin typeface="Times New Roman" panose="02020603050405020304"/>
              <a:cs typeface="Times New Roman" panose="02020603050405020304"/>
            </a:endParaRPr>
          </a:p>
        </p:txBody>
      </p:sp>
      <p:sp>
        <p:nvSpPr>
          <p:cNvPr id="10" name="object 10"/>
          <p:cNvSpPr txBox="1"/>
          <p:nvPr/>
        </p:nvSpPr>
        <p:spPr>
          <a:xfrm>
            <a:off x="777064" y="2252797"/>
            <a:ext cx="440267" cy="509541"/>
          </a:xfrm>
          <a:prstGeom prst="rect">
            <a:avLst/>
          </a:prstGeom>
        </p:spPr>
        <p:txBody>
          <a:bodyPr vert="horz" wrap="square" lIns="0" tIns="16933" rIns="0" bIns="0" rtlCol="0">
            <a:spAutoFit/>
          </a:bodyPr>
          <a:lstStyle/>
          <a:p>
            <a:pPr marL="50800">
              <a:spcBef>
                <a:spcPts val="135"/>
              </a:spcBef>
            </a:pPr>
            <a:r>
              <a:rPr sz="3200" b="1" i="1" spc="-7" dirty="0">
                <a:latin typeface="Times New Roman" panose="02020603050405020304"/>
                <a:cs typeface="Times New Roman" panose="02020603050405020304"/>
              </a:rPr>
              <a:t>p</a:t>
            </a:r>
            <a:r>
              <a:rPr sz="3200" b="1" spc="-9" baseline="-21000" dirty="0">
                <a:latin typeface="Times New Roman" panose="02020603050405020304"/>
                <a:cs typeface="Times New Roman" panose="02020603050405020304"/>
              </a:rPr>
              <a:t>3</a:t>
            </a:r>
            <a:endParaRPr sz="3200" baseline="-21000">
              <a:latin typeface="Times New Roman" panose="02020603050405020304"/>
              <a:cs typeface="Times New Roman" panose="02020603050405020304"/>
            </a:endParaRPr>
          </a:p>
        </p:txBody>
      </p:sp>
      <p:sp>
        <p:nvSpPr>
          <p:cNvPr id="11" name="object 11"/>
          <p:cNvSpPr/>
          <p:nvPr/>
        </p:nvSpPr>
        <p:spPr>
          <a:xfrm>
            <a:off x="2732103" y="2621690"/>
            <a:ext cx="163067" cy="156633"/>
          </a:xfrm>
          <a:prstGeom prst="rect">
            <a:avLst/>
          </a:prstGeom>
          <a:blipFill>
            <a:blip r:embed="rId2" cstate="print"/>
            <a:stretch>
              <a:fillRect/>
            </a:stretch>
          </a:blipFill>
        </p:spPr>
        <p:txBody>
          <a:bodyPr wrap="square" lIns="0" tIns="0" rIns="0" bIns="0" rtlCol="0"/>
          <a:lstStyle/>
          <a:p>
            <a:endParaRPr sz="2400"/>
          </a:p>
        </p:txBody>
      </p:sp>
      <p:sp>
        <p:nvSpPr>
          <p:cNvPr id="12" name="object 12"/>
          <p:cNvSpPr/>
          <p:nvPr/>
        </p:nvSpPr>
        <p:spPr>
          <a:xfrm>
            <a:off x="801735" y="2215628"/>
            <a:ext cx="163101" cy="156633"/>
          </a:xfrm>
          <a:prstGeom prst="rect">
            <a:avLst/>
          </a:prstGeom>
          <a:blipFill>
            <a:blip r:embed="rId3" cstate="print"/>
            <a:stretch>
              <a:fillRect/>
            </a:stretch>
          </a:blipFill>
        </p:spPr>
        <p:txBody>
          <a:bodyPr wrap="square" lIns="0" tIns="0" rIns="0" bIns="0" rtlCol="0"/>
          <a:lstStyle/>
          <a:p>
            <a:endParaRPr sz="2400"/>
          </a:p>
        </p:txBody>
      </p:sp>
      <p:sp>
        <p:nvSpPr>
          <p:cNvPr id="13" name="object 13"/>
          <p:cNvSpPr/>
          <p:nvPr/>
        </p:nvSpPr>
        <p:spPr>
          <a:xfrm>
            <a:off x="2380229" y="4752750"/>
            <a:ext cx="160357" cy="156633"/>
          </a:xfrm>
          <a:prstGeom prst="rect">
            <a:avLst/>
          </a:prstGeom>
          <a:blipFill>
            <a:blip r:embed="rId4" cstate="print"/>
            <a:stretch>
              <a:fillRect/>
            </a:stretch>
          </a:blipFill>
        </p:spPr>
        <p:txBody>
          <a:bodyPr wrap="square" lIns="0" tIns="0" rIns="0" bIns="0" rtlCol="0"/>
          <a:lstStyle/>
          <a:p>
            <a:endParaRPr sz="2400"/>
          </a:p>
        </p:txBody>
      </p:sp>
      <p:sp>
        <p:nvSpPr>
          <p:cNvPr id="14" name="object 14"/>
          <p:cNvSpPr txBox="1"/>
          <p:nvPr/>
        </p:nvSpPr>
        <p:spPr>
          <a:xfrm>
            <a:off x="2912359" y="2665225"/>
            <a:ext cx="440267" cy="509541"/>
          </a:xfrm>
          <a:prstGeom prst="rect">
            <a:avLst/>
          </a:prstGeom>
        </p:spPr>
        <p:txBody>
          <a:bodyPr vert="horz" wrap="square" lIns="0" tIns="16933" rIns="0" bIns="0" rtlCol="0">
            <a:spAutoFit/>
          </a:bodyPr>
          <a:lstStyle/>
          <a:p>
            <a:pPr marL="50800">
              <a:spcBef>
                <a:spcPts val="135"/>
              </a:spcBef>
            </a:pPr>
            <a:r>
              <a:rPr sz="3200" b="1" i="1" spc="-7" dirty="0">
                <a:latin typeface="Times New Roman" panose="02020603050405020304"/>
                <a:cs typeface="Times New Roman" panose="02020603050405020304"/>
              </a:rPr>
              <a:t>p</a:t>
            </a:r>
            <a:r>
              <a:rPr sz="3200" b="1" spc="-9" baseline="-21000" dirty="0">
                <a:latin typeface="Times New Roman" panose="02020603050405020304"/>
                <a:cs typeface="Times New Roman" panose="02020603050405020304"/>
              </a:rPr>
              <a:t>2</a:t>
            </a:r>
            <a:endParaRPr sz="3200" baseline="-21000">
              <a:latin typeface="Times New Roman" panose="02020603050405020304"/>
              <a:cs typeface="Times New Roman" panose="02020603050405020304"/>
            </a:endParaRPr>
          </a:p>
        </p:txBody>
      </p:sp>
      <p:sp>
        <p:nvSpPr>
          <p:cNvPr id="15" name="object 15"/>
          <p:cNvSpPr txBox="1"/>
          <p:nvPr/>
        </p:nvSpPr>
        <p:spPr>
          <a:xfrm>
            <a:off x="2505113" y="4581807"/>
            <a:ext cx="440267" cy="509541"/>
          </a:xfrm>
          <a:prstGeom prst="rect">
            <a:avLst/>
          </a:prstGeom>
        </p:spPr>
        <p:txBody>
          <a:bodyPr vert="horz" wrap="square" lIns="0" tIns="16933" rIns="0" bIns="0" rtlCol="0">
            <a:spAutoFit/>
          </a:bodyPr>
          <a:lstStyle/>
          <a:p>
            <a:pPr marL="50800">
              <a:spcBef>
                <a:spcPts val="135"/>
              </a:spcBef>
            </a:pPr>
            <a:r>
              <a:rPr sz="3200" b="1" i="1" spc="-7" dirty="0">
                <a:latin typeface="Times New Roman" panose="02020603050405020304"/>
                <a:cs typeface="Times New Roman" panose="02020603050405020304"/>
              </a:rPr>
              <a:t>p</a:t>
            </a:r>
            <a:r>
              <a:rPr sz="3200" b="1" spc="-9" baseline="-21000" dirty="0">
                <a:latin typeface="Times New Roman" panose="02020603050405020304"/>
                <a:cs typeface="Times New Roman" panose="02020603050405020304"/>
              </a:rPr>
              <a:t>4</a:t>
            </a:r>
            <a:endParaRPr sz="3200" baseline="-21000">
              <a:latin typeface="Times New Roman" panose="02020603050405020304"/>
              <a:cs typeface="Times New Roman" panose="02020603050405020304"/>
            </a:endParaRPr>
          </a:p>
        </p:txBody>
      </p:sp>
      <p:sp>
        <p:nvSpPr>
          <p:cNvPr id="16" name="object 16"/>
          <p:cNvSpPr/>
          <p:nvPr/>
        </p:nvSpPr>
        <p:spPr>
          <a:xfrm>
            <a:off x="1756608" y="1713471"/>
            <a:ext cx="138007" cy="4166447"/>
          </a:xfrm>
          <a:custGeom>
            <a:avLst/>
            <a:gdLst/>
            <a:ahLst/>
            <a:cxnLst/>
            <a:rect l="l" t="t" r="r" b="b"/>
            <a:pathLst>
              <a:path w="103505" h="3124835">
                <a:moveTo>
                  <a:pt x="51763" y="25273"/>
                </a:moveTo>
                <a:lnTo>
                  <a:pt x="45403" y="36141"/>
                </a:lnTo>
                <a:lnTo>
                  <a:pt x="42265" y="3124250"/>
                </a:lnTo>
                <a:lnTo>
                  <a:pt x="54965" y="3124250"/>
                </a:lnTo>
                <a:lnTo>
                  <a:pt x="58042" y="96138"/>
                </a:lnTo>
                <a:lnTo>
                  <a:pt x="58090" y="36141"/>
                </a:lnTo>
                <a:lnTo>
                  <a:pt x="51763" y="25273"/>
                </a:lnTo>
                <a:close/>
              </a:path>
              <a:path w="103505" h="3124835">
                <a:moveTo>
                  <a:pt x="59100" y="12573"/>
                </a:moveTo>
                <a:lnTo>
                  <a:pt x="58127" y="12573"/>
                </a:lnTo>
                <a:lnTo>
                  <a:pt x="58103" y="36163"/>
                </a:lnTo>
                <a:lnTo>
                  <a:pt x="92430" y="95123"/>
                </a:lnTo>
                <a:lnTo>
                  <a:pt x="96316" y="96138"/>
                </a:lnTo>
                <a:lnTo>
                  <a:pt x="102374" y="92583"/>
                </a:lnTo>
                <a:lnTo>
                  <a:pt x="103403" y="88773"/>
                </a:lnTo>
                <a:lnTo>
                  <a:pt x="59100" y="12573"/>
                </a:lnTo>
                <a:close/>
              </a:path>
              <a:path w="103505" h="3124835">
                <a:moveTo>
                  <a:pt x="51790" y="0"/>
                </a:moveTo>
                <a:lnTo>
                  <a:pt x="1765" y="85598"/>
                </a:lnTo>
                <a:lnTo>
                  <a:pt x="0" y="88646"/>
                </a:lnTo>
                <a:lnTo>
                  <a:pt x="1015" y="92455"/>
                </a:lnTo>
                <a:lnTo>
                  <a:pt x="7073" y="96012"/>
                </a:lnTo>
                <a:lnTo>
                  <a:pt x="10960" y="94996"/>
                </a:lnTo>
                <a:lnTo>
                  <a:pt x="45390" y="36163"/>
                </a:lnTo>
                <a:lnTo>
                  <a:pt x="45427" y="12573"/>
                </a:lnTo>
                <a:lnTo>
                  <a:pt x="59100" y="12573"/>
                </a:lnTo>
                <a:lnTo>
                  <a:pt x="51790" y="0"/>
                </a:lnTo>
                <a:close/>
              </a:path>
              <a:path w="103505" h="3124835">
                <a:moveTo>
                  <a:pt x="58124" y="15875"/>
                </a:moveTo>
                <a:lnTo>
                  <a:pt x="57264" y="15875"/>
                </a:lnTo>
                <a:lnTo>
                  <a:pt x="51763" y="25273"/>
                </a:lnTo>
                <a:lnTo>
                  <a:pt x="58103" y="36163"/>
                </a:lnTo>
                <a:lnTo>
                  <a:pt x="58124" y="15875"/>
                </a:lnTo>
                <a:close/>
              </a:path>
              <a:path w="103505" h="3124835">
                <a:moveTo>
                  <a:pt x="58127" y="12573"/>
                </a:moveTo>
                <a:lnTo>
                  <a:pt x="45427" y="12573"/>
                </a:lnTo>
                <a:lnTo>
                  <a:pt x="45403" y="36141"/>
                </a:lnTo>
                <a:lnTo>
                  <a:pt x="51763" y="25273"/>
                </a:lnTo>
                <a:lnTo>
                  <a:pt x="46291" y="15875"/>
                </a:lnTo>
                <a:lnTo>
                  <a:pt x="58124" y="15875"/>
                </a:lnTo>
                <a:lnTo>
                  <a:pt x="58127" y="12573"/>
                </a:lnTo>
                <a:close/>
              </a:path>
              <a:path w="103505" h="3124835">
                <a:moveTo>
                  <a:pt x="57264" y="15875"/>
                </a:moveTo>
                <a:lnTo>
                  <a:pt x="46291" y="15875"/>
                </a:lnTo>
                <a:lnTo>
                  <a:pt x="51763" y="25273"/>
                </a:lnTo>
                <a:lnTo>
                  <a:pt x="57264" y="15875"/>
                </a:lnTo>
                <a:close/>
              </a:path>
            </a:pathLst>
          </a:custGeom>
          <a:solidFill>
            <a:srgbClr val="000000"/>
          </a:solidFill>
        </p:spPr>
        <p:txBody>
          <a:bodyPr wrap="square" lIns="0" tIns="0" rIns="0" bIns="0" rtlCol="0"/>
          <a:lstStyle/>
          <a:p>
            <a:endParaRPr sz="2400"/>
          </a:p>
        </p:txBody>
      </p:sp>
      <p:sp>
        <p:nvSpPr>
          <p:cNvPr id="17" name="object 17"/>
          <p:cNvSpPr/>
          <p:nvPr/>
        </p:nvSpPr>
        <p:spPr>
          <a:xfrm>
            <a:off x="604332" y="4186583"/>
            <a:ext cx="2845647" cy="138007"/>
          </a:xfrm>
          <a:custGeom>
            <a:avLst/>
            <a:gdLst/>
            <a:ahLst/>
            <a:cxnLst/>
            <a:rect l="l" t="t" r="r" b="b"/>
            <a:pathLst>
              <a:path w="2134235" h="103504">
                <a:moveTo>
                  <a:pt x="2045089" y="0"/>
                </a:moveTo>
                <a:lnTo>
                  <a:pt x="2041152" y="1016"/>
                </a:lnTo>
                <a:lnTo>
                  <a:pt x="2037596" y="7112"/>
                </a:lnTo>
                <a:lnTo>
                  <a:pt x="2038612" y="10922"/>
                </a:lnTo>
                <a:lnTo>
                  <a:pt x="2097608" y="45430"/>
                </a:lnTo>
                <a:lnTo>
                  <a:pt x="2121035" y="45466"/>
                </a:lnTo>
                <a:lnTo>
                  <a:pt x="2121035" y="58166"/>
                </a:lnTo>
                <a:lnTo>
                  <a:pt x="2097525" y="58166"/>
                </a:lnTo>
                <a:lnTo>
                  <a:pt x="2038485" y="92456"/>
                </a:lnTo>
                <a:lnTo>
                  <a:pt x="2037469" y="96266"/>
                </a:lnTo>
                <a:lnTo>
                  <a:pt x="2041025" y="102362"/>
                </a:lnTo>
                <a:lnTo>
                  <a:pt x="2044962" y="103378"/>
                </a:lnTo>
                <a:lnTo>
                  <a:pt x="2122691" y="58166"/>
                </a:lnTo>
                <a:lnTo>
                  <a:pt x="2121035" y="58166"/>
                </a:lnTo>
                <a:lnTo>
                  <a:pt x="2122752" y="58130"/>
                </a:lnTo>
                <a:lnTo>
                  <a:pt x="2133608" y="51816"/>
                </a:lnTo>
                <a:lnTo>
                  <a:pt x="2045089" y="0"/>
                </a:lnTo>
                <a:close/>
              </a:path>
              <a:path w="2134235" h="103504">
                <a:moveTo>
                  <a:pt x="2108491" y="51796"/>
                </a:moveTo>
                <a:lnTo>
                  <a:pt x="2097585" y="58130"/>
                </a:lnTo>
                <a:lnTo>
                  <a:pt x="2121035" y="58166"/>
                </a:lnTo>
                <a:lnTo>
                  <a:pt x="2121035" y="57277"/>
                </a:lnTo>
                <a:lnTo>
                  <a:pt x="2117860" y="57277"/>
                </a:lnTo>
                <a:lnTo>
                  <a:pt x="2108491" y="51796"/>
                </a:lnTo>
                <a:close/>
              </a:path>
              <a:path w="2134235" h="103504">
                <a:moveTo>
                  <a:pt x="17" y="42291"/>
                </a:moveTo>
                <a:lnTo>
                  <a:pt x="0" y="54991"/>
                </a:lnTo>
                <a:lnTo>
                  <a:pt x="2097585" y="58130"/>
                </a:lnTo>
                <a:lnTo>
                  <a:pt x="2108491" y="51796"/>
                </a:lnTo>
                <a:lnTo>
                  <a:pt x="2097608" y="45430"/>
                </a:lnTo>
                <a:lnTo>
                  <a:pt x="17" y="42291"/>
                </a:lnTo>
                <a:close/>
              </a:path>
              <a:path w="2134235" h="103504">
                <a:moveTo>
                  <a:pt x="2117860" y="46355"/>
                </a:moveTo>
                <a:lnTo>
                  <a:pt x="2108491" y="51796"/>
                </a:lnTo>
                <a:lnTo>
                  <a:pt x="2117860" y="57277"/>
                </a:lnTo>
                <a:lnTo>
                  <a:pt x="2117860" y="46355"/>
                </a:lnTo>
                <a:close/>
              </a:path>
              <a:path w="2134235" h="103504">
                <a:moveTo>
                  <a:pt x="2121035" y="46355"/>
                </a:moveTo>
                <a:lnTo>
                  <a:pt x="2117860" y="46355"/>
                </a:lnTo>
                <a:lnTo>
                  <a:pt x="2117860" y="57277"/>
                </a:lnTo>
                <a:lnTo>
                  <a:pt x="2121035" y="57277"/>
                </a:lnTo>
                <a:lnTo>
                  <a:pt x="2121035" y="46355"/>
                </a:lnTo>
                <a:close/>
              </a:path>
              <a:path w="2134235" h="103504">
                <a:moveTo>
                  <a:pt x="2097608" y="45430"/>
                </a:moveTo>
                <a:lnTo>
                  <a:pt x="2108491" y="51796"/>
                </a:lnTo>
                <a:lnTo>
                  <a:pt x="2117860" y="46355"/>
                </a:lnTo>
                <a:lnTo>
                  <a:pt x="2121035" y="46355"/>
                </a:lnTo>
                <a:lnTo>
                  <a:pt x="2121035" y="45466"/>
                </a:lnTo>
                <a:lnTo>
                  <a:pt x="2097608" y="45430"/>
                </a:lnTo>
                <a:close/>
              </a:path>
            </a:pathLst>
          </a:custGeom>
          <a:solidFill>
            <a:srgbClr val="000000"/>
          </a:solidFill>
        </p:spPr>
        <p:txBody>
          <a:bodyPr wrap="square" lIns="0" tIns="0" rIns="0" bIns="0" rtlCol="0"/>
          <a:lstStyle/>
          <a:p>
            <a:endParaRPr sz="2400"/>
          </a:p>
        </p:txBody>
      </p:sp>
      <p:sp>
        <p:nvSpPr>
          <p:cNvPr id="19" name="object 19"/>
          <p:cNvSpPr/>
          <p:nvPr/>
        </p:nvSpPr>
        <p:spPr>
          <a:xfrm>
            <a:off x="2331543" y="1815239"/>
            <a:ext cx="0" cy="3170767"/>
          </a:xfrm>
          <a:custGeom>
            <a:avLst/>
            <a:gdLst/>
            <a:ahLst/>
            <a:cxnLst/>
            <a:rect l="l" t="t" r="r" b="b"/>
            <a:pathLst>
              <a:path h="2378075">
                <a:moveTo>
                  <a:pt x="0" y="0"/>
                </a:moveTo>
                <a:lnTo>
                  <a:pt x="0" y="2378075"/>
                </a:lnTo>
              </a:path>
            </a:pathLst>
          </a:custGeom>
          <a:ln w="28575">
            <a:solidFill>
              <a:srgbClr val="FF0000"/>
            </a:solidFill>
          </a:ln>
        </p:spPr>
        <p:txBody>
          <a:bodyPr wrap="square" lIns="0" tIns="0" rIns="0" bIns="0" rtlCol="0"/>
          <a:lstStyle/>
          <a:p>
            <a:endParaRPr sz="2400"/>
          </a:p>
        </p:txBody>
      </p:sp>
      <p:graphicFrame>
        <p:nvGraphicFramePr>
          <p:cNvPr id="20" name="object 20"/>
          <p:cNvGraphicFramePr>
            <a:graphicFrameLocks noGrp="1"/>
          </p:cNvGraphicFramePr>
          <p:nvPr/>
        </p:nvGraphicFramePr>
        <p:xfrm>
          <a:off x="5980678" y="4448370"/>
          <a:ext cx="2438397" cy="502920"/>
        </p:xfrm>
        <a:graphic>
          <a:graphicData uri="http://schemas.openxmlformats.org/drawingml/2006/table">
            <a:tbl>
              <a:tblPr firstRow="1" bandRow="1">
                <a:tableStyleId>{2D5ABB26-0587-4C30-8999-92F81FD0307C}</a:tableStyleId>
              </a:tblPr>
              <a:tblGrid>
                <a:gridCol w="576579"/>
                <a:gridCol w="954193"/>
                <a:gridCol w="907625"/>
              </a:tblGrid>
              <a:tr h="502920">
                <a:tc>
                  <a:txBody>
                    <a:bodyPr/>
                    <a:lstStyle/>
                    <a:p>
                      <a:pPr marL="68580">
                        <a:lnSpc>
                          <a:spcPct val="100000"/>
                        </a:lnSpc>
                        <a:spcBef>
                          <a:spcPts val="210"/>
                        </a:spcBef>
                      </a:pPr>
                      <a:r>
                        <a:rPr sz="2700" b="1" i="1" spc="5" dirty="0">
                          <a:latin typeface="Times New Roman" panose="02020603050405020304"/>
                          <a:cs typeface="Times New Roman" panose="02020603050405020304"/>
                        </a:rPr>
                        <a:t>X</a:t>
                      </a:r>
                      <a:r>
                        <a:rPr sz="2600" b="1" i="1" spc="7" baseline="-21000" dirty="0">
                          <a:latin typeface="Times New Roman" panose="02020603050405020304"/>
                          <a:cs typeface="Times New Roman" panose="02020603050405020304"/>
                        </a:rPr>
                        <a:t>R</a:t>
                      </a:r>
                      <a:endParaRPr sz="2600" baseline="-21000" dirty="0">
                        <a:latin typeface="Times New Roman" panose="02020603050405020304"/>
                        <a:cs typeface="Times New Roman" panose="02020603050405020304"/>
                      </a:endParaRPr>
                    </a:p>
                  </a:txBody>
                  <a:tcPr marL="0" marR="0" marT="35560" marB="0">
                    <a:lnL w="12700">
                      <a:solidFill>
                        <a:srgbClr val="BEBEBE"/>
                      </a:solidFill>
                      <a:prstDash val="solid"/>
                    </a:lnL>
                    <a:lnR w="12700">
                      <a:solidFill>
                        <a:srgbClr val="BEBEBE"/>
                      </a:solidFill>
                      <a:prstDash val="solid"/>
                    </a:lnR>
                    <a:lnT w="12700">
                      <a:solidFill>
                        <a:srgbClr val="BEBEBE"/>
                      </a:solidFill>
                      <a:prstDash val="solid"/>
                    </a:lnT>
                    <a:lnB w="28575">
                      <a:solidFill>
                        <a:srgbClr val="BEBEBE"/>
                      </a:solidFill>
                      <a:prstDash val="solid"/>
                    </a:lnB>
                    <a:solidFill>
                      <a:srgbClr val="E7E7E7"/>
                    </a:solidFill>
                  </a:tcPr>
                </a:tc>
                <a:tc>
                  <a:txBody>
                    <a:bodyPr/>
                    <a:lstStyle/>
                    <a:p>
                      <a:pPr marR="2540" algn="ctr">
                        <a:lnSpc>
                          <a:spcPct val="100000"/>
                        </a:lnSpc>
                        <a:spcBef>
                          <a:spcPts val="210"/>
                        </a:spcBef>
                      </a:pPr>
                      <a:r>
                        <a:rPr sz="2700" b="1" dirty="0">
                          <a:latin typeface="Times New Roman" panose="02020603050405020304"/>
                          <a:cs typeface="Times New Roman" panose="02020603050405020304"/>
                        </a:rPr>
                        <a:t>1(4)</a:t>
                      </a:r>
                      <a:endParaRPr sz="2700">
                        <a:latin typeface="Times New Roman" panose="02020603050405020304"/>
                        <a:cs typeface="Times New Roman" panose="02020603050405020304"/>
                      </a:endParaRPr>
                    </a:p>
                  </a:txBody>
                  <a:tcPr marL="0" marR="0" marT="35560" marB="0">
                    <a:lnL w="12700">
                      <a:solidFill>
                        <a:srgbClr val="BEBEBE"/>
                      </a:solidFill>
                      <a:prstDash val="solid"/>
                    </a:lnL>
                    <a:lnR w="12700">
                      <a:solidFill>
                        <a:srgbClr val="BEBEBE"/>
                      </a:solidFill>
                      <a:prstDash val="solid"/>
                    </a:lnR>
                    <a:lnT w="12700">
                      <a:solidFill>
                        <a:srgbClr val="BEBEBE"/>
                      </a:solidFill>
                      <a:prstDash val="solid"/>
                    </a:lnT>
                    <a:lnB w="28575">
                      <a:solidFill>
                        <a:srgbClr val="BEBEBE"/>
                      </a:solidFill>
                      <a:prstDash val="solid"/>
                    </a:lnB>
                    <a:solidFill>
                      <a:srgbClr val="DBEDF4"/>
                    </a:solidFill>
                  </a:tcPr>
                </a:tc>
                <a:tc>
                  <a:txBody>
                    <a:bodyPr/>
                    <a:lstStyle/>
                    <a:p>
                      <a:pPr marL="125730">
                        <a:lnSpc>
                          <a:spcPct val="100000"/>
                        </a:lnSpc>
                        <a:spcBef>
                          <a:spcPts val="210"/>
                        </a:spcBef>
                      </a:pPr>
                      <a:r>
                        <a:rPr sz="2700" b="1" dirty="0">
                          <a:latin typeface="Times New Roman" panose="02020603050405020304"/>
                          <a:cs typeface="Times New Roman" panose="02020603050405020304"/>
                        </a:rPr>
                        <a:t>2(2)</a:t>
                      </a:r>
                      <a:endParaRPr sz="2700" dirty="0">
                        <a:latin typeface="Times New Roman" panose="02020603050405020304"/>
                        <a:cs typeface="Times New Roman" panose="02020603050405020304"/>
                      </a:endParaRPr>
                    </a:p>
                  </a:txBody>
                  <a:tcPr marL="0" marR="0" marT="35560" marB="0">
                    <a:lnL w="12700">
                      <a:solidFill>
                        <a:srgbClr val="BEBEBE"/>
                      </a:solidFill>
                      <a:prstDash val="solid"/>
                    </a:lnL>
                    <a:lnR w="12700">
                      <a:solidFill>
                        <a:srgbClr val="BEBEBE"/>
                      </a:solidFill>
                      <a:prstDash val="solid"/>
                    </a:lnR>
                    <a:lnT w="12700">
                      <a:solidFill>
                        <a:srgbClr val="BEBEBE"/>
                      </a:solidFill>
                      <a:prstDash val="solid"/>
                    </a:lnT>
                    <a:lnB w="28575">
                      <a:solidFill>
                        <a:srgbClr val="BEBEBE"/>
                      </a:solidFill>
                      <a:prstDash val="solid"/>
                    </a:lnB>
                    <a:solidFill>
                      <a:srgbClr val="DBEDF4"/>
                    </a:solidFill>
                  </a:tcPr>
                </a:tc>
              </a:tr>
            </a:tbl>
          </a:graphicData>
        </a:graphic>
      </p:graphicFrame>
      <p:graphicFrame>
        <p:nvGraphicFramePr>
          <p:cNvPr id="21" name="object 21"/>
          <p:cNvGraphicFramePr>
            <a:graphicFrameLocks noGrp="1"/>
          </p:cNvGraphicFramePr>
          <p:nvPr/>
        </p:nvGraphicFramePr>
        <p:xfrm>
          <a:off x="3135876" y="4448370"/>
          <a:ext cx="2540000" cy="502920"/>
        </p:xfrm>
        <a:graphic>
          <a:graphicData uri="http://schemas.openxmlformats.org/drawingml/2006/table">
            <a:tbl>
              <a:tblPr firstRow="1" bandRow="1">
                <a:tableStyleId>{2D5ABB26-0587-4C30-8999-92F81FD0307C}</a:tableStyleId>
              </a:tblPr>
              <a:tblGrid>
                <a:gridCol w="608753"/>
                <a:gridCol w="813647"/>
                <a:gridCol w="1117600"/>
              </a:tblGrid>
              <a:tr h="502920">
                <a:tc>
                  <a:txBody>
                    <a:bodyPr/>
                    <a:lstStyle/>
                    <a:p>
                      <a:pPr marL="68580">
                        <a:lnSpc>
                          <a:spcPct val="100000"/>
                        </a:lnSpc>
                        <a:spcBef>
                          <a:spcPts val="210"/>
                        </a:spcBef>
                      </a:pPr>
                      <a:r>
                        <a:rPr sz="2700" b="1" i="1" spc="5" dirty="0">
                          <a:latin typeface="Times New Roman" panose="02020603050405020304"/>
                          <a:cs typeface="Times New Roman" panose="02020603050405020304"/>
                        </a:rPr>
                        <a:t>X</a:t>
                      </a:r>
                      <a:r>
                        <a:rPr sz="2600" b="1" i="1" spc="7" baseline="-21000" dirty="0">
                          <a:latin typeface="Times New Roman" panose="02020603050405020304"/>
                          <a:cs typeface="Times New Roman" panose="02020603050405020304"/>
                        </a:rPr>
                        <a:t>L</a:t>
                      </a:r>
                      <a:endParaRPr sz="2600" baseline="-21000" dirty="0">
                        <a:latin typeface="Times New Roman" panose="02020603050405020304"/>
                        <a:cs typeface="Times New Roman" panose="02020603050405020304"/>
                      </a:endParaRPr>
                    </a:p>
                  </a:txBody>
                  <a:tcPr marL="0" marR="0" marT="35560" marB="0">
                    <a:lnL w="12700">
                      <a:solidFill>
                        <a:srgbClr val="BEBEBE"/>
                      </a:solidFill>
                      <a:prstDash val="solid"/>
                    </a:lnL>
                    <a:lnR w="12700">
                      <a:solidFill>
                        <a:srgbClr val="BEBEBE"/>
                      </a:solidFill>
                      <a:prstDash val="solid"/>
                    </a:lnR>
                    <a:lnT w="12700">
                      <a:solidFill>
                        <a:srgbClr val="BEBEBE"/>
                      </a:solidFill>
                      <a:prstDash val="solid"/>
                    </a:lnT>
                    <a:lnB w="28575">
                      <a:solidFill>
                        <a:srgbClr val="BEBEBE"/>
                      </a:solidFill>
                      <a:prstDash val="solid"/>
                    </a:lnB>
                    <a:solidFill>
                      <a:srgbClr val="E7E7E7"/>
                    </a:solidFill>
                  </a:tcPr>
                </a:tc>
                <a:tc>
                  <a:txBody>
                    <a:bodyPr/>
                    <a:lstStyle/>
                    <a:p>
                      <a:pPr algn="ctr">
                        <a:lnSpc>
                          <a:spcPct val="100000"/>
                        </a:lnSpc>
                        <a:spcBef>
                          <a:spcPts val="210"/>
                        </a:spcBef>
                      </a:pPr>
                      <a:r>
                        <a:rPr lang="en-US" altLang="zh-CN" sz="2700" b="1" dirty="0">
                          <a:latin typeface="Times New Roman" panose="02020603050405020304"/>
                          <a:cs typeface="Times New Roman" panose="02020603050405020304"/>
                        </a:rPr>
                        <a:t>-</a:t>
                      </a:r>
                      <a:r>
                        <a:rPr sz="2700" b="1" dirty="0">
                          <a:latin typeface="Times New Roman" panose="02020603050405020304"/>
                          <a:cs typeface="Times New Roman" panose="02020603050405020304"/>
                        </a:rPr>
                        <a:t>2(3)</a:t>
                      </a:r>
                      <a:endParaRPr sz="2700" dirty="0">
                        <a:latin typeface="Times New Roman" panose="02020603050405020304"/>
                        <a:cs typeface="Times New Roman" panose="02020603050405020304"/>
                      </a:endParaRPr>
                    </a:p>
                  </a:txBody>
                  <a:tcPr marL="0" marR="0" marT="35560" marB="0">
                    <a:lnL w="12700">
                      <a:solidFill>
                        <a:srgbClr val="BEBEBE"/>
                      </a:solidFill>
                      <a:prstDash val="solid"/>
                    </a:lnL>
                    <a:lnR w="12700">
                      <a:solidFill>
                        <a:srgbClr val="BEBEBE"/>
                      </a:solidFill>
                      <a:prstDash val="solid"/>
                    </a:lnR>
                    <a:lnT w="12700">
                      <a:solidFill>
                        <a:srgbClr val="BEBEBE"/>
                      </a:solidFill>
                      <a:prstDash val="solid"/>
                    </a:lnT>
                    <a:lnB w="28575">
                      <a:solidFill>
                        <a:srgbClr val="BEBEBE"/>
                      </a:solidFill>
                      <a:prstDash val="solid"/>
                    </a:lnB>
                    <a:solidFill>
                      <a:srgbClr val="DBEDF4"/>
                    </a:solidFill>
                  </a:tcPr>
                </a:tc>
                <a:tc>
                  <a:txBody>
                    <a:bodyPr/>
                    <a:lstStyle/>
                    <a:p>
                      <a:pPr algn="ctr">
                        <a:lnSpc>
                          <a:spcPct val="100000"/>
                        </a:lnSpc>
                        <a:spcBef>
                          <a:spcPts val="210"/>
                        </a:spcBef>
                      </a:pPr>
                      <a:r>
                        <a:rPr sz="2700" b="1" dirty="0">
                          <a:latin typeface="Times New Roman" panose="02020603050405020304"/>
                          <a:cs typeface="Times New Roman" panose="02020603050405020304"/>
                        </a:rPr>
                        <a:t>0.5(1)</a:t>
                      </a:r>
                      <a:endParaRPr sz="2700" dirty="0">
                        <a:latin typeface="Times New Roman" panose="02020603050405020304"/>
                        <a:cs typeface="Times New Roman" panose="02020603050405020304"/>
                      </a:endParaRPr>
                    </a:p>
                  </a:txBody>
                  <a:tcPr marL="0" marR="0" marT="35560" marB="0">
                    <a:lnL w="12700">
                      <a:solidFill>
                        <a:srgbClr val="BEBEBE"/>
                      </a:solidFill>
                      <a:prstDash val="solid"/>
                    </a:lnL>
                    <a:lnR w="12700">
                      <a:solidFill>
                        <a:srgbClr val="BEBEBE"/>
                      </a:solidFill>
                      <a:prstDash val="solid"/>
                    </a:lnR>
                    <a:lnT w="12700">
                      <a:solidFill>
                        <a:srgbClr val="BEBEBE"/>
                      </a:solidFill>
                      <a:prstDash val="solid"/>
                    </a:lnT>
                    <a:lnB w="28575">
                      <a:solidFill>
                        <a:srgbClr val="BEBEBE"/>
                      </a:solidFill>
                      <a:prstDash val="solid"/>
                    </a:lnB>
                    <a:solidFill>
                      <a:srgbClr val="DBEDF4"/>
                    </a:solidFill>
                  </a:tcPr>
                </a:tc>
              </a:tr>
            </a:tbl>
          </a:graphicData>
        </a:graphic>
      </p:graphicFrame>
      <p:graphicFrame>
        <p:nvGraphicFramePr>
          <p:cNvPr id="22" name="object 21"/>
          <p:cNvGraphicFramePr>
            <a:graphicFrameLocks noGrp="1"/>
          </p:cNvGraphicFramePr>
          <p:nvPr/>
        </p:nvGraphicFramePr>
        <p:xfrm>
          <a:off x="3132492" y="5091348"/>
          <a:ext cx="1422400" cy="502936"/>
        </p:xfrm>
        <a:graphic>
          <a:graphicData uri="http://schemas.openxmlformats.org/drawingml/2006/table">
            <a:tbl>
              <a:tblPr firstRow="1" bandRow="1">
                <a:tableStyleId>{2D5ABB26-0587-4C30-8999-92F81FD0307C}</a:tableStyleId>
              </a:tblPr>
              <a:tblGrid>
                <a:gridCol w="608753"/>
                <a:gridCol w="813647"/>
              </a:tblGrid>
              <a:tr h="502936">
                <a:tc>
                  <a:txBody>
                    <a:bodyPr/>
                    <a:lstStyle/>
                    <a:p>
                      <a:pPr marL="68580">
                        <a:lnSpc>
                          <a:spcPct val="100000"/>
                        </a:lnSpc>
                        <a:spcBef>
                          <a:spcPts val="240"/>
                        </a:spcBef>
                      </a:pPr>
                      <a:r>
                        <a:rPr sz="2700" b="1" i="1" spc="15" dirty="0">
                          <a:latin typeface="Times New Roman" panose="02020603050405020304"/>
                          <a:cs typeface="Times New Roman" panose="02020603050405020304"/>
                        </a:rPr>
                        <a:t>Y</a:t>
                      </a:r>
                      <a:r>
                        <a:rPr sz="2600" b="1" i="1" spc="22" baseline="-21000" dirty="0">
                          <a:latin typeface="Times New Roman" panose="02020603050405020304"/>
                          <a:cs typeface="Times New Roman" panose="02020603050405020304"/>
                        </a:rPr>
                        <a:t>L</a:t>
                      </a:r>
                      <a:endParaRPr sz="2600" baseline="-21000" dirty="0">
                        <a:latin typeface="Times New Roman" panose="02020603050405020304"/>
                        <a:cs typeface="Times New Roman" panose="02020603050405020304"/>
                      </a:endParaRPr>
                    </a:p>
                  </a:txBody>
                  <a:tcPr marL="0" marR="0" marT="40640" marB="0">
                    <a:lnL w="12700">
                      <a:solidFill>
                        <a:srgbClr val="BEBEBE"/>
                      </a:solidFill>
                      <a:prstDash val="solid"/>
                    </a:lnL>
                    <a:lnR w="12700" cap="flat" cmpd="sng" algn="ctr">
                      <a:solidFill>
                        <a:srgbClr val="BEBEBE"/>
                      </a:solidFill>
                      <a:prstDash val="solid"/>
                      <a:round/>
                      <a:headEnd type="none" w="med" len="med"/>
                      <a:tailEnd type="none" w="med" len="med"/>
                    </a:lnR>
                    <a:lnT w="28575">
                      <a:solidFill>
                        <a:srgbClr val="BEBEBE"/>
                      </a:solidFill>
                      <a:prstDash val="solid"/>
                    </a:lnT>
                    <a:lnB w="12700">
                      <a:solidFill>
                        <a:srgbClr val="BEBEBE"/>
                      </a:solidFill>
                      <a:prstDash val="solid"/>
                    </a:lnB>
                    <a:solidFill>
                      <a:srgbClr val="DBEDF4"/>
                    </a:solidFill>
                  </a:tcPr>
                </a:tc>
                <a:tc>
                  <a:txBody>
                    <a:bodyPr/>
                    <a:lstStyle/>
                    <a:p>
                      <a:pPr algn="ctr">
                        <a:lnSpc>
                          <a:spcPct val="100000"/>
                        </a:lnSpc>
                        <a:spcBef>
                          <a:spcPts val="240"/>
                        </a:spcBef>
                      </a:pPr>
                      <a:r>
                        <a:rPr sz="2700" b="1" dirty="0">
                          <a:latin typeface="Times New Roman" panose="02020603050405020304"/>
                          <a:cs typeface="Times New Roman" panose="02020603050405020304"/>
                        </a:rPr>
                        <a:t>2(1)</a:t>
                      </a:r>
                      <a:endParaRPr sz="2700" dirty="0">
                        <a:latin typeface="Times New Roman" panose="02020603050405020304"/>
                        <a:cs typeface="Times New Roman" panose="02020603050405020304"/>
                      </a:endParaRPr>
                    </a:p>
                  </a:txBody>
                  <a:tcPr marL="0" marR="0" marT="4064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28575">
                      <a:solidFill>
                        <a:srgbClr val="BEBEBE"/>
                      </a:solidFill>
                      <a:prstDash val="solid"/>
                    </a:lnT>
                    <a:lnB w="12700">
                      <a:solidFill>
                        <a:srgbClr val="BEBEBE"/>
                      </a:solidFill>
                      <a:prstDash val="solid"/>
                    </a:lnB>
                    <a:solidFill>
                      <a:srgbClr val="DBEDF4"/>
                    </a:solidFill>
                  </a:tcPr>
                </a:tc>
              </a:tr>
            </a:tbl>
          </a:graphicData>
        </a:graphic>
      </p:graphicFrame>
      <p:graphicFrame>
        <p:nvGraphicFramePr>
          <p:cNvPr id="23" name="object 20"/>
          <p:cNvGraphicFramePr>
            <a:graphicFrameLocks noGrp="1"/>
          </p:cNvGraphicFramePr>
          <p:nvPr/>
        </p:nvGraphicFramePr>
        <p:xfrm>
          <a:off x="7489438" y="5091348"/>
          <a:ext cx="907625" cy="502936"/>
        </p:xfrm>
        <a:graphic>
          <a:graphicData uri="http://schemas.openxmlformats.org/drawingml/2006/table">
            <a:tbl>
              <a:tblPr firstRow="1" bandRow="1">
                <a:tableStyleId>{2D5ABB26-0587-4C30-8999-92F81FD0307C}</a:tableStyleId>
              </a:tblPr>
              <a:tblGrid>
                <a:gridCol w="907625"/>
              </a:tblGrid>
              <a:tr h="502936">
                <a:tc>
                  <a:txBody>
                    <a:bodyPr/>
                    <a:lstStyle/>
                    <a:p>
                      <a:pPr marL="128905">
                        <a:lnSpc>
                          <a:spcPct val="100000"/>
                        </a:lnSpc>
                        <a:spcBef>
                          <a:spcPts val="240"/>
                        </a:spcBef>
                      </a:pPr>
                      <a:r>
                        <a:rPr sz="2700" b="1" dirty="0">
                          <a:latin typeface="Times New Roman" panose="02020603050405020304"/>
                          <a:cs typeface="Times New Roman" panose="02020603050405020304"/>
                        </a:rPr>
                        <a:t>3(2)</a:t>
                      </a:r>
                      <a:endParaRPr sz="2700" dirty="0">
                        <a:latin typeface="Times New Roman" panose="02020603050405020304"/>
                        <a:cs typeface="Times New Roman" panose="02020603050405020304"/>
                      </a:endParaRPr>
                    </a:p>
                  </a:txBody>
                  <a:tcPr marL="0" marR="0" marT="40640" marB="0">
                    <a:lnL w="12700" cap="flat" cmpd="sng" algn="ctr">
                      <a:solidFill>
                        <a:srgbClr val="BEBEBE"/>
                      </a:solidFill>
                      <a:prstDash val="solid"/>
                      <a:round/>
                      <a:headEnd type="none" w="med" len="med"/>
                      <a:tailEnd type="none" w="med" len="med"/>
                    </a:lnL>
                    <a:lnR w="12700">
                      <a:solidFill>
                        <a:srgbClr val="BEBEBE"/>
                      </a:solidFill>
                      <a:prstDash val="solid"/>
                    </a:lnR>
                    <a:lnT w="28575">
                      <a:solidFill>
                        <a:srgbClr val="BEBEBE"/>
                      </a:solidFill>
                      <a:prstDash val="solid"/>
                    </a:lnT>
                    <a:lnB w="12700">
                      <a:solidFill>
                        <a:srgbClr val="BEBEBE"/>
                      </a:solidFill>
                      <a:prstDash val="solid"/>
                    </a:lnB>
                    <a:solidFill>
                      <a:srgbClr val="DBEDF4"/>
                    </a:solidFill>
                  </a:tcPr>
                </a:tc>
              </a:tr>
            </a:tbl>
          </a:graphicData>
        </a:graphic>
      </p:graphicFrame>
      <p:graphicFrame>
        <p:nvGraphicFramePr>
          <p:cNvPr id="24" name="object 21"/>
          <p:cNvGraphicFramePr>
            <a:graphicFrameLocks noGrp="1"/>
          </p:cNvGraphicFramePr>
          <p:nvPr/>
        </p:nvGraphicFramePr>
        <p:xfrm>
          <a:off x="4553197" y="5091348"/>
          <a:ext cx="1117600" cy="502936"/>
        </p:xfrm>
        <a:graphic>
          <a:graphicData uri="http://schemas.openxmlformats.org/drawingml/2006/table">
            <a:tbl>
              <a:tblPr firstRow="1" bandRow="1">
                <a:tableStyleId>{2D5ABB26-0587-4C30-8999-92F81FD0307C}</a:tableStyleId>
              </a:tblPr>
              <a:tblGrid>
                <a:gridCol w="1117600"/>
              </a:tblGrid>
              <a:tr h="502936">
                <a:tc>
                  <a:txBody>
                    <a:bodyPr/>
                    <a:lstStyle/>
                    <a:p>
                      <a:pPr algn="ctr">
                        <a:lnSpc>
                          <a:spcPct val="100000"/>
                        </a:lnSpc>
                        <a:spcBef>
                          <a:spcPts val="240"/>
                        </a:spcBef>
                      </a:pPr>
                      <a:r>
                        <a:rPr sz="2700" b="1" dirty="0">
                          <a:latin typeface="Times New Roman" panose="02020603050405020304"/>
                          <a:cs typeface="Times New Roman" panose="02020603050405020304"/>
                        </a:rPr>
                        <a:t>4(3)</a:t>
                      </a:r>
                      <a:endParaRPr sz="2700" dirty="0">
                        <a:latin typeface="Times New Roman" panose="02020603050405020304"/>
                        <a:cs typeface="Times New Roman" panose="02020603050405020304"/>
                      </a:endParaRPr>
                    </a:p>
                  </a:txBody>
                  <a:tcPr marL="0" marR="0" marT="40640" marB="0">
                    <a:lnL w="12700" cap="flat" cmpd="sng" algn="ctr">
                      <a:solidFill>
                        <a:srgbClr val="BEBEBE"/>
                      </a:solidFill>
                      <a:prstDash val="solid"/>
                      <a:round/>
                      <a:headEnd type="none" w="med" len="med"/>
                      <a:tailEnd type="none" w="med" len="med"/>
                    </a:lnL>
                    <a:lnR w="12700">
                      <a:solidFill>
                        <a:srgbClr val="BEBEBE"/>
                      </a:solidFill>
                      <a:prstDash val="solid"/>
                    </a:lnR>
                    <a:lnT w="28575">
                      <a:solidFill>
                        <a:srgbClr val="BEBEBE"/>
                      </a:solidFill>
                      <a:prstDash val="solid"/>
                    </a:lnT>
                    <a:lnB w="12700">
                      <a:solidFill>
                        <a:srgbClr val="BEBEBE"/>
                      </a:solidFill>
                      <a:prstDash val="solid"/>
                    </a:lnB>
                    <a:solidFill>
                      <a:srgbClr val="DBEDF4"/>
                    </a:solidFill>
                  </a:tcPr>
                </a:tc>
              </a:tr>
            </a:tbl>
          </a:graphicData>
        </a:graphic>
      </p:graphicFrame>
      <p:graphicFrame>
        <p:nvGraphicFramePr>
          <p:cNvPr id="25" name="object 20"/>
          <p:cNvGraphicFramePr>
            <a:graphicFrameLocks noGrp="1"/>
          </p:cNvGraphicFramePr>
          <p:nvPr/>
        </p:nvGraphicFramePr>
        <p:xfrm>
          <a:off x="5979073" y="5091348"/>
          <a:ext cx="1530772" cy="502936"/>
        </p:xfrm>
        <a:graphic>
          <a:graphicData uri="http://schemas.openxmlformats.org/drawingml/2006/table">
            <a:tbl>
              <a:tblPr firstRow="1" bandRow="1">
                <a:tableStyleId>{2D5ABB26-0587-4C30-8999-92F81FD0307C}</a:tableStyleId>
              </a:tblPr>
              <a:tblGrid>
                <a:gridCol w="576579"/>
                <a:gridCol w="954193"/>
              </a:tblGrid>
              <a:tr h="502936">
                <a:tc>
                  <a:txBody>
                    <a:bodyPr/>
                    <a:lstStyle/>
                    <a:p>
                      <a:pPr marL="68580">
                        <a:lnSpc>
                          <a:spcPct val="100000"/>
                        </a:lnSpc>
                        <a:spcBef>
                          <a:spcPts val="240"/>
                        </a:spcBef>
                      </a:pPr>
                      <a:r>
                        <a:rPr sz="2700" b="1" i="1" spc="15" dirty="0">
                          <a:latin typeface="Times New Roman" panose="02020603050405020304"/>
                          <a:cs typeface="Times New Roman" panose="02020603050405020304"/>
                        </a:rPr>
                        <a:t>Y</a:t>
                      </a:r>
                      <a:r>
                        <a:rPr sz="2600" b="1" i="1" spc="22" baseline="-21000" dirty="0">
                          <a:latin typeface="Times New Roman" panose="02020603050405020304"/>
                          <a:cs typeface="Times New Roman" panose="02020603050405020304"/>
                        </a:rPr>
                        <a:t>R</a:t>
                      </a:r>
                      <a:endParaRPr sz="2600" baseline="-21000" dirty="0">
                        <a:latin typeface="Times New Roman" panose="02020603050405020304"/>
                        <a:cs typeface="Times New Roman" panose="02020603050405020304"/>
                      </a:endParaRPr>
                    </a:p>
                  </a:txBody>
                  <a:tcPr marL="0" marR="0" marT="40640" marB="0">
                    <a:lnL w="12700">
                      <a:solidFill>
                        <a:srgbClr val="BEBEBE"/>
                      </a:solidFill>
                      <a:prstDash val="solid"/>
                    </a:lnL>
                    <a:lnR w="12700" cap="flat" cmpd="sng" algn="ctr">
                      <a:solidFill>
                        <a:srgbClr val="BEBEBE"/>
                      </a:solidFill>
                      <a:prstDash val="solid"/>
                      <a:round/>
                      <a:headEnd type="none" w="med" len="med"/>
                      <a:tailEnd type="none" w="med" len="med"/>
                    </a:lnR>
                    <a:lnT w="28575">
                      <a:solidFill>
                        <a:srgbClr val="BEBEBE"/>
                      </a:solidFill>
                      <a:prstDash val="solid"/>
                    </a:lnT>
                    <a:lnB w="12700">
                      <a:solidFill>
                        <a:srgbClr val="BEBEBE"/>
                      </a:solidFill>
                      <a:prstDash val="solid"/>
                    </a:lnB>
                    <a:solidFill>
                      <a:srgbClr val="E7E7E7"/>
                    </a:solidFill>
                  </a:tcPr>
                </a:tc>
                <a:tc>
                  <a:txBody>
                    <a:bodyPr/>
                    <a:lstStyle/>
                    <a:p>
                      <a:pPr marL="11430" algn="ctr">
                        <a:lnSpc>
                          <a:spcPct val="100000"/>
                        </a:lnSpc>
                        <a:spcBef>
                          <a:spcPts val="240"/>
                        </a:spcBef>
                      </a:pPr>
                      <a:r>
                        <a:rPr sz="2700" b="1" dirty="0">
                          <a:latin typeface="Times New Roman" panose="02020603050405020304"/>
                          <a:cs typeface="Times New Roman" panose="02020603050405020304"/>
                        </a:rPr>
                        <a:t>-1(4)</a:t>
                      </a:r>
                      <a:endParaRPr sz="2700" dirty="0">
                        <a:latin typeface="Times New Roman" panose="02020603050405020304"/>
                        <a:cs typeface="Times New Roman" panose="02020603050405020304"/>
                      </a:endParaRPr>
                    </a:p>
                  </a:txBody>
                  <a:tcPr marL="0" marR="0" marT="40640" marB="0">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28575">
                      <a:solidFill>
                        <a:srgbClr val="BEBEBE"/>
                      </a:solidFill>
                      <a:prstDash val="solid"/>
                    </a:lnT>
                    <a:lnB w="12700">
                      <a:solidFill>
                        <a:srgbClr val="BEBEBE"/>
                      </a:solidFill>
                      <a:prstDash val="solid"/>
                    </a:lnB>
                    <a:solidFill>
                      <a:srgbClr val="DBEDF4"/>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3578" y="44314"/>
            <a:ext cx="8902499"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改进算法时间复杂度</a:t>
            </a:r>
            <a:endParaRPr sz="3600" b="1" spc="-13"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568471" y="4271506"/>
            <a:ext cx="1335839" cy="588345"/>
          </a:xfrm>
          <a:prstGeom prst="rect">
            <a:avLst/>
          </a:prstGeom>
        </p:spPr>
        <p:txBody>
          <a:bodyPr vert="horz" wrap="square" lIns="0" tIns="16933" rIns="0" bIns="0" rtlCol="0">
            <a:spAutoFit/>
          </a:bodyPr>
          <a:lstStyle/>
          <a:p>
            <a:pPr marL="17145" marR="6985" indent="36195">
              <a:lnSpc>
                <a:spcPct val="116000"/>
              </a:lnSpc>
              <a:spcBef>
                <a:spcPts val="135"/>
              </a:spcBef>
            </a:pPr>
            <a:r>
              <a:rPr sz="3200" b="1" dirty="0" err="1">
                <a:latin typeface="Times New Roman" panose="02020603050405020304" pitchFamily="18" charset="0"/>
                <a:ea typeface="黑体" panose="02010609060101010101" pitchFamily="49" charset="-122"/>
                <a:cs typeface="Times New Roman" panose="02020603050405020304" pitchFamily="18" charset="0"/>
              </a:rPr>
              <a:t>解得</a:t>
            </a:r>
            <a:endParaRPr sz="32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object 4"/>
          <p:cNvSpPr txBox="1"/>
          <p:nvPr/>
        </p:nvSpPr>
        <p:spPr>
          <a:xfrm>
            <a:off x="1886938" y="4214872"/>
            <a:ext cx="4312156" cy="587340"/>
          </a:xfrm>
          <a:prstGeom prst="rect">
            <a:avLst/>
          </a:prstGeom>
        </p:spPr>
        <p:txBody>
          <a:bodyPr vert="horz" wrap="square" lIns="0" tIns="93980" rIns="0" bIns="0" rtlCol="0">
            <a:spAutoFit/>
          </a:bodyPr>
          <a:lstStyle/>
          <a:p>
            <a:pPr marL="55245">
              <a:spcBef>
                <a:spcPts val="740"/>
              </a:spcBef>
            </a:pPr>
            <a:r>
              <a:rPr sz="3200" b="1" i="1" spc="-7" dirty="0">
                <a:latin typeface="Times New Roman" panose="02020603050405020304" pitchFamily="18" charset="0"/>
                <a:ea typeface="黑体" panose="02010609060101010101" pitchFamily="49" charset="-122"/>
                <a:cs typeface="Times New Roman" panose="02020603050405020304" pitchFamily="18" charset="0"/>
              </a:rPr>
              <a:t>T</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n</a:t>
            </a:r>
            <a:r>
              <a:rPr sz="3200" b="1" spc="-7"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a:t>
            </a:r>
            <a:r>
              <a:rPr sz="3200" b="1" spc="-67" dirty="0">
                <a:latin typeface="Times New Roman" panose="02020603050405020304" pitchFamily="18" charset="0"/>
                <a:ea typeface="黑体" panose="02010609060101010101" pitchFamily="49" charset="-122"/>
                <a:cs typeface="Times New Roman" panose="02020603050405020304" pitchFamily="18" charset="0"/>
              </a:rPr>
              <a:t> </a:t>
            </a:r>
            <a:r>
              <a:rPr sz="3200" b="1" i="1" spc="-7" dirty="0">
                <a:latin typeface="Times New Roman" panose="02020603050405020304" pitchFamily="18" charset="0"/>
                <a:ea typeface="黑体" panose="02010609060101010101" pitchFamily="49" charset="-122"/>
                <a:cs typeface="Times New Roman" panose="02020603050405020304" pitchFamily="18" charset="0"/>
              </a:rPr>
              <a:t>O</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err="1">
                <a:latin typeface="Times New Roman" panose="02020603050405020304" pitchFamily="18" charset="0"/>
                <a:ea typeface="黑体" panose="02010609060101010101" pitchFamily="49" charset="-122"/>
                <a:cs typeface="Times New Roman" panose="02020603050405020304" pitchFamily="18" charset="0"/>
              </a:rPr>
              <a:t>n</a:t>
            </a:r>
            <a:r>
              <a:rPr sz="3200" b="1" spc="-7" dirty="0" err="1">
                <a:latin typeface="Times New Roman" panose="02020603050405020304" pitchFamily="18" charset="0"/>
                <a:ea typeface="黑体" panose="02010609060101010101" pitchFamily="49" charset="-122"/>
                <a:cs typeface="Times New Roman" panose="02020603050405020304" pitchFamily="18" charset="0"/>
              </a:rPr>
              <a:t>log</a:t>
            </a:r>
            <a:r>
              <a:rPr sz="3200" b="1" i="1" spc="-7" dirty="0" err="1">
                <a:latin typeface="Times New Roman" panose="02020603050405020304" pitchFamily="18" charset="0"/>
                <a:ea typeface="黑体" panose="02010609060101010101" pitchFamily="49" charset="-122"/>
                <a:cs typeface="Times New Roman" panose="02020603050405020304" pitchFamily="18" charset="0"/>
              </a:rPr>
              <a:t>n</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endParaRPr sz="32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object 5"/>
          <p:cNvSpPr txBox="1"/>
          <p:nvPr/>
        </p:nvSpPr>
        <p:spPr>
          <a:xfrm>
            <a:off x="452969" y="1120412"/>
            <a:ext cx="8327960" cy="2969189"/>
          </a:xfrm>
          <a:prstGeom prst="rect">
            <a:avLst/>
          </a:prstGeom>
        </p:spPr>
        <p:txBody>
          <a:bodyPr vert="horz" wrap="square" lIns="0" tIns="16933" rIns="0" bIns="0" rtlCol="0">
            <a:spAutoFit/>
          </a:bodyPr>
          <a:lstStyle/>
          <a:p>
            <a:pPr marL="17145">
              <a:spcBef>
                <a:spcPts val="135"/>
              </a:spcBef>
            </a:pPr>
            <a:r>
              <a:rPr sz="3200" b="1" i="1" spc="-7" dirty="0">
                <a:latin typeface="Times New Roman" panose="02020603050405020304" pitchFamily="18" charset="0"/>
                <a:ea typeface="黑体" panose="02010609060101010101" pitchFamily="49" charset="-122"/>
                <a:cs typeface="Times New Roman" panose="02020603050405020304" pitchFamily="18" charset="0"/>
              </a:rPr>
              <a:t>W</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n</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dirty="0">
                <a:latin typeface="Times New Roman" panose="02020603050405020304" pitchFamily="18" charset="0"/>
                <a:ea typeface="黑体" panose="02010609060101010101" pitchFamily="49" charset="-122"/>
                <a:cs typeface="Times New Roman" panose="02020603050405020304" pitchFamily="18" charset="0"/>
              </a:rPr>
              <a:t>为算法时间复杂度</a:t>
            </a:r>
            <a:endParaRPr sz="3200" dirty="0">
              <a:latin typeface="Times New Roman" panose="02020603050405020304" pitchFamily="18" charset="0"/>
              <a:ea typeface="黑体" panose="02010609060101010101" pitchFamily="49" charset="-122"/>
              <a:cs typeface="Times New Roman" panose="02020603050405020304" pitchFamily="18" charset="0"/>
            </a:endParaRPr>
          </a:p>
          <a:p>
            <a:pPr marL="17145"/>
            <a:r>
              <a:rPr sz="3200" b="1" dirty="0" err="1">
                <a:latin typeface="Times New Roman" panose="02020603050405020304" pitchFamily="18" charset="0"/>
                <a:ea typeface="黑体" panose="02010609060101010101" pitchFamily="49" charset="-122"/>
                <a:cs typeface="Times New Roman" panose="02020603050405020304" pitchFamily="18" charset="0"/>
              </a:rPr>
              <a:t>递归过程</a:t>
            </a:r>
            <a:r>
              <a:rPr sz="3200" b="1" spc="-7" dirty="0" err="1">
                <a:latin typeface="Times New Roman" panose="02020603050405020304" pitchFamily="18" charset="0"/>
                <a:ea typeface="黑体" panose="02010609060101010101" pitchFamily="49" charset="-122"/>
                <a:cs typeface="Times New Roman" panose="02020603050405020304" pitchFamily="18" charset="0"/>
              </a:rPr>
              <a:t>:</a:t>
            </a:r>
            <a:r>
              <a:rPr sz="3200" b="1" i="1" spc="-7" dirty="0" err="1">
                <a:latin typeface="Times New Roman" panose="02020603050405020304" pitchFamily="18" charset="0"/>
                <a:ea typeface="黑体" panose="02010609060101010101" pitchFamily="49" charset="-122"/>
                <a:cs typeface="Times New Roman" panose="02020603050405020304" pitchFamily="18" charset="0"/>
              </a:rPr>
              <a:t>T</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n</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spc="-67" dirty="0">
                <a:latin typeface="Times New Roman" panose="02020603050405020304" pitchFamily="18" charset="0"/>
                <a:ea typeface="黑体" panose="02010609060101010101" pitchFamily="49" charset="-122"/>
                <a:cs typeface="Times New Roman" panose="02020603050405020304" pitchFamily="18" charset="0"/>
              </a:rPr>
              <a:t> </a:t>
            </a:r>
            <a:r>
              <a:rPr sz="3200" b="1" dirty="0">
                <a:latin typeface="Times New Roman" panose="02020603050405020304" pitchFamily="18" charset="0"/>
                <a:ea typeface="黑体" panose="02010609060101010101" pitchFamily="49" charset="-122"/>
                <a:cs typeface="Times New Roman" panose="02020603050405020304" pitchFamily="18" charset="0"/>
              </a:rPr>
              <a:t>，预处</a:t>
            </a:r>
            <a:r>
              <a:rPr sz="3200" b="1" spc="7" dirty="0">
                <a:latin typeface="Times New Roman" panose="02020603050405020304" pitchFamily="18" charset="0"/>
                <a:ea typeface="黑体" panose="02010609060101010101" pitchFamily="49" charset="-122"/>
                <a:cs typeface="Times New Roman" panose="02020603050405020304" pitchFamily="18" charset="0"/>
              </a:rPr>
              <a:t>理</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a:cs typeface="Times New Roman" panose="02020603050405020304"/>
              </a:rPr>
              <a:t>O</a:t>
            </a:r>
            <a:r>
              <a:rPr sz="3200" b="1" spc="-7"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log</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a:t>
            </a:r>
            <a:endParaRPr sz="3200" dirty="0">
              <a:latin typeface="Times New Roman" panose="02020603050405020304"/>
              <a:cs typeface="Times New Roman" panose="02020603050405020304"/>
            </a:endParaRPr>
          </a:p>
          <a:p>
            <a:pPr marL="1041400">
              <a:spcBef>
                <a:spcPts val="2260"/>
              </a:spcBef>
            </a:pPr>
            <a:r>
              <a:rPr sz="3200" b="1" i="1" spc="-7" dirty="0">
                <a:latin typeface="Times New Roman" panose="02020603050405020304"/>
                <a:cs typeface="Times New Roman" panose="02020603050405020304"/>
              </a:rPr>
              <a:t>W</a:t>
            </a:r>
            <a:r>
              <a:rPr sz="3200" b="1" spc="-7"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 </a:t>
            </a:r>
            <a:r>
              <a:rPr sz="3200" b="1" dirty="0">
                <a:latin typeface="Times New Roman" panose="02020603050405020304"/>
                <a:cs typeface="Times New Roman" panose="02020603050405020304"/>
              </a:rPr>
              <a:t>= </a:t>
            </a:r>
            <a:r>
              <a:rPr sz="3200" b="1" i="1" spc="-7" dirty="0">
                <a:latin typeface="Times New Roman" panose="02020603050405020304"/>
                <a:cs typeface="Times New Roman" panose="02020603050405020304"/>
              </a:rPr>
              <a:t>T</a:t>
            </a:r>
            <a:r>
              <a:rPr sz="3200" b="1" spc="-7"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 </a:t>
            </a:r>
            <a:r>
              <a:rPr sz="3200" b="1" dirty="0">
                <a:latin typeface="Times New Roman" panose="02020603050405020304"/>
                <a:cs typeface="Times New Roman" panose="02020603050405020304"/>
              </a:rPr>
              <a:t>+</a:t>
            </a:r>
            <a:r>
              <a:rPr sz="3200" b="1" spc="-7" dirty="0">
                <a:latin typeface="Times New Roman" panose="02020603050405020304"/>
                <a:cs typeface="Times New Roman" panose="02020603050405020304"/>
              </a:rPr>
              <a:t> </a:t>
            </a:r>
            <a:r>
              <a:rPr sz="3200" b="1" i="1" spc="-7" dirty="0">
                <a:latin typeface="Times New Roman" panose="02020603050405020304"/>
                <a:cs typeface="Times New Roman" panose="02020603050405020304"/>
              </a:rPr>
              <a:t>O</a:t>
            </a:r>
            <a:r>
              <a:rPr sz="3200" b="1" spc="-7"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log</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a:t>
            </a:r>
            <a:endParaRPr sz="3200" dirty="0">
              <a:latin typeface="Times New Roman" panose="02020603050405020304"/>
              <a:cs typeface="Times New Roman" panose="02020603050405020304"/>
            </a:endParaRPr>
          </a:p>
          <a:p>
            <a:pPr marL="1031240" marR="1334135">
              <a:lnSpc>
                <a:spcPts val="4535"/>
              </a:lnSpc>
              <a:spcBef>
                <a:spcPts val="195"/>
              </a:spcBef>
              <a:tabLst>
                <a:tab pos="3891915" algn="l"/>
              </a:tabLst>
            </a:pPr>
            <a:r>
              <a:rPr sz="3200" b="1" i="1" spc="-7" dirty="0">
                <a:latin typeface="Times New Roman" panose="02020603050405020304"/>
                <a:cs typeface="Times New Roman" panose="02020603050405020304"/>
              </a:rPr>
              <a:t>T</a:t>
            </a:r>
            <a:r>
              <a:rPr sz="3200" b="1" spc="-7"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 </a:t>
            </a:r>
            <a:r>
              <a:rPr sz="3200" b="1" dirty="0">
                <a:latin typeface="Times New Roman" panose="02020603050405020304"/>
                <a:cs typeface="Times New Roman" panose="02020603050405020304"/>
              </a:rPr>
              <a:t>= </a:t>
            </a:r>
            <a:r>
              <a:rPr sz="3200" b="1" spc="-7" dirty="0">
                <a:latin typeface="Times New Roman" panose="02020603050405020304"/>
                <a:cs typeface="Times New Roman" panose="02020603050405020304"/>
              </a:rPr>
              <a:t>2</a:t>
            </a:r>
            <a:r>
              <a:rPr sz="3200" b="1" i="1" spc="-7" dirty="0">
                <a:latin typeface="Times New Roman" panose="02020603050405020304"/>
                <a:cs typeface="Times New Roman" panose="02020603050405020304"/>
              </a:rPr>
              <a:t>T</a:t>
            </a:r>
            <a:r>
              <a:rPr sz="3200" b="1" spc="-7"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/2) </a:t>
            </a:r>
            <a:r>
              <a:rPr sz="3200" b="1" dirty="0">
                <a:latin typeface="Times New Roman" panose="02020603050405020304"/>
                <a:cs typeface="Times New Roman" panose="02020603050405020304"/>
              </a:rPr>
              <a:t>+ </a:t>
            </a:r>
            <a:r>
              <a:rPr sz="3200" b="1" i="1" spc="-7" dirty="0">
                <a:latin typeface="Times New Roman" panose="02020603050405020304"/>
                <a:cs typeface="Times New Roman" panose="02020603050405020304"/>
              </a:rPr>
              <a:t>O</a:t>
            </a:r>
            <a:r>
              <a:rPr sz="3200" b="1" spc="-7"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  </a:t>
            </a:r>
            <a:r>
              <a:rPr sz="3200" b="1" i="1" spc="-7" dirty="0">
                <a:latin typeface="Times New Roman" panose="02020603050405020304"/>
                <a:cs typeface="Times New Roman" panose="02020603050405020304"/>
              </a:rPr>
              <a:t>T</a:t>
            </a:r>
            <a:r>
              <a:rPr sz="3200" b="1" spc="-7"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a:t>
            </a:r>
            <a:r>
              <a:rPr sz="3200" b="1" spc="7" dirty="0">
                <a:latin typeface="Times New Roman" panose="02020603050405020304"/>
                <a:cs typeface="Times New Roman" panose="02020603050405020304"/>
              </a:rPr>
              <a:t> </a:t>
            </a:r>
            <a:r>
              <a:rPr sz="3200" b="1" dirty="0">
                <a:latin typeface="Times New Roman" panose="02020603050405020304"/>
                <a:cs typeface="Times New Roman" panose="02020603050405020304"/>
              </a:rPr>
              <a:t>=</a:t>
            </a:r>
            <a:r>
              <a:rPr sz="3200" b="1" spc="-7" dirty="0">
                <a:latin typeface="Times New Roman" panose="02020603050405020304"/>
                <a:cs typeface="Times New Roman" panose="02020603050405020304"/>
              </a:rPr>
              <a:t> </a:t>
            </a:r>
            <a:r>
              <a:rPr sz="3200" b="1" i="1" spc="-7" dirty="0">
                <a:latin typeface="Times New Roman" panose="02020603050405020304"/>
                <a:cs typeface="Times New Roman" panose="02020603050405020304"/>
              </a:rPr>
              <a:t>O</a:t>
            </a:r>
            <a:r>
              <a:rPr sz="3200" b="1" spc="-7" dirty="0">
                <a:latin typeface="Times New Roman" panose="02020603050405020304"/>
                <a:cs typeface="Times New Roman" panose="02020603050405020304"/>
              </a:rPr>
              <a:t>(1)	</a:t>
            </a:r>
            <a:r>
              <a:rPr sz="3200" b="1" i="1" dirty="0">
                <a:latin typeface="Times New Roman" panose="02020603050405020304"/>
                <a:cs typeface="Times New Roman" panose="02020603050405020304"/>
              </a:rPr>
              <a:t>n </a:t>
            </a:r>
            <a:r>
              <a:rPr sz="3200" b="1" dirty="0">
                <a:latin typeface="Symbol" panose="05050102010706020507"/>
                <a:cs typeface="Symbol" panose="05050102010706020507"/>
              </a:rPr>
              <a:t></a:t>
            </a:r>
            <a:r>
              <a:rPr sz="3200" b="1" spc="-140" dirty="0">
                <a:latin typeface="Times New Roman" panose="02020603050405020304"/>
                <a:cs typeface="Times New Roman" panose="02020603050405020304"/>
              </a:rPr>
              <a:t> </a:t>
            </a:r>
            <a:r>
              <a:rPr sz="3200" b="1" dirty="0">
                <a:latin typeface="Times New Roman" panose="02020603050405020304"/>
                <a:cs typeface="Times New Roman" panose="02020603050405020304"/>
              </a:rPr>
              <a:t>3</a:t>
            </a:r>
            <a:endParaRPr sz="3200" dirty="0">
              <a:latin typeface="Times New Roman" panose="02020603050405020304"/>
              <a:cs typeface="Times New Roman" panose="02020603050405020304"/>
            </a:endParaRPr>
          </a:p>
        </p:txBody>
      </p:sp>
      <p:sp>
        <p:nvSpPr>
          <p:cNvPr id="8" name="object 4"/>
          <p:cNvSpPr txBox="1"/>
          <p:nvPr/>
        </p:nvSpPr>
        <p:spPr>
          <a:xfrm>
            <a:off x="1866081" y="4953005"/>
            <a:ext cx="5283311" cy="587340"/>
          </a:xfrm>
          <a:prstGeom prst="rect">
            <a:avLst/>
          </a:prstGeom>
        </p:spPr>
        <p:txBody>
          <a:bodyPr vert="horz" wrap="square" lIns="0" tIns="93980" rIns="0" bIns="0" rtlCol="0">
            <a:spAutoFit/>
          </a:bodyPr>
          <a:lstStyle/>
          <a:p>
            <a:pPr marL="17145">
              <a:spcBef>
                <a:spcPts val="605"/>
              </a:spcBef>
            </a:pPr>
            <a:r>
              <a:rPr sz="3200" b="1" spc="-7" dirty="0">
                <a:solidFill>
                  <a:srgbClr val="C00000"/>
                </a:solidFill>
                <a:latin typeface="Times New Roman" panose="02020603050405020304"/>
                <a:cs typeface="Times New Roman" panose="02020603050405020304"/>
              </a:rPr>
              <a:t>W(n) = </a:t>
            </a:r>
            <a:r>
              <a:rPr sz="3200" b="1" i="1" spc="-7" dirty="0">
                <a:solidFill>
                  <a:srgbClr val="C00000"/>
                </a:solidFill>
                <a:latin typeface="Times New Roman" panose="02020603050405020304"/>
                <a:cs typeface="Times New Roman" panose="02020603050405020304"/>
              </a:rPr>
              <a:t>O</a:t>
            </a:r>
            <a:r>
              <a:rPr sz="3200" b="1" spc="-7" dirty="0">
                <a:solidFill>
                  <a:srgbClr val="C00000"/>
                </a:solidFill>
                <a:latin typeface="Times New Roman" panose="02020603050405020304"/>
                <a:cs typeface="Times New Roman" panose="02020603050405020304"/>
              </a:rPr>
              <a:t>(</a:t>
            </a:r>
            <a:r>
              <a:rPr sz="3200" b="1" i="1" spc="-7" dirty="0">
                <a:solidFill>
                  <a:srgbClr val="C00000"/>
                </a:solidFill>
                <a:latin typeface="Times New Roman" panose="02020603050405020304"/>
                <a:cs typeface="Times New Roman" panose="02020603050405020304"/>
              </a:rPr>
              <a:t>n</a:t>
            </a:r>
            <a:r>
              <a:rPr sz="3200" b="1" spc="-7" dirty="0">
                <a:solidFill>
                  <a:srgbClr val="C00000"/>
                </a:solidFill>
                <a:latin typeface="Times New Roman" panose="02020603050405020304"/>
                <a:cs typeface="Times New Roman" panose="02020603050405020304"/>
              </a:rPr>
              <a:t>log</a:t>
            </a:r>
            <a:r>
              <a:rPr sz="3200" b="1" i="1" spc="-7" dirty="0">
                <a:solidFill>
                  <a:srgbClr val="C00000"/>
                </a:solidFill>
                <a:latin typeface="Times New Roman" panose="02020603050405020304"/>
                <a:cs typeface="Times New Roman" panose="02020603050405020304"/>
              </a:rPr>
              <a:t>n</a:t>
            </a:r>
            <a:r>
              <a:rPr sz="3200" b="1" spc="-7" dirty="0">
                <a:solidFill>
                  <a:srgbClr val="C00000"/>
                </a:solidFill>
                <a:latin typeface="Times New Roman" panose="02020603050405020304"/>
                <a:cs typeface="Times New Roman" panose="02020603050405020304"/>
              </a:rPr>
              <a:t>)</a:t>
            </a:r>
            <a:endParaRPr sz="3200" dirty="0">
              <a:latin typeface="Times New Roman" panose="02020603050405020304"/>
              <a:cs typeface="Times New Roman" panose="02020603050405020304"/>
            </a:endParaRPr>
          </a:p>
        </p:txBody>
      </p:sp>
      <p:sp>
        <p:nvSpPr>
          <p:cNvPr id="6" name="矩形 5"/>
          <p:cNvSpPr/>
          <p:nvPr/>
        </p:nvSpPr>
        <p:spPr>
          <a:xfrm>
            <a:off x="452968" y="4973391"/>
            <a:ext cx="1605339" cy="663580"/>
          </a:xfrm>
          <a:prstGeom prst="rect">
            <a:avLst/>
          </a:prstGeom>
        </p:spPr>
        <p:txBody>
          <a:bodyPr wrap="square">
            <a:spAutoFit/>
          </a:bodyPr>
          <a:lstStyle/>
          <a:p>
            <a:pPr marL="17145" marR="6985" indent="36195">
              <a:lnSpc>
                <a:spcPct val="116000"/>
              </a:lnSpc>
              <a:spcBef>
                <a:spcPts val="135"/>
              </a:spcBef>
            </a:pP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于是</a:t>
            </a:r>
            <a:endParaRPr lang="zh-CN" altLang="en-US" sz="32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4835" y="31004"/>
            <a:ext cx="8860221" cy="693353"/>
          </a:xfrm>
          <a:prstGeom prst="rect">
            <a:avLst/>
          </a:prstGeom>
        </p:spPr>
        <p:txBody>
          <a:bodyPr vert="horz" wrap="square" lIns="0" tIns="16087" rIns="0" bIns="0" rtlCol="0" anchor="ctr">
            <a:spAutoFit/>
          </a:bodyPr>
          <a:lstStyle/>
          <a:p>
            <a:pPr marL="17145" algn="ctr">
              <a:lnSpc>
                <a:spcPct val="100000"/>
              </a:lnSpc>
              <a:spcBef>
                <a:spcPts val="125"/>
              </a:spcBef>
            </a:pPr>
            <a:r>
              <a:rPr sz="4400" b="1" spc="-13" dirty="0">
                <a:solidFill>
                  <a:srgbClr val="C00000"/>
                </a:solidFill>
                <a:latin typeface="黑体" panose="02010609060101010101" pitchFamily="49" charset="-122"/>
                <a:ea typeface="黑体" panose="02010609060101010101" pitchFamily="49" charset="-122"/>
              </a:rPr>
              <a:t>小结</a:t>
            </a:r>
            <a:endParaRPr sz="4400" b="1" spc="-13" dirty="0">
              <a:solidFill>
                <a:srgbClr val="C00000"/>
              </a:solidFill>
              <a:latin typeface="黑体" panose="02010609060101010101" pitchFamily="49" charset="-122"/>
              <a:ea typeface="黑体" panose="02010609060101010101" pitchFamily="49" charset="-122"/>
            </a:endParaRPr>
          </a:p>
        </p:txBody>
      </p:sp>
      <p:sp>
        <p:nvSpPr>
          <p:cNvPr id="3" name="object 3"/>
          <p:cNvSpPr txBox="1"/>
          <p:nvPr/>
        </p:nvSpPr>
        <p:spPr>
          <a:xfrm>
            <a:off x="419100" y="1038555"/>
            <a:ext cx="8604936" cy="4325778"/>
          </a:xfrm>
          <a:prstGeom prst="rect">
            <a:avLst/>
          </a:prstGeom>
        </p:spPr>
        <p:txBody>
          <a:bodyPr vert="horz" wrap="square" lIns="0" tIns="126153" rIns="0" bIns="0" rtlCol="0">
            <a:spAutoFit/>
          </a:bodyPr>
          <a:lstStyle/>
          <a:p>
            <a:pPr marL="525145" indent="-457200">
              <a:spcBef>
                <a:spcPts val="995"/>
              </a:spcBef>
              <a:buFont typeface="Arial" panose="020B0604020202020204"/>
              <a:buChar char="•"/>
              <a:tabLst>
                <a:tab pos="523875" algn="l"/>
                <a:tab pos="524510" algn="l"/>
              </a:tabLst>
            </a:pPr>
            <a:r>
              <a:rPr sz="3735" b="1" spc="-7" dirty="0">
                <a:latin typeface="Times New Roman" panose="02020603050405020304" pitchFamily="18" charset="0"/>
                <a:ea typeface="黑体" panose="02010609060101010101" pitchFamily="49" charset="-122"/>
                <a:cs typeface="Times New Roman" panose="02020603050405020304" pitchFamily="18" charset="0"/>
              </a:rPr>
              <a:t>依据</a:t>
            </a:r>
            <a:endParaRPr sz="3735" dirty="0">
              <a:latin typeface="Times New Roman" panose="02020603050405020304" pitchFamily="18" charset="0"/>
              <a:ea typeface="黑体" panose="02010609060101010101" pitchFamily="49" charset="-122"/>
              <a:cs typeface="Times New Roman" panose="02020603050405020304" pitchFamily="18" charset="0"/>
            </a:endParaRPr>
          </a:p>
          <a:p>
            <a:pPr marL="1487805">
              <a:spcBef>
                <a:spcPts val="740"/>
              </a:spcBef>
            </a:pPr>
            <a:r>
              <a:rPr lang="en-US" sz="3200" b="1" i="1" spc="-7" dirty="0">
                <a:latin typeface="Times New Roman" panose="02020603050405020304"/>
                <a:cs typeface="Times New Roman" panose="02020603050405020304"/>
              </a:rPr>
              <a:t>          </a:t>
            </a:r>
            <a:r>
              <a:rPr sz="3200" b="1" i="1" spc="-7" dirty="0">
                <a:latin typeface="Times New Roman" panose="02020603050405020304"/>
                <a:cs typeface="Times New Roman" panose="02020603050405020304"/>
              </a:rPr>
              <a:t>W</a:t>
            </a:r>
            <a:r>
              <a:rPr sz="3200" b="1" spc="-7"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n</a:t>
            </a:r>
            <a:r>
              <a:rPr sz="3200" b="1" spc="-7" dirty="0">
                <a:latin typeface="Times New Roman" panose="02020603050405020304"/>
                <a:cs typeface="Times New Roman" panose="02020603050405020304"/>
              </a:rPr>
              <a:t>) </a:t>
            </a:r>
            <a:r>
              <a:rPr sz="3200" b="1" dirty="0">
                <a:latin typeface="Times New Roman" panose="02020603050405020304"/>
                <a:cs typeface="Times New Roman" panose="02020603050405020304"/>
              </a:rPr>
              <a:t>= </a:t>
            </a:r>
            <a:r>
              <a:rPr sz="3200" b="1" i="1" dirty="0">
                <a:latin typeface="Times New Roman" panose="02020603050405020304"/>
                <a:cs typeface="Times New Roman" panose="02020603050405020304"/>
              </a:rPr>
              <a:t>aW</a:t>
            </a:r>
            <a:r>
              <a:rPr sz="3200" b="1" dirty="0">
                <a:latin typeface="Times New Roman" panose="02020603050405020304"/>
                <a:cs typeface="Times New Roman" panose="02020603050405020304"/>
              </a:rPr>
              <a:t>(</a:t>
            </a:r>
            <a:r>
              <a:rPr sz="3200" b="1" i="1" dirty="0">
                <a:latin typeface="Times New Roman" panose="02020603050405020304"/>
                <a:cs typeface="Times New Roman" panose="02020603050405020304"/>
              </a:rPr>
              <a:t>n</a:t>
            </a:r>
            <a:r>
              <a:rPr sz="3200" b="1" dirty="0">
                <a:latin typeface="Times New Roman" panose="02020603050405020304"/>
                <a:cs typeface="Times New Roman" panose="02020603050405020304"/>
              </a:rPr>
              <a:t>/</a:t>
            </a:r>
            <a:r>
              <a:rPr sz="3200" b="1" i="1" dirty="0">
                <a:latin typeface="Times New Roman" panose="02020603050405020304"/>
                <a:cs typeface="Times New Roman" panose="02020603050405020304"/>
              </a:rPr>
              <a:t>b</a:t>
            </a:r>
            <a:r>
              <a:rPr sz="3200" b="1" dirty="0">
                <a:latin typeface="Times New Roman" panose="02020603050405020304"/>
                <a:cs typeface="Times New Roman" panose="02020603050405020304"/>
              </a:rPr>
              <a:t>) +</a:t>
            </a:r>
            <a:r>
              <a:rPr sz="3200" b="1" spc="-100" dirty="0">
                <a:latin typeface="Times New Roman" panose="02020603050405020304"/>
                <a:cs typeface="Times New Roman" panose="02020603050405020304"/>
              </a:rPr>
              <a:t> </a:t>
            </a:r>
            <a:r>
              <a:rPr sz="3200" b="1" i="1" spc="-7">
                <a:latin typeface="Times New Roman" panose="02020603050405020304"/>
                <a:cs typeface="Times New Roman" panose="02020603050405020304"/>
              </a:rPr>
              <a:t>f</a:t>
            </a:r>
            <a:r>
              <a:rPr sz="3200" b="1" spc="-7">
                <a:latin typeface="Times New Roman" panose="02020603050405020304"/>
                <a:cs typeface="Times New Roman" panose="02020603050405020304"/>
              </a:rPr>
              <a:t>(</a:t>
            </a:r>
            <a:r>
              <a:rPr sz="3200" b="1" i="1" spc="-7">
                <a:latin typeface="Times New Roman" panose="02020603050405020304"/>
                <a:cs typeface="Times New Roman" panose="02020603050405020304"/>
              </a:rPr>
              <a:t>n</a:t>
            </a:r>
            <a:r>
              <a:rPr sz="3200" b="1" spc="-7">
                <a:latin typeface="Times New Roman" panose="02020603050405020304"/>
                <a:cs typeface="Times New Roman" panose="02020603050405020304"/>
              </a:rPr>
              <a:t>)</a:t>
            </a:r>
            <a:endParaRPr lang="en-US" sz="3200" dirty="0">
              <a:latin typeface="Times New Roman" panose="02020603050405020304"/>
              <a:cs typeface="Times New Roman" panose="02020603050405020304"/>
            </a:endParaRPr>
          </a:p>
          <a:p>
            <a:pPr marL="1487805">
              <a:spcBef>
                <a:spcPts val="740"/>
              </a:spcBef>
            </a:pPr>
            <a:endParaRPr sz="3935" dirty="0">
              <a:latin typeface="Times New Roman" panose="02020603050405020304"/>
              <a:cs typeface="Times New Roman" panose="02020603050405020304"/>
            </a:endParaRPr>
          </a:p>
          <a:p>
            <a:pPr marL="525145" indent="-457200">
              <a:spcBef>
                <a:spcPts val="5"/>
              </a:spcBef>
              <a:buFont typeface="Arial" panose="020B0604020202020204"/>
              <a:buChar char="•"/>
              <a:tabLst>
                <a:tab pos="523875" algn="l"/>
                <a:tab pos="524510" algn="l"/>
              </a:tabLst>
            </a:pPr>
            <a:r>
              <a:rPr sz="3735" b="1" spc="-7" dirty="0">
                <a:latin typeface="Times New Roman" panose="02020603050405020304" pitchFamily="18" charset="0"/>
                <a:ea typeface="黑体" panose="02010609060101010101" pitchFamily="49" charset="-122"/>
                <a:cs typeface="Times New Roman" panose="02020603050405020304" pitchFamily="18" charset="0"/>
              </a:rPr>
              <a:t>提高算法效率的方法：</a:t>
            </a:r>
            <a:endParaRPr sz="3735" dirty="0">
              <a:latin typeface="Times New Roman" panose="02020603050405020304" pitchFamily="18" charset="0"/>
              <a:ea typeface="黑体" panose="02010609060101010101" pitchFamily="49" charset="-122"/>
              <a:cs typeface="Times New Roman" panose="02020603050405020304" pitchFamily="18" charset="0"/>
            </a:endParaRPr>
          </a:p>
          <a:p>
            <a:pPr marL="1059180" lvl="1" indent="-382905">
              <a:spcBef>
                <a:spcPts val="785"/>
              </a:spcBef>
              <a:buFont typeface="Arial" panose="020B0604020202020204"/>
              <a:buChar char="–"/>
              <a:tabLst>
                <a:tab pos="1059815" algn="l"/>
              </a:tabLst>
            </a:pPr>
            <a:r>
              <a:rPr sz="3200" b="1" spc="-7" dirty="0">
                <a:latin typeface="Times New Roman" panose="02020603050405020304" pitchFamily="18" charset="0"/>
                <a:ea typeface="黑体" panose="02010609060101010101" pitchFamily="49" charset="-122"/>
                <a:cs typeface="Times New Roman" panose="02020603050405020304" pitchFamily="18" charset="0"/>
              </a:rPr>
              <a:t>减少子问题个</a:t>
            </a:r>
            <a:r>
              <a:rPr sz="3200" b="1" dirty="0">
                <a:latin typeface="Times New Roman" panose="02020603050405020304" pitchFamily="18" charset="0"/>
                <a:ea typeface="黑体" panose="02010609060101010101" pitchFamily="49" charset="-122"/>
                <a:cs typeface="Times New Roman" panose="02020603050405020304" pitchFamily="18" charset="0"/>
              </a:rPr>
              <a:t>数</a:t>
            </a:r>
            <a:r>
              <a:rPr sz="3200" b="1" i="1" spc="-13" dirty="0">
                <a:latin typeface="Times New Roman" panose="02020603050405020304"/>
                <a:cs typeface="Times New Roman" panose="02020603050405020304"/>
              </a:rPr>
              <a:t>a</a:t>
            </a:r>
            <a:r>
              <a:rPr sz="3200" b="1" spc="-13" dirty="0">
                <a:latin typeface="宋体" panose="02010600030101010101" pitchFamily="2" charset="-122"/>
                <a:cs typeface="宋体" panose="02010600030101010101" pitchFamily="2" charset="-122"/>
              </a:rPr>
              <a:t>：</a:t>
            </a:r>
            <a:endParaRPr sz="3200" dirty="0">
              <a:latin typeface="宋体" panose="02010600030101010101" pitchFamily="2" charset="-122"/>
              <a:cs typeface="宋体" panose="02010600030101010101" pitchFamily="2" charset="-122"/>
            </a:endParaRPr>
          </a:p>
          <a:p>
            <a:pPr marL="1581785">
              <a:spcBef>
                <a:spcPts val="800"/>
              </a:spcBef>
            </a:pPr>
            <a:r>
              <a:rPr lang="en-US" sz="3200" b="1" i="1" spc="-7" dirty="0">
                <a:latin typeface="Times New Roman" panose="02020603050405020304"/>
                <a:cs typeface="Times New Roman" panose="02020603050405020304"/>
              </a:rPr>
              <a:t>              </a:t>
            </a:r>
            <a:r>
              <a:rPr sz="3200" b="1" i="1" spc="-7" dirty="0">
                <a:latin typeface="Times New Roman" panose="02020603050405020304"/>
                <a:cs typeface="Times New Roman" panose="02020603050405020304"/>
              </a:rPr>
              <a:t>W</a:t>
            </a:r>
            <a:r>
              <a:rPr sz="3200" b="1" dirty="0">
                <a:latin typeface="Times New Roman" panose="02020603050405020304"/>
                <a:cs typeface="Times New Roman" panose="02020603050405020304"/>
              </a:rPr>
              <a:t>(</a:t>
            </a:r>
            <a:r>
              <a:rPr sz="3200" b="1" i="1" spc="-13" dirty="0">
                <a:latin typeface="Times New Roman" panose="02020603050405020304"/>
                <a:cs typeface="Times New Roman" panose="02020603050405020304"/>
              </a:rPr>
              <a:t>n</a:t>
            </a:r>
            <a:r>
              <a:rPr sz="3200" b="1" dirty="0">
                <a:latin typeface="Times New Roman" panose="02020603050405020304"/>
                <a:cs typeface="Times New Roman" panose="02020603050405020304"/>
              </a:rPr>
              <a:t>)=</a:t>
            </a:r>
            <a:r>
              <a:rPr sz="3200" b="1" i="1" spc="-13" dirty="0">
                <a:latin typeface="Times New Roman" panose="02020603050405020304"/>
                <a:cs typeface="Times New Roman" panose="02020603050405020304"/>
              </a:rPr>
              <a:t>O</a:t>
            </a:r>
            <a:r>
              <a:rPr sz="3200" b="1" dirty="0">
                <a:latin typeface="Times New Roman" panose="02020603050405020304"/>
                <a:cs typeface="Times New Roman" panose="02020603050405020304"/>
              </a:rPr>
              <a:t>(</a:t>
            </a:r>
            <a:r>
              <a:rPr sz="3200" b="1" i="1" spc="-7" dirty="0">
                <a:latin typeface="Times New Roman" panose="02020603050405020304"/>
                <a:cs typeface="Times New Roman" panose="02020603050405020304"/>
              </a:rPr>
              <a:t>n</a:t>
            </a:r>
            <a:r>
              <a:rPr sz="3200" b="1" spc="-9" baseline="24000" dirty="0">
                <a:latin typeface="Times New Roman" panose="02020603050405020304"/>
                <a:cs typeface="Times New Roman" panose="02020603050405020304"/>
              </a:rPr>
              <a:t>lo</a:t>
            </a:r>
            <a:r>
              <a:rPr sz="3200" b="1" baseline="24000" dirty="0">
                <a:latin typeface="Times New Roman" panose="02020603050405020304"/>
                <a:cs typeface="Times New Roman" panose="02020603050405020304"/>
              </a:rPr>
              <a:t>g</a:t>
            </a:r>
            <a:r>
              <a:rPr sz="2100" b="1" i="1" spc="20" baseline="26000" dirty="0">
                <a:latin typeface="Times New Roman" panose="02020603050405020304"/>
                <a:cs typeface="Times New Roman" panose="02020603050405020304"/>
              </a:rPr>
              <a:t>b</a:t>
            </a:r>
            <a:r>
              <a:rPr sz="3200" b="1" i="1" baseline="24000" dirty="0">
                <a:latin typeface="Times New Roman" panose="02020603050405020304"/>
                <a:cs typeface="Times New Roman" panose="02020603050405020304"/>
              </a:rPr>
              <a:t>a</a:t>
            </a:r>
            <a:r>
              <a:rPr sz="3200" b="1" dirty="0">
                <a:latin typeface="Times New Roman" panose="02020603050405020304"/>
                <a:cs typeface="Times New Roman" panose="02020603050405020304"/>
              </a:rPr>
              <a:t>)</a:t>
            </a:r>
            <a:endParaRPr sz="3200" dirty="0">
              <a:latin typeface="Times New Roman" panose="02020603050405020304"/>
              <a:cs typeface="Times New Roman" panose="02020603050405020304"/>
            </a:endParaRPr>
          </a:p>
          <a:p>
            <a:pPr marL="1059180" lvl="1" indent="-382905">
              <a:spcBef>
                <a:spcPts val="740"/>
              </a:spcBef>
              <a:buFont typeface="Arial" panose="020B0604020202020204"/>
              <a:buChar char="–"/>
              <a:tabLst>
                <a:tab pos="1059815" algn="l"/>
              </a:tabLst>
            </a:pPr>
            <a:r>
              <a:rPr sz="3200" b="1" dirty="0">
                <a:latin typeface="Times New Roman" panose="02020603050405020304" pitchFamily="18" charset="0"/>
                <a:ea typeface="黑体" panose="02010609060101010101" pitchFamily="49" charset="-122"/>
                <a:cs typeface="Times New Roman" panose="02020603050405020304" pitchFamily="18" charset="0"/>
              </a:rPr>
              <a:t>增加预处理，减少</a:t>
            </a:r>
            <a:r>
              <a:rPr sz="3200" b="1" i="1" spc="-7" dirty="0">
                <a:latin typeface="Times New Roman" panose="02020603050405020304" pitchFamily="18" charset="0"/>
                <a:ea typeface="黑体" panose="02010609060101010101" pitchFamily="49" charset="-122"/>
                <a:cs typeface="Times New Roman" panose="02020603050405020304" pitchFamily="18" charset="0"/>
              </a:rPr>
              <a:t>f</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r>
              <a:rPr sz="3200" b="1" i="1" spc="-7" dirty="0">
                <a:latin typeface="Times New Roman" panose="02020603050405020304" pitchFamily="18" charset="0"/>
                <a:ea typeface="黑体" panose="02010609060101010101" pitchFamily="49" charset="-122"/>
                <a:cs typeface="Times New Roman" panose="02020603050405020304" pitchFamily="18" charset="0"/>
              </a:rPr>
              <a:t>n</a:t>
            </a:r>
            <a:r>
              <a:rPr sz="3200" b="1" spc="-7" dirty="0">
                <a:latin typeface="Times New Roman" panose="02020603050405020304" pitchFamily="18" charset="0"/>
                <a:ea typeface="黑体" panose="02010609060101010101" pitchFamily="49" charset="-122"/>
                <a:cs typeface="Times New Roman" panose="02020603050405020304" pitchFamily="18" charset="0"/>
              </a:rPr>
              <a:t>)</a:t>
            </a:r>
            <a:endParaRPr sz="32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10487</Words>
  <Application>WPS 演示</Application>
  <PresentationFormat>全屏显示(4:3)</PresentationFormat>
  <Paragraphs>1049</Paragraphs>
  <Slides>78</Slides>
  <Notes>1</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78</vt:i4>
      </vt:variant>
    </vt:vector>
  </HeadingPairs>
  <TitlesOfParts>
    <vt:vector size="100" baseType="lpstr">
      <vt:lpstr>Arial</vt:lpstr>
      <vt:lpstr>宋体</vt:lpstr>
      <vt:lpstr>Wingdings</vt:lpstr>
      <vt:lpstr>华文行楷</vt:lpstr>
      <vt:lpstr>Monotype Corsiva</vt:lpstr>
      <vt:lpstr>楷体_GB2312</vt:lpstr>
      <vt:lpstr>Arial</vt:lpstr>
      <vt:lpstr>黑体</vt:lpstr>
      <vt:lpstr>Times New Roman</vt:lpstr>
      <vt:lpstr>Calibri</vt:lpstr>
      <vt:lpstr>Times New Roman</vt:lpstr>
      <vt:lpstr>Symbol</vt:lpstr>
      <vt:lpstr>微软雅黑</vt:lpstr>
      <vt:lpstr>Arial Unicode MS</vt:lpstr>
      <vt:lpstr>等线</vt:lpstr>
      <vt:lpstr>Cambria Math</vt:lpstr>
      <vt:lpstr>Cambria Math</vt:lpstr>
      <vt:lpstr>CISOIN+ËÎÌå</vt:lpstr>
      <vt:lpstr>Segoe Print</vt:lpstr>
      <vt:lpstr>等线 Light</vt:lpstr>
      <vt:lpstr>Calibri Light</vt:lpstr>
      <vt:lpstr>2_Office 主题​​</vt:lpstr>
      <vt:lpstr>本周教学内容</vt:lpstr>
      <vt:lpstr>分治算法的设计思想与分析方法</vt:lpstr>
      <vt:lpstr>分治策略 的设计思想</vt:lpstr>
      <vt:lpstr>分治策略的基本思想</vt:lpstr>
      <vt:lpstr>二分检索</vt:lpstr>
      <vt:lpstr>二分检索算法设计思想</vt:lpstr>
      <vt:lpstr>二分检索时间复杂度分析</vt:lpstr>
      <vt:lpstr>二分归并排序</vt:lpstr>
      <vt:lpstr>二分归并排序设计思想</vt:lpstr>
      <vt:lpstr>二分归并排序时间复杂度分析</vt:lpstr>
      <vt:lpstr>Hanoi塔的递归算法</vt:lpstr>
      <vt:lpstr>算法设计思想</vt:lpstr>
      <vt:lpstr>小结</vt:lpstr>
      <vt:lpstr>分治算法的一般描述和分析方法</vt:lpstr>
      <vt:lpstr>分治算法的一般性描述</vt:lpstr>
      <vt:lpstr>设计要点</vt:lpstr>
      <vt:lpstr>分治算法时间分析</vt:lpstr>
      <vt:lpstr>两类常见的递推方程</vt:lpstr>
      <vt:lpstr>递推方程的求解</vt:lpstr>
      <vt:lpstr>方程2的解</vt:lpstr>
      <vt:lpstr>小结</vt:lpstr>
      <vt:lpstr>芯片测试</vt:lpstr>
      <vt:lpstr>一次测试过程</vt:lpstr>
      <vt:lpstr>测试结果分析</vt:lpstr>
      <vt:lpstr>问题</vt:lpstr>
      <vt:lpstr>判定芯片A 的好坏</vt:lpstr>
      <vt:lpstr>判定芯片A 的好坏</vt:lpstr>
      <vt:lpstr>蛮力算法</vt:lpstr>
      <vt:lpstr>分治算法设计思想</vt:lpstr>
      <vt:lpstr>分治算法的正确性</vt:lpstr>
      <vt:lpstr>n为奇数时的特殊处理</vt:lpstr>
      <vt:lpstr>伪码描述</vt:lpstr>
      <vt:lpstr>时间复杂度分析</vt:lpstr>
      <vt:lpstr>小结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幂乘算法及应用</vt:lpstr>
      <vt:lpstr>幂乘问题</vt:lpstr>
      <vt:lpstr>分治算法——划分</vt:lpstr>
      <vt:lpstr>分治算法分析</vt:lpstr>
      <vt:lpstr>幂乘算法的应用</vt:lpstr>
      <vt:lpstr>Fibonacci数的性质</vt:lpstr>
      <vt:lpstr>Fibonacci数的性质(续)</vt:lpstr>
      <vt:lpstr>算法</vt:lpstr>
      <vt:lpstr>小结</vt:lpstr>
      <vt:lpstr>改进分治算法的途径1: 减少子问题数</vt:lpstr>
      <vt:lpstr>PowerPoint 演示文稿</vt:lpstr>
      <vt:lpstr>例1：整数位乘问题</vt:lpstr>
      <vt:lpstr>减少子问题个数</vt:lpstr>
      <vt:lpstr>例2：矩阵相乘问题</vt:lpstr>
      <vt:lpstr>简单分治算法</vt:lpstr>
      <vt:lpstr>Strassen 矩阵乘法</vt:lpstr>
      <vt:lpstr>Strassen 矩阵乘法(续)</vt:lpstr>
      <vt:lpstr>矩阵乘法的研究及应用</vt:lpstr>
      <vt:lpstr>改进途径小结</vt:lpstr>
      <vt:lpstr>改进分治算法的途径2：增加预处理</vt:lpstr>
      <vt:lpstr>例子：平面点对问题</vt:lpstr>
      <vt:lpstr>PowerPoint 演示文稿</vt:lpstr>
      <vt:lpstr>PowerPoint 演示文稿</vt:lpstr>
      <vt:lpstr>PowerPoint 演示文稿</vt:lpstr>
      <vt:lpstr>PowerPoint 演示文稿</vt:lpstr>
      <vt:lpstr>划分实例：n=10</vt:lpstr>
      <vt:lpstr>算法伪码</vt:lpstr>
      <vt:lpstr>跨边界处理</vt:lpstr>
      <vt:lpstr>算法分析</vt:lpstr>
      <vt:lpstr>增加预处理</vt:lpstr>
      <vt:lpstr>实例：递归中的拆分</vt:lpstr>
      <vt:lpstr>改进算法时间复杂度</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boo</dc:creator>
  <cp:lastModifiedBy>珍惜</cp:lastModifiedBy>
  <cp:revision>48</cp:revision>
  <dcterms:created xsi:type="dcterms:W3CDTF">2019-06-18T14:09:00Z</dcterms:created>
  <dcterms:modified xsi:type="dcterms:W3CDTF">2022-03-20T10:04:55Z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5B9328167F974AA3BDBD87C44F41E738</vt:lpwstr>
  </property>
  <property fmtid="{D5CDD505-2E9C-101B-9397-08002B2CF9AE}" pid="3" name="KSOProductBuildVer">
    <vt:lpwstr>2052-11.1.0.11365</vt:lpwstr>
  </property>
</Properties>
</file>