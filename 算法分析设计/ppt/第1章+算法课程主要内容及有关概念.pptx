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7"/>
  </p:notesMasterIdLst>
  <p:handoutMasterIdLst>
    <p:handoutMasterId r:id="rId108"/>
  </p:handoutMasterIdLst>
  <p:sldIdLst>
    <p:sldId id="361" r:id="rId2"/>
    <p:sldId id="359" r:id="rId3"/>
    <p:sldId id="363" r:id="rId4"/>
    <p:sldId id="364" r:id="rId5"/>
    <p:sldId id="36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</p:sldIdLst>
  <p:sldSz cx="9144000" cy="5143500" type="screen16x9"/>
  <p:notesSz cx="9144000" cy="51435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76" autoAdjust="0"/>
  </p:normalViewPr>
  <p:slideViewPr>
    <p:cSldViewPr>
      <p:cViewPr varScale="1">
        <p:scale>
          <a:sx n="81" d="100"/>
          <a:sy n="81" d="100"/>
        </p:scale>
        <p:origin x="-836" y="-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1" d="100"/>
          <a:sy n="91" d="100"/>
        </p:scale>
        <p:origin x="-1220" y="-72"/>
      </p:cViewPr>
      <p:guideLst>
        <p:guide orient="horz" pos="162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CD8E-FC87-46AD-B0A1-AA0054717AC2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470E7-7245-49AB-BABC-6A0B3489F3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73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253C1-2B9A-47BE-B2BA-3F3599E48858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A6FC4-3BEE-4CDD-8249-DA489670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5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0DC4DFE9-7BE0-4FD9-B360-70725C33B8DB}" type="slidenum">
              <a:rPr lang="en-US" altLang="zh-CN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排序问题到底需要多少工作量，它的算法最好能达到什么样的程度。</a:t>
            </a:r>
            <a:endParaRPr lang="en-US" altLang="zh-CN" dirty="0" smtClean="0"/>
          </a:p>
          <a:p>
            <a:r>
              <a:rPr lang="zh-CN" altLang="en-US" dirty="0" smtClean="0"/>
              <a:t>我们通过这些例子来说明什么是计算复杂性理论。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3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05DFF-C697-4054-A6A1-E02BA19CAE8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05DFF-C697-4054-A6A1-E02BA19CAE8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837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最好的排序算法它的时间应该达到一个什么程度。这是一个关于问题复杂度的计算，涉及到千千万万的算法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336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基本运算的例子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99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以检索为例，说明什么是最坏情况下的时间复杂度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18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X</a:t>
            </a:r>
            <a:r>
              <a:rPr lang="zh-CN" altLang="en-US" dirty="0" smtClean="0"/>
              <a:t>处在最后一个数或者处在空隙位置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993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88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509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A6FC4-3BEE-4CDD-8249-DA489670BF66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39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734B-301A-4E23-BFCA-9D8705CDCDE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B6956-0108-4078-A269-5BFDF0A3088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1785-D1FD-4052-AAEE-797C91140C6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9" y="201216"/>
            <a:ext cx="3019425" cy="47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137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765" y="235712"/>
            <a:ext cx="532701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F7698-DE4D-42A7-B3BF-32BCB686544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6" r:id="rId3"/>
    <p:sldLayoutId id="2147483668" r:id="rId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Grp="1" noChangeArrowheads="1"/>
          </p:cNvSpPr>
          <p:nvPr>
            <p:ph type="ctrTitle" idx="4294967295"/>
          </p:nvPr>
        </p:nvSpPr>
        <p:spPr>
          <a:xfrm>
            <a:off x="827088" y="1059657"/>
            <a:ext cx="7416800" cy="1285416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6600" b="1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《</a:t>
            </a:r>
            <a:r>
              <a:rPr lang="zh-CN" altLang="en-US" sz="6600" b="1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算法设计与分析</a:t>
            </a:r>
            <a:r>
              <a:rPr lang="en-US" altLang="zh-CN" sz="6600" b="1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》</a:t>
            </a:r>
            <a:endParaRPr lang="zh-CN" altLang="en-US" sz="6600" b="1" kern="1200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5363" name="TextBox 6"/>
          <p:cNvSpPr txBox="1">
            <a:spLocks noChangeArrowheads="1"/>
          </p:cNvSpPr>
          <p:nvPr/>
        </p:nvSpPr>
        <p:spPr bwMode="auto">
          <a:xfrm>
            <a:off x="468314" y="3003948"/>
            <a:ext cx="83518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物</a:t>
            </a:r>
            <a:r>
              <a:rPr lang="zh-CN" altLang="en-US" sz="24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联网工程系 李志勇</a:t>
            </a:r>
            <a:endParaRPr lang="en-US" altLang="zh-CN" sz="2400" b="1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24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2019</a:t>
            </a:r>
            <a:r>
              <a:rPr lang="zh-CN" altLang="en-US" sz="24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年</a:t>
            </a:r>
            <a:r>
              <a:rPr lang="en-US" altLang="zh-CN" sz="24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4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月</a:t>
            </a:r>
            <a:endParaRPr lang="zh-CN" altLang="en-US" sz="2400" b="1" dirty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4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765" y="209550"/>
            <a:ext cx="8281035" cy="677108"/>
          </a:xfrm>
        </p:spPr>
        <p:txBody>
          <a:bodyPr/>
          <a:lstStyle/>
          <a:p>
            <a:pPr algn="ctr" defTabSz="876300" rtl="0" eaLnBrk="0" hangingPunct="0">
              <a:defRPr/>
            </a:pPr>
            <a:r>
              <a:rPr lang="zh-CN" altLang="en-US" sz="4400" kern="1200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课程介绍</a:t>
            </a:r>
            <a:endParaRPr lang="zh-CN" altLang="en-US" sz="4400" kern="12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89318"/>
          </a:xfrm>
        </p:spPr>
        <p:txBody>
          <a:bodyPr/>
          <a:lstStyle/>
          <a:p>
            <a:pPr algn="just"/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400" b="1" kern="1200" dirty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本课程是计算机科学与技术专业的专业必修课。开设本课程的目的是培养学生分析问题和解决问题的能力，使学生掌握算法设计的基本技巧和方法，熟悉算法分析的基本技术，并能熟练运用一些常用算法，解决一些较综合的问题，为学生进一步学习后续课程奠定良好的基础。</a:t>
            </a:r>
          </a:p>
          <a:p>
            <a:pPr algn="just"/>
            <a:r>
              <a:rPr lang="zh-CN" altLang="en-US" sz="2400" dirty="0" smtClean="0"/>
              <a:t>         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通过</a:t>
            </a:r>
            <a:r>
              <a:rPr lang="zh-CN" altLang="en-US" sz="2400" b="1" kern="1200" dirty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课堂讲授、课堂练习和讨论互动、课后作业和上机实验等教学手段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，使</a:t>
            </a:r>
            <a:r>
              <a:rPr lang="zh-CN" altLang="en-US" sz="2400" b="1" kern="1200" dirty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学生重点掌握</a:t>
            </a:r>
            <a:r>
              <a:rPr lang="zh-CN" altLang="en-US" sz="2400" b="1" u="sng" kern="12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分治法</a:t>
            </a:r>
            <a:r>
              <a:rPr lang="zh-CN" altLang="en-US" sz="2400" b="1" u="sng" kern="12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、动态规划法</a:t>
            </a:r>
            <a:r>
              <a:rPr lang="zh-CN" altLang="en-US" sz="2400" b="1" u="sng" kern="12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、</a:t>
            </a:r>
            <a:r>
              <a:rPr lang="zh-CN" altLang="en-US" sz="2400" b="1" u="sng" kern="12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贪心</a:t>
            </a:r>
            <a:r>
              <a:rPr lang="zh-CN" altLang="en-US" sz="2400" b="1" u="sng" kern="12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法、</a:t>
            </a:r>
            <a:r>
              <a:rPr lang="zh-CN" altLang="en-US" sz="2400" b="1" u="sng" kern="12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回溯和分支</a:t>
            </a:r>
            <a:r>
              <a:rPr lang="zh-CN" altLang="en-US" sz="2400" b="1" u="sng" kern="12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限界</a:t>
            </a:r>
            <a:r>
              <a:rPr lang="zh-CN" altLang="en-US" sz="2400" b="1" u="sng" kern="12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法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等</a:t>
            </a:r>
            <a:r>
              <a:rPr lang="zh-CN" altLang="en-US" sz="2400" b="1" kern="1200" dirty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常见的算法设计策略，了解计算复杂性基本理论，具备灵活运用所学解决实际应用问题的能力。</a:t>
            </a:r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30C5306-630D-4EA7-A5FE-C218DA21143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40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DCB6956-0108-4078-A269-5BFDF0A3088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" y="1191441"/>
            <a:ext cx="8229600" cy="3180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屈婉玲　等编著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/2011-05-01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郑宗汉，郑晓明　编著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/2011-07-01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李春葆　主编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/2015-05-01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王秋芬　等编著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/2011-08-01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王红梅　等编著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/2013-04-01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王晓东　编著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/2012-02-01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电子工业出版社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buFont typeface="+mj-lt"/>
              <a:buAutoNum type="arabicPeriod"/>
              <a:defRPr/>
            </a:pP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(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美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en-US" altLang="zh-CN" sz="2400" b="1" kern="1200" dirty="0" err="1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Anany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b="1" kern="1200" dirty="0" err="1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Levitin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　著 </a:t>
            </a:r>
            <a:r>
              <a:rPr lang="en-US" altLang="zh-CN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/2013-05-01 /</a:t>
            </a:r>
            <a:r>
              <a:rPr lang="zh-CN" altLang="en-US" sz="2400" b="1" kern="1200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清华大学出版社</a:t>
            </a:r>
            <a:endParaRPr lang="en-US" altLang="zh-CN" sz="2400" b="1" kern="1200" dirty="0" smtClean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457200" indent="-457200" algn="just">
              <a:lnSpc>
                <a:spcPts val="3100"/>
              </a:lnSpc>
              <a:defRPr/>
            </a:pPr>
            <a:endParaRPr lang="en-US" altLang="zh-CN" sz="2400" b="1" kern="1200" dirty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1000" y="134541"/>
            <a:ext cx="8382000" cy="837009"/>
          </a:xfrm>
          <a:prstGeom prst="rect">
            <a:avLst/>
          </a:prstGeom>
          <a:noFill/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277" tIns="44139" rIns="88277" bIns="44139" anchor="ctr"/>
          <a:lstStyle>
            <a:lvl1pPr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参考教材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33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DCB6956-0108-4078-A269-5BFDF0A3088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" y="1200150"/>
            <a:ext cx="8229600" cy="29872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914400" algn="just">
              <a:defRPr/>
            </a:pP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平时成绩：考勤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(5%)</a:t>
            </a:r>
          </a:p>
          <a:p>
            <a:pPr marL="914400" algn="just">
              <a:defRPr/>
            </a:pPr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平时成绩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：实验报告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(15%)</a:t>
            </a:r>
          </a:p>
          <a:p>
            <a:pPr marL="914400" algn="just">
              <a:defRPr/>
            </a:pPr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平时成绩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：课程习题</a:t>
            </a:r>
            <a:r>
              <a:rPr lang="en-US" altLang="zh-CN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(20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%)</a:t>
            </a:r>
          </a:p>
          <a:p>
            <a:pPr marL="914400" algn="just">
              <a:defRPr/>
            </a:pPr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平时成绩：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模拟测试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(20%)</a:t>
            </a:r>
          </a:p>
          <a:p>
            <a:pPr marL="914400" algn="just">
              <a:defRPr/>
            </a:pP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课终成绩</a:t>
            </a:r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：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课终考试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(40%)</a:t>
            </a:r>
          </a:p>
          <a:p>
            <a:pPr marL="914400" algn="just">
              <a:defRPr/>
            </a:pPr>
            <a:endParaRPr lang="zh-CN" altLang="en-US" sz="2800" u="sng" dirty="0">
              <a:latin typeface="+mj-ea"/>
              <a:ea typeface="+mj-ea"/>
              <a:cs typeface="Times New Roman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57150"/>
            <a:ext cx="8305800" cy="837009"/>
          </a:xfrm>
          <a:prstGeom prst="rect">
            <a:avLst/>
          </a:prstGeom>
          <a:noFill/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277" tIns="44139" rIns="88277" bIns="44139" anchor="ctr"/>
          <a:lstStyle>
            <a:lvl1pPr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8763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defTabSz="876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成绩构成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49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DCB6956-0108-4078-A269-5BFDF0A3088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457200" y="1214557"/>
            <a:ext cx="8229600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宋体"/>
                <a:ea typeface="+mj-ea"/>
                <a:cs typeface="宋体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en-US" altLang="zh-CN" sz="7200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《</a:t>
            </a:r>
            <a:r>
              <a:rPr lang="zh-CN" altLang="en-US" sz="7200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算法设计与分析</a:t>
            </a:r>
            <a:r>
              <a:rPr lang="en-US" altLang="zh-CN" sz="7200" kern="12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》</a:t>
            </a:r>
            <a:endParaRPr lang="zh-CN" altLang="en-US" sz="7200" kern="1200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468314" y="3003948"/>
            <a:ext cx="83518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第</a:t>
            </a:r>
            <a:r>
              <a:rPr lang="en-US" altLang="zh-CN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章 </a:t>
            </a:r>
            <a:r>
              <a:rPr lang="zh-CN" altLang="en-US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算法的有关概念（</a:t>
            </a:r>
            <a:r>
              <a:rPr lang="en-US" altLang="zh-CN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4000" b="1" dirty="0" smtClean="0">
                <a:solidFill>
                  <a:srgbClr val="333399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学时）</a:t>
            </a:r>
            <a:endParaRPr lang="zh-CN" altLang="en-US" sz="4000" b="1" dirty="0">
              <a:solidFill>
                <a:srgbClr val="333399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5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2146" y="629570"/>
            <a:ext cx="4953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3145" y="3700654"/>
            <a:ext cx="2133600" cy="914400"/>
          </a:xfrm>
          <a:custGeom>
            <a:avLst/>
            <a:gdLst/>
            <a:ahLst/>
            <a:cxnLst/>
            <a:rect l="l" t="t" r="r" b="b"/>
            <a:pathLst>
              <a:path w="2133600" h="914400">
                <a:moveTo>
                  <a:pt x="0" y="152399"/>
                </a:moveTo>
                <a:lnTo>
                  <a:pt x="7769" y="104226"/>
                </a:lnTo>
                <a:lnTo>
                  <a:pt x="29405" y="62391"/>
                </a:lnTo>
                <a:lnTo>
                  <a:pt x="62396" y="29402"/>
                </a:lnTo>
                <a:lnTo>
                  <a:pt x="104231" y="7768"/>
                </a:lnTo>
                <a:lnTo>
                  <a:pt x="152400" y="0"/>
                </a:lnTo>
                <a:lnTo>
                  <a:pt x="1981200" y="0"/>
                </a:lnTo>
                <a:lnTo>
                  <a:pt x="2029368" y="7768"/>
                </a:lnTo>
                <a:lnTo>
                  <a:pt x="2071203" y="29402"/>
                </a:lnTo>
                <a:lnTo>
                  <a:pt x="2104194" y="62391"/>
                </a:lnTo>
                <a:lnTo>
                  <a:pt x="2125830" y="104226"/>
                </a:lnTo>
                <a:lnTo>
                  <a:pt x="2133600" y="152399"/>
                </a:lnTo>
                <a:lnTo>
                  <a:pt x="2133600" y="761999"/>
                </a:lnTo>
                <a:lnTo>
                  <a:pt x="2125830" y="810168"/>
                </a:lnTo>
                <a:lnTo>
                  <a:pt x="2104194" y="852003"/>
                </a:lnTo>
                <a:lnTo>
                  <a:pt x="2071203" y="884994"/>
                </a:lnTo>
                <a:lnTo>
                  <a:pt x="2029368" y="906630"/>
                </a:lnTo>
                <a:lnTo>
                  <a:pt x="1981200" y="914399"/>
                </a:lnTo>
                <a:lnTo>
                  <a:pt x="152400" y="914399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1999"/>
                </a:lnTo>
                <a:lnTo>
                  <a:pt x="0" y="152399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8019" y="3723576"/>
            <a:ext cx="1862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算法设计</a:t>
            </a:r>
            <a:r>
              <a:rPr sz="1800" b="1" dirty="0">
                <a:latin typeface="宋体"/>
                <a:cs typeface="宋体"/>
              </a:rPr>
              <a:t>与</a:t>
            </a:r>
            <a:r>
              <a:rPr sz="1800" b="1" spc="5" dirty="0">
                <a:latin typeface="宋体"/>
                <a:cs typeface="宋体"/>
              </a:rPr>
              <a:t>分</a:t>
            </a:r>
            <a:r>
              <a:rPr sz="1800" b="1" dirty="0">
                <a:latin typeface="宋体"/>
                <a:cs typeface="宋体"/>
              </a:rPr>
              <a:t>析</a:t>
            </a:r>
            <a:r>
              <a:rPr sz="1800" b="1" spc="-10" dirty="0">
                <a:latin typeface="宋体"/>
                <a:cs typeface="宋体"/>
              </a:rPr>
              <a:t>： </a:t>
            </a:r>
            <a:r>
              <a:rPr sz="1800" b="1" spc="-5" dirty="0">
                <a:latin typeface="宋体"/>
                <a:cs typeface="宋体"/>
              </a:rPr>
              <a:t>调度问题</a:t>
            </a:r>
            <a:endParaRPr sz="1800">
              <a:latin typeface="宋体"/>
              <a:cs typeface="宋体"/>
            </a:endParaRPr>
          </a:p>
          <a:p>
            <a:pPr marL="635" algn="ctr">
              <a:lnSpc>
                <a:spcPct val="100000"/>
              </a:lnSpc>
            </a:pPr>
            <a:r>
              <a:rPr sz="1800" b="1" spc="-5" dirty="0">
                <a:latin typeface="宋体"/>
                <a:cs typeface="宋体"/>
              </a:rPr>
              <a:t>投资问题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33145" y="2710055"/>
            <a:ext cx="2133600" cy="914400"/>
          </a:xfrm>
          <a:custGeom>
            <a:avLst/>
            <a:gdLst/>
            <a:ahLst/>
            <a:cxnLst/>
            <a:rect l="l" t="t" r="r" b="b"/>
            <a:pathLst>
              <a:path w="2133600" h="914400">
                <a:moveTo>
                  <a:pt x="0" y="152400"/>
                </a:moveTo>
                <a:lnTo>
                  <a:pt x="7769" y="104226"/>
                </a:lnTo>
                <a:lnTo>
                  <a:pt x="29405" y="62391"/>
                </a:lnTo>
                <a:lnTo>
                  <a:pt x="62396" y="29402"/>
                </a:lnTo>
                <a:lnTo>
                  <a:pt x="104231" y="7768"/>
                </a:lnTo>
                <a:lnTo>
                  <a:pt x="152400" y="0"/>
                </a:lnTo>
                <a:lnTo>
                  <a:pt x="1981200" y="0"/>
                </a:lnTo>
                <a:lnTo>
                  <a:pt x="2029368" y="7768"/>
                </a:lnTo>
                <a:lnTo>
                  <a:pt x="2071203" y="29402"/>
                </a:lnTo>
                <a:lnTo>
                  <a:pt x="2104194" y="62391"/>
                </a:lnTo>
                <a:lnTo>
                  <a:pt x="2125830" y="104226"/>
                </a:lnTo>
                <a:lnTo>
                  <a:pt x="2133600" y="152400"/>
                </a:lnTo>
                <a:lnTo>
                  <a:pt x="2133600" y="762000"/>
                </a:lnTo>
                <a:lnTo>
                  <a:pt x="2125830" y="810168"/>
                </a:lnTo>
                <a:lnTo>
                  <a:pt x="2104194" y="852003"/>
                </a:lnTo>
                <a:lnTo>
                  <a:pt x="2071203" y="884994"/>
                </a:lnTo>
                <a:lnTo>
                  <a:pt x="2029368" y="906630"/>
                </a:lnTo>
                <a:lnTo>
                  <a:pt x="1981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68019" y="2870136"/>
            <a:ext cx="1862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2440" marR="5080" indent="-4603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问题复杂</a:t>
            </a:r>
            <a:r>
              <a:rPr sz="1800" b="1" dirty="0">
                <a:latin typeface="宋体"/>
                <a:cs typeface="宋体"/>
              </a:rPr>
              <a:t>度</a:t>
            </a:r>
            <a:r>
              <a:rPr sz="1800" b="1" spc="5" dirty="0">
                <a:latin typeface="宋体"/>
                <a:cs typeface="宋体"/>
              </a:rPr>
              <a:t>概</a:t>
            </a:r>
            <a:r>
              <a:rPr sz="1800" b="1" dirty="0">
                <a:latin typeface="宋体"/>
                <a:cs typeface="宋体"/>
              </a:rPr>
              <a:t>念</a:t>
            </a:r>
            <a:r>
              <a:rPr sz="1800" b="1" spc="-10" dirty="0">
                <a:latin typeface="宋体"/>
                <a:cs typeface="宋体"/>
              </a:rPr>
              <a:t>： </a:t>
            </a:r>
            <a:r>
              <a:rPr sz="1800" b="1" spc="-5" dirty="0">
                <a:latin typeface="宋体"/>
                <a:cs typeface="宋体"/>
              </a:rPr>
              <a:t>排序问题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33145" y="1414656"/>
            <a:ext cx="2133600" cy="1219200"/>
          </a:xfrm>
          <a:custGeom>
            <a:avLst/>
            <a:gdLst/>
            <a:ahLst/>
            <a:cxnLst/>
            <a:rect l="l" t="t" r="r" b="b"/>
            <a:pathLst>
              <a:path w="2133600" h="1219200">
                <a:moveTo>
                  <a:pt x="0" y="203200"/>
                </a:moveTo>
                <a:lnTo>
                  <a:pt x="5367" y="156606"/>
                </a:lnTo>
                <a:lnTo>
                  <a:pt x="20654" y="113835"/>
                </a:lnTo>
                <a:lnTo>
                  <a:pt x="44642" y="76106"/>
                </a:lnTo>
                <a:lnTo>
                  <a:pt x="76111" y="44638"/>
                </a:lnTo>
                <a:lnTo>
                  <a:pt x="113840" y="20652"/>
                </a:lnTo>
                <a:lnTo>
                  <a:pt x="156610" y="5366"/>
                </a:lnTo>
                <a:lnTo>
                  <a:pt x="203200" y="0"/>
                </a:lnTo>
                <a:lnTo>
                  <a:pt x="1930400" y="0"/>
                </a:lnTo>
                <a:lnTo>
                  <a:pt x="1976989" y="5366"/>
                </a:lnTo>
                <a:lnTo>
                  <a:pt x="2019759" y="20652"/>
                </a:lnTo>
                <a:lnTo>
                  <a:pt x="2057488" y="44638"/>
                </a:lnTo>
                <a:lnTo>
                  <a:pt x="2088957" y="76106"/>
                </a:lnTo>
                <a:lnTo>
                  <a:pt x="2112945" y="113835"/>
                </a:lnTo>
                <a:lnTo>
                  <a:pt x="2128232" y="156606"/>
                </a:lnTo>
                <a:lnTo>
                  <a:pt x="2133600" y="203200"/>
                </a:lnTo>
                <a:lnTo>
                  <a:pt x="2133600" y="1016000"/>
                </a:lnTo>
                <a:lnTo>
                  <a:pt x="2128232" y="1062589"/>
                </a:lnTo>
                <a:lnTo>
                  <a:pt x="2112945" y="1105359"/>
                </a:lnTo>
                <a:lnTo>
                  <a:pt x="2088957" y="1143088"/>
                </a:lnTo>
                <a:lnTo>
                  <a:pt x="2057488" y="1174557"/>
                </a:lnTo>
                <a:lnTo>
                  <a:pt x="2019759" y="1198545"/>
                </a:lnTo>
                <a:lnTo>
                  <a:pt x="1976989" y="1213832"/>
                </a:lnTo>
                <a:lnTo>
                  <a:pt x="1930400" y="1219200"/>
                </a:lnTo>
                <a:lnTo>
                  <a:pt x="203200" y="1219200"/>
                </a:lnTo>
                <a:lnTo>
                  <a:pt x="156610" y="1213832"/>
                </a:lnTo>
                <a:lnTo>
                  <a:pt x="113840" y="1198545"/>
                </a:lnTo>
                <a:lnTo>
                  <a:pt x="76111" y="1174557"/>
                </a:lnTo>
                <a:lnTo>
                  <a:pt x="44642" y="1143088"/>
                </a:lnTo>
                <a:lnTo>
                  <a:pt x="20654" y="1105359"/>
                </a:lnTo>
                <a:lnTo>
                  <a:pt x="5367" y="1062589"/>
                </a:lnTo>
                <a:lnTo>
                  <a:pt x="0" y="1016000"/>
                </a:lnTo>
                <a:lnTo>
                  <a:pt x="0" y="2032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51008" y="4150296"/>
            <a:ext cx="2785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算法及其</a:t>
            </a:r>
            <a:r>
              <a:rPr sz="1800" b="1" dirty="0">
                <a:latin typeface="宋体"/>
                <a:cs typeface="宋体"/>
              </a:rPr>
              <a:t>时</a:t>
            </a:r>
            <a:r>
              <a:rPr sz="1800" b="1" spc="5" dirty="0">
                <a:latin typeface="宋体"/>
                <a:cs typeface="宋体"/>
              </a:rPr>
              <a:t>间</a:t>
            </a:r>
            <a:r>
              <a:rPr sz="1800" b="1" dirty="0">
                <a:latin typeface="宋体"/>
                <a:cs typeface="宋体"/>
              </a:rPr>
              <a:t>复杂度的定义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38600" y="1414655"/>
            <a:ext cx="609600" cy="2472055"/>
          </a:xfrm>
          <a:custGeom>
            <a:avLst/>
            <a:gdLst/>
            <a:ahLst/>
            <a:cxnLst/>
            <a:rect l="l" t="t" r="r" b="b"/>
            <a:pathLst>
              <a:path w="609600" h="2472054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508000" y="0"/>
                </a:lnTo>
                <a:lnTo>
                  <a:pt x="547545" y="7984"/>
                </a:lnTo>
                <a:lnTo>
                  <a:pt x="579840" y="29759"/>
                </a:lnTo>
                <a:lnTo>
                  <a:pt x="601615" y="62054"/>
                </a:lnTo>
                <a:lnTo>
                  <a:pt x="609600" y="101600"/>
                </a:lnTo>
                <a:lnTo>
                  <a:pt x="609600" y="2370328"/>
                </a:lnTo>
                <a:lnTo>
                  <a:pt x="601615" y="2409873"/>
                </a:lnTo>
                <a:lnTo>
                  <a:pt x="579840" y="2442168"/>
                </a:lnTo>
                <a:lnTo>
                  <a:pt x="547545" y="2463943"/>
                </a:lnTo>
                <a:lnTo>
                  <a:pt x="508000" y="2471928"/>
                </a:lnTo>
                <a:lnTo>
                  <a:pt x="101600" y="2471928"/>
                </a:lnTo>
                <a:lnTo>
                  <a:pt x="62054" y="2463943"/>
                </a:lnTo>
                <a:lnTo>
                  <a:pt x="29759" y="2442168"/>
                </a:lnTo>
                <a:lnTo>
                  <a:pt x="7984" y="2409873"/>
                </a:lnTo>
                <a:lnTo>
                  <a:pt x="0" y="2370328"/>
                </a:lnTo>
                <a:lnTo>
                  <a:pt x="0" y="101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15162" y="1684369"/>
            <a:ext cx="254000" cy="1929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0"/>
              </a:spcBef>
            </a:pPr>
            <a:r>
              <a:rPr sz="1800" b="1" spc="-10" dirty="0">
                <a:latin typeface="宋体"/>
                <a:cs typeface="宋体"/>
              </a:rPr>
              <a:t>算 法 的 伪 码 表 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00600" y="3027808"/>
            <a:ext cx="2438400" cy="901700"/>
          </a:xfrm>
          <a:custGeom>
            <a:avLst/>
            <a:gdLst/>
            <a:ahLst/>
            <a:cxnLst/>
            <a:rect l="l" t="t" r="r" b="b"/>
            <a:pathLst>
              <a:path w="2438400" h="901700">
                <a:moveTo>
                  <a:pt x="0" y="150241"/>
                </a:moveTo>
                <a:lnTo>
                  <a:pt x="7660" y="102750"/>
                </a:lnTo>
                <a:lnTo>
                  <a:pt x="28989" y="61508"/>
                </a:lnTo>
                <a:lnTo>
                  <a:pt x="61513" y="28986"/>
                </a:lnTo>
                <a:lnTo>
                  <a:pt x="102755" y="7658"/>
                </a:lnTo>
                <a:lnTo>
                  <a:pt x="150241" y="0"/>
                </a:lnTo>
                <a:lnTo>
                  <a:pt x="2288159" y="0"/>
                </a:lnTo>
                <a:lnTo>
                  <a:pt x="2335644" y="7658"/>
                </a:lnTo>
                <a:lnTo>
                  <a:pt x="2376886" y="28986"/>
                </a:lnTo>
                <a:lnTo>
                  <a:pt x="2409410" y="61508"/>
                </a:lnTo>
                <a:lnTo>
                  <a:pt x="2430739" y="102750"/>
                </a:lnTo>
                <a:lnTo>
                  <a:pt x="2438400" y="150241"/>
                </a:lnTo>
                <a:lnTo>
                  <a:pt x="2438400" y="751205"/>
                </a:lnTo>
                <a:lnTo>
                  <a:pt x="2430739" y="798690"/>
                </a:lnTo>
                <a:lnTo>
                  <a:pt x="2409410" y="839932"/>
                </a:lnTo>
                <a:lnTo>
                  <a:pt x="2376886" y="872456"/>
                </a:lnTo>
                <a:lnTo>
                  <a:pt x="2335644" y="893785"/>
                </a:lnTo>
                <a:lnTo>
                  <a:pt x="2288159" y="901446"/>
                </a:lnTo>
                <a:lnTo>
                  <a:pt x="150241" y="901446"/>
                </a:lnTo>
                <a:lnTo>
                  <a:pt x="102755" y="893785"/>
                </a:lnTo>
                <a:lnTo>
                  <a:pt x="61513" y="872456"/>
                </a:lnTo>
                <a:lnTo>
                  <a:pt x="28989" y="839932"/>
                </a:lnTo>
                <a:lnTo>
                  <a:pt x="7660" y="798690"/>
                </a:lnTo>
                <a:lnTo>
                  <a:pt x="0" y="751205"/>
                </a:lnTo>
                <a:lnTo>
                  <a:pt x="0" y="150241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72400" y="3198050"/>
            <a:ext cx="2092960" cy="557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635" marR="5080" indent="-115570">
              <a:lnSpc>
                <a:spcPts val="2030"/>
              </a:lnSpc>
              <a:spcBef>
                <a:spcPts val="275"/>
              </a:spcBef>
            </a:pPr>
            <a:r>
              <a:rPr sz="1800" b="1" spc="-5" dirty="0">
                <a:latin typeface="宋体"/>
                <a:cs typeface="宋体"/>
              </a:rPr>
              <a:t>时间复杂</a:t>
            </a:r>
            <a:r>
              <a:rPr sz="1800" b="1" dirty="0">
                <a:latin typeface="宋体"/>
                <a:cs typeface="宋体"/>
              </a:rPr>
              <a:t>度</a:t>
            </a:r>
            <a:r>
              <a:rPr sz="1800" b="1" spc="5" dirty="0">
                <a:latin typeface="宋体"/>
                <a:cs typeface="宋体"/>
              </a:rPr>
              <a:t>函</a:t>
            </a:r>
            <a:r>
              <a:rPr sz="1800" b="1" dirty="0">
                <a:latin typeface="宋体"/>
                <a:cs typeface="宋体"/>
              </a:rPr>
              <a:t>数的</a:t>
            </a:r>
            <a:r>
              <a:rPr sz="1800" b="1" spc="-10" dirty="0">
                <a:latin typeface="宋体"/>
                <a:cs typeface="宋体"/>
              </a:rPr>
              <a:t>表 </a:t>
            </a:r>
            <a:r>
              <a:rPr sz="1800" b="1" spc="-5" dirty="0">
                <a:latin typeface="宋体"/>
                <a:cs typeface="宋体"/>
              </a:rPr>
              <a:t>示：函数</a:t>
            </a:r>
            <a:r>
              <a:rPr sz="1800" b="1" dirty="0">
                <a:latin typeface="宋体"/>
                <a:cs typeface="宋体"/>
              </a:rPr>
              <a:t>渐</a:t>
            </a:r>
            <a:r>
              <a:rPr sz="1800" b="1" spc="5" dirty="0">
                <a:latin typeface="宋体"/>
                <a:cs typeface="宋体"/>
              </a:rPr>
              <a:t>近</a:t>
            </a:r>
            <a:r>
              <a:rPr sz="1800" b="1" dirty="0">
                <a:latin typeface="宋体"/>
                <a:cs typeface="宋体"/>
              </a:rPr>
              <a:t>的</a:t>
            </a:r>
            <a:r>
              <a:rPr sz="1800" b="1" spc="-10" dirty="0">
                <a:latin typeface="宋体"/>
                <a:cs typeface="宋体"/>
              </a:rPr>
              <a:t>界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00600" y="2162939"/>
            <a:ext cx="2425700" cy="775970"/>
          </a:xfrm>
          <a:custGeom>
            <a:avLst/>
            <a:gdLst/>
            <a:ahLst/>
            <a:cxnLst/>
            <a:rect l="l" t="t" r="r" b="b"/>
            <a:pathLst>
              <a:path w="2425700" h="775969">
                <a:moveTo>
                  <a:pt x="0" y="129286"/>
                </a:moveTo>
                <a:lnTo>
                  <a:pt x="10160" y="78963"/>
                </a:lnTo>
                <a:lnTo>
                  <a:pt x="37868" y="37868"/>
                </a:lnTo>
                <a:lnTo>
                  <a:pt x="78963" y="10160"/>
                </a:lnTo>
                <a:lnTo>
                  <a:pt x="129286" y="0"/>
                </a:lnTo>
                <a:lnTo>
                  <a:pt x="2296160" y="0"/>
                </a:lnTo>
                <a:lnTo>
                  <a:pt x="2346482" y="10160"/>
                </a:lnTo>
                <a:lnTo>
                  <a:pt x="2387577" y="37868"/>
                </a:lnTo>
                <a:lnTo>
                  <a:pt x="2415285" y="78963"/>
                </a:lnTo>
                <a:lnTo>
                  <a:pt x="2425446" y="129286"/>
                </a:lnTo>
                <a:lnTo>
                  <a:pt x="2425446" y="646430"/>
                </a:lnTo>
                <a:lnTo>
                  <a:pt x="2415285" y="696752"/>
                </a:lnTo>
                <a:lnTo>
                  <a:pt x="2387577" y="737847"/>
                </a:lnTo>
                <a:lnTo>
                  <a:pt x="2346482" y="765555"/>
                </a:lnTo>
                <a:lnTo>
                  <a:pt x="2296160" y="775716"/>
                </a:lnTo>
                <a:lnTo>
                  <a:pt x="129286" y="775716"/>
                </a:lnTo>
                <a:lnTo>
                  <a:pt x="78963" y="765555"/>
                </a:lnTo>
                <a:lnTo>
                  <a:pt x="37868" y="737847"/>
                </a:lnTo>
                <a:lnTo>
                  <a:pt x="10160" y="696752"/>
                </a:lnTo>
                <a:lnTo>
                  <a:pt x="0" y="646430"/>
                </a:lnTo>
                <a:lnTo>
                  <a:pt x="0" y="129286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81143" y="2253392"/>
            <a:ext cx="1862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5080" indent="-5746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有关函数</a:t>
            </a:r>
            <a:r>
              <a:rPr sz="1800" b="1" dirty="0">
                <a:latin typeface="宋体"/>
                <a:cs typeface="宋体"/>
              </a:rPr>
              <a:t>渐</a:t>
            </a:r>
            <a:r>
              <a:rPr sz="1800" b="1" spc="5" dirty="0">
                <a:latin typeface="宋体"/>
                <a:cs typeface="宋体"/>
              </a:rPr>
              <a:t>近</a:t>
            </a:r>
            <a:r>
              <a:rPr sz="1800" b="1" dirty="0">
                <a:latin typeface="宋体"/>
                <a:cs typeface="宋体"/>
              </a:rPr>
              <a:t>的</a:t>
            </a:r>
            <a:r>
              <a:rPr sz="1800" b="1" spc="-10" dirty="0">
                <a:latin typeface="宋体"/>
                <a:cs typeface="宋体"/>
              </a:rPr>
              <a:t>界 </a:t>
            </a:r>
            <a:r>
              <a:rPr sz="1800" b="1" spc="-5" dirty="0">
                <a:latin typeface="宋体"/>
                <a:cs typeface="宋体"/>
              </a:rPr>
              <a:t>的定理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00600" y="1414655"/>
            <a:ext cx="2413000" cy="675640"/>
          </a:xfrm>
          <a:custGeom>
            <a:avLst/>
            <a:gdLst/>
            <a:ahLst/>
            <a:cxnLst/>
            <a:rect l="l" t="t" r="r" b="b"/>
            <a:pathLst>
              <a:path w="2413000" h="675639">
                <a:moveTo>
                  <a:pt x="0" y="112522"/>
                </a:moveTo>
                <a:lnTo>
                  <a:pt x="8842" y="68724"/>
                </a:lnTo>
                <a:lnTo>
                  <a:pt x="32958" y="32958"/>
                </a:lnTo>
                <a:lnTo>
                  <a:pt x="68724" y="8842"/>
                </a:lnTo>
                <a:lnTo>
                  <a:pt x="112522" y="0"/>
                </a:lnTo>
                <a:lnTo>
                  <a:pt x="2299970" y="0"/>
                </a:lnTo>
                <a:lnTo>
                  <a:pt x="2343767" y="8842"/>
                </a:lnTo>
                <a:lnTo>
                  <a:pt x="2379533" y="32958"/>
                </a:lnTo>
                <a:lnTo>
                  <a:pt x="2403649" y="68724"/>
                </a:lnTo>
                <a:lnTo>
                  <a:pt x="2412492" y="112522"/>
                </a:lnTo>
                <a:lnTo>
                  <a:pt x="2412492" y="562610"/>
                </a:lnTo>
                <a:lnTo>
                  <a:pt x="2403649" y="606407"/>
                </a:lnTo>
                <a:lnTo>
                  <a:pt x="2379533" y="642173"/>
                </a:lnTo>
                <a:lnTo>
                  <a:pt x="2343767" y="666289"/>
                </a:lnTo>
                <a:lnTo>
                  <a:pt x="2299970" y="675132"/>
                </a:lnTo>
                <a:lnTo>
                  <a:pt x="112522" y="675132"/>
                </a:lnTo>
                <a:lnTo>
                  <a:pt x="68724" y="666289"/>
                </a:lnTo>
                <a:lnTo>
                  <a:pt x="32958" y="642173"/>
                </a:lnTo>
                <a:lnTo>
                  <a:pt x="8842" y="606407"/>
                </a:lnTo>
                <a:lnTo>
                  <a:pt x="0" y="562610"/>
                </a:lnTo>
                <a:lnTo>
                  <a:pt x="0" y="112522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59763" y="1592040"/>
            <a:ext cx="2092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几类重要</a:t>
            </a:r>
            <a:r>
              <a:rPr sz="1800" b="1" dirty="0">
                <a:latin typeface="宋体"/>
                <a:cs typeface="宋体"/>
              </a:rPr>
              <a:t>函</a:t>
            </a:r>
            <a:r>
              <a:rPr sz="1800" b="1" spc="5" dirty="0">
                <a:latin typeface="宋体"/>
                <a:cs typeface="宋体"/>
              </a:rPr>
              <a:t>数</a:t>
            </a:r>
            <a:r>
              <a:rPr sz="1800" b="1" dirty="0">
                <a:latin typeface="宋体"/>
                <a:cs typeface="宋体"/>
              </a:rPr>
              <a:t>的性</a:t>
            </a:r>
            <a:r>
              <a:rPr sz="1800" b="1" spc="-10" dirty="0">
                <a:latin typeface="宋体"/>
                <a:cs typeface="宋体"/>
              </a:rPr>
              <a:t>质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79405" y="918273"/>
            <a:ext cx="2165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算法的有</a:t>
            </a:r>
            <a:r>
              <a:rPr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关</a:t>
            </a:r>
            <a:r>
              <a:rPr sz="2400" b="1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概</a:t>
            </a:r>
            <a:r>
              <a:rPr sz="24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念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9444" y="903985"/>
            <a:ext cx="18592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算法研究</a:t>
            </a:r>
            <a:r>
              <a:rPr sz="24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内</a:t>
            </a:r>
            <a:r>
              <a:rPr sz="2400" b="1" spc="-1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容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04800" y="235712"/>
            <a:ext cx="85344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kern="1200" dirty="0" err="1"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算法课程主要内容及有关概念</a:t>
            </a:r>
            <a:endParaRPr sz="4000" kern="1200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2" name="object 19"/>
          <p:cNvSpPr txBox="1"/>
          <p:nvPr/>
        </p:nvSpPr>
        <p:spPr>
          <a:xfrm>
            <a:off x="1636986" y="1439277"/>
            <a:ext cx="185928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17780" indent="-416559">
              <a:lnSpc>
                <a:spcPct val="100000"/>
              </a:lnSpc>
              <a:spcBef>
                <a:spcPts val="1440"/>
              </a:spcBef>
            </a:pPr>
            <a:r>
              <a:rPr sz="1800" b="1" spc="-110" dirty="0" err="1" smtClean="0">
                <a:latin typeface="宋体"/>
                <a:cs typeface="宋体"/>
              </a:rPr>
              <a:t>计算</a:t>
            </a:r>
            <a:r>
              <a:rPr sz="1800" b="1" spc="-100" dirty="0" err="1" smtClean="0">
                <a:latin typeface="宋体"/>
                <a:cs typeface="宋体"/>
              </a:rPr>
              <a:t>复杂性</a:t>
            </a:r>
            <a:r>
              <a:rPr sz="1800" b="1" spc="-95" dirty="0" err="1" smtClean="0">
                <a:latin typeface="宋体"/>
                <a:cs typeface="宋体"/>
              </a:rPr>
              <a:t>理</a:t>
            </a:r>
            <a:r>
              <a:rPr sz="1800" b="1" spc="-105" dirty="0" err="1" smtClean="0">
                <a:latin typeface="宋体"/>
                <a:cs typeface="宋体"/>
              </a:rPr>
              <a:t>论</a:t>
            </a:r>
            <a:r>
              <a:rPr sz="1800" b="1" spc="-10" dirty="0">
                <a:latin typeface="宋体"/>
                <a:cs typeface="宋体"/>
              </a:rPr>
              <a:t>： </a:t>
            </a:r>
            <a:r>
              <a:rPr sz="1800" b="1" spc="-5" dirty="0">
                <a:latin typeface="宋体"/>
                <a:cs typeface="宋体"/>
              </a:rPr>
              <a:t>货郎问题</a:t>
            </a:r>
            <a:endParaRPr sz="1800" dirty="0">
              <a:latin typeface="宋体"/>
              <a:cs typeface="宋体"/>
            </a:endParaRPr>
          </a:p>
          <a:p>
            <a:pPr marL="271145" marR="203835" indent="229870">
              <a:lnSpc>
                <a:spcPct val="100000"/>
              </a:lnSpc>
            </a:pPr>
            <a:r>
              <a:rPr sz="1800" b="1" spc="-5" dirty="0">
                <a:latin typeface="宋体"/>
                <a:cs typeface="宋体"/>
              </a:rPr>
              <a:t>背包问题 双机调度</a:t>
            </a:r>
            <a:r>
              <a:rPr sz="1800" b="1" dirty="0">
                <a:latin typeface="宋体"/>
                <a:cs typeface="宋体"/>
              </a:rPr>
              <a:t>问</a:t>
            </a:r>
            <a:r>
              <a:rPr sz="1800" b="1" spc="-10" dirty="0">
                <a:latin typeface="宋体"/>
                <a:cs typeface="宋体"/>
              </a:rPr>
              <a:t>题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246007C-7EA4-4D8B-8DD7-0346318EFE4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05"/>
    </mc:Choice>
    <mc:Fallback xmlns="">
      <p:transition spd="slow" advTm="127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  <p:bldP spid="19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04950"/>
            <a:ext cx="82296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0" algn="ctr">
              <a:spcBef>
                <a:spcPts val="95"/>
              </a:spcBef>
            </a:pPr>
            <a:r>
              <a:rPr sz="6600" kern="1200" dirty="0" err="1">
                <a:latin typeface="黑体" pitchFamily="49" charset="-122"/>
                <a:ea typeface="黑体" pitchFamily="49" charset="-122"/>
                <a:cs typeface="Times New Roman" pitchFamily="18" charset="0"/>
              </a:rPr>
              <a:t>两个例子</a:t>
            </a:r>
            <a:r>
              <a:rPr sz="66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:</a:t>
            </a:r>
            <a:r>
              <a:rPr lang="en-US" sz="66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/>
            </a:r>
            <a:br>
              <a:rPr lang="en-US" sz="66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</a:br>
            <a:r>
              <a:rPr sz="6600" kern="1200" dirty="0" err="1">
                <a:latin typeface="黑体" pitchFamily="49" charset="-122"/>
                <a:ea typeface="黑体" pitchFamily="49" charset="-122"/>
                <a:cs typeface="Times New Roman" pitchFamily="18" charset="0"/>
              </a:rPr>
              <a:t>调度问题与投资问题</a:t>
            </a:r>
            <a:endParaRPr sz="6600" kern="12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767EA67-A892-4876-9CD7-395B7C24325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5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09550"/>
            <a:ext cx="82270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0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例</a:t>
            </a:r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1：调度问题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11607"/>
            <a:ext cx="8227060" cy="16649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1400"/>
              </a:lnSpc>
              <a:spcBef>
                <a:spcPts val="95"/>
              </a:spcBef>
              <a:tabLst>
                <a:tab pos="784225" algn="l"/>
              </a:tabLst>
            </a:pPr>
            <a:r>
              <a:rPr sz="2400" b="1" spc="-5" dirty="0" err="1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问</a:t>
            </a:r>
            <a:r>
              <a:rPr sz="2400" b="1" spc="-10" dirty="0" err="1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题</a:t>
            </a:r>
            <a:r>
              <a:rPr lang="zh-CN" altLang="en-US" sz="2400" b="1" spc="-10" dirty="0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：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400" b="1" spc="-5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项任务，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每项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任务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加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工时间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已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知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。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从</a:t>
            </a:r>
            <a:r>
              <a:rPr sz="2400" b="1" spc="-5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时刻开始陆续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安排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到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一台机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器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上加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工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每个任务的完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成时间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从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4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时刻到任务加工截止的时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间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b="1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 algn="just">
              <a:lnSpc>
                <a:spcPct val="111400"/>
              </a:lnSpc>
              <a:spcBef>
                <a:spcPts val="95"/>
              </a:spcBef>
              <a:tabLst>
                <a:tab pos="784225" algn="l"/>
              </a:tabLst>
            </a:pP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求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:	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总完成时间（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所有任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务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完成时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间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之和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）最短的安排方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案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3028950"/>
            <a:ext cx="8227060" cy="1301638"/>
          </a:xfrm>
          <a:prstGeom prst="rect">
            <a:avLst/>
          </a:prstGeom>
          <a:ln w="9905">
            <a:solidFill>
              <a:srgbClr val="C4BD9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00"/>
              </a:spcBef>
            </a:pPr>
            <a:r>
              <a:rPr lang="zh-CN" altLang="en-US" sz="2400" b="1" spc="-5" dirty="0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实例</a:t>
            </a:r>
            <a:r>
              <a:rPr lang="zh-CN" altLang="en-US" sz="2400" b="1" spc="-5" dirty="0" smtClean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sz="2400" b="1" spc="-5" dirty="0">
              <a:solidFill>
                <a:srgbClr val="CC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0805">
              <a:lnSpc>
                <a:spcPct val="100000"/>
              </a:lnSpc>
              <a:spcBef>
                <a:spcPts val="600"/>
              </a:spcBef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任务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集</a:t>
            </a:r>
            <a:r>
              <a:rPr sz="2400" b="1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{1,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2,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3,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4,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5}，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90805">
              <a:lnSpc>
                <a:spcPct val="100000"/>
              </a:lnSpc>
              <a:spcBef>
                <a:spcPts val="600"/>
              </a:spcBef>
              <a:tabLst>
                <a:tab pos="1518285" algn="l"/>
                <a:tab pos="2266950" algn="l"/>
                <a:tab pos="3016885" algn="l"/>
                <a:tab pos="3765550" algn="l"/>
                <a:tab pos="4584700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加工时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间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: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=3,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=8,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=5,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=10,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=15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EB72D3E-84F2-4617-9436-E44ECFBD25A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5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0" algn="ctr" rtl="0">
              <a:spcBef>
                <a:spcPts val="95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贪心法的解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51551"/>
              </p:ext>
            </p:extLst>
          </p:nvPr>
        </p:nvGraphicFramePr>
        <p:xfrm>
          <a:off x="1369650" y="2250949"/>
          <a:ext cx="5680072" cy="320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72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482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0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8255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0" y="1200150"/>
            <a:ext cx="8229600" cy="3388748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sz="2400" b="1" spc="-5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：按加工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</a:t>
            </a:r>
            <a:r>
              <a:rPr sz="2400" b="1" spc="-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从小到大安排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sz="2400" b="1" spc="-5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：1,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spcBef>
                <a:spcPts val="2000"/>
              </a:spcBef>
              <a:tabLst>
                <a:tab pos="483870" algn="l"/>
                <a:tab pos="1126490" algn="l"/>
                <a:tab pos="2168525" algn="l"/>
                <a:tab pos="3567429" algn="l"/>
                <a:tab pos="5537200" algn="l"/>
              </a:tabLst>
            </a:pPr>
            <a:r>
              <a:rPr lang="en-US" sz="2000" spc="-5" dirty="0" smtClean="0">
                <a:latin typeface="Calibri"/>
                <a:cs typeface="Calibri"/>
              </a:rPr>
              <a:t>               </a:t>
            </a:r>
            <a:r>
              <a:rPr sz="2000" spc="-5" dirty="0" smtClean="0">
                <a:latin typeface="Calibri"/>
                <a:cs typeface="Calibri"/>
              </a:rPr>
              <a:t>0</a:t>
            </a:r>
            <a:r>
              <a:rPr lang="en-US" sz="2000" spc="-5" dirty="0" smtClean="0">
                <a:latin typeface="Calibri"/>
                <a:cs typeface="Calibri"/>
              </a:rPr>
              <a:t>  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5" dirty="0" smtClean="0">
                <a:latin typeface="Calibri"/>
                <a:cs typeface="Calibri"/>
              </a:rPr>
              <a:t>  </a:t>
            </a:r>
            <a:r>
              <a:rPr sz="2000" spc="-5" dirty="0" smtClean="0">
                <a:latin typeface="Calibri"/>
                <a:cs typeface="Calibri"/>
              </a:rPr>
              <a:t>3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5" dirty="0" smtClean="0">
                <a:latin typeface="Calibri"/>
                <a:cs typeface="Calibri"/>
              </a:rPr>
              <a:t>       </a:t>
            </a:r>
            <a:r>
              <a:rPr sz="2000" spc="-5" dirty="0" smtClean="0">
                <a:latin typeface="Calibri"/>
                <a:cs typeface="Calibri"/>
              </a:rPr>
              <a:t>8</a:t>
            </a:r>
            <a:r>
              <a:rPr sz="2000" spc="-5" dirty="0">
                <a:latin typeface="Calibri"/>
                <a:cs typeface="Calibri"/>
              </a:rPr>
              <a:t>	</a:t>
            </a:r>
            <a:r>
              <a:rPr lang="en-US" sz="2000" spc="-5" dirty="0" smtClean="0">
                <a:latin typeface="Calibri"/>
                <a:cs typeface="Calibri"/>
              </a:rPr>
              <a:t>              </a:t>
            </a:r>
            <a:r>
              <a:rPr sz="2000" spc="-5" dirty="0" smtClean="0">
                <a:latin typeface="Calibri"/>
                <a:cs typeface="Calibri"/>
              </a:rPr>
              <a:t>16</a:t>
            </a:r>
            <a:r>
              <a:rPr sz="2000" spc="-5" dirty="0">
                <a:latin typeface="Calibri"/>
                <a:cs typeface="Calibri"/>
              </a:rPr>
              <a:t>	</a:t>
            </a:r>
            <a:r>
              <a:rPr lang="en-US" sz="2000" spc="-5" dirty="0" smtClean="0">
                <a:latin typeface="Calibri"/>
                <a:cs typeface="Calibri"/>
              </a:rPr>
              <a:t>             </a:t>
            </a:r>
            <a:r>
              <a:rPr sz="2000" spc="-5" dirty="0" smtClean="0">
                <a:latin typeface="Calibri"/>
                <a:cs typeface="Calibri"/>
              </a:rPr>
              <a:t>26</a:t>
            </a:r>
            <a:r>
              <a:rPr sz="2000" spc="-5" dirty="0">
                <a:latin typeface="Calibri"/>
                <a:cs typeface="Calibri"/>
              </a:rPr>
              <a:t>	</a:t>
            </a:r>
            <a:r>
              <a:rPr lang="en-US" sz="2000" spc="-5" dirty="0" smtClean="0">
                <a:latin typeface="Calibri"/>
                <a:cs typeface="Calibri"/>
              </a:rPr>
              <a:t>                 </a:t>
            </a:r>
            <a:r>
              <a:rPr sz="2000" spc="-5" dirty="0" smtClean="0">
                <a:latin typeface="Calibri"/>
                <a:cs typeface="Calibri"/>
              </a:rPr>
              <a:t>41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ts val="2625"/>
              </a:lnSpc>
            </a:pPr>
            <a:r>
              <a:rPr sz="2400" b="1" spc="-5" dirty="0">
                <a:latin typeface="宋体"/>
                <a:cs typeface="宋体"/>
              </a:rPr>
              <a:t>总完成时间：</a:t>
            </a:r>
            <a:endParaRPr sz="2400" dirty="0">
              <a:latin typeface="宋体"/>
              <a:cs typeface="宋体"/>
            </a:endParaRPr>
          </a:p>
          <a:p>
            <a:pPr marL="82550">
              <a:lnSpc>
                <a:spcPts val="2625"/>
              </a:lnSpc>
            </a:pPr>
            <a:r>
              <a:rPr sz="2400" b="1" i="1" dirty="0">
                <a:latin typeface="Times New Roman"/>
                <a:cs typeface="Times New Roman"/>
              </a:rPr>
              <a:t>t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3+(3+5)+(3+5+8)+(3+5+8+10)+(3+5+8+10+15)</a:t>
            </a:r>
            <a:endParaRPr sz="2400" dirty="0">
              <a:latin typeface="Times New Roman"/>
              <a:cs typeface="Times New Roman"/>
            </a:endParaRPr>
          </a:p>
          <a:p>
            <a:pPr marL="222250">
              <a:lnSpc>
                <a:spcPts val="2635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= 3</a:t>
            </a:r>
            <a:r>
              <a:rPr sz="2400" b="1" dirty="0">
                <a:latin typeface="Symbol"/>
                <a:cs typeface="Symbol"/>
              </a:rPr>
              <a:t></a:t>
            </a:r>
            <a:r>
              <a:rPr sz="2400" b="1" dirty="0">
                <a:latin typeface="Times New Roman"/>
                <a:cs typeface="Times New Roman"/>
              </a:rPr>
              <a:t>5 + 5</a:t>
            </a:r>
            <a:r>
              <a:rPr sz="2400" b="1" dirty="0">
                <a:latin typeface="Symbol"/>
                <a:cs typeface="Symbol"/>
              </a:rPr>
              <a:t></a:t>
            </a:r>
            <a:r>
              <a:rPr sz="2400" b="1" dirty="0">
                <a:latin typeface="Times New Roman"/>
                <a:cs typeface="Times New Roman"/>
              </a:rPr>
              <a:t>4 + 8</a:t>
            </a:r>
            <a:r>
              <a:rPr sz="2400" b="1" dirty="0">
                <a:latin typeface="Symbol"/>
                <a:cs typeface="Symbol"/>
              </a:rPr>
              <a:t></a:t>
            </a:r>
            <a:r>
              <a:rPr sz="2400" b="1" dirty="0">
                <a:latin typeface="Times New Roman"/>
                <a:cs typeface="Times New Roman"/>
              </a:rPr>
              <a:t>3 + 10</a:t>
            </a:r>
            <a:r>
              <a:rPr sz="2400" b="1" dirty="0">
                <a:latin typeface="Symbol"/>
                <a:cs typeface="Symbol"/>
              </a:rPr>
              <a:t></a:t>
            </a:r>
            <a:r>
              <a:rPr sz="2400" b="1" dirty="0">
                <a:latin typeface="Times New Roman"/>
                <a:cs typeface="Times New Roman"/>
              </a:rPr>
              <a:t>2 +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15</a:t>
            </a:r>
            <a:endParaRPr sz="2400" dirty="0">
              <a:latin typeface="Times New Roman"/>
              <a:cs typeface="Times New Roman"/>
            </a:endParaRPr>
          </a:p>
          <a:p>
            <a:pPr marL="222250">
              <a:lnSpc>
                <a:spcPts val="2635"/>
              </a:lnSpc>
            </a:pP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94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5B3814C-A476-4BBF-92FE-2F8F41FA1A30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69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5418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0" algn="ctr" rtl="0">
              <a:spcBef>
                <a:spcPts val="95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问题建模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23739"/>
            <a:ext cx="8229600" cy="1500411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sz="2400" b="1" spc="-5" dirty="0">
                <a:solidFill>
                  <a:srgbClr val="CC3300"/>
                </a:solidFill>
                <a:latin typeface="宋体"/>
                <a:cs typeface="宋体"/>
              </a:rPr>
              <a:t>输入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任务集</a:t>
            </a:r>
            <a:r>
              <a:rPr sz="2400" b="1" spc="-10" dirty="0">
                <a:latin typeface="宋体"/>
                <a:cs typeface="宋体"/>
              </a:rPr>
              <a:t>：</a:t>
            </a:r>
            <a:r>
              <a:rPr sz="2400" b="1" spc="-53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S=</a:t>
            </a:r>
            <a:r>
              <a:rPr sz="2400" b="1" spc="-5" dirty="0">
                <a:latin typeface="Times New Roman"/>
                <a:cs typeface="Times New Roman"/>
              </a:rPr>
              <a:t>{1,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… ,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}</a:t>
            </a:r>
            <a:r>
              <a:rPr sz="2400" b="1" spc="-5" dirty="0" smtClean="0">
                <a:latin typeface="宋体"/>
                <a:cs typeface="宋体"/>
              </a:rPr>
              <a:t>，</a:t>
            </a:r>
            <a:endParaRPr lang="en-US" sz="24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lang="en-US" sz="2400" b="1" spc="-10" dirty="0">
                <a:latin typeface="宋体"/>
                <a:cs typeface="宋体"/>
              </a:rPr>
              <a:t> </a:t>
            </a:r>
            <a:r>
              <a:rPr lang="en-US" sz="2400" b="1" spc="-10" dirty="0" smtClean="0">
                <a:latin typeface="宋体"/>
                <a:cs typeface="宋体"/>
              </a:rPr>
              <a:t>    </a:t>
            </a:r>
            <a:r>
              <a:rPr sz="2400" b="1" spc="-10" dirty="0" smtClean="0">
                <a:latin typeface="宋体"/>
                <a:cs typeface="宋体"/>
              </a:rPr>
              <a:t>第</a:t>
            </a:r>
            <a:r>
              <a:rPr sz="2400" b="1" spc="-550" dirty="0" smtClean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宋体"/>
                <a:cs typeface="宋体"/>
              </a:rPr>
              <a:t>项任务加工时间</a:t>
            </a:r>
            <a:r>
              <a:rPr sz="2400" b="1" dirty="0" smtClean="0">
                <a:latin typeface="Times New Roman"/>
                <a:cs typeface="Times New Roman"/>
              </a:rPr>
              <a:t>: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err="1" smtClean="0">
                <a:latin typeface="Times New Roman"/>
                <a:cs typeface="Times New Roman"/>
              </a:rPr>
              <a:t>t</a:t>
            </a:r>
            <a:r>
              <a:rPr sz="2400" b="1" i="1" spc="-7" baseline="-21072" dirty="0" err="1" smtClean="0">
                <a:latin typeface="Times New Roman"/>
                <a:cs typeface="Times New Roman"/>
              </a:rPr>
              <a:t>j</a:t>
            </a:r>
            <a:r>
              <a:rPr sz="2400" b="1" i="1" spc="22" baseline="-21072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</a:t>
            </a:r>
            <a:r>
              <a:rPr sz="2400" b="1" dirty="0">
                <a:latin typeface="Times New Roman"/>
                <a:cs typeface="Times New Roman"/>
              </a:rPr>
              <a:t>Z</a:t>
            </a:r>
            <a:r>
              <a:rPr sz="2400" b="1" baseline="24904" dirty="0">
                <a:latin typeface="Times New Roman"/>
                <a:cs typeface="Times New Roman"/>
              </a:rPr>
              <a:t>+</a:t>
            </a:r>
            <a:r>
              <a:rPr sz="2400" b="1" dirty="0">
                <a:latin typeface="Times New Roman"/>
                <a:cs typeface="Times New Roman"/>
              </a:rPr>
              <a:t>,	</a:t>
            </a:r>
            <a:r>
              <a:rPr sz="2400" b="1" i="1" spc="-5" dirty="0">
                <a:latin typeface="Times New Roman"/>
                <a:cs typeface="Times New Roman"/>
              </a:rPr>
              <a:t>j</a:t>
            </a:r>
            <a:r>
              <a:rPr sz="2400" b="1" spc="-5" dirty="0">
                <a:latin typeface="Times New Roman"/>
                <a:cs typeface="Times New Roman"/>
              </a:rPr>
              <a:t>=1,2,…,</a:t>
            </a:r>
            <a:r>
              <a:rPr sz="2400" b="1" i="1" spc="-5" dirty="0">
                <a:latin typeface="Times New Roman"/>
                <a:cs typeface="Times New Roman"/>
              </a:rPr>
              <a:t>n.</a:t>
            </a:r>
            <a:endParaRPr sz="24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50"/>
              </a:spcBef>
            </a:pPr>
            <a:r>
              <a:rPr sz="2400" b="1" spc="-5" dirty="0">
                <a:solidFill>
                  <a:srgbClr val="CC3300"/>
                </a:solidFill>
                <a:latin typeface="宋体"/>
                <a:cs typeface="宋体"/>
              </a:rPr>
              <a:t>输出</a:t>
            </a:r>
            <a:r>
              <a:rPr sz="2400" b="1" spc="-10" dirty="0">
                <a:solidFill>
                  <a:srgbClr val="CC3300"/>
                </a:solidFill>
                <a:latin typeface="宋体"/>
                <a:cs typeface="宋体"/>
              </a:rPr>
              <a:t>：</a:t>
            </a:r>
            <a:r>
              <a:rPr sz="2400" b="1" spc="-5" dirty="0">
                <a:latin typeface="宋体"/>
                <a:cs typeface="宋体"/>
              </a:rPr>
              <a:t>调</a:t>
            </a:r>
            <a:r>
              <a:rPr sz="2400" b="1" spc="-10" dirty="0">
                <a:latin typeface="宋体"/>
                <a:cs typeface="宋体"/>
              </a:rPr>
              <a:t>度</a:t>
            </a:r>
            <a:r>
              <a:rPr sz="2400" b="1" spc="-54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的排</a:t>
            </a:r>
            <a:r>
              <a:rPr sz="2400" b="1" spc="-10" dirty="0">
                <a:latin typeface="宋体"/>
                <a:cs typeface="宋体"/>
              </a:rPr>
              <a:t>列</a:t>
            </a:r>
            <a:r>
              <a:rPr sz="2400" b="1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baseline="-21072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baseline="-21072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, </a:t>
            </a:r>
            <a:r>
              <a:rPr sz="2400" b="1" spc="-5" dirty="0">
                <a:latin typeface="Times New Roman"/>
                <a:cs typeface="Times New Roman"/>
              </a:rPr>
              <a:t>…,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baseline="-21072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2881671"/>
            <a:ext cx="8229600" cy="189987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495"/>
              </a:spcBef>
            </a:pPr>
            <a:r>
              <a:rPr sz="3600" b="1" spc="-7" baseline="-6313" dirty="0">
                <a:solidFill>
                  <a:srgbClr val="CC3300"/>
                </a:solidFill>
                <a:latin typeface="宋体"/>
                <a:cs typeface="宋体"/>
              </a:rPr>
              <a:t>目标函数</a:t>
            </a:r>
            <a:r>
              <a:rPr sz="3600" b="1" spc="-15" baseline="-6313" dirty="0">
                <a:solidFill>
                  <a:srgbClr val="CC3300"/>
                </a:solidFill>
                <a:latin typeface="宋体"/>
                <a:cs typeface="宋体"/>
              </a:rPr>
              <a:t>：</a:t>
            </a:r>
            <a:r>
              <a:rPr sz="3600" b="1" i="1" baseline="-6313" dirty="0">
                <a:latin typeface="Times New Roman"/>
                <a:cs typeface="Times New Roman"/>
              </a:rPr>
              <a:t>I</a:t>
            </a:r>
            <a:r>
              <a:rPr sz="3600" b="1" i="1" spc="22" baseline="-6313" dirty="0">
                <a:latin typeface="Times New Roman"/>
                <a:cs typeface="Times New Roman"/>
              </a:rPr>
              <a:t> </a:t>
            </a:r>
            <a:r>
              <a:rPr sz="3600" b="1" spc="-7" baseline="-6313" dirty="0" err="1">
                <a:latin typeface="宋体"/>
                <a:cs typeface="宋体"/>
              </a:rPr>
              <a:t>的完成时间</a:t>
            </a:r>
            <a:r>
              <a:rPr sz="2400" b="1" spc="-15" baseline="-6313" dirty="0" smtClean="0">
                <a:latin typeface="宋体"/>
                <a:cs typeface="宋体"/>
              </a:rPr>
              <a:t>，</a:t>
            </a:r>
            <a:endParaRPr lang="en-US" sz="2400" b="1" spc="-15" baseline="-6313" dirty="0" smtClean="0">
              <a:latin typeface="宋体"/>
              <a:cs typeface="宋体"/>
            </a:endParaRPr>
          </a:p>
          <a:p>
            <a:pPr algn="just"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45"/>
              </a:spcBef>
            </a:pPr>
            <a:r>
              <a:rPr sz="2400" b="1" spc="-10" dirty="0">
                <a:solidFill>
                  <a:srgbClr val="CC3300"/>
                </a:solidFill>
                <a:latin typeface="宋体"/>
                <a:cs typeface="宋体"/>
              </a:rPr>
              <a:t>解</a:t>
            </a:r>
            <a:r>
              <a:rPr sz="2400" b="1" spc="-560" dirty="0">
                <a:solidFill>
                  <a:srgbClr val="CC3300"/>
                </a:solidFill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I*</a:t>
            </a:r>
            <a:r>
              <a:rPr sz="2400" b="1" spc="-5" dirty="0">
                <a:latin typeface="宋体"/>
                <a:cs typeface="宋体"/>
              </a:rPr>
              <a:t>：使</a:t>
            </a:r>
            <a:r>
              <a:rPr sz="2400" b="1" spc="-10" dirty="0">
                <a:latin typeface="宋体"/>
                <a:cs typeface="宋体"/>
              </a:rPr>
              <a:t>得</a:t>
            </a:r>
            <a:r>
              <a:rPr sz="2400" b="1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I*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达到最小，即</a:t>
            </a:r>
            <a:endParaRPr sz="2400" dirty="0">
              <a:latin typeface="宋体"/>
              <a:cs typeface="宋体"/>
            </a:endParaRPr>
          </a:p>
          <a:p>
            <a:pPr marL="220979" algn="ctr">
              <a:lnSpc>
                <a:spcPct val="100000"/>
              </a:lnSpc>
              <a:spcBef>
                <a:spcPts val="1375"/>
              </a:spcBef>
            </a:pPr>
            <a:r>
              <a:rPr sz="2400" b="1" i="1" spc="-120" dirty="0">
                <a:latin typeface="Times New Roman"/>
                <a:cs typeface="Times New Roman"/>
              </a:rPr>
              <a:t>t</a:t>
            </a:r>
            <a:r>
              <a:rPr sz="2400" b="1" spc="-120" dirty="0">
                <a:latin typeface="宋体"/>
                <a:cs typeface="宋体"/>
              </a:rPr>
              <a:t>(</a:t>
            </a:r>
            <a:r>
              <a:rPr sz="2400" b="1" spc="-950" dirty="0">
                <a:latin typeface="宋体"/>
                <a:cs typeface="宋体"/>
              </a:rPr>
              <a:t> </a:t>
            </a:r>
            <a:r>
              <a:rPr sz="2400" b="1" i="1" spc="10" dirty="0">
                <a:latin typeface="Times New Roman"/>
                <a:cs typeface="Times New Roman"/>
              </a:rPr>
              <a:t>I</a:t>
            </a:r>
            <a:r>
              <a:rPr sz="2400" b="1" i="1" spc="-250" dirty="0">
                <a:latin typeface="Times New Roman"/>
                <a:cs typeface="Times New Roman"/>
              </a:rPr>
              <a:t> </a:t>
            </a:r>
            <a:r>
              <a:rPr sz="2400" b="1" spc="-7" baseline="43209" dirty="0">
                <a:latin typeface="宋体"/>
                <a:cs typeface="宋体"/>
              </a:rPr>
              <a:t>*</a:t>
            </a:r>
            <a:r>
              <a:rPr sz="2400" b="1" spc="-622" baseline="43209" dirty="0">
                <a:latin typeface="宋体"/>
                <a:cs typeface="宋体"/>
              </a:rPr>
              <a:t> </a:t>
            </a:r>
            <a:r>
              <a:rPr sz="2400" b="1" spc="100" dirty="0">
                <a:latin typeface="宋体"/>
                <a:cs typeface="宋体"/>
              </a:rPr>
              <a:t>)</a:t>
            </a:r>
            <a:r>
              <a:rPr sz="2400" b="1" spc="100" dirty="0">
                <a:latin typeface="Symbol"/>
                <a:cs typeface="Symbol"/>
              </a:rPr>
              <a:t>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宋体"/>
                <a:cs typeface="宋体"/>
              </a:rPr>
              <a:t>min{</a:t>
            </a:r>
            <a:r>
              <a:rPr sz="2400" b="1" spc="-350" dirty="0">
                <a:latin typeface="宋体"/>
                <a:cs typeface="宋体"/>
              </a:rPr>
              <a:t> </a:t>
            </a:r>
            <a:r>
              <a:rPr sz="2400" b="1" i="1" spc="-120" dirty="0">
                <a:latin typeface="Times New Roman"/>
                <a:cs typeface="Times New Roman"/>
              </a:rPr>
              <a:t>t</a:t>
            </a:r>
            <a:r>
              <a:rPr sz="2400" b="1" spc="-120" dirty="0">
                <a:latin typeface="宋体"/>
                <a:cs typeface="宋体"/>
              </a:rPr>
              <a:t>(</a:t>
            </a:r>
            <a:r>
              <a:rPr sz="2400" b="1" spc="-944" dirty="0">
                <a:latin typeface="宋体"/>
                <a:cs typeface="宋体"/>
              </a:rPr>
              <a:t> </a:t>
            </a:r>
            <a:r>
              <a:rPr sz="2400" b="1" i="1" spc="10" dirty="0">
                <a:latin typeface="Times New Roman"/>
                <a:cs typeface="Times New Roman"/>
              </a:rPr>
              <a:t>I</a:t>
            </a:r>
            <a:r>
              <a:rPr sz="2400" b="1" i="1" spc="-360" dirty="0">
                <a:latin typeface="Times New Roman"/>
                <a:cs typeface="Times New Roman"/>
              </a:rPr>
              <a:t> </a:t>
            </a:r>
            <a:r>
              <a:rPr sz="2400" b="1" spc="-160" dirty="0">
                <a:latin typeface="宋体"/>
                <a:cs typeface="宋体"/>
              </a:rPr>
              <a:t>)|</a:t>
            </a:r>
            <a:r>
              <a:rPr sz="2400" b="1" spc="-944" dirty="0">
                <a:latin typeface="宋体"/>
                <a:cs typeface="宋体"/>
              </a:rPr>
              <a:t> </a:t>
            </a:r>
            <a:r>
              <a:rPr sz="2400" b="1" i="1" spc="10" dirty="0">
                <a:latin typeface="Times New Roman"/>
                <a:cs typeface="Times New Roman"/>
              </a:rPr>
              <a:t>I</a:t>
            </a:r>
            <a:r>
              <a:rPr sz="2400" b="1" i="1" spc="114" dirty="0">
                <a:latin typeface="Times New Roman"/>
                <a:cs typeface="Times New Roman"/>
              </a:rPr>
              <a:t> </a:t>
            </a:r>
            <a:r>
              <a:rPr sz="2400" b="1" spc="55" dirty="0">
                <a:latin typeface="宋体"/>
                <a:cs typeface="宋体"/>
              </a:rPr>
              <a:t>为</a:t>
            </a:r>
            <a:r>
              <a:rPr sz="2400" b="1" i="1" spc="30" dirty="0">
                <a:latin typeface="Times New Roman"/>
                <a:cs typeface="Times New Roman"/>
              </a:rPr>
              <a:t>S</a:t>
            </a:r>
            <a:r>
              <a:rPr sz="2400" b="1" spc="30" dirty="0">
                <a:latin typeface="宋体"/>
                <a:cs typeface="宋体"/>
              </a:rPr>
              <a:t>的排</a:t>
            </a:r>
            <a:r>
              <a:rPr sz="2400" b="1" spc="360" dirty="0">
                <a:latin typeface="宋体"/>
                <a:cs typeface="宋体"/>
              </a:rPr>
              <a:t>列</a:t>
            </a:r>
            <a:r>
              <a:rPr sz="2400" b="1" spc="5" dirty="0">
                <a:latin typeface="宋体"/>
                <a:cs typeface="宋体"/>
              </a:rPr>
              <a:t>}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187BFC2-A8E7-4A53-82C5-46E0B520CC7B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810000" y="2600229"/>
                <a:ext cx="3516475" cy="1098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𝒕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𝑰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600229"/>
                <a:ext cx="3516475" cy="109889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08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4188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0" algn="ctr" rtl="0">
              <a:spcBef>
                <a:spcPts val="95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贪心算法</a:t>
            </a:r>
          </a:p>
        </p:txBody>
      </p:sp>
      <p:sp>
        <p:nvSpPr>
          <p:cNvPr id="3" name="object 3"/>
          <p:cNvSpPr/>
          <p:nvPr/>
        </p:nvSpPr>
        <p:spPr>
          <a:xfrm>
            <a:off x="1733912" y="3574924"/>
            <a:ext cx="794385" cy="269875"/>
          </a:xfrm>
          <a:custGeom>
            <a:avLst/>
            <a:gdLst/>
            <a:ahLst/>
            <a:cxnLst/>
            <a:rect l="l" t="t" r="r" b="b"/>
            <a:pathLst>
              <a:path w="794385" h="269875">
                <a:moveTo>
                  <a:pt x="0" y="0"/>
                </a:moveTo>
                <a:lnTo>
                  <a:pt x="794004" y="0"/>
                </a:lnTo>
                <a:lnTo>
                  <a:pt x="794004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912" y="3979877"/>
            <a:ext cx="763905" cy="269875"/>
          </a:xfrm>
          <a:custGeom>
            <a:avLst/>
            <a:gdLst/>
            <a:ahLst/>
            <a:cxnLst/>
            <a:rect l="l" t="t" r="r" b="b"/>
            <a:pathLst>
              <a:path w="763905" h="269875">
                <a:moveTo>
                  <a:pt x="0" y="0"/>
                </a:moveTo>
                <a:lnTo>
                  <a:pt x="763524" y="0"/>
                </a:lnTo>
                <a:lnTo>
                  <a:pt x="763524" y="269747"/>
                </a:lnTo>
                <a:lnTo>
                  <a:pt x="0" y="269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1616" y="3574924"/>
            <a:ext cx="1440180" cy="269875"/>
          </a:xfrm>
          <a:custGeom>
            <a:avLst/>
            <a:gdLst/>
            <a:ahLst/>
            <a:cxnLst/>
            <a:rect l="l" t="t" r="r" b="b"/>
            <a:pathLst>
              <a:path w="1440179" h="269875">
                <a:moveTo>
                  <a:pt x="0" y="0"/>
                </a:moveTo>
                <a:lnTo>
                  <a:pt x="1440179" y="0"/>
                </a:lnTo>
                <a:lnTo>
                  <a:pt x="1440179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443628"/>
              </p:ext>
            </p:extLst>
          </p:nvPr>
        </p:nvGraphicFramePr>
        <p:xfrm>
          <a:off x="1721340" y="3562350"/>
          <a:ext cx="5167629" cy="272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094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1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27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ts val="205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i="1" baseline="-21367" dirty="0">
                          <a:latin typeface="Times New Roman"/>
                          <a:cs typeface="Times New Roman"/>
                        </a:rPr>
                        <a:t>i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5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i="1" baseline="-21367" dirty="0">
                          <a:latin typeface="Times New Roman"/>
                          <a:cs typeface="Times New Roman"/>
                        </a:rPr>
                        <a:t>j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461616" y="3979877"/>
            <a:ext cx="1440180" cy="269875"/>
          </a:xfrm>
          <a:custGeom>
            <a:avLst/>
            <a:gdLst/>
            <a:ahLst/>
            <a:cxnLst/>
            <a:rect l="l" t="t" r="r" b="b"/>
            <a:pathLst>
              <a:path w="1440179" h="269875">
                <a:moveTo>
                  <a:pt x="0" y="0"/>
                </a:moveTo>
                <a:lnTo>
                  <a:pt x="1440179" y="0"/>
                </a:lnTo>
                <a:lnTo>
                  <a:pt x="1440179" y="269747"/>
                </a:lnTo>
                <a:lnTo>
                  <a:pt x="0" y="269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05655"/>
              </p:ext>
            </p:extLst>
          </p:nvPr>
        </p:nvGraphicFramePr>
        <p:xfrm>
          <a:off x="1721340" y="3967303"/>
          <a:ext cx="5166994" cy="2697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2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306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329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697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025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i="1" baseline="-21367" dirty="0">
                          <a:latin typeface="Times New Roman"/>
                          <a:cs typeface="Times New Roman"/>
                        </a:rPr>
                        <a:t>j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948A54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i="1" baseline="-21367" dirty="0">
                          <a:latin typeface="Times New Roman"/>
                          <a:cs typeface="Times New Roman"/>
                        </a:rPr>
                        <a:t>i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48A54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948A54"/>
                      </a:solidFill>
                      <a:prstDash val="solid"/>
                    </a:lnT>
                    <a:lnB w="28575">
                      <a:solidFill>
                        <a:srgbClr val="948A54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57200" y="1200150"/>
            <a:ext cx="8229600" cy="1356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25"/>
              </a:lnSpc>
              <a:spcBef>
                <a:spcPts val="1200"/>
              </a:spcBef>
            </a:pPr>
            <a:r>
              <a:rPr sz="2400" b="1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设计策略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：加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工时间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短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的先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做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ts val="2625"/>
              </a:lnSpc>
              <a:spcBef>
                <a:spcPts val="1200"/>
              </a:spcBef>
            </a:pPr>
            <a:r>
              <a:rPr sz="24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算法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根据加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工时间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从小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到大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排序</a:t>
            </a:r>
            <a:r>
              <a:rPr lang="zh-CN" altLang="en-US" sz="2400" b="1" spc="-5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依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次加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工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4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算法正确性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对所有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输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入实例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都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得到最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优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解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200" y="4275073"/>
            <a:ext cx="14281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宋体"/>
                <a:cs typeface="宋体"/>
              </a:rPr>
              <a:t>总完成时间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2310" y="4263780"/>
            <a:ext cx="2447290" cy="379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200" b="1" i="1" spc="-5" dirty="0">
                <a:latin typeface="Times New Roman"/>
                <a:cs typeface="Times New Roman"/>
              </a:rPr>
              <a:t>t</a:t>
            </a:r>
            <a:r>
              <a:rPr sz="2200" b="1" spc="-5" dirty="0">
                <a:latin typeface="Times New Roman"/>
                <a:cs typeface="Times New Roman"/>
              </a:rPr>
              <a:t>(</a:t>
            </a:r>
            <a:r>
              <a:rPr sz="2200" b="1" i="1" spc="-5" dirty="0">
                <a:latin typeface="Times New Roman"/>
                <a:cs typeface="Times New Roman"/>
              </a:rPr>
              <a:t>g</a:t>
            </a:r>
            <a:r>
              <a:rPr sz="2200" b="1" spc="-5" dirty="0">
                <a:latin typeface="Times New Roman"/>
                <a:cs typeface="Times New Roman"/>
              </a:rPr>
              <a:t>) </a:t>
            </a:r>
            <a:r>
              <a:rPr sz="2200" b="1" dirty="0">
                <a:latin typeface="Symbol"/>
                <a:cs typeface="Symbol"/>
              </a:rPr>
              <a:t>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t</a:t>
            </a:r>
            <a:r>
              <a:rPr sz="2200" b="1" spc="-5" dirty="0">
                <a:latin typeface="Times New Roman"/>
                <a:cs typeface="Times New Roman"/>
              </a:rPr>
              <a:t>(</a:t>
            </a:r>
            <a:r>
              <a:rPr sz="2200" b="1" i="1" spc="-5" dirty="0">
                <a:latin typeface="Times New Roman"/>
                <a:cs typeface="Times New Roman"/>
              </a:rPr>
              <a:t>f </a:t>
            </a:r>
            <a:r>
              <a:rPr sz="2200" b="1" dirty="0">
                <a:latin typeface="Times New Roman"/>
                <a:cs typeface="Times New Roman"/>
              </a:rPr>
              <a:t>) = </a:t>
            </a:r>
            <a:r>
              <a:rPr sz="2200" b="1" i="1" spc="-5" dirty="0">
                <a:latin typeface="Times New Roman"/>
                <a:cs typeface="Times New Roman"/>
              </a:rPr>
              <a:t>t</a:t>
            </a:r>
            <a:r>
              <a:rPr sz="2175" b="1" i="1" spc="-7" baseline="-21072" dirty="0">
                <a:latin typeface="Times New Roman"/>
                <a:cs typeface="Times New Roman"/>
              </a:rPr>
              <a:t>j </a:t>
            </a:r>
            <a:r>
              <a:rPr sz="2300" b="1" i="1" spc="-55" dirty="0">
                <a:latin typeface="Symbol"/>
                <a:cs typeface="Symbol"/>
              </a:rPr>
              <a:t></a:t>
            </a:r>
            <a:r>
              <a:rPr sz="2300" b="1" i="1" spc="-55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t</a:t>
            </a:r>
            <a:r>
              <a:rPr sz="2175" b="1" i="1" baseline="-21072" dirty="0">
                <a:latin typeface="Times New Roman"/>
                <a:cs typeface="Times New Roman"/>
              </a:rPr>
              <a:t>i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43D9117-699D-4024-8487-E53402E0E78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11</a:t>
            </a:fld>
            <a:endParaRPr lang="zh-CN" altLang="en-US"/>
          </a:p>
        </p:txBody>
      </p:sp>
      <p:sp>
        <p:nvSpPr>
          <p:cNvPr id="15" name="object 9"/>
          <p:cNvSpPr txBox="1"/>
          <p:nvPr/>
        </p:nvSpPr>
        <p:spPr>
          <a:xfrm>
            <a:off x="495935" y="2571750"/>
            <a:ext cx="8190865" cy="16908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5880">
              <a:lnSpc>
                <a:spcPct val="122700"/>
              </a:lnSpc>
              <a:tabLst>
                <a:tab pos="1172845" algn="l"/>
                <a:tab pos="2090420" algn="l"/>
              </a:tabLst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证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：假如调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度</a:t>
            </a:r>
            <a:r>
              <a:rPr sz="2400" b="1" spc="-5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05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第 </a:t>
            </a: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,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项任务相邻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且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4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逆序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，即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err="1">
                <a:latin typeface="Times New Roman"/>
                <a:cs typeface="Times New Roman"/>
              </a:rPr>
              <a:t>t</a:t>
            </a:r>
            <a:r>
              <a:rPr sz="2400" b="1" i="1" baseline="-21072" dirty="0" err="1">
                <a:latin typeface="Times New Roman"/>
                <a:cs typeface="Times New Roman"/>
              </a:rPr>
              <a:t>i</a:t>
            </a:r>
            <a:r>
              <a:rPr sz="2400" b="1" i="1" baseline="-21072" dirty="0">
                <a:latin typeface="Times New Roman"/>
                <a:cs typeface="Times New Roman"/>
              </a:rPr>
              <a:t> </a:t>
            </a:r>
            <a:r>
              <a:rPr lang="en-US" sz="2400" b="1" i="1" baseline="-21072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&gt;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i="1" dirty="0" err="1" smtClean="0">
                <a:latin typeface="Times New Roman"/>
                <a:cs typeface="Times New Roman"/>
              </a:rPr>
              <a:t>t</a:t>
            </a:r>
            <a:r>
              <a:rPr sz="2400" b="1" i="1" baseline="-21072" dirty="0" err="1" smtClean="0">
                <a:latin typeface="Times New Roman"/>
                <a:cs typeface="Times New Roman"/>
              </a:rPr>
              <a:t>j</a:t>
            </a:r>
            <a:r>
              <a:rPr sz="2400" b="1" i="1" baseline="-21072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.</a:t>
            </a:r>
            <a:r>
              <a:rPr lang="en-US" sz="2400" b="1" dirty="0" smtClean="0">
                <a:latin typeface="Times New Roman"/>
                <a:cs typeface="Times New Roman"/>
              </a:rPr>
              <a:t>      </a:t>
            </a:r>
          </a:p>
          <a:p>
            <a:pPr marL="100965" marR="55880">
              <a:lnSpc>
                <a:spcPct val="122700"/>
              </a:lnSpc>
              <a:tabLst>
                <a:tab pos="1172845" algn="l"/>
                <a:tab pos="2090420" algn="l"/>
              </a:tabLst>
            </a:pP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b="1" spc="-5" dirty="0" smtClean="0">
                <a:latin typeface="Times New Roman"/>
                <a:cs typeface="Times New Roman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交换任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务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5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得到调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度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g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  <a:p>
            <a:pPr marR="5434965">
              <a:lnSpc>
                <a:spcPct val="125000"/>
              </a:lnSpc>
            </a:pPr>
            <a:r>
              <a:rPr lang="en-US" sz="2000" b="1" i="1" spc="-5" dirty="0" smtClean="0">
                <a:latin typeface="Times New Roman"/>
                <a:cs typeface="Times New Roman"/>
              </a:rPr>
              <a:t>              </a:t>
            </a:r>
            <a:r>
              <a:rPr sz="2000" b="1" i="1" spc="-5" dirty="0" smtClean="0">
                <a:latin typeface="Times New Roman"/>
                <a:cs typeface="Times New Roman"/>
              </a:rPr>
              <a:t>f  </a:t>
            </a:r>
            <a:endParaRPr lang="en-US" sz="2000" b="1" i="1" spc="-5" dirty="0" smtClean="0">
              <a:latin typeface="Times New Roman"/>
              <a:cs typeface="Times New Roman"/>
            </a:endParaRPr>
          </a:p>
          <a:p>
            <a:pPr marR="5434965">
              <a:lnSpc>
                <a:spcPct val="125000"/>
              </a:lnSpc>
            </a:pPr>
            <a:r>
              <a:rPr lang="en-US" sz="2000" b="1" i="1" spc="-5" dirty="0" smtClean="0">
                <a:latin typeface="Times New Roman"/>
                <a:cs typeface="Times New Roman"/>
              </a:rPr>
              <a:t>             </a:t>
            </a:r>
            <a:r>
              <a:rPr sz="2000" b="1" i="1" spc="-5" dirty="0" smtClean="0">
                <a:latin typeface="Times New Roman"/>
                <a:cs typeface="Times New Roman"/>
              </a:rPr>
              <a:t>g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100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10" grpId="0"/>
      <p:bldP spid="11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5418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直觉不一定是正确的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08430"/>
            <a:ext cx="8229600" cy="98232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spc="-5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反例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件物品要装入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背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包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物品重量和价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值如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下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: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3529439"/>
            <a:ext cx="8305800" cy="947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100"/>
              </a:lnSpc>
              <a:spcBef>
                <a:spcPts val="100"/>
              </a:spcBef>
            </a:pP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背包重量限制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，问如何选择物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品，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使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得不超重的情况下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装入背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包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的物品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价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值达到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最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大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?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630504"/>
              </p:ext>
            </p:extLst>
          </p:nvPr>
        </p:nvGraphicFramePr>
        <p:xfrm>
          <a:off x="1896110" y="2230434"/>
          <a:ext cx="5029200" cy="12557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03810"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5" dirty="0">
                          <a:latin typeface="宋体"/>
                          <a:cs typeface="宋体"/>
                        </a:rPr>
                        <a:t>标号</a:t>
                      </a:r>
                      <a:endParaRPr sz="2200" dirty="0">
                        <a:latin typeface="宋体"/>
                        <a:cs typeface="宋体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2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3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4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809"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200" b="1" spc="-5" dirty="0">
                          <a:latin typeface="宋体"/>
                          <a:cs typeface="宋体"/>
                        </a:rPr>
                        <a:t>重</a:t>
                      </a:r>
                      <a:r>
                        <a:rPr sz="2200" b="1" spc="-10" dirty="0">
                          <a:latin typeface="宋体"/>
                          <a:cs typeface="宋体"/>
                        </a:rPr>
                        <a:t>量</a:t>
                      </a:r>
                      <a:r>
                        <a:rPr sz="2200" b="1" spc="-68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200" b="1" i="1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175" b="1" i="1" baseline="-2107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21072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5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2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8097"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200" b="1" spc="-5" dirty="0">
                          <a:latin typeface="宋体"/>
                          <a:cs typeface="宋体"/>
                        </a:rPr>
                        <a:t>价</a:t>
                      </a:r>
                      <a:r>
                        <a:rPr sz="2200" b="1" spc="-10" dirty="0">
                          <a:latin typeface="宋体"/>
                          <a:cs typeface="宋体"/>
                        </a:rPr>
                        <a:t>值</a:t>
                      </a:r>
                      <a:r>
                        <a:rPr sz="2200" b="1" spc="-68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200" b="1" i="1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175" b="1" i="1" baseline="-21072" dirty="0">
                          <a:latin typeface="Times New Roman"/>
                          <a:cs typeface="Times New Roman"/>
                        </a:rPr>
                        <a:t>i</a:t>
                      </a:r>
                      <a:endParaRPr sz="2175" baseline="-21072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7</a:t>
                      </a:r>
                      <a:endParaRPr sz="2200" b="1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41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5FA80E3-D9FE-434C-8390-6D0F8E50B4A1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46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43528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实例的解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27074"/>
            <a:ext cx="8229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C3300"/>
                </a:solidFill>
                <a:latin typeface="宋体"/>
                <a:cs typeface="宋体"/>
              </a:rPr>
              <a:t>贪心</a:t>
            </a:r>
            <a:r>
              <a:rPr sz="2400" b="1" spc="-10" dirty="0">
                <a:solidFill>
                  <a:srgbClr val="CC3300"/>
                </a:solidFill>
                <a:latin typeface="宋体"/>
                <a:cs typeface="宋体"/>
              </a:rPr>
              <a:t>法</a:t>
            </a:r>
            <a:r>
              <a:rPr sz="2400" b="1" spc="-5" dirty="0">
                <a:latin typeface="宋体"/>
                <a:cs typeface="宋体"/>
              </a:rPr>
              <a:t>：单位</a:t>
            </a:r>
            <a:r>
              <a:rPr sz="2400" b="1" dirty="0">
                <a:latin typeface="宋体"/>
                <a:cs typeface="宋体"/>
              </a:rPr>
              <a:t>重量价</a:t>
            </a:r>
            <a:r>
              <a:rPr sz="2400" b="1" spc="-5" dirty="0">
                <a:latin typeface="宋体"/>
                <a:cs typeface="宋体"/>
              </a:rPr>
              <a:t>值</a:t>
            </a:r>
            <a:r>
              <a:rPr sz="2400" b="1" dirty="0">
                <a:latin typeface="宋体"/>
                <a:cs typeface="宋体"/>
              </a:rPr>
              <a:t>大的优</a:t>
            </a:r>
            <a:r>
              <a:rPr sz="2400" b="1" spc="-5" dirty="0">
                <a:latin typeface="宋体"/>
                <a:cs typeface="宋体"/>
              </a:rPr>
              <a:t>先</a:t>
            </a:r>
            <a:r>
              <a:rPr sz="2400" b="1" dirty="0">
                <a:latin typeface="宋体"/>
                <a:cs typeface="宋体"/>
              </a:rPr>
              <a:t>，总重</a:t>
            </a:r>
            <a:r>
              <a:rPr sz="2400" b="1" spc="-5" dirty="0">
                <a:latin typeface="宋体"/>
                <a:cs typeface="宋体"/>
              </a:rPr>
              <a:t>不</a:t>
            </a:r>
            <a:r>
              <a:rPr sz="2400" b="1" spc="-10" dirty="0">
                <a:latin typeface="宋体"/>
                <a:cs typeface="宋体"/>
              </a:rPr>
              <a:t>超</a:t>
            </a:r>
            <a:r>
              <a:rPr sz="2400" b="1" spc="-555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6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714753"/>
            <a:ext cx="15976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按照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6946" y="1714753"/>
            <a:ext cx="51310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从大到小排序：</a:t>
            </a:r>
            <a:r>
              <a:rPr sz="2400" b="1" spc="-5" dirty="0">
                <a:latin typeface="Times New Roman"/>
                <a:cs typeface="Times New Roman"/>
              </a:rPr>
              <a:t>1, </a:t>
            </a:r>
            <a:r>
              <a:rPr sz="2400" b="1" dirty="0">
                <a:latin typeface="Times New Roman"/>
                <a:cs typeface="Times New Roman"/>
              </a:rPr>
              <a:t>2,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0" y="2830505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0" y="0"/>
                </a:moveTo>
                <a:lnTo>
                  <a:pt x="177474" y="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304175" y="2830505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2884" y="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793760" y="2830505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0" y="0"/>
                </a:moveTo>
                <a:lnTo>
                  <a:pt x="172884" y="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283345" y="283050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0" y="0"/>
                </a:moveTo>
                <a:lnTo>
                  <a:pt x="177474" y="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91014" y="1947055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5">
                <a:moveTo>
                  <a:pt x="0" y="0"/>
                </a:moveTo>
                <a:lnTo>
                  <a:pt x="487928" y="0"/>
                </a:lnTo>
              </a:path>
            </a:pathLst>
          </a:custGeom>
          <a:ln w="111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220599" y="1838805"/>
            <a:ext cx="54051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595" dirty="0">
                <a:latin typeface="Times New Roman"/>
                <a:cs typeface="Times New Roman"/>
              </a:rPr>
              <a:t>w</a:t>
            </a:r>
            <a:r>
              <a:rPr sz="2400" b="1" i="1" spc="892" baseline="-25462" dirty="0">
                <a:latin typeface="Times New Roman"/>
                <a:cs typeface="Times New Roman"/>
              </a:rPr>
              <a:t>i</a:t>
            </a:r>
            <a:endParaRPr sz="2400" baseline="-25462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3746" y="1565499"/>
            <a:ext cx="3549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459" dirty="0">
                <a:latin typeface="Times New Roman"/>
                <a:cs typeface="Times New Roman"/>
              </a:rPr>
              <a:t>v</a:t>
            </a:r>
            <a:r>
              <a:rPr sz="2400" b="1" i="1" spc="690" baseline="-25462" dirty="0">
                <a:latin typeface="Times New Roman"/>
                <a:cs typeface="Times New Roman"/>
              </a:rPr>
              <a:t>i</a:t>
            </a:r>
            <a:endParaRPr sz="2400" baseline="-25462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840" y="2350712"/>
            <a:ext cx="8188960" cy="2357056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2000" algn="ctr">
              <a:lnSpc>
                <a:spcPct val="100000"/>
              </a:lnSpc>
              <a:spcBef>
                <a:spcPts val="600"/>
              </a:spcBef>
            </a:pPr>
            <a:r>
              <a:rPr lang="en-US" sz="2400" b="1" spc="5" dirty="0">
                <a:latin typeface="Times New Roman"/>
                <a:cs typeface="Times New Roman"/>
              </a:rPr>
              <a:t> </a:t>
            </a:r>
            <a:r>
              <a:rPr lang="en-US" sz="2400" b="1" spc="5" dirty="0" smtClean="0">
                <a:latin typeface="Times New Roman"/>
                <a:cs typeface="Times New Roman"/>
              </a:rPr>
              <a:t> </a:t>
            </a:r>
            <a:r>
              <a:rPr sz="2400" b="1" spc="5" dirty="0" smtClean="0">
                <a:latin typeface="Times New Roman"/>
                <a:cs typeface="Times New Roman"/>
              </a:rPr>
              <a:t>7 </a:t>
            </a:r>
            <a:r>
              <a:rPr sz="2400" b="1" spc="7" baseline="-36231" dirty="0">
                <a:latin typeface="Symbol"/>
                <a:cs typeface="Symbol"/>
              </a:rPr>
              <a:t></a:t>
            </a:r>
            <a:r>
              <a:rPr sz="2400" b="1" spc="7" baseline="-36231" dirty="0">
                <a:latin typeface="Times New Roman"/>
                <a:cs typeface="Times New Roman"/>
              </a:rPr>
              <a:t> </a:t>
            </a:r>
            <a:r>
              <a:rPr lang="en-US" sz="2400" b="1" spc="7" baseline="-36231" dirty="0" smtClean="0">
                <a:latin typeface="Times New Roman"/>
                <a:cs typeface="Times New Roman"/>
              </a:rPr>
              <a:t>  </a:t>
            </a:r>
            <a:r>
              <a:rPr sz="2400" b="1" spc="5" dirty="0" smtClean="0">
                <a:latin typeface="Times New Roman"/>
                <a:cs typeface="Times New Roman"/>
              </a:rPr>
              <a:t>9 </a:t>
            </a:r>
            <a:r>
              <a:rPr sz="2400" b="1" spc="7" baseline="-36231" dirty="0">
                <a:latin typeface="Symbol"/>
                <a:cs typeface="Symbol"/>
              </a:rPr>
              <a:t></a:t>
            </a:r>
            <a:r>
              <a:rPr sz="2400" b="1" spc="7" baseline="-36231" dirty="0">
                <a:latin typeface="Times New Roman"/>
                <a:cs typeface="Times New Roman"/>
              </a:rPr>
              <a:t> </a:t>
            </a:r>
            <a:r>
              <a:rPr lang="en-US" sz="2400" b="1" spc="7" baseline="-36231" dirty="0" smtClean="0">
                <a:latin typeface="Times New Roman"/>
                <a:cs typeface="Times New Roman"/>
              </a:rPr>
              <a:t>  </a:t>
            </a:r>
            <a:r>
              <a:rPr sz="2400" b="1" spc="5" dirty="0" smtClean="0">
                <a:latin typeface="Times New Roman"/>
                <a:cs typeface="Times New Roman"/>
              </a:rPr>
              <a:t>9 </a:t>
            </a:r>
            <a:r>
              <a:rPr sz="2400" b="1" spc="7" baseline="-36231" dirty="0" smtClean="0">
                <a:latin typeface="Symbol"/>
                <a:cs typeface="Symbol"/>
              </a:rPr>
              <a:t></a:t>
            </a:r>
            <a:r>
              <a:rPr sz="2400" b="1" spc="7" baseline="-36231" dirty="0" smtClean="0">
                <a:latin typeface="Times New Roman"/>
                <a:cs typeface="Times New Roman"/>
              </a:rPr>
              <a:t> </a:t>
            </a:r>
            <a:r>
              <a:rPr sz="2400" b="1" spc="292" baseline="-36231" dirty="0" smtClean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2</a:t>
            </a:r>
            <a:endParaRPr sz="2400" dirty="0">
              <a:latin typeface="Times New Roman"/>
              <a:cs typeface="Times New Roman"/>
            </a:endParaRPr>
          </a:p>
          <a:p>
            <a:pPr marL="394335" algn="ctr">
              <a:lnSpc>
                <a:spcPct val="100000"/>
              </a:lnSpc>
              <a:spcBef>
                <a:spcPts val="500"/>
              </a:spcBef>
              <a:tabLst>
                <a:tab pos="883919" algn="l"/>
                <a:tab pos="1373505" algn="l"/>
                <a:tab pos="1867535" algn="l"/>
              </a:tabLst>
            </a:pPr>
            <a:r>
              <a:rPr sz="2400" b="1" spc="5" dirty="0">
                <a:latin typeface="Times New Roman"/>
                <a:cs typeface="Times New Roman"/>
              </a:rPr>
              <a:t>3	4	5	2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宋体"/>
                <a:cs typeface="宋体"/>
              </a:rPr>
              <a:t>贪心法的解</a:t>
            </a:r>
            <a:r>
              <a:rPr sz="2400" b="1" spc="-10" dirty="0">
                <a:latin typeface="宋体"/>
                <a:cs typeface="宋体"/>
              </a:rPr>
              <a:t>：</a:t>
            </a:r>
            <a:r>
              <a:rPr sz="2400" b="1" spc="-540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{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}</a:t>
            </a:r>
            <a:r>
              <a:rPr sz="2400" b="1" spc="-5" dirty="0">
                <a:latin typeface="宋体"/>
                <a:cs typeface="宋体"/>
              </a:rPr>
              <a:t>，重</a:t>
            </a:r>
            <a:r>
              <a:rPr sz="2400" b="1" spc="-10" dirty="0">
                <a:latin typeface="宋体"/>
                <a:cs typeface="宋体"/>
              </a:rPr>
              <a:t>量</a:t>
            </a:r>
            <a:r>
              <a:rPr sz="2400" b="1" spc="-555" dirty="0">
                <a:latin typeface="宋体"/>
                <a:cs typeface="宋体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5</a:t>
            </a:r>
            <a:r>
              <a:rPr sz="2400" b="1" spc="-5" dirty="0">
                <a:latin typeface="宋体"/>
                <a:cs typeface="宋体"/>
              </a:rPr>
              <a:t>，价值</a:t>
            </a:r>
            <a:r>
              <a:rPr sz="2400" b="1" spc="-10" dirty="0">
                <a:latin typeface="宋体"/>
                <a:cs typeface="宋体"/>
              </a:rPr>
              <a:t>为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9.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400" b="1" spc="-5" dirty="0" err="1">
                <a:latin typeface="宋体"/>
                <a:cs typeface="宋体"/>
              </a:rPr>
              <a:t>更好的解</a:t>
            </a:r>
            <a:r>
              <a:rPr sz="2400" b="1" spc="-5" dirty="0" smtClean="0">
                <a:latin typeface="宋体"/>
                <a:cs typeface="宋体"/>
              </a:rPr>
              <a:t>：</a:t>
            </a:r>
            <a:r>
              <a:rPr lang="en-US" sz="2400" b="1" spc="-5" dirty="0">
                <a:latin typeface="宋体"/>
                <a:cs typeface="宋体"/>
              </a:rPr>
              <a:t> </a:t>
            </a:r>
            <a:r>
              <a:rPr lang="en-US" sz="2400" b="1" spc="-5" dirty="0" smtClean="0">
                <a:latin typeface="宋体"/>
                <a:cs typeface="宋体"/>
              </a:rPr>
              <a:t>  </a:t>
            </a:r>
            <a:r>
              <a:rPr sz="2400" b="1" spc="-5" dirty="0" smtClean="0">
                <a:latin typeface="Times New Roman"/>
                <a:cs typeface="Times New Roman"/>
              </a:rPr>
              <a:t>{</a:t>
            </a:r>
            <a:r>
              <a:rPr sz="2400" b="1" spc="10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}</a:t>
            </a:r>
            <a:r>
              <a:rPr sz="2400" b="1" spc="-5" dirty="0">
                <a:latin typeface="宋体"/>
                <a:cs typeface="宋体"/>
              </a:rPr>
              <a:t>，重</a:t>
            </a:r>
            <a:r>
              <a:rPr sz="2400" b="1" spc="-10" dirty="0">
                <a:latin typeface="宋体"/>
                <a:cs typeface="宋体"/>
              </a:rPr>
              <a:t>量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6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spc="-5" dirty="0" smtClean="0">
                <a:latin typeface="宋体"/>
                <a:cs typeface="宋体"/>
              </a:rPr>
              <a:t>价</a:t>
            </a:r>
            <a:r>
              <a:rPr sz="2400" b="1" spc="-10" dirty="0" smtClean="0">
                <a:latin typeface="宋体"/>
                <a:cs typeface="宋体"/>
              </a:rPr>
              <a:t>值</a:t>
            </a:r>
            <a:r>
              <a:rPr lang="zh-CN" altLang="en-US" sz="2400" b="1" spc="-10" dirty="0" smtClean="0">
                <a:latin typeface="宋体"/>
                <a:cs typeface="宋体"/>
              </a:rPr>
              <a:t>为</a:t>
            </a:r>
            <a:r>
              <a:rPr sz="2400" b="1" spc="-40" dirty="0" smtClean="0">
                <a:latin typeface="Times New Roman"/>
                <a:cs typeface="Times New Roman"/>
              </a:rPr>
              <a:t>11</a:t>
            </a:r>
            <a:r>
              <a:rPr sz="2400" b="1" spc="-4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91000" y="2419732"/>
            <a:ext cx="457200" cy="762000"/>
          </a:xfrm>
          <a:custGeom>
            <a:avLst/>
            <a:gdLst/>
            <a:ahLst/>
            <a:cxnLst/>
            <a:rect l="l" t="t" r="r" b="b"/>
            <a:pathLst>
              <a:path w="457200" h="762000">
                <a:moveTo>
                  <a:pt x="0" y="76200"/>
                </a:move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200" y="0"/>
                </a:lnTo>
                <a:lnTo>
                  <a:pt x="381000" y="0"/>
                </a:lnTo>
                <a:lnTo>
                  <a:pt x="410662" y="5987"/>
                </a:lnTo>
                <a:lnTo>
                  <a:pt x="434882" y="22317"/>
                </a:lnTo>
                <a:lnTo>
                  <a:pt x="451212" y="46537"/>
                </a:lnTo>
                <a:lnTo>
                  <a:pt x="457200" y="76200"/>
                </a:lnTo>
                <a:lnTo>
                  <a:pt x="457200" y="685800"/>
                </a:lnTo>
                <a:lnTo>
                  <a:pt x="451212" y="715462"/>
                </a:lnTo>
                <a:lnTo>
                  <a:pt x="434882" y="739682"/>
                </a:lnTo>
                <a:lnTo>
                  <a:pt x="410662" y="756012"/>
                </a:lnTo>
                <a:lnTo>
                  <a:pt x="381000" y="762000"/>
                </a:lnTo>
                <a:lnTo>
                  <a:pt x="76200" y="762000"/>
                </a:lnTo>
                <a:lnTo>
                  <a:pt x="46537" y="756012"/>
                </a:lnTo>
                <a:lnTo>
                  <a:pt x="22317" y="739682"/>
                </a:lnTo>
                <a:lnTo>
                  <a:pt x="5987" y="715462"/>
                </a:lnTo>
                <a:lnTo>
                  <a:pt x="0" y="685800"/>
                </a:lnTo>
                <a:lnTo>
                  <a:pt x="0" y="762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150229" y="2419732"/>
            <a:ext cx="457200" cy="762000"/>
          </a:xfrm>
          <a:custGeom>
            <a:avLst/>
            <a:gdLst/>
            <a:ahLst/>
            <a:cxnLst/>
            <a:rect l="l" t="t" r="r" b="b"/>
            <a:pathLst>
              <a:path w="457200" h="762000">
                <a:moveTo>
                  <a:pt x="0" y="76200"/>
                </a:move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200" y="0"/>
                </a:lnTo>
                <a:lnTo>
                  <a:pt x="381000" y="0"/>
                </a:lnTo>
                <a:lnTo>
                  <a:pt x="410662" y="5987"/>
                </a:lnTo>
                <a:lnTo>
                  <a:pt x="434882" y="22317"/>
                </a:lnTo>
                <a:lnTo>
                  <a:pt x="451212" y="46537"/>
                </a:lnTo>
                <a:lnTo>
                  <a:pt x="457200" y="76200"/>
                </a:lnTo>
                <a:lnTo>
                  <a:pt x="457200" y="685800"/>
                </a:lnTo>
                <a:lnTo>
                  <a:pt x="451212" y="715462"/>
                </a:lnTo>
                <a:lnTo>
                  <a:pt x="434882" y="739682"/>
                </a:lnTo>
                <a:lnTo>
                  <a:pt x="410662" y="756012"/>
                </a:lnTo>
                <a:lnTo>
                  <a:pt x="381000" y="762000"/>
                </a:lnTo>
                <a:lnTo>
                  <a:pt x="76200" y="762000"/>
                </a:lnTo>
                <a:lnTo>
                  <a:pt x="46537" y="756012"/>
                </a:lnTo>
                <a:lnTo>
                  <a:pt x="22317" y="739682"/>
                </a:lnTo>
                <a:lnTo>
                  <a:pt x="5987" y="715462"/>
                </a:lnTo>
                <a:lnTo>
                  <a:pt x="0" y="685800"/>
                </a:lnTo>
                <a:lnTo>
                  <a:pt x="0" y="762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CB8E39A-2AEE-4F75-9361-6635929F04D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算法设计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47831"/>
            <a:ext cx="8229600" cy="239071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61950" indent="-349885" algn="just">
              <a:lnSpc>
                <a:spcPct val="100000"/>
              </a:lnSpc>
              <a:spcBef>
                <a:spcPts val="1800"/>
              </a:spcBef>
              <a:buFont typeface="Times New Roman"/>
              <a:buAutoNum type="arabicPeriod"/>
              <a:tabLst>
                <a:tab pos="361950" algn="l"/>
                <a:tab pos="362585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问题建模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49885" algn="just">
              <a:lnSpc>
                <a:spcPct val="100000"/>
              </a:lnSpc>
              <a:spcBef>
                <a:spcPts val="1800"/>
              </a:spcBef>
              <a:buFont typeface="Times New Roman"/>
              <a:buAutoNum type="arabicPeriod"/>
              <a:tabLst>
                <a:tab pos="361950" algn="l"/>
                <a:tab pos="362585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选择什么算法？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如何描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述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这个方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法？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315" marR="5080" indent="-349250" algn="just">
              <a:lnSpc>
                <a:spcPct val="122700"/>
              </a:lnSpc>
              <a:spcBef>
                <a:spcPts val="1800"/>
              </a:spcBef>
              <a:buFont typeface="Times New Roman"/>
              <a:buAutoNum type="arabicPeriod"/>
              <a:tabLst>
                <a:tab pos="361950" algn="l"/>
                <a:tab pos="362585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这个方法是否对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所有实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都得到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优解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 如何证明？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49885" algn="just">
              <a:lnSpc>
                <a:spcPct val="100000"/>
              </a:lnSpc>
              <a:spcBef>
                <a:spcPts val="1800"/>
              </a:spcBef>
              <a:buFont typeface="Times New Roman"/>
              <a:buAutoNum type="arabicPeriod"/>
              <a:tabLst>
                <a:tab pos="361950" algn="l"/>
                <a:tab pos="362585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如果不是，能否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找到反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例？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801DD81-D178-4EC0-BE5C-1D8E113C100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2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9715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例2：投资问题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14977"/>
              </p:ext>
            </p:extLst>
          </p:nvPr>
        </p:nvGraphicFramePr>
        <p:xfrm>
          <a:off x="2435608" y="2640478"/>
          <a:ext cx="4269104" cy="2289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9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74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674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7022"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950" b="1" baseline="-21367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950" b="1" baseline="-21367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950" b="1" baseline="-21367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950" b="1" baseline="-21367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7026"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7026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40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0" y="1200150"/>
            <a:ext cx="8229600" cy="148502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R="17780" algn="just"/>
            <a:r>
              <a:rPr sz="2400" b="1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问题</a:t>
            </a:r>
            <a:r>
              <a:rPr sz="2400" b="1" dirty="0" err="1">
                <a:solidFill>
                  <a:srgbClr val="CC3300"/>
                </a:solidFill>
                <a:latin typeface="宋体"/>
                <a:cs typeface="宋体"/>
              </a:rPr>
              <a:t>：</a:t>
            </a:r>
            <a:r>
              <a:rPr sz="2400" b="1" i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元钱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，投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资</a:t>
            </a:r>
            <a:r>
              <a:rPr sz="2400" b="1" spc="-5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个项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目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；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效益函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b="1" i="1" baseline="-21072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7" baseline="-2107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表示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第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个项目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投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元的效益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=1,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2,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…,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n. 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求如何分配每个项目的钱数使得总效益最大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？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400" b="1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实例</a:t>
            </a:r>
            <a:r>
              <a:rPr sz="2400" b="1" spc="-10" dirty="0">
                <a:latin typeface="宋体"/>
                <a:cs typeface="宋体"/>
              </a:rPr>
              <a:t>：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5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万元，投资</a:t>
            </a:r>
            <a:r>
              <a:rPr sz="2400" b="1" spc="-10" dirty="0">
                <a:latin typeface="宋体"/>
                <a:cs typeface="宋体"/>
              </a:rPr>
              <a:t>给</a:t>
            </a:r>
            <a:r>
              <a:rPr sz="2400" b="1" spc="-540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个项目，效益</a:t>
            </a:r>
            <a:r>
              <a:rPr sz="2400" b="1" dirty="0">
                <a:latin typeface="宋体"/>
                <a:cs typeface="宋体"/>
              </a:rPr>
              <a:t>函数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904C2A4-34E4-4446-A48F-8116D28604B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86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" y="246675"/>
            <a:ext cx="82524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问题</a:t>
            </a:r>
            <a:r>
              <a:rPr sz="4400" kern="1200" dirty="0" err="1">
                <a:latin typeface="黑体" pitchFamily="49" charset="-122"/>
                <a:ea typeface="黑体" pitchFamily="49" charset="-122"/>
                <a:cs typeface="Times New Roman" pitchFamily="18" charset="0"/>
              </a:rPr>
              <a:t>建模</a:t>
            </a:r>
            <a:endParaRPr sz="4400" kern="12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" y="1223098"/>
            <a:ext cx="8252460" cy="1501052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255"/>
              </a:spcBef>
              <a:tabLst>
                <a:tab pos="2215515" algn="l"/>
              </a:tabLst>
            </a:pPr>
            <a:r>
              <a:rPr sz="24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输入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i="1" spc="-5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b="1" i="1" spc="-7" baseline="-21072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),	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 ...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-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744220" marR="30480" indent="-706755" algn="just">
              <a:lnSpc>
                <a:spcPct val="121400"/>
              </a:lnSpc>
              <a:spcBef>
                <a:spcPts val="595"/>
              </a:spcBef>
            </a:pPr>
            <a:r>
              <a:rPr sz="2400" b="1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解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维向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量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baseline="-21072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baseline="-21072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&gt;,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baseline="-21072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532" baseline="-2107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第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项目的钱数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使得下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述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条件满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足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：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4700" y="2730870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5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2824" y="3821833"/>
            <a:ext cx="852805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i="1" spc="35" dirty="0">
                <a:latin typeface="Times New Roman"/>
                <a:cs typeface="Times New Roman"/>
              </a:rPr>
              <a:t>x</a:t>
            </a:r>
            <a:r>
              <a:rPr sz="2100" b="1" i="1" spc="52" baseline="-23809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Symbol"/>
                <a:cs typeface="Symbol"/>
              </a:rPr>
              <a:t></a:t>
            </a:r>
            <a:r>
              <a:rPr sz="2400" b="1" spc="-4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7967" y="3617152"/>
            <a:ext cx="1372235" cy="8591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sz="5400" b="1" spc="-15" baseline="-8487" dirty="0">
                <a:latin typeface="Symbol"/>
                <a:cs typeface="Symbol"/>
              </a:rPr>
              <a:t></a:t>
            </a:r>
            <a:r>
              <a:rPr sz="5400" b="1" spc="-15" baseline="-8487" dirty="0">
                <a:latin typeface="Times New Roman"/>
                <a:cs typeface="Times New Roman"/>
              </a:rPr>
              <a:t> </a:t>
            </a:r>
            <a:r>
              <a:rPr sz="2400" b="1" i="1" spc="35" dirty="0">
                <a:latin typeface="Times New Roman"/>
                <a:cs typeface="Times New Roman"/>
              </a:rPr>
              <a:t>x</a:t>
            </a:r>
            <a:r>
              <a:rPr sz="2100" b="1" i="1" spc="52" baseline="-23809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Symbol"/>
                <a:cs typeface="Symbol"/>
              </a:rPr>
              <a:t></a:t>
            </a:r>
            <a:r>
              <a:rPr sz="2400" b="1" spc="-265" dirty="0">
                <a:latin typeface="Times New Roman"/>
                <a:cs typeface="Times New Roman"/>
              </a:rPr>
              <a:t> </a:t>
            </a:r>
            <a:r>
              <a:rPr sz="2400" b="1" i="1" spc="55" dirty="0">
                <a:latin typeface="Times New Roman"/>
                <a:cs typeface="Times New Roman"/>
              </a:rPr>
              <a:t>m</a:t>
            </a:r>
            <a:r>
              <a:rPr sz="2400" b="1" spc="55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60"/>
              </a:spcBef>
            </a:pPr>
            <a:r>
              <a:rPr sz="1400" b="1" i="1" spc="-5" dirty="0">
                <a:latin typeface="Times New Roman"/>
                <a:cs typeface="Times New Roman"/>
              </a:rPr>
              <a:t>i</a:t>
            </a:r>
            <a:r>
              <a:rPr sz="1400" b="1" i="1" spc="-204" dirty="0">
                <a:latin typeface="Times New Roman"/>
                <a:cs typeface="Times New Roman"/>
              </a:rPr>
              <a:t> </a:t>
            </a:r>
            <a:r>
              <a:rPr sz="1400" b="1" spc="15" dirty="0">
                <a:latin typeface="Symbol"/>
                <a:cs typeface="Symbol"/>
              </a:rPr>
              <a:t></a:t>
            </a:r>
            <a:r>
              <a:rPr sz="1400" b="1" spc="15" dirty="0">
                <a:latin typeface="Times New Roman"/>
                <a:cs typeface="Times New Roman"/>
              </a:rPr>
              <a:t>1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0837" y="2717136"/>
            <a:ext cx="1899920" cy="11525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sz="2400" b="1" dirty="0">
                <a:latin typeface="Times New Roman"/>
                <a:cs typeface="Times New Roman"/>
              </a:rPr>
              <a:t>max</a:t>
            </a:r>
            <a:r>
              <a:rPr sz="2400" b="1" spc="-290" dirty="0">
                <a:latin typeface="Times New Roman"/>
                <a:cs typeface="Times New Roman"/>
              </a:rPr>
              <a:t> </a:t>
            </a:r>
            <a:r>
              <a:rPr sz="5400" b="1" spc="-15" baseline="-8487" dirty="0">
                <a:latin typeface="Symbol"/>
                <a:cs typeface="Symbol"/>
              </a:rPr>
              <a:t></a:t>
            </a:r>
            <a:r>
              <a:rPr sz="5400" b="1" spc="-97" baseline="-8487" dirty="0">
                <a:latin typeface="Times New Roman"/>
                <a:cs typeface="Times New Roman"/>
              </a:rPr>
              <a:t> </a:t>
            </a:r>
            <a:r>
              <a:rPr sz="2400" b="1" i="1" spc="75" dirty="0">
                <a:latin typeface="Times New Roman"/>
                <a:cs typeface="Times New Roman"/>
              </a:rPr>
              <a:t>f</a:t>
            </a:r>
            <a:r>
              <a:rPr sz="2100" b="1" i="1" spc="112" baseline="-23809" dirty="0">
                <a:latin typeface="Times New Roman"/>
                <a:cs typeface="Times New Roman"/>
              </a:rPr>
              <a:t>i</a:t>
            </a:r>
            <a:r>
              <a:rPr sz="2100" b="1" i="1" spc="-60" baseline="-23809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spc="-325" dirty="0">
                <a:latin typeface="Times New Roman"/>
                <a:cs typeface="Times New Roman"/>
              </a:rPr>
              <a:t> </a:t>
            </a:r>
            <a:r>
              <a:rPr sz="2400" b="1" i="1" spc="35" dirty="0">
                <a:latin typeface="Times New Roman"/>
                <a:cs typeface="Times New Roman"/>
              </a:rPr>
              <a:t>x</a:t>
            </a:r>
            <a:r>
              <a:rPr sz="2100" b="1" i="1" spc="52" baseline="-23809" dirty="0">
                <a:latin typeface="Times New Roman"/>
                <a:cs typeface="Times New Roman"/>
              </a:rPr>
              <a:t>i</a:t>
            </a:r>
            <a:r>
              <a:rPr sz="2100" b="1" i="1" spc="44" baseline="-23809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),</a:t>
            </a:r>
            <a:endParaRPr sz="2400">
              <a:latin typeface="Times New Roman"/>
              <a:cs typeface="Times New Roman"/>
            </a:endParaRPr>
          </a:p>
          <a:p>
            <a:pPr marR="272415" algn="ctr">
              <a:lnSpc>
                <a:spcPct val="100000"/>
              </a:lnSpc>
              <a:spcBef>
                <a:spcPts val="160"/>
              </a:spcBef>
            </a:pPr>
            <a:r>
              <a:rPr sz="1400" b="1" i="1" spc="-5" dirty="0">
                <a:latin typeface="Times New Roman"/>
                <a:cs typeface="Times New Roman"/>
              </a:rPr>
              <a:t>i</a:t>
            </a:r>
            <a:r>
              <a:rPr sz="1400" b="1" i="1" spc="-204" dirty="0">
                <a:latin typeface="Times New Roman"/>
                <a:cs typeface="Times New Roman"/>
              </a:rPr>
              <a:t> </a:t>
            </a:r>
            <a:r>
              <a:rPr sz="1400" b="1" spc="15" dirty="0">
                <a:latin typeface="Symbol"/>
                <a:cs typeface="Symbol"/>
              </a:rPr>
              <a:t></a:t>
            </a:r>
            <a:r>
              <a:rPr sz="1400" b="1" spc="15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R="1468120" algn="ctr">
              <a:lnSpc>
                <a:spcPct val="100000"/>
              </a:lnSpc>
              <a:spcBef>
                <a:spcPts val="625"/>
              </a:spcBef>
            </a:pPr>
            <a:r>
              <a:rPr sz="1400" b="1" i="1" spc="-5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4359" y="2908661"/>
            <a:ext cx="13694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目标函数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2200" y="3822522"/>
            <a:ext cx="13694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约束条件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33600" y="2724150"/>
            <a:ext cx="4800600" cy="1905000"/>
          </a:xfrm>
          <a:custGeom>
            <a:avLst/>
            <a:gdLst/>
            <a:ahLst/>
            <a:cxnLst/>
            <a:rect l="l" t="t" r="r" b="b"/>
            <a:pathLst>
              <a:path w="4800600" h="1905000">
                <a:moveTo>
                  <a:pt x="0" y="317500"/>
                </a:move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4483100" y="0"/>
                </a:lnTo>
                <a:lnTo>
                  <a:pt x="4530017" y="3442"/>
                </a:lnTo>
                <a:lnTo>
                  <a:pt x="4574797" y="13442"/>
                </a:lnTo>
                <a:lnTo>
                  <a:pt x="4616949" y="29509"/>
                </a:lnTo>
                <a:lnTo>
                  <a:pt x="4655981" y="51151"/>
                </a:lnTo>
                <a:lnTo>
                  <a:pt x="4691402" y="77877"/>
                </a:lnTo>
                <a:lnTo>
                  <a:pt x="4722722" y="109197"/>
                </a:lnTo>
                <a:lnTo>
                  <a:pt x="4749448" y="144618"/>
                </a:lnTo>
                <a:lnTo>
                  <a:pt x="4771090" y="183650"/>
                </a:lnTo>
                <a:lnTo>
                  <a:pt x="4787157" y="225802"/>
                </a:lnTo>
                <a:lnTo>
                  <a:pt x="4797157" y="270582"/>
                </a:lnTo>
                <a:lnTo>
                  <a:pt x="4800600" y="317500"/>
                </a:lnTo>
                <a:lnTo>
                  <a:pt x="4800600" y="1587487"/>
                </a:lnTo>
                <a:lnTo>
                  <a:pt x="4797157" y="1634407"/>
                </a:lnTo>
                <a:lnTo>
                  <a:pt x="4787157" y="1679190"/>
                </a:lnTo>
                <a:lnTo>
                  <a:pt x="4771090" y="1721344"/>
                </a:lnTo>
                <a:lnTo>
                  <a:pt x="4749448" y="1760378"/>
                </a:lnTo>
                <a:lnTo>
                  <a:pt x="4722722" y="1795800"/>
                </a:lnTo>
                <a:lnTo>
                  <a:pt x="4691402" y="1827120"/>
                </a:lnTo>
                <a:lnTo>
                  <a:pt x="4655981" y="1853847"/>
                </a:lnTo>
                <a:lnTo>
                  <a:pt x="4616949" y="1875490"/>
                </a:lnTo>
                <a:lnTo>
                  <a:pt x="4574797" y="1891557"/>
                </a:lnTo>
                <a:lnTo>
                  <a:pt x="4530017" y="1901557"/>
                </a:lnTo>
                <a:lnTo>
                  <a:pt x="4483100" y="1905000"/>
                </a:lnTo>
                <a:lnTo>
                  <a:pt x="317500" y="1905000"/>
                </a:lnTo>
                <a:lnTo>
                  <a:pt x="270582" y="1901557"/>
                </a:lnTo>
                <a:lnTo>
                  <a:pt x="225802" y="1891557"/>
                </a:lnTo>
                <a:lnTo>
                  <a:pt x="183650" y="1875490"/>
                </a:lnTo>
                <a:lnTo>
                  <a:pt x="144618" y="1853847"/>
                </a:lnTo>
                <a:lnTo>
                  <a:pt x="109197" y="1827120"/>
                </a:lnTo>
                <a:lnTo>
                  <a:pt x="77877" y="1795800"/>
                </a:lnTo>
                <a:lnTo>
                  <a:pt x="51151" y="1760378"/>
                </a:lnTo>
                <a:lnTo>
                  <a:pt x="29509" y="1721344"/>
                </a:lnTo>
                <a:lnTo>
                  <a:pt x="13442" y="1679190"/>
                </a:lnTo>
                <a:lnTo>
                  <a:pt x="3442" y="1634407"/>
                </a:lnTo>
                <a:lnTo>
                  <a:pt x="0" y="1587487"/>
                </a:lnTo>
                <a:lnTo>
                  <a:pt x="0" y="3175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C66758B-02F6-40A9-93A2-F9C567A37A79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9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" y="183515"/>
            <a:ext cx="82524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蛮力算法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340" y="1217553"/>
            <a:ext cx="8252460" cy="2987997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400" b="1" spc="-5" dirty="0">
                <a:latin typeface="宋体"/>
                <a:cs typeface="宋体"/>
              </a:rPr>
              <a:t>对所有满足下</a:t>
            </a:r>
            <a:r>
              <a:rPr sz="2400" b="1" dirty="0">
                <a:latin typeface="宋体"/>
                <a:cs typeface="宋体"/>
              </a:rPr>
              <a:t>述条件</a:t>
            </a:r>
            <a:r>
              <a:rPr sz="2400" b="1" spc="-5" dirty="0">
                <a:latin typeface="宋体"/>
                <a:cs typeface="宋体"/>
              </a:rPr>
              <a:t>的</a:t>
            </a:r>
            <a:r>
              <a:rPr sz="2400" b="1" dirty="0">
                <a:latin typeface="宋体"/>
                <a:cs typeface="宋体"/>
              </a:rPr>
              <a:t>向</a:t>
            </a:r>
            <a:r>
              <a:rPr sz="2400" b="1" spc="520" dirty="0">
                <a:latin typeface="宋体"/>
                <a:cs typeface="宋体"/>
              </a:rPr>
              <a:t>量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sz="2400" b="1" baseline="-21072" dirty="0" smtClean="0">
                <a:latin typeface="Times New Roman"/>
                <a:cs typeface="Times New Roman"/>
              </a:rPr>
              <a:t>1</a:t>
            </a:r>
            <a:r>
              <a:rPr lang="en-US" sz="2400" b="1" baseline="-21072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b="1" dirty="0" smtClean="0">
                <a:latin typeface="Times New Roman"/>
                <a:cs typeface="Times New Roman"/>
              </a:rPr>
              <a:t>  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sz="2400" b="1" baseline="-21072" dirty="0" smtClean="0">
                <a:latin typeface="Times New Roman"/>
                <a:cs typeface="Times New Roman"/>
              </a:rPr>
              <a:t>2</a:t>
            </a:r>
            <a:r>
              <a:rPr lang="en-US" sz="2400" b="1" baseline="-21072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…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b="1" dirty="0" smtClean="0">
                <a:latin typeface="Times New Roman"/>
                <a:cs typeface="Times New Roman"/>
              </a:rPr>
              <a:t>  </a:t>
            </a:r>
            <a:r>
              <a:rPr sz="2400" b="1" i="1" dirty="0" err="1" smtClean="0">
                <a:latin typeface="Times New Roman"/>
                <a:cs typeface="Times New Roman"/>
              </a:rPr>
              <a:t>x</a:t>
            </a:r>
            <a:r>
              <a:rPr sz="2400" b="1" i="1" baseline="-21072" dirty="0" err="1" smtClean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endParaRPr sz="2400" dirty="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625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       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sz="2400" b="1" baseline="-21072" dirty="0" smtClean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Times New Roman"/>
                <a:cs typeface="Times New Roman"/>
              </a:rPr>
              <a:t>+ … +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baseline="-21072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m</a:t>
            </a:r>
            <a:endParaRPr sz="2400" dirty="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630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       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sz="2400" b="1" i="1" baseline="-21072" dirty="0" smtClean="0">
                <a:latin typeface="Times New Roman"/>
                <a:cs typeface="Times New Roman"/>
              </a:rPr>
              <a:t>i</a:t>
            </a:r>
            <a:r>
              <a:rPr sz="2400" b="1" i="1" spc="-15" baseline="-21072" dirty="0" smtClean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为非负整</a:t>
            </a:r>
            <a:r>
              <a:rPr sz="2400" b="1" spc="-10" dirty="0">
                <a:latin typeface="宋体"/>
                <a:cs typeface="宋体"/>
              </a:rPr>
              <a:t>数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lang="en-US" sz="2400" b="1" spc="15" dirty="0" smtClean="0">
                <a:latin typeface="Times New Roman"/>
                <a:cs typeface="Times New Roman"/>
              </a:rPr>
              <a:t> </a:t>
            </a:r>
            <a:r>
              <a:rPr sz="2400" b="1" i="1" dirty="0" smtClean="0">
                <a:latin typeface="Times New Roman"/>
                <a:cs typeface="Times New Roman"/>
              </a:rPr>
              <a:t>i</a:t>
            </a:r>
            <a:r>
              <a:rPr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...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sz="2400" b="1" spc="-20" dirty="0" smtClean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45"/>
              </a:spcBef>
            </a:pPr>
            <a:r>
              <a:rPr sz="2400" b="1" spc="-5" dirty="0">
                <a:latin typeface="宋体"/>
                <a:cs typeface="宋体"/>
              </a:rPr>
              <a:t>计算相应的效益</a:t>
            </a:r>
            <a:endParaRPr sz="2400" dirty="0">
              <a:latin typeface="宋体"/>
              <a:cs typeface="宋体"/>
            </a:endParaRPr>
          </a:p>
          <a:p>
            <a:pPr marL="1053465">
              <a:lnSpc>
                <a:spcPct val="100000"/>
              </a:lnSpc>
              <a:spcBef>
                <a:spcPts val="575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       </a:t>
            </a:r>
            <a:r>
              <a:rPr sz="2400" b="1" i="1" dirty="0" smtClean="0">
                <a:latin typeface="Times New Roman"/>
                <a:cs typeface="Times New Roman"/>
              </a:rPr>
              <a:t>f</a:t>
            </a:r>
            <a:r>
              <a:rPr sz="2400" b="1" baseline="-21072" dirty="0" smtClean="0">
                <a:latin typeface="Times New Roman"/>
                <a:cs typeface="Times New Roman"/>
              </a:rPr>
              <a:t>1</a:t>
            </a:r>
            <a:r>
              <a:rPr sz="2400" b="1" dirty="0" smtClean="0">
                <a:latin typeface="Times New Roman"/>
                <a:cs typeface="Times New Roman"/>
              </a:rPr>
              <a:t>(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sz="2400" b="1" baseline="-21072" dirty="0" smtClean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) +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baseline="-21072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) + … +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baseline="-21072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baseline="-21072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825"/>
              </a:spcBef>
            </a:pPr>
            <a:r>
              <a:rPr sz="2400" b="1" spc="-5" dirty="0" err="1" smtClean="0">
                <a:latin typeface="宋体"/>
                <a:cs typeface="宋体"/>
              </a:rPr>
              <a:t>从中确认效益</a:t>
            </a:r>
            <a:r>
              <a:rPr sz="2400" b="1" dirty="0" err="1" smtClean="0">
                <a:latin typeface="宋体"/>
                <a:cs typeface="宋体"/>
              </a:rPr>
              <a:t>最大的</a:t>
            </a:r>
            <a:r>
              <a:rPr sz="2400" b="1" spc="-5" dirty="0" err="1" smtClean="0">
                <a:latin typeface="宋体"/>
                <a:cs typeface="宋体"/>
              </a:rPr>
              <a:t>向</a:t>
            </a:r>
            <a:r>
              <a:rPr sz="2400" b="1" spc="-10" dirty="0" err="1" smtClean="0">
                <a:latin typeface="宋体"/>
                <a:cs typeface="宋体"/>
              </a:rPr>
              <a:t>量</a:t>
            </a:r>
            <a:r>
              <a:rPr lang="zh-CN" altLang="en-US" sz="2400" b="1" spc="-10" dirty="0" smtClean="0">
                <a:latin typeface="宋体"/>
                <a:cs typeface="宋体"/>
              </a:rPr>
              <a:t>。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06ECE1D-A859-47F1-8D89-DA2804257EA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65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9715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实例计算</a:t>
            </a:r>
          </a:p>
        </p:txBody>
      </p:sp>
      <p:sp>
        <p:nvSpPr>
          <p:cNvPr id="3" name="object 3"/>
          <p:cNvSpPr/>
          <p:nvPr/>
        </p:nvSpPr>
        <p:spPr>
          <a:xfrm>
            <a:off x="931862" y="2173287"/>
            <a:ext cx="606425" cy="354330"/>
          </a:xfrm>
          <a:custGeom>
            <a:avLst/>
            <a:gdLst/>
            <a:ahLst/>
            <a:cxnLst/>
            <a:rect l="l" t="t" r="r" b="b"/>
            <a:pathLst>
              <a:path w="606425" h="354330">
                <a:moveTo>
                  <a:pt x="0" y="0"/>
                </a:moveTo>
                <a:lnTo>
                  <a:pt x="606425" y="0"/>
                </a:lnTo>
                <a:lnTo>
                  <a:pt x="606425" y="354012"/>
                </a:lnTo>
                <a:lnTo>
                  <a:pt x="0" y="354012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47962" y="2173287"/>
            <a:ext cx="605155" cy="354330"/>
          </a:xfrm>
          <a:custGeom>
            <a:avLst/>
            <a:gdLst/>
            <a:ahLst/>
            <a:cxnLst/>
            <a:rect l="l" t="t" r="r" b="b"/>
            <a:pathLst>
              <a:path w="605155" h="354330">
                <a:moveTo>
                  <a:pt x="0" y="0"/>
                </a:moveTo>
                <a:lnTo>
                  <a:pt x="604837" y="0"/>
                </a:lnTo>
                <a:lnTo>
                  <a:pt x="604837" y="354012"/>
                </a:lnTo>
                <a:lnTo>
                  <a:pt x="0" y="354012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43125" y="2881312"/>
            <a:ext cx="605155" cy="354330"/>
          </a:xfrm>
          <a:custGeom>
            <a:avLst/>
            <a:gdLst/>
            <a:ahLst/>
            <a:cxnLst/>
            <a:rect l="l" t="t" r="r" b="b"/>
            <a:pathLst>
              <a:path w="605155" h="354330">
                <a:moveTo>
                  <a:pt x="0" y="0"/>
                </a:moveTo>
                <a:lnTo>
                  <a:pt x="604837" y="0"/>
                </a:lnTo>
                <a:lnTo>
                  <a:pt x="604837" y="354012"/>
                </a:lnTo>
                <a:lnTo>
                  <a:pt x="0" y="354012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85438"/>
              </p:ext>
            </p:extLst>
          </p:nvPr>
        </p:nvGraphicFramePr>
        <p:xfrm>
          <a:off x="603250" y="1344612"/>
          <a:ext cx="2747009" cy="2592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70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i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b="1" i="1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="1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4012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4011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4012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4011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4012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4012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40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5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886200" y="1262422"/>
            <a:ext cx="5257800" cy="2878223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944"/>
              </a:spcBef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1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3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1072" dirty="0">
                <a:latin typeface="Times New Roman"/>
                <a:cs typeface="Times New Roman"/>
              </a:rPr>
              <a:t>4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5</a:t>
            </a:r>
            <a:endParaRPr sz="2400" dirty="0">
              <a:latin typeface="Times New Roman"/>
              <a:cs typeface="Times New Roman"/>
            </a:endParaRPr>
          </a:p>
          <a:p>
            <a:pPr marL="63500" indent="17145">
              <a:lnSpc>
                <a:spcPct val="100000"/>
              </a:lnSpc>
              <a:spcBef>
                <a:spcPts val="844"/>
              </a:spcBef>
            </a:pP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spc="-7" baseline="-21072" dirty="0">
                <a:latin typeface="Times New Roman"/>
                <a:cs typeface="Times New Roman"/>
              </a:rPr>
              <a:t>1</a:t>
            </a:r>
            <a:r>
              <a:rPr sz="2400" b="1" spc="-5" dirty="0">
                <a:latin typeface="Times New Roman"/>
                <a:cs typeface="Times New Roman"/>
              </a:rPr>
              <a:t>=&lt;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5</a:t>
            </a:r>
            <a:r>
              <a:rPr sz="2400" b="1" spc="-5" dirty="0">
                <a:latin typeface="Times New Roman"/>
                <a:cs typeface="Times New Roman"/>
              </a:rPr>
              <a:t>&gt;,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baseline="-21072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)=24</a:t>
            </a:r>
            <a:endParaRPr sz="2400" dirty="0">
              <a:latin typeface="Times New Roman"/>
              <a:cs typeface="Times New Roman"/>
            </a:endParaRPr>
          </a:p>
          <a:p>
            <a:pPr marL="63500" marR="220345">
              <a:lnSpc>
                <a:spcPct val="142000"/>
              </a:lnSpc>
              <a:spcBef>
                <a:spcPts val="1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spc="-7" baseline="-21072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=&lt;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1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4</a:t>
            </a:r>
            <a:r>
              <a:rPr sz="2400" b="1" spc="-5" dirty="0">
                <a:latin typeface="Times New Roman"/>
                <a:cs typeface="Times New Roman"/>
              </a:rPr>
              <a:t>&gt;,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baseline="-21072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)=25 </a:t>
            </a:r>
            <a:endParaRPr lang="en-US" sz="2400" b="1" dirty="0" smtClean="0">
              <a:latin typeface="Times New Roman"/>
              <a:cs typeface="Times New Roman"/>
            </a:endParaRPr>
          </a:p>
          <a:p>
            <a:pPr marL="63500" marR="220345">
              <a:lnSpc>
                <a:spcPct val="142000"/>
              </a:lnSpc>
              <a:spcBef>
                <a:spcPts val="15"/>
              </a:spcBef>
            </a:pPr>
            <a:r>
              <a:rPr sz="2400" b="1" i="1" spc="-5" dirty="0" smtClean="0">
                <a:latin typeface="Times New Roman"/>
                <a:cs typeface="Times New Roman"/>
              </a:rPr>
              <a:t>s</a:t>
            </a:r>
            <a:r>
              <a:rPr sz="2400" b="1" spc="-7" baseline="-21072" dirty="0" smtClean="0">
                <a:latin typeface="Times New Roman"/>
                <a:cs typeface="Times New Roman"/>
              </a:rPr>
              <a:t>3</a:t>
            </a:r>
            <a:r>
              <a:rPr sz="2400" b="1" spc="-5" dirty="0">
                <a:latin typeface="Times New Roman"/>
                <a:cs typeface="Times New Roman"/>
              </a:rPr>
              <a:t>=&lt;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2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3</a:t>
            </a:r>
            <a:r>
              <a:rPr sz="2400" b="1" spc="-5" dirty="0">
                <a:latin typeface="Times New Roman"/>
                <a:cs typeface="Times New Roman"/>
              </a:rPr>
              <a:t>&gt;,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baseline="-21072" dirty="0">
                <a:latin typeface="Times New Roman"/>
                <a:cs typeface="Times New Roman"/>
              </a:rPr>
              <a:t>3</a:t>
            </a:r>
            <a:r>
              <a:rPr sz="2400" b="1" dirty="0">
                <a:latin typeface="Times New Roman"/>
                <a:cs typeface="Times New Roman"/>
              </a:rPr>
              <a:t>)=32</a:t>
            </a:r>
            <a:endParaRPr sz="2400" dirty="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  <a:spcBef>
                <a:spcPts val="530"/>
              </a:spcBef>
            </a:pPr>
            <a:r>
              <a:rPr sz="2400" b="1" dirty="0"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80"/>
              </a:spcBef>
            </a:pP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baseline="-21072" dirty="0">
                <a:latin typeface="Times New Roman"/>
                <a:cs typeface="Times New Roman"/>
              </a:rPr>
              <a:t>56</a:t>
            </a:r>
            <a:r>
              <a:rPr sz="2400" b="1" spc="-7" baseline="-21072" dirty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=&lt;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5,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&gt;,</a:t>
            </a:r>
            <a:r>
              <a:rPr sz="2400" b="1" i="1" spc="-5" dirty="0">
                <a:latin typeface="Times New Roman"/>
                <a:cs typeface="Times New Roman"/>
              </a:rPr>
              <a:t>v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spc="-7" baseline="-21072" dirty="0">
                <a:latin typeface="Times New Roman"/>
                <a:cs typeface="Times New Roman"/>
              </a:rPr>
              <a:t>56</a:t>
            </a:r>
            <a:r>
              <a:rPr sz="2400" b="1" spc="-5" dirty="0">
                <a:latin typeface="Times New Roman"/>
                <a:cs typeface="Times New Roman"/>
              </a:rPr>
              <a:t>)=15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4270311"/>
            <a:ext cx="853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解：</a:t>
            </a: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spc="-5" dirty="0">
                <a:latin typeface="Times New Roman"/>
                <a:cs typeface="Times New Roman"/>
              </a:rPr>
              <a:t>=&lt;</a:t>
            </a:r>
            <a:r>
              <a:rPr sz="2400" b="1" spc="-5" dirty="0" smtClean="0">
                <a:latin typeface="Times New Roman"/>
                <a:cs typeface="Times New Roman"/>
              </a:rPr>
              <a:t>1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0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3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1&gt;</a:t>
            </a:r>
            <a:r>
              <a:rPr lang="zh-CN" altLang="en-US" sz="2400" b="1" spc="-5" dirty="0" smtClean="0">
                <a:latin typeface="Times New Roman"/>
                <a:cs typeface="Times New Roman"/>
              </a:rPr>
              <a:t>，</a:t>
            </a:r>
            <a:r>
              <a:rPr sz="2400" b="1" spc="-5" dirty="0" smtClean="0">
                <a:latin typeface="宋体"/>
                <a:cs typeface="宋体"/>
              </a:rPr>
              <a:t>最大效益</a:t>
            </a:r>
            <a:r>
              <a:rPr sz="2400" b="1" spc="-15" dirty="0">
                <a:latin typeface="宋体"/>
                <a:cs typeface="宋体"/>
              </a:rPr>
              <a:t>：</a:t>
            </a:r>
            <a:r>
              <a:rPr sz="2400" b="1" spc="-15" dirty="0">
                <a:latin typeface="Times New Roman"/>
                <a:cs typeface="Times New Roman"/>
              </a:rPr>
              <a:t>11+30+20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61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980" y="2191132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38100"/>
                </a:move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419100" y="0"/>
                </a:lnTo>
                <a:lnTo>
                  <a:pt x="433931" y="2993"/>
                </a:lnTo>
                <a:lnTo>
                  <a:pt x="446041" y="11158"/>
                </a:lnTo>
                <a:lnTo>
                  <a:pt x="454206" y="23268"/>
                </a:lnTo>
                <a:lnTo>
                  <a:pt x="457200" y="38100"/>
                </a:lnTo>
                <a:lnTo>
                  <a:pt x="457200" y="190500"/>
                </a:lnTo>
                <a:lnTo>
                  <a:pt x="454206" y="205331"/>
                </a:lnTo>
                <a:lnTo>
                  <a:pt x="446041" y="217441"/>
                </a:lnTo>
                <a:lnTo>
                  <a:pt x="433931" y="225606"/>
                </a:lnTo>
                <a:lnTo>
                  <a:pt x="419100" y="228600"/>
                </a:lnTo>
                <a:lnTo>
                  <a:pt x="38100" y="228600"/>
                </a:lnTo>
                <a:lnTo>
                  <a:pt x="23268" y="225606"/>
                </a:lnTo>
                <a:lnTo>
                  <a:pt x="11158" y="217441"/>
                </a:lnTo>
                <a:lnTo>
                  <a:pt x="2993" y="205331"/>
                </a:lnTo>
                <a:lnTo>
                  <a:pt x="0" y="190500"/>
                </a:lnTo>
                <a:lnTo>
                  <a:pt x="0" y="38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0180" y="2876932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38100"/>
                </a:move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419100" y="0"/>
                </a:lnTo>
                <a:lnTo>
                  <a:pt x="433931" y="2993"/>
                </a:lnTo>
                <a:lnTo>
                  <a:pt x="446041" y="11158"/>
                </a:lnTo>
                <a:lnTo>
                  <a:pt x="454206" y="23268"/>
                </a:lnTo>
                <a:lnTo>
                  <a:pt x="457200" y="38100"/>
                </a:lnTo>
                <a:lnTo>
                  <a:pt x="457200" y="190500"/>
                </a:lnTo>
                <a:lnTo>
                  <a:pt x="454206" y="205331"/>
                </a:lnTo>
                <a:lnTo>
                  <a:pt x="446041" y="217441"/>
                </a:lnTo>
                <a:lnTo>
                  <a:pt x="433931" y="225606"/>
                </a:lnTo>
                <a:lnTo>
                  <a:pt x="419100" y="228600"/>
                </a:lnTo>
                <a:lnTo>
                  <a:pt x="38100" y="228600"/>
                </a:lnTo>
                <a:lnTo>
                  <a:pt x="23268" y="225606"/>
                </a:lnTo>
                <a:lnTo>
                  <a:pt x="11158" y="217441"/>
                </a:lnTo>
                <a:lnTo>
                  <a:pt x="2993" y="205331"/>
                </a:lnTo>
                <a:lnTo>
                  <a:pt x="0" y="190500"/>
                </a:lnTo>
                <a:lnTo>
                  <a:pt x="0" y="38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19780" y="2191132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38100"/>
                </a:move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419100" y="0"/>
                </a:lnTo>
                <a:lnTo>
                  <a:pt x="433931" y="2993"/>
                </a:lnTo>
                <a:lnTo>
                  <a:pt x="446041" y="11158"/>
                </a:lnTo>
                <a:lnTo>
                  <a:pt x="454206" y="23268"/>
                </a:lnTo>
                <a:lnTo>
                  <a:pt x="457200" y="38100"/>
                </a:lnTo>
                <a:lnTo>
                  <a:pt x="457200" y="190500"/>
                </a:lnTo>
                <a:lnTo>
                  <a:pt x="454206" y="205331"/>
                </a:lnTo>
                <a:lnTo>
                  <a:pt x="446041" y="217441"/>
                </a:lnTo>
                <a:lnTo>
                  <a:pt x="433931" y="225606"/>
                </a:lnTo>
                <a:lnTo>
                  <a:pt x="419100" y="228600"/>
                </a:lnTo>
                <a:lnTo>
                  <a:pt x="38100" y="228600"/>
                </a:lnTo>
                <a:lnTo>
                  <a:pt x="23268" y="225606"/>
                </a:lnTo>
                <a:lnTo>
                  <a:pt x="11158" y="217441"/>
                </a:lnTo>
                <a:lnTo>
                  <a:pt x="2993" y="205331"/>
                </a:lnTo>
                <a:lnTo>
                  <a:pt x="0" y="190500"/>
                </a:lnTo>
                <a:lnTo>
                  <a:pt x="0" y="38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A5BD852-86F1-4738-B8B2-70BACF49900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7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9715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蛮力算法的效率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217454"/>
            <a:ext cx="8229600" cy="188769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方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程</a:t>
            </a:r>
            <a:r>
              <a:rPr sz="2400" b="1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baseline="-20833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spc="-15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4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baseline="-20833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400" b="1" spc="-15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4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baseline="-20833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22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的非负整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解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baseline="-20833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baseline="-20833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7" baseline="-20833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spc="-7" baseline="-20833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baseline="-20833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22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的个数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估计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：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 marL="28575">
              <a:lnSpc>
                <a:spcPct val="100000"/>
              </a:lnSpc>
              <a:spcBef>
                <a:spcPts val="1890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可行解表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示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成</a:t>
            </a:r>
            <a:r>
              <a:rPr sz="2400" b="1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0-1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序列：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个1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4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489584">
              <a:lnSpc>
                <a:spcPct val="100000"/>
              </a:lnSpc>
              <a:spcBef>
                <a:spcPts val="600"/>
              </a:spcBef>
              <a:tabLst>
                <a:tab pos="3308985" algn="l"/>
              </a:tabLst>
            </a:pPr>
            <a:r>
              <a:rPr lang="en-US" sz="2400" b="1" dirty="0" smtClean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400" b="1" dirty="0" smtClean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sz="24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. . . 1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sz="24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1 . . . 1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 . . .	0 </a:t>
            </a:r>
            <a:r>
              <a:rPr sz="24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1 . . .</a:t>
            </a:r>
            <a:r>
              <a:rPr sz="2400" b="1" spc="-30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" name="object 4"/>
          <p:cNvSpPr/>
          <p:nvPr/>
        </p:nvSpPr>
        <p:spPr>
          <a:xfrm>
            <a:off x="2362200" y="2838830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723900" y="0"/>
                </a:moveTo>
                <a:lnTo>
                  <a:pt x="722651" y="37074"/>
                </a:lnTo>
                <a:lnTo>
                  <a:pt x="719248" y="67351"/>
                </a:lnTo>
                <a:lnTo>
                  <a:pt x="714202" y="87764"/>
                </a:lnTo>
                <a:lnTo>
                  <a:pt x="708025" y="95250"/>
                </a:lnTo>
                <a:lnTo>
                  <a:pt x="365963" y="95250"/>
                </a:lnTo>
                <a:lnTo>
                  <a:pt x="359780" y="102735"/>
                </a:lnTo>
                <a:lnTo>
                  <a:pt x="354734" y="123148"/>
                </a:lnTo>
                <a:lnTo>
                  <a:pt x="351334" y="153425"/>
                </a:lnTo>
                <a:lnTo>
                  <a:pt x="350088" y="190500"/>
                </a:lnTo>
                <a:lnTo>
                  <a:pt x="348840" y="153425"/>
                </a:lnTo>
                <a:lnTo>
                  <a:pt x="345436" y="123148"/>
                </a:lnTo>
                <a:lnTo>
                  <a:pt x="340390" y="102735"/>
                </a:lnTo>
                <a:lnTo>
                  <a:pt x="334213" y="95250"/>
                </a:lnTo>
                <a:lnTo>
                  <a:pt x="15875" y="95250"/>
                </a:lnTo>
                <a:lnTo>
                  <a:pt x="9697" y="87764"/>
                </a:lnTo>
                <a:lnTo>
                  <a:pt x="4651" y="67351"/>
                </a:lnTo>
                <a:lnTo>
                  <a:pt x="1248" y="37074"/>
                </a:lnTo>
                <a:lnTo>
                  <a:pt x="0" y="0"/>
                </a:lnTo>
              </a:path>
            </a:pathLst>
          </a:custGeom>
          <a:ln w="990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5" name="object 5"/>
          <p:cNvSpPr/>
          <p:nvPr/>
        </p:nvSpPr>
        <p:spPr>
          <a:xfrm>
            <a:off x="1219200" y="2838830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723900" y="0"/>
                </a:moveTo>
                <a:lnTo>
                  <a:pt x="722651" y="37074"/>
                </a:lnTo>
                <a:lnTo>
                  <a:pt x="719248" y="67351"/>
                </a:lnTo>
                <a:lnTo>
                  <a:pt x="714202" y="87764"/>
                </a:lnTo>
                <a:lnTo>
                  <a:pt x="708025" y="95250"/>
                </a:lnTo>
                <a:lnTo>
                  <a:pt x="365963" y="95250"/>
                </a:lnTo>
                <a:lnTo>
                  <a:pt x="359780" y="102735"/>
                </a:lnTo>
                <a:lnTo>
                  <a:pt x="354734" y="123148"/>
                </a:lnTo>
                <a:lnTo>
                  <a:pt x="351334" y="153425"/>
                </a:lnTo>
                <a:lnTo>
                  <a:pt x="350088" y="190500"/>
                </a:lnTo>
                <a:lnTo>
                  <a:pt x="348840" y="153425"/>
                </a:lnTo>
                <a:lnTo>
                  <a:pt x="345436" y="123148"/>
                </a:lnTo>
                <a:lnTo>
                  <a:pt x="340390" y="102735"/>
                </a:lnTo>
                <a:lnTo>
                  <a:pt x="334213" y="95250"/>
                </a:lnTo>
                <a:lnTo>
                  <a:pt x="15875" y="95250"/>
                </a:lnTo>
                <a:lnTo>
                  <a:pt x="9697" y="87764"/>
                </a:lnTo>
                <a:lnTo>
                  <a:pt x="4651" y="67351"/>
                </a:lnTo>
                <a:lnTo>
                  <a:pt x="1248" y="37074"/>
                </a:lnTo>
                <a:lnTo>
                  <a:pt x="0" y="0"/>
                </a:lnTo>
              </a:path>
            </a:pathLst>
          </a:custGeom>
          <a:ln w="990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6" name="object 6"/>
          <p:cNvSpPr/>
          <p:nvPr/>
        </p:nvSpPr>
        <p:spPr>
          <a:xfrm>
            <a:off x="4381500" y="2838830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723900" y="0"/>
                </a:moveTo>
                <a:lnTo>
                  <a:pt x="722651" y="37074"/>
                </a:lnTo>
                <a:lnTo>
                  <a:pt x="719248" y="67351"/>
                </a:lnTo>
                <a:lnTo>
                  <a:pt x="714202" y="87764"/>
                </a:lnTo>
                <a:lnTo>
                  <a:pt x="708025" y="95250"/>
                </a:lnTo>
                <a:lnTo>
                  <a:pt x="365963" y="95250"/>
                </a:lnTo>
                <a:lnTo>
                  <a:pt x="359780" y="102735"/>
                </a:lnTo>
                <a:lnTo>
                  <a:pt x="354734" y="123148"/>
                </a:lnTo>
                <a:lnTo>
                  <a:pt x="351334" y="153425"/>
                </a:lnTo>
                <a:lnTo>
                  <a:pt x="350088" y="190500"/>
                </a:lnTo>
                <a:lnTo>
                  <a:pt x="348840" y="153425"/>
                </a:lnTo>
                <a:lnTo>
                  <a:pt x="345436" y="123148"/>
                </a:lnTo>
                <a:lnTo>
                  <a:pt x="340390" y="102735"/>
                </a:lnTo>
                <a:lnTo>
                  <a:pt x="334213" y="95250"/>
                </a:lnTo>
                <a:lnTo>
                  <a:pt x="15875" y="95250"/>
                </a:lnTo>
                <a:lnTo>
                  <a:pt x="9697" y="87764"/>
                </a:lnTo>
                <a:lnTo>
                  <a:pt x="4651" y="67351"/>
                </a:lnTo>
                <a:lnTo>
                  <a:pt x="1248" y="37074"/>
                </a:lnTo>
                <a:lnTo>
                  <a:pt x="0" y="0"/>
                </a:lnTo>
              </a:path>
            </a:pathLst>
          </a:custGeom>
          <a:ln w="990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sp>
        <p:nvSpPr>
          <p:cNvPr id="7" name="object 7"/>
          <p:cNvSpPr txBox="1"/>
          <p:nvPr/>
        </p:nvSpPr>
        <p:spPr>
          <a:xfrm>
            <a:off x="2516758" y="2980435"/>
            <a:ext cx="34268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955164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spc="-7" baseline="-20833" dirty="0">
                <a:latin typeface="Arial"/>
                <a:cs typeface="Arial"/>
              </a:rPr>
              <a:t>2</a:t>
            </a:r>
            <a:r>
              <a:rPr sz="2400" b="1" spc="-10" dirty="0">
                <a:latin typeface="宋体"/>
                <a:cs typeface="宋体"/>
              </a:rPr>
              <a:t>个	</a:t>
            </a: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i="1" spc="-7" baseline="-20833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宋体"/>
                <a:cs typeface="宋体"/>
              </a:rPr>
              <a:t>个</a:t>
            </a:r>
            <a:endParaRPr sz="2400" b="1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620" y="2866723"/>
            <a:ext cx="1363980" cy="507831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8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spc="-7" baseline="-20833" dirty="0">
                <a:latin typeface="Arial"/>
                <a:cs typeface="Arial"/>
              </a:rPr>
              <a:t>1</a:t>
            </a:r>
            <a:r>
              <a:rPr sz="2400" b="1" spc="-10" dirty="0" smtClean="0">
                <a:latin typeface="宋体"/>
                <a:cs typeface="宋体"/>
              </a:rPr>
              <a:t>个</a:t>
            </a:r>
            <a:endParaRPr sz="2400" b="1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7315" y="3908608"/>
            <a:ext cx="1438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&lt;1, 2, 3,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57600" y="3881572"/>
            <a:ext cx="331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Symbol"/>
                <a:cs typeface="Symbol"/>
              </a:rPr>
              <a:t>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序</a:t>
            </a:r>
            <a:r>
              <a:rPr sz="2400" b="1" spc="-10" dirty="0">
                <a:latin typeface="宋体"/>
                <a:cs typeface="宋体"/>
              </a:rPr>
              <a:t>列</a:t>
            </a:r>
            <a:r>
              <a:rPr sz="2400" b="1" spc="-605" dirty="0">
                <a:latin typeface="宋体"/>
                <a:cs typeface="宋体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5ED742F-AA81-4336-84F2-04E9223F3A1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19</a:t>
            </a:fld>
            <a:endParaRPr lang="zh-CN" altLang="en-US"/>
          </a:p>
        </p:txBody>
      </p:sp>
      <p:sp>
        <p:nvSpPr>
          <p:cNvPr id="14" name="object 8"/>
          <p:cNvSpPr txBox="1"/>
          <p:nvPr/>
        </p:nvSpPr>
        <p:spPr>
          <a:xfrm>
            <a:off x="685800" y="3395202"/>
            <a:ext cx="1363980" cy="877163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10"/>
              </a:spcBef>
              <a:tabLst>
                <a:tab pos="762000" algn="l"/>
              </a:tabLst>
            </a:pP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=4,	</a:t>
            </a:r>
            <a:r>
              <a:rPr sz="2400" b="1" i="1" spc="-5" dirty="0" smtClean="0">
                <a:latin typeface="Times New Roman"/>
                <a:cs typeface="Times New Roman"/>
              </a:rPr>
              <a:t>m</a:t>
            </a:r>
            <a:r>
              <a:rPr sz="2400" b="1" spc="-5" dirty="0" smtClean="0">
                <a:latin typeface="Times New Roman"/>
                <a:cs typeface="Times New Roman"/>
              </a:rPr>
              <a:t>=7</a:t>
            </a:r>
            <a:endParaRPr sz="2400" b="1" dirty="0" smtClean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</a:t>
            </a:r>
            <a:r>
              <a:rPr sz="2400" b="1" spc="-5" dirty="0" err="1" smtClean="0">
                <a:latin typeface="宋体"/>
                <a:cs typeface="宋体"/>
              </a:rPr>
              <a:t>可行</a:t>
            </a:r>
            <a:r>
              <a:rPr sz="2400" b="1" spc="-10" dirty="0" err="1" smtClean="0">
                <a:latin typeface="宋体"/>
                <a:cs typeface="宋体"/>
              </a:rPr>
              <a:t>解</a:t>
            </a:r>
            <a:endParaRPr sz="2400" b="1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52247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788" y="259715"/>
            <a:ext cx="821801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kern="12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蛮力算法的效率</a:t>
            </a:r>
          </a:p>
        </p:txBody>
      </p:sp>
      <p:sp>
        <p:nvSpPr>
          <p:cNvPr id="3" name="object 3"/>
          <p:cNvSpPr/>
          <p:nvPr/>
        </p:nvSpPr>
        <p:spPr>
          <a:xfrm>
            <a:off x="3521811" y="2673221"/>
            <a:ext cx="1576705" cy="0"/>
          </a:xfrm>
          <a:custGeom>
            <a:avLst/>
            <a:gdLst/>
            <a:ahLst/>
            <a:cxnLst/>
            <a:rect l="l" t="t" r="r" b="b"/>
            <a:pathLst>
              <a:path w="1576704">
                <a:moveTo>
                  <a:pt x="0" y="0"/>
                </a:moveTo>
                <a:lnTo>
                  <a:pt x="1576600" y="0"/>
                </a:lnTo>
              </a:path>
            </a:pathLst>
          </a:custGeom>
          <a:ln w="136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89150" y="1455410"/>
            <a:ext cx="4387850" cy="3021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550" b="1" i="1" spc="114" dirty="0">
                <a:latin typeface="Times New Roman"/>
                <a:cs typeface="Times New Roman"/>
              </a:rPr>
              <a:t>C</a:t>
            </a:r>
            <a:r>
              <a:rPr sz="2550" b="1" spc="114" dirty="0">
                <a:latin typeface="Times New Roman"/>
                <a:cs typeface="Times New Roman"/>
              </a:rPr>
              <a:t>(</a:t>
            </a:r>
            <a:r>
              <a:rPr sz="2550" b="1" i="1" spc="114" dirty="0">
                <a:latin typeface="Times New Roman"/>
                <a:cs typeface="Times New Roman"/>
              </a:rPr>
              <a:t>m</a:t>
            </a:r>
            <a:r>
              <a:rPr sz="2550" b="1" i="1" spc="-35" dirty="0">
                <a:latin typeface="Times New Roman"/>
                <a:cs typeface="Times New Roman"/>
              </a:rPr>
              <a:t> </a:t>
            </a:r>
            <a:r>
              <a:rPr sz="2550" b="1" spc="10" dirty="0">
                <a:latin typeface="Symbol"/>
                <a:cs typeface="Symbol"/>
              </a:rPr>
              <a:t></a:t>
            </a:r>
            <a:r>
              <a:rPr sz="2550" b="1" spc="-5" dirty="0">
                <a:latin typeface="Times New Roman"/>
                <a:cs typeface="Times New Roman"/>
              </a:rPr>
              <a:t> </a:t>
            </a:r>
            <a:r>
              <a:rPr sz="2550" b="1" i="1" spc="10" dirty="0">
                <a:latin typeface="Times New Roman"/>
                <a:cs typeface="Times New Roman"/>
              </a:rPr>
              <a:t>n</a:t>
            </a:r>
            <a:r>
              <a:rPr sz="2550" b="1" i="1" spc="-150" dirty="0">
                <a:latin typeface="Times New Roman"/>
                <a:cs typeface="Times New Roman"/>
              </a:rPr>
              <a:t> </a:t>
            </a:r>
            <a:r>
              <a:rPr sz="2550" b="1" spc="10" dirty="0">
                <a:latin typeface="Symbol"/>
                <a:cs typeface="Symbol"/>
              </a:rPr>
              <a:t></a:t>
            </a:r>
            <a:r>
              <a:rPr sz="2550" b="1" spc="-200" dirty="0">
                <a:latin typeface="Times New Roman"/>
                <a:cs typeface="Times New Roman"/>
              </a:rPr>
              <a:t> </a:t>
            </a:r>
            <a:r>
              <a:rPr sz="2550" b="1" spc="-35" dirty="0">
                <a:latin typeface="Times New Roman"/>
                <a:cs typeface="Times New Roman"/>
              </a:rPr>
              <a:t>1,</a:t>
            </a:r>
            <a:r>
              <a:rPr sz="2550" b="1" spc="-320" dirty="0">
                <a:latin typeface="Times New Roman"/>
                <a:cs typeface="Times New Roman"/>
              </a:rPr>
              <a:t> </a:t>
            </a:r>
            <a:r>
              <a:rPr lang="en-US" sz="2550" b="1" spc="-320" dirty="0" smtClean="0">
                <a:latin typeface="Times New Roman"/>
                <a:cs typeface="Times New Roman"/>
              </a:rPr>
              <a:t> </a:t>
            </a:r>
            <a:r>
              <a:rPr sz="2550" b="1" i="1" spc="95" dirty="0" smtClean="0">
                <a:latin typeface="Times New Roman"/>
                <a:cs typeface="Times New Roman"/>
              </a:rPr>
              <a:t>m</a:t>
            </a:r>
            <a:r>
              <a:rPr sz="2550" b="1" spc="95" dirty="0">
                <a:latin typeface="Times New Roman"/>
                <a:cs typeface="Times New Roman"/>
              </a:rPr>
              <a:t>)</a:t>
            </a:r>
            <a:endParaRPr sz="2550" dirty="0">
              <a:latin typeface="Times New Roman"/>
              <a:cs typeface="Times New Roman"/>
            </a:endParaRPr>
          </a:p>
          <a:p>
            <a:pPr marL="1151255">
              <a:lnSpc>
                <a:spcPct val="100000"/>
              </a:lnSpc>
              <a:spcBef>
                <a:spcPts val="795"/>
              </a:spcBef>
            </a:pPr>
            <a:r>
              <a:rPr sz="3825" b="1" spc="15" baseline="-35947" dirty="0">
                <a:latin typeface="Symbol"/>
                <a:cs typeface="Symbol"/>
              </a:rPr>
              <a:t></a:t>
            </a:r>
            <a:r>
              <a:rPr sz="3825" b="1" spc="15" baseline="-35947" dirty="0">
                <a:latin typeface="Times New Roman"/>
                <a:cs typeface="Times New Roman"/>
              </a:rPr>
              <a:t> </a:t>
            </a:r>
            <a:r>
              <a:rPr sz="2550" b="1" spc="65" dirty="0">
                <a:latin typeface="Times New Roman"/>
                <a:cs typeface="Times New Roman"/>
              </a:rPr>
              <a:t>(</a:t>
            </a:r>
            <a:r>
              <a:rPr sz="2550" b="1" i="1" spc="65" dirty="0">
                <a:latin typeface="Times New Roman"/>
                <a:cs typeface="Times New Roman"/>
              </a:rPr>
              <a:t>m </a:t>
            </a:r>
            <a:r>
              <a:rPr sz="2550" b="1" spc="10" dirty="0">
                <a:latin typeface="Symbol"/>
                <a:cs typeface="Symbol"/>
              </a:rPr>
              <a:t></a:t>
            </a:r>
            <a:r>
              <a:rPr sz="2550" b="1" spc="10" dirty="0">
                <a:latin typeface="Times New Roman"/>
                <a:cs typeface="Times New Roman"/>
              </a:rPr>
              <a:t> </a:t>
            </a:r>
            <a:r>
              <a:rPr sz="2550" b="1" i="1" spc="10" dirty="0">
                <a:latin typeface="Times New Roman"/>
                <a:cs typeface="Times New Roman"/>
              </a:rPr>
              <a:t>n </a:t>
            </a:r>
            <a:r>
              <a:rPr sz="2550" b="1" spc="10" dirty="0">
                <a:latin typeface="Symbol"/>
                <a:cs typeface="Symbol"/>
              </a:rPr>
              <a:t></a:t>
            </a:r>
            <a:r>
              <a:rPr sz="2550" b="1" spc="-235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1)!</a:t>
            </a:r>
            <a:endParaRPr sz="2550" dirty="0">
              <a:latin typeface="Times New Roman"/>
              <a:cs typeface="Times New Roman"/>
            </a:endParaRPr>
          </a:p>
          <a:p>
            <a:pPr marL="82550" algn="ctr">
              <a:lnSpc>
                <a:spcPct val="100000"/>
              </a:lnSpc>
              <a:spcBef>
                <a:spcPts val="570"/>
              </a:spcBef>
            </a:pPr>
            <a:r>
              <a:rPr sz="2550" b="1" i="1" spc="65" dirty="0">
                <a:latin typeface="Times New Roman"/>
                <a:cs typeface="Times New Roman"/>
              </a:rPr>
              <a:t>m</a:t>
            </a:r>
            <a:r>
              <a:rPr sz="2550" b="1" spc="65" dirty="0">
                <a:latin typeface="Times New Roman"/>
                <a:cs typeface="Times New Roman"/>
              </a:rPr>
              <a:t>!(</a:t>
            </a:r>
            <a:r>
              <a:rPr sz="2550" b="1" i="1" spc="65" dirty="0">
                <a:latin typeface="Times New Roman"/>
                <a:cs typeface="Times New Roman"/>
              </a:rPr>
              <a:t>n </a:t>
            </a:r>
            <a:r>
              <a:rPr sz="2550" b="1" spc="10" dirty="0">
                <a:latin typeface="Symbol"/>
                <a:cs typeface="Symbol"/>
              </a:rPr>
              <a:t></a:t>
            </a:r>
            <a:r>
              <a:rPr sz="2550" b="1" spc="-42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1)!</a:t>
            </a:r>
            <a:endParaRPr sz="2550" dirty="0">
              <a:latin typeface="Times New Roman"/>
              <a:cs typeface="Times New Roman"/>
            </a:endParaRPr>
          </a:p>
          <a:p>
            <a:pPr marL="1151255">
              <a:lnSpc>
                <a:spcPct val="100000"/>
              </a:lnSpc>
              <a:spcBef>
                <a:spcPts val="960"/>
              </a:spcBef>
            </a:pPr>
            <a:r>
              <a:rPr sz="2550" b="1" spc="10" dirty="0">
                <a:latin typeface="Symbol"/>
                <a:cs typeface="Symbol"/>
              </a:rPr>
              <a:t></a:t>
            </a:r>
            <a:r>
              <a:rPr sz="2550" b="1" spc="60" dirty="0">
                <a:latin typeface="Times New Roman"/>
                <a:cs typeface="Times New Roman"/>
              </a:rPr>
              <a:t> </a:t>
            </a:r>
            <a:r>
              <a:rPr sz="2550" b="1" spc="10" dirty="0">
                <a:latin typeface="Symbol"/>
                <a:cs typeface="Symbol"/>
              </a:rPr>
              <a:t></a:t>
            </a:r>
            <a:r>
              <a:rPr sz="2550" b="1" spc="10" dirty="0">
                <a:latin typeface="Times New Roman"/>
                <a:cs typeface="Times New Roman"/>
              </a:rPr>
              <a:t>((1</a:t>
            </a:r>
            <a:r>
              <a:rPr sz="2550" b="1" spc="-245" dirty="0">
                <a:latin typeface="Times New Roman"/>
                <a:cs typeface="Times New Roman"/>
              </a:rPr>
              <a:t> </a:t>
            </a:r>
            <a:r>
              <a:rPr sz="2550" b="1" spc="10" dirty="0">
                <a:latin typeface="Symbol"/>
                <a:cs typeface="Symbol"/>
              </a:rPr>
              <a:t></a:t>
            </a:r>
            <a:r>
              <a:rPr sz="2550" b="1" spc="-130" dirty="0">
                <a:latin typeface="Times New Roman"/>
                <a:cs typeface="Times New Roman"/>
              </a:rPr>
              <a:t> </a:t>
            </a:r>
            <a:r>
              <a:rPr sz="2700" b="1" i="1" spc="-60" dirty="0">
                <a:latin typeface="Symbol"/>
                <a:cs typeface="Symbol"/>
              </a:rPr>
              <a:t></a:t>
            </a:r>
            <a:r>
              <a:rPr sz="2700" b="1" i="1" spc="-250" dirty="0">
                <a:latin typeface="Times New Roman"/>
                <a:cs typeface="Times New Roman"/>
              </a:rPr>
              <a:t> </a:t>
            </a:r>
            <a:r>
              <a:rPr sz="2550" b="1" spc="85" dirty="0">
                <a:latin typeface="Times New Roman"/>
                <a:cs typeface="Times New Roman"/>
              </a:rPr>
              <a:t>)</a:t>
            </a:r>
            <a:r>
              <a:rPr sz="2250" b="1" i="1" spc="127" baseline="42592" dirty="0">
                <a:latin typeface="Times New Roman"/>
                <a:cs typeface="Times New Roman"/>
              </a:rPr>
              <a:t>m</a:t>
            </a:r>
            <a:r>
              <a:rPr sz="2250" b="1" i="1" spc="-352" baseline="42592" dirty="0">
                <a:latin typeface="Times New Roman"/>
                <a:cs typeface="Times New Roman"/>
              </a:rPr>
              <a:t> </a:t>
            </a:r>
            <a:r>
              <a:rPr sz="2250" b="1" baseline="42592" dirty="0">
                <a:latin typeface="Symbol"/>
                <a:cs typeface="Symbol"/>
              </a:rPr>
              <a:t></a:t>
            </a:r>
            <a:r>
              <a:rPr sz="2250" b="1" spc="-330" baseline="42592" dirty="0">
                <a:latin typeface="Times New Roman"/>
                <a:cs typeface="Times New Roman"/>
              </a:rPr>
              <a:t> </a:t>
            </a:r>
            <a:r>
              <a:rPr sz="2250" b="1" i="1" spc="52" baseline="42592" dirty="0">
                <a:latin typeface="Times New Roman"/>
                <a:cs typeface="Times New Roman"/>
              </a:rPr>
              <a:t>n</a:t>
            </a:r>
            <a:r>
              <a:rPr sz="2250" b="1" spc="52" baseline="42592" dirty="0">
                <a:latin typeface="Symbol"/>
                <a:cs typeface="Symbol"/>
              </a:rPr>
              <a:t></a:t>
            </a:r>
            <a:r>
              <a:rPr sz="2250" b="1" spc="52" baseline="42592" dirty="0">
                <a:latin typeface="Times New Roman"/>
                <a:cs typeface="Times New Roman"/>
              </a:rPr>
              <a:t>1</a:t>
            </a:r>
            <a:r>
              <a:rPr sz="2250" b="1" spc="-30" baseline="42592" dirty="0">
                <a:latin typeface="Times New Roman"/>
                <a:cs typeface="Times New Roman"/>
              </a:rPr>
              <a:t> </a:t>
            </a:r>
            <a:r>
              <a:rPr sz="2550" b="1" spc="5" dirty="0">
                <a:latin typeface="Times New Roman"/>
                <a:cs typeface="Times New Roman"/>
              </a:rPr>
              <a:t>)</a:t>
            </a:r>
            <a:endParaRPr sz="2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R="313055" algn="ctr">
              <a:lnSpc>
                <a:spcPct val="100000"/>
              </a:lnSpc>
            </a:pPr>
            <a:r>
              <a:rPr sz="2400" b="1" spc="-5" dirty="0">
                <a:solidFill>
                  <a:srgbClr val="0070C0"/>
                </a:solidFill>
                <a:latin typeface="宋体"/>
                <a:cs typeface="宋体"/>
              </a:rPr>
              <a:t>有没有更</a:t>
            </a:r>
            <a:r>
              <a:rPr sz="2400" b="1" dirty="0">
                <a:solidFill>
                  <a:srgbClr val="0070C0"/>
                </a:solidFill>
                <a:latin typeface="宋体"/>
                <a:cs typeface="宋体"/>
              </a:rPr>
              <a:t>好</a:t>
            </a:r>
            <a:r>
              <a:rPr sz="2400" b="1" spc="5" dirty="0">
                <a:solidFill>
                  <a:srgbClr val="0070C0"/>
                </a:solidFill>
                <a:latin typeface="宋体"/>
                <a:cs typeface="宋体"/>
              </a:rPr>
              <a:t>的</a:t>
            </a:r>
            <a:r>
              <a:rPr sz="2400" b="1" dirty="0">
                <a:solidFill>
                  <a:srgbClr val="0070C0"/>
                </a:solidFill>
                <a:latin typeface="宋体"/>
                <a:cs typeface="宋体"/>
              </a:rPr>
              <a:t>算</a:t>
            </a:r>
            <a:r>
              <a:rPr sz="2400" b="1" spc="-5" dirty="0">
                <a:solidFill>
                  <a:srgbClr val="0070C0"/>
                </a:solidFill>
                <a:latin typeface="宋体"/>
                <a:cs typeface="宋体"/>
              </a:rPr>
              <a:t>法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1572" y="3869232"/>
            <a:ext cx="461141" cy="76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038B2DB-3052-4941-AF32-02125FD2CAF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20</a:t>
            </a:fld>
            <a:endParaRPr lang="zh-CN" altLang="en-US"/>
          </a:p>
        </p:txBody>
      </p:sp>
      <p:sp>
        <p:nvSpPr>
          <p:cNvPr id="9" name="object 4"/>
          <p:cNvSpPr txBox="1"/>
          <p:nvPr/>
        </p:nvSpPr>
        <p:spPr>
          <a:xfrm>
            <a:off x="468788" y="1200150"/>
            <a:ext cx="43878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 err="1" smtClean="0">
                <a:latin typeface="宋体"/>
                <a:cs typeface="宋体"/>
              </a:rPr>
              <a:t>序列个数</a:t>
            </a:r>
            <a:r>
              <a:rPr sz="2400" b="1" dirty="0" err="1" smtClean="0">
                <a:latin typeface="宋体"/>
                <a:cs typeface="宋体"/>
              </a:rPr>
              <a:t>是</a:t>
            </a:r>
            <a:r>
              <a:rPr sz="2400" b="1" spc="5" dirty="0" err="1" smtClean="0">
                <a:latin typeface="宋体"/>
                <a:cs typeface="宋体"/>
              </a:rPr>
              <a:t>输</a:t>
            </a:r>
            <a:r>
              <a:rPr sz="2400" b="1" dirty="0" err="1" smtClean="0">
                <a:latin typeface="宋体"/>
                <a:cs typeface="宋体"/>
              </a:rPr>
              <a:t>入规模的指数函数</a:t>
            </a:r>
            <a:endParaRPr sz="2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56952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59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31607"/>
            <a:ext cx="8229600" cy="2787943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问题求解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的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关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键</a:t>
            </a:r>
            <a:endParaRPr sz="2800" b="1" dirty="0">
              <a:latin typeface="黑体" pitchFamily="49" charset="-122"/>
              <a:ea typeface="黑体" pitchFamily="49" charset="-122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69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 err="1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建模</a:t>
            </a:r>
            <a:r>
              <a:rPr sz="2400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400" b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输</a:t>
            </a:r>
            <a:r>
              <a:rPr sz="2400" b="1" spc="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入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参数和解给出形式化</a:t>
            </a:r>
            <a:r>
              <a:rPr sz="2400" b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或半形式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r>
              <a:rPr sz="2400" b="1" spc="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描</a:t>
            </a:r>
            <a:r>
              <a:rPr sz="2400" b="1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述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设计算法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3695">
              <a:lnSpc>
                <a:spcPct val="100000"/>
              </a:lnSpc>
            </a:pPr>
            <a:r>
              <a:rPr 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400" b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采用什么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400" b="1" spc="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计技</a:t>
            </a:r>
            <a:r>
              <a:rPr sz="2400" b="1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术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6675" indent="-1905">
              <a:lnSpc>
                <a:spcPct val="100000"/>
              </a:lnSpc>
            </a:pPr>
            <a:r>
              <a:rPr lang="en-US" sz="2400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400" b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正确性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是否对</a:t>
            </a:r>
            <a:r>
              <a:rPr sz="2400" b="1" spc="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所</a:t>
            </a:r>
            <a:r>
              <a:rPr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有的实例都得</a:t>
            </a:r>
            <a:r>
              <a:rPr sz="2400" b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到正确的</a:t>
            </a:r>
            <a:r>
              <a:rPr sz="2400" b="1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分析算法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——效率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2541005-3258-4297-93E6-0C72C6B404E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9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662430"/>
            <a:ext cx="7238999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2720" algn="ctr">
              <a:lnSpc>
                <a:spcPct val="100000"/>
              </a:lnSpc>
              <a:spcBef>
                <a:spcPts val="100"/>
              </a:spcBef>
            </a:pPr>
            <a:r>
              <a:rPr sz="5400" spc="-15" dirty="0" err="1" smtClean="0"/>
              <a:t>问题</a:t>
            </a:r>
            <a:r>
              <a:rPr sz="5400" spc="5" dirty="0" err="1" smtClean="0"/>
              <a:t>计</a:t>
            </a:r>
            <a:r>
              <a:rPr sz="5400" spc="-5" dirty="0" err="1" smtClean="0"/>
              <a:t>算复杂度</a:t>
            </a:r>
            <a:r>
              <a:rPr sz="5400" spc="-15" dirty="0" err="1" smtClean="0"/>
              <a:t>的界</a:t>
            </a:r>
            <a:r>
              <a:rPr sz="5400" spc="5" dirty="0" err="1" smtClean="0"/>
              <a:t>定</a:t>
            </a:r>
            <a:r>
              <a:rPr lang="zh-CN" altLang="en-US" sz="5400" spc="5" dirty="0" smtClean="0"/>
              <a:t>：</a:t>
            </a:r>
            <a:r>
              <a:rPr lang="en-US" sz="5400" spc="-5" dirty="0" smtClean="0"/>
              <a:t>               </a:t>
            </a:r>
            <a:r>
              <a:rPr sz="5400" spc="-5" dirty="0" err="1" smtClean="0"/>
              <a:t>排序问题</a:t>
            </a:r>
            <a:endParaRPr sz="5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E865A06-8835-4990-BD70-3B4B82FCAC0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94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sz="4400" spc="-7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排序算法的效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率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73160"/>
              </p:ext>
            </p:extLst>
          </p:nvPr>
        </p:nvGraphicFramePr>
        <p:xfrm>
          <a:off x="2133600" y="1651000"/>
          <a:ext cx="4953000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算法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最坏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情况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下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平均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情况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下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latin typeface="宋体"/>
                          <a:cs typeface="宋体"/>
                        </a:rPr>
                        <a:t>插入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排</a:t>
                      </a:r>
                      <a:r>
                        <a:rPr sz="2000" b="1" spc="-10" dirty="0">
                          <a:latin typeface="宋体"/>
                          <a:cs typeface="宋体"/>
                        </a:rPr>
                        <a:t>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latin typeface="宋体"/>
                          <a:cs typeface="宋体"/>
                        </a:rPr>
                        <a:t>冒泡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排</a:t>
                      </a:r>
                      <a:r>
                        <a:rPr sz="2000" b="1" spc="-10" dirty="0">
                          <a:latin typeface="宋体"/>
                          <a:cs typeface="宋体"/>
                        </a:rPr>
                        <a:t>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5" dirty="0">
                          <a:latin typeface="宋体"/>
                          <a:cs typeface="宋体"/>
                        </a:rPr>
                        <a:t>快速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排</a:t>
                      </a:r>
                      <a:r>
                        <a:rPr sz="2000" b="1" spc="-10" dirty="0">
                          <a:latin typeface="宋体"/>
                          <a:cs typeface="宋体"/>
                        </a:rPr>
                        <a:t>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b="1" spc="-5" dirty="0">
                          <a:latin typeface="宋体"/>
                          <a:cs typeface="宋体"/>
                        </a:rPr>
                        <a:t>堆排序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b="1" spc="-5" dirty="0">
                          <a:latin typeface="宋体"/>
                          <a:cs typeface="宋体"/>
                        </a:rPr>
                        <a:t>二分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归并排序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0" y="1189990"/>
            <a:ext cx="8153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以元素比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较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作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基本运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算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3FA3343-552E-4FE3-8EB2-839140A0B45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91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插入排序的插</a:t>
            </a:r>
            <a:r>
              <a:rPr sz="4400" spc="-5" dirty="0">
                <a:latin typeface="黑体" panose="02010609060101010101" pitchFamily="49" charset="-122"/>
                <a:ea typeface="黑体" panose="02010609060101010101" pitchFamily="49" charset="-122"/>
              </a:rPr>
              <a:t>入操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作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681294"/>
              </p:ext>
            </p:extLst>
          </p:nvPr>
        </p:nvGraphicFramePr>
        <p:xfrm>
          <a:off x="1684024" y="1307585"/>
          <a:ext cx="4107176" cy="342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42903"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181310" y="4232528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79">
                <a:moveTo>
                  <a:pt x="0" y="0"/>
                </a:moveTo>
                <a:lnTo>
                  <a:pt x="590550" y="0"/>
                </a:lnTo>
                <a:lnTo>
                  <a:pt x="590550" y="322326"/>
                </a:lnTo>
                <a:lnTo>
                  <a:pt x="0" y="3223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61072"/>
              </p:ext>
            </p:extLst>
          </p:nvPr>
        </p:nvGraphicFramePr>
        <p:xfrm>
          <a:off x="1678016" y="4219955"/>
          <a:ext cx="4081143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48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57200" y="2952750"/>
            <a:ext cx="10277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插入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Arial"/>
              </a:rPr>
              <a:t>2</a:t>
            </a:r>
            <a:endParaRPr sz="2800" dirty="0">
              <a:latin typeface="黑体" pitchFamily="49" charset="-122"/>
              <a:ea typeface="黑体" pitchFamily="49" charset="-122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4111380"/>
            <a:ext cx="12351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插入后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200" y="1275835"/>
            <a:ext cx="33077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5"/>
              </a:spcBef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输入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2136" y="297692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37258" y="297692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29650" y="297692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15492" y="297692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56476" y="297692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86905" y="297692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04400" y="2976920"/>
            <a:ext cx="586800" cy="3441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22CEB9C-75DB-414B-8951-7FC5F47F534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24</a:t>
            </a:fld>
            <a:endParaRPr lang="zh-CN" altLang="en-US"/>
          </a:p>
        </p:txBody>
      </p:sp>
      <p:sp>
        <p:nvSpPr>
          <p:cNvPr id="20" name="object 10"/>
          <p:cNvSpPr txBox="1"/>
          <p:nvPr/>
        </p:nvSpPr>
        <p:spPr>
          <a:xfrm>
            <a:off x="457200" y="1901967"/>
            <a:ext cx="82296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zh-CN" altLang="en-US" sz="2800" b="1" spc="-10" dirty="0">
                <a:latin typeface="黑体" pitchFamily="49" charset="-122"/>
                <a:ea typeface="黑体" pitchFamily="49" charset="-122"/>
                <a:cs typeface="宋体"/>
              </a:rPr>
              <a:t>假设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前面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已经排</a:t>
            </a:r>
            <a:r>
              <a:rPr sz="2800" b="1" dirty="0" smtClean="0">
                <a:latin typeface="黑体" pitchFamily="49" charset="-122"/>
                <a:ea typeface="黑体" pitchFamily="49" charset="-122"/>
                <a:cs typeface="宋体"/>
              </a:rPr>
              <a:t>好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，插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入</a:t>
            </a:r>
            <a:r>
              <a:rPr sz="2800" spc="-5" dirty="0" smtClean="0">
                <a:latin typeface="黑体" pitchFamily="49" charset="-122"/>
                <a:ea typeface="黑体" pitchFamily="49" charset="-122"/>
                <a:cs typeface="Arial"/>
              </a:rPr>
              <a:t>2</a:t>
            </a:r>
            <a:endParaRPr sz="2800" dirty="0">
              <a:latin typeface="黑体" pitchFamily="49" charset="-122"/>
              <a:ea typeface="黑体" pitchFamily="49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222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3.33333E-6 0.1185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00648 L 0.06389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0648 L 0.06823 2.96296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7" y="-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7 0.00648 L 0.06736 2.96296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6" y="-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617 L 0.0665 -0.0003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-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11852 L -0.25711 0.11018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12" y="-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85 0.12376 L -0.25486 -0.0003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-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19" grpId="2" animBg="1"/>
      <p:bldP spid="19" grpId="3" animBg="1"/>
      <p:bldP spid="21" grpId="0" animBg="1"/>
      <p:bldP spid="21" grpId="1" animBg="1"/>
      <p:bldP spid="25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3057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插入排序运行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实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86854"/>
              </p:ext>
            </p:extLst>
          </p:nvPr>
        </p:nvGraphicFramePr>
        <p:xfrm>
          <a:off x="2797747" y="1123950"/>
          <a:ext cx="4107176" cy="342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42903"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82720" y="2035682"/>
            <a:ext cx="586740" cy="322580"/>
          </a:xfrm>
          <a:custGeom>
            <a:avLst/>
            <a:gdLst/>
            <a:ahLst/>
            <a:cxnLst/>
            <a:rect l="l" t="t" r="r" b="b"/>
            <a:pathLst>
              <a:path w="586739" h="322580">
                <a:moveTo>
                  <a:pt x="0" y="0"/>
                </a:moveTo>
                <a:lnTo>
                  <a:pt x="586739" y="0"/>
                </a:lnTo>
                <a:lnTo>
                  <a:pt x="586739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60011" y="2035682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9461" y="2035682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38063" y="2035682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933301"/>
              </p:ext>
            </p:extLst>
          </p:nvPr>
        </p:nvGraphicFramePr>
        <p:xfrm>
          <a:off x="2792096" y="2023110"/>
          <a:ext cx="1177925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569461" y="2472308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38063" y="2472308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10875"/>
              </p:ext>
            </p:extLst>
          </p:nvPr>
        </p:nvGraphicFramePr>
        <p:xfrm>
          <a:off x="2792096" y="2459735"/>
          <a:ext cx="1764664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5750561" y="2929508"/>
            <a:ext cx="588010" cy="321310"/>
          </a:xfrm>
          <a:custGeom>
            <a:avLst/>
            <a:gdLst/>
            <a:ahLst/>
            <a:cxnLst/>
            <a:rect l="l" t="t" r="r" b="b"/>
            <a:pathLst>
              <a:path w="588010" h="321310">
                <a:moveTo>
                  <a:pt x="0" y="0"/>
                </a:moveTo>
                <a:lnTo>
                  <a:pt x="587501" y="0"/>
                </a:lnTo>
                <a:lnTo>
                  <a:pt x="587501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60011" y="2929508"/>
            <a:ext cx="590550" cy="321310"/>
          </a:xfrm>
          <a:custGeom>
            <a:avLst/>
            <a:gdLst/>
            <a:ahLst/>
            <a:cxnLst/>
            <a:rect l="l" t="t" r="r" b="b"/>
            <a:pathLst>
              <a:path w="590550" h="321310">
                <a:moveTo>
                  <a:pt x="0" y="0"/>
                </a:moveTo>
                <a:lnTo>
                  <a:pt x="590550" y="0"/>
                </a:lnTo>
                <a:lnTo>
                  <a:pt x="590550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542260"/>
              </p:ext>
            </p:extLst>
          </p:nvPr>
        </p:nvGraphicFramePr>
        <p:xfrm>
          <a:off x="2792096" y="2916935"/>
          <a:ext cx="2355214" cy="320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20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750561" y="3386709"/>
            <a:ext cx="588010" cy="321310"/>
          </a:xfrm>
          <a:custGeom>
            <a:avLst/>
            <a:gdLst/>
            <a:ahLst/>
            <a:cxnLst/>
            <a:rect l="l" t="t" r="r" b="b"/>
            <a:pathLst>
              <a:path w="588010" h="321310">
                <a:moveTo>
                  <a:pt x="0" y="0"/>
                </a:moveTo>
                <a:lnTo>
                  <a:pt x="587501" y="0"/>
                </a:lnTo>
                <a:lnTo>
                  <a:pt x="587501" y="320802"/>
                </a:lnTo>
                <a:lnTo>
                  <a:pt x="0" y="3208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90094"/>
              </p:ext>
            </p:extLst>
          </p:nvPr>
        </p:nvGraphicFramePr>
        <p:xfrm>
          <a:off x="2792096" y="3374135"/>
          <a:ext cx="2945764" cy="3208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08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93657"/>
              </p:ext>
            </p:extLst>
          </p:nvPr>
        </p:nvGraphicFramePr>
        <p:xfrm>
          <a:off x="2792096" y="4309109"/>
          <a:ext cx="4123689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3987292" y="1597533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80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66869" y="1597533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76318" y="1597533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44920" y="1597533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756249"/>
              </p:ext>
            </p:extLst>
          </p:nvPr>
        </p:nvGraphicFramePr>
        <p:xfrm>
          <a:off x="2796668" y="1584960"/>
          <a:ext cx="589280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1888817" y="1019505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err="1" smtClean="0">
                <a:latin typeface="宋体"/>
                <a:cs typeface="宋体"/>
              </a:rPr>
              <a:t>输入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14440" y="3867530"/>
            <a:ext cx="590550" cy="321310"/>
          </a:xfrm>
          <a:custGeom>
            <a:avLst/>
            <a:gdLst/>
            <a:ahLst/>
            <a:cxnLst/>
            <a:rect l="l" t="t" r="r" b="b"/>
            <a:pathLst>
              <a:path w="590550" h="321310">
                <a:moveTo>
                  <a:pt x="0" y="0"/>
                </a:moveTo>
                <a:lnTo>
                  <a:pt x="590550" y="0"/>
                </a:lnTo>
                <a:lnTo>
                  <a:pt x="590550" y="320802"/>
                </a:lnTo>
                <a:lnTo>
                  <a:pt x="0" y="3208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72259"/>
              </p:ext>
            </p:extLst>
          </p:nvPr>
        </p:nvGraphicFramePr>
        <p:xfrm>
          <a:off x="2792096" y="3850385"/>
          <a:ext cx="3509643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7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4" name="object 24"/>
          <p:cNvSpPr txBox="1"/>
          <p:nvPr/>
        </p:nvSpPr>
        <p:spPr>
          <a:xfrm>
            <a:off x="1895309" y="1930837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sz="2000" b="1" spc="-5" dirty="0" smtClean="0">
                <a:latin typeface="Arial"/>
                <a:cs typeface="Arial"/>
              </a:rPr>
              <a:t>7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5" name="object 24"/>
          <p:cNvSpPr txBox="1"/>
          <p:nvPr/>
        </p:nvSpPr>
        <p:spPr>
          <a:xfrm>
            <a:off x="1895309" y="2357898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sz="2000" b="1" spc="-5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6" name="object 24"/>
          <p:cNvSpPr txBox="1"/>
          <p:nvPr/>
        </p:nvSpPr>
        <p:spPr>
          <a:xfrm>
            <a:off x="1899992" y="3736872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sz="2000" b="1" spc="-5" dirty="0" smtClean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7" name="object 24"/>
          <p:cNvSpPr txBox="1"/>
          <p:nvPr/>
        </p:nvSpPr>
        <p:spPr>
          <a:xfrm>
            <a:off x="1880561" y="1465620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err="1" smtClean="0">
                <a:latin typeface="宋体"/>
                <a:cs typeface="宋体"/>
              </a:rPr>
              <a:t>初始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8" name="object 24"/>
          <p:cNvSpPr txBox="1"/>
          <p:nvPr/>
        </p:nvSpPr>
        <p:spPr>
          <a:xfrm>
            <a:off x="1897767" y="2830767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sz="2000" b="1" spc="-5" dirty="0" smtClean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9" name="object 24"/>
          <p:cNvSpPr txBox="1"/>
          <p:nvPr/>
        </p:nvSpPr>
        <p:spPr>
          <a:xfrm>
            <a:off x="1897767" y="3289792"/>
            <a:ext cx="675640" cy="456151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sz="2000" b="1" spc="-5" dirty="0">
                <a:latin typeface="Arial"/>
                <a:cs typeface="Arial"/>
              </a:rPr>
              <a:t>6 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0" name="object 24"/>
          <p:cNvSpPr txBox="1"/>
          <p:nvPr/>
        </p:nvSpPr>
        <p:spPr>
          <a:xfrm>
            <a:off x="1897532" y="4214013"/>
            <a:ext cx="675640" cy="3979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algn="just">
              <a:lnSpc>
                <a:spcPct val="147600"/>
              </a:lnSpc>
              <a:spcBef>
                <a:spcPts val="5"/>
              </a:spcBef>
            </a:pPr>
            <a:r>
              <a:rPr sz="2000" b="1" spc="-5" dirty="0" smtClean="0">
                <a:latin typeface="宋体"/>
                <a:cs typeface="宋体"/>
              </a:rPr>
              <a:t>插入</a:t>
            </a:r>
            <a:r>
              <a:rPr lang="en-US" altLang="zh-CN" sz="2000" b="1" spc="-5" dirty="0" smtClean="0">
                <a:latin typeface="宋体"/>
                <a:cs typeface="宋体"/>
              </a:rPr>
              <a:t>4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0CBC966-32E6-4D44-8886-D4B5F4819E8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9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4" grpId="0" animBg="1"/>
      <p:bldP spid="16" grpId="0" animBg="1"/>
      <p:bldP spid="25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黑体" panose="02010609060101010101" pitchFamily="49" charset="-122"/>
                <a:ea typeface="黑体" panose="02010609060101010101" pitchFamily="49" charset="-122"/>
              </a:rPr>
              <a:t>冒泡排序的一</a:t>
            </a:r>
            <a:r>
              <a:rPr sz="4000" spc="-5" dirty="0">
                <a:latin typeface="黑体" panose="02010609060101010101" pitchFamily="49" charset="-122"/>
                <a:ea typeface="黑体" panose="02010609060101010101" pitchFamily="49" charset="-122"/>
              </a:rPr>
              <a:t>次巡</a:t>
            </a:r>
            <a:r>
              <a:rPr sz="4000" spc="-15" dirty="0">
                <a:latin typeface="黑体" panose="02010609060101010101" pitchFamily="49" charset="-122"/>
                <a:ea typeface="黑体" panose="02010609060101010101" pitchFamily="49" charset="-122"/>
              </a:rPr>
              <a:t>回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677173"/>
              </p:ext>
            </p:extLst>
          </p:nvPr>
        </p:nvGraphicFramePr>
        <p:xfrm>
          <a:off x="2210565" y="1582737"/>
          <a:ext cx="4607558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580249" y="2860929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79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11648" y="2860929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80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1223" y="2860929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80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58301" y="2860929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79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22241" y="2546350"/>
            <a:ext cx="5346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巡回</a:t>
            </a:r>
            <a:endParaRPr sz="2000" dirty="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10371"/>
              </p:ext>
            </p:extLst>
          </p:nvPr>
        </p:nvGraphicFramePr>
        <p:xfrm>
          <a:off x="2217423" y="4142232"/>
          <a:ext cx="4716777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263905" y="3765550"/>
            <a:ext cx="789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巡回后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2155" y="1250950"/>
            <a:ext cx="789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巡回前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07472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72594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64986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50828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91812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22241" y="30289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39736" y="3028950"/>
            <a:ext cx="586800" cy="3441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26536" y="3034194"/>
            <a:ext cx="586800" cy="3367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B4B524D-8E43-4AFE-8FC2-A8A3F622511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2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-0.00031 L 0.01875 -0.03794 C 0.02205 -0.04658 0.02726 -0.05089 0.03247 -0.05089 C 0.03855 -0.05089 0.04341 -0.04658 0.0467 -0.03794 L 0.06302 -0.00031 " pathEditMode="relative" rAng="0" ptsTypes="FffFF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-252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9 8.01974E-8 L -0.0132 0.03208 C -0.01719 0.03917 -0.02309 0.04287 -0.02934 0.04287 C -0.03646 0.04287 -0.04219 0.03917 -0.04618 0.03208 L -0.06546 8.01974E-8 " pathEditMode="relative" rAng="10800000" ptsTypes="FffFF"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9" y="21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 -0.00031 L 0.0198 -0.04904 C 0.0231 -0.05984 0.02813 -0.0657 0.03334 -0.0657 C 0.03924 -0.0657 0.04393 -0.05984 0.04723 -0.04904 L 0.0632 -0.00031 " pathEditMode="relative" rAng="0" ptsTypes="FffFF"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-327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1018 L -0.02084 0.07804 C -0.02414 0.09377 -0.03108 0.10179 -0.03681 0.10086 C -0.04306 0.09994 -0.04775 0.09038 -0.05052 0.07372 L -0.06407 0.00031 " pathEditMode="relative" rAng="5705551" ptsTypes="FffFF">
                                      <p:cBhvr>
                                        <p:cTn id="4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4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8.01974E-8 L 0.01823 -0.0401 C 0.02188 -0.04904 0.02709 -0.05398 0.03264 -0.05398 C 0.03872 -0.05398 0.04375 -0.04904 0.0474 -0.0401 L 0.06424 8.01974E-8 " pathEditMode="relative" rAng="0" ptsTypes="FffFF">
                                      <p:cBhvr>
                                        <p:cTn id="4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-271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43 -0.00062 L -0.02223 0.05922 C -0.02552 0.0731 -0.03039 0.08081 -0.03559 0.08081 C -0.04132 0.08081 -0.04601 0.0731 -0.04931 0.05922 L -0.06476 -0.00062 " pathEditMode="relative" rAng="5400000" ptsTypes="FffFF">
                                      <p:cBhvr>
                                        <p:cTn id="4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40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56 8.01974E-8 L 0.07518 -0.03763 C 0.07917 -0.04627 0.08542 -0.05059 0.09184 -0.05059 C 0.09914 -0.05059 0.10504 -0.04627 0.10903 -0.03763 L 0.12882 8.01974E-8 " pathEditMode="relative" rAng="0" ptsTypes="FffFF">
                                      <p:cBhvr>
                                        <p:cTn id="5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63" y="-252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-0.00648 L -0.01702 0.0657 C -0.01997 0.08205 -0.025 0.09161 -0.03091 0.09223 C -0.03716 0.09284 -0.04219 0.08421 -0.04618 0.07033 L -0.06493 -0.00031 " pathEditMode="relative" rAng="5213448" ptsTypes="FffFF">
                                      <p:cBhvr>
                                        <p:cTn id="5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6" y="50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22 8.01974E-8 L 0.1441 -0.03763 C 0.14792 -0.04627 0.15348 -0.05059 0.15938 -0.05059 C 0.16598 -0.05059 0.17136 -0.04627 0.17518 -0.03763 L 0.19323 8.01974E-8 " pathEditMode="relative" rAng="0" ptsTypes="FffFF">
                                      <p:cBhvr>
                                        <p:cTn id="5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1" y="-2529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-0.00031 L -0.02049 0.07032 C -0.02396 0.08636 -0.02899 0.09531 -0.0342 0.09531 C -0.04028 0.09531 -0.04497 0.08636 -0.04827 0.07032 L -0.06441 -0.00031 " pathEditMode="relative" rAng="5400000" ptsTypes="FffFF">
                                      <p:cBhvr>
                                        <p:cTn id="6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47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1" grpId="0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冒泡排序运行</a:t>
            </a:r>
            <a:r>
              <a:rPr sz="4400" spc="-5" dirty="0"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618556"/>
              </p:ext>
            </p:extLst>
          </p:nvPr>
        </p:nvGraphicFramePr>
        <p:xfrm>
          <a:off x="2201938" y="1240410"/>
          <a:ext cx="466343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24582"/>
              </p:ext>
            </p:extLst>
          </p:nvPr>
        </p:nvGraphicFramePr>
        <p:xfrm>
          <a:off x="2208150" y="1882267"/>
          <a:ext cx="4716777" cy="320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0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8255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756404" y="2528062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25162"/>
              </p:ext>
            </p:extLst>
          </p:nvPr>
        </p:nvGraphicFramePr>
        <p:xfrm>
          <a:off x="2208150" y="2515489"/>
          <a:ext cx="4716777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578351" y="3128518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79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56404" y="3128518"/>
            <a:ext cx="589280" cy="321310"/>
          </a:xfrm>
          <a:custGeom>
            <a:avLst/>
            <a:gdLst/>
            <a:ahLst/>
            <a:cxnLst/>
            <a:rect l="l" t="t" r="r" b="b"/>
            <a:pathLst>
              <a:path w="589279" h="321310">
                <a:moveTo>
                  <a:pt x="0" y="0"/>
                </a:moveTo>
                <a:lnTo>
                  <a:pt x="589026" y="0"/>
                </a:lnTo>
                <a:lnTo>
                  <a:pt x="589026" y="320801"/>
                </a:lnTo>
                <a:lnTo>
                  <a:pt x="0" y="3208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502973"/>
              </p:ext>
            </p:extLst>
          </p:nvPr>
        </p:nvGraphicFramePr>
        <p:xfrm>
          <a:off x="2208150" y="3115945"/>
          <a:ext cx="4716777" cy="320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0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762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578351" y="371754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89326" y="371754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56404" y="371754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973034"/>
              </p:ext>
            </p:extLst>
          </p:nvPr>
        </p:nvGraphicFramePr>
        <p:xfrm>
          <a:off x="2208150" y="3704971"/>
          <a:ext cx="4716777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4588257" y="43065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19655" y="43065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80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99232" y="43065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65548" y="43065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126948"/>
              </p:ext>
            </p:extLst>
          </p:nvPr>
        </p:nvGraphicFramePr>
        <p:xfrm>
          <a:off x="2218057" y="4293998"/>
          <a:ext cx="4716143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359536" y="1885570"/>
            <a:ext cx="67564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+mn-ea"/>
                <a:cs typeface="宋体"/>
              </a:rPr>
              <a:t>巡回</a:t>
            </a:r>
            <a:r>
              <a:rPr sz="2000" b="1" spc="-5" dirty="0" smtClean="0">
                <a:latin typeface="+mn-ea"/>
                <a:cs typeface="Arial"/>
              </a:rPr>
              <a:t>1</a:t>
            </a:r>
            <a:endParaRPr sz="2000" b="1" dirty="0">
              <a:latin typeface="+mn-ea"/>
              <a:cs typeface="Arial"/>
            </a:endParaRPr>
          </a:p>
        </p:txBody>
      </p:sp>
      <p:sp>
        <p:nvSpPr>
          <p:cNvPr id="22" name="object 19"/>
          <p:cNvSpPr txBox="1"/>
          <p:nvPr/>
        </p:nvSpPr>
        <p:spPr>
          <a:xfrm>
            <a:off x="1365599" y="2505940"/>
            <a:ext cx="67564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smtClean="0">
                <a:latin typeface="+mn-ea"/>
                <a:cs typeface="宋体"/>
              </a:rPr>
              <a:t>巡回</a:t>
            </a:r>
            <a:r>
              <a:rPr lang="en-US" altLang="zh-CN" sz="2000" b="1" spc="-5" dirty="0" smtClean="0">
                <a:latin typeface="+mn-ea"/>
                <a:cs typeface="宋体"/>
              </a:rPr>
              <a:t>2</a:t>
            </a:r>
            <a:endParaRPr sz="2000" b="1" dirty="0">
              <a:latin typeface="+mn-ea"/>
              <a:cs typeface="Arial"/>
            </a:endParaRPr>
          </a:p>
        </p:txBody>
      </p:sp>
      <p:sp>
        <p:nvSpPr>
          <p:cNvPr id="23" name="object 19"/>
          <p:cNvSpPr txBox="1"/>
          <p:nvPr/>
        </p:nvSpPr>
        <p:spPr>
          <a:xfrm>
            <a:off x="1372973" y="3097682"/>
            <a:ext cx="67564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smtClean="0">
                <a:latin typeface="+mn-ea"/>
                <a:cs typeface="宋体"/>
              </a:rPr>
              <a:t>巡回</a:t>
            </a:r>
            <a:r>
              <a:rPr lang="en-US" altLang="zh-CN" sz="2000" b="1" spc="-5" dirty="0" smtClean="0">
                <a:latin typeface="+mn-ea"/>
                <a:cs typeface="宋体"/>
              </a:rPr>
              <a:t>3</a:t>
            </a:r>
            <a:endParaRPr sz="2000" b="1" dirty="0">
              <a:latin typeface="+mn-ea"/>
              <a:cs typeface="Arial"/>
            </a:endParaRPr>
          </a:p>
        </p:txBody>
      </p:sp>
      <p:sp>
        <p:nvSpPr>
          <p:cNvPr id="24" name="object 19"/>
          <p:cNvSpPr txBox="1"/>
          <p:nvPr/>
        </p:nvSpPr>
        <p:spPr>
          <a:xfrm>
            <a:off x="1393784" y="3710170"/>
            <a:ext cx="67564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smtClean="0">
                <a:latin typeface="+mn-ea"/>
                <a:cs typeface="宋体"/>
              </a:rPr>
              <a:t>巡回</a:t>
            </a:r>
            <a:r>
              <a:rPr lang="en-US" altLang="zh-CN" sz="2000" b="1" spc="-5" dirty="0" smtClean="0">
                <a:latin typeface="+mn-ea"/>
                <a:cs typeface="宋体"/>
              </a:rPr>
              <a:t>4</a:t>
            </a:r>
            <a:endParaRPr sz="2000" b="1" dirty="0">
              <a:latin typeface="+mn-ea"/>
              <a:cs typeface="Arial"/>
            </a:endParaRPr>
          </a:p>
        </p:txBody>
      </p:sp>
      <p:sp>
        <p:nvSpPr>
          <p:cNvPr id="25" name="object 19"/>
          <p:cNvSpPr txBox="1"/>
          <p:nvPr/>
        </p:nvSpPr>
        <p:spPr>
          <a:xfrm>
            <a:off x="1402470" y="4298356"/>
            <a:ext cx="67564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smtClean="0">
                <a:latin typeface="+mn-ea"/>
                <a:cs typeface="宋体"/>
              </a:rPr>
              <a:t>巡回</a:t>
            </a:r>
            <a:r>
              <a:rPr lang="en-US" altLang="zh-CN" sz="2000" b="1" spc="-5" dirty="0" smtClean="0">
                <a:latin typeface="+mn-ea"/>
                <a:cs typeface="宋体"/>
              </a:rPr>
              <a:t>5</a:t>
            </a:r>
            <a:endParaRPr sz="2000" b="1" dirty="0">
              <a:latin typeface="+mn-ea"/>
              <a:cs typeface="Arial"/>
            </a:endParaRPr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548624E-6C9C-4D07-A0D0-56342FF80F6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36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/>
      <p:bldP spid="22" grpId="0"/>
      <p:bldP spid="23" grpId="0"/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快速排序一次</a:t>
            </a:r>
            <a:r>
              <a:rPr sz="4400" spc="-5" dirty="0">
                <a:latin typeface="黑体" panose="02010609060101010101" pitchFamily="49" charset="-122"/>
                <a:ea typeface="黑体" panose="02010609060101010101" pitchFamily="49" charset="-122"/>
              </a:rPr>
              <a:t>递归运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755973"/>
              </p:ext>
            </p:extLst>
          </p:nvPr>
        </p:nvGraphicFramePr>
        <p:xfrm>
          <a:off x="2440560" y="1346200"/>
          <a:ext cx="466343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827041" y="203873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38014" y="203873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95642" y="203873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36317" y="272605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80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15892" y="272605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84494" y="272605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73520" y="2726054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36317" y="4026027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80" h="322579">
                <a:moveTo>
                  <a:pt x="0" y="0"/>
                </a:moveTo>
                <a:lnTo>
                  <a:pt x="589026" y="0"/>
                </a:lnTo>
                <a:lnTo>
                  <a:pt x="589026" y="322326"/>
                </a:lnTo>
                <a:lnTo>
                  <a:pt x="0" y="3223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15892" y="4026027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6"/>
                </a:lnTo>
                <a:lnTo>
                  <a:pt x="0" y="3223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84494" y="4026027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6"/>
                </a:lnTo>
                <a:lnTo>
                  <a:pt x="0" y="3223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73520" y="4026027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6"/>
                </a:lnTo>
                <a:lnTo>
                  <a:pt x="0" y="3223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416199"/>
              </p:ext>
            </p:extLst>
          </p:nvPr>
        </p:nvGraphicFramePr>
        <p:xfrm>
          <a:off x="2434718" y="4013453"/>
          <a:ext cx="4716778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9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99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535050" y="1991360"/>
            <a:ext cx="789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交换</a:t>
            </a:r>
            <a:r>
              <a:rPr sz="2000" b="1" spc="-5" dirty="0" smtClean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7" name="object 23"/>
          <p:cNvSpPr txBox="1"/>
          <p:nvPr/>
        </p:nvSpPr>
        <p:spPr>
          <a:xfrm>
            <a:off x="1542423" y="2696558"/>
            <a:ext cx="789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smtClean="0">
                <a:latin typeface="宋体"/>
                <a:cs typeface="宋体"/>
              </a:rPr>
              <a:t>交换</a:t>
            </a:r>
            <a:r>
              <a:rPr lang="en-US" sz="2000" b="1" spc="-5" dirty="0" smtClean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019182" y="201931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184304" y="201931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76696" y="201931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362538" y="201931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603522" y="201931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433951" y="201931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44072" y="201931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523498" y="2019318"/>
            <a:ext cx="586800" cy="341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" name="object 5"/>
          <p:cNvSpPr/>
          <p:nvPr/>
        </p:nvSpPr>
        <p:spPr>
          <a:xfrm>
            <a:off x="4230640" y="2715978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"/>
          <p:cNvSpPr/>
          <p:nvPr/>
        </p:nvSpPr>
        <p:spPr>
          <a:xfrm>
            <a:off x="6588268" y="2715978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矩形 62"/>
          <p:cNvSpPr/>
          <p:nvPr/>
        </p:nvSpPr>
        <p:spPr>
          <a:xfrm>
            <a:off x="5936698" y="269965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176930" y="2696558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4620" y="2699568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355164" y="2696558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596148" y="2696558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426577" y="2696558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017890" y="2696558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16124" y="2696566"/>
            <a:ext cx="586800" cy="341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object 8"/>
          <p:cNvSpPr/>
          <p:nvPr/>
        </p:nvSpPr>
        <p:spPr>
          <a:xfrm>
            <a:off x="3036317" y="3363246"/>
            <a:ext cx="559831" cy="312504"/>
          </a:xfrm>
          <a:custGeom>
            <a:avLst/>
            <a:gdLst/>
            <a:ahLst/>
            <a:cxnLst/>
            <a:rect l="l" t="t" r="r" b="b"/>
            <a:pathLst>
              <a:path w="589280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9"/>
          <p:cNvSpPr/>
          <p:nvPr/>
        </p:nvSpPr>
        <p:spPr>
          <a:xfrm>
            <a:off x="4215892" y="3363246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0"/>
          <p:cNvSpPr/>
          <p:nvPr/>
        </p:nvSpPr>
        <p:spPr>
          <a:xfrm>
            <a:off x="5984494" y="3363246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11"/>
          <p:cNvSpPr/>
          <p:nvPr/>
        </p:nvSpPr>
        <p:spPr>
          <a:xfrm>
            <a:off x="6573520" y="3363246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"/>
          <p:cNvSpPr/>
          <p:nvPr/>
        </p:nvSpPr>
        <p:spPr>
          <a:xfrm>
            <a:off x="4230640" y="33531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6"/>
          <p:cNvSpPr/>
          <p:nvPr/>
        </p:nvSpPr>
        <p:spPr>
          <a:xfrm>
            <a:off x="6588268" y="33531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矩形 76"/>
          <p:cNvSpPr/>
          <p:nvPr/>
        </p:nvSpPr>
        <p:spPr>
          <a:xfrm>
            <a:off x="5936698" y="3336842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176930" y="3333750"/>
            <a:ext cx="586800" cy="3450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764620" y="3336760"/>
            <a:ext cx="586800" cy="342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355164" y="3341124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596148" y="3333750"/>
            <a:ext cx="580782" cy="3450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426577" y="3333750"/>
            <a:ext cx="586800" cy="342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017890" y="3333750"/>
            <a:ext cx="578258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516124" y="3341132"/>
            <a:ext cx="586800" cy="341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5" name="object 23"/>
          <p:cNvSpPr txBox="1"/>
          <p:nvPr/>
        </p:nvSpPr>
        <p:spPr>
          <a:xfrm>
            <a:off x="1565521" y="3324389"/>
            <a:ext cx="789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spc="-5" dirty="0">
                <a:latin typeface="宋体"/>
                <a:cs typeface="Arial"/>
              </a:rPr>
              <a:t>划分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6" name="object 23"/>
          <p:cNvSpPr txBox="1"/>
          <p:nvPr/>
        </p:nvSpPr>
        <p:spPr>
          <a:xfrm>
            <a:off x="1557171" y="3981396"/>
            <a:ext cx="789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dirty="0">
                <a:latin typeface="Arial"/>
                <a:cs typeface="Arial"/>
              </a:rPr>
              <a:t>子问题</a:t>
            </a:r>
            <a:endParaRPr sz="2000" b="1" dirty="0">
              <a:latin typeface="Arial"/>
              <a:cs typeface="Arial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48228BE-FECD-42A7-9A77-11472BB3FEF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50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68 0.00031 L 0.07952 -0.04009 C 0.09809 -0.04904 0.12587 -0.05397 0.15469 -0.05397 C 0.1875 -0.05397 0.21389 -0.04904 0.23247 -0.04009 L 0.32084 0.00031 " pathEditMode="relative" rAng="0" ptsTypes="FffFF">
                                      <p:cBhvr>
                                        <p:cTn id="3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76" y="-2714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6 -4.71931E-6 L -0.08004 0.07064 C -0.09879 0.08668 -0.12656 0.09562 -0.15504 0.09562 C -0.18785 0.09562 -0.21441 0.08668 -0.23229 0.07064 L -0.32031 -4.71931E-6 " pathEditMode="relative" rAng="5400000" ptsTypes="FffFF">
                                      <p:cBhvr>
                                        <p:cTn id="3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89" y="47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031 L 0.01702 -0.04133 C 0.02049 -0.05059 0.02587 -0.05552 0.03143 -0.05552 C 0.03785 -0.05552 0.04289 -0.05059 0.04636 -0.04133 L 0.06355 -0.00031 " pathEditMode="relative" rAng="0" ptsTypes="FffFF">
                                      <p:cBhvr>
                                        <p:cTn id="7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-2776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0.00062 L -0.01615 0.07126 C -0.01997 0.0873 -0.0257 0.09624 -0.03177 0.09624 C -0.03854 0.09624 -0.0441 0.0873 -0.04792 0.07126 L -0.06615 0.00062 " pathEditMode="relative" rAng="5400000" ptsTypes="FffFF">
                                      <p:cBhvr>
                                        <p:cTn id="72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0" y="47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 0.00154 L 0.07222 -0.03855 C 0.08628 -0.0475 0.10729 -0.05243 0.12916 -0.05243 C 0.15416 -0.05243 0.17413 -0.0475 0.18819 -0.03855 L 0.2552 0.00154 " pathEditMode="relative" rAng="0" ptsTypes="FffFF">
                                      <p:cBhvr>
                                        <p:cTn id="108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2714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 4.75015E-7 L -0.07222 0.0401 C -0.08628 0.04904 -0.1073 0.05398 -0.12917 0.05398 C -0.15417 0.05398 -0.17414 0.04904 -0.1882 0.0401 L -0.25521 4.75015E-7 " pathEditMode="relative" rAng="10800000" ptsTypes="FffFF">
                                      <p:cBhvr>
                                        <p:cTn id="11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27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3" grpId="0"/>
      <p:bldP spid="47" grpId="0"/>
      <p:bldP spid="52" grpId="0" animBg="1"/>
      <p:bldP spid="52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8" grpId="1" animBg="1"/>
      <p:bldP spid="5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5" grpId="1" animBg="1"/>
      <p:bldP spid="66" grpId="0" animBg="1"/>
      <p:bldP spid="66" grpId="1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79" grpId="1" animBg="1"/>
      <p:bldP spid="80" grpId="0" animBg="1"/>
      <p:bldP spid="81" grpId="0" animBg="1"/>
      <p:bldP spid="82" grpId="0" animBg="1"/>
      <p:bldP spid="82" grpId="1" animBg="1"/>
      <p:bldP spid="83" grpId="0" animBg="1"/>
      <p:bldP spid="84" grpId="0" animBg="1"/>
      <p:bldP spid="85" grpId="0"/>
      <p:bldP spid="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二分归并排序</a:t>
            </a:r>
            <a:r>
              <a:rPr sz="4400" spc="-5" dirty="0">
                <a:latin typeface="黑体" panose="02010609060101010101" pitchFamily="49" charset="-122"/>
                <a:ea typeface="黑体" panose="02010609060101010101" pitchFamily="49" charset="-122"/>
              </a:rPr>
              <a:t>运行实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942778"/>
              </p:ext>
            </p:extLst>
          </p:nvPr>
        </p:nvGraphicFramePr>
        <p:xfrm>
          <a:off x="2385060" y="1251840"/>
          <a:ext cx="466343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829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758626" y="19443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36678" y="19443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5705" y="1944370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563856"/>
              </p:ext>
            </p:extLst>
          </p:nvPr>
        </p:nvGraphicFramePr>
        <p:xfrm>
          <a:off x="2388425" y="1931797"/>
          <a:ext cx="4716775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758626" y="261112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36678" y="261112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25705" y="2611120"/>
            <a:ext cx="590550" cy="322580"/>
          </a:xfrm>
          <a:custGeom>
            <a:avLst/>
            <a:gdLst/>
            <a:ahLst/>
            <a:cxnLst/>
            <a:rect l="l" t="t" r="r" b="b"/>
            <a:pathLst>
              <a:path w="590550" h="322580">
                <a:moveTo>
                  <a:pt x="0" y="0"/>
                </a:moveTo>
                <a:lnTo>
                  <a:pt x="590550" y="0"/>
                </a:lnTo>
                <a:lnTo>
                  <a:pt x="590550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9289"/>
              </p:ext>
            </p:extLst>
          </p:nvPr>
        </p:nvGraphicFramePr>
        <p:xfrm>
          <a:off x="2388425" y="2598547"/>
          <a:ext cx="4716775" cy="3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22325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0" marB="0">
                    <a:lnL w="28575">
                      <a:solidFill>
                        <a:srgbClr val="385D8A"/>
                      </a:solidFill>
                      <a:prstDash val="solid"/>
                    </a:lnL>
                    <a:lnR w="28575">
                      <a:solidFill>
                        <a:srgbClr val="385D8A"/>
                      </a:solidFill>
                      <a:prstDash val="solid"/>
                    </a:lnR>
                    <a:lnT w="28575">
                      <a:solidFill>
                        <a:srgbClr val="385D8A"/>
                      </a:solidFill>
                      <a:prstDash val="solid"/>
                    </a:lnT>
                    <a:lnB w="28575">
                      <a:solidFill>
                        <a:srgbClr val="385D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4749482" y="331597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79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4000" y="1897000"/>
            <a:ext cx="9906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 err="1" smtClean="0">
                <a:latin typeface="宋体"/>
                <a:cs typeface="宋体"/>
              </a:rPr>
              <a:t>划分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21" name="object 16"/>
          <p:cNvSpPr txBox="1"/>
          <p:nvPr/>
        </p:nvSpPr>
        <p:spPr>
          <a:xfrm>
            <a:off x="-494519" y="3790435"/>
            <a:ext cx="453311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350"/>
              </a:spcBef>
            </a:pPr>
            <a:r>
              <a:rPr sz="2400" b="1" spc="-5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合并后的</a:t>
            </a:r>
            <a:r>
              <a:rPr sz="24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输</a:t>
            </a:r>
            <a:r>
              <a:rPr sz="2400" b="1" spc="-1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出</a:t>
            </a:r>
            <a:endParaRPr sz="2400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23" name="object 16"/>
          <p:cNvSpPr txBox="1"/>
          <p:nvPr/>
        </p:nvSpPr>
        <p:spPr>
          <a:xfrm>
            <a:off x="1547247" y="2401190"/>
            <a:ext cx="990600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dirty="0" smtClean="0">
                <a:latin typeface="宋体"/>
                <a:cs typeface="宋体"/>
              </a:rPr>
              <a:t>递归</a:t>
            </a:r>
            <a:endParaRPr lang="en-US" altLang="zh-CN" sz="2000" b="1" dirty="0" smtClean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dirty="0" smtClean="0">
                <a:latin typeface="宋体"/>
                <a:cs typeface="宋体"/>
              </a:rPr>
              <a:t>排序</a:t>
            </a:r>
            <a:endParaRPr sz="2000" b="1" dirty="0">
              <a:latin typeface="宋体"/>
              <a:cs typeface="宋体"/>
            </a:endParaRPr>
          </a:p>
        </p:txBody>
      </p:sp>
      <p:sp>
        <p:nvSpPr>
          <p:cNvPr id="24" name="object 4"/>
          <p:cNvSpPr/>
          <p:nvPr/>
        </p:nvSpPr>
        <p:spPr>
          <a:xfrm>
            <a:off x="4794035" y="322161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/>
          <p:cNvSpPr/>
          <p:nvPr/>
        </p:nvSpPr>
        <p:spPr>
          <a:xfrm>
            <a:off x="4205008" y="3221610"/>
            <a:ext cx="589280" cy="322580"/>
          </a:xfrm>
          <a:custGeom>
            <a:avLst/>
            <a:gdLst/>
            <a:ahLst/>
            <a:cxnLst/>
            <a:rect l="l" t="t" r="r" b="b"/>
            <a:pathLst>
              <a:path w="589279" h="322580">
                <a:moveTo>
                  <a:pt x="0" y="0"/>
                </a:moveTo>
                <a:lnTo>
                  <a:pt x="589026" y="0"/>
                </a:lnTo>
                <a:lnTo>
                  <a:pt x="589026" y="322325"/>
                </a:lnTo>
                <a:lnTo>
                  <a:pt x="0" y="3223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矩形 26"/>
          <p:cNvSpPr/>
          <p:nvPr/>
        </p:nvSpPr>
        <p:spPr>
          <a:xfrm>
            <a:off x="2986176" y="320219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151298" y="320219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43690" y="320219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329532" y="320219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70516" y="320219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400945" y="3202190"/>
            <a:ext cx="586800" cy="342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11066" y="3202190"/>
            <a:ext cx="586800" cy="342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90492" y="3202198"/>
            <a:ext cx="586800" cy="341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5354427-24C9-4C33-972A-4D4AEC389EE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63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4.64054E-6 L -0.00052 0.1129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56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1 -0.01173 L -0.00642 0.1030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57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11261 L -0.19167 0.1126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0.00925 L 0.00122 0.1073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90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58 0.11755 L 0.06493 0.11385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1326 L -5.55556E-7 0.1113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490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10984 L -0.12656 0.11447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11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0.00833 L -0.00052 0.1064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490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12743 L 0.12986 0.11447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5" y="-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6 4.64054E-6 L -2.22222E-6 0.11292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5646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.11354 L -0.0618 0.11354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1388 L -2.77778E-7 0.112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06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4 0.10891 L -0.06233 0.11354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247 L 0.00243 0.1104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5646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95 0.11354 L 0.25695 0.11354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6" grpId="0"/>
      <p:bldP spid="21" grpId="0"/>
      <p:bldP spid="23" grpId="0"/>
      <p:bldP spid="24" grpId="0" animBg="1"/>
      <p:bldP spid="24" grpId="1" animBg="1"/>
      <p:bldP spid="25" grpId="0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3472" y="1352550"/>
            <a:ext cx="1905" cy="2573655"/>
          </a:xfrm>
          <a:custGeom>
            <a:avLst/>
            <a:gdLst/>
            <a:ahLst/>
            <a:cxnLst/>
            <a:rect l="l" t="t" r="r" b="b"/>
            <a:pathLst>
              <a:path w="1904" h="2573654">
                <a:moveTo>
                  <a:pt x="1587" y="0"/>
                </a:moveTo>
                <a:lnTo>
                  <a:pt x="0" y="2573337"/>
                </a:lnTo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19370" y="1995677"/>
            <a:ext cx="107950" cy="1905"/>
          </a:xfrm>
          <a:custGeom>
            <a:avLst/>
            <a:gdLst/>
            <a:ahLst/>
            <a:cxnLst/>
            <a:rect l="l" t="t" r="r" b="b"/>
            <a:pathLst>
              <a:path w="107950" h="1905">
                <a:moveTo>
                  <a:pt x="-14477" y="793"/>
                </a:moveTo>
                <a:lnTo>
                  <a:pt x="122427" y="793"/>
                </a:lnTo>
              </a:path>
            </a:pathLst>
          </a:custGeom>
          <a:ln w="3054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9370" y="2881122"/>
            <a:ext cx="107950" cy="1905"/>
          </a:xfrm>
          <a:custGeom>
            <a:avLst/>
            <a:gdLst/>
            <a:ahLst/>
            <a:cxnLst/>
            <a:rect l="l" t="t" r="r" b="b"/>
            <a:pathLst>
              <a:path w="107950" h="1905">
                <a:moveTo>
                  <a:pt x="-14477" y="793"/>
                </a:moveTo>
                <a:lnTo>
                  <a:pt x="122427" y="793"/>
                </a:lnTo>
              </a:path>
            </a:pathLst>
          </a:custGeom>
          <a:ln w="3054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881" y="342507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1154401"/>
            <a:ext cx="3679190" cy="25476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b="1" spc="-5" dirty="0">
                <a:latin typeface="宋体"/>
                <a:cs typeface="宋体"/>
              </a:rPr>
              <a:t>问题：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200" b="1" spc="-5" dirty="0">
                <a:latin typeface="宋体"/>
                <a:cs typeface="宋体"/>
              </a:rPr>
              <a:t>哪个排序算法</a:t>
            </a:r>
            <a:r>
              <a:rPr sz="2200" b="1" dirty="0">
                <a:latin typeface="宋体"/>
                <a:cs typeface="宋体"/>
              </a:rPr>
              <a:t>效率最</a:t>
            </a:r>
            <a:r>
              <a:rPr sz="2200" b="1" spc="-5" dirty="0">
                <a:latin typeface="宋体"/>
                <a:cs typeface="宋体"/>
              </a:rPr>
              <a:t>高？</a:t>
            </a:r>
            <a:endParaRPr sz="2200" dirty="0">
              <a:latin typeface="宋体"/>
              <a:cs typeface="宋体"/>
            </a:endParaRPr>
          </a:p>
          <a:p>
            <a:pPr marL="12700" marR="5080">
              <a:lnSpc>
                <a:spcPct val="120000"/>
              </a:lnSpc>
            </a:pPr>
            <a:r>
              <a:rPr sz="2200" b="1" dirty="0">
                <a:latin typeface="宋体"/>
                <a:cs typeface="宋体"/>
              </a:rPr>
              <a:t>是否可找到更好的排序算法</a:t>
            </a:r>
            <a:r>
              <a:rPr sz="2200" b="1" spc="-5" dirty="0">
                <a:latin typeface="宋体"/>
                <a:cs typeface="宋体"/>
              </a:rPr>
              <a:t>？ 排序问题计算</a:t>
            </a:r>
            <a:r>
              <a:rPr sz="2200" b="1" dirty="0">
                <a:latin typeface="宋体"/>
                <a:cs typeface="宋体"/>
              </a:rPr>
              <a:t>难度如</a:t>
            </a:r>
            <a:r>
              <a:rPr sz="2200" b="1" spc="-5" dirty="0">
                <a:latin typeface="宋体"/>
                <a:cs typeface="宋体"/>
              </a:rPr>
              <a:t>何？</a:t>
            </a:r>
            <a:endParaRPr sz="2200" dirty="0">
              <a:latin typeface="宋体"/>
              <a:cs typeface="宋体"/>
            </a:endParaRPr>
          </a:p>
          <a:p>
            <a:pPr marL="12700" marR="570865">
              <a:lnSpc>
                <a:spcPct val="118000"/>
              </a:lnSpc>
              <a:spcBef>
                <a:spcPts val="50"/>
              </a:spcBef>
            </a:pPr>
            <a:r>
              <a:rPr sz="2200" b="1" spc="-5" dirty="0">
                <a:latin typeface="宋体"/>
                <a:cs typeface="宋体"/>
              </a:rPr>
              <a:t>其他问题的计</a:t>
            </a:r>
            <a:r>
              <a:rPr sz="2200" b="1" dirty="0">
                <a:latin typeface="宋体"/>
                <a:cs typeface="宋体"/>
              </a:rPr>
              <a:t>算复杂</a:t>
            </a:r>
            <a:r>
              <a:rPr sz="2200" b="1" spc="-10" dirty="0">
                <a:latin typeface="宋体"/>
                <a:cs typeface="宋体"/>
              </a:rPr>
              <a:t>度 </a:t>
            </a:r>
            <a:r>
              <a:rPr sz="2200" b="1" spc="-5" dirty="0">
                <a:latin typeface="宋体"/>
                <a:cs typeface="宋体"/>
              </a:rPr>
              <a:t>问题计算复杂</a:t>
            </a:r>
            <a:r>
              <a:rPr sz="2200" b="1" dirty="0">
                <a:latin typeface="宋体"/>
                <a:cs typeface="宋体"/>
              </a:rPr>
              <a:t>度估计</a:t>
            </a:r>
            <a:r>
              <a:rPr sz="2200" b="1" spc="-5" dirty="0">
                <a:latin typeface="宋体"/>
                <a:cs typeface="宋体"/>
              </a:rPr>
              <a:t>方法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19370" y="3638550"/>
            <a:ext cx="106680" cy="1905"/>
          </a:xfrm>
          <a:custGeom>
            <a:avLst/>
            <a:gdLst/>
            <a:ahLst/>
            <a:cxnLst/>
            <a:rect l="l" t="t" r="r" b="b"/>
            <a:pathLst>
              <a:path w="106679" h="1904">
                <a:moveTo>
                  <a:pt x="-14477" y="793"/>
                </a:moveTo>
                <a:lnTo>
                  <a:pt x="120840" y="793"/>
                </a:lnTo>
              </a:path>
            </a:pathLst>
          </a:custGeom>
          <a:ln w="30543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11551" y="1374901"/>
            <a:ext cx="166052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插入</a:t>
            </a:r>
            <a:r>
              <a:rPr sz="2000" b="1" dirty="0">
                <a:latin typeface="宋体"/>
                <a:cs typeface="宋体"/>
              </a:rPr>
              <a:t>排</a:t>
            </a:r>
            <a:r>
              <a:rPr sz="2000" b="1" spc="-10" dirty="0">
                <a:latin typeface="宋体"/>
                <a:cs typeface="宋体"/>
              </a:rPr>
              <a:t>序</a:t>
            </a:r>
            <a:endParaRPr sz="2000">
              <a:latin typeface="宋体"/>
              <a:cs typeface="宋体"/>
            </a:endParaRPr>
          </a:p>
          <a:p>
            <a:pPr marL="603885" marR="30480" indent="-553720" algn="r">
              <a:lnSpc>
                <a:spcPts val="2380"/>
              </a:lnSpc>
              <a:spcBef>
                <a:spcPts val="120"/>
              </a:spcBef>
              <a:tabLst>
                <a:tab pos="603885" algn="l"/>
              </a:tabLst>
            </a:pPr>
            <a:r>
              <a:rPr sz="3000" b="1" i="1" spc="-15" baseline="-16666" dirty="0">
                <a:latin typeface="Times New Roman"/>
                <a:cs typeface="Times New Roman"/>
              </a:rPr>
              <a:t>n</a:t>
            </a:r>
            <a:r>
              <a:rPr sz="1300" b="1" spc="15" dirty="0">
                <a:latin typeface="Calibri"/>
                <a:cs typeface="Calibri"/>
              </a:rPr>
              <a:t>2</a:t>
            </a:r>
            <a:r>
              <a:rPr sz="1300" b="1" dirty="0">
                <a:latin typeface="Calibri"/>
                <a:cs typeface="Calibri"/>
              </a:rPr>
              <a:t>	</a:t>
            </a:r>
            <a:r>
              <a:rPr sz="2000" b="1" spc="-5" dirty="0">
                <a:latin typeface="宋体"/>
                <a:cs typeface="宋体"/>
              </a:rPr>
              <a:t>冒泡</a:t>
            </a:r>
            <a:r>
              <a:rPr sz="2000" b="1" dirty="0">
                <a:latin typeface="宋体"/>
                <a:cs typeface="宋体"/>
              </a:rPr>
              <a:t>排</a:t>
            </a:r>
            <a:r>
              <a:rPr sz="2000" b="1" spc="-10" dirty="0">
                <a:latin typeface="宋体"/>
                <a:cs typeface="宋体"/>
              </a:rPr>
              <a:t>序 </a:t>
            </a:r>
            <a:r>
              <a:rPr sz="2000" b="1" spc="-5" dirty="0">
                <a:latin typeface="宋体"/>
                <a:cs typeface="宋体"/>
              </a:rPr>
              <a:t>快速</a:t>
            </a:r>
            <a:r>
              <a:rPr sz="2000" b="1" dirty="0">
                <a:latin typeface="宋体"/>
                <a:cs typeface="宋体"/>
              </a:rPr>
              <a:t>排</a:t>
            </a:r>
            <a:r>
              <a:rPr sz="2000" b="1" spc="-10" dirty="0">
                <a:latin typeface="宋体"/>
                <a:cs typeface="宋体"/>
              </a:rPr>
              <a:t>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8483" y="2596559"/>
            <a:ext cx="1799589" cy="53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005"/>
              </a:lnSpc>
              <a:spcBef>
                <a:spcPts val="95"/>
              </a:spcBef>
            </a:pP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b="1" spc="-5" dirty="0">
                <a:latin typeface="Times New Roman"/>
                <a:cs typeface="Times New Roman"/>
              </a:rPr>
              <a:t>log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b="1" i="1" spc="250" dirty="0">
                <a:latin typeface="Times New Roman"/>
                <a:cs typeface="Times New Roman"/>
              </a:rPr>
              <a:t> </a:t>
            </a:r>
            <a:r>
              <a:rPr sz="3000" b="1" spc="-7" baseline="22222" dirty="0">
                <a:latin typeface="宋体"/>
                <a:cs typeface="宋体"/>
              </a:rPr>
              <a:t>堆排序</a:t>
            </a:r>
            <a:endParaRPr sz="3000" baseline="22222">
              <a:latin typeface="宋体"/>
              <a:cs typeface="宋体"/>
            </a:endParaRPr>
          </a:p>
          <a:p>
            <a:pPr marL="742950">
              <a:lnSpc>
                <a:spcPts val="2005"/>
              </a:lnSpc>
            </a:pPr>
            <a:r>
              <a:rPr sz="2000" b="1" spc="-5" dirty="0">
                <a:latin typeface="宋体"/>
                <a:cs typeface="宋体"/>
              </a:rPr>
              <a:t>归并</a:t>
            </a:r>
            <a:r>
              <a:rPr sz="2000" b="1" dirty="0">
                <a:latin typeface="宋体"/>
                <a:cs typeface="宋体"/>
              </a:rPr>
              <a:t>排</a:t>
            </a:r>
            <a:r>
              <a:rPr sz="2000" b="1" spc="-10" dirty="0">
                <a:latin typeface="宋体"/>
                <a:cs typeface="宋体"/>
              </a:rPr>
              <a:t>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问题的计算复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杂度分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析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80747" y="3279902"/>
            <a:ext cx="1043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更好</a:t>
            </a:r>
            <a:r>
              <a:rPr sz="2000" b="1" dirty="0">
                <a:latin typeface="宋体"/>
                <a:cs typeface="宋体"/>
              </a:rPr>
              <a:t>的</a:t>
            </a:r>
            <a:r>
              <a:rPr sz="2000" b="1" spc="-10" dirty="0">
                <a:latin typeface="宋体"/>
                <a:cs typeface="宋体"/>
              </a:rPr>
              <a:t>算 </a:t>
            </a:r>
            <a:r>
              <a:rPr sz="2000" b="1" spc="-5" dirty="0">
                <a:latin typeface="宋体"/>
                <a:cs typeface="宋体"/>
              </a:rPr>
              <a:t>法下界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4006" y="3943350"/>
            <a:ext cx="5552503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b="1" spc="-5" dirty="0">
                <a:solidFill>
                  <a:srgbClr val="0070C0"/>
                </a:solidFill>
                <a:latin typeface="宋体"/>
                <a:cs typeface="宋体"/>
              </a:rPr>
              <a:t>哪</a:t>
            </a:r>
            <a:r>
              <a:rPr sz="2400" b="1" spc="-5" dirty="0" err="1" smtClean="0">
                <a:solidFill>
                  <a:srgbClr val="0070C0"/>
                </a:solidFill>
                <a:latin typeface="宋体"/>
                <a:cs typeface="宋体"/>
              </a:rPr>
              <a:t>个排序</a:t>
            </a:r>
            <a:r>
              <a:rPr sz="2400" b="1" dirty="0" err="1" smtClean="0">
                <a:solidFill>
                  <a:srgbClr val="0070C0"/>
                </a:solidFill>
                <a:latin typeface="宋体"/>
                <a:cs typeface="宋体"/>
              </a:rPr>
              <a:t>算</a:t>
            </a:r>
            <a:r>
              <a:rPr sz="2400" b="1" spc="5" dirty="0" err="1" smtClean="0">
                <a:solidFill>
                  <a:srgbClr val="0070C0"/>
                </a:solidFill>
                <a:latin typeface="宋体"/>
                <a:cs typeface="宋体"/>
              </a:rPr>
              <a:t>法</a:t>
            </a:r>
            <a:r>
              <a:rPr sz="2400" b="1" dirty="0" err="1" smtClean="0">
                <a:solidFill>
                  <a:srgbClr val="0070C0"/>
                </a:solidFill>
                <a:latin typeface="宋体"/>
                <a:cs typeface="宋体"/>
              </a:rPr>
              <a:t>效率最</a:t>
            </a:r>
            <a:r>
              <a:rPr sz="2400" b="1" spc="-5" dirty="0" err="1" smtClean="0">
                <a:solidFill>
                  <a:srgbClr val="0070C0"/>
                </a:solidFill>
                <a:latin typeface="宋体"/>
                <a:cs typeface="宋体"/>
              </a:rPr>
              <a:t>高</a:t>
            </a:r>
            <a:r>
              <a:rPr sz="24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?</a:t>
            </a:r>
            <a:endParaRPr lang="en-US" sz="2400" b="1" dirty="0" smtClean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宋体"/>
                <a:cs typeface="宋体"/>
              </a:rPr>
              <a:t>排序问题</a:t>
            </a:r>
            <a:r>
              <a:rPr lang="zh-CN" altLang="en-US" sz="2400" b="1" dirty="0" smtClean="0">
                <a:solidFill>
                  <a:srgbClr val="0070C0"/>
                </a:solidFill>
                <a:latin typeface="宋体"/>
                <a:cs typeface="宋体"/>
              </a:rPr>
              <a:t>的</a:t>
            </a:r>
            <a:r>
              <a:rPr lang="zh-CN" altLang="en-US" sz="2400" b="1" spc="5" dirty="0" smtClean="0">
                <a:solidFill>
                  <a:srgbClr val="0070C0"/>
                </a:solidFill>
                <a:latin typeface="宋体"/>
                <a:cs typeface="宋体"/>
              </a:rPr>
              <a:t>难</a:t>
            </a:r>
            <a:r>
              <a:rPr lang="zh-CN" altLang="en-US" sz="2400" b="1" dirty="0" smtClean="0">
                <a:solidFill>
                  <a:srgbClr val="0070C0"/>
                </a:solidFill>
                <a:latin typeface="宋体"/>
                <a:cs typeface="宋体"/>
              </a:rPr>
              <a:t>度？</a:t>
            </a:r>
            <a:endParaRPr lang="zh-CN" altLang="en-US" sz="2400" dirty="0" smtClean="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4000" y="3943350"/>
            <a:ext cx="593806" cy="761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32208" y="1367682"/>
            <a:ext cx="1828800" cy="990600"/>
          </a:xfrm>
          <a:custGeom>
            <a:avLst/>
            <a:gdLst/>
            <a:ahLst/>
            <a:cxnLst/>
            <a:rect l="l" t="t" r="r" b="b"/>
            <a:pathLst>
              <a:path w="1828800" h="99060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1663700" y="0"/>
                </a:lnTo>
                <a:lnTo>
                  <a:pt x="1707591" y="5897"/>
                </a:lnTo>
                <a:lnTo>
                  <a:pt x="1747030" y="22540"/>
                </a:lnTo>
                <a:lnTo>
                  <a:pt x="1780444" y="48355"/>
                </a:lnTo>
                <a:lnTo>
                  <a:pt x="1806259" y="81769"/>
                </a:lnTo>
                <a:lnTo>
                  <a:pt x="1822902" y="121208"/>
                </a:lnTo>
                <a:lnTo>
                  <a:pt x="1828800" y="165100"/>
                </a:lnTo>
                <a:lnTo>
                  <a:pt x="1828800" y="825487"/>
                </a:lnTo>
                <a:lnTo>
                  <a:pt x="1822902" y="869379"/>
                </a:lnTo>
                <a:lnTo>
                  <a:pt x="1806259" y="908821"/>
                </a:lnTo>
                <a:lnTo>
                  <a:pt x="1780444" y="942238"/>
                </a:lnTo>
                <a:lnTo>
                  <a:pt x="1747030" y="968056"/>
                </a:lnTo>
                <a:lnTo>
                  <a:pt x="1707591" y="984701"/>
                </a:lnTo>
                <a:lnTo>
                  <a:pt x="1663700" y="990600"/>
                </a:lnTo>
                <a:lnTo>
                  <a:pt x="165100" y="990600"/>
                </a:lnTo>
                <a:lnTo>
                  <a:pt x="121208" y="984701"/>
                </a:lnTo>
                <a:lnTo>
                  <a:pt x="81769" y="968056"/>
                </a:lnTo>
                <a:lnTo>
                  <a:pt x="48355" y="942238"/>
                </a:lnTo>
                <a:lnTo>
                  <a:pt x="22540" y="908821"/>
                </a:lnTo>
                <a:lnTo>
                  <a:pt x="5897" y="869379"/>
                </a:lnTo>
                <a:lnTo>
                  <a:pt x="0" y="825487"/>
                </a:lnTo>
                <a:lnTo>
                  <a:pt x="0" y="165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54330" y="2458680"/>
            <a:ext cx="1828800" cy="685800"/>
          </a:xfrm>
          <a:custGeom>
            <a:avLst/>
            <a:gdLst/>
            <a:ahLst/>
            <a:cxnLst/>
            <a:rect l="l" t="t" r="r" b="b"/>
            <a:pathLst>
              <a:path w="1828800" h="685800">
                <a:moveTo>
                  <a:pt x="0" y="114300"/>
                </a:moveTo>
                <a:lnTo>
                  <a:pt x="8983" y="69806"/>
                </a:lnTo>
                <a:lnTo>
                  <a:pt x="33480" y="33475"/>
                </a:lnTo>
                <a:lnTo>
                  <a:pt x="69812" y="8981"/>
                </a:lnTo>
                <a:lnTo>
                  <a:pt x="114300" y="0"/>
                </a:lnTo>
                <a:lnTo>
                  <a:pt x="1714500" y="0"/>
                </a:lnTo>
                <a:lnTo>
                  <a:pt x="1758987" y="8981"/>
                </a:lnTo>
                <a:lnTo>
                  <a:pt x="1795319" y="33475"/>
                </a:lnTo>
                <a:lnTo>
                  <a:pt x="1819816" y="69806"/>
                </a:lnTo>
                <a:lnTo>
                  <a:pt x="1828800" y="114300"/>
                </a:lnTo>
                <a:lnTo>
                  <a:pt x="1828800" y="571500"/>
                </a:lnTo>
                <a:lnTo>
                  <a:pt x="1819816" y="615987"/>
                </a:lnTo>
                <a:lnTo>
                  <a:pt x="1795319" y="652319"/>
                </a:lnTo>
                <a:lnTo>
                  <a:pt x="1758987" y="676816"/>
                </a:lnTo>
                <a:lnTo>
                  <a:pt x="1714500" y="685800"/>
                </a:lnTo>
                <a:lnTo>
                  <a:pt x="114300" y="685800"/>
                </a:lnTo>
                <a:lnTo>
                  <a:pt x="69812" y="676816"/>
                </a:lnTo>
                <a:lnTo>
                  <a:pt x="33480" y="652319"/>
                </a:lnTo>
                <a:lnTo>
                  <a:pt x="8983" y="615987"/>
                </a:lnTo>
                <a:lnTo>
                  <a:pt x="0" y="571500"/>
                </a:lnTo>
                <a:lnTo>
                  <a:pt x="0" y="1143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D6FF9D8-9FAB-4DE1-A09A-39A3FF5467C0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40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sz="4400" spc="-15" dirty="0"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53717"/>
            <a:ext cx="8227060" cy="253723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几种排序</a:t>
            </a:r>
            <a:r>
              <a:rPr sz="2400" b="1" dirty="0">
                <a:latin typeface="宋体"/>
                <a:cs typeface="宋体"/>
              </a:rPr>
              <a:t>算</a:t>
            </a:r>
            <a:r>
              <a:rPr sz="2400" b="1" spc="5" dirty="0">
                <a:latin typeface="宋体"/>
                <a:cs typeface="宋体"/>
              </a:rPr>
              <a:t>法</a:t>
            </a:r>
            <a:r>
              <a:rPr sz="2400" b="1" dirty="0">
                <a:latin typeface="宋体"/>
                <a:cs typeface="宋体"/>
              </a:rPr>
              <a:t>简</a:t>
            </a:r>
            <a:r>
              <a:rPr sz="2400" b="1" spc="-10" dirty="0">
                <a:latin typeface="宋体"/>
                <a:cs typeface="宋体"/>
              </a:rPr>
              <a:t>介</a:t>
            </a:r>
            <a:endParaRPr sz="2400" dirty="0">
              <a:latin typeface="宋体"/>
              <a:cs typeface="宋体"/>
            </a:endParaRPr>
          </a:p>
          <a:p>
            <a:pPr marL="412750" marR="3155950" algn="just">
              <a:lnSpc>
                <a:spcPct val="120000"/>
              </a:lnSpc>
              <a:spcBef>
                <a:spcPts val="20"/>
              </a:spcBef>
            </a:pPr>
            <a:r>
              <a:rPr sz="2000" b="1" spc="-5" dirty="0" err="1">
                <a:latin typeface="宋体"/>
                <a:cs typeface="宋体"/>
              </a:rPr>
              <a:t>插入</a:t>
            </a:r>
            <a:r>
              <a:rPr sz="2000" b="1" dirty="0" err="1">
                <a:latin typeface="宋体"/>
                <a:cs typeface="宋体"/>
              </a:rPr>
              <a:t>排</a:t>
            </a:r>
            <a:r>
              <a:rPr sz="2000" b="1" spc="-10" dirty="0" err="1">
                <a:latin typeface="宋体"/>
                <a:cs typeface="宋体"/>
              </a:rPr>
              <a:t>序</a:t>
            </a:r>
            <a:r>
              <a:rPr sz="2000" b="1" spc="-10" dirty="0">
                <a:latin typeface="宋体"/>
                <a:cs typeface="宋体"/>
              </a:rPr>
              <a:t> </a:t>
            </a:r>
            <a:endParaRPr lang="en-US" sz="2000" b="1" spc="-10" dirty="0" smtClean="0">
              <a:latin typeface="宋体"/>
              <a:cs typeface="宋体"/>
            </a:endParaRPr>
          </a:p>
          <a:p>
            <a:pPr marL="412750" marR="3155950" algn="just">
              <a:lnSpc>
                <a:spcPct val="120000"/>
              </a:lnSpc>
              <a:spcBef>
                <a:spcPts val="20"/>
              </a:spcBef>
            </a:pPr>
            <a:r>
              <a:rPr sz="2000" b="1" spc="-5" dirty="0" err="1" smtClean="0">
                <a:latin typeface="宋体"/>
                <a:cs typeface="宋体"/>
              </a:rPr>
              <a:t>冒泡</a:t>
            </a:r>
            <a:r>
              <a:rPr sz="2000" b="1" dirty="0" err="1" smtClean="0">
                <a:latin typeface="宋体"/>
                <a:cs typeface="宋体"/>
              </a:rPr>
              <a:t>排</a:t>
            </a:r>
            <a:r>
              <a:rPr sz="2000" b="1" spc="-10" dirty="0" err="1" smtClean="0">
                <a:latin typeface="宋体"/>
                <a:cs typeface="宋体"/>
              </a:rPr>
              <a:t>序</a:t>
            </a:r>
            <a:r>
              <a:rPr sz="2000" b="1" spc="-10" dirty="0" smtClean="0">
                <a:latin typeface="宋体"/>
                <a:cs typeface="宋体"/>
              </a:rPr>
              <a:t> </a:t>
            </a:r>
            <a:endParaRPr lang="en-US" sz="2000" b="1" spc="-10" dirty="0" smtClean="0">
              <a:latin typeface="宋体"/>
              <a:cs typeface="宋体"/>
            </a:endParaRPr>
          </a:p>
          <a:p>
            <a:pPr marL="412750" marR="3155950" algn="just">
              <a:lnSpc>
                <a:spcPct val="120000"/>
              </a:lnSpc>
              <a:spcBef>
                <a:spcPts val="20"/>
              </a:spcBef>
            </a:pPr>
            <a:r>
              <a:rPr sz="2000" b="1" spc="-5" dirty="0" err="1" smtClean="0">
                <a:latin typeface="宋体"/>
                <a:cs typeface="宋体"/>
              </a:rPr>
              <a:t>快速</a:t>
            </a:r>
            <a:r>
              <a:rPr sz="2000" b="1" dirty="0" err="1" smtClean="0">
                <a:latin typeface="宋体"/>
                <a:cs typeface="宋体"/>
              </a:rPr>
              <a:t>排</a:t>
            </a:r>
            <a:r>
              <a:rPr sz="2000" b="1" spc="-10" dirty="0" err="1" smtClean="0">
                <a:latin typeface="宋体"/>
                <a:cs typeface="宋体"/>
              </a:rPr>
              <a:t>序</a:t>
            </a:r>
            <a:r>
              <a:rPr sz="2000" b="1" spc="-10" dirty="0" smtClean="0">
                <a:latin typeface="宋体"/>
                <a:cs typeface="宋体"/>
              </a:rPr>
              <a:t> </a:t>
            </a:r>
            <a:endParaRPr lang="en-US" sz="2000" b="1" spc="-10" dirty="0" smtClean="0">
              <a:latin typeface="宋体"/>
              <a:cs typeface="宋体"/>
            </a:endParaRPr>
          </a:p>
          <a:p>
            <a:pPr marL="412750" marR="3155950" algn="just">
              <a:lnSpc>
                <a:spcPct val="120000"/>
              </a:lnSpc>
              <a:spcBef>
                <a:spcPts val="20"/>
              </a:spcBef>
            </a:pPr>
            <a:r>
              <a:rPr sz="2000" b="1" spc="-5" dirty="0" err="1" smtClean="0">
                <a:latin typeface="宋体"/>
                <a:cs typeface="宋体"/>
              </a:rPr>
              <a:t>归并</a:t>
            </a:r>
            <a:r>
              <a:rPr sz="2000" b="1" dirty="0" err="1" smtClean="0">
                <a:latin typeface="宋体"/>
                <a:cs typeface="宋体"/>
              </a:rPr>
              <a:t>排</a:t>
            </a:r>
            <a:r>
              <a:rPr sz="2000" b="1" spc="-10" dirty="0" err="1" smtClean="0">
                <a:latin typeface="宋体"/>
                <a:cs typeface="宋体"/>
              </a:rPr>
              <a:t>序</a:t>
            </a:r>
            <a:endParaRPr sz="2000" dirty="0">
              <a:latin typeface="宋体"/>
              <a:cs typeface="宋体"/>
            </a:endParaRPr>
          </a:p>
          <a:p>
            <a:pPr marL="355600" marR="5080" indent="-342900">
              <a:lnSpc>
                <a:spcPct val="100000"/>
              </a:lnSpc>
              <a:spcBef>
                <a:spcPts val="17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排序问题</a:t>
            </a:r>
            <a:r>
              <a:rPr sz="2400" b="1" dirty="0">
                <a:latin typeface="宋体"/>
                <a:cs typeface="宋体"/>
              </a:rPr>
              <a:t>的</a:t>
            </a:r>
            <a:r>
              <a:rPr sz="2400" b="1" spc="5" dirty="0">
                <a:latin typeface="宋体"/>
                <a:cs typeface="宋体"/>
              </a:rPr>
              <a:t>难</a:t>
            </a:r>
            <a:r>
              <a:rPr sz="2400" b="1" dirty="0">
                <a:latin typeface="宋体"/>
                <a:cs typeface="宋体"/>
              </a:rPr>
              <a:t>度估</a:t>
            </a:r>
            <a:r>
              <a:rPr sz="2400" b="1" spc="-5" dirty="0">
                <a:latin typeface="宋体"/>
                <a:cs typeface="宋体"/>
              </a:rPr>
              <a:t>计</a:t>
            </a:r>
            <a:r>
              <a:rPr sz="2400" b="1" dirty="0">
                <a:latin typeface="Calibri"/>
                <a:cs typeface="Calibri"/>
              </a:rPr>
              <a:t>—</a:t>
            </a:r>
            <a:r>
              <a:rPr sz="2400" b="1" spc="5" dirty="0">
                <a:latin typeface="Calibri"/>
                <a:cs typeface="Calibri"/>
              </a:rPr>
              <a:t>—</a:t>
            </a:r>
            <a:r>
              <a:rPr sz="2400" b="1" dirty="0" err="1" smtClean="0">
                <a:latin typeface="宋体"/>
                <a:cs typeface="宋体"/>
              </a:rPr>
              <a:t>界定什</a:t>
            </a:r>
            <a:r>
              <a:rPr sz="2400" b="1" spc="-5" dirty="0" err="1" smtClean="0">
                <a:latin typeface="宋体"/>
                <a:cs typeface="宋体"/>
              </a:rPr>
              <a:t>么是最好</a:t>
            </a:r>
            <a:r>
              <a:rPr sz="2400" b="1" dirty="0" err="1" smtClean="0">
                <a:latin typeface="宋体"/>
                <a:cs typeface="宋体"/>
              </a:rPr>
              <a:t>的</a:t>
            </a:r>
            <a:r>
              <a:rPr sz="2400" b="1" spc="5" dirty="0" err="1" smtClean="0">
                <a:latin typeface="宋体"/>
                <a:cs typeface="宋体"/>
              </a:rPr>
              <a:t>排</a:t>
            </a:r>
            <a:r>
              <a:rPr sz="2400" b="1" dirty="0" err="1" smtClean="0">
                <a:latin typeface="宋体"/>
                <a:cs typeface="宋体"/>
              </a:rPr>
              <a:t>序算</a:t>
            </a:r>
            <a:r>
              <a:rPr sz="2400" b="1" spc="-10" dirty="0" err="1" smtClean="0">
                <a:latin typeface="宋体"/>
                <a:cs typeface="宋体"/>
              </a:rPr>
              <a:t>法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6B69CDB-D653-4D2E-A9C6-9F95C54E3D6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9373" y="1657350"/>
            <a:ext cx="5844995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20" dirty="0" err="1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计算</a:t>
            </a:r>
            <a:r>
              <a:rPr sz="5400" b="1" spc="18" dirty="0" err="1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复杂性理论</a:t>
            </a:r>
            <a:endParaRPr sz="5400" b="1" spc="18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F37A-D168-4DF7-958B-731075D09E3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485353" y="2609179"/>
            <a:ext cx="2187193" cy="15581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7200" y="382389"/>
            <a:ext cx="822959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例4</a:t>
            </a:r>
            <a:r>
              <a:rPr sz="4400" b="1" spc="3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 </a:t>
            </a:r>
            <a:r>
              <a:rPr sz="4400" b="1" spc="1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货郎问题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21415"/>
            <a:ext cx="141730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1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问题：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199" y="1650653"/>
            <a:ext cx="8229599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657"/>
              </a:lnSpc>
            </a:pPr>
            <a:r>
              <a:rPr sz="2400" b="1" dirty="0" err="1">
                <a:solidFill>
                  <a:srgbClr val="000000"/>
                </a:solidFill>
                <a:latin typeface="+mn-ea"/>
                <a:cs typeface="SimSun"/>
              </a:rPr>
              <a:t>有</a:t>
            </a:r>
            <a:r>
              <a:rPr sz="2400" b="1" i="1" dirty="0" err="1">
                <a:solidFill>
                  <a:srgbClr val="000000"/>
                </a:solidFill>
                <a:latin typeface="+mn-ea"/>
                <a:cs typeface="HCLLAD+TimesNewRomanPS-BoldItalicMT"/>
              </a:rPr>
              <a:t>n</a:t>
            </a:r>
            <a:r>
              <a:rPr sz="2400" b="1" spc="11" dirty="0" err="1" smtClean="0">
                <a:solidFill>
                  <a:srgbClr val="000000"/>
                </a:solidFill>
                <a:latin typeface="+mn-ea"/>
                <a:cs typeface="SimSun"/>
              </a:rPr>
              <a:t>个城市</a:t>
            </a:r>
            <a:r>
              <a:rPr lang="zh-CN" altLang="en-US" sz="2400" b="1" spc="11" dirty="0" smtClean="0">
                <a:solidFill>
                  <a:srgbClr val="000000"/>
                </a:solidFill>
                <a:latin typeface="+mn-ea"/>
                <a:cs typeface="SimSun"/>
              </a:rPr>
              <a:t>，</a:t>
            </a:r>
            <a:r>
              <a:rPr sz="2400" b="1" spc="11" dirty="0" err="1" smtClean="0">
                <a:solidFill>
                  <a:srgbClr val="000000"/>
                </a:solidFill>
                <a:latin typeface="+mn-ea"/>
                <a:cs typeface="SimSun"/>
              </a:rPr>
              <a:t>已知任两个城市之间的距</a:t>
            </a:r>
            <a:r>
              <a:rPr sz="2400" b="1" dirty="0" err="1" smtClean="0">
                <a:solidFill>
                  <a:srgbClr val="000000"/>
                </a:solidFill>
                <a:latin typeface="+mn-ea"/>
                <a:cs typeface="SimSun"/>
              </a:rPr>
              <a:t>离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400" b="1" spc="10" dirty="0" smtClean="0">
                <a:solidFill>
                  <a:srgbClr val="000000"/>
                </a:solidFill>
                <a:latin typeface="+mn-ea"/>
                <a:cs typeface="SimSun"/>
              </a:rPr>
              <a:t>求一条每个城市恰好经过</a:t>
            </a:r>
            <a:r>
              <a:rPr sz="2400" b="1" dirty="0">
                <a:solidFill>
                  <a:srgbClr val="000000"/>
                </a:solidFill>
                <a:latin typeface="+mn-ea"/>
                <a:cs typeface="FKOFFV+TimesNewRomanPS-BoldMT"/>
              </a:rPr>
              <a:t>1</a:t>
            </a:r>
            <a:r>
              <a:rPr sz="2400" b="1" spc="11" dirty="0">
                <a:solidFill>
                  <a:srgbClr val="000000"/>
                </a:solidFill>
                <a:latin typeface="+mn-ea"/>
                <a:cs typeface="SimSun"/>
              </a:rPr>
              <a:t>次的回路</a:t>
            </a:r>
            <a:r>
              <a:rPr sz="2400" b="1" spc="11" dirty="0" smtClean="0">
                <a:solidFill>
                  <a:srgbClr val="000000"/>
                </a:solidFill>
                <a:latin typeface="+mn-ea"/>
                <a:cs typeface="SimSun"/>
              </a:rPr>
              <a:t>，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  <a:cs typeface="SimSun"/>
              </a:rPr>
              <a:t>使得总长度最小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spc="-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dirty="0" smtClean="0">
              <a:solidFill>
                <a:srgbClr val="000000"/>
              </a:solidFill>
              <a:latin typeface="+mn-ea"/>
              <a:cs typeface="FKOFFV+TimesNewRomanPS-Bold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0650" y="2265403"/>
            <a:ext cx="792860" cy="969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c</a:t>
            </a:r>
            <a:r>
              <a:rPr sz="2400" b="1" baseline="-21214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97662" y="2982756"/>
            <a:ext cx="638510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83091" y="2983771"/>
            <a:ext cx="509607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42717" y="3108301"/>
            <a:ext cx="509607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88661" y="3189052"/>
            <a:ext cx="509607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30211" y="3357479"/>
            <a:ext cx="509607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95363" y="3720619"/>
            <a:ext cx="792861" cy="969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c</a:t>
            </a:r>
            <a:r>
              <a:rPr sz="2400" b="1" baseline="-21214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4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231225" y="3755441"/>
            <a:ext cx="792860" cy="969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c</a:t>
            </a:r>
            <a:r>
              <a:rPr sz="2400" b="1" baseline="-21214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94932" y="4185258"/>
            <a:ext cx="509607" cy="690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18" name="object 14"/>
          <p:cNvSpPr txBox="1"/>
          <p:nvPr/>
        </p:nvSpPr>
        <p:spPr>
          <a:xfrm>
            <a:off x="4571227" y="3363838"/>
            <a:ext cx="792861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2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1" dirty="0" smtClean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c</a:t>
            </a:r>
            <a:r>
              <a:rPr lang="en-US" altLang="zh-CN" sz="2400" b="1" baseline="-21214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3</a:t>
            </a:r>
            <a:endParaRPr sz="2400" b="1" baseline="-21214" dirty="0">
              <a:solidFill>
                <a:srgbClr val="000000"/>
              </a:solidFill>
              <a:latin typeface="FKOFFV+TimesNewRomanPS-BoldMT"/>
              <a:cs typeface="FKOFFV+TimesNewRomanPS-BoldMT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CC54-73AF-4188-B946-32C0C70684A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295806" y="2724536"/>
            <a:ext cx="4349750" cy="996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2440" y="382389"/>
            <a:ext cx="820401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建模与算法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472440" y="2195302"/>
                <a:ext cx="6484970" cy="3462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681"/>
                  </a:lnSpc>
                </a:pPr>
                <a:r>
                  <a:rPr lang="en-US" altLang="zh-CN" sz="2400" b="1" dirty="0" smtClean="0">
                    <a:solidFill>
                      <a:srgbClr val="CC3200"/>
                    </a:solidFill>
                    <a:latin typeface="KUBLBA+ArialMT"/>
                    <a:cs typeface="KUBLBA+ArialMT"/>
                  </a:rPr>
                  <a:t>•</a:t>
                </a:r>
                <a:r>
                  <a:rPr lang="zh-CN" altLang="en-US" sz="2400" b="1" spc="1260" dirty="0">
                    <a:solidFill>
                      <a:srgbClr val="CC32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zh-CN" altLang="en-US" sz="2400" b="1" dirty="0">
                    <a:solidFill>
                      <a:srgbClr val="CC3200"/>
                    </a:solidFill>
                    <a:latin typeface="SimSun"/>
                    <a:cs typeface="SimSun"/>
                  </a:rPr>
                  <a:t>解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SimSun"/>
                    <a:cs typeface="SimSun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,⋯⋯,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SimSun"/>
                    <a:cs typeface="SimSun"/>
                  </a:rPr>
                  <a:t>的排列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,⋯⋯,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solidFill>
                      <a:srgbClr val="000000"/>
                    </a:solidFill>
                    <a:latin typeface="SimSun"/>
                    <a:cs typeface="SimSun"/>
                  </a:rPr>
                  <a:t>使得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SimSun"/>
                    <a:cs typeface="SimSun"/>
                  </a:rPr>
                  <a:t>：</a:t>
                </a:r>
                <a:endParaRPr sz="2400" dirty="0">
                  <a:solidFill>
                    <a:srgbClr val="000000"/>
                  </a:solidFill>
                  <a:latin typeface="SimSun"/>
                  <a:cs typeface="SimSun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" y="2195302"/>
                <a:ext cx="6484970" cy="346249"/>
              </a:xfrm>
              <a:prstGeom prst="rect">
                <a:avLst/>
              </a:prstGeom>
              <a:blipFill rotWithShape="1">
                <a:blip r:embed="rId3"/>
                <a:stretch>
                  <a:fillRect l="-2916" t="-38596" r="-1976" b="-4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427990" y="3999464"/>
            <a:ext cx="4969672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CC3200"/>
                </a:solidFill>
                <a:latin typeface="KUBLBA+ArialMT"/>
                <a:cs typeface="KUBLBA+ArialMT"/>
              </a:rPr>
              <a:t>•</a:t>
            </a:r>
            <a:r>
              <a:rPr sz="2400" b="1" spc="1260" dirty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C3200"/>
                </a:solidFill>
                <a:latin typeface="SimSun"/>
                <a:cs typeface="SimSun"/>
              </a:rPr>
              <a:t>现状</a:t>
            </a:r>
            <a:r>
              <a:rPr sz="2400" b="1" spc="11" dirty="0">
                <a:solidFill>
                  <a:srgbClr val="000000"/>
                </a:solidFill>
                <a:latin typeface="SimSun"/>
                <a:cs typeface="SimSun"/>
              </a:rPr>
              <a:t>：至今没找到有效的算法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753489" y="1672916"/>
            <a:ext cx="5898375" cy="517834"/>
            <a:chOff x="1753489" y="1350070"/>
            <a:chExt cx="5898375" cy="517834"/>
          </a:xfrm>
        </p:grpSpPr>
        <p:sp>
          <p:nvSpPr>
            <p:cNvPr id="8" name="object 8"/>
            <p:cNvSpPr txBox="1"/>
            <p:nvPr/>
          </p:nvSpPr>
          <p:spPr>
            <a:xfrm>
              <a:off x="1753489" y="1435317"/>
              <a:ext cx="730280" cy="37189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sz="2400" b="1" dirty="0" err="1" smtClean="0">
                  <a:solidFill>
                    <a:srgbClr val="000000"/>
                  </a:solidFill>
                  <a:latin typeface="SimSun"/>
                  <a:cs typeface="SimSun"/>
                </a:rPr>
                <a:t>距离</a:t>
              </a:r>
              <a:endParaRPr sz="24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2283022" y="1350070"/>
                  <a:ext cx="5368842" cy="5178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 1≤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022" y="1350070"/>
                  <a:ext cx="5368842" cy="51783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/>
          <p:cNvGrpSpPr/>
          <p:nvPr/>
        </p:nvGrpSpPr>
        <p:grpSpPr>
          <a:xfrm>
            <a:off x="472440" y="1140980"/>
            <a:ext cx="8204016" cy="461665"/>
            <a:chOff x="472440" y="1046734"/>
            <a:chExt cx="8204016" cy="461665"/>
          </a:xfrm>
        </p:grpSpPr>
        <p:sp>
          <p:nvSpPr>
            <p:cNvPr id="4" name="object 4"/>
            <p:cNvSpPr txBox="1"/>
            <p:nvPr/>
          </p:nvSpPr>
          <p:spPr>
            <a:xfrm>
              <a:off x="472440" y="1140655"/>
              <a:ext cx="8204016" cy="34624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26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>
                  <a:solidFill>
                    <a:srgbClr val="CC3200"/>
                  </a:solidFill>
                  <a:latin typeface="KUBLBA+ArialMT"/>
                  <a:cs typeface="KUBLBA+ArialMT"/>
                </a:rPr>
                <a:t>•</a:t>
              </a:r>
              <a:r>
                <a:rPr sz="2400" b="1" spc="1260" dirty="0">
                  <a:solidFill>
                    <a:srgbClr val="CC3200"/>
                  </a:solidFill>
                  <a:latin typeface="Times New Roman"/>
                  <a:cs typeface="Times New Roman"/>
                </a:rPr>
                <a:t> </a:t>
              </a:r>
              <a:r>
                <a:rPr sz="2400" b="1" dirty="0" err="1" smtClean="0">
                  <a:solidFill>
                    <a:srgbClr val="CC3200"/>
                  </a:solidFill>
                  <a:latin typeface="SimSun"/>
                  <a:cs typeface="SimSun"/>
                </a:rPr>
                <a:t>输入</a:t>
              </a:r>
              <a:r>
                <a:rPr lang="en-US" sz="2400" b="1" dirty="0" err="1" smtClean="0">
                  <a:solidFill>
                    <a:srgbClr val="CC3200"/>
                  </a:solidFill>
                  <a:latin typeface="SimSun"/>
                  <a:cs typeface="SimSun"/>
                </a:rPr>
                <a:t>:</a:t>
              </a:r>
              <a:r>
                <a:rPr sz="2400" b="1" spc="10" dirty="0" err="1" smtClean="0">
                  <a:solidFill>
                    <a:srgbClr val="000000"/>
                  </a:solidFill>
                  <a:latin typeface="SimSun"/>
                  <a:cs typeface="SimSun"/>
                </a:rPr>
                <a:t>有穷个城市的集合</a:t>
              </a:r>
              <a:r>
                <a:rPr lang="en-US" sz="2400" b="1" spc="10" dirty="0" smtClean="0">
                  <a:solidFill>
                    <a:srgbClr val="000000"/>
                  </a:solidFill>
                  <a:latin typeface="SimSun"/>
                  <a:cs typeface="SimSun"/>
                </a:rPr>
                <a:t>                 </a:t>
              </a:r>
              <a:r>
                <a:rPr sz="2400" b="1" dirty="0" smtClean="0">
                  <a:solidFill>
                    <a:srgbClr val="000000"/>
                  </a:solidFill>
                  <a:latin typeface="FKOFFV+TimesNewRomanPS-BoldMT"/>
                  <a:cs typeface="FKOFFV+TimesNewRomanPS-BoldMT"/>
                </a:rPr>
                <a:t>,</a:t>
              </a:r>
              <a:endParaRPr sz="2400" b="1" dirty="0">
                <a:solidFill>
                  <a:srgbClr val="000000"/>
                </a:solidFill>
                <a:latin typeface="FKOFFV+TimesNewRomanPS-BoldMT"/>
                <a:cs typeface="FKOFFV+TimesNewRomanPS-BoldM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909180" y="1046734"/>
                  <a:ext cx="29645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/>
                          </a:rPr>
                          <m:t>𝐶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={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⋯⋯,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180" y="1046734"/>
                  <a:ext cx="2964529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46024" y="2798728"/>
                <a:ext cx="3661322" cy="870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</a:rPr>
                        <m:t>min</m:t>
                      </m:r>
                      <m:r>
                        <a:rPr lang="en-US" altLang="zh-CN" b="0" i="1" smtClean="0">
                          <a:latin typeface="Cambria Math"/>
                        </a:rPr>
                        <m:t>⁡{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+1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4" y="2798728"/>
                <a:ext cx="3661322" cy="87055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CD7-9BCE-46A4-89AB-2B6875F3E5F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05679" y="2937521"/>
            <a:ext cx="4140198" cy="1281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6240" y="382389"/>
            <a:ext cx="829056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zh-CN" altLang="en-US" sz="4000" b="1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例</a:t>
            </a:r>
            <a:r>
              <a:rPr lang="en-US" altLang="zh-CN" sz="4000" b="1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5</a:t>
            </a:r>
            <a:r>
              <a:rPr lang="zh-CN" altLang="en-US" sz="4000" b="1" spc="31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 </a:t>
            </a:r>
            <a:r>
              <a:rPr sz="4000" b="1" spc="10" dirty="0" smtClean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0-1</a:t>
            </a:r>
            <a:r>
              <a:rPr sz="4000" b="1" spc="10" dirty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背包问题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8592" y="1188244"/>
            <a:ext cx="8208208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438"/>
              </a:lnSpc>
            </a:pP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0-1背包问题</a:t>
            </a:r>
            <a:r>
              <a:rPr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b="1" spc="1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个件物品要装入背包</a:t>
            </a:r>
            <a:r>
              <a:rPr sz="24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件物品的重量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i="1" baseline="-24818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b="1" i="1" spc="-138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价值</a:t>
            </a:r>
            <a:r>
              <a:rPr lang="en-US" altLang="zh-CN" sz="24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4818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2,…,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包最多允许装入的重量为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spc="2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问如何选择装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入背包的物品，使得总价值达到最大？</a:t>
            </a:r>
            <a:endParaRPr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endParaRPr sz="2200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162" y="2283718"/>
            <a:ext cx="583943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C00000"/>
                </a:solidFill>
                <a:latin typeface="SimSun"/>
                <a:cs typeface="SimSun"/>
              </a:rPr>
              <a:t>实例</a:t>
            </a: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：</a:t>
            </a:r>
            <a:r>
              <a:rPr sz="24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n</a:t>
            </a:r>
            <a:r>
              <a:rPr sz="24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=4,</a:t>
            </a:r>
            <a:r>
              <a:rPr sz="2400" b="1" spc="555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 </a:t>
            </a:r>
            <a:r>
              <a:rPr sz="24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B</a:t>
            </a:r>
            <a:r>
              <a:rPr sz="24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=6</a:t>
            </a: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，物品的重量和价值如下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61273" y="2975517"/>
            <a:ext cx="560838" cy="1559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  <a:p>
            <a:pPr marL="793" marR="0">
              <a:lnSpc>
                <a:spcPts val="2438"/>
              </a:lnSpc>
              <a:spcBef>
                <a:spcPts val="789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3</a:t>
            </a:r>
          </a:p>
          <a:p>
            <a:pPr marL="793" marR="0">
              <a:lnSpc>
                <a:spcPts val="2438"/>
              </a:lnSpc>
              <a:spcBef>
                <a:spcPts val="791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66002" y="2975517"/>
            <a:ext cx="560838" cy="1559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  <a:p>
            <a:pPr marL="793" marR="0">
              <a:lnSpc>
                <a:spcPts val="2438"/>
              </a:lnSpc>
              <a:spcBef>
                <a:spcPts val="789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4</a:t>
            </a:r>
          </a:p>
          <a:p>
            <a:pPr marL="793" marR="0">
              <a:lnSpc>
                <a:spcPts val="2438"/>
              </a:lnSpc>
              <a:spcBef>
                <a:spcPts val="791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0730" y="2975517"/>
            <a:ext cx="560838" cy="1559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  <a:p>
            <a:pPr marL="793" marR="0">
              <a:lnSpc>
                <a:spcPts val="2438"/>
              </a:lnSpc>
              <a:spcBef>
                <a:spcPts val="789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5</a:t>
            </a:r>
          </a:p>
          <a:p>
            <a:pPr marL="793" marR="0">
              <a:lnSpc>
                <a:spcPts val="2438"/>
              </a:lnSpc>
              <a:spcBef>
                <a:spcPts val="791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75458" y="2975517"/>
            <a:ext cx="560838" cy="1559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  <a:p>
            <a:pPr marL="793" marR="0">
              <a:lnSpc>
                <a:spcPts val="2438"/>
              </a:lnSpc>
              <a:spcBef>
                <a:spcPts val="789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2</a:t>
            </a:r>
          </a:p>
          <a:p>
            <a:pPr marL="793" marR="0">
              <a:lnSpc>
                <a:spcPts val="2438"/>
              </a:lnSpc>
              <a:spcBef>
                <a:spcPts val="791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79057" y="3011367"/>
            <a:ext cx="979247" cy="698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2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SimSun"/>
                <a:cs typeface="SimSun"/>
              </a:rPr>
              <a:t>标号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96565" y="3406301"/>
            <a:ext cx="1289144" cy="1181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SimSun"/>
                <a:cs typeface="SimSun"/>
              </a:rPr>
              <a:t>重量</a:t>
            </a:r>
            <a:r>
              <a:rPr sz="2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w</a:t>
            </a:r>
            <a:r>
              <a:rPr sz="2200" b="1" i="1" baseline="-24818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i</a:t>
            </a:r>
          </a:p>
          <a:p>
            <a:pPr marL="31208" marR="0">
              <a:lnSpc>
                <a:spcPts val="2438"/>
              </a:lnSpc>
              <a:spcBef>
                <a:spcPts val="791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SimSun"/>
                <a:cs typeface="SimSun"/>
              </a:rPr>
              <a:t>价值</a:t>
            </a:r>
            <a:r>
              <a:rPr sz="2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v</a:t>
            </a:r>
            <a:r>
              <a:rPr sz="2200" b="1" i="1" baseline="-24818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rPr>
              <a:t>i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DE26-05A2-4CFB-A6D6-6C12B258766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6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001779" y="2089768"/>
            <a:ext cx="5306525" cy="25702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1000" y="361950"/>
            <a:ext cx="83058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10" dirty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0-1背包问题建模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72778" y="3522602"/>
            <a:ext cx="167914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约束条件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1" y="1202858"/>
            <a:ext cx="5789312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SimSun"/>
                <a:cs typeface="SimSun"/>
              </a:rPr>
              <a:t>问题的</a:t>
            </a:r>
            <a:r>
              <a:rPr sz="2800" b="1" dirty="0">
                <a:solidFill>
                  <a:srgbClr val="C00000"/>
                </a:solidFill>
                <a:latin typeface="SimSun"/>
                <a:cs typeface="SimSun"/>
              </a:rPr>
              <a:t>解</a:t>
            </a:r>
            <a:r>
              <a:rPr sz="2800" b="1" dirty="0">
                <a:solidFill>
                  <a:srgbClr val="000000"/>
                </a:solidFill>
                <a:latin typeface="SimSun"/>
                <a:cs typeface="SimSun"/>
              </a:rPr>
              <a:t>：</a:t>
            </a:r>
            <a:r>
              <a:rPr sz="28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0-1</a:t>
            </a:r>
            <a:r>
              <a:rPr sz="2800" b="1" spc="11" dirty="0" smtClean="0">
                <a:solidFill>
                  <a:srgbClr val="000000"/>
                </a:solidFill>
                <a:latin typeface="SimSun"/>
                <a:cs typeface="SimSun"/>
              </a:rPr>
              <a:t>向量</a:t>
            </a:r>
            <a:endParaRPr sz="2800" b="1" dirty="0">
              <a:solidFill>
                <a:srgbClr val="000000"/>
              </a:solidFill>
              <a:latin typeface="FKOFFV+TimesNewRomanPS-BoldMT"/>
              <a:cs typeface="FKOFFV+TimesNewRomanPS-BoldM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378108" y="1077060"/>
                <a:ext cx="32174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/>
                          <a:ea typeface="Cambria Math"/>
                        </a:rPr>
                        <m:t>⋯⋯,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108" y="1077060"/>
                <a:ext cx="3217484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/>
          <p:cNvGrpSpPr/>
          <p:nvPr/>
        </p:nvGrpSpPr>
        <p:grpSpPr>
          <a:xfrm>
            <a:off x="2346251" y="1552215"/>
            <a:ext cx="4841781" cy="523220"/>
            <a:chOff x="2065791" y="1707533"/>
            <a:chExt cx="4841781" cy="523220"/>
          </a:xfrm>
        </p:grpSpPr>
        <p:sp>
          <p:nvSpPr>
            <p:cNvPr id="8" name="object 8"/>
            <p:cNvSpPr txBox="1"/>
            <p:nvPr/>
          </p:nvSpPr>
          <p:spPr>
            <a:xfrm>
              <a:off x="3311588" y="1814695"/>
              <a:ext cx="3595984" cy="37189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29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 dirty="0" err="1" smtClean="0">
                  <a:solidFill>
                    <a:srgbClr val="000000"/>
                  </a:solidFill>
                  <a:latin typeface="SimSun"/>
                  <a:cs typeface="SimSun"/>
                </a:rPr>
                <a:t>物品</a:t>
              </a:r>
              <a:r>
                <a:rPr sz="2800" b="1" spc="15" dirty="0" smtClean="0">
                  <a:solidFill>
                    <a:srgbClr val="000000"/>
                  </a:solidFill>
                  <a:latin typeface="Times New Roman"/>
                  <a:cs typeface="Times New Roman"/>
                </a:rPr>
                <a:t> </a:t>
              </a:r>
              <a:r>
                <a:rPr sz="2800" b="1" i="1" dirty="0">
                  <a:solidFill>
                    <a:srgbClr val="000000"/>
                  </a:solidFill>
                  <a:latin typeface="HCLLAD+TimesNewRomanPS-BoldItalicMT"/>
                  <a:cs typeface="HCLLAD+TimesNewRomanPS-BoldItalicMT"/>
                </a:rPr>
                <a:t>i </a:t>
              </a:r>
              <a:r>
                <a:rPr sz="2800" b="1" dirty="0">
                  <a:solidFill>
                    <a:srgbClr val="000000"/>
                  </a:solidFill>
                  <a:latin typeface="SimSun"/>
                  <a:cs typeface="SimSun"/>
                </a:rPr>
                <a:t>装入背包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/>
                <p:cNvSpPr/>
                <p:nvPr/>
              </p:nvSpPr>
              <p:spPr>
                <a:xfrm>
                  <a:off x="2065791" y="1707533"/>
                  <a:ext cx="123482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/>
                          </a:rPr>
                          <m:t>=1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5" name="矩形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5791" y="1707533"/>
                  <a:ext cx="1083182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2152376" y="2089768"/>
            <a:ext cx="4051701" cy="1100558"/>
            <a:chOff x="928239" y="2089768"/>
            <a:chExt cx="4051701" cy="1100558"/>
          </a:xfrm>
        </p:grpSpPr>
        <p:sp>
          <p:nvSpPr>
            <p:cNvPr id="12" name="object 12"/>
            <p:cNvSpPr txBox="1"/>
            <p:nvPr/>
          </p:nvSpPr>
          <p:spPr>
            <a:xfrm>
              <a:off x="928239" y="2473974"/>
              <a:ext cx="4051701" cy="34733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 err="1" smtClean="0">
                  <a:solidFill>
                    <a:srgbClr val="000000"/>
                  </a:solidFill>
                  <a:latin typeface="SimSun"/>
                  <a:cs typeface="SimSun"/>
                </a:rPr>
                <a:t>目标函数</a:t>
              </a:r>
              <a:endParaRPr sz="2600" b="1" i="1" dirty="0">
                <a:solidFill>
                  <a:srgbClr val="000000"/>
                </a:solidFill>
                <a:latin typeface="HCLLAD+TimesNewRomanPS-BoldItalicMT"/>
                <a:cs typeface="HCLLAD+TimesNewRomanPS-BoldItalicM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078805" y="2089768"/>
                  <a:ext cx="2280827" cy="1100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</a:rPr>
                          <m:t>max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⁡{</m:t>
                        </m:r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400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805" y="2089768"/>
                  <a:ext cx="2280827" cy="110055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3422689" y="3127376"/>
                <a:ext cx="1900841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689" y="3127376"/>
                <a:ext cx="1900841" cy="110055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3395242" y="4198317"/>
                <a:ext cx="261691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=0,1,2,⋯⋯,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242" y="4198317"/>
                <a:ext cx="2616919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5B47-FDD5-4CF6-B780-D831312AF50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3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57200" y="382389"/>
            <a:ext cx="82296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zh-CN" altLang="en-US" sz="4000" b="1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例</a:t>
            </a:r>
            <a:r>
              <a:rPr lang="en-US" altLang="zh-CN" sz="4000" b="1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6 </a:t>
            </a:r>
            <a:r>
              <a:rPr sz="4000" b="1" spc="10" dirty="0" err="1" smtClean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双机调度</a:t>
            </a:r>
            <a:endParaRPr sz="4000" b="1" spc="10" dirty="0">
              <a:solidFill>
                <a:srgbClr val="CC3200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467544" y="1232098"/>
                <a:ext cx="8280920" cy="194925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zh-CN" altLang="en-US" sz="2400" b="1" dirty="0" smtClean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双机调度问题</a:t>
                </a:r>
                <a:r>
                  <a:rPr lang="zh-CN" altLang="en-US" sz="2400" b="1" spc="1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：</a:t>
                </a:r>
                <a:r>
                  <a:rPr lang="zh-CN" altLang="en-US" sz="2400" b="1" spc="1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有 </a:t>
                </a:r>
                <a:r>
                  <a:rPr lang="en-US" altLang="zh-CN" sz="2400" b="1" i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n </a:t>
                </a:r>
                <a:r>
                  <a:rPr lang="zh-CN" altLang="en-US" sz="2400" b="1" spc="1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项</a:t>
                </a:r>
                <a:r>
                  <a:rPr lang="zh-CN" altLang="en-US" sz="2400" b="1" spc="1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任务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zh-CN" altLang="en-US" sz="2400" b="1" spc="34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任务</a:t>
                </a:r>
                <a:r>
                  <a:rPr lang="en-US" altLang="zh-CN" sz="2400" b="1" i="1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zh-CN" altLang="en-US" sz="2400" b="1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的加工时间为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zh-CN" altLang="en-US" sz="2400" b="1" i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HCLLAD+TimesNewRomanPS-BoldItalicMT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HCLLAD+TimesNewRomanPS-BoldItalicMT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HCLLAD+TimesNewRomanPS-BoldItalicMT"/>
                          </a:rPr>
                          <m:t>𝒁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HCLLAD+TimesNewRomanPS-BoldItalicMT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altLang="zh-CN" sz="2400" b="1" i="1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=1,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… ,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zh-CN" altLang="en-US" sz="2400" b="1" spc="-2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用两台相同的机器加工，从 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0 </a:t>
                </a:r>
                <a:r>
                  <a:rPr lang="zh-CN" altLang="en-US" sz="2400" b="1" spc="12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时刻开始计时，</a:t>
                </a:r>
                <a:r>
                  <a:rPr lang="zh-CN" altLang="en-US" sz="2400" b="1" u="sng" spc="12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完成时间是后停</a:t>
                </a:r>
                <a:r>
                  <a:rPr lang="zh-CN" altLang="en-US" sz="2400" b="1" u="sng" spc="1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止加工机器的停机时间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zh-CN" altLang="en-US" sz="2400" b="1" spc="58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问如何把这些任务</a:t>
                </a:r>
                <a:r>
                  <a:rPr lang="zh-CN" altLang="en-US" sz="2400" b="1" spc="15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分配到两台机器上，使得完成时间达到最小？</a:t>
                </a:r>
              </a:p>
              <a:p>
                <a:pPr marL="0" marR="0">
                  <a:lnSpc>
                    <a:spcPts val="2697"/>
                  </a:lnSpc>
                  <a:spcBef>
                    <a:spcPts val="500"/>
                  </a:spcBef>
                  <a:spcAft>
                    <a:spcPts val="0"/>
                  </a:spcAft>
                </a:pPr>
                <a:endParaRPr sz="2200" dirty="0">
                  <a:solidFill>
                    <a:srgbClr val="000000"/>
                  </a:solidFill>
                  <a:latin typeface="SimSun"/>
                  <a:cs typeface="SimSun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232098"/>
                <a:ext cx="8280920" cy="1949252"/>
              </a:xfrm>
              <a:prstGeom prst="rect">
                <a:avLst/>
              </a:prstGeom>
              <a:blipFill rotWithShape="1">
                <a:blip r:embed="rId2"/>
                <a:stretch>
                  <a:fillRect l="-2283" t="-6250" r="-2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457200" y="2776066"/>
            <a:ext cx="816953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实例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sz="2400" b="1" spc="56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任务集</a:t>
            </a:r>
            <a:r>
              <a:rPr sz="2400" b="1" spc="557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={1,2,3,4,5,6}</a:t>
            </a:r>
          </a:p>
          <a:p>
            <a:pPr marL="628647" marR="0">
              <a:lnSpc>
                <a:spcPts val="2438"/>
              </a:lnSpc>
              <a:spcBef>
                <a:spcPts val="459"/>
              </a:spcBef>
              <a:spcAft>
                <a:spcPts val="0"/>
              </a:spcAft>
            </a:pP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=3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=10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-1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=6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=2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spc="183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=7</a:t>
            </a:r>
            <a:endParaRPr sz="24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200" y="3616523"/>
            <a:ext cx="8229600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解：机器</a:t>
            </a:r>
            <a:r>
              <a:rPr sz="2400" b="1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FKOFFV+TimesNewRomanPS-BoldMT"/>
                <a:cs typeface="FKOFFV+TimesNewRomanPS-BoldMT"/>
              </a:rPr>
              <a:t>1 </a:t>
            </a: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的任务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：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1, 2, 4</a:t>
            </a:r>
          </a:p>
          <a:p>
            <a:pPr marL="558545" marR="0">
              <a:lnSpc>
                <a:spcPts val="2438"/>
              </a:lnSpc>
              <a:spcBef>
                <a:spcPts val="759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机器</a:t>
            </a:r>
            <a:r>
              <a:rPr sz="2400" b="1" spc="12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的任务：3, 5, 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66800" y="4400550"/>
            <a:ext cx="530101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完成时间</a:t>
            </a:r>
            <a:r>
              <a:rPr sz="2400" b="1" spc="18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spc="1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max{</a:t>
            </a:r>
            <a:r>
              <a:rPr sz="2400" b="1" spc="-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3+10+2,</a:t>
            </a:r>
            <a:r>
              <a:rPr sz="2400" b="1" spc="-14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6+1+7</a:t>
            </a:r>
            <a:r>
              <a:rPr sz="2400" b="1" spc="-18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}=15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0CDE-3F43-465E-891D-A47081CAB59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37</a:t>
            </a:fld>
            <a:endParaRPr 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143000" y="3486150"/>
            <a:ext cx="1295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352800" y="348615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0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806741" y="3291830"/>
            <a:ext cx="612901" cy="814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190" y="337412"/>
            <a:ext cx="827825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10" dirty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双机调度建模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482784" y="1251788"/>
                <a:ext cx="8356416" cy="78656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200"/>
                  </a:lnSpc>
                </a:pPr>
                <a:r>
                  <a:rPr lang="zh-CN" altLang="en-US" sz="24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0-1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向量                                             表示任务 </a:t>
                </a:r>
                <a:r>
                  <a:rPr lang="zh-CN" altLang="en-US" sz="2400" b="1" spc="1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分配到第一台机器，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,⋯⋯,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84" y="1251788"/>
                <a:ext cx="8356416" cy="786562"/>
              </a:xfrm>
              <a:prstGeom prst="rect">
                <a:avLst/>
              </a:prstGeom>
              <a:blipFill rotWithShape="1">
                <a:blip r:embed="rId3"/>
                <a:stretch>
                  <a:fillRect l="-2188" t="-13178" r="-2261" b="-24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>
              <a:xfrm>
                <a:off x="486389" y="2031513"/>
                <a:ext cx="8202055" cy="115371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00"/>
                  </a:lnSpc>
                </a:pP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设机器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zh-CN" altLang="en-US" sz="2400" b="1" spc="1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的加工时间</a:t>
                </a:r>
                <a14:m>
                  <m:oMath xmlns:m="http://schemas.openxmlformats.org/officeDocument/2006/math">
                    <m:r>
                      <a:rPr lang="zh-CN" altLang="en-US" sz="2400" b="1" i="1" spc="1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SimSun"/>
                      </a:rPr>
                      <m:t>≤</m:t>
                    </m:r>
                  </m:oMath>
                </a14:m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机器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的加工时间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rgbClr val="000000"/>
                        </a:solidFill>
                        <a:latin typeface="Cambria Math"/>
                        <a:cs typeface="HCLLAD+TimesNewRomanPS-BoldItalicMT"/>
                      </a:rPr>
                      <m:t>𝑻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HCLLAD+TimesNewRomanPS-BoldItalicMT"/>
                      </a:rPr>
                      <m:t>=</m:t>
                    </m:r>
                    <m:sSub>
                      <m:sSubPr>
                        <m:ctrlPr>
                          <a:rPr lang="ar-AE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</m:ctrlPr>
                      </m:sSubPr>
                      <m:e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𝒕</m:t>
                        </m:r>
                      </m:e>
                      <m:sub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𝟏</m:t>
                        </m:r>
                      </m:sub>
                    </m:sSub>
                    <m:r>
                      <a:rPr lang="ar-AE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HCLLAD+TimesNewRomanPS-BoldItalicMT"/>
                      </a:rPr>
                      <m:t>+</m:t>
                    </m:r>
                    <m:sSub>
                      <m:sSubPr>
                        <m:ctrlPr>
                          <a:rPr lang="ar-AE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</m:ctrlPr>
                      </m:sSubPr>
                      <m:e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𝒕</m:t>
                        </m:r>
                      </m:e>
                      <m:sub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𝟐</m:t>
                        </m:r>
                      </m:sub>
                    </m:sSub>
                    <m:r>
                      <a:rPr lang="ar-AE" altLang="zh-CN" sz="2400" b="1" i="1" smtClean="0">
                        <a:solidFill>
                          <a:srgbClr val="000000"/>
                        </a:solidFill>
                        <a:latin typeface="Cambria Math"/>
                        <a:cs typeface="HCLLAD+TimesNewRomanPS-BoldItalicMT"/>
                      </a:rPr>
                      <m:t>+</m:t>
                    </m:r>
                    <m:r>
                      <a:rPr lang="ar-AE" altLang="zh-CN" sz="24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HCLLAD+TimesNewRomanPS-BoldItalicMT"/>
                      </a:rPr>
                      <m:t>⋯+</m:t>
                    </m:r>
                    <m:sSub>
                      <m:sSubPr>
                        <m:ctrlPr>
                          <a:rPr lang="ar-AE" altLang="zh-CN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</m:ctrlPr>
                      </m:sSubPr>
                      <m:e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𝒕</m:t>
                        </m:r>
                      </m:e>
                      <m:sub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/>
                            <a:cs typeface="HCLLAD+TimesNewRomanPS-BoldItalicMT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/>
                        <a:cs typeface="SimSun"/>
                      </a:rPr>
                      <m:t>𝑫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/>
                        <a:cs typeface="SimSun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𝑻</m:t>
                            </m:r>
                          </m:num>
                          <m:den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机器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的加工时间不超过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/>
                        <a:cs typeface="SimSun"/>
                      </a:rPr>
                      <m:t>𝑫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/>
                        <a:cs typeface="SimSun"/>
                      </a:rPr>
                      <m:t> </m:t>
                    </m:r>
                  </m:oMath>
                </a14:m>
                <a:r>
                  <a:rPr lang="zh-CN" altLang="en-US" sz="2400" b="1" spc="1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，且达到最大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marR="0">
                  <a:lnSpc>
                    <a:spcPts val="2697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2200" dirty="0">
                  <a:solidFill>
                    <a:srgbClr val="000000"/>
                  </a:solidFill>
                  <a:latin typeface="SimSun"/>
                  <a:cs typeface="SimSun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89" y="2031513"/>
                <a:ext cx="8202055" cy="1153714"/>
              </a:xfrm>
              <a:prstGeom prst="rect">
                <a:avLst/>
              </a:prstGeom>
              <a:blipFill rotWithShape="1">
                <a:blip r:embed="rId4"/>
                <a:stretch>
                  <a:fillRect l="-2305" t="-15263" b="-5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1505703" y="3257550"/>
            <a:ext cx="6882721" cy="747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70C0"/>
                </a:solidFill>
                <a:latin typeface="SimSun"/>
                <a:cs typeface="SimSun"/>
              </a:rPr>
              <a:t>如何对该问题建模</a:t>
            </a:r>
            <a:r>
              <a:rPr sz="2400" b="1" dirty="0" smtClean="0">
                <a:solidFill>
                  <a:srgbClr val="0070C0"/>
                </a:solidFill>
                <a:latin typeface="FKOFFV+TimesNewRomanPS-BoldMT"/>
                <a:cs typeface="FKOFFV+TimesNewRomanPS-BoldMT"/>
              </a:rPr>
              <a:t>?</a:t>
            </a:r>
            <a:endParaRPr lang="en-US" sz="2400" b="1" dirty="0" smtClean="0">
              <a:solidFill>
                <a:srgbClr val="0070C0"/>
              </a:solidFill>
              <a:latin typeface="FKOFFV+TimesNewRomanPS-BoldMT"/>
              <a:cs typeface="FKOFFV+TimesNewRomanPS-BoldMT"/>
            </a:endParaRPr>
          </a:p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1" dirty="0" err="1" smtClean="0">
                <a:solidFill>
                  <a:srgbClr val="0070C0"/>
                </a:solidFill>
                <a:latin typeface="SimSun"/>
                <a:cs typeface="SimSun"/>
              </a:rPr>
              <a:t>目标函数与约</a:t>
            </a:r>
            <a:r>
              <a:rPr sz="2400" b="1" spc="10" dirty="0" err="1" smtClean="0">
                <a:solidFill>
                  <a:srgbClr val="0070C0"/>
                </a:solidFill>
                <a:latin typeface="SimSun"/>
                <a:cs typeface="SimSun"/>
              </a:rPr>
              <a:t>束条件是什么</a:t>
            </a:r>
            <a:r>
              <a:rPr sz="2400" spc="10" dirty="0">
                <a:solidFill>
                  <a:srgbClr val="0070C0"/>
                </a:solidFill>
                <a:latin typeface="SimSun"/>
                <a:cs typeface="SimSun"/>
              </a:rPr>
              <a:t>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885387" y="1211315"/>
                <a:ext cx="3905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⋯⋯,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&gt;,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387" y="1211315"/>
                <a:ext cx="3905813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C372-92F6-478A-8DBF-965A4892930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84038"/>
            <a:ext cx="8229600" cy="4116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algn="ctr">
              <a:lnSpc>
                <a:spcPts val="447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KUBLBA+ArialMT"/>
              </a:rPr>
              <a:t>NP-</a:t>
            </a:r>
            <a:r>
              <a:rPr sz="4400" b="1" dirty="0" err="1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KUBLBA+ArialMT"/>
              </a:rPr>
              <a:t>hard</a:t>
            </a:r>
            <a:r>
              <a:rPr sz="4400" b="1" spc="10" dirty="0" err="1" smtClean="0">
                <a:solidFill>
                  <a:srgbClr val="CC32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问题</a:t>
            </a:r>
            <a:endParaRPr lang="en-US" sz="4400" b="1" spc="10" dirty="0" smtClean="0">
              <a:solidFill>
                <a:srgbClr val="CC3200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  <a:p>
            <a:pPr marR="0" algn="ctr">
              <a:lnSpc>
                <a:spcPts val="4470"/>
              </a:lnSpc>
              <a:spcBef>
                <a:spcPts val="0"/>
              </a:spcBef>
              <a:spcAft>
                <a:spcPts val="0"/>
              </a:spcAft>
            </a:pPr>
            <a:endParaRPr sz="4000" spc="10" dirty="0">
              <a:solidFill>
                <a:srgbClr val="CC3200"/>
              </a:solidFill>
              <a:latin typeface="黑体" panose="02010609060101010101" pitchFamily="49" charset="-122"/>
              <a:ea typeface="黑体" panose="02010609060101010101" pitchFamily="49" charset="-122"/>
              <a:cs typeface="SimSun"/>
            </a:endParaRPr>
          </a:p>
          <a:p>
            <a:pPr marL="342900" marR="0" indent="-342900" algn="just">
              <a:lnSpc>
                <a:spcPts val="2681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 b="1" spc="1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这样的问题有数千个</a:t>
            </a:r>
            <a:r>
              <a:rPr sz="2400" b="1" spc="1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400" b="1" spc="1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大量存在于各</a:t>
            </a:r>
            <a:r>
              <a:rPr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个应用领域</a:t>
            </a:r>
            <a:r>
              <a:rPr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681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至今没找到有效算法：现有的算法的运行时间是输入规模的指数或更高阶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2681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至今没有人能够证明对于这类问题不存在多项式时间的算法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ts val="2681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从是否存在多项式时间算法的角度看，这些问题彼此是等价的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spc="55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这些问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题的难度处于可有效计算的边界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1D92C-6444-4B6F-8481-545C64C9162F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4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319013"/>
            <a:ext cx="8290560" cy="500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086" marR="0" algn="ctr">
              <a:lnSpc>
                <a:spcPts val="3903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CC3200"/>
                </a:solidFill>
                <a:latin typeface="Calibri"/>
                <a:cs typeface="Calibri"/>
              </a:rPr>
              <a:t>Algorithm</a:t>
            </a:r>
            <a:r>
              <a:rPr sz="3200" b="1" spc="28" dirty="0">
                <a:solidFill>
                  <a:srgbClr val="CC32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C3200"/>
                </a:solidFill>
                <a:latin typeface="Calibri"/>
                <a:cs typeface="Calibri"/>
              </a:rPr>
              <a:t>+</a:t>
            </a:r>
            <a:r>
              <a:rPr sz="3200" b="1" spc="10" dirty="0">
                <a:solidFill>
                  <a:srgbClr val="CC32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CC3200"/>
                </a:solidFill>
                <a:latin typeface="Calibri"/>
                <a:cs typeface="Calibri"/>
              </a:rPr>
              <a:t>Data</a:t>
            </a:r>
            <a:r>
              <a:rPr sz="3200" b="1" spc="57" dirty="0">
                <a:solidFill>
                  <a:srgbClr val="CC3200"/>
                </a:solidFill>
                <a:latin typeface="Calibri"/>
                <a:cs typeface="Calibri"/>
              </a:rPr>
              <a:t> </a:t>
            </a:r>
            <a:r>
              <a:rPr sz="3200" b="1" dirty="0" smtClean="0">
                <a:solidFill>
                  <a:srgbClr val="CC3200"/>
                </a:solidFill>
                <a:latin typeface="Calibri"/>
                <a:cs typeface="Calibri"/>
              </a:rPr>
              <a:t>Structure= </a:t>
            </a:r>
            <a:r>
              <a:rPr sz="3200" b="1" spc="-10" dirty="0">
                <a:solidFill>
                  <a:srgbClr val="CC3200"/>
                </a:solidFill>
                <a:latin typeface="Calibri"/>
                <a:cs typeface="Calibri"/>
              </a:rPr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167914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好的算法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5616" y="1662733"/>
            <a:ext cx="3210762" cy="75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10" dirty="0">
                <a:solidFill>
                  <a:srgbClr val="000000"/>
                </a:solidFill>
                <a:latin typeface="SimSun"/>
                <a:cs typeface="SimSun"/>
              </a:rPr>
              <a:t>提高求解问题的效率</a:t>
            </a:r>
          </a:p>
          <a:p>
            <a:pPr marL="0" marR="0">
              <a:lnSpc>
                <a:spcPts val="2400"/>
              </a:lnSpc>
              <a:spcBef>
                <a:spcPts val="1056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SimSun"/>
                <a:cs typeface="SimSun"/>
              </a:rPr>
              <a:t>节省存储空间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9992" y="2570416"/>
            <a:ext cx="8236808" cy="1192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1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算法的研究目标</a:t>
            </a:r>
          </a:p>
          <a:p>
            <a:pPr marL="209550" marR="0">
              <a:lnSpc>
                <a:spcPts val="2940"/>
              </a:lnSpc>
              <a:spcBef>
                <a:spcPts val="565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SimSun"/>
                <a:cs typeface="SimSun"/>
              </a:rPr>
              <a:t>    </a:t>
            </a:r>
            <a:r>
              <a:rPr sz="2400" b="1" dirty="0" err="1" smtClean="0">
                <a:solidFill>
                  <a:srgbClr val="000000"/>
                </a:solidFill>
                <a:latin typeface="SimSun"/>
                <a:cs typeface="SimSun"/>
              </a:rPr>
              <a:t>问题</a:t>
            </a:r>
            <a:r>
              <a:rPr sz="2400" b="1" dirty="0" err="1">
                <a:solidFill>
                  <a:srgbClr val="000000"/>
                </a:solidFill>
                <a:latin typeface="TTNBGF+SymbolMT"/>
                <a:cs typeface="TTNBGF+SymbolMT"/>
              </a:rPr>
              <a:t>→</a:t>
            </a:r>
            <a:r>
              <a:rPr sz="2400" b="1" spc="10" dirty="0" err="1">
                <a:solidFill>
                  <a:srgbClr val="000000"/>
                </a:solidFill>
                <a:latin typeface="SimSun"/>
                <a:cs typeface="SimSun"/>
              </a:rPr>
              <a:t>建模并寻找算法</a:t>
            </a:r>
            <a:endParaRPr sz="2400" b="1" spc="10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209550" marR="0">
              <a:lnSpc>
                <a:spcPts val="2940"/>
              </a:lnSpc>
              <a:spcBef>
                <a:spcPts val="515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SimSun"/>
                <a:cs typeface="SimSun"/>
              </a:rPr>
              <a:t>    </a:t>
            </a:r>
            <a:r>
              <a:rPr sz="2400" b="1" dirty="0" err="1" smtClean="0">
                <a:solidFill>
                  <a:srgbClr val="000000"/>
                </a:solidFill>
                <a:latin typeface="SimSun"/>
                <a:cs typeface="SimSun"/>
              </a:rPr>
              <a:t>算法</a:t>
            </a:r>
            <a:r>
              <a:rPr sz="2400" b="1" dirty="0" err="1">
                <a:solidFill>
                  <a:srgbClr val="000000"/>
                </a:solidFill>
                <a:latin typeface="TTNBGF+SymbolMT"/>
                <a:cs typeface="TTNBGF+SymbolMT"/>
              </a:rPr>
              <a:t>→</a:t>
            </a:r>
            <a:r>
              <a:rPr sz="2400" b="1" spc="10" dirty="0" err="1">
                <a:solidFill>
                  <a:srgbClr val="000000"/>
                </a:solidFill>
                <a:latin typeface="SimSun"/>
                <a:cs typeface="SimSun"/>
              </a:rPr>
              <a:t>算法的评价</a:t>
            </a:r>
            <a:endParaRPr sz="2400" b="1" spc="10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2259" y="3011172"/>
            <a:ext cx="2101218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2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CC3200"/>
                </a:solidFill>
                <a:latin typeface="SimSun"/>
                <a:cs typeface="SimSun"/>
              </a:rPr>
              <a:t>算法设计技术</a:t>
            </a:r>
          </a:p>
          <a:p>
            <a:pPr marL="0" marR="0">
              <a:lnSpc>
                <a:spcPts val="2202"/>
              </a:lnSpc>
              <a:spcBef>
                <a:spcPts val="1185"/>
              </a:spcBef>
              <a:spcAft>
                <a:spcPts val="0"/>
              </a:spcAft>
            </a:pPr>
            <a:r>
              <a:rPr sz="2400" b="1" dirty="0">
                <a:solidFill>
                  <a:srgbClr val="CC3200"/>
                </a:solidFill>
                <a:latin typeface="SimSun"/>
                <a:cs typeface="SimSun"/>
              </a:rPr>
              <a:t>算法分析方法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737" y="3842653"/>
            <a:ext cx="403821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SimSun"/>
                <a:cs typeface="SimSun"/>
              </a:rPr>
              <a:t>    </a:t>
            </a:r>
            <a:r>
              <a:rPr sz="2400" b="1" dirty="0" err="1" smtClean="0">
                <a:solidFill>
                  <a:srgbClr val="000000"/>
                </a:solidFill>
                <a:latin typeface="SimSun"/>
                <a:cs typeface="SimSun"/>
              </a:rPr>
              <a:t>算法类</a:t>
            </a:r>
            <a:r>
              <a:rPr sz="2400" b="1" dirty="0" err="1">
                <a:solidFill>
                  <a:srgbClr val="000000"/>
                </a:solidFill>
                <a:latin typeface="TTNBGF+SymbolMT"/>
                <a:cs typeface="TTNBGF+SymbolMT"/>
              </a:rPr>
              <a:t>→</a:t>
            </a:r>
            <a:r>
              <a:rPr sz="2400" b="1" spc="11" dirty="0" err="1" smtClean="0">
                <a:solidFill>
                  <a:srgbClr val="000000"/>
                </a:solidFill>
                <a:latin typeface="SimSun"/>
                <a:cs typeface="SimSun"/>
              </a:rPr>
              <a:t>问题复杂度估计</a:t>
            </a:r>
            <a:endParaRPr sz="2200" b="1" dirty="0">
              <a:solidFill>
                <a:srgbClr val="CC3200"/>
              </a:solidFill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495" y="4281565"/>
            <a:ext cx="5766410" cy="342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SimSun"/>
                <a:cs typeface="SimSun"/>
              </a:rPr>
              <a:t>    </a:t>
            </a:r>
            <a:r>
              <a:rPr sz="2400" b="1" dirty="0" err="1" smtClean="0">
                <a:solidFill>
                  <a:srgbClr val="000000"/>
                </a:solidFill>
                <a:latin typeface="SimSun"/>
                <a:cs typeface="SimSun"/>
              </a:rPr>
              <a:t>问题类</a:t>
            </a:r>
            <a:r>
              <a:rPr sz="2400" b="1" dirty="0" err="1">
                <a:solidFill>
                  <a:srgbClr val="000000"/>
                </a:solidFill>
                <a:latin typeface="TTNBGF+SymbolMT"/>
                <a:cs typeface="TTNBGF+SymbolMT"/>
              </a:rPr>
              <a:t>→</a:t>
            </a:r>
            <a:r>
              <a:rPr sz="2400" b="1" spc="11" dirty="0" err="1">
                <a:solidFill>
                  <a:srgbClr val="000000"/>
                </a:solidFill>
                <a:latin typeface="SimSun"/>
                <a:cs typeface="SimSun"/>
              </a:rPr>
              <a:t>能够求解的边界</a:t>
            </a:r>
            <a:endParaRPr sz="2400" b="1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8943" y="4313946"/>
            <a:ext cx="2381711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2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CC3200"/>
                </a:solidFill>
                <a:latin typeface="SimSun"/>
                <a:cs typeface="SimSun"/>
              </a:rPr>
              <a:t>计算复杂性理论</a:t>
            </a:r>
          </a:p>
        </p:txBody>
      </p:sp>
      <p:sp>
        <p:nvSpPr>
          <p:cNvPr id="11" name="燕尾形箭头 10"/>
          <p:cNvSpPr/>
          <p:nvPr/>
        </p:nvSpPr>
        <p:spPr>
          <a:xfrm>
            <a:off x="1872566" y="3040668"/>
            <a:ext cx="239686" cy="16293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燕尾形箭头 11"/>
          <p:cNvSpPr/>
          <p:nvPr/>
        </p:nvSpPr>
        <p:spPr>
          <a:xfrm>
            <a:off x="1890547" y="3486813"/>
            <a:ext cx="239686" cy="16293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燕尾形箭头 12"/>
          <p:cNvSpPr/>
          <p:nvPr/>
        </p:nvSpPr>
        <p:spPr>
          <a:xfrm>
            <a:off x="2251469" y="3921370"/>
            <a:ext cx="239686" cy="16293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燕尾形箭头 13"/>
          <p:cNvSpPr/>
          <p:nvPr/>
        </p:nvSpPr>
        <p:spPr>
          <a:xfrm>
            <a:off x="2241330" y="4364052"/>
            <a:ext cx="239686" cy="16293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754973" y="3778096"/>
            <a:ext cx="2350323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40"/>
              </a:lnSpc>
            </a:pPr>
            <a:r>
              <a:rPr lang="zh-CN" altLang="en-US" sz="2400" b="1" dirty="0" smtClean="0">
                <a:solidFill>
                  <a:srgbClr val="CC3200"/>
                </a:solidFill>
                <a:latin typeface="SimSun"/>
                <a:cs typeface="SimSun"/>
              </a:rPr>
              <a:t>问题复杂度分析</a:t>
            </a:r>
            <a:endParaRPr lang="zh-CN" altLang="en-US" sz="2400" b="1" dirty="0">
              <a:solidFill>
                <a:srgbClr val="CC3200"/>
              </a:solidFill>
              <a:latin typeface="SimSun"/>
              <a:cs typeface="SimSun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D861-472E-4965-B0E0-BBD59F66D8F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310006"/>
            <a:ext cx="822959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课程主要内容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31976" y="1425652"/>
            <a:ext cx="2236368" cy="1025922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8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 dirty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计算复杂性理论</a:t>
            </a:r>
            <a:r>
              <a:rPr sz="2000" b="1" dirty="0">
                <a:latin typeface="+mn-ea"/>
                <a:cs typeface="Calibri"/>
              </a:rPr>
              <a:t>:</a:t>
            </a:r>
          </a:p>
          <a:p>
            <a:pPr marL="267457" marR="0">
              <a:lnSpc>
                <a:spcPts val="2438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 dirty="0">
                <a:latin typeface="+mn-ea"/>
                <a:cs typeface="Calibri"/>
              </a:rPr>
              <a:t>NP</a:t>
            </a:r>
            <a:r>
              <a:rPr sz="2000" b="1" dirty="0">
                <a:latin typeface="+mn-ea"/>
                <a:cs typeface="SimSun"/>
              </a:rPr>
              <a:t>完全理论</a:t>
            </a:r>
          </a:p>
          <a:p>
            <a:pPr marL="418336" marR="0">
              <a:lnSpc>
                <a:spcPts val="1997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 dirty="0">
                <a:latin typeface="+mn-ea"/>
                <a:cs typeface="SimSun"/>
              </a:rPr>
              <a:t>其他算法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28528" y="2715766"/>
            <a:ext cx="2239816" cy="125675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97"/>
              </a:lnSpc>
              <a:spcBef>
                <a:spcPts val="600"/>
              </a:spcBef>
            </a:pP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算法设计</a:t>
            </a:r>
            <a:r>
              <a:rPr lang="zh-CN" altLang="en-US" sz="2000" b="1" dirty="0" smtClean="0">
                <a:latin typeface="+mn-ea"/>
                <a:cs typeface="SimSun"/>
              </a:rPr>
              <a:t>：</a:t>
            </a:r>
            <a:endParaRPr lang="en-US" sz="2000" b="1" dirty="0" smtClean="0">
              <a:latin typeface="+mn-ea"/>
              <a:cs typeface="SimSun"/>
            </a:endParaRPr>
          </a:p>
          <a:p>
            <a:pPr marL="0" marR="0" algn="ctr">
              <a:lnSpc>
                <a:spcPts val="1997"/>
              </a:lnSpc>
              <a:spcBef>
                <a:spcPts val="600"/>
              </a:spcBef>
            </a:pPr>
            <a:r>
              <a:rPr sz="2000" b="1" dirty="0" err="1" smtClean="0">
                <a:latin typeface="+mn-ea"/>
                <a:cs typeface="SimSun"/>
              </a:rPr>
              <a:t>算法分析方法</a:t>
            </a:r>
            <a:endParaRPr lang="en-US" sz="2000" b="1" dirty="0">
              <a:latin typeface="+mn-ea"/>
              <a:cs typeface="SimSun"/>
            </a:endParaRPr>
          </a:p>
          <a:p>
            <a:pPr marL="0" marR="0" algn="ctr">
              <a:lnSpc>
                <a:spcPts val="1997"/>
              </a:lnSpc>
              <a:spcBef>
                <a:spcPts val="600"/>
              </a:spcBef>
            </a:pPr>
            <a:r>
              <a:rPr sz="2000" b="1" dirty="0" err="1" smtClean="0">
                <a:latin typeface="+mn-ea"/>
                <a:cs typeface="SimSun"/>
              </a:rPr>
              <a:t>算法设计技术</a:t>
            </a:r>
            <a:endParaRPr lang="en-US" sz="2000" b="1" dirty="0">
              <a:latin typeface="+mn-ea"/>
              <a:cs typeface="SimSun"/>
            </a:endParaRPr>
          </a:p>
          <a:p>
            <a:pPr marL="0" marR="0" algn="ctr">
              <a:lnSpc>
                <a:spcPts val="1997"/>
              </a:lnSpc>
              <a:spcBef>
                <a:spcPts val="600"/>
              </a:spcBef>
            </a:pPr>
            <a:r>
              <a:rPr sz="2000" b="1" dirty="0" err="1" smtClean="0">
                <a:latin typeface="+mn-ea"/>
                <a:cs typeface="SimSun"/>
              </a:rPr>
              <a:t>基础知识</a:t>
            </a:r>
            <a:endParaRPr sz="2000" b="1" dirty="0">
              <a:latin typeface="+mn-ea"/>
              <a:cs typeface="SimSun"/>
            </a:endParaRPr>
          </a:p>
        </p:txBody>
      </p:sp>
      <p:sp>
        <p:nvSpPr>
          <p:cNvPr id="14" name="object 1"/>
          <p:cNvSpPr/>
          <p:nvPr/>
        </p:nvSpPr>
        <p:spPr>
          <a:xfrm>
            <a:off x="1574863" y="3651870"/>
            <a:ext cx="3660707" cy="432048"/>
          </a:xfrm>
          <a:prstGeom prst="rect">
            <a:avLst/>
          </a:prstGeom>
          <a:blipFill>
            <a:blip r:embed="rId2" cstate="print"/>
            <a:srcRect/>
            <a:stretch>
              <a:fillRect t="-358480" r="-57500" b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95464" y="3723878"/>
            <a:ext cx="2880592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chemeClr val="bg1"/>
                </a:solidFill>
                <a:latin typeface="SimSun"/>
                <a:cs typeface="SimSun"/>
              </a:rPr>
              <a:t>数学基础、数据结构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568888" y="2945864"/>
            <a:ext cx="3771739" cy="654298"/>
            <a:chOff x="1568888" y="2945864"/>
            <a:chExt cx="3771739" cy="654298"/>
          </a:xfrm>
        </p:grpSpPr>
        <p:sp>
          <p:nvSpPr>
            <p:cNvPr id="16" name="object 1"/>
            <p:cNvSpPr/>
            <p:nvPr/>
          </p:nvSpPr>
          <p:spPr>
            <a:xfrm>
              <a:off x="1568888" y="2955322"/>
              <a:ext cx="3651184" cy="644840"/>
            </a:xfrm>
            <a:prstGeom prst="rect">
              <a:avLst/>
            </a:prstGeom>
            <a:blipFill>
              <a:blip r:embed="rId2" cstate="print"/>
              <a:srcRect/>
              <a:stretch>
                <a:fillRect t="-276421" r="-59132" b="-111173"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 sz="2000"/>
            </a:p>
          </p:txBody>
        </p:sp>
        <p:sp>
          <p:nvSpPr>
            <p:cNvPr id="17" name="object 8"/>
            <p:cNvSpPr txBox="1"/>
            <p:nvPr/>
          </p:nvSpPr>
          <p:spPr>
            <a:xfrm>
              <a:off x="1783269" y="3034794"/>
              <a:ext cx="700499" cy="5386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sz="2000" b="1" dirty="0" err="1" smtClean="0">
                  <a:solidFill>
                    <a:schemeClr val="bg1"/>
                  </a:solidFill>
                  <a:latin typeface="SimSun"/>
                  <a:cs typeface="SimSun"/>
                </a:rPr>
                <a:t>分治</a:t>
              </a:r>
              <a:r>
                <a:rPr lang="en-US" sz="2000" b="1" spc="2229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endParaRPr lang="en-US" sz="2000" b="1" spc="2229" dirty="0" smtClean="0">
                <a:solidFill>
                  <a:schemeClr val="bg1"/>
                </a:solidFill>
                <a:latin typeface="Times New Roman"/>
                <a:cs typeface="Times New Roman"/>
              </a:endParaRPr>
            </a:p>
            <a:p>
              <a:pPr marL="0" marR="0">
                <a:lnSpc>
                  <a:spcPts val="18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sz="2000" b="1" dirty="0" err="1" smtClean="0">
                  <a:solidFill>
                    <a:schemeClr val="bg1"/>
                  </a:solidFill>
                  <a:latin typeface="SimSun"/>
                  <a:cs typeface="SimSun"/>
                </a:rPr>
                <a:t>策略</a:t>
              </a:r>
              <a:endParaRPr sz="2000" b="1" dirty="0">
                <a:solidFill>
                  <a:schemeClr val="bg1"/>
                </a:solidFill>
                <a:latin typeface="SimSun"/>
                <a:cs typeface="SimSun"/>
              </a:endParaRPr>
            </a:p>
          </p:txBody>
        </p:sp>
        <p:sp>
          <p:nvSpPr>
            <p:cNvPr id="18" name="object 8"/>
            <p:cNvSpPr txBox="1"/>
            <p:nvPr/>
          </p:nvSpPr>
          <p:spPr>
            <a:xfrm>
              <a:off x="2567608" y="2945864"/>
              <a:ext cx="700499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24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altLang="en-US" sz="2000" b="1" dirty="0" smtClean="0">
                  <a:solidFill>
                    <a:schemeClr val="bg1"/>
                  </a:solidFill>
                  <a:latin typeface="SimSun"/>
                  <a:cs typeface="SimSun"/>
                </a:rPr>
                <a:t>动态规划</a:t>
              </a:r>
              <a:endParaRPr sz="2000" b="1" dirty="0">
                <a:solidFill>
                  <a:schemeClr val="bg1"/>
                </a:solidFill>
                <a:latin typeface="SimSun"/>
                <a:cs typeface="SimSu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395677" y="3001816"/>
              <a:ext cx="800785" cy="56425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chemeClr val="bg1"/>
                  </a:solidFill>
                  <a:latin typeface="SimSun"/>
                  <a:cs typeface="SimSun"/>
                </a:rPr>
                <a:t>贪心</a:t>
              </a:r>
            </a:p>
            <a:p>
              <a:pPr marL="0" marR="0">
                <a:lnSpc>
                  <a:spcPts val="2000"/>
                </a:lnSpc>
                <a:spcBef>
                  <a:spcPts val="360"/>
                </a:spcBef>
                <a:spcAft>
                  <a:spcPts val="0"/>
                </a:spcAft>
              </a:pPr>
              <a:r>
                <a:rPr sz="2000" b="1" dirty="0">
                  <a:solidFill>
                    <a:schemeClr val="bg1"/>
                  </a:solidFill>
                  <a:latin typeface="SimSun"/>
                  <a:cs typeface="SimSun"/>
                </a:rPr>
                <a:t>算法</a:t>
              </a: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078908" y="2982208"/>
              <a:ext cx="1261719" cy="5899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31648" marR="0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chemeClr val="bg1"/>
                  </a:solidFill>
                  <a:latin typeface="SimSun"/>
                  <a:cs typeface="SimSun"/>
                </a:rPr>
                <a:t>回溯与</a:t>
              </a:r>
            </a:p>
            <a:p>
              <a:pPr marL="0" marR="0">
                <a:lnSpc>
                  <a:spcPts val="2100"/>
                </a:lnSpc>
                <a:spcBef>
                  <a:spcPts val="359"/>
                </a:spcBef>
                <a:spcAft>
                  <a:spcPts val="0"/>
                </a:spcAft>
              </a:pPr>
              <a:r>
                <a:rPr sz="2000" b="1" dirty="0">
                  <a:solidFill>
                    <a:schemeClr val="bg1"/>
                  </a:solidFill>
                  <a:latin typeface="SimSun"/>
                  <a:cs typeface="SimSun"/>
                </a:rPr>
                <a:t>分支限界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568888" y="2363475"/>
            <a:ext cx="3651184" cy="552817"/>
            <a:chOff x="1568888" y="2363475"/>
            <a:chExt cx="3651184" cy="552817"/>
          </a:xfrm>
        </p:grpSpPr>
        <p:sp>
          <p:nvSpPr>
            <p:cNvPr id="2" name="object 1"/>
            <p:cNvSpPr/>
            <p:nvPr/>
          </p:nvSpPr>
          <p:spPr>
            <a:xfrm>
              <a:off x="1568888" y="2363475"/>
              <a:ext cx="3651184" cy="552817"/>
            </a:xfrm>
            <a:prstGeom prst="rect">
              <a:avLst/>
            </a:prstGeom>
            <a:blipFill>
              <a:blip r:embed="rId2" cstate="print"/>
              <a:srcRect/>
              <a:stretch>
                <a:fillRect t="-202459" r="-58944" b="-256506"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1" name="矩形 20"/>
            <p:cNvSpPr/>
            <p:nvPr/>
          </p:nvSpPr>
          <p:spPr>
            <a:xfrm>
              <a:off x="1651226" y="2489726"/>
              <a:ext cx="3535583" cy="3488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997"/>
                </a:lnSpc>
                <a:spcBef>
                  <a:spcPts val="2526"/>
                </a:spcBef>
              </a:pPr>
              <a:r>
                <a:rPr lang="zh-CN" altLang="en-US" sz="2000" b="1" spc="10" dirty="0" smtClean="0">
                  <a:solidFill>
                    <a:schemeClr val="bg1"/>
                  </a:solidFill>
                  <a:latin typeface="SimSun"/>
                  <a:cs typeface="SimSun"/>
                </a:rPr>
                <a:t>算法分析与问题的计算复杂性</a:t>
              </a:r>
              <a:endParaRPr lang="zh-CN" altLang="en-US" sz="2000" b="1" spc="10" dirty="0">
                <a:solidFill>
                  <a:schemeClr val="bg1"/>
                </a:solidFill>
                <a:latin typeface="SimSun"/>
                <a:cs typeface="SimSun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562682" y="1890774"/>
            <a:ext cx="3657389" cy="451002"/>
            <a:chOff x="1562682" y="1890774"/>
            <a:chExt cx="3657389" cy="451002"/>
          </a:xfrm>
        </p:grpSpPr>
        <p:sp>
          <p:nvSpPr>
            <p:cNvPr id="20" name="object 1"/>
            <p:cNvSpPr/>
            <p:nvPr/>
          </p:nvSpPr>
          <p:spPr>
            <a:xfrm>
              <a:off x="1562682" y="1890774"/>
              <a:ext cx="3657389" cy="451002"/>
            </a:xfrm>
            <a:prstGeom prst="rect">
              <a:avLst/>
            </a:prstGeom>
            <a:blipFill>
              <a:blip r:embed="rId2" cstate="print"/>
              <a:srcRect/>
              <a:stretch>
                <a:fillRect t="-124378" r="-58964" b="-410178"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652935" y="1981692"/>
              <a:ext cx="3292787" cy="2564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03325" marR="0">
                <a:lnSpc>
                  <a:spcPts val="1997"/>
                </a:lnSpc>
                <a:spcBef>
                  <a:spcPts val="2388"/>
                </a:spcBef>
                <a:spcAft>
                  <a:spcPts val="0"/>
                </a:spcAft>
              </a:pPr>
              <a:r>
                <a:rPr sz="2000" b="1" dirty="0" smtClean="0">
                  <a:solidFill>
                    <a:schemeClr val="bg1"/>
                  </a:solidFill>
                  <a:latin typeface="SimSun"/>
                  <a:cs typeface="SimSun"/>
                </a:rPr>
                <a:t>NP </a:t>
              </a:r>
              <a:r>
                <a:rPr sz="2000" b="1" dirty="0" err="1" smtClean="0">
                  <a:solidFill>
                    <a:schemeClr val="bg1"/>
                  </a:solidFill>
                  <a:latin typeface="SimSun"/>
                  <a:cs typeface="SimSun"/>
                </a:rPr>
                <a:t>完全理论简介</a:t>
              </a:r>
              <a:endParaRPr sz="2000" b="1" dirty="0">
                <a:solidFill>
                  <a:schemeClr val="bg1"/>
                </a:solidFill>
                <a:latin typeface="SimSun"/>
                <a:cs typeface="SimSun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62681" y="1402405"/>
            <a:ext cx="3624127" cy="491872"/>
            <a:chOff x="1562681" y="1402405"/>
            <a:chExt cx="3624127" cy="491872"/>
          </a:xfrm>
        </p:grpSpPr>
        <p:sp>
          <p:nvSpPr>
            <p:cNvPr id="22" name="object 1"/>
            <p:cNvSpPr/>
            <p:nvPr/>
          </p:nvSpPr>
          <p:spPr>
            <a:xfrm>
              <a:off x="1562681" y="1402405"/>
              <a:ext cx="3624127" cy="491872"/>
            </a:xfrm>
            <a:prstGeom prst="rect">
              <a:avLst/>
            </a:prstGeom>
            <a:blipFill>
              <a:blip r:embed="rId2" cstate="print"/>
              <a:srcRect/>
              <a:stretch>
                <a:fillRect r="-59367" b="-432629"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1944491" y="1532925"/>
              <a:ext cx="1259357" cy="2308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dirty="0">
                  <a:solidFill>
                    <a:schemeClr val="bg1"/>
                  </a:solidFill>
                  <a:latin typeface="SimSun"/>
                  <a:cs typeface="SimSun"/>
                </a:rPr>
                <a:t>近似算法</a:t>
              </a:r>
            </a:p>
          </p:txBody>
        </p:sp>
        <p:sp>
          <p:nvSpPr>
            <p:cNvPr id="25" name="object 5"/>
            <p:cNvSpPr txBox="1"/>
            <p:nvPr/>
          </p:nvSpPr>
          <p:spPr>
            <a:xfrm>
              <a:off x="3672683" y="1532925"/>
              <a:ext cx="1259357" cy="2308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dirty="0" smtClean="0">
                  <a:solidFill>
                    <a:schemeClr val="bg1"/>
                  </a:solidFill>
                  <a:latin typeface="SimSun"/>
                  <a:cs typeface="SimSun"/>
                </a:rPr>
                <a:t>随机</a:t>
              </a:r>
              <a:r>
                <a:rPr sz="2000" b="1" dirty="0" err="1" smtClean="0">
                  <a:solidFill>
                    <a:schemeClr val="bg1"/>
                  </a:solidFill>
                  <a:latin typeface="SimSun"/>
                  <a:cs typeface="SimSun"/>
                </a:rPr>
                <a:t>算法</a:t>
              </a:r>
              <a:endParaRPr sz="2000" b="1" dirty="0">
                <a:solidFill>
                  <a:schemeClr val="bg1"/>
                </a:solidFill>
                <a:latin typeface="SimSun"/>
                <a:cs typeface="SimSun"/>
              </a:endParaRPr>
            </a:p>
          </p:txBody>
        </p:sp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8807-8E57-4611-BFCB-BA20683B755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7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361950"/>
            <a:ext cx="829055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1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算法研究的重要性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168" y="1225987"/>
            <a:ext cx="8195631" cy="36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 algn="just">
              <a:spcBef>
                <a:spcPts val="600"/>
              </a:spcBef>
              <a:buFont typeface="Wingdings" pitchFamily="2" charset="2"/>
              <a:buChar char="n"/>
            </a:pPr>
            <a:r>
              <a:rPr sz="2400" b="1" spc="1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算法设计与分析技术在计算机科学与技术</a:t>
            </a:r>
            <a:r>
              <a:rPr sz="2400" b="1" spc="1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领域有着重要的应用背景</a:t>
            </a:r>
            <a:endParaRPr lang="en-US" sz="2400" b="1" spc="1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n"/>
            </a:pPr>
            <a:r>
              <a:rPr lang="zh-CN" altLang="en-US" sz="2400" b="1" spc="1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算法设计分析与计算复杂性理论研究是计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算机科学技术的核心研究领域</a:t>
            </a:r>
            <a:endParaRPr lang="en-US" altLang="zh-CN" sz="2400" b="1" spc="1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1966-2005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期间，</a:t>
            </a:r>
            <a:r>
              <a:rPr lang="en-US" altLang="zh-CN" sz="2400" b="1" spc="-33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奖获奖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人以算法设计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spc="23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人以计算理论、自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动机和复杂性研究领域的杰出贡献获奖</a:t>
            </a:r>
            <a:endParaRPr lang="en-US" altLang="zh-CN" sz="2400" b="1" spc="1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计算复杂性理论的核心课题“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P=NP?”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是本世纪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个最重要的数学问题之一</a:t>
            </a:r>
            <a:endParaRPr lang="en-US" altLang="zh-CN" sz="2400" b="1" spc="1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400" b="1" spc="15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提高学生素质和分析问题解决问题的能力，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培养计算思维</a:t>
            </a:r>
            <a:endParaRPr lang="zh-CN" altLang="en-US" sz="2400" b="1" spc="15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0EE3-E896-49AD-915F-7F682DA3B3C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4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82389"/>
            <a:ext cx="822960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00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1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Sun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76350"/>
            <a:ext cx="8229600" cy="3218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 algn="just">
              <a:lnSpc>
                <a:spcPts val="2929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NP-hard</a:t>
            </a:r>
            <a:r>
              <a:rPr sz="2800" b="1" spc="1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问题的几个例子</a:t>
            </a:r>
            <a:r>
              <a:rPr sz="2800" b="1" spc="1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：货郎问题</a:t>
            </a:r>
            <a:r>
              <a:rPr lang="zh-CN" altLang="en-US" sz="2800" b="1" spc="1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sz="2800" b="1" spc="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背包问题、</a:t>
            </a:r>
            <a:r>
              <a:rPr sz="28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双机调度问题等</a:t>
            </a:r>
            <a:endParaRPr lang="en-US" sz="2800" b="1" spc="1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ts val="2929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NP-hard</a:t>
            </a:r>
            <a:r>
              <a:rPr lang="zh-CN" altLang="en-US" sz="28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问题的计算现状</a:t>
            </a:r>
            <a:endParaRPr lang="en-US" sz="2800" b="1" spc="1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929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计算复杂性理论的核心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——NP</a:t>
            </a:r>
            <a:r>
              <a:rPr lang="zh-CN" altLang="en-US" sz="2800" b="1" spc="1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完全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929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spc="1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算法研究的主要内容及重要意义</a:t>
            </a:r>
          </a:p>
          <a:p>
            <a:pPr marL="34290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endParaRPr lang="zh-CN" altLang="en-US" sz="2400" dirty="0" smtClean="0">
              <a:solidFill>
                <a:srgbClr val="000000"/>
              </a:solidFill>
              <a:latin typeface="SimSun"/>
              <a:cs typeface="SimSun"/>
            </a:endParaRPr>
          </a:p>
          <a:p>
            <a:pPr marL="341376" marR="0">
              <a:lnSpc>
                <a:spcPts val="2929"/>
              </a:lnSpc>
              <a:spcBef>
                <a:spcPts val="576"/>
              </a:spcBef>
              <a:spcAft>
                <a:spcPts val="0"/>
              </a:spcAft>
            </a:pPr>
            <a:endParaRPr sz="2400" spc="10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F75A3-82C6-4B07-A77B-A2F3F607756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5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352550"/>
            <a:ext cx="8229600" cy="1069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170" algn="ctr">
              <a:lnSpc>
                <a:spcPct val="120000"/>
              </a:lnSpc>
              <a:spcBef>
                <a:spcPts val="100"/>
              </a:spcBef>
            </a:pP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算法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及</a:t>
            </a:r>
            <a:r>
              <a:rPr sz="6600" spc="-25" dirty="0" err="1" smtClean="0">
                <a:latin typeface="黑体" pitchFamily="49" charset="-122"/>
                <a:ea typeface="黑体" pitchFamily="49" charset="-122"/>
              </a:rPr>
              <a:t>其</a:t>
            </a: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时间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复</a:t>
            </a:r>
            <a:r>
              <a:rPr sz="6600" spc="-5" dirty="0" err="1" smtClean="0">
                <a:latin typeface="黑体" pitchFamily="49" charset="-122"/>
                <a:ea typeface="黑体" pitchFamily="49" charset="-122"/>
              </a:rPr>
              <a:t>杂</a:t>
            </a:r>
            <a:r>
              <a:rPr sz="6600" spc="-25" dirty="0" err="1" smtClean="0">
                <a:latin typeface="黑体" pitchFamily="49" charset="-122"/>
                <a:ea typeface="黑体" pitchFamily="49" charset="-122"/>
              </a:rPr>
              <a:t>度</a:t>
            </a:r>
            <a:endParaRPr sz="5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E596ECA-D172-4A82-90A9-5A0C0AF9F1B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58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266973"/>
            <a:ext cx="83413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问题及实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45349"/>
            <a:ext cx="8188960" cy="3801041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问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题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53695">
              <a:lnSpc>
                <a:spcPct val="100000"/>
              </a:lnSpc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需要回答的一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般性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提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问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，通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常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含若干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参数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问题描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述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53695"/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定义问题参数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集合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变量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函数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序列等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53695" marR="28575"/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说明每个参数的取值范围及参数间的关系</a:t>
            </a:r>
            <a:endParaRPr lang="en-US" sz="24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marL="353695" marR="28575"/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定义问题的解</a:t>
            </a:r>
            <a:endParaRPr sz="2400" b="1" spc="-5" dirty="0">
              <a:latin typeface="Times New Roman" pitchFamily="18" charset="0"/>
              <a:cs typeface="Times New Roman" pitchFamily="18" charset="0"/>
            </a:endParaRPr>
          </a:p>
          <a:p>
            <a:pPr marL="353695"/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说明解满足的条件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(优化目标或约束条件)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问题实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例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53695">
              <a:lnSpc>
                <a:spcPct val="100000"/>
              </a:lnSpc>
              <a:spcBef>
                <a:spcPts val="660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参数的一组赋值可得到问题的一个实例</a:t>
            </a:r>
            <a:endParaRPr sz="2400" b="1" spc="-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29504EB-49B5-4349-816A-11BCE1AD84F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2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1" y="224880"/>
            <a:ext cx="82651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算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50889"/>
            <a:ext cx="8188960" cy="36177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17500">
              <a:lnSpc>
                <a:spcPct val="100000"/>
              </a:lnSpc>
              <a:spcBef>
                <a:spcPts val="730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</a:t>
            </a:r>
            <a:r>
              <a:rPr sz="2400" b="1" spc="-5" dirty="0" err="1" smtClean="0">
                <a:latin typeface="宋体"/>
                <a:cs typeface="宋体"/>
              </a:rPr>
              <a:t>有限条指令的</a:t>
            </a:r>
            <a:r>
              <a:rPr sz="2400" b="1" dirty="0" err="1" smtClean="0">
                <a:latin typeface="宋体"/>
                <a:cs typeface="宋体"/>
              </a:rPr>
              <a:t>序</a:t>
            </a:r>
            <a:r>
              <a:rPr sz="2400" b="1" spc="-10" dirty="0" err="1" smtClean="0">
                <a:latin typeface="宋体"/>
                <a:cs typeface="宋体"/>
              </a:rPr>
              <a:t>列</a:t>
            </a:r>
            <a:endParaRPr sz="2400" dirty="0">
              <a:latin typeface="宋体"/>
              <a:cs typeface="宋体"/>
            </a:endParaRPr>
          </a:p>
          <a:p>
            <a:pPr marL="361315" marR="12700">
              <a:lnSpc>
                <a:spcPct val="119100"/>
              </a:lnSpc>
              <a:spcBef>
                <a:spcPts val="6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</a:t>
            </a:r>
            <a:r>
              <a:rPr sz="2400" b="1" spc="-5" dirty="0" err="1" smtClean="0">
                <a:latin typeface="宋体"/>
                <a:cs typeface="宋体"/>
              </a:rPr>
              <a:t>这个指令序</a:t>
            </a:r>
            <a:r>
              <a:rPr sz="2400" b="1" dirty="0" err="1" smtClean="0">
                <a:latin typeface="宋体"/>
                <a:cs typeface="宋体"/>
              </a:rPr>
              <a:t>列</a:t>
            </a:r>
            <a:r>
              <a:rPr sz="2400" b="1" spc="-5" dirty="0" err="1" smtClean="0">
                <a:latin typeface="宋体"/>
                <a:cs typeface="宋体"/>
              </a:rPr>
              <a:t>确</a:t>
            </a:r>
            <a:r>
              <a:rPr sz="2400" b="1" dirty="0" err="1" smtClean="0">
                <a:latin typeface="宋体"/>
                <a:cs typeface="宋体"/>
              </a:rPr>
              <a:t>定了解</a:t>
            </a:r>
            <a:r>
              <a:rPr sz="2400" b="1" spc="-5" dirty="0" err="1" smtClean="0">
                <a:latin typeface="宋体"/>
                <a:cs typeface="宋体"/>
              </a:rPr>
              <a:t>决</a:t>
            </a:r>
            <a:r>
              <a:rPr sz="2400" b="1" dirty="0" err="1" smtClean="0">
                <a:latin typeface="宋体"/>
                <a:cs typeface="宋体"/>
              </a:rPr>
              <a:t>某个问</a:t>
            </a:r>
            <a:r>
              <a:rPr sz="2400" b="1" spc="-5" dirty="0" err="1" smtClean="0">
                <a:latin typeface="宋体"/>
                <a:cs typeface="宋体"/>
              </a:rPr>
              <a:t>题</a:t>
            </a:r>
            <a:r>
              <a:rPr sz="2400" b="1" dirty="0" err="1" smtClean="0">
                <a:latin typeface="宋体"/>
                <a:cs typeface="宋体"/>
              </a:rPr>
              <a:t>的</a:t>
            </a:r>
            <a:r>
              <a:rPr sz="2400" b="1" spc="-5" dirty="0" err="1" smtClean="0">
                <a:latin typeface="宋体"/>
                <a:cs typeface="宋体"/>
              </a:rPr>
              <a:t>一系列运算或</a:t>
            </a:r>
            <a:r>
              <a:rPr sz="2400" b="1" dirty="0" err="1" smtClean="0">
                <a:latin typeface="宋体"/>
                <a:cs typeface="宋体"/>
              </a:rPr>
              <a:t>操</a:t>
            </a:r>
            <a:r>
              <a:rPr sz="2400" b="1" spc="-10" dirty="0" err="1" smtClean="0">
                <a:latin typeface="宋体"/>
                <a:cs typeface="宋体"/>
              </a:rPr>
              <a:t>作</a:t>
            </a:r>
            <a:endParaRPr sz="21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r>
              <a:rPr sz="2400" b="1" spc="-6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</a:t>
            </a:r>
            <a:r>
              <a:rPr sz="2400" b="1" i="1" spc="-13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lang="zh-CN" altLang="en-US" sz="2400" b="1" i="1" spc="-13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求</a:t>
            </a:r>
            <a:r>
              <a:rPr sz="2400" b="1" spc="-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解问</a:t>
            </a:r>
            <a:r>
              <a:rPr sz="2400" b="1" spc="-1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400" b="1" spc="-59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P</a:t>
            </a:r>
            <a:endParaRPr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 marL="292100" marR="5080" indent="24765">
              <a:lnSpc>
                <a:spcPct val="121600"/>
              </a:lnSpc>
              <a:spcBef>
                <a:spcPts val="10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</a:t>
            </a:r>
            <a:r>
              <a:rPr sz="2400" b="1" spc="-5" dirty="0" err="1" smtClean="0">
                <a:latin typeface="宋体"/>
                <a:cs typeface="宋体"/>
              </a:rPr>
              <a:t>把问</a:t>
            </a:r>
            <a:r>
              <a:rPr sz="2400" b="1" spc="-10" dirty="0" err="1" smtClean="0">
                <a:latin typeface="宋体"/>
                <a:cs typeface="宋体"/>
              </a:rPr>
              <a:t>题</a:t>
            </a:r>
            <a:r>
              <a:rPr sz="2400" b="1" spc="-555" dirty="0" smtClean="0">
                <a:latin typeface="宋体"/>
                <a:cs typeface="宋体"/>
              </a:rPr>
              <a:t> </a:t>
            </a:r>
            <a:r>
              <a:rPr sz="2400" b="1" i="1" dirty="0" smtClean="0">
                <a:latin typeface="Times New Roman"/>
                <a:cs typeface="Times New Roman"/>
              </a:rPr>
              <a:t>P</a:t>
            </a:r>
            <a:r>
              <a:rPr sz="2400" b="1" i="1" spc="-90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的任何实例作</a:t>
            </a:r>
            <a:r>
              <a:rPr sz="2400" b="1" dirty="0" err="1" smtClean="0">
                <a:latin typeface="宋体"/>
                <a:cs typeface="宋体"/>
              </a:rPr>
              <a:t>为算</a:t>
            </a:r>
            <a:r>
              <a:rPr sz="2400" b="1" spc="-10" dirty="0" err="1" smtClean="0">
                <a:latin typeface="宋体"/>
                <a:cs typeface="宋体"/>
              </a:rPr>
              <a:t>法</a:t>
            </a:r>
            <a:r>
              <a:rPr sz="2400" b="1" spc="-550" dirty="0" smtClean="0">
                <a:latin typeface="宋体"/>
                <a:cs typeface="宋体"/>
              </a:rPr>
              <a:t> </a:t>
            </a:r>
            <a:r>
              <a:rPr sz="2400" b="1" i="1" dirty="0" smtClean="0">
                <a:latin typeface="Times New Roman"/>
                <a:cs typeface="Times New Roman"/>
              </a:rPr>
              <a:t>A</a:t>
            </a:r>
            <a:r>
              <a:rPr sz="2400" b="1" i="1" spc="-135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宋体"/>
                <a:cs typeface="宋体"/>
              </a:rPr>
              <a:t>的输入</a:t>
            </a:r>
            <a:r>
              <a:rPr sz="2400" b="1" spc="-5" dirty="0">
                <a:latin typeface="宋体"/>
                <a:cs typeface="宋体"/>
              </a:rPr>
              <a:t> </a:t>
            </a:r>
            <a:r>
              <a:rPr lang="en-US" sz="2400" b="1" spc="-5" dirty="0" smtClean="0">
                <a:latin typeface="宋体"/>
                <a:cs typeface="宋体"/>
              </a:rPr>
              <a:t> </a:t>
            </a:r>
          </a:p>
          <a:p>
            <a:pPr marL="292100" marR="5080" indent="24765">
              <a:lnSpc>
                <a:spcPct val="121600"/>
              </a:lnSpc>
              <a:spcBef>
                <a:spcPts val="10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</a:t>
            </a:r>
            <a:r>
              <a:rPr sz="2400" b="1" spc="-5" dirty="0" err="1" smtClean="0">
                <a:latin typeface="宋体"/>
                <a:cs typeface="宋体"/>
              </a:rPr>
              <a:t>每步计算是确</a:t>
            </a:r>
            <a:r>
              <a:rPr sz="2400" b="1" dirty="0" err="1" smtClean="0">
                <a:latin typeface="宋体"/>
                <a:cs typeface="宋体"/>
              </a:rPr>
              <a:t>定</a:t>
            </a:r>
            <a:r>
              <a:rPr sz="2400" b="1" spc="-5" dirty="0" err="1" smtClean="0">
                <a:latin typeface="宋体"/>
                <a:cs typeface="宋体"/>
              </a:rPr>
              <a:t>性的</a:t>
            </a:r>
            <a:endParaRPr lang="en-US" sz="2400" b="1" spc="-5" dirty="0" smtClean="0">
              <a:latin typeface="宋体"/>
              <a:cs typeface="宋体"/>
            </a:endParaRPr>
          </a:p>
          <a:p>
            <a:pPr marL="292100" marR="5080" indent="24765">
              <a:lnSpc>
                <a:spcPct val="121600"/>
              </a:lnSpc>
              <a:spcBef>
                <a:spcPts val="105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</a:t>
            </a:r>
            <a:r>
              <a:rPr sz="2400" b="1" i="1" dirty="0" smtClean="0">
                <a:latin typeface="Times New Roman"/>
                <a:cs typeface="Times New Roman"/>
              </a:rPr>
              <a:t>A</a:t>
            </a:r>
            <a:r>
              <a:rPr sz="2400" b="1" i="1" spc="-145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能够在有限步</a:t>
            </a:r>
            <a:r>
              <a:rPr sz="2400" b="1" dirty="0" err="1" smtClean="0">
                <a:latin typeface="宋体"/>
                <a:cs typeface="宋体"/>
              </a:rPr>
              <a:t>停</a:t>
            </a:r>
            <a:r>
              <a:rPr sz="2400" b="1" spc="-10" dirty="0" err="1" smtClean="0">
                <a:latin typeface="宋体"/>
                <a:cs typeface="宋体"/>
              </a:rPr>
              <a:t>机</a:t>
            </a:r>
            <a:r>
              <a:rPr lang="en-US" sz="2400" b="1" spc="-10" dirty="0" smtClean="0">
                <a:latin typeface="宋体"/>
                <a:cs typeface="宋体"/>
              </a:rPr>
              <a:t> </a:t>
            </a:r>
            <a:r>
              <a:rPr sz="2400" b="1" spc="-10" dirty="0" smtClean="0">
                <a:latin typeface="宋体"/>
                <a:cs typeface="宋体"/>
              </a:rPr>
              <a:t> </a:t>
            </a:r>
            <a:endParaRPr lang="en-US" sz="2400" b="1" spc="-10" dirty="0" smtClean="0">
              <a:latin typeface="宋体"/>
              <a:cs typeface="宋体"/>
            </a:endParaRPr>
          </a:p>
          <a:p>
            <a:pPr marL="292100" marR="5080" indent="24765">
              <a:lnSpc>
                <a:spcPct val="121600"/>
              </a:lnSpc>
              <a:spcBef>
                <a:spcPts val="10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</a:t>
            </a:r>
            <a:r>
              <a:rPr sz="2400" b="1" spc="-5" dirty="0" err="1" smtClean="0">
                <a:latin typeface="宋体"/>
                <a:cs typeface="宋体"/>
              </a:rPr>
              <a:t>输出该实例的</a:t>
            </a:r>
            <a:r>
              <a:rPr sz="2400" b="1" dirty="0" err="1" smtClean="0">
                <a:latin typeface="宋体"/>
                <a:cs typeface="宋体"/>
              </a:rPr>
              <a:t>正</a:t>
            </a:r>
            <a:r>
              <a:rPr sz="2400" b="1" spc="-5" dirty="0" err="1" smtClean="0">
                <a:latin typeface="宋体"/>
                <a:cs typeface="宋体"/>
              </a:rPr>
              <a:t>确</a:t>
            </a:r>
            <a:r>
              <a:rPr sz="2400" b="1" dirty="0" err="1" smtClean="0">
                <a:latin typeface="宋体"/>
                <a:cs typeface="宋体"/>
              </a:rPr>
              <a:t>的</a:t>
            </a:r>
            <a:r>
              <a:rPr sz="2400" b="1" spc="-10" dirty="0" err="1" smtClean="0">
                <a:latin typeface="宋体"/>
                <a:cs typeface="宋体"/>
              </a:rPr>
              <a:t>解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C1EF5FD-1E51-43D6-9D69-B8930C36911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35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基本运算与输</a:t>
            </a:r>
            <a:r>
              <a:rPr sz="4000" spc="-5" dirty="0"/>
              <a:t>入规</a:t>
            </a:r>
            <a:r>
              <a:rPr sz="4000" spc="-15" dirty="0"/>
              <a:t>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00150"/>
            <a:ext cx="8188960" cy="301088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30200" marR="317500" indent="-318135" algn="just">
              <a:lnSpc>
                <a:spcPct val="117800"/>
              </a:lnSpc>
              <a:spcBef>
                <a:spcPts val="1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 err="1" smtClean="0">
                <a:solidFill>
                  <a:srgbClr val="C00000"/>
                </a:solidFill>
                <a:latin typeface="宋体"/>
                <a:cs typeface="宋体"/>
              </a:rPr>
              <a:t>时间</a:t>
            </a:r>
            <a:r>
              <a:rPr sz="2400" b="1" dirty="0" err="1" smtClean="0">
                <a:solidFill>
                  <a:srgbClr val="C00000"/>
                </a:solidFill>
                <a:latin typeface="宋体"/>
                <a:cs typeface="宋体"/>
              </a:rPr>
              <a:t>复</a:t>
            </a:r>
            <a:r>
              <a:rPr sz="2400" b="1" spc="5" dirty="0" err="1" smtClean="0">
                <a:solidFill>
                  <a:srgbClr val="C00000"/>
                </a:solidFill>
                <a:latin typeface="宋体"/>
                <a:cs typeface="宋体"/>
              </a:rPr>
              <a:t>杂</a:t>
            </a:r>
            <a:r>
              <a:rPr sz="2400" b="1" spc="-5" dirty="0" err="1" smtClean="0">
                <a:solidFill>
                  <a:srgbClr val="C00000"/>
                </a:solidFill>
                <a:latin typeface="宋体"/>
                <a:cs typeface="宋体"/>
              </a:rPr>
              <a:t>度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针对指</a:t>
            </a:r>
            <a:r>
              <a:rPr sz="2400" b="1" spc="-10" dirty="0" err="1" smtClean="0">
                <a:latin typeface="宋体"/>
                <a:cs typeface="宋体"/>
              </a:rPr>
              <a:t>定</a:t>
            </a:r>
            <a:r>
              <a:rPr sz="2400" b="1" spc="-5" dirty="0" err="1" smtClean="0">
                <a:solidFill>
                  <a:srgbClr val="C00000"/>
                </a:solidFill>
                <a:latin typeface="宋体"/>
                <a:cs typeface="宋体"/>
              </a:rPr>
              <a:t>基本</a:t>
            </a:r>
            <a:r>
              <a:rPr sz="2400" b="1" dirty="0" err="1" smtClean="0">
                <a:solidFill>
                  <a:srgbClr val="C00000"/>
                </a:solidFill>
                <a:latin typeface="宋体"/>
                <a:cs typeface="宋体"/>
              </a:rPr>
              <a:t>运</a:t>
            </a:r>
            <a:r>
              <a:rPr sz="2400" b="1" spc="-10" dirty="0" err="1" smtClean="0">
                <a:solidFill>
                  <a:srgbClr val="C00000"/>
                </a:solidFill>
                <a:latin typeface="宋体"/>
                <a:cs typeface="宋体"/>
              </a:rPr>
              <a:t>算</a:t>
            </a:r>
            <a:r>
              <a:rPr sz="2400" b="1" dirty="0" smtClean="0">
                <a:latin typeface="Calibri"/>
                <a:cs typeface="Calibri"/>
              </a:rPr>
              <a:t>,</a:t>
            </a:r>
            <a:r>
              <a:rPr lang="en-US" sz="2400" b="1" dirty="0" smtClean="0">
                <a:latin typeface="Calibri"/>
                <a:cs typeface="Calibri"/>
              </a:rPr>
              <a:t> </a:t>
            </a:r>
            <a:r>
              <a:rPr sz="2400" b="1" spc="-10" dirty="0" err="1" smtClean="0">
                <a:latin typeface="宋体"/>
                <a:cs typeface="宋体"/>
              </a:rPr>
              <a:t>计</a:t>
            </a:r>
            <a:r>
              <a:rPr sz="2400" b="1" spc="-5" dirty="0" err="1" smtClean="0">
                <a:latin typeface="宋体"/>
                <a:cs typeface="宋体"/>
              </a:rPr>
              <a:t>数算法所做运</a:t>
            </a:r>
            <a:r>
              <a:rPr sz="2400" b="1" dirty="0" err="1" smtClean="0">
                <a:latin typeface="宋体"/>
                <a:cs typeface="宋体"/>
              </a:rPr>
              <a:t>算</a:t>
            </a:r>
            <a:r>
              <a:rPr sz="2400" b="1" spc="-5" dirty="0" err="1" smtClean="0">
                <a:latin typeface="宋体"/>
                <a:cs typeface="宋体"/>
              </a:rPr>
              <a:t>次数</a:t>
            </a:r>
            <a:endParaRPr sz="2400" dirty="0">
              <a:latin typeface="宋体"/>
              <a:cs typeface="宋体"/>
            </a:endParaRPr>
          </a:p>
          <a:p>
            <a:pPr marL="355600" indent="-342900" algn="just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基本运算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b="1" spc="-5" dirty="0">
                <a:latin typeface="宋体"/>
                <a:cs typeface="宋体"/>
              </a:rPr>
              <a:t>比较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宋体"/>
                <a:cs typeface="宋体"/>
              </a:rPr>
              <a:t>加法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宋体"/>
                <a:cs typeface="宋体"/>
              </a:rPr>
              <a:t>乘法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宋体"/>
                <a:cs typeface="宋体"/>
              </a:rPr>
              <a:t>置指</a:t>
            </a:r>
            <a:r>
              <a:rPr sz="2400" b="1" spc="-10" dirty="0">
                <a:latin typeface="宋体"/>
                <a:cs typeface="宋体"/>
              </a:rPr>
              <a:t>针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5" dirty="0" err="1">
                <a:latin typeface="宋体"/>
                <a:cs typeface="宋体"/>
              </a:rPr>
              <a:t>交换</a:t>
            </a:r>
            <a:r>
              <a:rPr sz="2400" b="1" dirty="0" smtClean="0">
                <a:latin typeface="Calibri"/>
                <a:cs typeface="Calibri"/>
              </a:rPr>
              <a:t>…</a:t>
            </a:r>
            <a:r>
              <a:rPr lang="en-US" altLang="zh-CN" sz="2400" b="1" dirty="0" smtClean="0">
                <a:cs typeface="Calibri"/>
              </a:rPr>
              <a:t>…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865"/>
              </a:lnSpc>
              <a:spcBef>
                <a:spcPts val="19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输入规模</a:t>
            </a:r>
            <a:r>
              <a:rPr sz="2400" b="1" dirty="0">
                <a:latin typeface="宋体"/>
                <a:cs typeface="宋体"/>
              </a:rPr>
              <a:t>：输入</a:t>
            </a:r>
            <a:r>
              <a:rPr sz="2400" b="1" spc="-5" dirty="0">
                <a:latin typeface="宋体"/>
                <a:cs typeface="宋体"/>
              </a:rPr>
              <a:t>串</a:t>
            </a:r>
            <a:r>
              <a:rPr sz="2400" b="1" dirty="0">
                <a:latin typeface="宋体"/>
                <a:cs typeface="宋体"/>
              </a:rPr>
              <a:t>编码长</a:t>
            </a:r>
            <a:r>
              <a:rPr sz="2400" b="1" spc="-10" dirty="0">
                <a:latin typeface="宋体"/>
                <a:cs typeface="宋体"/>
              </a:rPr>
              <a:t>度</a:t>
            </a:r>
            <a:endParaRPr sz="2400" dirty="0">
              <a:latin typeface="宋体"/>
              <a:cs typeface="宋体"/>
            </a:endParaRPr>
          </a:p>
          <a:p>
            <a:pPr marL="330200" marR="107950" algn="just">
              <a:lnSpc>
                <a:spcPts val="2640"/>
              </a:lnSpc>
              <a:spcBef>
                <a:spcPts val="7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</a:t>
            </a:r>
            <a:r>
              <a:rPr sz="2400" b="1" spc="-5" dirty="0" err="1" smtClean="0">
                <a:latin typeface="宋体"/>
                <a:cs typeface="宋体"/>
              </a:rPr>
              <a:t>通常用下述参</a:t>
            </a:r>
            <a:r>
              <a:rPr sz="2400" b="1" dirty="0" err="1" smtClean="0">
                <a:latin typeface="宋体"/>
                <a:cs typeface="宋体"/>
              </a:rPr>
              <a:t>数</a:t>
            </a:r>
            <a:r>
              <a:rPr sz="2400" b="1" spc="-5" dirty="0" err="1" smtClean="0">
                <a:latin typeface="宋体"/>
                <a:cs typeface="宋体"/>
              </a:rPr>
              <a:t>度</a:t>
            </a:r>
            <a:r>
              <a:rPr sz="2400" b="1" dirty="0" err="1" smtClean="0">
                <a:latin typeface="宋体"/>
                <a:cs typeface="宋体"/>
              </a:rPr>
              <a:t>量</a:t>
            </a:r>
            <a:r>
              <a:rPr sz="2400" b="1" dirty="0" err="1">
                <a:latin typeface="宋体"/>
                <a:cs typeface="宋体"/>
              </a:rPr>
              <a:t>：</a:t>
            </a:r>
            <a:r>
              <a:rPr sz="2400" b="1" dirty="0" err="1" smtClean="0">
                <a:latin typeface="宋体"/>
                <a:cs typeface="宋体"/>
              </a:rPr>
              <a:t>数</a:t>
            </a:r>
            <a:r>
              <a:rPr sz="2400" b="1" spc="-5" dirty="0" err="1" smtClean="0">
                <a:latin typeface="宋体"/>
                <a:cs typeface="宋体"/>
              </a:rPr>
              <a:t>组</a:t>
            </a:r>
            <a:r>
              <a:rPr sz="2400" b="1" dirty="0" err="1" smtClean="0">
                <a:latin typeface="宋体"/>
                <a:cs typeface="宋体"/>
              </a:rPr>
              <a:t>元素多</a:t>
            </a:r>
            <a:r>
              <a:rPr sz="2400" b="1" spc="-5" dirty="0" err="1" smtClean="0">
                <a:latin typeface="宋体"/>
                <a:cs typeface="宋体"/>
              </a:rPr>
              <a:t>少</a:t>
            </a:r>
            <a:r>
              <a:rPr lang="en-US" altLang="zh-CN" sz="2400" b="1" dirty="0" err="1" smtClean="0">
                <a:cs typeface="Calibri"/>
              </a:rPr>
              <a:t>,</a:t>
            </a:r>
            <a:r>
              <a:rPr sz="2400" b="1" spc="-10" dirty="0" err="1" smtClean="0">
                <a:latin typeface="宋体"/>
                <a:cs typeface="宋体"/>
              </a:rPr>
              <a:t>调</a:t>
            </a:r>
            <a:r>
              <a:rPr sz="2400" b="1" spc="-5" dirty="0" err="1" smtClean="0">
                <a:latin typeface="宋体"/>
                <a:cs typeface="宋体"/>
              </a:rPr>
              <a:t>度问题的任务</a:t>
            </a:r>
            <a:r>
              <a:rPr sz="2400" b="1" dirty="0" err="1" smtClean="0">
                <a:latin typeface="宋体"/>
                <a:cs typeface="宋体"/>
              </a:rPr>
              <a:t>个</a:t>
            </a:r>
            <a:r>
              <a:rPr sz="2400" b="1" spc="-5" dirty="0" err="1" smtClean="0">
                <a:latin typeface="宋体"/>
                <a:cs typeface="宋体"/>
              </a:rPr>
              <a:t>数</a:t>
            </a:r>
            <a:r>
              <a:rPr lang="en-US" altLang="zh-CN" sz="2400" b="1" dirty="0" err="1" smtClean="0">
                <a:cs typeface="Calibri"/>
              </a:rPr>
              <a:t>,</a:t>
            </a:r>
            <a:r>
              <a:rPr sz="2400" b="1" dirty="0" err="1" smtClean="0">
                <a:latin typeface="宋体"/>
                <a:cs typeface="宋体"/>
              </a:rPr>
              <a:t>图的</a:t>
            </a:r>
            <a:r>
              <a:rPr sz="2400" b="1" spc="-5" dirty="0" err="1" smtClean="0">
                <a:latin typeface="宋体"/>
                <a:cs typeface="宋体"/>
              </a:rPr>
              <a:t>顶</a:t>
            </a:r>
            <a:r>
              <a:rPr sz="2400" b="1" dirty="0" err="1" smtClean="0">
                <a:latin typeface="宋体"/>
                <a:cs typeface="宋体"/>
              </a:rPr>
              <a:t>点数与</a:t>
            </a:r>
            <a:r>
              <a:rPr sz="2400" b="1" spc="-5" dirty="0" err="1" smtClean="0">
                <a:latin typeface="宋体"/>
                <a:cs typeface="宋体"/>
              </a:rPr>
              <a:t>边</a:t>
            </a:r>
            <a:r>
              <a:rPr sz="2400" b="1" dirty="0" err="1" smtClean="0">
                <a:latin typeface="宋体"/>
                <a:cs typeface="宋体"/>
              </a:rPr>
              <a:t>数</a:t>
            </a:r>
            <a:r>
              <a:rPr sz="2400" b="1" spc="-10" dirty="0" err="1" smtClean="0">
                <a:latin typeface="宋体"/>
                <a:cs typeface="宋体"/>
              </a:rPr>
              <a:t>等</a:t>
            </a:r>
            <a:r>
              <a:rPr sz="2400" b="1" dirty="0" smtClean="0">
                <a:latin typeface="Calibri"/>
                <a:cs typeface="Calibri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算法基本运算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次数可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表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为输入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规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模的函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数</a:t>
            </a:r>
            <a:endParaRPr sz="2400" dirty="0">
              <a:latin typeface="宋体"/>
              <a:cs typeface="宋体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给定问题和基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本运算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就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决定了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一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个算法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类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E9E3956-84D9-4BDA-87A2-19AA8498952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04368"/>
            <a:ext cx="8229600" cy="304378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排序：数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组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中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元素个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5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检索：被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检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索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数组的元素个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整数乘法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两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个整数的位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m,</a:t>
            </a:r>
            <a:r>
              <a:rPr sz="2800" b="1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矩阵相乘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矩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阵的行列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5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i,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j,</a:t>
            </a:r>
            <a:r>
              <a:rPr sz="28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图的遍历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图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的顶点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8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边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spc="-6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m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93065">
              <a:lnSpc>
                <a:spcPct val="100000"/>
              </a:lnSpc>
              <a:spcBef>
                <a:spcPts val="545"/>
              </a:spcBef>
            </a:pP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…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输入规</a:t>
            </a:r>
            <a:r>
              <a:rPr sz="4000" spc="-15" dirty="0"/>
              <a:t>模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D6076D2-1E37-4C81-B6F7-4CDC7BD2EB9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1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 err="1" smtClean="0"/>
              <a:t>基本运</a:t>
            </a:r>
            <a:r>
              <a:rPr sz="4000" spc="-15" dirty="0" err="1" smtClean="0"/>
              <a:t>算</a:t>
            </a:r>
            <a:r>
              <a:rPr lang="zh-CN" altLang="en-US" sz="4000" spc="-15" dirty="0" smtClean="0"/>
              <a:t>的例子</a:t>
            </a:r>
            <a:endParaRPr sz="4000"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8229600" cy="37978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排序</a:t>
            </a:r>
            <a:r>
              <a:rPr sz="2400" b="1" dirty="0">
                <a:latin typeface="Calibri"/>
                <a:cs typeface="Calibri"/>
              </a:rPr>
              <a:t>: </a:t>
            </a:r>
            <a:r>
              <a:rPr sz="2400" b="1" spc="-5" dirty="0">
                <a:latin typeface="宋体"/>
                <a:cs typeface="宋体"/>
              </a:rPr>
              <a:t>元素之</a:t>
            </a:r>
            <a:r>
              <a:rPr sz="2400" b="1" dirty="0">
                <a:latin typeface="宋体"/>
                <a:cs typeface="宋体"/>
              </a:rPr>
              <a:t>间的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比较</a:t>
            </a:r>
            <a:endParaRPr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检索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 err="1">
                <a:latin typeface="宋体"/>
                <a:cs typeface="宋体"/>
              </a:rPr>
              <a:t>被检索</a:t>
            </a:r>
            <a:r>
              <a:rPr sz="2400" b="1" dirty="0" err="1">
                <a:latin typeface="宋体"/>
                <a:cs typeface="宋体"/>
              </a:rPr>
              <a:t>元</a:t>
            </a:r>
            <a:r>
              <a:rPr sz="2400" b="1" spc="-10" dirty="0" err="1">
                <a:latin typeface="宋体"/>
                <a:cs typeface="宋体"/>
              </a:rPr>
              <a:t>素</a:t>
            </a:r>
            <a:r>
              <a:rPr sz="2400" b="1" spc="-655" dirty="0">
                <a:latin typeface="宋体"/>
                <a:cs typeface="宋体"/>
              </a:rPr>
              <a:t> 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lang="en-US" sz="2400" b="1" i="1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与数组</a:t>
            </a:r>
            <a:r>
              <a:rPr sz="2400" b="1" dirty="0" err="1" smtClean="0">
                <a:latin typeface="宋体"/>
                <a:cs typeface="宋体"/>
              </a:rPr>
              <a:t>元素的</a:t>
            </a:r>
            <a:r>
              <a:rPr sz="2400" b="1" dirty="0" err="1" smtClean="0">
                <a:solidFill>
                  <a:srgbClr val="C00000"/>
                </a:solidFill>
                <a:latin typeface="宋体"/>
                <a:cs typeface="宋体"/>
              </a:rPr>
              <a:t>比较</a:t>
            </a:r>
            <a:endParaRPr lang="en-US"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 err="1" smtClean="0">
                <a:latin typeface="宋体"/>
                <a:cs typeface="宋体"/>
              </a:rPr>
              <a:t>整数乘法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宋体"/>
                <a:cs typeface="宋体"/>
              </a:rPr>
              <a:t>每位数</a:t>
            </a:r>
            <a:r>
              <a:rPr sz="2400" b="1" dirty="0">
                <a:latin typeface="宋体"/>
                <a:cs typeface="宋体"/>
              </a:rPr>
              <a:t>字相</a:t>
            </a:r>
            <a:r>
              <a:rPr sz="2400" b="1" spc="-5" dirty="0">
                <a:latin typeface="宋体"/>
                <a:cs typeface="宋体"/>
              </a:rPr>
              <a:t>乘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宋体"/>
                <a:cs typeface="宋体"/>
              </a:rPr>
              <a:t>位乘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 smtClean="0">
                <a:latin typeface="宋体"/>
                <a:cs typeface="宋体"/>
              </a:rPr>
              <a:t>次</a:t>
            </a:r>
            <a:endParaRPr lang="en-US" sz="24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354965" algn="l"/>
                <a:tab pos="355600" algn="l"/>
              </a:tabLst>
            </a:pPr>
            <a:r>
              <a:rPr lang="en-US" sz="2400" b="1" i="1" spc="-5" dirty="0">
                <a:latin typeface="宋体"/>
                <a:cs typeface="Times New Roman"/>
              </a:rPr>
              <a:t> </a:t>
            </a:r>
            <a:r>
              <a:rPr lang="en-US" sz="2400" b="1" i="1" spc="-5" dirty="0" smtClean="0">
                <a:latin typeface="宋体"/>
                <a:cs typeface="Times New Roman"/>
              </a:rPr>
              <a:t>          </a:t>
            </a:r>
            <a:r>
              <a:rPr sz="2400" b="1" i="1" spc="-5" dirty="0" smtClean="0">
                <a:latin typeface="Times New Roman"/>
                <a:cs typeface="Times New Roman"/>
              </a:rPr>
              <a:t>m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位和</a:t>
            </a:r>
            <a:r>
              <a:rPr lang="en-US" sz="2400" b="1" spc="-5" dirty="0" smtClean="0">
                <a:latin typeface="宋体"/>
                <a:cs typeface="宋体"/>
              </a:rPr>
              <a:t> </a:t>
            </a:r>
            <a:r>
              <a:rPr sz="2400" b="1" i="1" spc="-10" dirty="0" smtClean="0">
                <a:latin typeface="Times New Roman"/>
                <a:cs typeface="Times New Roman"/>
              </a:rPr>
              <a:t>n</a:t>
            </a:r>
            <a:r>
              <a:rPr lang="en-US" sz="2400" b="1" i="1" spc="-10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位整</a:t>
            </a:r>
            <a:r>
              <a:rPr sz="2400" b="1" dirty="0" err="1" smtClean="0">
                <a:latin typeface="宋体"/>
                <a:cs typeface="宋体"/>
              </a:rPr>
              <a:t>数相乘</a:t>
            </a:r>
            <a:r>
              <a:rPr sz="2400" b="1" spc="5" dirty="0" err="1" smtClean="0">
                <a:latin typeface="宋体"/>
                <a:cs typeface="宋体"/>
              </a:rPr>
              <a:t>要</a:t>
            </a:r>
            <a:r>
              <a:rPr sz="2400" b="1" spc="-5" dirty="0" err="1" smtClean="0">
                <a:latin typeface="宋体"/>
                <a:cs typeface="宋体"/>
              </a:rPr>
              <a:t>做</a:t>
            </a:r>
            <a:r>
              <a:rPr lang="en-US" sz="2400" b="1" spc="-5" dirty="0" smtClean="0">
                <a:latin typeface="宋体"/>
                <a:cs typeface="宋体"/>
              </a:rPr>
              <a:t> </a:t>
            </a:r>
            <a:r>
              <a:rPr sz="2400" b="1" i="1" spc="-5" dirty="0" err="1" smtClean="0">
                <a:latin typeface="Times New Roman"/>
                <a:cs typeface="Times New Roman"/>
              </a:rPr>
              <a:t>mn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dirty="0" err="1" smtClean="0">
                <a:latin typeface="宋体"/>
                <a:cs typeface="宋体"/>
              </a:rPr>
              <a:t>次</a:t>
            </a:r>
            <a:r>
              <a:rPr sz="2400" b="1" dirty="0" err="1" smtClean="0">
                <a:solidFill>
                  <a:srgbClr val="C00000"/>
                </a:solidFill>
                <a:latin typeface="宋体"/>
                <a:cs typeface="宋体"/>
              </a:rPr>
              <a:t>位乘</a:t>
            </a:r>
            <a:endParaRPr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4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矩阵相乘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宋体"/>
                <a:cs typeface="宋体"/>
              </a:rPr>
              <a:t>每对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元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素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乘</a:t>
            </a:r>
            <a:r>
              <a:rPr sz="2400" b="1" spc="-64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次</a:t>
            </a:r>
            <a:endParaRPr sz="2400" dirty="0">
              <a:latin typeface="宋体"/>
              <a:cs typeface="宋体"/>
            </a:endParaRPr>
          </a:p>
          <a:p>
            <a:pPr marL="422275">
              <a:lnSpc>
                <a:spcPct val="100000"/>
              </a:lnSpc>
              <a:spcBef>
                <a:spcPts val="575"/>
              </a:spcBef>
            </a:pPr>
            <a:r>
              <a:rPr lang="en-US" sz="2400" b="1" i="1" spc="-5" dirty="0" smtClean="0">
                <a:latin typeface="Times New Roman"/>
                <a:cs typeface="Times New Roman"/>
              </a:rPr>
              <a:t>        </a:t>
            </a:r>
            <a:r>
              <a:rPr sz="2400" b="1" i="1" spc="-5" dirty="0" err="1" smtClean="0">
                <a:latin typeface="Times New Roman"/>
                <a:cs typeface="Times New Roman"/>
              </a:rPr>
              <a:t>i</a:t>
            </a:r>
            <a:r>
              <a:rPr sz="2400" b="1" spc="-5" dirty="0" err="1">
                <a:latin typeface="Symbol"/>
                <a:cs typeface="Symbol"/>
              </a:rPr>
              <a:t></a:t>
            </a:r>
            <a:r>
              <a:rPr sz="2400" b="1" i="1" spc="-5" dirty="0" err="1" smtClean="0">
                <a:latin typeface="Times New Roman"/>
                <a:cs typeface="Times New Roman"/>
              </a:rPr>
              <a:t>j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矩阵</a:t>
            </a:r>
            <a:r>
              <a:rPr sz="2400" b="1" spc="-10" dirty="0" err="1" smtClean="0">
                <a:latin typeface="宋体"/>
                <a:cs typeface="宋体"/>
              </a:rPr>
              <a:t>与</a:t>
            </a:r>
            <a:r>
              <a:rPr sz="2400" b="1" spc="-620" dirty="0" smtClean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j</a:t>
            </a:r>
            <a:r>
              <a:rPr sz="2400" b="1" spc="-5" dirty="0">
                <a:latin typeface="Symbol"/>
                <a:cs typeface="Symbol"/>
              </a:rPr>
              <a:t></a:t>
            </a:r>
            <a:r>
              <a:rPr sz="2400" b="1" i="1" spc="-5" dirty="0">
                <a:latin typeface="Times New Roman"/>
                <a:cs typeface="Times New Roman"/>
              </a:rPr>
              <a:t>k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矩阵相乘</a:t>
            </a:r>
            <a:r>
              <a:rPr sz="2400" b="1" dirty="0">
                <a:latin typeface="宋体"/>
                <a:cs typeface="宋体"/>
              </a:rPr>
              <a:t>要</a:t>
            </a:r>
            <a:r>
              <a:rPr sz="2400" b="1" spc="-10" dirty="0">
                <a:latin typeface="宋体"/>
                <a:cs typeface="宋体"/>
              </a:rPr>
              <a:t>做</a:t>
            </a:r>
            <a:r>
              <a:rPr sz="2400" b="1" spc="-59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jk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次乘</a:t>
            </a:r>
            <a:r>
              <a:rPr sz="2400" b="1" spc="-10" dirty="0">
                <a:latin typeface="宋体"/>
                <a:cs typeface="宋体"/>
              </a:rPr>
              <a:t>法</a:t>
            </a:r>
            <a:endParaRPr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4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宋体"/>
                <a:cs typeface="宋体"/>
              </a:rPr>
              <a:t>图的遍历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置指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针</a:t>
            </a:r>
            <a:endParaRPr sz="2400" dirty="0">
              <a:latin typeface="宋体"/>
              <a:cs typeface="宋体"/>
            </a:endParaRPr>
          </a:p>
          <a:p>
            <a:pPr marL="353695">
              <a:lnSpc>
                <a:spcPct val="100000"/>
              </a:lnSpc>
              <a:spcBef>
                <a:spcPts val="530"/>
              </a:spcBef>
            </a:pPr>
            <a:r>
              <a:rPr sz="2400" b="1" spc="-5" dirty="0">
                <a:latin typeface="Calibri"/>
                <a:cs typeface="Calibri"/>
              </a:rPr>
              <a:t>...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8A1E560-1928-4C97-B897-1BB6A475AF9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03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468" y="266973"/>
            <a:ext cx="823633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算法的两种时</a:t>
            </a:r>
            <a:r>
              <a:rPr sz="4000" spc="-5" dirty="0"/>
              <a:t>间复杂</a:t>
            </a:r>
            <a:r>
              <a:rPr sz="4000" spc="-15" dirty="0"/>
              <a:t>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09214"/>
            <a:ext cx="8229600" cy="3343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050">
              <a:lnSpc>
                <a:spcPct val="117300"/>
              </a:lnSpc>
              <a:spcBef>
                <a:spcPts val="95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对于相同输入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规模的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不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同实例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算法的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基本运算次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也不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一样，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可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定义两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种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时间复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度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：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190"/>
              </a:spcBef>
              <a:buFont typeface="Wingdings" panose="05000000000000000000" pitchFamily="2" charset="2"/>
              <a:buChar char="l"/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最坏情况下的</a:t>
            </a:r>
            <a:r>
              <a:rPr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时间复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杂</a:t>
            </a:r>
            <a:r>
              <a:rPr sz="2400" b="1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度</a:t>
            </a:r>
            <a:r>
              <a:rPr sz="2400" b="1" spc="-58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算法求解输入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规模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的实例所需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要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最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长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时间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964"/>
              </a:spcBef>
              <a:buFont typeface="Wingdings" panose="05000000000000000000" pitchFamily="2" charset="2"/>
              <a:buChar char="l"/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平均情况下的</a:t>
            </a:r>
            <a:r>
              <a:rPr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时间复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杂</a:t>
            </a:r>
            <a:r>
              <a:rPr sz="2400" b="1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度</a:t>
            </a:r>
            <a:r>
              <a:rPr sz="2400" b="1" spc="-58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lnSpc>
                <a:spcPct val="117300"/>
              </a:lnSpc>
              <a:spcBef>
                <a:spcPts val="50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在给定同样规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模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的输入实例的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概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率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分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布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下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，算法求解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这些实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例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所需要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的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平均时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间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9675C38-D2BD-4B4D-9BBC-33C6EBBC089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92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17149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sz="4400" dirty="0">
                <a:latin typeface="黑体" pitchFamily="49" charset="-122"/>
                <a:ea typeface="黑体" pitchFamily="49" charset="-122"/>
                <a:cs typeface="Times New Roman"/>
              </a:rPr>
              <a:t>(</a:t>
            </a:r>
            <a:r>
              <a:rPr sz="4400" i="1" dirty="0"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4400" dirty="0">
                <a:latin typeface="黑体" pitchFamily="49" charset="-122"/>
                <a:ea typeface="黑体" pitchFamily="49" charset="-122"/>
                <a:cs typeface="Times New Roman"/>
              </a:rPr>
              <a:t>)</a:t>
            </a:r>
            <a:r>
              <a:rPr sz="4400" spc="-8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4400" spc="-10" dirty="0">
                <a:latin typeface="黑体" pitchFamily="49" charset="-122"/>
                <a:ea typeface="黑体" pitchFamily="49" charset="-122"/>
              </a:rPr>
              <a:t>计算公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457200" y="1200277"/>
                <a:ext cx="8229600" cy="287495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5400" algn="just">
                  <a:lnSpc>
                    <a:spcPct val="100000"/>
                  </a:lnSpc>
                  <a:spcAft>
                    <a:spcPts val="1800"/>
                  </a:spcAft>
                </a:pPr>
                <a:r>
                  <a:rPr sz="2400" b="1" spc="-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平均情况</a:t>
                </a:r>
                <a:r>
                  <a:rPr sz="2400" b="1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下</a:t>
                </a:r>
                <a:r>
                  <a:rPr sz="2400" b="1" spc="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的</a:t>
                </a:r>
                <a:r>
                  <a:rPr sz="2400" b="1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时间复杂</a:t>
                </a:r>
                <a:r>
                  <a:rPr sz="2400" b="1" spc="-10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度</a:t>
                </a:r>
                <a:r>
                  <a:rPr sz="2400" b="1" spc="-580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400" b="1" i="1" spc="-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A</a:t>
                </a:r>
                <a:r>
                  <a:rPr sz="2400" b="1" spc="-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(</a:t>
                </a:r>
                <a:r>
                  <a:rPr sz="2400" b="1" i="1" spc="-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400" b="1" spc="-5" dirty="0" smtClean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)</a:t>
                </a:r>
                <a:r>
                  <a:rPr lang="zh-CN" altLang="en-US" sz="2400" b="1" spc="-5" dirty="0" smtClean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Times New Roman" pitchFamily="18" charset="0"/>
                  </a:rPr>
                  <a:t>：</a:t>
                </a:r>
                <a:endParaRPr lang="en-US" altLang="zh-CN" sz="2400" b="1" spc="-5" dirty="0" smtClean="0">
                  <a:solidFill>
                    <a:srgbClr val="C00000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endParaRPr>
              </a:p>
              <a:p>
                <a:pPr marL="25400" algn="just"/>
                <a:r>
                  <a:rPr lang="zh-CN" altLang="en-US" sz="2400" b="1" spc="-10" dirty="0" smtClean="0">
                    <a:latin typeface="Times New Roman" pitchFamily="18" charset="0"/>
                    <a:cs typeface="Times New Roman" pitchFamily="18" charset="0"/>
                  </a:rPr>
                  <a:t>        设</a:t>
                </a:r>
                <a:r>
                  <a:rPr lang="zh-CN" altLang="en-US" sz="2400" b="1" spc="-625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spc="-5" dirty="0"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altLang="zh-CN" sz="2400" b="1" i="1" spc="-2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spc="-5" dirty="0">
                    <a:latin typeface="Times New Roman" pitchFamily="18" charset="0"/>
                    <a:cs typeface="Times New Roman" pitchFamily="18" charset="0"/>
                  </a:rPr>
                  <a:t>是规模</a:t>
                </a:r>
                <a:r>
                  <a:rPr lang="zh-CN" altLang="en-US" sz="2400" b="1" spc="-10" dirty="0">
                    <a:latin typeface="Times New Roman" pitchFamily="18" charset="0"/>
                    <a:cs typeface="Times New Roman" pitchFamily="18" charset="0"/>
                  </a:rPr>
                  <a:t>为</a:t>
                </a:r>
                <a:r>
                  <a:rPr lang="zh-CN" altLang="en-US" sz="2400" b="1" spc="-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spc="-5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zh-CN" sz="2400" b="1" i="1" spc="-2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spc="-5" dirty="0" err="1">
                    <a:latin typeface="Times New Roman" pitchFamily="18" charset="0"/>
                    <a:cs typeface="Times New Roman" pitchFamily="18" charset="0"/>
                  </a:rPr>
                  <a:t>的实例</a:t>
                </a:r>
                <a:r>
                  <a:rPr lang="zh-CN" altLang="en-US" sz="2400" b="1" spc="-10" dirty="0" err="1">
                    <a:latin typeface="Times New Roman" pitchFamily="18" charset="0"/>
                    <a:cs typeface="Times New Roman" pitchFamily="18" charset="0"/>
                  </a:rPr>
                  <a:t>集</a:t>
                </a:r>
                <a:r>
                  <a:rPr lang="zh-CN" altLang="en-US" sz="2400" b="1" spc="-10" dirty="0"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zh-CN" altLang="en-US" sz="2400" b="1" spc="-5" dirty="0" err="1">
                    <a:latin typeface="Times New Roman" pitchFamily="18" charset="0"/>
                    <a:cs typeface="Times New Roman" pitchFamily="18" charset="0"/>
                  </a:rPr>
                  <a:t>实</a:t>
                </a:r>
                <a:r>
                  <a:rPr lang="zh-CN" altLang="en-US" sz="2400" b="1" spc="-10" dirty="0" err="1">
                    <a:latin typeface="Times New Roman" pitchFamily="18" charset="0"/>
                    <a:cs typeface="Times New Roman" pitchFamily="18" charset="0"/>
                  </a:rPr>
                  <a:t>例</a:t>
                </a:r>
                <a:r>
                  <a:rPr lang="zh-CN" altLang="en-US" sz="2400" b="1" spc="-605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</m:oMath>
                </a14:m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altLang="zh-CN" sz="2400" b="1" i="1" spc="-1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spc="-5" dirty="0" err="1">
                    <a:latin typeface="Times New Roman" pitchFamily="18" charset="0"/>
                    <a:cs typeface="Times New Roman" pitchFamily="18" charset="0"/>
                  </a:rPr>
                  <a:t>的概率</a:t>
                </a:r>
                <a:r>
                  <a:rPr lang="zh-CN" altLang="en-US" sz="2400" b="1" spc="-10" dirty="0" err="1">
                    <a:latin typeface="Times New Roman" pitchFamily="18" charset="0"/>
                    <a:cs typeface="Times New Roman" pitchFamily="18" charset="0"/>
                  </a:rPr>
                  <a:t>是</a:t>
                </a:r>
                <a:r>
                  <a:rPr lang="en-US" altLang="zh-CN" sz="2400" b="1" i="1" spc="-5" dirty="0" err="1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CN" sz="2400" b="1" i="1" spc="-7" baseline="-20833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zh-CN" altLang="en-US" sz="2400" b="1" i="1" spc="-7" dirty="0"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zh-CN" altLang="en-US" sz="2400" b="1" spc="-5" dirty="0" err="1">
                    <a:latin typeface="Times New Roman" pitchFamily="18" charset="0"/>
                    <a:cs typeface="Times New Roman" pitchFamily="18" charset="0"/>
                  </a:rPr>
                  <a:t>算法对实</a:t>
                </a:r>
                <a:r>
                  <a:rPr lang="zh-CN" altLang="en-US" sz="2400" b="1" spc="-10" dirty="0" err="1">
                    <a:latin typeface="Times New Roman" pitchFamily="18" charset="0"/>
                    <a:cs typeface="Times New Roman" pitchFamily="18" charset="0"/>
                  </a:rPr>
                  <a:t>例</a:t>
                </a:r>
                <a:r>
                  <a:rPr lang="zh-CN" altLang="en-US" sz="2400" b="1" spc="-595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spc="-5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sz="2400" b="1" i="1" spc="-1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400" b="1" spc="-5" dirty="0">
                    <a:latin typeface="Times New Roman" pitchFamily="18" charset="0"/>
                    <a:cs typeface="Times New Roman" pitchFamily="18" charset="0"/>
                  </a:rPr>
                  <a:t>执行的基</a:t>
                </a:r>
                <a:r>
                  <a:rPr lang="zh-CN" altLang="en-US" sz="2400" b="1" dirty="0">
                    <a:latin typeface="Times New Roman" pitchFamily="18" charset="0"/>
                    <a:cs typeface="Times New Roman" pitchFamily="18" charset="0"/>
                  </a:rPr>
                  <a:t>本运算次数</a:t>
                </a:r>
                <a:r>
                  <a:rPr lang="zh-CN" altLang="en-US" sz="2400" b="1" spc="-10" dirty="0">
                    <a:latin typeface="Times New Roman" pitchFamily="18" charset="0"/>
                    <a:cs typeface="Times New Roman" pitchFamily="18" charset="0"/>
                  </a:rPr>
                  <a:t>是</a:t>
                </a:r>
                <a:r>
                  <a:rPr lang="zh-CN" altLang="en-US" sz="2400" b="1" spc="-59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spc="-5" dirty="0" err="1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altLang="zh-CN" sz="2400" b="1" i="1" spc="-7" baseline="-20833" dirty="0" err="1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R="1832610" algn="ctr">
                  <a:lnSpc>
                    <a:spcPct val="100000"/>
                  </a:lnSpc>
                </a:pPr>
                <a:r>
                  <a:rPr lang="en-US" sz="2900" b="1" i="1" spc="40" dirty="0" smtClean="0">
                    <a:latin typeface="Times New Roman"/>
                    <a:cs typeface="Times New Roman"/>
                  </a:rPr>
                  <a:t>           </a:t>
                </a:r>
                <a:r>
                  <a:rPr sz="2900" b="1" i="1" spc="40" dirty="0" smtClean="0">
                    <a:latin typeface="Times New Roman"/>
                    <a:cs typeface="Times New Roman"/>
                  </a:rPr>
                  <a:t>A</a:t>
                </a:r>
                <a:r>
                  <a:rPr sz="2900" b="1" spc="40" dirty="0" smtClean="0">
                    <a:latin typeface="Times New Roman"/>
                    <a:cs typeface="Times New Roman"/>
                  </a:rPr>
                  <a:t>(</a:t>
                </a:r>
                <a:r>
                  <a:rPr sz="2900" b="1" i="1" spc="40" dirty="0" smtClean="0">
                    <a:latin typeface="Times New Roman"/>
                    <a:cs typeface="Times New Roman"/>
                  </a:rPr>
                  <a:t>n</a:t>
                </a:r>
                <a:r>
                  <a:rPr sz="2900" b="1" spc="40" dirty="0" smtClean="0">
                    <a:latin typeface="Times New Roman"/>
                    <a:cs typeface="Times New Roman"/>
                  </a:rPr>
                  <a:t>) </a:t>
                </a:r>
                <a:r>
                  <a:rPr sz="2900" b="1" spc="15" dirty="0" smtClean="0">
                    <a:latin typeface="Symbol"/>
                    <a:cs typeface="Symbol"/>
                  </a:rPr>
                  <a:t></a:t>
                </a:r>
                <a:r>
                  <a:rPr sz="2900" b="1" spc="15" dirty="0" smtClean="0">
                    <a:latin typeface="Times New Roman"/>
                    <a:cs typeface="Times New Roman"/>
                  </a:rPr>
                  <a:t> </a:t>
                </a:r>
                <a:r>
                  <a:rPr sz="6600" b="1" spc="-7" baseline="-8207" dirty="0" smtClean="0">
                    <a:latin typeface="Symbol"/>
                    <a:cs typeface="Symbol"/>
                  </a:rPr>
                  <a:t></a:t>
                </a:r>
                <a:r>
                  <a:rPr sz="6600" b="1" spc="-952" baseline="-8207" dirty="0" smtClean="0">
                    <a:latin typeface="Times New Roman"/>
                    <a:cs typeface="Times New Roman"/>
                  </a:rPr>
                  <a:t> </a:t>
                </a:r>
                <a:r>
                  <a:rPr sz="2900" b="1" i="1" spc="-80" dirty="0" smtClean="0">
                    <a:latin typeface="Times New Roman"/>
                    <a:cs typeface="Times New Roman"/>
                  </a:rPr>
                  <a:t>P</a:t>
                </a:r>
                <a:r>
                  <a:rPr sz="2550" b="1" i="1" spc="-120" baseline="-24509" dirty="0" smtClean="0">
                    <a:latin typeface="Times New Roman"/>
                    <a:cs typeface="Times New Roman"/>
                  </a:rPr>
                  <a:t>I </a:t>
                </a:r>
                <a:r>
                  <a:rPr sz="2900" b="1" i="1" spc="120" dirty="0" err="1" smtClean="0">
                    <a:latin typeface="Times New Roman"/>
                    <a:cs typeface="Times New Roman"/>
                  </a:rPr>
                  <a:t>t</a:t>
                </a:r>
                <a:r>
                  <a:rPr sz="2550" b="1" i="1" spc="179" baseline="-24509" dirty="0" err="1" smtClean="0">
                    <a:latin typeface="Times New Roman"/>
                    <a:cs typeface="Times New Roman"/>
                  </a:rPr>
                  <a:t>I</a:t>
                </a:r>
                <a:endParaRPr lang="en-US" sz="2550" baseline="-24509" dirty="0">
                  <a:latin typeface="Times New Roman"/>
                  <a:cs typeface="Times New Roman"/>
                </a:endParaRPr>
              </a:p>
              <a:p>
                <a:pPr marR="486409">
                  <a:lnSpc>
                    <a:spcPts val="2500"/>
                  </a:lnSpc>
                </a:pPr>
                <a:r>
                  <a:rPr lang="en-US" sz="2550" b="1" i="1" spc="45" baseline="-24509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2550" b="1" i="1" spc="45" dirty="0" smtClean="0">
                    <a:latin typeface="Times New Roman"/>
                    <a:cs typeface="Times New Roman"/>
                  </a:rPr>
                  <a:t>                                        </a:t>
                </a:r>
                <a:r>
                  <a:rPr lang="en-US" sz="2550" b="1" i="1" spc="45" dirty="0" smtClean="0">
                    <a:latin typeface="Times New Roman"/>
                    <a:cs typeface="Times New Roman"/>
                  </a:rPr>
                  <a:t>   </a:t>
                </a:r>
                <a:r>
                  <a:rPr sz="1700" b="1" i="1" spc="45" dirty="0" smtClean="0">
                    <a:latin typeface="Times New Roman"/>
                    <a:cs typeface="Times New Roman"/>
                  </a:rPr>
                  <a:t>I</a:t>
                </a:r>
                <a:r>
                  <a:rPr sz="1700" b="1" spc="45" dirty="0">
                    <a:latin typeface="Symbol"/>
                    <a:cs typeface="Symbol"/>
                  </a:rPr>
                  <a:t></a:t>
                </a:r>
                <a:r>
                  <a:rPr sz="1700" b="1" i="1" spc="45" dirty="0">
                    <a:latin typeface="Times New Roman"/>
                    <a:cs typeface="Times New Roman"/>
                  </a:rPr>
                  <a:t>S</a:t>
                </a:r>
                <a:endParaRPr sz="1700" dirty="0">
                  <a:latin typeface="Times New Roman"/>
                  <a:cs typeface="Times New Roman"/>
                </a:endParaRPr>
              </a:p>
              <a:p>
                <a:pPr marL="33020" marR="17780">
                  <a:lnSpc>
                    <a:spcPct val="118100"/>
                  </a:lnSpc>
                  <a:spcBef>
                    <a:spcPts val="675"/>
                  </a:spcBef>
                </a:pPr>
                <a:r>
                  <a:rPr lang="en-US" sz="2400" b="1" spc="-5" dirty="0" smtClean="0">
                    <a:latin typeface="宋体"/>
                    <a:cs typeface="宋体"/>
                  </a:rPr>
                  <a:t>    </a:t>
                </a:r>
                <a:r>
                  <a:rPr sz="2400" b="1" spc="-5" dirty="0" err="1" smtClean="0">
                    <a:latin typeface="宋体"/>
                    <a:cs typeface="宋体"/>
                  </a:rPr>
                  <a:t>在某些情</a:t>
                </a:r>
                <a:r>
                  <a:rPr sz="2400" b="1" dirty="0" err="1" smtClean="0">
                    <a:latin typeface="宋体"/>
                    <a:cs typeface="宋体"/>
                  </a:rPr>
                  <a:t>况</a:t>
                </a:r>
                <a:r>
                  <a:rPr sz="2400" b="1" spc="5" dirty="0" err="1" smtClean="0">
                    <a:latin typeface="宋体"/>
                    <a:cs typeface="宋体"/>
                  </a:rPr>
                  <a:t>下</a:t>
                </a:r>
                <a:r>
                  <a:rPr sz="2400" b="1" dirty="0" err="1" smtClean="0">
                    <a:latin typeface="宋体"/>
                    <a:cs typeface="宋体"/>
                  </a:rPr>
                  <a:t>可以假定每个输入实例概</a:t>
                </a:r>
                <a:r>
                  <a:rPr sz="2400" b="1" spc="-5" dirty="0" err="1" smtClean="0">
                    <a:latin typeface="宋体"/>
                    <a:cs typeface="宋体"/>
                  </a:rPr>
                  <a:t>率相</a:t>
                </a:r>
                <a:r>
                  <a:rPr sz="2400" b="1" spc="-10" dirty="0" err="1" smtClean="0">
                    <a:latin typeface="宋体"/>
                    <a:cs typeface="宋体"/>
                  </a:rPr>
                  <a:t>等</a:t>
                </a:r>
                <a:endParaRPr sz="2400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00277"/>
                <a:ext cx="8229600" cy="2874954"/>
              </a:xfrm>
              <a:prstGeom prst="rect">
                <a:avLst/>
              </a:prstGeom>
              <a:blipFill rotWithShape="1">
                <a:blip r:embed="rId2"/>
                <a:stretch>
                  <a:fillRect l="-1926" t="-2966" r="-2222" b="-3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1E84243-8E58-4066-91FB-577DF1676619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46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205418"/>
            <a:ext cx="82651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例子：检</a:t>
            </a:r>
            <a:r>
              <a:rPr sz="4000" spc="-15" dirty="0"/>
              <a:t>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00150"/>
            <a:ext cx="8188960" cy="3248133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检索问</a:t>
            </a:r>
            <a:r>
              <a:rPr sz="2800" b="1" spc="-10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题</a:t>
            </a:r>
            <a:endParaRPr lang="en-US" sz="2800" b="1" spc="-1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927100" marR="5080" indent="-914400">
              <a:lnSpc>
                <a:spcPct val="117500"/>
              </a:lnSpc>
              <a:spcBef>
                <a:spcPts val="50"/>
              </a:spcBef>
            </a:pPr>
            <a:r>
              <a:rPr sz="2400" b="1" spc="-5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输入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非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降</a:t>
            </a:r>
            <a:r>
              <a:rPr sz="2400" b="1" spc="5" dirty="0" err="1" smtClean="0">
                <a:latin typeface="Times New Roman" pitchFamily="18" charset="0"/>
                <a:cs typeface="Times New Roman" pitchFamily="18" charset="0"/>
              </a:rPr>
              <a:t>顺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序排列的数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组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元素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i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b="1" spc="-5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输出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850900" marR="21590">
              <a:lnSpc>
                <a:spcPts val="3379"/>
              </a:lnSpc>
              <a:spcBef>
                <a:spcPts val="195"/>
              </a:spcBef>
            </a:pP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400" b="1" spc="-6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6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中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首次出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现的下标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； 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0900" marR="21590">
              <a:lnSpc>
                <a:spcPts val="3379"/>
              </a:lnSpc>
              <a:spcBef>
                <a:spcPts val="195"/>
              </a:spcBef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否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则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基本运算：</a:t>
            </a:r>
            <a:r>
              <a:rPr sz="2400" b="1" i="1" spc="-5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中元素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的比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较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A4F4629-C849-4970-9FE7-F70D797C6C9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37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22959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顺序检索算</a:t>
            </a:r>
            <a:r>
              <a:rPr sz="4000" spc="-15" dirty="0"/>
              <a:t>法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89810"/>
              </p:ext>
            </p:extLst>
          </p:nvPr>
        </p:nvGraphicFramePr>
        <p:xfrm>
          <a:off x="1600203" y="3409950"/>
          <a:ext cx="3276598" cy="371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1" y="1200150"/>
            <a:ext cx="8229600" cy="3831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just">
              <a:lnSpc>
                <a:spcPct val="121200"/>
              </a:lnSpc>
              <a:spcBef>
                <a:spcPts val="95"/>
              </a:spcBef>
            </a:pP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=1,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将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sz="2400" b="1" i="1" spc="-5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]比较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sz="2400" b="1" spc="25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spc="25" dirty="0" smtClean="0">
              <a:latin typeface="Times New Roman" pitchFamily="18" charset="0"/>
              <a:cs typeface="Times New Roman" pitchFamily="18" charset="0"/>
            </a:endParaRPr>
          </a:p>
          <a:p>
            <a:pPr marL="79375" marR="5080" algn="just">
              <a:lnSpc>
                <a:spcPct val="121200"/>
              </a:lnSpc>
              <a:spcBef>
                <a:spcPts val="95"/>
              </a:spcBef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则算法停止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输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出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；</a:t>
            </a:r>
            <a:endParaRPr lang="en-US" sz="24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marR="5080" algn="just">
              <a:lnSpc>
                <a:spcPct val="121200"/>
              </a:lnSpc>
              <a:spcBef>
                <a:spcPts val="95"/>
              </a:spcBef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如果不等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则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把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加1，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继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续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比较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R="5080" algn="just">
              <a:lnSpc>
                <a:spcPct val="121200"/>
              </a:lnSpc>
              <a:spcBef>
                <a:spcPts val="95"/>
              </a:spcBef>
            </a:pP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，则停机并输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出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0.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300"/>
              </a:lnSpc>
              <a:spcBef>
                <a:spcPts val="45"/>
              </a:spcBef>
            </a:pPr>
            <a:endParaRPr sz="2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实例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79375">
              <a:lnSpc>
                <a:spcPct val="100000"/>
              </a:lnSpc>
            </a:pP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4，需要比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较</a:t>
            </a:r>
            <a:r>
              <a:rPr sz="2400" b="1" spc="-5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次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79375">
              <a:lnSpc>
                <a:spcPct val="100000"/>
              </a:lnSpc>
              <a:spcBef>
                <a:spcPts val="560"/>
              </a:spcBef>
            </a:pP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2.5，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需要比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较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次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2DB8B1D-4CFC-4422-9A03-E88D248BA2D0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2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最坏情况的时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间估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15783"/>
            <a:ext cx="8455660" cy="265136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不同的输入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400" b="1" spc="-5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个，分别对应：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501650">
              <a:lnSpc>
                <a:spcPct val="100000"/>
              </a:lnSpc>
              <a:spcBef>
                <a:spcPts val="500"/>
              </a:spcBef>
              <a:tabLst>
                <a:tab pos="1647189" algn="l"/>
                <a:tab pos="2792730" algn="l"/>
              </a:tabLst>
            </a:pP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[1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[2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],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81280">
              <a:lnSpc>
                <a:spcPct val="100000"/>
              </a:lnSpc>
              <a:spcBef>
                <a:spcPts val="530"/>
              </a:spcBef>
            </a:pP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[1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],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[1]&lt;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[2],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[2]&lt;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[3],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... ,</a:t>
            </a:r>
            <a:r>
              <a:rPr sz="2400" b="1" spc="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]&lt;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最坏情况下时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间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400" b="1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最坏的输入：</a:t>
            </a:r>
            <a:r>
              <a:rPr sz="2400" b="1" i="1" spc="-5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不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中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或</a:t>
            </a:r>
            <a:r>
              <a:rPr sz="2400" b="1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要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做</a:t>
            </a:r>
            <a:r>
              <a:rPr sz="2400" b="1" spc="-5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次比较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B1A1051-AE9C-4C39-B182-4056110E1A90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8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平均情况的时</a:t>
            </a:r>
            <a:r>
              <a:rPr sz="4400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间估</a:t>
            </a:r>
            <a:r>
              <a:rPr sz="4400" spc="-1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38669"/>
            <a:ext cx="8227060" cy="87588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b="1" spc="-5" dirty="0">
                <a:latin typeface="宋体"/>
                <a:cs typeface="宋体"/>
              </a:rPr>
              <a:t>输入实例的概</a:t>
            </a:r>
            <a:r>
              <a:rPr sz="2400" b="1" dirty="0">
                <a:latin typeface="宋体"/>
                <a:cs typeface="宋体"/>
              </a:rPr>
              <a:t>率分布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</a:t>
            </a:r>
            <a:r>
              <a:rPr sz="2400" b="1" spc="-5" dirty="0" err="1" smtClean="0">
                <a:latin typeface="宋体"/>
                <a:cs typeface="宋体"/>
              </a:rPr>
              <a:t>假设</a:t>
            </a:r>
            <a:r>
              <a:rPr lang="en-US" sz="2400" b="1" spc="-5" dirty="0" smtClean="0">
                <a:latin typeface="宋体"/>
                <a:cs typeface="宋体"/>
              </a:rPr>
              <a:t> </a:t>
            </a:r>
            <a:r>
              <a:rPr sz="2400" b="1" i="1" dirty="0" smtClean="0">
                <a:latin typeface="Times New Roman"/>
                <a:cs typeface="Times New Roman"/>
              </a:rPr>
              <a:t>x</a:t>
            </a:r>
            <a:r>
              <a:rPr lang="en-US" sz="2400" b="1" i="1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宋体"/>
                <a:cs typeface="宋体"/>
              </a:rPr>
              <a:t>在</a:t>
            </a:r>
            <a:r>
              <a:rPr lang="en-US" sz="2400" b="1" spc="-5" dirty="0" smtClean="0">
                <a:latin typeface="宋体"/>
                <a:cs typeface="宋体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L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中概</a:t>
            </a:r>
            <a:r>
              <a:rPr sz="2400" b="1" dirty="0" err="1" smtClean="0">
                <a:latin typeface="宋体"/>
                <a:cs typeface="宋体"/>
              </a:rPr>
              <a:t>率</a:t>
            </a:r>
            <a:r>
              <a:rPr sz="2400" b="1" spc="-10" dirty="0" err="1" smtClean="0">
                <a:latin typeface="宋体"/>
                <a:cs typeface="宋体"/>
              </a:rPr>
              <a:t>是</a:t>
            </a:r>
            <a:r>
              <a:rPr sz="2400" b="1" spc="-565" dirty="0" smtClean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p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且每个位置概率</a:t>
            </a:r>
            <a:r>
              <a:rPr sz="2400" b="1" dirty="0" err="1" smtClean="0">
                <a:latin typeface="宋体"/>
                <a:cs typeface="宋体"/>
              </a:rPr>
              <a:t>相</a:t>
            </a:r>
            <a:r>
              <a:rPr sz="2400" b="1" spc="-10" dirty="0" err="1" smtClean="0">
                <a:latin typeface="宋体"/>
                <a:cs typeface="宋体"/>
              </a:rPr>
              <a:t>等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8878" y="2445761"/>
            <a:ext cx="218440" cy="0"/>
          </a:xfrm>
          <a:custGeom>
            <a:avLst/>
            <a:gdLst/>
            <a:ahLst/>
            <a:cxnLst/>
            <a:rect l="l" t="t" r="r" b="b"/>
            <a:pathLst>
              <a:path w="218439">
                <a:moveTo>
                  <a:pt x="0" y="0"/>
                </a:moveTo>
                <a:lnTo>
                  <a:pt x="217973" y="0"/>
                </a:lnTo>
              </a:path>
            </a:pathLst>
          </a:custGeom>
          <a:ln w="11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93071" y="327272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473" y="0"/>
                </a:lnTo>
              </a:path>
            </a:pathLst>
          </a:custGeom>
          <a:ln w="11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79024" y="1976881"/>
            <a:ext cx="19621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670">
              <a:lnSpc>
                <a:spcPct val="118000"/>
              </a:lnSpc>
              <a:spcBef>
                <a:spcPts val="95"/>
              </a:spcBef>
            </a:pPr>
            <a:r>
              <a:rPr sz="2250" b="1" i="1" dirty="0">
                <a:latin typeface="Times New Roman"/>
                <a:cs typeface="Times New Roman"/>
              </a:rPr>
              <a:t>p  n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7333" y="2222583"/>
            <a:ext cx="10541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i="1" dirty="0">
                <a:latin typeface="Times New Roman"/>
                <a:cs typeface="Times New Roman"/>
              </a:rPr>
              <a:t>i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6218" y="2042709"/>
            <a:ext cx="11874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i="1" spc="5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3928" y="3268980"/>
            <a:ext cx="16891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7595" y="3049548"/>
            <a:ext cx="24784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34645" algn="l"/>
              </a:tabLst>
            </a:pPr>
            <a:r>
              <a:rPr sz="2250" b="1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b="1" i="1" spc="44" baseline="35802" dirty="0">
                <a:latin typeface="Times New Roman"/>
                <a:cs typeface="Times New Roman"/>
              </a:rPr>
              <a:t>p</a:t>
            </a:r>
            <a:r>
              <a:rPr sz="3375" b="1" spc="44" baseline="35802" dirty="0">
                <a:latin typeface="Times New Roman"/>
                <a:cs typeface="Times New Roman"/>
              </a:rPr>
              <a:t>(</a:t>
            </a:r>
            <a:r>
              <a:rPr sz="3375" b="1" i="1" spc="44" baseline="35802" dirty="0">
                <a:latin typeface="Times New Roman"/>
                <a:cs typeface="Times New Roman"/>
              </a:rPr>
              <a:t>n</a:t>
            </a:r>
            <a:r>
              <a:rPr sz="3375" b="1" i="1" spc="-315" baseline="35802" dirty="0">
                <a:latin typeface="Times New Roman"/>
                <a:cs typeface="Times New Roman"/>
              </a:rPr>
              <a:t> </a:t>
            </a:r>
            <a:r>
              <a:rPr sz="3375" b="1" baseline="35802" dirty="0">
                <a:latin typeface="Symbol"/>
                <a:cs typeface="Symbol"/>
              </a:rPr>
              <a:t></a:t>
            </a:r>
            <a:r>
              <a:rPr sz="3375" b="1" spc="-330" baseline="35802" dirty="0">
                <a:latin typeface="Times New Roman"/>
                <a:cs typeface="Times New Roman"/>
              </a:rPr>
              <a:t> </a:t>
            </a:r>
            <a:r>
              <a:rPr sz="3375" b="1" spc="-30" baseline="35802" dirty="0">
                <a:latin typeface="Times New Roman"/>
                <a:cs typeface="Times New Roman"/>
              </a:rPr>
              <a:t>1)</a:t>
            </a:r>
            <a:r>
              <a:rPr sz="3375" b="1" spc="-67" baseline="35802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Symbol"/>
                <a:cs typeface="Symbol"/>
              </a:rPr>
              <a:t></a:t>
            </a:r>
            <a:r>
              <a:rPr sz="2250" b="1" spc="-155" dirty="0">
                <a:latin typeface="Times New Roman"/>
                <a:cs typeface="Times New Roman"/>
              </a:rPr>
              <a:t> </a:t>
            </a:r>
            <a:r>
              <a:rPr sz="2250" b="1" spc="-25" dirty="0">
                <a:latin typeface="Times New Roman"/>
                <a:cs typeface="Times New Roman"/>
              </a:rPr>
              <a:t>(1</a:t>
            </a:r>
            <a:r>
              <a:rPr sz="2250" b="1" spc="-29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Symbol"/>
                <a:cs typeface="Symbol"/>
              </a:rPr>
              <a:t></a:t>
            </a:r>
            <a:r>
              <a:rPr sz="2250" b="1" spc="190" dirty="0">
                <a:latin typeface="Times New Roman"/>
                <a:cs typeface="Times New Roman"/>
              </a:rPr>
              <a:t> </a:t>
            </a:r>
            <a:r>
              <a:rPr sz="2250" b="1" i="1" spc="30" dirty="0">
                <a:latin typeface="Times New Roman"/>
                <a:cs typeface="Times New Roman"/>
              </a:rPr>
              <a:t>p</a:t>
            </a:r>
            <a:r>
              <a:rPr sz="2250" b="1" spc="30" dirty="0">
                <a:latin typeface="Times New Roman"/>
                <a:cs typeface="Times New Roman"/>
              </a:rPr>
              <a:t>)</a:t>
            </a:r>
            <a:r>
              <a:rPr sz="2250" b="1" i="1" spc="30" dirty="0">
                <a:latin typeface="Times New Roman"/>
                <a:cs typeface="Times New Roman"/>
              </a:rPr>
              <a:t>n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1464" y="2222583"/>
            <a:ext cx="7969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i="1" spc="20" dirty="0">
                <a:latin typeface="Times New Roman"/>
                <a:cs typeface="Times New Roman"/>
              </a:rPr>
              <a:t>A</a:t>
            </a:r>
            <a:r>
              <a:rPr sz="2250" b="1" spc="20" dirty="0">
                <a:latin typeface="Times New Roman"/>
                <a:cs typeface="Times New Roman"/>
              </a:rPr>
              <a:t>(</a:t>
            </a:r>
            <a:r>
              <a:rPr sz="2250" b="1" i="1" spc="20" dirty="0">
                <a:latin typeface="Times New Roman"/>
                <a:cs typeface="Times New Roman"/>
              </a:rPr>
              <a:t>n</a:t>
            </a:r>
            <a:r>
              <a:rPr sz="2250" b="1" spc="20" dirty="0">
                <a:latin typeface="Times New Roman"/>
                <a:cs typeface="Times New Roman"/>
              </a:rPr>
              <a:t>)</a:t>
            </a:r>
            <a:r>
              <a:rPr sz="2250" b="1" spc="-15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5746" y="2144211"/>
            <a:ext cx="332105" cy="696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850"/>
              </a:lnSpc>
              <a:spcBef>
                <a:spcPts val="135"/>
              </a:spcBef>
            </a:pPr>
            <a:r>
              <a:rPr sz="3350" b="1" spc="20" dirty="0">
                <a:latin typeface="Symbol"/>
                <a:cs typeface="Symbol"/>
              </a:rPr>
              <a:t></a:t>
            </a:r>
            <a:endParaRPr sz="3350" dirty="0">
              <a:latin typeface="Symbol"/>
              <a:cs typeface="Symbol"/>
            </a:endParaRPr>
          </a:p>
          <a:p>
            <a:pPr marL="18415">
              <a:lnSpc>
                <a:spcPts val="1390"/>
              </a:lnSpc>
            </a:pPr>
            <a:r>
              <a:rPr sz="1300" b="1" i="1" dirty="0">
                <a:latin typeface="Times New Roman"/>
                <a:cs typeface="Times New Roman"/>
              </a:rPr>
              <a:t>i</a:t>
            </a:r>
            <a:r>
              <a:rPr sz="1300" b="1" i="1" spc="-200" dirty="0">
                <a:latin typeface="Times New Roman"/>
                <a:cs typeface="Times New Roman"/>
              </a:rPr>
              <a:t> </a:t>
            </a:r>
            <a:r>
              <a:rPr sz="1300" b="1" spc="25" dirty="0">
                <a:latin typeface="Symbol"/>
                <a:cs typeface="Symbol"/>
              </a:rPr>
              <a:t></a:t>
            </a:r>
            <a:r>
              <a:rPr sz="1300" b="1" spc="25" dirty="0">
                <a:latin typeface="Times New Roman"/>
                <a:cs typeface="Times New Roman"/>
              </a:rPr>
              <a:t>1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22385" y="2222579"/>
            <a:ext cx="11703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spc="-380" dirty="0">
                <a:latin typeface="Symbol"/>
                <a:cs typeface="Symbol"/>
              </a:rPr>
              <a:t></a:t>
            </a:r>
            <a:r>
              <a:rPr sz="2250" b="1" spc="-380" dirty="0">
                <a:latin typeface="宋体"/>
                <a:cs typeface="宋体"/>
              </a:rPr>
              <a:t>（</a:t>
            </a:r>
            <a:r>
              <a:rPr sz="2250" b="1" spc="-380" dirty="0">
                <a:latin typeface="Times New Roman"/>
                <a:cs typeface="Times New Roman"/>
              </a:rPr>
              <a:t>1 </a:t>
            </a:r>
            <a:r>
              <a:rPr sz="2250" b="1" dirty="0">
                <a:latin typeface="Symbol"/>
                <a:cs typeface="Symbol"/>
              </a:rPr>
              <a:t></a:t>
            </a:r>
            <a:r>
              <a:rPr sz="2250" b="1" spc="45" dirty="0">
                <a:latin typeface="Times New Roman"/>
                <a:cs typeface="Times New Roman"/>
              </a:rPr>
              <a:t> </a:t>
            </a:r>
            <a:r>
              <a:rPr sz="2250" b="1" i="1" spc="30" dirty="0">
                <a:latin typeface="Times New Roman"/>
                <a:cs typeface="Times New Roman"/>
              </a:rPr>
              <a:t>p</a:t>
            </a:r>
            <a:r>
              <a:rPr sz="2250" b="1" spc="30" dirty="0">
                <a:latin typeface="Times New Roman"/>
                <a:cs typeface="Times New Roman"/>
              </a:rPr>
              <a:t>)</a:t>
            </a:r>
            <a:r>
              <a:rPr sz="2250" b="1" i="1" spc="30" dirty="0">
                <a:latin typeface="Times New Roman"/>
                <a:cs typeface="Times New Roman"/>
              </a:rPr>
              <a:t>n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0411" y="3589273"/>
            <a:ext cx="15951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宋体"/>
                <a:cs typeface="宋体"/>
              </a:rPr>
              <a:t>当</a:t>
            </a:r>
            <a:r>
              <a:rPr sz="2200" b="1" spc="-610" dirty="0">
                <a:latin typeface="宋体"/>
                <a:cs typeface="宋体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p</a:t>
            </a:r>
            <a:r>
              <a:rPr sz="2200" b="1" spc="-5" dirty="0">
                <a:latin typeface="Times New Roman"/>
                <a:cs typeface="Times New Roman"/>
              </a:rPr>
              <a:t>=1/2</a:t>
            </a:r>
            <a:r>
              <a:rPr sz="2200" b="1" spc="-5" dirty="0">
                <a:latin typeface="宋体"/>
                <a:cs typeface="宋体"/>
              </a:rPr>
              <a:t>时，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20511" y="2632552"/>
            <a:ext cx="1669414" cy="612775"/>
          </a:xfrm>
          <a:custGeom>
            <a:avLst/>
            <a:gdLst/>
            <a:ahLst/>
            <a:cxnLst/>
            <a:rect l="l" t="t" r="r" b="b"/>
            <a:pathLst>
              <a:path w="1669414" h="612775">
                <a:moveTo>
                  <a:pt x="691535" y="0"/>
                </a:moveTo>
                <a:lnTo>
                  <a:pt x="637723" y="743"/>
                </a:lnTo>
                <a:lnTo>
                  <a:pt x="583942" y="3390"/>
                </a:lnTo>
                <a:lnTo>
                  <a:pt x="530441" y="7965"/>
                </a:lnTo>
                <a:lnTo>
                  <a:pt x="477471" y="14489"/>
                </a:lnTo>
                <a:lnTo>
                  <a:pt x="425281" y="22987"/>
                </a:lnTo>
                <a:lnTo>
                  <a:pt x="361771" y="36354"/>
                </a:lnTo>
                <a:lnTo>
                  <a:pt x="302738" y="52207"/>
                </a:lnTo>
                <a:lnTo>
                  <a:pt x="248370" y="70347"/>
                </a:lnTo>
                <a:lnTo>
                  <a:pt x="198856" y="90571"/>
                </a:lnTo>
                <a:lnTo>
                  <a:pt x="154383" y="112680"/>
                </a:lnTo>
                <a:lnTo>
                  <a:pt x="115139" y="136471"/>
                </a:lnTo>
                <a:lnTo>
                  <a:pt x="81311" y="161745"/>
                </a:lnTo>
                <a:lnTo>
                  <a:pt x="53089" y="188300"/>
                </a:lnTo>
                <a:lnTo>
                  <a:pt x="14208" y="244449"/>
                </a:lnTo>
                <a:lnTo>
                  <a:pt x="0" y="303311"/>
                </a:lnTo>
                <a:lnTo>
                  <a:pt x="2617" y="333258"/>
                </a:lnTo>
                <a:lnTo>
                  <a:pt x="28234" y="393175"/>
                </a:lnTo>
                <a:lnTo>
                  <a:pt x="76428" y="446766"/>
                </a:lnTo>
                <a:lnTo>
                  <a:pt x="137792" y="490531"/>
                </a:lnTo>
                <a:lnTo>
                  <a:pt x="173800" y="510174"/>
                </a:lnTo>
                <a:lnTo>
                  <a:pt x="213001" y="528259"/>
                </a:lnTo>
                <a:lnTo>
                  <a:pt x="255125" y="544734"/>
                </a:lnTo>
                <a:lnTo>
                  <a:pt x="299905" y="559549"/>
                </a:lnTo>
                <a:lnTo>
                  <a:pt x="347072" y="572655"/>
                </a:lnTo>
                <a:lnTo>
                  <a:pt x="396357" y="584001"/>
                </a:lnTo>
                <a:lnTo>
                  <a:pt x="447491" y="593538"/>
                </a:lnTo>
                <a:lnTo>
                  <a:pt x="500205" y="601214"/>
                </a:lnTo>
                <a:lnTo>
                  <a:pt x="554232" y="606981"/>
                </a:lnTo>
                <a:lnTo>
                  <a:pt x="609303" y="610788"/>
                </a:lnTo>
                <a:lnTo>
                  <a:pt x="665147" y="612584"/>
                </a:lnTo>
                <a:lnTo>
                  <a:pt x="721499" y="612320"/>
                </a:lnTo>
                <a:lnTo>
                  <a:pt x="778087" y="609946"/>
                </a:lnTo>
                <a:lnTo>
                  <a:pt x="834644" y="605412"/>
                </a:lnTo>
                <a:lnTo>
                  <a:pt x="890902" y="598667"/>
                </a:lnTo>
                <a:lnTo>
                  <a:pt x="946591" y="589661"/>
                </a:lnTo>
                <a:lnTo>
                  <a:pt x="1010104" y="576294"/>
                </a:lnTo>
                <a:lnTo>
                  <a:pt x="1069139" y="560441"/>
                </a:lnTo>
                <a:lnTo>
                  <a:pt x="1123508" y="542301"/>
                </a:lnTo>
                <a:lnTo>
                  <a:pt x="1173023" y="522077"/>
                </a:lnTo>
                <a:lnTo>
                  <a:pt x="1217498" y="499968"/>
                </a:lnTo>
                <a:lnTo>
                  <a:pt x="1256743" y="476177"/>
                </a:lnTo>
                <a:lnTo>
                  <a:pt x="1290571" y="450903"/>
                </a:lnTo>
                <a:lnTo>
                  <a:pt x="1318794" y="424348"/>
                </a:lnTo>
                <a:lnTo>
                  <a:pt x="1357676" y="368199"/>
                </a:lnTo>
                <a:lnTo>
                  <a:pt x="1371885" y="309337"/>
                </a:lnTo>
                <a:lnTo>
                  <a:pt x="1369268" y="279390"/>
                </a:lnTo>
                <a:lnTo>
                  <a:pt x="1359919" y="249369"/>
                </a:lnTo>
                <a:lnTo>
                  <a:pt x="1343651" y="219473"/>
                </a:lnTo>
                <a:lnTo>
                  <a:pt x="1320276" y="189903"/>
                </a:lnTo>
                <a:lnTo>
                  <a:pt x="1517824" y="92240"/>
                </a:lnTo>
                <a:lnTo>
                  <a:pt x="1176448" y="92240"/>
                </a:lnTo>
                <a:lnTo>
                  <a:pt x="1136054" y="75206"/>
                </a:lnTo>
                <a:lnTo>
                  <a:pt x="1093196" y="59846"/>
                </a:lnTo>
                <a:lnTo>
                  <a:pt x="1048121" y="46183"/>
                </a:lnTo>
                <a:lnTo>
                  <a:pt x="1001081" y="34241"/>
                </a:lnTo>
                <a:lnTo>
                  <a:pt x="952325" y="24042"/>
                </a:lnTo>
                <a:lnTo>
                  <a:pt x="902102" y="15609"/>
                </a:lnTo>
                <a:lnTo>
                  <a:pt x="850661" y="8965"/>
                </a:lnTo>
                <a:lnTo>
                  <a:pt x="798254" y="4134"/>
                </a:lnTo>
                <a:lnTo>
                  <a:pt x="745128" y="1137"/>
                </a:lnTo>
                <a:lnTo>
                  <a:pt x="691535" y="0"/>
                </a:lnTo>
                <a:close/>
              </a:path>
              <a:path w="1669414" h="612775">
                <a:moveTo>
                  <a:pt x="1669157" y="17424"/>
                </a:moveTo>
                <a:lnTo>
                  <a:pt x="1176448" y="92240"/>
                </a:lnTo>
                <a:lnTo>
                  <a:pt x="1517824" y="92240"/>
                </a:lnTo>
                <a:lnTo>
                  <a:pt x="1669157" y="17424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20511" y="2632552"/>
            <a:ext cx="1669414" cy="612775"/>
          </a:xfrm>
          <a:custGeom>
            <a:avLst/>
            <a:gdLst/>
            <a:ahLst/>
            <a:cxnLst/>
            <a:rect l="l" t="t" r="r" b="b"/>
            <a:pathLst>
              <a:path w="1669414" h="612775">
                <a:moveTo>
                  <a:pt x="1669157" y="17424"/>
                </a:moveTo>
                <a:lnTo>
                  <a:pt x="1320276" y="189903"/>
                </a:lnTo>
                <a:lnTo>
                  <a:pt x="1343651" y="219473"/>
                </a:lnTo>
                <a:lnTo>
                  <a:pt x="1359919" y="249369"/>
                </a:lnTo>
                <a:lnTo>
                  <a:pt x="1369268" y="279390"/>
                </a:lnTo>
                <a:lnTo>
                  <a:pt x="1371885" y="309337"/>
                </a:lnTo>
                <a:lnTo>
                  <a:pt x="1367959" y="339006"/>
                </a:lnTo>
                <a:lnTo>
                  <a:pt x="1341225" y="396713"/>
                </a:lnTo>
                <a:lnTo>
                  <a:pt x="1290571" y="450903"/>
                </a:lnTo>
                <a:lnTo>
                  <a:pt x="1256743" y="476177"/>
                </a:lnTo>
                <a:lnTo>
                  <a:pt x="1217498" y="499968"/>
                </a:lnTo>
                <a:lnTo>
                  <a:pt x="1173023" y="522077"/>
                </a:lnTo>
                <a:lnTo>
                  <a:pt x="1123508" y="542301"/>
                </a:lnTo>
                <a:lnTo>
                  <a:pt x="1069139" y="560441"/>
                </a:lnTo>
                <a:lnTo>
                  <a:pt x="1010104" y="576294"/>
                </a:lnTo>
                <a:lnTo>
                  <a:pt x="946591" y="589661"/>
                </a:lnTo>
                <a:lnTo>
                  <a:pt x="890902" y="598667"/>
                </a:lnTo>
                <a:lnTo>
                  <a:pt x="834644" y="605412"/>
                </a:lnTo>
                <a:lnTo>
                  <a:pt x="778087" y="609946"/>
                </a:lnTo>
                <a:lnTo>
                  <a:pt x="721499" y="612320"/>
                </a:lnTo>
                <a:lnTo>
                  <a:pt x="665147" y="612584"/>
                </a:lnTo>
                <a:lnTo>
                  <a:pt x="609303" y="610788"/>
                </a:lnTo>
                <a:lnTo>
                  <a:pt x="554232" y="606981"/>
                </a:lnTo>
                <a:lnTo>
                  <a:pt x="500205" y="601214"/>
                </a:lnTo>
                <a:lnTo>
                  <a:pt x="447491" y="593538"/>
                </a:lnTo>
                <a:lnTo>
                  <a:pt x="396357" y="584001"/>
                </a:lnTo>
                <a:lnTo>
                  <a:pt x="347072" y="572655"/>
                </a:lnTo>
                <a:lnTo>
                  <a:pt x="299905" y="559549"/>
                </a:lnTo>
                <a:lnTo>
                  <a:pt x="255125" y="544734"/>
                </a:lnTo>
                <a:lnTo>
                  <a:pt x="213001" y="528259"/>
                </a:lnTo>
                <a:lnTo>
                  <a:pt x="173800" y="510174"/>
                </a:lnTo>
                <a:lnTo>
                  <a:pt x="137792" y="490531"/>
                </a:lnTo>
                <a:lnTo>
                  <a:pt x="105245" y="469378"/>
                </a:lnTo>
                <a:lnTo>
                  <a:pt x="51609" y="422745"/>
                </a:lnTo>
                <a:lnTo>
                  <a:pt x="11966" y="363279"/>
                </a:lnTo>
                <a:lnTo>
                  <a:pt x="0" y="303311"/>
                </a:lnTo>
                <a:lnTo>
                  <a:pt x="3926" y="273641"/>
                </a:lnTo>
                <a:lnTo>
                  <a:pt x="30658" y="215935"/>
                </a:lnTo>
                <a:lnTo>
                  <a:pt x="81311" y="161745"/>
                </a:lnTo>
                <a:lnTo>
                  <a:pt x="115139" y="136471"/>
                </a:lnTo>
                <a:lnTo>
                  <a:pt x="154383" y="112680"/>
                </a:lnTo>
                <a:lnTo>
                  <a:pt x="198856" y="90571"/>
                </a:lnTo>
                <a:lnTo>
                  <a:pt x="248370" y="70347"/>
                </a:lnTo>
                <a:lnTo>
                  <a:pt x="302738" y="52207"/>
                </a:lnTo>
                <a:lnTo>
                  <a:pt x="361771" y="36354"/>
                </a:lnTo>
                <a:lnTo>
                  <a:pt x="425281" y="22987"/>
                </a:lnTo>
                <a:lnTo>
                  <a:pt x="477471" y="14489"/>
                </a:lnTo>
                <a:lnTo>
                  <a:pt x="530441" y="7965"/>
                </a:lnTo>
                <a:lnTo>
                  <a:pt x="583942" y="3390"/>
                </a:lnTo>
                <a:lnTo>
                  <a:pt x="637723" y="743"/>
                </a:lnTo>
                <a:lnTo>
                  <a:pt x="691535" y="0"/>
                </a:lnTo>
                <a:lnTo>
                  <a:pt x="745128" y="1137"/>
                </a:lnTo>
                <a:lnTo>
                  <a:pt x="798254" y="4134"/>
                </a:lnTo>
                <a:lnTo>
                  <a:pt x="850661" y="8965"/>
                </a:lnTo>
                <a:lnTo>
                  <a:pt x="902102" y="15609"/>
                </a:lnTo>
                <a:lnTo>
                  <a:pt x="952325" y="24042"/>
                </a:lnTo>
                <a:lnTo>
                  <a:pt x="1001081" y="34241"/>
                </a:lnTo>
                <a:lnTo>
                  <a:pt x="1048121" y="46183"/>
                </a:lnTo>
                <a:lnTo>
                  <a:pt x="1093196" y="59846"/>
                </a:lnTo>
                <a:lnTo>
                  <a:pt x="1136054" y="75206"/>
                </a:lnTo>
                <a:lnTo>
                  <a:pt x="1176448" y="92240"/>
                </a:lnTo>
                <a:lnTo>
                  <a:pt x="1669157" y="17424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49232" y="2658397"/>
            <a:ext cx="713740" cy="557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275"/>
              </a:spcBef>
            </a:pPr>
            <a:r>
              <a:rPr sz="1800" b="1" spc="-5" dirty="0">
                <a:solidFill>
                  <a:srgbClr val="FFFFFF"/>
                </a:solidFill>
                <a:latin typeface="宋体"/>
                <a:cs typeface="宋体"/>
              </a:rPr>
              <a:t>等差数 列求和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316B36D-F67F-4CE6-A75A-7016061585F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2971800" y="4075493"/>
                <a:ext cx="269753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075493"/>
                <a:ext cx="2697533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67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</a:rPr>
              <a:t>改进顺序检索</a:t>
            </a:r>
            <a:r>
              <a:rPr sz="4000" spc="-5" dirty="0">
                <a:solidFill>
                  <a:srgbClr val="CC3300"/>
                </a:solidFill>
              </a:rPr>
              <a:t>算</a:t>
            </a:r>
            <a:r>
              <a:rPr sz="4000" spc="-15" dirty="0">
                <a:solidFill>
                  <a:srgbClr val="CC3300"/>
                </a:solidFill>
              </a:rPr>
              <a:t>法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532118"/>
              </p:ext>
            </p:extLst>
          </p:nvPr>
        </p:nvGraphicFramePr>
        <p:xfrm>
          <a:off x="1441450" y="3571875"/>
          <a:ext cx="3276598" cy="371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20268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1204595" algn="l"/>
              </a:tabLst>
            </a:pP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=1,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将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比较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tabLst>
                <a:tab pos="1204595" algn="l"/>
              </a:tabLst>
            </a:pPr>
            <a:r>
              <a:rPr lang="en-US" sz="2400" b="1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15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400" b="1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则算法停止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输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出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；</a:t>
            </a:r>
            <a:endParaRPr lang="en-US" sz="24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tabLst>
                <a:tab pos="1204595" algn="l"/>
              </a:tabLst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]，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则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把</a:t>
            </a:r>
            <a:r>
              <a:rPr lang="en-US" sz="2400" b="1" spc="-535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j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加1，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继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续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的比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较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；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tabLst>
                <a:tab pos="1204595" algn="l"/>
              </a:tabLst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]，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则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停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机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并输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出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0.	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1204595" algn="l"/>
              </a:tabLst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如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果</a:t>
            </a:r>
            <a:r>
              <a:rPr sz="2400" b="1" spc="-5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，则停机并输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出</a:t>
            </a:r>
            <a:r>
              <a:rPr sz="2400" b="1" spc="-5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B306889-C8D1-4300-9EB3-B8FF8048B549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56</a:t>
            </a:fld>
            <a:endParaRPr lang="zh-CN" altLang="en-US"/>
          </a:p>
        </p:txBody>
      </p:sp>
      <p:sp>
        <p:nvSpPr>
          <p:cNvPr id="8" name="object 4"/>
          <p:cNvSpPr txBox="1">
            <a:spLocks/>
          </p:cNvSpPr>
          <p:nvPr/>
        </p:nvSpPr>
        <p:spPr>
          <a:xfrm>
            <a:off x="457200" y="3181350"/>
            <a:ext cx="8229600" cy="164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1204595" algn="l"/>
              </a:tabLst>
            </a:pP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实例</a:t>
            </a:r>
          </a:p>
          <a:p>
            <a:pPr>
              <a:spcBef>
                <a:spcPts val="5"/>
              </a:spcBef>
            </a:pPr>
            <a:endParaRPr lang="zh-CN" altLang="en-US" sz="2400" b="1" kern="0" dirty="0" smtClea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"/>
            <a:r>
              <a:rPr lang="en-US" altLang="zh-CN" sz="2400" b="1" i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400" b="1" i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，需要比</a:t>
            </a:r>
            <a:r>
              <a:rPr lang="zh-CN" altLang="en-US" sz="2400" b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较</a:t>
            </a:r>
            <a:r>
              <a:rPr lang="zh-CN" altLang="en-US" sz="2400" b="1" kern="0" spc="-54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次</a:t>
            </a:r>
          </a:p>
          <a:p>
            <a:pPr marL="74295">
              <a:spcBef>
                <a:spcPts val="555"/>
              </a:spcBef>
            </a:pPr>
            <a:r>
              <a:rPr lang="en-US" altLang="zh-CN" sz="2400" b="1" i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400" b="1" i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2.5</a:t>
            </a:r>
            <a:r>
              <a:rPr lang="zh-CN" altLang="en-US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需要比</a:t>
            </a:r>
            <a:r>
              <a:rPr lang="zh-CN" altLang="en-US" sz="2400" b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较</a:t>
            </a:r>
            <a:r>
              <a:rPr lang="zh-CN" altLang="en-US" sz="2400" b="1" kern="0" spc="-55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kern="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b="1" kern="0" spc="-5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kern="0" spc="-10" dirty="0" smtClea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次</a:t>
            </a:r>
            <a:endParaRPr lang="zh-CN" altLang="en-US" sz="2400" b="1" kern="0" spc="-10" dirty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93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</a:rPr>
              <a:t>时间估</a:t>
            </a:r>
            <a:r>
              <a:rPr sz="4000" spc="-15" dirty="0">
                <a:solidFill>
                  <a:srgbClr val="CC3300"/>
                </a:solidFill>
              </a:rPr>
              <a:t>计</a:t>
            </a:r>
          </a:p>
        </p:txBody>
      </p:sp>
      <p:sp>
        <p:nvSpPr>
          <p:cNvPr id="3" name="object 3"/>
          <p:cNvSpPr/>
          <p:nvPr/>
        </p:nvSpPr>
        <p:spPr>
          <a:xfrm>
            <a:off x="397651" y="2571750"/>
            <a:ext cx="495704" cy="686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7200" y="1228219"/>
            <a:ext cx="8229600" cy="3400931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最坏情况下：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400" b="1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平均情况下输入实例的概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率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分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布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假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设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400" b="1" spc="-5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中每个位置与空隙的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概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率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都相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等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sz="2150" b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2250" b="1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 b="1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小结：</a:t>
            </a:r>
            <a:endParaRPr sz="2800" b="1" dirty="0">
              <a:latin typeface="宋体"/>
              <a:cs typeface="宋体"/>
            </a:endParaRPr>
          </a:p>
          <a:p>
            <a:pPr marL="431800" indent="-342900">
              <a:lnSpc>
                <a:spcPct val="100000"/>
              </a:lnSpc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b="1" spc="-5" dirty="0">
                <a:latin typeface="宋体"/>
                <a:cs typeface="宋体"/>
              </a:rPr>
              <a:t>算法最坏和平</a:t>
            </a:r>
            <a:r>
              <a:rPr sz="2400" b="1" dirty="0">
                <a:latin typeface="宋体"/>
                <a:cs typeface="宋体"/>
              </a:rPr>
              <a:t>均情况</a:t>
            </a:r>
            <a:r>
              <a:rPr sz="2400" b="1" spc="-5" dirty="0">
                <a:latin typeface="宋体"/>
                <a:cs typeface="宋体"/>
              </a:rPr>
              <a:t>下</a:t>
            </a:r>
            <a:r>
              <a:rPr sz="2400" b="1" dirty="0">
                <a:latin typeface="宋体"/>
                <a:cs typeface="宋体"/>
              </a:rPr>
              <a:t>的时间</a:t>
            </a:r>
            <a:r>
              <a:rPr sz="2400" b="1" spc="-5" dirty="0">
                <a:latin typeface="宋体"/>
                <a:cs typeface="宋体"/>
              </a:rPr>
              <a:t>复</a:t>
            </a:r>
            <a:r>
              <a:rPr sz="2400" b="1" dirty="0">
                <a:latin typeface="宋体"/>
                <a:cs typeface="宋体"/>
              </a:rPr>
              <a:t>杂度定</a:t>
            </a:r>
            <a:r>
              <a:rPr sz="2400" b="1" spc="-10" dirty="0">
                <a:latin typeface="宋体"/>
                <a:cs typeface="宋体"/>
              </a:rPr>
              <a:t>义</a:t>
            </a:r>
            <a:endParaRPr sz="2400" b="1" dirty="0">
              <a:latin typeface="宋体"/>
              <a:cs typeface="宋体"/>
            </a:endParaRPr>
          </a:p>
          <a:p>
            <a:pPr marL="431800" indent="-342900">
              <a:lnSpc>
                <a:spcPts val="2600"/>
              </a:lnSpc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b="1" spc="-5" dirty="0" err="1" smtClean="0">
                <a:latin typeface="宋体"/>
                <a:cs typeface="宋体"/>
              </a:rPr>
              <a:t>如何计算上述</a:t>
            </a:r>
            <a:r>
              <a:rPr sz="2400" b="1" dirty="0" err="1" smtClean="0">
                <a:latin typeface="宋体"/>
                <a:cs typeface="宋体"/>
              </a:rPr>
              <a:t>时间复</a:t>
            </a:r>
            <a:r>
              <a:rPr sz="2400" b="1" spc="-5" dirty="0" err="1" smtClean="0">
                <a:latin typeface="宋体"/>
                <a:cs typeface="宋体"/>
              </a:rPr>
              <a:t>杂度</a:t>
            </a:r>
            <a:endParaRPr sz="2400" b="1" dirty="0">
              <a:latin typeface="宋体"/>
              <a:cs typeface="宋体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ED220C0-A30E-49E9-99EE-5D0B6950A15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57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4800" y="2724150"/>
            <a:ext cx="579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4515">
              <a:lnSpc>
                <a:spcPct val="100000"/>
              </a:lnSpc>
            </a:pPr>
            <a:r>
              <a:rPr lang="zh-CN" altLang="en-US" sz="2400" b="1" spc="-5" dirty="0">
                <a:solidFill>
                  <a:srgbClr val="0070C0"/>
                </a:solidFill>
                <a:latin typeface="宋体"/>
                <a:cs typeface="宋体"/>
              </a:rPr>
              <a:t>改进检索算法</a:t>
            </a:r>
            <a:r>
              <a:rPr lang="zh-CN" altLang="en-US" sz="2400" b="1" dirty="0">
                <a:solidFill>
                  <a:srgbClr val="0070C0"/>
                </a:solidFill>
                <a:latin typeface="宋体"/>
                <a:cs typeface="宋体"/>
              </a:rPr>
              <a:t>平均时</a:t>
            </a:r>
            <a:r>
              <a:rPr lang="zh-CN" altLang="en-US" sz="2400" b="1" spc="-5" dirty="0">
                <a:solidFill>
                  <a:srgbClr val="0070C0"/>
                </a:solidFill>
                <a:latin typeface="宋体"/>
                <a:cs typeface="宋体"/>
              </a:rPr>
              <a:t>间</a:t>
            </a:r>
            <a:r>
              <a:rPr lang="zh-CN" altLang="en-US" sz="2400" b="1" dirty="0">
                <a:solidFill>
                  <a:srgbClr val="0070C0"/>
                </a:solidFill>
                <a:latin typeface="宋体"/>
                <a:cs typeface="宋体"/>
              </a:rPr>
              <a:t>复杂度</a:t>
            </a:r>
            <a:r>
              <a:rPr lang="zh-CN" altLang="en-US" sz="2400" b="1" spc="-5" dirty="0">
                <a:solidFill>
                  <a:srgbClr val="0070C0"/>
                </a:solidFill>
                <a:latin typeface="宋体"/>
                <a:cs typeface="宋体"/>
              </a:rPr>
              <a:t>是</a:t>
            </a:r>
            <a:r>
              <a:rPr lang="zh-CN" altLang="en-US" sz="2400" b="1" dirty="0">
                <a:solidFill>
                  <a:srgbClr val="0070C0"/>
                </a:solidFill>
                <a:latin typeface="宋体"/>
                <a:cs typeface="宋体"/>
              </a:rPr>
              <a:t>多</a:t>
            </a:r>
            <a:r>
              <a:rPr lang="zh-CN" altLang="en-US" sz="2400" b="1" spc="-10" dirty="0">
                <a:solidFill>
                  <a:srgbClr val="0070C0"/>
                </a:solidFill>
                <a:latin typeface="宋体"/>
                <a:cs typeface="宋体"/>
              </a:rPr>
              <a:t>少</a:t>
            </a:r>
            <a:r>
              <a:rPr lang="en-US" altLang="zh-CN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?</a:t>
            </a:r>
            <a:endParaRPr lang="zh-CN" alt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547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276350"/>
            <a:ext cx="82296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600" spc="-15" dirty="0">
                <a:latin typeface="黑体" pitchFamily="49" charset="-122"/>
                <a:ea typeface="黑体" pitchFamily="49" charset="-122"/>
              </a:rPr>
              <a:t>算法</a:t>
            </a:r>
            <a:r>
              <a:rPr sz="6600" spc="5" dirty="0">
                <a:latin typeface="黑体" pitchFamily="49" charset="-122"/>
                <a:ea typeface="黑体" pitchFamily="49" charset="-122"/>
              </a:rPr>
              <a:t>的</a:t>
            </a:r>
            <a:r>
              <a:rPr sz="6600" spc="-5" dirty="0">
                <a:latin typeface="黑体" pitchFamily="49" charset="-122"/>
                <a:ea typeface="黑体" pitchFamily="49" charset="-122"/>
              </a:rPr>
              <a:t>伪码表示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098022C-1369-48E8-89D5-FA8E358F2FB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18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12086"/>
            <a:ext cx="8229600" cy="3493264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赋值语句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：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-5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分支语句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：if</a:t>
            </a:r>
            <a:r>
              <a:rPr sz="2400" b="1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…then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[else…]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2427605" algn="l"/>
                <a:tab pos="4033520" algn="l"/>
              </a:tabLst>
            </a:pPr>
            <a:r>
              <a:rPr sz="2400" b="1" spc="-5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循环语句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whi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	</a:t>
            </a:r>
            <a:r>
              <a:rPr sz="2400" b="1" spc="-5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3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epe</a:t>
            </a:r>
            <a:r>
              <a:rPr sz="2400" b="1" spc="-2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t	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sz="2400" b="1" spc="-2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til</a:t>
            </a:r>
          </a:p>
          <a:p>
            <a:pPr marL="12700" marR="2275840">
              <a:lnSpc>
                <a:spcPts val="3779"/>
              </a:lnSpc>
              <a:spcBef>
                <a:spcPts val="275"/>
              </a:spcBef>
            </a:pPr>
            <a:r>
              <a:rPr sz="24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转向语句</a:t>
            </a:r>
            <a:r>
              <a:rPr sz="2400" b="1" spc="-15" dirty="0" err="1">
                <a:latin typeface="Times New Roman" pitchFamily="18" charset="0"/>
                <a:cs typeface="Times New Roman" pitchFamily="18" charset="0"/>
              </a:rPr>
              <a:t>：goto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400" b="1" spc="-15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2275840">
              <a:lnSpc>
                <a:spcPts val="3779"/>
              </a:lnSpc>
              <a:spcBef>
                <a:spcPts val="275"/>
              </a:spcBef>
            </a:pPr>
            <a:r>
              <a:rPr sz="24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输出语句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：</a:t>
            </a:r>
            <a:r>
              <a:rPr sz="2400" b="1" spc="-3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b="1" spc="-15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tu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n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  <a:p>
            <a:pPr marL="12700" marR="1219200">
              <a:lnSpc>
                <a:spcPts val="3779"/>
              </a:lnSpc>
            </a:pPr>
            <a:r>
              <a:rPr sz="24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调用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：直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接</a:t>
            </a:r>
            <a:r>
              <a:rPr sz="2400" b="1" spc="5" dirty="0" err="1">
                <a:latin typeface="Times New Roman" pitchFamily="18" charset="0"/>
                <a:cs typeface="Times New Roman" pitchFamily="18" charset="0"/>
              </a:rPr>
              <a:t>写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过程的名字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1219200">
              <a:lnSpc>
                <a:spcPts val="3779"/>
              </a:lnSpc>
            </a:pPr>
            <a:r>
              <a:rPr sz="24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注释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：//…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算法的伪码描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述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1978660" y="1535683"/>
            <a:ext cx="38100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9C9BC78-8B13-4A0C-8B46-9087CD8D6611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例：求最大公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约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198880"/>
            <a:ext cx="8227060" cy="35064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算</a:t>
            </a:r>
            <a:r>
              <a:rPr sz="2400" b="1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法</a:t>
            </a:r>
            <a:r>
              <a:rPr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Euclid</a:t>
            </a:r>
            <a:r>
              <a:rPr sz="2400" b="1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m,</a:t>
            </a:r>
            <a:r>
              <a:rPr sz="2400" b="1" i="1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输入：非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负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整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6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m,</a:t>
            </a:r>
            <a:r>
              <a:rPr sz="2400" b="1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n,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其中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与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不全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输出：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b="1" i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与</a:t>
            </a:r>
            <a:r>
              <a:rPr sz="24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的最大公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约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93700" indent="-381000">
              <a:lnSpc>
                <a:spcPct val="100000"/>
              </a:lnSpc>
              <a:spcBef>
                <a:spcPts val="87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&gt; 0</a:t>
            </a:r>
            <a:r>
              <a:rPr sz="24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do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698500" indent="-685800">
              <a:lnSpc>
                <a:spcPct val="100000"/>
              </a:lnSpc>
              <a:spcBef>
                <a:spcPts val="509"/>
              </a:spcBef>
              <a:buFont typeface="Times New Roman"/>
              <a:buAutoNum type="arabicPeriod"/>
              <a:tabLst>
                <a:tab pos="697865" algn="l"/>
                <a:tab pos="698500" algn="l"/>
              </a:tabLst>
            </a:pP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mod</a:t>
            </a:r>
            <a:r>
              <a:rPr sz="24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698500" indent="-685800">
              <a:lnSpc>
                <a:spcPct val="100000"/>
              </a:lnSpc>
              <a:spcBef>
                <a:spcPts val="495"/>
              </a:spcBef>
              <a:buFont typeface="Times New Roman"/>
              <a:buAutoNum type="arabicPeriod"/>
              <a:tabLst>
                <a:tab pos="697865" algn="l"/>
                <a:tab pos="698500" algn="l"/>
              </a:tabLst>
            </a:pP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400" b="1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698500" indent="-685800">
              <a:lnSpc>
                <a:spcPct val="100000"/>
              </a:lnSpc>
              <a:spcBef>
                <a:spcPts val="500"/>
              </a:spcBef>
              <a:buFont typeface="Times New Roman"/>
              <a:buAutoNum type="arabicPeriod"/>
              <a:tabLst>
                <a:tab pos="697865" algn="l"/>
                <a:tab pos="698500" algn="l"/>
              </a:tabLst>
            </a:pP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r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93700" indent="-38100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371600" y="3257550"/>
            <a:ext cx="38100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1371600" y="3690168"/>
            <a:ext cx="38100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1430593" y="4103124"/>
            <a:ext cx="38100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0D8E8AB-CFA5-4D41-98B5-8434CF4D317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97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运行实例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：</a:t>
            </a:r>
            <a:r>
              <a:rPr sz="4400" i="1" spc="-5" dirty="0"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4400" spc="-5" dirty="0">
                <a:latin typeface="黑体" pitchFamily="49" charset="-122"/>
                <a:ea typeface="黑体" pitchFamily="49" charset="-122"/>
                <a:cs typeface="Times New Roman"/>
              </a:rPr>
              <a:t>=36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，</a:t>
            </a:r>
            <a:r>
              <a:rPr sz="4400" i="1" spc="-5" dirty="0"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4400" spc="-5" dirty="0">
                <a:latin typeface="黑体" pitchFamily="49" charset="-122"/>
                <a:ea typeface="黑体" pitchFamily="49" charset="-122"/>
                <a:cs typeface="Times New Roman"/>
              </a:rPr>
              <a:t>=15</a:t>
            </a:r>
            <a:endParaRPr sz="44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51245" y="1718123"/>
            <a:ext cx="325755" cy="233679"/>
          </a:xfrm>
          <a:custGeom>
            <a:avLst/>
            <a:gdLst/>
            <a:ahLst/>
            <a:cxnLst/>
            <a:rect l="l" t="t" r="r" b="b"/>
            <a:pathLst>
              <a:path w="325754" h="233680">
                <a:moveTo>
                  <a:pt x="208788" y="0"/>
                </a:moveTo>
                <a:lnTo>
                  <a:pt x="208788" y="58292"/>
                </a:lnTo>
                <a:lnTo>
                  <a:pt x="0" y="58292"/>
                </a:lnTo>
                <a:lnTo>
                  <a:pt x="0" y="174878"/>
                </a:lnTo>
                <a:lnTo>
                  <a:pt x="208788" y="174878"/>
                </a:lnTo>
                <a:lnTo>
                  <a:pt x="208788" y="233171"/>
                </a:lnTo>
                <a:lnTo>
                  <a:pt x="325374" y="116585"/>
                </a:lnTo>
                <a:lnTo>
                  <a:pt x="208788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6151245" y="1718123"/>
            <a:ext cx="325755" cy="233679"/>
          </a:xfrm>
          <a:custGeom>
            <a:avLst/>
            <a:gdLst/>
            <a:ahLst/>
            <a:cxnLst/>
            <a:rect l="l" t="t" r="r" b="b"/>
            <a:pathLst>
              <a:path w="325754" h="233680">
                <a:moveTo>
                  <a:pt x="0" y="58292"/>
                </a:moveTo>
                <a:lnTo>
                  <a:pt x="208788" y="58292"/>
                </a:lnTo>
                <a:lnTo>
                  <a:pt x="208788" y="0"/>
                </a:lnTo>
                <a:lnTo>
                  <a:pt x="325374" y="116585"/>
                </a:lnTo>
                <a:lnTo>
                  <a:pt x="208788" y="233171"/>
                </a:lnTo>
                <a:lnTo>
                  <a:pt x="208788" y="174878"/>
                </a:lnTo>
                <a:lnTo>
                  <a:pt x="0" y="174878"/>
                </a:lnTo>
                <a:lnTo>
                  <a:pt x="0" y="58292"/>
                </a:lnTo>
                <a:close/>
              </a:path>
            </a:pathLst>
          </a:custGeom>
          <a:ln w="381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4844796" y="2555180"/>
            <a:ext cx="2013203" cy="1145826"/>
          </a:xfrm>
          <a:prstGeom prst="rect">
            <a:avLst/>
          </a:prstGeom>
          <a:ln w="22098">
            <a:solidFill>
              <a:srgbClr val="948A5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54305" marR="92075">
              <a:lnSpc>
                <a:spcPct val="100000"/>
              </a:lnSpc>
              <a:spcBef>
                <a:spcPts val="29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r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spc="-5" dirty="0">
                <a:latin typeface="Times New Roman"/>
                <a:cs typeface="Times New Roman"/>
              </a:rPr>
              <a:t>mod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m  n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m</a:t>
            </a:r>
            <a:endParaRPr sz="2400" dirty="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</a:pPr>
            <a:r>
              <a:rPr sz="2400" b="1" i="1" spc="-5" dirty="0">
                <a:latin typeface="Times New Roman"/>
                <a:cs typeface="Times New Roman"/>
              </a:rPr>
              <a:t>m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5850" y="1642303"/>
            <a:ext cx="1142620" cy="406522"/>
          </a:xfrm>
          <a:prstGeom prst="rect">
            <a:avLst/>
          </a:prstGeom>
          <a:ln w="22098">
            <a:solidFill>
              <a:srgbClr val="948A5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m </a:t>
            </a:r>
            <a:r>
              <a:rPr sz="2400" b="1" spc="-5" dirty="0">
                <a:latin typeface="Times New Roman"/>
                <a:cs typeface="Times New Roman"/>
              </a:rPr>
              <a:t>&gt; 0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52670" y="2192849"/>
            <a:ext cx="245110" cy="287655"/>
          </a:xfrm>
          <a:custGeom>
            <a:avLst/>
            <a:gdLst/>
            <a:ahLst/>
            <a:cxnLst/>
            <a:rect l="l" t="t" r="r" b="b"/>
            <a:pathLst>
              <a:path w="245110" h="287655">
                <a:moveTo>
                  <a:pt x="244601" y="164973"/>
                </a:moveTo>
                <a:lnTo>
                  <a:pt x="0" y="164973"/>
                </a:lnTo>
                <a:lnTo>
                  <a:pt x="122300" y="287274"/>
                </a:lnTo>
                <a:lnTo>
                  <a:pt x="244601" y="164973"/>
                </a:lnTo>
                <a:close/>
              </a:path>
              <a:path w="245110" h="287655">
                <a:moveTo>
                  <a:pt x="183451" y="0"/>
                </a:moveTo>
                <a:lnTo>
                  <a:pt x="61150" y="0"/>
                </a:lnTo>
                <a:lnTo>
                  <a:pt x="61150" y="164973"/>
                </a:lnTo>
                <a:lnTo>
                  <a:pt x="183451" y="164973"/>
                </a:lnTo>
                <a:lnTo>
                  <a:pt x="183451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352670" y="2192849"/>
            <a:ext cx="245110" cy="287655"/>
          </a:xfrm>
          <a:custGeom>
            <a:avLst/>
            <a:gdLst/>
            <a:ahLst/>
            <a:cxnLst/>
            <a:rect l="l" t="t" r="r" b="b"/>
            <a:pathLst>
              <a:path w="245110" h="287655">
                <a:moveTo>
                  <a:pt x="183451" y="0"/>
                </a:moveTo>
                <a:lnTo>
                  <a:pt x="183451" y="164973"/>
                </a:lnTo>
                <a:lnTo>
                  <a:pt x="244601" y="164973"/>
                </a:lnTo>
                <a:lnTo>
                  <a:pt x="122300" y="287274"/>
                </a:lnTo>
                <a:lnTo>
                  <a:pt x="0" y="164973"/>
                </a:lnTo>
                <a:lnTo>
                  <a:pt x="61150" y="164973"/>
                </a:lnTo>
                <a:lnTo>
                  <a:pt x="61150" y="0"/>
                </a:lnTo>
                <a:lnTo>
                  <a:pt x="183451" y="0"/>
                </a:lnTo>
                <a:close/>
              </a:path>
            </a:pathLst>
          </a:custGeom>
          <a:ln w="381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6572250" y="1642303"/>
            <a:ext cx="1200150" cy="409086"/>
          </a:xfrm>
          <a:prstGeom prst="rect">
            <a:avLst/>
          </a:prstGeom>
          <a:ln w="22098">
            <a:solidFill>
              <a:srgbClr val="948A54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10"/>
              </a:spcBef>
            </a:pPr>
            <a:r>
              <a:rPr sz="2400" b="1" spc="-5" dirty="0">
                <a:latin typeface="宋体"/>
                <a:cs typeface="宋体"/>
              </a:rPr>
              <a:t>输</a:t>
            </a:r>
            <a:r>
              <a:rPr sz="2400" b="1" spc="-10" dirty="0">
                <a:latin typeface="宋体"/>
                <a:cs typeface="宋体"/>
              </a:rPr>
              <a:t>出</a:t>
            </a:r>
            <a:r>
              <a:rPr sz="2400" b="1" spc="-52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38270" y="1794323"/>
            <a:ext cx="330200" cy="1092200"/>
          </a:xfrm>
          <a:custGeom>
            <a:avLst/>
            <a:gdLst/>
            <a:ahLst/>
            <a:cxnLst/>
            <a:rect l="l" t="t" r="r" b="b"/>
            <a:pathLst>
              <a:path w="330200" h="1092200">
                <a:moveTo>
                  <a:pt x="164973" y="0"/>
                </a:moveTo>
                <a:lnTo>
                  <a:pt x="164973" y="28600"/>
                </a:lnTo>
                <a:lnTo>
                  <a:pt x="144348" y="28600"/>
                </a:lnTo>
                <a:lnTo>
                  <a:pt x="98724" y="35958"/>
                </a:lnTo>
                <a:lnTo>
                  <a:pt x="59099" y="56448"/>
                </a:lnTo>
                <a:lnTo>
                  <a:pt x="27851" y="87694"/>
                </a:lnTo>
                <a:lnTo>
                  <a:pt x="7359" y="127319"/>
                </a:lnTo>
                <a:lnTo>
                  <a:pt x="0" y="172948"/>
                </a:lnTo>
                <a:lnTo>
                  <a:pt x="0" y="947597"/>
                </a:lnTo>
                <a:lnTo>
                  <a:pt x="7359" y="993221"/>
                </a:lnTo>
                <a:lnTo>
                  <a:pt x="27851" y="1032846"/>
                </a:lnTo>
                <a:lnTo>
                  <a:pt x="59099" y="1064094"/>
                </a:lnTo>
                <a:lnTo>
                  <a:pt x="98724" y="1084586"/>
                </a:lnTo>
                <a:lnTo>
                  <a:pt x="144348" y="1091945"/>
                </a:lnTo>
                <a:lnTo>
                  <a:pt x="329946" y="1091945"/>
                </a:lnTo>
                <a:lnTo>
                  <a:pt x="329946" y="984161"/>
                </a:lnTo>
                <a:lnTo>
                  <a:pt x="144348" y="984161"/>
                </a:lnTo>
                <a:lnTo>
                  <a:pt x="130116" y="981287"/>
                </a:lnTo>
                <a:lnTo>
                  <a:pt x="118494" y="973451"/>
                </a:lnTo>
                <a:lnTo>
                  <a:pt x="110658" y="961829"/>
                </a:lnTo>
                <a:lnTo>
                  <a:pt x="107784" y="947597"/>
                </a:lnTo>
                <a:lnTo>
                  <a:pt x="107784" y="172948"/>
                </a:lnTo>
                <a:lnTo>
                  <a:pt x="110658" y="158714"/>
                </a:lnTo>
                <a:lnTo>
                  <a:pt x="118494" y="147088"/>
                </a:lnTo>
                <a:lnTo>
                  <a:pt x="130116" y="139247"/>
                </a:lnTo>
                <a:lnTo>
                  <a:pt x="144348" y="136372"/>
                </a:lnTo>
                <a:lnTo>
                  <a:pt x="193573" y="136372"/>
                </a:lnTo>
                <a:lnTo>
                  <a:pt x="247459" y="82486"/>
                </a:lnTo>
                <a:lnTo>
                  <a:pt x="164973" y="0"/>
                </a:lnTo>
                <a:close/>
              </a:path>
              <a:path w="330200" h="1092200">
                <a:moveTo>
                  <a:pt x="193573" y="136372"/>
                </a:moveTo>
                <a:lnTo>
                  <a:pt x="164973" y="136372"/>
                </a:lnTo>
                <a:lnTo>
                  <a:pt x="164973" y="164972"/>
                </a:lnTo>
                <a:lnTo>
                  <a:pt x="193573" y="136372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438270" y="1794323"/>
            <a:ext cx="330200" cy="1092200"/>
          </a:xfrm>
          <a:custGeom>
            <a:avLst/>
            <a:gdLst/>
            <a:ahLst/>
            <a:cxnLst/>
            <a:rect l="l" t="t" r="r" b="b"/>
            <a:pathLst>
              <a:path w="330200" h="1092200">
                <a:moveTo>
                  <a:pt x="329946" y="1091945"/>
                </a:moveTo>
                <a:lnTo>
                  <a:pt x="144348" y="1091945"/>
                </a:lnTo>
                <a:lnTo>
                  <a:pt x="98724" y="1084586"/>
                </a:lnTo>
                <a:lnTo>
                  <a:pt x="59099" y="1064094"/>
                </a:lnTo>
                <a:lnTo>
                  <a:pt x="27851" y="1032846"/>
                </a:lnTo>
                <a:lnTo>
                  <a:pt x="7359" y="993221"/>
                </a:lnTo>
                <a:lnTo>
                  <a:pt x="0" y="947597"/>
                </a:lnTo>
                <a:lnTo>
                  <a:pt x="0" y="172948"/>
                </a:lnTo>
                <a:lnTo>
                  <a:pt x="7359" y="127319"/>
                </a:lnTo>
                <a:lnTo>
                  <a:pt x="27851" y="87694"/>
                </a:lnTo>
                <a:lnTo>
                  <a:pt x="59099" y="56448"/>
                </a:lnTo>
                <a:lnTo>
                  <a:pt x="98724" y="35958"/>
                </a:lnTo>
                <a:lnTo>
                  <a:pt x="144348" y="28600"/>
                </a:lnTo>
                <a:lnTo>
                  <a:pt x="164973" y="28600"/>
                </a:lnTo>
                <a:lnTo>
                  <a:pt x="164973" y="0"/>
                </a:lnTo>
                <a:lnTo>
                  <a:pt x="247459" y="82486"/>
                </a:lnTo>
                <a:lnTo>
                  <a:pt x="164973" y="164972"/>
                </a:lnTo>
                <a:lnTo>
                  <a:pt x="164973" y="136372"/>
                </a:lnTo>
                <a:lnTo>
                  <a:pt x="144348" y="136372"/>
                </a:lnTo>
                <a:lnTo>
                  <a:pt x="130116" y="139247"/>
                </a:lnTo>
                <a:lnTo>
                  <a:pt x="118494" y="147088"/>
                </a:lnTo>
                <a:lnTo>
                  <a:pt x="110658" y="158714"/>
                </a:lnTo>
                <a:lnTo>
                  <a:pt x="107784" y="172948"/>
                </a:lnTo>
                <a:lnTo>
                  <a:pt x="107784" y="947597"/>
                </a:lnTo>
                <a:lnTo>
                  <a:pt x="110658" y="961829"/>
                </a:lnTo>
                <a:lnTo>
                  <a:pt x="118494" y="973451"/>
                </a:lnTo>
                <a:lnTo>
                  <a:pt x="130116" y="981287"/>
                </a:lnTo>
                <a:lnTo>
                  <a:pt x="144348" y="984161"/>
                </a:lnTo>
                <a:lnTo>
                  <a:pt x="329946" y="984161"/>
                </a:lnTo>
                <a:lnTo>
                  <a:pt x="329946" y="1091945"/>
                </a:lnTo>
                <a:close/>
              </a:path>
            </a:pathLst>
          </a:custGeom>
          <a:ln w="381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5675885" y="2138745"/>
            <a:ext cx="7439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sz="2400" spc="-5" dirty="0">
                <a:solidFill>
                  <a:srgbClr val="0070C0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srgbClr val="0070C0"/>
                </a:solidFill>
                <a:latin typeface="Arial"/>
                <a:cs typeface="Arial"/>
              </a:rPr>
              <a:t>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13584" y="1387794"/>
            <a:ext cx="48023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46C0A"/>
                </a:solidFill>
                <a:latin typeface="Arial"/>
                <a:cs typeface="Arial"/>
              </a:rPr>
              <a:t>No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40455"/>
              </p:ext>
            </p:extLst>
          </p:nvPr>
        </p:nvGraphicFramePr>
        <p:xfrm>
          <a:off x="1307720" y="1235523"/>
          <a:ext cx="2818128" cy="515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5937"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hil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227329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2457450" y="394335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228600"/>
                </a:moveTo>
                <a:lnTo>
                  <a:pt x="38100" y="228600"/>
                </a:lnTo>
                <a:lnTo>
                  <a:pt x="38100" y="0"/>
                </a:lnTo>
                <a:lnTo>
                  <a:pt x="114300" y="0"/>
                </a:lnTo>
                <a:lnTo>
                  <a:pt x="114300" y="228600"/>
                </a:lnTo>
                <a:lnTo>
                  <a:pt x="152400" y="228600"/>
                </a:lnTo>
                <a:lnTo>
                  <a:pt x="76200" y="304800"/>
                </a:lnTo>
                <a:lnTo>
                  <a:pt x="0" y="228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2133600" y="4256726"/>
            <a:ext cx="104559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宋体"/>
                <a:cs typeface="宋体"/>
              </a:rPr>
              <a:t>输出</a:t>
            </a:r>
            <a:r>
              <a:rPr sz="2400" b="1" spc="-5" dirty="0">
                <a:latin typeface="Times New Roman"/>
                <a:cs typeface="Times New Roman"/>
              </a:rPr>
              <a:t>3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5455530-CB06-4935-A59C-AF7C0ED7A27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61</a:t>
            </a:fld>
            <a:endParaRPr lang="zh-CN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121497"/>
              </p:ext>
            </p:extLst>
          </p:nvPr>
        </p:nvGraphicFramePr>
        <p:xfrm>
          <a:off x="1302536" y="1755249"/>
          <a:ext cx="2818128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xmlns="" val="2202499980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xmlns="" val="1723710900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10760613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134804531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第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次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36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8920938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73533"/>
              </p:ext>
            </p:extLst>
          </p:nvPr>
        </p:nvGraphicFramePr>
        <p:xfrm>
          <a:off x="3492690" y="1751460"/>
          <a:ext cx="627974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974">
                  <a:extLst>
                    <a:ext uri="{9D8B030D-6E8A-4147-A177-3AD203B41FA5}">
                      <a16:colId xmlns:a16="http://schemas.microsoft.com/office/drawing/2014/main" xmlns="" val="220249998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2000" b="1" spc="5" dirty="0" smtClean="0">
                          <a:latin typeface="宋体"/>
                          <a:cs typeface="宋体"/>
                        </a:rPr>
                        <a:t>6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8920938"/>
                  </a:ext>
                </a:extLst>
              </a:tr>
            </a:tbl>
          </a:graphicData>
        </a:graphic>
      </p:graphicFrame>
      <p:graphicFrame>
        <p:nvGraphicFramePr>
          <p:cNvPr id="23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30795"/>
              </p:ext>
            </p:extLst>
          </p:nvPr>
        </p:nvGraphicFramePr>
        <p:xfrm>
          <a:off x="1302536" y="2300359"/>
          <a:ext cx="2818128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第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次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713696"/>
              </p:ext>
            </p:extLst>
          </p:nvPr>
        </p:nvGraphicFramePr>
        <p:xfrm>
          <a:off x="3496408" y="2297381"/>
          <a:ext cx="627974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974">
                  <a:extLst>
                    <a:ext uri="{9D8B030D-6E8A-4147-A177-3AD203B41FA5}">
                      <a16:colId xmlns:a16="http://schemas.microsoft.com/office/drawing/2014/main" xmlns="" val="220249998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2000" b="1" spc="5" dirty="0" smtClean="0">
                          <a:latin typeface="宋体"/>
                          <a:cs typeface="宋体"/>
                        </a:rPr>
                        <a:t>3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8920938"/>
                  </a:ext>
                </a:extLst>
              </a:tr>
            </a:tbl>
          </a:graphicData>
        </a:graphic>
      </p:graphicFrame>
      <p:graphicFrame>
        <p:nvGraphicFramePr>
          <p:cNvPr id="26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6078"/>
              </p:ext>
            </p:extLst>
          </p:nvPr>
        </p:nvGraphicFramePr>
        <p:xfrm>
          <a:off x="1302536" y="2793715"/>
          <a:ext cx="2818128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第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00" b="1" dirty="0">
                          <a:latin typeface="宋体"/>
                          <a:cs typeface="宋体"/>
                        </a:rPr>
                        <a:t>次</a:t>
                      </a:r>
                      <a:endParaRPr sz="2000" dirty="0">
                        <a:latin typeface="宋体"/>
                        <a:cs typeface="宋体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719904"/>
              </p:ext>
            </p:extLst>
          </p:nvPr>
        </p:nvGraphicFramePr>
        <p:xfrm>
          <a:off x="3498159" y="2790622"/>
          <a:ext cx="627974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974">
                  <a:extLst>
                    <a:ext uri="{9D8B030D-6E8A-4147-A177-3AD203B41FA5}">
                      <a16:colId xmlns:a16="http://schemas.microsoft.com/office/drawing/2014/main" xmlns="" val="220249998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2000" b="1" spc="5" dirty="0" smtClean="0">
                          <a:latin typeface="宋体"/>
                          <a:cs typeface="宋体"/>
                        </a:rPr>
                        <a:t>0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8920938"/>
                  </a:ext>
                </a:extLst>
              </a:tr>
            </a:tbl>
          </a:graphicData>
        </a:graphic>
      </p:graphicFrame>
      <p:graphicFrame>
        <p:nvGraphicFramePr>
          <p:cNvPr id="28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566260"/>
              </p:ext>
            </p:extLst>
          </p:nvPr>
        </p:nvGraphicFramePr>
        <p:xfrm>
          <a:off x="1302536" y="3338513"/>
          <a:ext cx="2818128" cy="5286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382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5" dirty="0">
                          <a:solidFill>
                            <a:schemeClr val="tx1"/>
                          </a:solidFill>
                          <a:latin typeface="宋体"/>
                          <a:ea typeface="+mn-ea"/>
                          <a:cs typeface="宋体"/>
                        </a:rPr>
                        <a:t>0</a:t>
                      </a:r>
                    </a:p>
                  </a:txBody>
                  <a:tcPr marL="0" marR="0" marT="1117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10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例：改进的顺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序检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80514"/>
            <a:ext cx="8229600" cy="344863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853440" algn="l"/>
              </a:tabLst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算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法	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Search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L, x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输入：数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组</a:t>
            </a:r>
            <a:r>
              <a:rPr sz="2400" b="1" spc="-5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[1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..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],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元素从小到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大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排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列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400" b="1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5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x.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850900" marR="130175" indent="-838200">
              <a:lnSpc>
                <a:spcPct val="120000"/>
              </a:lnSpc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输出：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400" b="1" spc="-5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中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，输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出</a:t>
            </a:r>
            <a:r>
              <a:rPr sz="2400" b="1" spc="-5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的位置下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标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；  </a:t>
            </a:r>
            <a:endParaRPr lang="en-US" sz="24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marL="850900" marR="130175" indent="-838200">
              <a:lnSpc>
                <a:spcPct val="120000"/>
              </a:lnSpc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否则输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出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431800" algn="l"/>
              </a:tabLst>
            </a:pPr>
            <a:r>
              <a:rPr sz="2200" b="1" dirty="0">
                <a:latin typeface="Times New Roman"/>
                <a:cs typeface="Times New Roman"/>
              </a:rPr>
              <a:t>1.	</a:t>
            </a:r>
            <a:r>
              <a:rPr sz="2200" b="1" i="1" dirty="0">
                <a:latin typeface="Times New Roman"/>
                <a:cs typeface="Times New Roman"/>
              </a:rPr>
              <a:t>j </a:t>
            </a:r>
            <a:r>
              <a:rPr sz="2200" b="1" dirty="0">
                <a:latin typeface="Symbol"/>
                <a:cs typeface="Symbol"/>
              </a:rPr>
              <a:t>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</a:t>
            </a:r>
            <a:endParaRPr sz="2200" dirty="0">
              <a:latin typeface="Times New Roman"/>
              <a:cs typeface="Times New Roman"/>
            </a:endParaRPr>
          </a:p>
          <a:p>
            <a:pPr marL="431800" indent="-419734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431165" algn="l"/>
                <a:tab pos="432434" algn="l"/>
                <a:tab pos="1207770" algn="l"/>
                <a:tab pos="3339465" algn="l"/>
                <a:tab pos="3775075" algn="l"/>
              </a:tabLst>
            </a:pPr>
            <a:r>
              <a:rPr sz="2200" b="1" dirty="0">
                <a:latin typeface="Times New Roman"/>
                <a:cs typeface="Times New Roman"/>
              </a:rPr>
              <a:t>while	</a:t>
            </a:r>
            <a:r>
              <a:rPr sz="2200" b="1" i="1" dirty="0">
                <a:latin typeface="Times New Roman"/>
                <a:cs typeface="Times New Roman"/>
              </a:rPr>
              <a:t>j </a:t>
            </a:r>
            <a:r>
              <a:rPr sz="2200" b="1" dirty="0">
                <a:latin typeface="Symbol"/>
                <a:cs typeface="Symbol"/>
              </a:rPr>
              <a:t>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n </a:t>
            </a:r>
            <a:r>
              <a:rPr sz="2200" b="1" dirty="0">
                <a:latin typeface="Times New Roman"/>
                <a:cs typeface="Times New Roman"/>
              </a:rPr>
              <a:t>and </a:t>
            </a:r>
            <a:r>
              <a:rPr sz="2200" b="1" i="1" dirty="0">
                <a:latin typeface="Times New Roman"/>
                <a:cs typeface="Times New Roman"/>
              </a:rPr>
              <a:t>x</a:t>
            </a:r>
            <a:r>
              <a:rPr sz="2200" b="1" i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&gt;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L</a:t>
            </a:r>
            <a:r>
              <a:rPr sz="2200" b="1" spc="-5" dirty="0">
                <a:latin typeface="Times New Roman"/>
                <a:cs typeface="Times New Roman"/>
              </a:rPr>
              <a:t>[</a:t>
            </a:r>
            <a:r>
              <a:rPr sz="2200" b="1" i="1" spc="-5" dirty="0">
                <a:latin typeface="Times New Roman"/>
                <a:cs typeface="Times New Roman"/>
              </a:rPr>
              <a:t>j</a:t>
            </a:r>
            <a:r>
              <a:rPr sz="2200" b="1" spc="-5" dirty="0">
                <a:latin typeface="Times New Roman"/>
                <a:cs typeface="Times New Roman"/>
              </a:rPr>
              <a:t>]	do	</a:t>
            </a:r>
            <a:r>
              <a:rPr sz="2200" b="1" i="1" dirty="0">
                <a:latin typeface="Times New Roman"/>
                <a:cs typeface="Times New Roman"/>
              </a:rPr>
              <a:t>j </a:t>
            </a:r>
            <a:r>
              <a:rPr sz="2200" b="1" dirty="0">
                <a:latin typeface="Symbol"/>
                <a:cs typeface="Symbol"/>
              </a:rPr>
              <a:t>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j</a:t>
            </a:r>
            <a:r>
              <a:rPr sz="2200" b="1" spc="-5" dirty="0">
                <a:latin typeface="Times New Roman"/>
                <a:cs typeface="Times New Roman"/>
              </a:rPr>
              <a:t>+1</a:t>
            </a:r>
            <a:endParaRPr sz="2200" dirty="0">
              <a:latin typeface="Times New Roman"/>
              <a:cs typeface="Times New Roman"/>
            </a:endParaRPr>
          </a:p>
          <a:p>
            <a:pPr marL="431800" indent="-419734">
              <a:lnSpc>
                <a:spcPct val="100000"/>
              </a:lnSpc>
              <a:spcBef>
                <a:spcPts val="525"/>
              </a:spcBef>
              <a:buAutoNum type="arabicPeriod" startAt="2"/>
              <a:tabLst>
                <a:tab pos="431165" algn="l"/>
                <a:tab pos="432434" algn="l"/>
                <a:tab pos="742315" algn="l"/>
                <a:tab pos="2686685" algn="l"/>
                <a:tab pos="3355340" algn="l"/>
              </a:tabLst>
            </a:pPr>
            <a:r>
              <a:rPr sz="2200" b="1" dirty="0">
                <a:latin typeface="Times New Roman"/>
                <a:cs typeface="Times New Roman"/>
              </a:rPr>
              <a:t>if	</a:t>
            </a:r>
            <a:r>
              <a:rPr sz="22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x </a:t>
            </a:r>
            <a:r>
              <a:rPr sz="22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&lt; </a:t>
            </a:r>
            <a:r>
              <a:rPr sz="22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2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22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j</a:t>
            </a:r>
            <a:r>
              <a:rPr sz="22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] </a:t>
            </a:r>
            <a:r>
              <a:rPr sz="22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or </a:t>
            </a:r>
            <a:r>
              <a:rPr sz="22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j</a:t>
            </a:r>
            <a:r>
              <a:rPr sz="2200" b="1" i="1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&gt;</a:t>
            </a:r>
            <a:r>
              <a:rPr sz="2200" b="1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200" b="1" i="1" dirty="0">
                <a:latin typeface="Times New Roman"/>
                <a:cs typeface="Times New Roman"/>
              </a:rPr>
              <a:t>	</a:t>
            </a:r>
            <a:r>
              <a:rPr sz="2200" b="1" spc="-5" dirty="0">
                <a:latin typeface="Times New Roman"/>
                <a:cs typeface="Times New Roman"/>
              </a:rPr>
              <a:t>then	</a:t>
            </a:r>
            <a:r>
              <a:rPr sz="2200" b="1" i="1" dirty="0">
                <a:latin typeface="Times New Roman"/>
                <a:cs typeface="Times New Roman"/>
              </a:rPr>
              <a:t>j </a:t>
            </a:r>
            <a:r>
              <a:rPr sz="2200" b="1" dirty="0">
                <a:latin typeface="Symbol"/>
                <a:cs typeface="Symbol"/>
              </a:rPr>
              <a:t>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</a:t>
            </a:r>
            <a:endParaRPr sz="2200" dirty="0">
              <a:latin typeface="Times New Roman"/>
              <a:cs typeface="Times New Roman"/>
            </a:endParaRPr>
          </a:p>
          <a:p>
            <a:pPr marL="431800" indent="-419734">
              <a:lnSpc>
                <a:spcPct val="100000"/>
              </a:lnSpc>
              <a:spcBef>
                <a:spcPts val="525"/>
              </a:spcBef>
              <a:buAutoNum type="arabicPeriod" startAt="2"/>
              <a:tabLst>
                <a:tab pos="431165" algn="l"/>
                <a:tab pos="432434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return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j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3E62BAF-1321-455C-B6B9-CE6466025CC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6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例：插入排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181641"/>
            <a:ext cx="8227060" cy="375230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853440" algn="l"/>
              </a:tabLst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算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法	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Insert Sort 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A,</a:t>
            </a:r>
            <a:r>
              <a:rPr sz="28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 err="1">
                <a:latin typeface="宋体"/>
                <a:cs typeface="宋体"/>
              </a:rPr>
              <a:t>输入</a:t>
            </a:r>
            <a:r>
              <a:rPr sz="2400" b="1" spc="-10" dirty="0" err="1">
                <a:latin typeface="宋体"/>
                <a:cs typeface="宋体"/>
              </a:rPr>
              <a:t>：</a:t>
            </a:r>
            <a:r>
              <a:rPr sz="2400" b="1" i="1" spc="-10" dirty="0" err="1" smtClean="0">
                <a:latin typeface="Times New Roman"/>
                <a:cs typeface="Times New Roman"/>
              </a:rPr>
              <a:t>n</a:t>
            </a:r>
            <a:r>
              <a:rPr lang="en-US" sz="2400" b="1" i="1" spc="-10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个数的</a:t>
            </a:r>
            <a:r>
              <a:rPr sz="2400" b="1" dirty="0" err="1" smtClean="0">
                <a:latin typeface="宋体"/>
                <a:cs typeface="宋体"/>
              </a:rPr>
              <a:t>数</a:t>
            </a:r>
            <a:r>
              <a:rPr sz="2400" b="1" spc="-10" dirty="0" err="1" smtClean="0">
                <a:latin typeface="宋体"/>
                <a:cs typeface="宋体"/>
              </a:rPr>
              <a:t>组</a:t>
            </a:r>
            <a:r>
              <a:rPr sz="2400" b="1" spc="-530" dirty="0" smtClean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630"/>
              </a:lnSpc>
            </a:pPr>
            <a:r>
              <a:rPr sz="2400" b="1" spc="-5" dirty="0">
                <a:latin typeface="宋体"/>
                <a:cs typeface="宋体"/>
              </a:rPr>
              <a:t>输出：按照递</a:t>
            </a:r>
            <a:r>
              <a:rPr sz="2400" b="1" dirty="0">
                <a:latin typeface="宋体"/>
                <a:cs typeface="宋体"/>
              </a:rPr>
              <a:t>增顺序</a:t>
            </a:r>
            <a:r>
              <a:rPr sz="2400" b="1" spc="-5" dirty="0">
                <a:latin typeface="宋体"/>
                <a:cs typeface="宋体"/>
              </a:rPr>
              <a:t>排</a:t>
            </a:r>
            <a:r>
              <a:rPr sz="2400" b="1" dirty="0">
                <a:latin typeface="宋体"/>
                <a:cs typeface="宋体"/>
              </a:rPr>
              <a:t>好序的</a:t>
            </a:r>
            <a:r>
              <a:rPr sz="2400" b="1" spc="-5" dirty="0">
                <a:latin typeface="宋体"/>
                <a:cs typeface="宋体"/>
              </a:rPr>
              <a:t>数</a:t>
            </a:r>
            <a:r>
              <a:rPr sz="2400" b="1" spc="-10" dirty="0">
                <a:latin typeface="宋体"/>
                <a:cs typeface="宋体"/>
              </a:rPr>
              <a:t>组</a:t>
            </a:r>
            <a:r>
              <a:rPr sz="2400" b="1" spc="-54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361950" indent="-349885">
              <a:lnSpc>
                <a:spcPts val="2630"/>
              </a:lnSpc>
              <a:buAutoNum type="arabicPeriod"/>
              <a:tabLst>
                <a:tab pos="361950" algn="l"/>
                <a:tab pos="362585" algn="l"/>
                <a:tab pos="853440" algn="l"/>
                <a:tab pos="1486535" algn="l"/>
                <a:tab pos="1859914" algn="l"/>
                <a:tab pos="215519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for	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dirty="0">
                <a:latin typeface="Symbol"/>
                <a:cs typeface="Symbol"/>
              </a:rPr>
              <a:t></a:t>
            </a:r>
            <a:r>
              <a:rPr sz="2400" b="1" dirty="0">
                <a:latin typeface="Times New Roman"/>
                <a:cs typeface="Times New Roman"/>
              </a:rPr>
              <a:t>2	</a:t>
            </a:r>
            <a:r>
              <a:rPr sz="2400" b="1" spc="-5" dirty="0">
                <a:latin typeface="Times New Roman"/>
                <a:cs typeface="Times New Roman"/>
              </a:rPr>
              <a:t>to	</a:t>
            </a:r>
            <a:r>
              <a:rPr sz="2400" b="1" i="1" dirty="0">
                <a:latin typeface="Times New Roman"/>
                <a:cs typeface="Times New Roman"/>
              </a:rPr>
              <a:t>n	</a:t>
            </a:r>
            <a:r>
              <a:rPr sz="2400" b="1" dirty="0">
                <a:latin typeface="Times New Roman"/>
                <a:cs typeface="Times New Roman"/>
              </a:rPr>
              <a:t>do</a:t>
            </a:r>
            <a:endParaRPr sz="2400" dirty="0">
              <a:latin typeface="Times New Roman"/>
              <a:cs typeface="Times New Roman"/>
            </a:endParaRPr>
          </a:p>
          <a:p>
            <a:pPr marL="570865" indent="-558800">
              <a:lnSpc>
                <a:spcPct val="100000"/>
              </a:lnSpc>
              <a:buFont typeface="Times New Roman"/>
              <a:buAutoNum type="arabicPeriod"/>
              <a:tabLst>
                <a:tab pos="570865" algn="l"/>
                <a:tab pos="57150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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[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dirty="0">
                <a:latin typeface="Times New Roman"/>
                <a:cs typeface="Times New Roman"/>
              </a:rPr>
              <a:t>]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625"/>
              </a:lnSpc>
              <a:spcBef>
                <a:spcPts val="25"/>
              </a:spcBef>
              <a:tabLst>
                <a:tab pos="570865" algn="l"/>
                <a:tab pos="1505585" algn="l"/>
              </a:tabLst>
            </a:pPr>
            <a:r>
              <a:rPr sz="2400" b="1" dirty="0">
                <a:latin typeface="Times New Roman"/>
                <a:cs typeface="Times New Roman"/>
              </a:rPr>
              <a:t>3.	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Symbol"/>
                <a:cs typeface="Symbol"/>
              </a:rPr>
              <a:t>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	</a:t>
            </a:r>
            <a:r>
              <a:rPr sz="2400" b="1" spc="-5" dirty="0">
                <a:latin typeface="Times New Roman"/>
                <a:cs typeface="Times New Roman"/>
              </a:rPr>
              <a:t>//3-7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行</a:t>
            </a:r>
            <a:r>
              <a:rPr sz="2400" b="1" spc="-10" dirty="0">
                <a:latin typeface="宋体"/>
                <a:cs typeface="宋体"/>
              </a:rPr>
              <a:t>把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j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插入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[1..</a:t>
            </a:r>
            <a:r>
              <a:rPr sz="2400" b="1" i="1" spc="-5" dirty="0">
                <a:latin typeface="Times New Roman"/>
                <a:cs typeface="Times New Roman"/>
              </a:rPr>
              <a:t>j</a:t>
            </a:r>
            <a:r>
              <a:rPr sz="2400" b="1" spc="-5" dirty="0">
                <a:latin typeface="Symbol"/>
                <a:cs typeface="Symbol"/>
              </a:rPr>
              <a:t></a:t>
            </a:r>
            <a:r>
              <a:rPr sz="2400" b="1" spc="-5" dirty="0">
                <a:latin typeface="Times New Roman"/>
                <a:cs typeface="Times New Roman"/>
              </a:rPr>
              <a:t>1]</a:t>
            </a:r>
            <a:endParaRPr sz="2400" dirty="0">
              <a:latin typeface="Times New Roman"/>
              <a:cs typeface="Times New Roman"/>
            </a:endParaRPr>
          </a:p>
          <a:p>
            <a:pPr marL="12700" marR="1278890">
              <a:lnSpc>
                <a:spcPts val="2650"/>
              </a:lnSpc>
              <a:spcBef>
                <a:spcPts val="65"/>
              </a:spcBef>
              <a:tabLst>
                <a:tab pos="570865" algn="l"/>
                <a:tab pos="850265" algn="l"/>
                <a:tab pos="1864360" algn="l"/>
                <a:tab pos="3273425" algn="l"/>
              </a:tabLst>
            </a:pPr>
            <a:r>
              <a:rPr sz="2400" b="1" dirty="0">
                <a:latin typeface="Times New Roman"/>
                <a:cs typeface="Times New Roman"/>
              </a:rPr>
              <a:t>4.	while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Times New Roman"/>
                <a:cs typeface="Times New Roman"/>
              </a:rPr>
              <a:t>&gt;</a:t>
            </a:r>
            <a:r>
              <a:rPr sz="2400" b="1" dirty="0">
                <a:latin typeface="Times New Roman"/>
                <a:cs typeface="Times New Roman"/>
              </a:rPr>
              <a:t>0	and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spc="-5" dirty="0">
                <a:latin typeface="Times New Roman"/>
                <a:cs typeface="Times New Roman"/>
              </a:rPr>
              <a:t>&lt;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]	</a:t>
            </a:r>
            <a:r>
              <a:rPr sz="2400" b="1" spc="-5" dirty="0">
                <a:latin typeface="Times New Roman"/>
                <a:cs typeface="Times New Roman"/>
              </a:rPr>
              <a:t>d</a:t>
            </a:r>
            <a:r>
              <a:rPr sz="2400" b="1" dirty="0">
                <a:latin typeface="Times New Roman"/>
                <a:cs typeface="Times New Roman"/>
              </a:rPr>
              <a:t>o </a:t>
            </a:r>
            <a:endParaRPr lang="en-US" sz="2400" b="1" dirty="0" smtClean="0">
              <a:latin typeface="Times New Roman"/>
              <a:cs typeface="Times New Roman"/>
            </a:endParaRPr>
          </a:p>
          <a:p>
            <a:pPr marL="12700" marR="1278890">
              <a:lnSpc>
                <a:spcPts val="2650"/>
              </a:lnSpc>
              <a:spcBef>
                <a:spcPts val="65"/>
              </a:spcBef>
              <a:tabLst>
                <a:tab pos="570865" algn="l"/>
                <a:tab pos="850265" algn="l"/>
                <a:tab pos="1864360" algn="l"/>
                <a:tab pos="3273425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5.	</a:t>
            </a:r>
            <a:r>
              <a:rPr lang="en-US" sz="2400" b="1" dirty="0" smtClean="0">
                <a:latin typeface="Times New Roman"/>
                <a:cs typeface="Times New Roman"/>
              </a:rPr>
              <a:t>    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dirty="0" smtClean="0">
                <a:latin typeface="Times New Roman"/>
                <a:cs typeface="Times New Roman"/>
              </a:rPr>
              <a:t>  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A</a:t>
            </a:r>
            <a:r>
              <a:rPr sz="2400" b="1" spc="-5" dirty="0" smtClean="0">
                <a:latin typeface="Times New Roman"/>
                <a:cs typeface="Times New Roman"/>
              </a:rPr>
              <a:t>[</a:t>
            </a:r>
            <a:r>
              <a:rPr sz="2400" b="1" i="1" spc="-5" dirty="0" smtClean="0">
                <a:latin typeface="Times New Roman"/>
                <a:cs typeface="Times New Roman"/>
              </a:rPr>
              <a:t>i+</a:t>
            </a:r>
            <a:r>
              <a:rPr sz="2400" b="1" spc="-5" dirty="0" smtClean="0">
                <a:latin typeface="Times New Roman"/>
                <a:cs typeface="Times New Roman"/>
              </a:rPr>
              <a:t>1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545"/>
              </a:lnSpc>
              <a:tabLst>
                <a:tab pos="920750" algn="l"/>
              </a:tabLst>
            </a:pPr>
            <a:r>
              <a:rPr sz="2400" b="1" dirty="0">
                <a:latin typeface="Times New Roman"/>
                <a:cs typeface="Times New Roman"/>
              </a:rPr>
              <a:t>6.	</a:t>
            </a:r>
            <a:r>
              <a:rPr lang="en-US" sz="2400" b="1" dirty="0" smtClean="0">
                <a:latin typeface="Times New Roman"/>
                <a:cs typeface="Times New Roman"/>
              </a:rPr>
              <a:t>    </a:t>
            </a:r>
            <a:r>
              <a:rPr sz="2400" b="1" i="1" dirty="0" err="1" smtClean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70865" algn="l"/>
              </a:tabLst>
            </a:pPr>
            <a:r>
              <a:rPr sz="2400" b="1" dirty="0">
                <a:latin typeface="Times New Roman"/>
                <a:cs typeface="Times New Roman"/>
              </a:rPr>
              <a:t>7</a:t>
            </a:r>
            <a:r>
              <a:rPr sz="2400" b="1" dirty="0" smtClean="0">
                <a:latin typeface="Times New Roman"/>
                <a:cs typeface="Times New Roman"/>
              </a:rPr>
              <a:t>.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dirty="0" smtClean="0">
                <a:latin typeface="Times New Roman"/>
                <a:cs typeface="Times New Roman"/>
              </a:rPr>
              <a:t>   </a:t>
            </a:r>
            <a:r>
              <a:rPr sz="2400" b="1" i="1" spc="-5" dirty="0" smtClean="0">
                <a:latin typeface="Times New Roman"/>
                <a:cs typeface="Times New Roman"/>
              </a:rPr>
              <a:t>A</a:t>
            </a:r>
            <a:r>
              <a:rPr sz="2400" b="1" spc="-5" dirty="0" smtClean="0">
                <a:latin typeface="Times New Roman"/>
                <a:cs typeface="Times New Roman"/>
              </a:rPr>
              <a:t>[</a:t>
            </a:r>
            <a:r>
              <a:rPr sz="2400" b="1" i="1" spc="-5" dirty="0" smtClean="0">
                <a:latin typeface="Times New Roman"/>
                <a:cs typeface="Times New Roman"/>
              </a:rPr>
              <a:t>i</a:t>
            </a:r>
            <a:r>
              <a:rPr sz="2400" b="1" spc="-5" dirty="0" smtClean="0">
                <a:latin typeface="Times New Roman"/>
                <a:cs typeface="Times New Roman"/>
              </a:rPr>
              <a:t>+1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3409950"/>
            <a:ext cx="3429000" cy="1408588"/>
          </a:xfrm>
          <a:custGeom>
            <a:avLst/>
            <a:gdLst/>
            <a:ahLst/>
            <a:cxnLst/>
            <a:rect l="l" t="t" r="r" b="b"/>
            <a:pathLst>
              <a:path w="3429000" h="1295400">
                <a:moveTo>
                  <a:pt x="0" y="215899"/>
                </a:moveTo>
                <a:lnTo>
                  <a:pt x="5701" y="166395"/>
                </a:lnTo>
                <a:lnTo>
                  <a:pt x="21943" y="120951"/>
                </a:lnTo>
                <a:lnTo>
                  <a:pt x="47430" y="80864"/>
                </a:lnTo>
                <a:lnTo>
                  <a:pt x="80864" y="47430"/>
                </a:lnTo>
                <a:lnTo>
                  <a:pt x="120951" y="21943"/>
                </a:lnTo>
                <a:lnTo>
                  <a:pt x="166395" y="5701"/>
                </a:lnTo>
                <a:lnTo>
                  <a:pt x="215900" y="0"/>
                </a:lnTo>
                <a:lnTo>
                  <a:pt x="3213100" y="0"/>
                </a:lnTo>
                <a:lnTo>
                  <a:pt x="3262604" y="5701"/>
                </a:lnTo>
                <a:lnTo>
                  <a:pt x="3308048" y="21943"/>
                </a:lnTo>
                <a:lnTo>
                  <a:pt x="3348135" y="47430"/>
                </a:lnTo>
                <a:lnTo>
                  <a:pt x="3381569" y="80864"/>
                </a:lnTo>
                <a:lnTo>
                  <a:pt x="3407056" y="120951"/>
                </a:lnTo>
                <a:lnTo>
                  <a:pt x="3423298" y="166395"/>
                </a:lnTo>
                <a:lnTo>
                  <a:pt x="3429000" y="215899"/>
                </a:lnTo>
                <a:lnTo>
                  <a:pt x="3429000" y="1079499"/>
                </a:lnTo>
                <a:lnTo>
                  <a:pt x="3423298" y="1129004"/>
                </a:lnTo>
                <a:lnTo>
                  <a:pt x="3407056" y="1174448"/>
                </a:lnTo>
                <a:lnTo>
                  <a:pt x="3381569" y="1214535"/>
                </a:lnTo>
                <a:lnTo>
                  <a:pt x="3348135" y="1247969"/>
                </a:lnTo>
                <a:lnTo>
                  <a:pt x="3308048" y="1273456"/>
                </a:lnTo>
                <a:lnTo>
                  <a:pt x="3262604" y="1289698"/>
                </a:lnTo>
                <a:lnTo>
                  <a:pt x="3213100" y="1295399"/>
                </a:lnTo>
                <a:lnTo>
                  <a:pt x="215900" y="1295399"/>
                </a:lnTo>
                <a:lnTo>
                  <a:pt x="166395" y="1289698"/>
                </a:lnTo>
                <a:lnTo>
                  <a:pt x="120951" y="1273456"/>
                </a:lnTo>
                <a:lnTo>
                  <a:pt x="80864" y="1247969"/>
                </a:lnTo>
                <a:lnTo>
                  <a:pt x="47430" y="1214535"/>
                </a:lnTo>
                <a:lnTo>
                  <a:pt x="21943" y="1174448"/>
                </a:lnTo>
                <a:lnTo>
                  <a:pt x="5701" y="1129004"/>
                </a:lnTo>
                <a:lnTo>
                  <a:pt x="0" y="1079499"/>
                </a:lnTo>
                <a:lnTo>
                  <a:pt x="0" y="215899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C163AB1-1209-47CA-89B0-310B2E498F0B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0977" y="1220470"/>
            <a:ext cx="483234" cy="360680"/>
          </a:xfrm>
          <a:custGeom>
            <a:avLst/>
            <a:gdLst/>
            <a:ahLst/>
            <a:cxnLst/>
            <a:rect l="l" t="t" r="r" b="b"/>
            <a:pathLst>
              <a:path w="483235" h="360680">
                <a:moveTo>
                  <a:pt x="0" y="0"/>
                </a:moveTo>
                <a:lnTo>
                  <a:pt x="483108" y="0"/>
                </a:lnTo>
                <a:lnTo>
                  <a:pt x="483108" y="360425"/>
                </a:lnTo>
                <a:lnTo>
                  <a:pt x="0" y="360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4085" y="1220470"/>
            <a:ext cx="482600" cy="360680"/>
          </a:xfrm>
          <a:custGeom>
            <a:avLst/>
            <a:gdLst/>
            <a:ahLst/>
            <a:cxnLst/>
            <a:rect l="l" t="t" r="r" b="b"/>
            <a:pathLst>
              <a:path w="482600" h="360680">
                <a:moveTo>
                  <a:pt x="0" y="0"/>
                </a:moveTo>
                <a:lnTo>
                  <a:pt x="482345" y="0"/>
                </a:lnTo>
                <a:lnTo>
                  <a:pt x="482345" y="360425"/>
                </a:lnTo>
                <a:lnTo>
                  <a:pt x="0" y="360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6430" y="1220470"/>
            <a:ext cx="482600" cy="360680"/>
          </a:xfrm>
          <a:custGeom>
            <a:avLst/>
            <a:gdLst/>
            <a:ahLst/>
            <a:cxnLst/>
            <a:rect l="l" t="t" r="r" b="b"/>
            <a:pathLst>
              <a:path w="482600" h="360680">
                <a:moveTo>
                  <a:pt x="0" y="0"/>
                </a:moveTo>
                <a:lnTo>
                  <a:pt x="482345" y="0"/>
                </a:lnTo>
                <a:lnTo>
                  <a:pt x="482345" y="360425"/>
                </a:lnTo>
                <a:lnTo>
                  <a:pt x="0" y="360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621423"/>
              </p:ext>
            </p:extLst>
          </p:nvPr>
        </p:nvGraphicFramePr>
        <p:xfrm>
          <a:off x="745236" y="1207898"/>
          <a:ext cx="2414269" cy="36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38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运行实</a:t>
            </a:r>
            <a:r>
              <a:rPr sz="4400" spc="-1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7" name="object 7"/>
          <p:cNvSpPr/>
          <p:nvPr/>
        </p:nvSpPr>
        <p:spPr>
          <a:xfrm>
            <a:off x="4648580" y="2792730"/>
            <a:ext cx="948055" cy="769620"/>
          </a:xfrm>
          <a:custGeom>
            <a:avLst/>
            <a:gdLst/>
            <a:ahLst/>
            <a:cxnLst/>
            <a:rect l="l" t="t" r="r" b="b"/>
            <a:pathLst>
              <a:path w="948054" h="769619">
                <a:moveTo>
                  <a:pt x="0" y="0"/>
                </a:moveTo>
                <a:lnTo>
                  <a:pt x="947927" y="0"/>
                </a:lnTo>
                <a:lnTo>
                  <a:pt x="947927" y="769619"/>
                </a:lnTo>
                <a:lnTo>
                  <a:pt x="0" y="76961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C4BD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1603" y="2791558"/>
            <a:ext cx="77533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200" b="1" i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&gt;0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&lt;</a:t>
            </a:r>
            <a:r>
              <a:rPr sz="2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[</a:t>
            </a:r>
            <a:r>
              <a:rPr sz="2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]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4780" y="4103370"/>
            <a:ext cx="1897380" cy="830580"/>
          </a:xfrm>
          <a:prstGeom prst="rect">
            <a:avLst/>
          </a:prstGeom>
          <a:ln w="25146">
            <a:solidFill>
              <a:srgbClr val="C4BD97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i+</a:t>
            </a:r>
            <a:r>
              <a:rPr sz="2400" b="1" spc="-5" dirty="0">
                <a:latin typeface="Times New Roman"/>
                <a:cs typeface="Times New Roman"/>
              </a:rPr>
              <a:t>1]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400" b="1" i="1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Symbol"/>
                <a:cs typeface="Symbol"/>
              </a:rPr>
              <a:t></a:t>
            </a:r>
            <a:r>
              <a:rPr sz="2400" b="1" spc="-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400" y="3009113"/>
            <a:ext cx="1524000" cy="374461"/>
          </a:xfrm>
          <a:prstGeom prst="rect">
            <a:avLst/>
          </a:prstGeom>
          <a:ln w="25146">
            <a:solidFill>
              <a:srgbClr val="C4BD97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2200" b="1" i="1" spc="-5" dirty="0">
                <a:latin typeface="Times New Roman"/>
                <a:cs typeface="Times New Roman"/>
              </a:rPr>
              <a:t>A</a:t>
            </a:r>
            <a:r>
              <a:rPr sz="2200" b="1" spc="-5" dirty="0">
                <a:latin typeface="Times New Roman"/>
                <a:cs typeface="Times New Roman"/>
              </a:rPr>
              <a:t>[</a:t>
            </a:r>
            <a:r>
              <a:rPr sz="2200" b="1" i="1" spc="-5" dirty="0">
                <a:latin typeface="Times New Roman"/>
                <a:cs typeface="Times New Roman"/>
              </a:rPr>
              <a:t>i</a:t>
            </a:r>
            <a:r>
              <a:rPr sz="2200" b="1" spc="-5" dirty="0">
                <a:latin typeface="Times New Roman"/>
                <a:cs typeface="Times New Roman"/>
              </a:rPr>
              <a:t>+1</a:t>
            </a:r>
            <a:r>
              <a:rPr sz="2200" b="1" spc="-5" dirty="0" smtClean="0">
                <a:latin typeface="Times New Roman"/>
                <a:cs typeface="Times New Roman"/>
              </a:rPr>
              <a:t>]</a:t>
            </a:r>
            <a:r>
              <a:rPr sz="2200" b="1" dirty="0" smtClean="0">
                <a:latin typeface="Symbol"/>
                <a:cs typeface="Symbol"/>
              </a:rPr>
              <a:t></a:t>
            </a:r>
            <a:r>
              <a:rPr sz="2200" b="1" i="1" dirty="0">
                <a:latin typeface="Times New Roman"/>
                <a:cs typeface="Times New Roman"/>
              </a:rPr>
              <a:t>x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7800" y="3613150"/>
            <a:ext cx="4394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95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05400" y="3472815"/>
            <a:ext cx="231775" cy="622935"/>
          </a:xfrm>
          <a:custGeom>
            <a:avLst/>
            <a:gdLst/>
            <a:ahLst/>
            <a:cxnLst/>
            <a:rect l="l" t="t" r="r" b="b"/>
            <a:pathLst>
              <a:path w="231775" h="622935">
                <a:moveTo>
                  <a:pt x="231648" y="506730"/>
                </a:moveTo>
                <a:lnTo>
                  <a:pt x="0" y="506730"/>
                </a:lnTo>
                <a:lnTo>
                  <a:pt x="115824" y="622554"/>
                </a:lnTo>
                <a:lnTo>
                  <a:pt x="231648" y="506730"/>
                </a:lnTo>
                <a:close/>
              </a:path>
              <a:path w="231775" h="622935">
                <a:moveTo>
                  <a:pt x="173736" y="0"/>
                </a:moveTo>
                <a:lnTo>
                  <a:pt x="57912" y="0"/>
                </a:lnTo>
                <a:lnTo>
                  <a:pt x="57912" y="506730"/>
                </a:lnTo>
                <a:lnTo>
                  <a:pt x="173736" y="506730"/>
                </a:lnTo>
                <a:lnTo>
                  <a:pt x="173736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05400" y="3472815"/>
            <a:ext cx="231775" cy="622935"/>
          </a:xfrm>
          <a:custGeom>
            <a:avLst/>
            <a:gdLst/>
            <a:ahLst/>
            <a:cxnLst/>
            <a:rect l="l" t="t" r="r" b="b"/>
            <a:pathLst>
              <a:path w="231775" h="622935">
                <a:moveTo>
                  <a:pt x="173736" y="0"/>
                </a:moveTo>
                <a:lnTo>
                  <a:pt x="173736" y="506730"/>
                </a:lnTo>
                <a:lnTo>
                  <a:pt x="231648" y="506730"/>
                </a:lnTo>
                <a:lnTo>
                  <a:pt x="115824" y="622554"/>
                </a:lnTo>
                <a:lnTo>
                  <a:pt x="0" y="506730"/>
                </a:lnTo>
                <a:lnTo>
                  <a:pt x="57912" y="506730"/>
                </a:lnTo>
                <a:lnTo>
                  <a:pt x="57912" y="0"/>
                </a:lnTo>
                <a:lnTo>
                  <a:pt x="173736" y="0"/>
                </a:lnTo>
                <a:close/>
              </a:path>
            </a:pathLst>
          </a:custGeom>
          <a:ln w="25146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2181" y="3097530"/>
            <a:ext cx="356235" cy="228600"/>
          </a:xfrm>
          <a:custGeom>
            <a:avLst/>
            <a:gdLst/>
            <a:ahLst/>
            <a:cxnLst/>
            <a:rect l="l" t="t" r="r" b="b"/>
            <a:pathLst>
              <a:path w="356235" h="228600">
                <a:moveTo>
                  <a:pt x="241554" y="0"/>
                </a:moveTo>
                <a:lnTo>
                  <a:pt x="241554" y="57150"/>
                </a:lnTo>
                <a:lnTo>
                  <a:pt x="0" y="57150"/>
                </a:lnTo>
                <a:lnTo>
                  <a:pt x="0" y="171450"/>
                </a:lnTo>
                <a:lnTo>
                  <a:pt x="241554" y="171450"/>
                </a:lnTo>
                <a:lnTo>
                  <a:pt x="241554" y="228600"/>
                </a:lnTo>
                <a:lnTo>
                  <a:pt x="355854" y="114300"/>
                </a:lnTo>
                <a:lnTo>
                  <a:pt x="24155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15380" y="3105150"/>
            <a:ext cx="356235" cy="228600"/>
          </a:xfrm>
          <a:custGeom>
            <a:avLst/>
            <a:gdLst/>
            <a:ahLst/>
            <a:cxnLst/>
            <a:rect l="l" t="t" r="r" b="b"/>
            <a:pathLst>
              <a:path w="356235" h="228600">
                <a:moveTo>
                  <a:pt x="0" y="57150"/>
                </a:moveTo>
                <a:lnTo>
                  <a:pt x="241554" y="57150"/>
                </a:lnTo>
                <a:lnTo>
                  <a:pt x="241554" y="0"/>
                </a:lnTo>
                <a:lnTo>
                  <a:pt x="355854" y="114300"/>
                </a:lnTo>
                <a:lnTo>
                  <a:pt x="241554" y="228600"/>
                </a:lnTo>
                <a:lnTo>
                  <a:pt x="241554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25146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80" y="2800350"/>
            <a:ext cx="304800" cy="1826260"/>
          </a:xfrm>
          <a:custGeom>
            <a:avLst/>
            <a:gdLst/>
            <a:ahLst/>
            <a:cxnLst/>
            <a:rect l="l" t="t" r="r" b="b"/>
            <a:pathLst>
              <a:path w="304800" h="1826260">
                <a:moveTo>
                  <a:pt x="152400" y="0"/>
                </a:moveTo>
                <a:lnTo>
                  <a:pt x="152400" y="26657"/>
                </a:lnTo>
                <a:lnTo>
                  <a:pt x="104231" y="34426"/>
                </a:lnTo>
                <a:lnTo>
                  <a:pt x="62396" y="56059"/>
                </a:lnTo>
                <a:lnTo>
                  <a:pt x="29405" y="89048"/>
                </a:lnTo>
                <a:lnTo>
                  <a:pt x="7769" y="130884"/>
                </a:lnTo>
                <a:lnTo>
                  <a:pt x="0" y="179057"/>
                </a:lnTo>
                <a:lnTo>
                  <a:pt x="0" y="1673352"/>
                </a:lnTo>
                <a:lnTo>
                  <a:pt x="7769" y="1721520"/>
                </a:lnTo>
                <a:lnTo>
                  <a:pt x="29405" y="1763355"/>
                </a:lnTo>
                <a:lnTo>
                  <a:pt x="62396" y="1796346"/>
                </a:lnTo>
                <a:lnTo>
                  <a:pt x="104231" y="1817982"/>
                </a:lnTo>
                <a:lnTo>
                  <a:pt x="152400" y="1825752"/>
                </a:lnTo>
                <a:lnTo>
                  <a:pt x="304800" y="1825752"/>
                </a:lnTo>
                <a:lnTo>
                  <a:pt x="304800" y="1726653"/>
                </a:lnTo>
                <a:lnTo>
                  <a:pt x="152400" y="1726653"/>
                </a:lnTo>
                <a:lnTo>
                  <a:pt x="131652" y="1722465"/>
                </a:lnTo>
                <a:lnTo>
                  <a:pt x="114709" y="1711042"/>
                </a:lnTo>
                <a:lnTo>
                  <a:pt x="103286" y="1694099"/>
                </a:lnTo>
                <a:lnTo>
                  <a:pt x="99098" y="1673352"/>
                </a:lnTo>
                <a:lnTo>
                  <a:pt x="99098" y="179057"/>
                </a:lnTo>
                <a:lnTo>
                  <a:pt x="103286" y="158307"/>
                </a:lnTo>
                <a:lnTo>
                  <a:pt x="114709" y="141360"/>
                </a:lnTo>
                <a:lnTo>
                  <a:pt x="131652" y="129933"/>
                </a:lnTo>
                <a:lnTo>
                  <a:pt x="152400" y="125742"/>
                </a:lnTo>
                <a:lnTo>
                  <a:pt x="179057" y="125742"/>
                </a:lnTo>
                <a:lnTo>
                  <a:pt x="228600" y="76200"/>
                </a:lnTo>
                <a:lnTo>
                  <a:pt x="152400" y="0"/>
                </a:lnTo>
                <a:close/>
              </a:path>
              <a:path w="304800" h="1826260">
                <a:moveTo>
                  <a:pt x="179057" y="125742"/>
                </a:moveTo>
                <a:lnTo>
                  <a:pt x="152400" y="125742"/>
                </a:lnTo>
                <a:lnTo>
                  <a:pt x="152400" y="152400"/>
                </a:lnTo>
                <a:lnTo>
                  <a:pt x="179057" y="12574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9980" y="2802890"/>
            <a:ext cx="304800" cy="1826260"/>
          </a:xfrm>
          <a:custGeom>
            <a:avLst/>
            <a:gdLst/>
            <a:ahLst/>
            <a:cxnLst/>
            <a:rect l="l" t="t" r="r" b="b"/>
            <a:pathLst>
              <a:path w="304800" h="1826260">
                <a:moveTo>
                  <a:pt x="304800" y="1825752"/>
                </a:moveTo>
                <a:lnTo>
                  <a:pt x="152400" y="1825752"/>
                </a:lnTo>
                <a:lnTo>
                  <a:pt x="104231" y="1817982"/>
                </a:lnTo>
                <a:lnTo>
                  <a:pt x="62396" y="1796346"/>
                </a:lnTo>
                <a:lnTo>
                  <a:pt x="29405" y="1763355"/>
                </a:lnTo>
                <a:lnTo>
                  <a:pt x="7769" y="1721520"/>
                </a:lnTo>
                <a:lnTo>
                  <a:pt x="0" y="1673352"/>
                </a:lnTo>
                <a:lnTo>
                  <a:pt x="0" y="179057"/>
                </a:lnTo>
                <a:lnTo>
                  <a:pt x="7769" y="130884"/>
                </a:lnTo>
                <a:lnTo>
                  <a:pt x="29405" y="89048"/>
                </a:lnTo>
                <a:lnTo>
                  <a:pt x="62396" y="56059"/>
                </a:lnTo>
                <a:lnTo>
                  <a:pt x="104231" y="34426"/>
                </a:lnTo>
                <a:lnTo>
                  <a:pt x="152400" y="26657"/>
                </a:lnTo>
                <a:lnTo>
                  <a:pt x="152400" y="0"/>
                </a:lnTo>
                <a:lnTo>
                  <a:pt x="228600" y="76200"/>
                </a:lnTo>
                <a:lnTo>
                  <a:pt x="152400" y="152400"/>
                </a:lnTo>
                <a:lnTo>
                  <a:pt x="152400" y="125742"/>
                </a:lnTo>
                <a:lnTo>
                  <a:pt x="131652" y="129933"/>
                </a:lnTo>
                <a:lnTo>
                  <a:pt x="114709" y="141360"/>
                </a:lnTo>
                <a:lnTo>
                  <a:pt x="103286" y="158307"/>
                </a:lnTo>
                <a:lnTo>
                  <a:pt x="99098" y="179057"/>
                </a:lnTo>
                <a:lnTo>
                  <a:pt x="99098" y="1673352"/>
                </a:lnTo>
                <a:lnTo>
                  <a:pt x="103286" y="1694099"/>
                </a:lnTo>
                <a:lnTo>
                  <a:pt x="114709" y="1711042"/>
                </a:lnTo>
                <a:lnTo>
                  <a:pt x="131652" y="1722465"/>
                </a:lnTo>
                <a:lnTo>
                  <a:pt x="152400" y="1726653"/>
                </a:lnTo>
                <a:lnTo>
                  <a:pt x="304800" y="1726653"/>
                </a:lnTo>
                <a:lnTo>
                  <a:pt x="304800" y="1825752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46750" y="2799397"/>
            <a:ext cx="349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No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9980" y="1170520"/>
            <a:ext cx="4266820" cy="1553630"/>
          </a:xfrm>
          <a:prstGeom prst="rect">
            <a:avLst/>
          </a:prstGeom>
          <a:ln w="25146">
            <a:solidFill>
              <a:srgbClr val="C4BD97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 marR="154305">
              <a:lnSpc>
                <a:spcPct val="100000"/>
              </a:lnSpc>
              <a:spcBef>
                <a:spcPts val="295"/>
              </a:spcBef>
              <a:tabLst>
                <a:tab pos="719455" algn="l"/>
              </a:tabLst>
            </a:pPr>
            <a:r>
              <a:rPr sz="2400" b="1" dirty="0">
                <a:latin typeface="Times New Roman"/>
                <a:cs typeface="Times New Roman"/>
              </a:rPr>
              <a:t>4. </a:t>
            </a:r>
            <a:r>
              <a:rPr sz="2400" b="1" spc="-5" dirty="0">
                <a:latin typeface="Times New Roman"/>
                <a:cs typeface="Times New Roman"/>
              </a:rPr>
              <a:t>while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&gt;0 </a:t>
            </a:r>
            <a:r>
              <a:rPr sz="2400" b="1" spc="-5" dirty="0">
                <a:latin typeface="Times New Roman"/>
                <a:cs typeface="Times New Roman"/>
              </a:rPr>
              <a:t>and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[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] </a:t>
            </a:r>
            <a:r>
              <a:rPr sz="2400" b="1" spc="-5" dirty="0">
                <a:latin typeface="Times New Roman"/>
                <a:cs typeface="Times New Roman"/>
              </a:rPr>
              <a:t>do  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L="90805" marR="154305">
              <a:lnSpc>
                <a:spcPct val="100000"/>
              </a:lnSpc>
              <a:spcBef>
                <a:spcPts val="295"/>
              </a:spcBef>
              <a:tabLst>
                <a:tab pos="719455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5</a:t>
            </a:r>
            <a:r>
              <a:rPr sz="2400" b="1" dirty="0">
                <a:latin typeface="Times New Roman"/>
                <a:cs typeface="Times New Roman"/>
              </a:rPr>
              <a:t>.	</a:t>
            </a:r>
            <a:r>
              <a:rPr lang="en-US" sz="2400" b="1" dirty="0" smtClean="0">
                <a:latin typeface="Times New Roman"/>
                <a:cs typeface="Times New Roman"/>
              </a:rPr>
              <a:t>      </a:t>
            </a:r>
            <a:r>
              <a:rPr sz="2400" b="1" i="1" spc="-5" dirty="0" smtClean="0">
                <a:latin typeface="Times New Roman"/>
                <a:cs typeface="Times New Roman"/>
              </a:rPr>
              <a:t>A</a:t>
            </a:r>
            <a:r>
              <a:rPr sz="2400" b="1" spc="-5" dirty="0" smtClean="0">
                <a:latin typeface="Times New Roman"/>
                <a:cs typeface="Times New Roman"/>
              </a:rPr>
              <a:t>[</a:t>
            </a:r>
            <a:r>
              <a:rPr sz="2400" b="1" i="1" spc="-5" dirty="0" smtClean="0">
                <a:latin typeface="Times New Roman"/>
                <a:cs typeface="Times New Roman"/>
              </a:rPr>
              <a:t>i+</a:t>
            </a:r>
            <a:r>
              <a:rPr sz="2400" b="1" spc="-5" dirty="0" smtClean="0">
                <a:latin typeface="Times New Roman"/>
                <a:cs typeface="Times New Roman"/>
              </a:rPr>
              <a:t>1</a:t>
            </a:r>
            <a:r>
              <a:rPr sz="2400" b="1" spc="-5" dirty="0">
                <a:latin typeface="Times New Roman"/>
                <a:cs typeface="Times New Roman"/>
              </a:rPr>
              <a:t>]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endParaRPr sz="240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  <a:tabLst>
                <a:tab pos="719455" algn="l"/>
              </a:tabLst>
            </a:pPr>
            <a:r>
              <a:rPr sz="2400" b="1" dirty="0">
                <a:latin typeface="Times New Roman"/>
                <a:cs typeface="Times New Roman"/>
              </a:rPr>
              <a:t>6.	</a:t>
            </a:r>
            <a:r>
              <a:rPr lang="en-US" sz="2400" b="1" dirty="0" smtClean="0">
                <a:latin typeface="Times New Roman"/>
                <a:cs typeface="Times New Roman"/>
              </a:rPr>
              <a:t>      </a:t>
            </a:r>
            <a:r>
              <a:rPr sz="2400" b="1" i="1" dirty="0" err="1" smtClean="0">
                <a:latin typeface="Times New Roman"/>
                <a:cs typeface="Times New Roman"/>
              </a:rPr>
              <a:t>i</a:t>
            </a:r>
            <a:r>
              <a:rPr sz="2400" b="1" i="1" dirty="0" smtClean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Symbol"/>
                <a:cs typeface="Symbol"/>
              </a:rPr>
              <a:t></a:t>
            </a:r>
            <a:r>
              <a:rPr sz="2400" b="1" spc="-5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7.  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+1]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08657" y="2584775"/>
            <a:ext cx="482600" cy="360680"/>
          </a:xfrm>
          <a:custGeom>
            <a:avLst/>
            <a:gdLst/>
            <a:ahLst/>
            <a:cxnLst/>
            <a:rect l="l" t="t" r="r" b="b"/>
            <a:pathLst>
              <a:path w="482600" h="360680">
                <a:moveTo>
                  <a:pt x="0" y="0"/>
                </a:moveTo>
                <a:lnTo>
                  <a:pt x="482345" y="0"/>
                </a:lnTo>
                <a:lnTo>
                  <a:pt x="482345" y="360425"/>
                </a:lnTo>
                <a:lnTo>
                  <a:pt x="0" y="360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91002" y="2584775"/>
            <a:ext cx="483234" cy="360680"/>
          </a:xfrm>
          <a:custGeom>
            <a:avLst/>
            <a:gdLst/>
            <a:ahLst/>
            <a:cxnLst/>
            <a:rect l="l" t="t" r="r" b="b"/>
            <a:pathLst>
              <a:path w="483235" h="360680">
                <a:moveTo>
                  <a:pt x="0" y="0"/>
                </a:moveTo>
                <a:lnTo>
                  <a:pt x="483107" y="0"/>
                </a:lnTo>
                <a:lnTo>
                  <a:pt x="483107" y="360425"/>
                </a:lnTo>
                <a:lnTo>
                  <a:pt x="0" y="360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34399"/>
              </p:ext>
            </p:extLst>
          </p:nvPr>
        </p:nvGraphicFramePr>
        <p:xfrm>
          <a:off x="749808" y="2572202"/>
          <a:ext cx="2412999" cy="36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25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2208657" y="3658870"/>
            <a:ext cx="482600" cy="360680"/>
          </a:xfrm>
          <a:custGeom>
            <a:avLst/>
            <a:gdLst/>
            <a:ahLst/>
            <a:cxnLst/>
            <a:rect l="l" t="t" r="r" b="b"/>
            <a:pathLst>
              <a:path w="482600" h="360679">
                <a:moveTo>
                  <a:pt x="0" y="0"/>
                </a:moveTo>
                <a:lnTo>
                  <a:pt x="482345" y="0"/>
                </a:lnTo>
                <a:lnTo>
                  <a:pt x="482345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91002" y="3658870"/>
            <a:ext cx="483234" cy="360680"/>
          </a:xfrm>
          <a:custGeom>
            <a:avLst/>
            <a:gdLst/>
            <a:ahLst/>
            <a:cxnLst/>
            <a:rect l="l" t="t" r="r" b="b"/>
            <a:pathLst>
              <a:path w="483235" h="360679">
                <a:moveTo>
                  <a:pt x="0" y="0"/>
                </a:moveTo>
                <a:lnTo>
                  <a:pt x="483107" y="0"/>
                </a:lnTo>
                <a:lnTo>
                  <a:pt x="48310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881010"/>
              </p:ext>
            </p:extLst>
          </p:nvPr>
        </p:nvGraphicFramePr>
        <p:xfrm>
          <a:off x="749808" y="3646298"/>
          <a:ext cx="2412999" cy="36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25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835977" y="3942835"/>
            <a:ext cx="244062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[2]=2, </a:t>
            </a:r>
            <a:r>
              <a:rPr sz="2400" b="1" i="1" spc="-5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Times New Roman"/>
                <a:cs typeface="Times New Roman"/>
              </a:rPr>
              <a:t>= 0,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spc="-5" dirty="0">
                <a:latin typeface="Times New Roman"/>
                <a:cs typeface="Times New Roman"/>
              </a:rPr>
              <a:t>=1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2790" y="1516103"/>
            <a:ext cx="243624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lnSpc>
                <a:spcPct val="100000"/>
              </a:lnSpc>
              <a:tabLst>
                <a:tab pos="708025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j 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3,	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x </a:t>
            </a:r>
            <a:r>
              <a:rPr sz="2400" b="1" spc="-5" dirty="0">
                <a:latin typeface="Times New Roman"/>
                <a:cs typeface="Times New Roman"/>
              </a:rPr>
              <a:t>= 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[3] =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400" b="1" i="1" spc="-5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Times New Roman"/>
                <a:cs typeface="Times New Roman"/>
              </a:rPr>
              <a:t>= 2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[2] 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7715" y="2881447"/>
            <a:ext cx="2406521" cy="452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  <a:tabLst>
                <a:tab pos="67183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[3]=4, </a:t>
            </a:r>
            <a:r>
              <a:rPr sz="2400" b="1" i="1" spc="-5" dirty="0">
                <a:latin typeface="Times New Roman"/>
                <a:cs typeface="Times New Roman"/>
              </a:rPr>
              <a:t>i </a:t>
            </a:r>
            <a:r>
              <a:rPr sz="2400" b="1" spc="-5" dirty="0">
                <a:latin typeface="Times New Roman"/>
                <a:cs typeface="Times New Roman"/>
              </a:rPr>
              <a:t>= 1,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x</a:t>
            </a:r>
            <a:r>
              <a:rPr sz="2400" b="1" spc="-5" dirty="0" smtClean="0">
                <a:latin typeface="Times New Roman"/>
                <a:cs typeface="Times New Roman"/>
              </a:rPr>
              <a:t>=1</a:t>
            </a:r>
            <a:endParaRPr sz="2400" dirty="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08657" y="4497070"/>
            <a:ext cx="482600" cy="360680"/>
          </a:xfrm>
          <a:custGeom>
            <a:avLst/>
            <a:gdLst/>
            <a:ahLst/>
            <a:cxnLst/>
            <a:rect l="l" t="t" r="r" b="b"/>
            <a:pathLst>
              <a:path w="482600" h="360679">
                <a:moveTo>
                  <a:pt x="0" y="0"/>
                </a:moveTo>
                <a:lnTo>
                  <a:pt x="482345" y="0"/>
                </a:lnTo>
                <a:lnTo>
                  <a:pt x="482345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91002" y="4497070"/>
            <a:ext cx="483234" cy="360680"/>
          </a:xfrm>
          <a:custGeom>
            <a:avLst/>
            <a:gdLst/>
            <a:ahLst/>
            <a:cxnLst/>
            <a:rect l="l" t="t" r="r" b="b"/>
            <a:pathLst>
              <a:path w="483235" h="360679">
                <a:moveTo>
                  <a:pt x="0" y="0"/>
                </a:moveTo>
                <a:lnTo>
                  <a:pt x="483107" y="0"/>
                </a:lnTo>
                <a:lnTo>
                  <a:pt x="48310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59110"/>
              </p:ext>
            </p:extLst>
          </p:nvPr>
        </p:nvGraphicFramePr>
        <p:xfrm>
          <a:off x="749808" y="4484498"/>
          <a:ext cx="2412999" cy="360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25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4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27940" marB="0">
                    <a:lnL w="28575">
                      <a:solidFill>
                        <a:srgbClr val="595958"/>
                      </a:solidFill>
                      <a:prstDash val="solid"/>
                    </a:lnL>
                    <a:lnR w="28575">
                      <a:solidFill>
                        <a:srgbClr val="595958"/>
                      </a:solidFill>
                      <a:prstDash val="solid"/>
                    </a:lnR>
                    <a:lnT w="28575">
                      <a:solidFill>
                        <a:srgbClr val="595958"/>
                      </a:solidFill>
                      <a:prstDash val="solid"/>
                    </a:lnT>
                    <a:lnB w="28575">
                      <a:solidFill>
                        <a:srgbClr val="5959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843914" y="4170153"/>
            <a:ext cx="167068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1195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&gt; 0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-5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endParaRPr sz="2400" dirty="0">
              <a:latin typeface="Symbol"/>
              <a:cs typeface="Symbol"/>
            </a:endParaRPr>
          </a:p>
        </p:txBody>
      </p:sp>
      <p:sp>
        <p:nvSpPr>
          <p:cNvPr id="33" name="日期占位符 3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3122243-A0CA-4B7D-8F32-94C28CCD466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64</a:t>
            </a:fld>
            <a:endParaRPr lang="zh-CN" altLang="en-US"/>
          </a:p>
        </p:txBody>
      </p:sp>
      <p:sp>
        <p:nvSpPr>
          <p:cNvPr id="36" name="object 27"/>
          <p:cNvSpPr txBox="1"/>
          <p:nvPr/>
        </p:nvSpPr>
        <p:spPr>
          <a:xfrm>
            <a:off x="723998" y="2190235"/>
            <a:ext cx="243624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671830" algn="l"/>
                <a:tab pos="1725295" algn="l"/>
              </a:tabLst>
            </a:pPr>
            <a:r>
              <a:rPr sz="2400" b="1" i="1" spc="-5" dirty="0" err="1" smtClean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&gt;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0,	</a:t>
            </a:r>
            <a:r>
              <a:rPr lang="en-US" sz="24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i="1" spc="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&lt;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[2]	</a:t>
            </a:r>
            <a:r>
              <a:rPr sz="2400" b="1" spc="-5" dirty="0">
                <a:solidFill>
                  <a:srgbClr val="C00000"/>
                </a:solidFill>
                <a:latin typeface="Symbol"/>
                <a:cs typeface="Symbol"/>
              </a:rPr>
              <a:t></a:t>
            </a:r>
            <a:endParaRPr sz="2400" dirty="0">
              <a:latin typeface="Symbol"/>
              <a:cs typeface="Symbol"/>
            </a:endParaRPr>
          </a:p>
        </p:txBody>
      </p:sp>
      <p:sp>
        <p:nvSpPr>
          <p:cNvPr id="37" name="object 28"/>
          <p:cNvSpPr txBox="1"/>
          <p:nvPr/>
        </p:nvSpPr>
        <p:spPr>
          <a:xfrm>
            <a:off x="766237" y="3186247"/>
            <a:ext cx="2406521" cy="452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  <a:tabLst>
                <a:tab pos="671830" algn="l"/>
              </a:tabLst>
            </a:pPr>
            <a:r>
              <a:rPr sz="2400" b="1" i="1" spc="-5" dirty="0" err="1" smtClean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&gt;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0,	</a:t>
            </a:r>
            <a:r>
              <a:rPr lang="en-US" sz="24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x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&lt;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[1]</a:t>
            </a:r>
            <a:r>
              <a:rPr sz="2400" b="1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Symbol"/>
                <a:cs typeface="Symbol"/>
              </a:rPr>
              <a:t></a:t>
            </a:r>
            <a:endParaRPr sz="2400" dirty="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77262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6" grpId="0"/>
      <p:bldP spid="27" grpId="0"/>
      <p:bldP spid="28" grpId="0"/>
      <p:bldP spid="32" grpId="0"/>
      <p:bldP spid="36" grpId="0"/>
      <p:bldP spid="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6244" y="4324350"/>
            <a:ext cx="7388556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10"/>
              </a:lnSpc>
            </a:pPr>
            <a:r>
              <a:rPr sz="2400" b="1" spc="-5" dirty="0" err="1">
                <a:latin typeface="Times New Roman"/>
                <a:cs typeface="Times New Roman"/>
              </a:rPr>
              <a:t>MergeSort</a:t>
            </a:r>
            <a:r>
              <a:rPr sz="2400" b="1" spc="-5" dirty="0" err="1">
                <a:latin typeface="宋体"/>
                <a:cs typeface="宋体"/>
              </a:rPr>
              <a:t>有递归调用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b="1" dirty="0" smtClean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也</a:t>
            </a:r>
            <a:r>
              <a:rPr sz="2400" b="1" dirty="0" err="1" smtClean="0">
                <a:latin typeface="宋体"/>
                <a:cs typeface="宋体"/>
              </a:rPr>
              <a:t>调</a:t>
            </a:r>
            <a:r>
              <a:rPr sz="2400" b="1" spc="-5" dirty="0" err="1" smtClean="0">
                <a:latin typeface="宋体"/>
                <a:cs typeface="宋体"/>
              </a:rPr>
              <a:t>用</a:t>
            </a:r>
            <a:r>
              <a:rPr sz="2400" b="1" dirty="0" err="1">
                <a:latin typeface="Times New Roman"/>
                <a:cs typeface="Times New Roman"/>
              </a:rPr>
              <a:t>Merge</a:t>
            </a:r>
            <a:r>
              <a:rPr sz="2400" b="1" spc="-5" dirty="0" err="1" smtClean="0">
                <a:latin typeface="宋体"/>
                <a:cs typeface="宋体"/>
              </a:rPr>
              <a:t>过</a:t>
            </a:r>
            <a:r>
              <a:rPr sz="2400" b="1" spc="-10" dirty="0" err="1" smtClean="0">
                <a:latin typeface="宋体"/>
                <a:cs typeface="宋体"/>
              </a:rPr>
              <a:t>程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499" y="266973"/>
            <a:ext cx="825830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例：二分归并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排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698" y="1209965"/>
            <a:ext cx="8029702" cy="310662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24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p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20014">
              <a:lnSpc>
                <a:spcPct val="100000"/>
              </a:lnSpc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输入：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组</a:t>
            </a:r>
            <a:r>
              <a:rPr lang="en-US" sz="2400" b="1" spc="-64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sz="2400" b="1" i="1" spc="-5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2400" b="1" i="1" spc="-5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..</a:t>
            </a:r>
            <a:r>
              <a:rPr sz="2400" b="1" i="1" spc="-5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0014">
              <a:lnSpc>
                <a:spcPct val="100000"/>
              </a:lnSpc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输出：按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递</a:t>
            </a:r>
            <a:r>
              <a:rPr sz="2400" b="1" spc="5" dirty="0" err="1">
                <a:latin typeface="Times New Roman" pitchFamily="18" charset="0"/>
                <a:cs typeface="Times New Roman" pitchFamily="18" charset="0"/>
              </a:rPr>
              <a:t>增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顺序排序的数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组</a:t>
            </a:r>
            <a:r>
              <a:rPr sz="2400" b="1" spc="-6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6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0014">
              <a:lnSpc>
                <a:spcPct val="100000"/>
              </a:lnSpc>
              <a:tabLst>
                <a:tab pos="577215" algn="l"/>
                <a:tab pos="915035" algn="l"/>
              </a:tabLst>
            </a:pPr>
            <a:r>
              <a:rPr sz="2400" b="1" dirty="0">
                <a:latin typeface="Times New Roman"/>
                <a:cs typeface="Times New Roman"/>
              </a:rPr>
              <a:t>1.	</a:t>
            </a:r>
            <a:r>
              <a:rPr sz="2400" b="1" spc="-5" dirty="0">
                <a:latin typeface="Times New Roman"/>
                <a:cs typeface="Times New Roman"/>
              </a:rPr>
              <a:t>if	</a:t>
            </a:r>
            <a:r>
              <a:rPr sz="2400" b="1" i="1" dirty="0">
                <a:latin typeface="Times New Roman"/>
                <a:cs typeface="Times New Roman"/>
              </a:rPr>
              <a:t>p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 marL="120014">
              <a:lnSpc>
                <a:spcPct val="100000"/>
              </a:lnSpc>
              <a:tabLst>
                <a:tab pos="577215" algn="l"/>
              </a:tabLst>
            </a:pPr>
            <a:r>
              <a:rPr sz="2400" b="1" dirty="0">
                <a:latin typeface="Times New Roman"/>
                <a:cs typeface="Times New Roman"/>
              </a:rPr>
              <a:t>2.	</a:t>
            </a:r>
            <a:r>
              <a:rPr sz="2400" b="1" spc="-5" dirty="0">
                <a:latin typeface="Times New Roman"/>
                <a:cs typeface="Times New Roman"/>
              </a:rPr>
              <a:t>then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q</a:t>
            </a:r>
            <a:r>
              <a:rPr sz="2400" b="1" spc="-5" dirty="0">
                <a:latin typeface="Symbol"/>
                <a:cs typeface="Symbol"/>
              </a:rPr>
              <a:t>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p+r</a:t>
            </a:r>
            <a:r>
              <a:rPr sz="2400" b="1" spc="-5" dirty="0">
                <a:latin typeface="Times New Roman"/>
                <a:cs typeface="Times New Roman"/>
              </a:rPr>
              <a:t>)/2</a:t>
            </a:r>
            <a:r>
              <a:rPr sz="2400" b="1" spc="-5" dirty="0">
                <a:latin typeface="Symbol"/>
                <a:cs typeface="Symbol"/>
              </a:rPr>
              <a:t></a:t>
            </a:r>
            <a:endParaRPr sz="2400" dirty="0">
              <a:latin typeface="Symbol"/>
              <a:cs typeface="Symbol"/>
            </a:endParaRPr>
          </a:p>
          <a:p>
            <a:pPr marL="1079500" indent="-959485">
              <a:lnSpc>
                <a:spcPct val="100000"/>
              </a:lnSpc>
              <a:buAutoNum type="arabicPeriod" startAt="3"/>
              <a:tabLst>
                <a:tab pos="1078865" algn="l"/>
                <a:tab pos="1079500" algn="l"/>
              </a:tabLst>
            </a:pPr>
            <a:r>
              <a:rPr sz="2400" b="1" spc="24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, </a:t>
            </a:r>
            <a:r>
              <a:rPr sz="2400" b="1" i="1" dirty="0">
                <a:latin typeface="Times New Roman"/>
                <a:cs typeface="Times New Roman"/>
              </a:rPr>
              <a:t>p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q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1079500" indent="-959485">
              <a:lnSpc>
                <a:spcPct val="100000"/>
              </a:lnSpc>
              <a:buAutoNum type="arabicPeriod" startAt="3"/>
              <a:tabLst>
                <a:tab pos="1078865" algn="l"/>
                <a:tab pos="1079500" algn="l"/>
              </a:tabLst>
            </a:pPr>
            <a:r>
              <a:rPr sz="2400" b="1" spc="24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, </a:t>
            </a:r>
            <a:r>
              <a:rPr sz="2400" b="1" i="1" dirty="0">
                <a:latin typeface="Times New Roman"/>
                <a:cs typeface="Times New Roman"/>
              </a:rPr>
              <a:t>q</a:t>
            </a:r>
            <a:r>
              <a:rPr sz="2400" b="1" dirty="0">
                <a:latin typeface="Times New Roman"/>
                <a:cs typeface="Times New Roman"/>
              </a:rPr>
              <a:t>+1,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1186815" indent="-1067435">
              <a:lnSpc>
                <a:spcPct val="100000"/>
              </a:lnSpc>
              <a:buAutoNum type="arabicPeriod" startAt="3"/>
              <a:tabLst>
                <a:tab pos="1186815" algn="l"/>
                <a:tab pos="1187450" algn="l"/>
              </a:tabLst>
            </a:pPr>
            <a:r>
              <a:rPr sz="2400" b="1" dirty="0">
                <a:latin typeface="Times New Roman"/>
                <a:cs typeface="Times New Roman"/>
              </a:rPr>
              <a:t>Merge (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, </a:t>
            </a:r>
            <a:r>
              <a:rPr sz="2400" b="1" i="1" dirty="0">
                <a:latin typeface="Times New Roman"/>
                <a:cs typeface="Times New Roman"/>
              </a:rPr>
              <a:t>p</a:t>
            </a:r>
            <a:r>
              <a:rPr sz="2400" b="1" dirty="0">
                <a:latin typeface="Times New Roman"/>
                <a:cs typeface="Times New Roman"/>
              </a:rPr>
              <a:t>, </a:t>
            </a:r>
            <a:r>
              <a:rPr sz="2400" b="1" i="1" dirty="0">
                <a:latin typeface="Times New Roman"/>
                <a:cs typeface="Times New Roman"/>
              </a:rPr>
              <a:t>q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2901735-67B9-49B1-84D7-3EFE75BF122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65</a:t>
            </a:fld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85800" y="1743365"/>
            <a:ext cx="274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676400" y="3486150"/>
            <a:ext cx="274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76400" y="3867150"/>
            <a:ext cx="274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6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例：算法</a:t>
            </a:r>
            <a:r>
              <a:rPr sz="4400" dirty="0"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sz="4400" spc="-10" dirty="0">
                <a:latin typeface="黑体" pitchFamily="49" charset="-122"/>
                <a:ea typeface="黑体" pitchFamily="49" charset="-122"/>
              </a:rPr>
              <a:t>的伪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码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223304"/>
            <a:ext cx="8229600" cy="13484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算</a:t>
            </a:r>
            <a:r>
              <a:rPr sz="2400" b="1" spc="475" dirty="0">
                <a:latin typeface="Times New Roman" pitchFamily="18" charset="0"/>
                <a:cs typeface="Times New Roman" pitchFamily="18" charset="0"/>
              </a:rPr>
              <a:t>法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输入：实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组</a:t>
            </a:r>
            <a:r>
              <a:rPr sz="2400" b="1" spc="-6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[0..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]，实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6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输出：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8960" y="2491487"/>
            <a:ext cx="3211830" cy="8991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655"/>
              </a:spcBef>
              <a:buFont typeface="Times New Roman"/>
              <a:buAutoNum type="arabicPeriod"/>
              <a:tabLst>
                <a:tab pos="393065" algn="l"/>
                <a:tab pos="39370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y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[0]</a:t>
            </a:r>
            <a:r>
              <a:rPr sz="2400" b="1" spc="-5" dirty="0">
                <a:latin typeface="宋体"/>
                <a:cs typeface="宋体"/>
              </a:rPr>
              <a:t>；</a:t>
            </a:r>
            <a:r>
              <a:rPr sz="2400" b="1" i="1" spc="-5" dirty="0">
                <a:latin typeface="Times New Roman"/>
                <a:cs typeface="Times New Roman"/>
              </a:rPr>
              <a:t>power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393065" algn="l"/>
                <a:tab pos="393700" algn="l"/>
                <a:tab pos="929005" algn="l"/>
                <a:tab pos="1695450" algn="l"/>
                <a:tab pos="2102485" algn="l"/>
                <a:tab pos="242506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for	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</a:t>
            </a:r>
            <a:r>
              <a:rPr sz="2400" b="1" dirty="0">
                <a:latin typeface="Times New Roman"/>
                <a:cs typeface="Times New Roman"/>
              </a:rPr>
              <a:t>1	</a:t>
            </a:r>
            <a:r>
              <a:rPr sz="2400" b="1" spc="-5" dirty="0">
                <a:latin typeface="Times New Roman"/>
                <a:cs typeface="Times New Roman"/>
              </a:rPr>
              <a:t>to	</a:t>
            </a:r>
            <a:r>
              <a:rPr sz="2400" b="1" i="1" spc="-5" dirty="0">
                <a:latin typeface="Times New Roman"/>
                <a:cs typeface="Times New Roman"/>
              </a:rPr>
              <a:t>n	</a:t>
            </a:r>
            <a:r>
              <a:rPr sz="2400" b="1" spc="-10" dirty="0">
                <a:latin typeface="Times New Roman"/>
                <a:cs typeface="Times New Roman"/>
              </a:rPr>
              <a:t>do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960" y="3364739"/>
            <a:ext cx="25400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Times New Roman"/>
                <a:cs typeface="Times New Roman"/>
              </a:rPr>
              <a:t>3.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Times New Roman"/>
                <a:cs typeface="Times New Roman"/>
              </a:rPr>
              <a:t>4.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360" y="3364739"/>
            <a:ext cx="260731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power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power </a:t>
            </a:r>
            <a:r>
              <a:rPr sz="2400" b="1" spc="20" dirty="0">
                <a:latin typeface="Cambria Math"/>
                <a:cs typeface="Cambria Math"/>
              </a:rPr>
              <a:t>∗ </a:t>
            </a:r>
            <a:r>
              <a:rPr sz="2400" b="1" i="1" dirty="0">
                <a:latin typeface="Times New Roman"/>
                <a:cs typeface="Times New Roman"/>
              </a:rPr>
              <a:t>x  y 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y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i="1" spc="-5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i</a:t>
            </a:r>
            <a:r>
              <a:rPr sz="2400" b="1" spc="-5" dirty="0">
                <a:latin typeface="Times New Roman"/>
                <a:cs typeface="Times New Roman"/>
              </a:rPr>
              <a:t>] </a:t>
            </a:r>
            <a:r>
              <a:rPr sz="2400" b="1" spc="20" dirty="0">
                <a:latin typeface="Cambria Math"/>
                <a:cs typeface="Cambria Math"/>
              </a:rPr>
              <a:t>∗</a:t>
            </a:r>
            <a:r>
              <a:rPr sz="2400" b="1" spc="-5" dirty="0">
                <a:latin typeface="Cambria Math"/>
                <a:cs typeface="Cambria Math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power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8960" y="4314190"/>
            <a:ext cx="1534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1386205" algn="l"/>
              </a:tabLst>
            </a:pPr>
            <a:r>
              <a:rPr sz="2400" b="1" dirty="0">
                <a:latin typeface="Times New Roman"/>
                <a:cs typeface="Times New Roman"/>
              </a:rPr>
              <a:t>5.	</a:t>
            </a:r>
            <a:r>
              <a:rPr sz="2400" b="1" spc="-40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5" dirty="0">
                <a:latin typeface="Times New Roman"/>
                <a:cs typeface="Times New Roman"/>
              </a:rPr>
              <a:t>t</a:t>
            </a:r>
            <a:r>
              <a:rPr sz="2400" b="1" spc="-10" dirty="0">
                <a:latin typeface="Times New Roman"/>
                <a:cs typeface="Times New Roman"/>
              </a:rPr>
              <a:t>u</a:t>
            </a: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b="1" spc="-5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6200" y="1885950"/>
            <a:ext cx="1752600" cy="2526399"/>
          </a:xfrm>
          <a:custGeom>
            <a:avLst/>
            <a:gdLst/>
            <a:ahLst/>
            <a:cxnLst/>
            <a:rect l="l" t="t" r="r" b="b"/>
            <a:pathLst>
              <a:path w="1726564" h="2317750">
                <a:moveTo>
                  <a:pt x="0" y="0"/>
                </a:moveTo>
                <a:lnTo>
                  <a:pt x="536956" y="812965"/>
                </a:lnTo>
                <a:lnTo>
                  <a:pt x="528737" y="864514"/>
                </a:lnTo>
                <a:lnTo>
                  <a:pt x="521847" y="916370"/>
                </a:lnTo>
                <a:lnTo>
                  <a:pt x="516274" y="968456"/>
                </a:lnTo>
                <a:lnTo>
                  <a:pt x="512007" y="1020691"/>
                </a:lnTo>
                <a:lnTo>
                  <a:pt x="509034" y="1072998"/>
                </a:lnTo>
                <a:lnTo>
                  <a:pt x="507341" y="1125297"/>
                </a:lnTo>
                <a:lnTo>
                  <a:pt x="506919" y="1177509"/>
                </a:lnTo>
                <a:lnTo>
                  <a:pt x="507753" y="1229556"/>
                </a:lnTo>
                <a:lnTo>
                  <a:pt x="509834" y="1281358"/>
                </a:lnTo>
                <a:lnTo>
                  <a:pt x="513148" y="1332838"/>
                </a:lnTo>
                <a:lnTo>
                  <a:pt x="517684" y="1383916"/>
                </a:lnTo>
                <a:lnTo>
                  <a:pt x="523430" y="1434513"/>
                </a:lnTo>
                <a:lnTo>
                  <a:pt x="530374" y="1484550"/>
                </a:lnTo>
                <a:lnTo>
                  <a:pt x="538503" y="1533949"/>
                </a:lnTo>
                <a:lnTo>
                  <a:pt x="547856" y="1582857"/>
                </a:lnTo>
                <a:lnTo>
                  <a:pt x="558273" y="1630517"/>
                </a:lnTo>
                <a:lnTo>
                  <a:pt x="569889" y="1677529"/>
                </a:lnTo>
                <a:lnTo>
                  <a:pt x="582643" y="1723586"/>
                </a:lnTo>
                <a:lnTo>
                  <a:pt x="596523" y="1768611"/>
                </a:lnTo>
                <a:lnTo>
                  <a:pt x="611518" y="1812525"/>
                </a:lnTo>
                <a:lnTo>
                  <a:pt x="627615" y="1855248"/>
                </a:lnTo>
                <a:lnTo>
                  <a:pt x="644802" y="1896703"/>
                </a:lnTo>
                <a:lnTo>
                  <a:pt x="663068" y="1936810"/>
                </a:lnTo>
                <a:lnTo>
                  <a:pt x="682400" y="1975490"/>
                </a:lnTo>
                <a:lnTo>
                  <a:pt x="702787" y="2012665"/>
                </a:lnTo>
                <a:lnTo>
                  <a:pt x="724217" y="2048256"/>
                </a:lnTo>
                <a:lnTo>
                  <a:pt x="752298" y="2090201"/>
                </a:lnTo>
                <a:lnTo>
                  <a:pt x="781269" y="2128556"/>
                </a:lnTo>
                <a:lnTo>
                  <a:pt x="811050" y="2163333"/>
                </a:lnTo>
                <a:lnTo>
                  <a:pt x="841560" y="2194545"/>
                </a:lnTo>
                <a:lnTo>
                  <a:pt x="872719" y="2222205"/>
                </a:lnTo>
                <a:lnTo>
                  <a:pt x="904446" y="2246327"/>
                </a:lnTo>
                <a:lnTo>
                  <a:pt x="936660" y="2266924"/>
                </a:lnTo>
                <a:lnTo>
                  <a:pt x="1002230" y="2297593"/>
                </a:lnTo>
                <a:lnTo>
                  <a:pt x="1068782" y="2314318"/>
                </a:lnTo>
                <a:lnTo>
                  <a:pt x="1102226" y="2317484"/>
                </a:lnTo>
                <a:lnTo>
                  <a:pt x="1135674" y="2317204"/>
                </a:lnTo>
                <a:lnTo>
                  <a:pt x="1202260" y="2306356"/>
                </a:lnTo>
                <a:lnTo>
                  <a:pt x="1267897" y="2281879"/>
                </a:lnTo>
                <a:lnTo>
                  <a:pt x="1331939" y="2243878"/>
                </a:lnTo>
                <a:lnTo>
                  <a:pt x="1363160" y="2219838"/>
                </a:lnTo>
                <a:lnTo>
                  <a:pt x="1393742" y="2192457"/>
                </a:lnTo>
                <a:lnTo>
                  <a:pt x="1423602" y="2161748"/>
                </a:lnTo>
                <a:lnTo>
                  <a:pt x="1452662" y="2127723"/>
                </a:lnTo>
                <a:lnTo>
                  <a:pt x="1480839" y="2090396"/>
                </a:lnTo>
                <a:lnTo>
                  <a:pt x="1508054" y="2049780"/>
                </a:lnTo>
                <a:lnTo>
                  <a:pt x="1534226" y="2005887"/>
                </a:lnTo>
                <a:lnTo>
                  <a:pt x="1559274" y="1958732"/>
                </a:lnTo>
                <a:lnTo>
                  <a:pt x="1583118" y="1908327"/>
                </a:lnTo>
                <a:lnTo>
                  <a:pt x="1601587" y="1864875"/>
                </a:lnTo>
                <a:lnTo>
                  <a:pt x="1618763" y="1820267"/>
                </a:lnTo>
                <a:lnTo>
                  <a:pt x="1634650" y="1774588"/>
                </a:lnTo>
                <a:lnTo>
                  <a:pt x="1649252" y="1727923"/>
                </a:lnTo>
                <a:lnTo>
                  <a:pt x="1662571" y="1680356"/>
                </a:lnTo>
                <a:lnTo>
                  <a:pt x="1674613" y="1631972"/>
                </a:lnTo>
                <a:lnTo>
                  <a:pt x="1685425" y="1582631"/>
                </a:lnTo>
                <a:lnTo>
                  <a:pt x="1694880" y="1533094"/>
                </a:lnTo>
                <a:lnTo>
                  <a:pt x="1703113" y="1482769"/>
                </a:lnTo>
                <a:lnTo>
                  <a:pt x="1710083" y="1431966"/>
                </a:lnTo>
                <a:lnTo>
                  <a:pt x="1715795" y="1380770"/>
                </a:lnTo>
                <a:lnTo>
                  <a:pt x="1720253" y="1329266"/>
                </a:lnTo>
                <a:lnTo>
                  <a:pt x="1723460" y="1277539"/>
                </a:lnTo>
                <a:lnTo>
                  <a:pt x="1725421" y="1225673"/>
                </a:lnTo>
                <a:lnTo>
                  <a:pt x="1726139" y="1173753"/>
                </a:lnTo>
                <a:lnTo>
                  <a:pt x="1725618" y="1121865"/>
                </a:lnTo>
                <a:lnTo>
                  <a:pt x="1723863" y="1070092"/>
                </a:lnTo>
                <a:lnTo>
                  <a:pt x="1720876" y="1018520"/>
                </a:lnTo>
                <a:lnTo>
                  <a:pt x="1716662" y="967233"/>
                </a:lnTo>
                <a:lnTo>
                  <a:pt x="1711225" y="916316"/>
                </a:lnTo>
                <a:lnTo>
                  <a:pt x="1704569" y="865855"/>
                </a:lnTo>
                <a:lnTo>
                  <a:pt x="1696697" y="815933"/>
                </a:lnTo>
                <a:lnTo>
                  <a:pt x="1687614" y="766635"/>
                </a:lnTo>
                <a:lnTo>
                  <a:pt x="1677323" y="718047"/>
                </a:lnTo>
                <a:lnTo>
                  <a:pt x="1665829" y="670253"/>
                </a:lnTo>
                <a:lnTo>
                  <a:pt x="1653134" y="623337"/>
                </a:lnTo>
                <a:lnTo>
                  <a:pt x="1639244" y="577386"/>
                </a:lnTo>
                <a:lnTo>
                  <a:pt x="1624161" y="532482"/>
                </a:lnTo>
                <a:lnTo>
                  <a:pt x="1607890" y="488712"/>
                </a:lnTo>
                <a:lnTo>
                  <a:pt x="1590435" y="446160"/>
                </a:lnTo>
                <a:lnTo>
                  <a:pt x="1583029" y="429768"/>
                </a:lnTo>
                <a:lnTo>
                  <a:pt x="649947" y="429768"/>
                </a:lnTo>
                <a:lnTo>
                  <a:pt x="0" y="0"/>
                </a:lnTo>
                <a:close/>
              </a:path>
              <a:path w="1726564" h="2317750">
                <a:moveTo>
                  <a:pt x="1130839" y="20608"/>
                </a:moveTo>
                <a:lnTo>
                  <a:pt x="1064020" y="24603"/>
                </a:lnTo>
                <a:lnTo>
                  <a:pt x="997828" y="42279"/>
                </a:lnTo>
                <a:lnTo>
                  <a:pt x="932908" y="73532"/>
                </a:lnTo>
                <a:lnTo>
                  <a:pt x="869905" y="118256"/>
                </a:lnTo>
                <a:lnTo>
                  <a:pt x="839324" y="145637"/>
                </a:lnTo>
                <a:lnTo>
                  <a:pt x="809463" y="176346"/>
                </a:lnTo>
                <a:lnTo>
                  <a:pt x="780404" y="210371"/>
                </a:lnTo>
                <a:lnTo>
                  <a:pt x="752104" y="247882"/>
                </a:lnTo>
                <a:lnTo>
                  <a:pt x="725012" y="288315"/>
                </a:lnTo>
                <a:lnTo>
                  <a:pt x="698840" y="332207"/>
                </a:lnTo>
                <a:lnTo>
                  <a:pt x="673791" y="379362"/>
                </a:lnTo>
                <a:lnTo>
                  <a:pt x="649947" y="429768"/>
                </a:lnTo>
                <a:lnTo>
                  <a:pt x="1583029" y="429768"/>
                </a:lnTo>
                <a:lnTo>
                  <a:pt x="1551987" y="365048"/>
                </a:lnTo>
                <a:lnTo>
                  <a:pt x="1531002" y="326659"/>
                </a:lnTo>
                <a:lnTo>
                  <a:pt x="1508848" y="289826"/>
                </a:lnTo>
                <a:lnTo>
                  <a:pt x="1480767" y="247882"/>
                </a:lnTo>
                <a:lnTo>
                  <a:pt x="1451796" y="209528"/>
                </a:lnTo>
                <a:lnTo>
                  <a:pt x="1422015" y="174753"/>
                </a:lnTo>
                <a:lnTo>
                  <a:pt x="1391505" y="143542"/>
                </a:lnTo>
                <a:lnTo>
                  <a:pt x="1360346" y="115882"/>
                </a:lnTo>
                <a:lnTo>
                  <a:pt x="1328619" y="91761"/>
                </a:lnTo>
                <a:lnTo>
                  <a:pt x="1296405" y="71166"/>
                </a:lnTo>
                <a:lnTo>
                  <a:pt x="1230836" y="40498"/>
                </a:lnTo>
                <a:lnTo>
                  <a:pt x="1164283" y="23774"/>
                </a:lnTo>
                <a:lnTo>
                  <a:pt x="1130839" y="20608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86200" y="1885950"/>
            <a:ext cx="1752600" cy="2526399"/>
          </a:xfrm>
          <a:custGeom>
            <a:avLst/>
            <a:gdLst/>
            <a:ahLst/>
            <a:cxnLst/>
            <a:rect l="l" t="t" r="r" b="b"/>
            <a:pathLst>
              <a:path w="1726564" h="2317750">
                <a:moveTo>
                  <a:pt x="0" y="0"/>
                </a:moveTo>
                <a:lnTo>
                  <a:pt x="649947" y="429768"/>
                </a:lnTo>
                <a:lnTo>
                  <a:pt x="673791" y="379362"/>
                </a:lnTo>
                <a:lnTo>
                  <a:pt x="698840" y="332207"/>
                </a:lnTo>
                <a:lnTo>
                  <a:pt x="725012" y="288315"/>
                </a:lnTo>
                <a:lnTo>
                  <a:pt x="752226" y="247698"/>
                </a:lnTo>
                <a:lnTo>
                  <a:pt x="780404" y="210371"/>
                </a:lnTo>
                <a:lnTo>
                  <a:pt x="809463" y="176346"/>
                </a:lnTo>
                <a:lnTo>
                  <a:pt x="839324" y="145637"/>
                </a:lnTo>
                <a:lnTo>
                  <a:pt x="869905" y="118256"/>
                </a:lnTo>
                <a:lnTo>
                  <a:pt x="901127" y="94216"/>
                </a:lnTo>
                <a:lnTo>
                  <a:pt x="965169" y="56215"/>
                </a:lnTo>
                <a:lnTo>
                  <a:pt x="1030805" y="31737"/>
                </a:lnTo>
                <a:lnTo>
                  <a:pt x="1097391" y="20888"/>
                </a:lnTo>
                <a:lnTo>
                  <a:pt x="1130839" y="20608"/>
                </a:lnTo>
                <a:lnTo>
                  <a:pt x="1164283" y="23774"/>
                </a:lnTo>
                <a:lnTo>
                  <a:pt x="1230836" y="40498"/>
                </a:lnTo>
                <a:lnTo>
                  <a:pt x="1296405" y="71166"/>
                </a:lnTo>
                <a:lnTo>
                  <a:pt x="1328619" y="91761"/>
                </a:lnTo>
                <a:lnTo>
                  <a:pt x="1360346" y="115882"/>
                </a:lnTo>
                <a:lnTo>
                  <a:pt x="1391505" y="143542"/>
                </a:lnTo>
                <a:lnTo>
                  <a:pt x="1422015" y="174753"/>
                </a:lnTo>
                <a:lnTo>
                  <a:pt x="1451796" y="209528"/>
                </a:lnTo>
                <a:lnTo>
                  <a:pt x="1480767" y="247882"/>
                </a:lnTo>
                <a:lnTo>
                  <a:pt x="1508848" y="289826"/>
                </a:lnTo>
                <a:lnTo>
                  <a:pt x="1531002" y="326659"/>
                </a:lnTo>
                <a:lnTo>
                  <a:pt x="1551987" y="365048"/>
                </a:lnTo>
                <a:lnTo>
                  <a:pt x="1571799" y="404910"/>
                </a:lnTo>
                <a:lnTo>
                  <a:pt x="1590435" y="446160"/>
                </a:lnTo>
                <a:lnTo>
                  <a:pt x="1607890" y="488712"/>
                </a:lnTo>
                <a:lnTo>
                  <a:pt x="1624161" y="532482"/>
                </a:lnTo>
                <a:lnTo>
                  <a:pt x="1639244" y="577386"/>
                </a:lnTo>
                <a:lnTo>
                  <a:pt x="1653134" y="623337"/>
                </a:lnTo>
                <a:lnTo>
                  <a:pt x="1665829" y="670253"/>
                </a:lnTo>
                <a:lnTo>
                  <a:pt x="1677323" y="718047"/>
                </a:lnTo>
                <a:lnTo>
                  <a:pt x="1687614" y="766635"/>
                </a:lnTo>
                <a:lnTo>
                  <a:pt x="1696697" y="815933"/>
                </a:lnTo>
                <a:lnTo>
                  <a:pt x="1704569" y="865855"/>
                </a:lnTo>
                <a:lnTo>
                  <a:pt x="1711225" y="916316"/>
                </a:lnTo>
                <a:lnTo>
                  <a:pt x="1716662" y="967233"/>
                </a:lnTo>
                <a:lnTo>
                  <a:pt x="1720876" y="1018520"/>
                </a:lnTo>
                <a:lnTo>
                  <a:pt x="1723863" y="1070092"/>
                </a:lnTo>
                <a:lnTo>
                  <a:pt x="1725618" y="1121865"/>
                </a:lnTo>
                <a:lnTo>
                  <a:pt x="1726139" y="1173753"/>
                </a:lnTo>
                <a:lnTo>
                  <a:pt x="1725421" y="1225673"/>
                </a:lnTo>
                <a:lnTo>
                  <a:pt x="1723460" y="1277539"/>
                </a:lnTo>
                <a:lnTo>
                  <a:pt x="1720253" y="1329266"/>
                </a:lnTo>
                <a:lnTo>
                  <a:pt x="1715795" y="1380770"/>
                </a:lnTo>
                <a:lnTo>
                  <a:pt x="1710083" y="1431966"/>
                </a:lnTo>
                <a:lnTo>
                  <a:pt x="1703113" y="1482769"/>
                </a:lnTo>
                <a:lnTo>
                  <a:pt x="1694880" y="1533094"/>
                </a:lnTo>
                <a:lnTo>
                  <a:pt x="1685382" y="1582857"/>
                </a:lnTo>
                <a:lnTo>
                  <a:pt x="1674613" y="1631972"/>
                </a:lnTo>
                <a:lnTo>
                  <a:pt x="1662571" y="1680356"/>
                </a:lnTo>
                <a:lnTo>
                  <a:pt x="1649252" y="1727923"/>
                </a:lnTo>
                <a:lnTo>
                  <a:pt x="1634650" y="1774588"/>
                </a:lnTo>
                <a:lnTo>
                  <a:pt x="1618763" y="1820267"/>
                </a:lnTo>
                <a:lnTo>
                  <a:pt x="1601587" y="1864875"/>
                </a:lnTo>
                <a:lnTo>
                  <a:pt x="1583118" y="1908327"/>
                </a:lnTo>
                <a:lnTo>
                  <a:pt x="1559274" y="1958732"/>
                </a:lnTo>
                <a:lnTo>
                  <a:pt x="1534226" y="2005887"/>
                </a:lnTo>
                <a:lnTo>
                  <a:pt x="1508054" y="2049780"/>
                </a:lnTo>
                <a:lnTo>
                  <a:pt x="1480839" y="2090396"/>
                </a:lnTo>
                <a:lnTo>
                  <a:pt x="1452662" y="2127723"/>
                </a:lnTo>
                <a:lnTo>
                  <a:pt x="1423602" y="2161748"/>
                </a:lnTo>
                <a:lnTo>
                  <a:pt x="1393742" y="2192457"/>
                </a:lnTo>
                <a:lnTo>
                  <a:pt x="1363160" y="2219838"/>
                </a:lnTo>
                <a:lnTo>
                  <a:pt x="1331939" y="2243878"/>
                </a:lnTo>
                <a:lnTo>
                  <a:pt x="1267897" y="2281879"/>
                </a:lnTo>
                <a:lnTo>
                  <a:pt x="1202260" y="2306356"/>
                </a:lnTo>
                <a:lnTo>
                  <a:pt x="1135674" y="2317204"/>
                </a:lnTo>
                <a:lnTo>
                  <a:pt x="1102226" y="2317484"/>
                </a:lnTo>
                <a:lnTo>
                  <a:pt x="1068782" y="2314318"/>
                </a:lnTo>
                <a:lnTo>
                  <a:pt x="1002230" y="2297593"/>
                </a:lnTo>
                <a:lnTo>
                  <a:pt x="936660" y="2266924"/>
                </a:lnTo>
                <a:lnTo>
                  <a:pt x="904446" y="2246327"/>
                </a:lnTo>
                <a:lnTo>
                  <a:pt x="872719" y="2222205"/>
                </a:lnTo>
                <a:lnTo>
                  <a:pt x="841560" y="2194545"/>
                </a:lnTo>
                <a:lnTo>
                  <a:pt x="811050" y="2163333"/>
                </a:lnTo>
                <a:lnTo>
                  <a:pt x="781269" y="2128556"/>
                </a:lnTo>
                <a:lnTo>
                  <a:pt x="752298" y="2090201"/>
                </a:lnTo>
                <a:lnTo>
                  <a:pt x="724217" y="2048256"/>
                </a:lnTo>
                <a:lnTo>
                  <a:pt x="702787" y="2012665"/>
                </a:lnTo>
                <a:lnTo>
                  <a:pt x="682400" y="1975490"/>
                </a:lnTo>
                <a:lnTo>
                  <a:pt x="663068" y="1936810"/>
                </a:lnTo>
                <a:lnTo>
                  <a:pt x="644802" y="1896703"/>
                </a:lnTo>
                <a:lnTo>
                  <a:pt x="627615" y="1855248"/>
                </a:lnTo>
                <a:lnTo>
                  <a:pt x="611518" y="1812525"/>
                </a:lnTo>
                <a:lnTo>
                  <a:pt x="596523" y="1768611"/>
                </a:lnTo>
                <a:lnTo>
                  <a:pt x="582643" y="1723586"/>
                </a:lnTo>
                <a:lnTo>
                  <a:pt x="569889" y="1677529"/>
                </a:lnTo>
                <a:lnTo>
                  <a:pt x="558273" y="1630517"/>
                </a:lnTo>
                <a:lnTo>
                  <a:pt x="547807" y="1582631"/>
                </a:lnTo>
                <a:lnTo>
                  <a:pt x="538503" y="1533949"/>
                </a:lnTo>
                <a:lnTo>
                  <a:pt x="530374" y="1484550"/>
                </a:lnTo>
                <a:lnTo>
                  <a:pt x="523430" y="1434513"/>
                </a:lnTo>
                <a:lnTo>
                  <a:pt x="517684" y="1383916"/>
                </a:lnTo>
                <a:lnTo>
                  <a:pt x="513148" y="1332838"/>
                </a:lnTo>
                <a:lnTo>
                  <a:pt x="509834" y="1281358"/>
                </a:lnTo>
                <a:lnTo>
                  <a:pt x="507753" y="1229556"/>
                </a:lnTo>
                <a:lnTo>
                  <a:pt x="506919" y="1177509"/>
                </a:lnTo>
                <a:lnTo>
                  <a:pt x="507341" y="1125297"/>
                </a:lnTo>
                <a:lnTo>
                  <a:pt x="509034" y="1072998"/>
                </a:lnTo>
                <a:lnTo>
                  <a:pt x="512007" y="1020691"/>
                </a:lnTo>
                <a:lnTo>
                  <a:pt x="516274" y="968456"/>
                </a:lnTo>
                <a:lnTo>
                  <a:pt x="521847" y="916370"/>
                </a:lnTo>
                <a:lnTo>
                  <a:pt x="528737" y="864514"/>
                </a:lnTo>
                <a:lnTo>
                  <a:pt x="536956" y="812965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24400" y="2266950"/>
            <a:ext cx="8382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法  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计 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什 </a:t>
            </a: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么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400" dirty="0">
              <a:latin typeface="宋体"/>
              <a:cs typeface="宋体"/>
            </a:endParaRPr>
          </a:p>
          <a:p>
            <a:pPr marL="165100">
              <a:lnSpc>
                <a:spcPct val="100000"/>
              </a:lnSpc>
            </a:pP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6400" y="3412788"/>
            <a:ext cx="3048000" cy="990600"/>
          </a:xfrm>
          <a:custGeom>
            <a:avLst/>
            <a:gdLst/>
            <a:ahLst/>
            <a:cxnLst/>
            <a:rect l="l" t="t" r="r" b="b"/>
            <a:pathLst>
              <a:path w="3048000" h="99060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2882900" y="0"/>
                </a:lnTo>
                <a:lnTo>
                  <a:pt x="2926791" y="5897"/>
                </a:lnTo>
                <a:lnTo>
                  <a:pt x="2966230" y="22540"/>
                </a:lnTo>
                <a:lnTo>
                  <a:pt x="2999644" y="48355"/>
                </a:lnTo>
                <a:lnTo>
                  <a:pt x="3025459" y="81769"/>
                </a:lnTo>
                <a:lnTo>
                  <a:pt x="3042102" y="121208"/>
                </a:lnTo>
                <a:lnTo>
                  <a:pt x="3048000" y="165100"/>
                </a:lnTo>
                <a:lnTo>
                  <a:pt x="3048000" y="825487"/>
                </a:lnTo>
                <a:lnTo>
                  <a:pt x="3042102" y="869379"/>
                </a:lnTo>
                <a:lnTo>
                  <a:pt x="3025459" y="908821"/>
                </a:lnTo>
                <a:lnTo>
                  <a:pt x="2999644" y="942238"/>
                </a:lnTo>
                <a:lnTo>
                  <a:pt x="2966230" y="968056"/>
                </a:lnTo>
                <a:lnTo>
                  <a:pt x="2926791" y="984701"/>
                </a:lnTo>
                <a:lnTo>
                  <a:pt x="2882900" y="990600"/>
                </a:lnTo>
                <a:lnTo>
                  <a:pt x="165100" y="990600"/>
                </a:lnTo>
                <a:lnTo>
                  <a:pt x="121208" y="984701"/>
                </a:lnTo>
                <a:lnTo>
                  <a:pt x="81769" y="968056"/>
                </a:lnTo>
                <a:lnTo>
                  <a:pt x="48355" y="942238"/>
                </a:lnTo>
                <a:lnTo>
                  <a:pt x="22540" y="908821"/>
                </a:lnTo>
                <a:lnTo>
                  <a:pt x="5897" y="869379"/>
                </a:lnTo>
                <a:lnTo>
                  <a:pt x="0" y="825487"/>
                </a:lnTo>
                <a:lnTo>
                  <a:pt x="0" y="165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A3A0EC5-1CA6-4551-9629-4EDBEC8ED3BB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2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180" y="971550"/>
            <a:ext cx="2887980" cy="757259"/>
          </a:xfrm>
          <a:prstGeom prst="rect">
            <a:avLst/>
          </a:prstGeom>
          <a:ln w="25146">
            <a:solidFill>
              <a:srgbClr val="C4BD9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 marR="283210">
              <a:lnSpc>
                <a:spcPts val="2830"/>
              </a:lnSpc>
              <a:spcBef>
                <a:spcPts val="305"/>
              </a:spcBef>
            </a:pP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power </a:t>
            </a:r>
            <a:r>
              <a:rPr sz="2400" spc="-5" dirty="0">
                <a:solidFill>
                  <a:srgbClr val="000000"/>
                </a:solidFill>
                <a:latin typeface="Symbol"/>
                <a:cs typeface="Symbol"/>
              </a:rPr>
              <a:t>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power </a:t>
            </a:r>
            <a:r>
              <a:rPr sz="2400" spc="20" dirty="0">
                <a:solidFill>
                  <a:srgbClr val="000000"/>
                </a:solidFill>
                <a:latin typeface="Cambria Math"/>
                <a:cs typeface="Cambria Math"/>
              </a:rPr>
              <a:t>∗ 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x  y </a:t>
            </a:r>
            <a:r>
              <a:rPr sz="2400" spc="-5" dirty="0">
                <a:solidFill>
                  <a:srgbClr val="000000"/>
                </a:solidFill>
                <a:latin typeface="Symbol"/>
                <a:cs typeface="Symbol"/>
              </a:rPr>
              <a:t>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y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+ 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  <a:r>
              <a:rPr sz="2400" dirty="0">
                <a:solidFill>
                  <a:srgbClr val="000000"/>
                </a:solidFill>
                <a:latin typeface="Cambria Math"/>
                <a:cs typeface="Cambria Math"/>
              </a:rPr>
              <a:t>∗</a:t>
            </a:r>
            <a:r>
              <a:rPr sz="2400" spc="-10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power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402" y="4017238"/>
            <a:ext cx="8184198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输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入</a:t>
            </a:r>
            <a:r>
              <a:rPr sz="2400" b="1" spc="-5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[0..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sz="2400" b="1" spc="-5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次多项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式</a:t>
            </a:r>
            <a:r>
              <a:rPr sz="2400" b="1" spc="-5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的系数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算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法</a:t>
            </a:r>
            <a:r>
              <a:rPr sz="2400" b="1" spc="-5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计算该多项式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400" b="1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的值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181734"/>
            <a:ext cx="182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对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=1,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...,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59532" y="1477422"/>
            <a:ext cx="482600" cy="179070"/>
          </a:xfrm>
          <a:custGeom>
            <a:avLst/>
            <a:gdLst/>
            <a:ahLst/>
            <a:cxnLst/>
            <a:rect l="l" t="t" r="r" b="b"/>
            <a:pathLst>
              <a:path w="482600" h="179069">
                <a:moveTo>
                  <a:pt x="392811" y="0"/>
                </a:moveTo>
                <a:lnTo>
                  <a:pt x="392811" y="44767"/>
                </a:lnTo>
                <a:lnTo>
                  <a:pt x="0" y="44767"/>
                </a:lnTo>
                <a:lnTo>
                  <a:pt x="0" y="134302"/>
                </a:lnTo>
                <a:lnTo>
                  <a:pt x="392811" y="134302"/>
                </a:lnTo>
                <a:lnTo>
                  <a:pt x="392811" y="179069"/>
                </a:lnTo>
                <a:lnTo>
                  <a:pt x="482345" y="89534"/>
                </a:lnTo>
                <a:lnTo>
                  <a:pt x="392811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359532" y="1477422"/>
            <a:ext cx="482600" cy="179070"/>
          </a:xfrm>
          <a:custGeom>
            <a:avLst/>
            <a:gdLst/>
            <a:ahLst/>
            <a:cxnLst/>
            <a:rect l="l" t="t" r="r" b="b"/>
            <a:pathLst>
              <a:path w="482600" h="179069">
                <a:moveTo>
                  <a:pt x="0" y="44767"/>
                </a:moveTo>
                <a:lnTo>
                  <a:pt x="392811" y="44767"/>
                </a:lnTo>
                <a:lnTo>
                  <a:pt x="392811" y="0"/>
                </a:lnTo>
                <a:lnTo>
                  <a:pt x="482345" y="89534"/>
                </a:lnTo>
                <a:lnTo>
                  <a:pt x="392811" y="179069"/>
                </a:lnTo>
                <a:lnTo>
                  <a:pt x="392811" y="134302"/>
                </a:lnTo>
                <a:lnTo>
                  <a:pt x="0" y="134302"/>
                </a:lnTo>
                <a:lnTo>
                  <a:pt x="0" y="44767"/>
                </a:lnTo>
                <a:close/>
              </a:path>
            </a:pathLst>
          </a:custGeom>
          <a:ln w="25146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10152"/>
              </p:ext>
            </p:extLst>
          </p:nvPr>
        </p:nvGraphicFramePr>
        <p:xfrm>
          <a:off x="2134235" y="1762342"/>
          <a:ext cx="5104765" cy="7692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138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31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power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[0]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585"/>
              </a:spcBef>
            </a:pPr>
            <a:fld id="{81D60167-4931-47E6-BA6A-407CBD079E47}" type="slidenum">
              <a:rPr spc="-5" dirty="0"/>
              <a:t>67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1457325" y="2190015"/>
            <a:ext cx="534670" cy="6739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宋体"/>
                <a:cs typeface="宋体"/>
              </a:rPr>
              <a:t>初值</a:t>
            </a:r>
            <a:endParaRPr sz="20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893ABC2-FE82-4150-980D-105D04063DE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object 8"/>
          <p:cNvSpPr txBox="1"/>
          <p:nvPr/>
        </p:nvSpPr>
        <p:spPr>
          <a:xfrm>
            <a:off x="1445254" y="2772636"/>
            <a:ext cx="53467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970" marR="131445" algn="ctr">
              <a:lnSpc>
                <a:spcPct val="100000"/>
              </a:lnSpc>
            </a:pPr>
            <a:r>
              <a:rPr sz="2000" b="1" spc="-10" dirty="0" smtClean="0">
                <a:latin typeface="宋体"/>
                <a:cs typeface="宋体"/>
              </a:rPr>
              <a:t>循 </a:t>
            </a:r>
            <a:r>
              <a:rPr sz="2000" b="1" spc="-10" dirty="0">
                <a:latin typeface="宋体"/>
                <a:cs typeface="宋体"/>
              </a:rPr>
              <a:t>环</a:t>
            </a:r>
            <a:endParaRPr sz="2000" dirty="0">
              <a:latin typeface="宋体"/>
              <a:cs typeface="宋体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94475"/>
              </p:ext>
            </p:extLst>
          </p:nvPr>
        </p:nvGraphicFramePr>
        <p:xfrm>
          <a:off x="2134234" y="2587083"/>
          <a:ext cx="5104765" cy="396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xmlns="" val="4131663915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xmlns="" val="2755639557"/>
                    </a:ext>
                  </a:extLst>
                </a:gridCol>
                <a:gridCol w="3813810">
                  <a:extLst>
                    <a:ext uri="{9D8B030D-6E8A-4147-A177-3AD203B41FA5}">
                      <a16:colId xmlns:a16="http://schemas.microsoft.com/office/drawing/2014/main" xmlns="" val="1089039129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[0] +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[1]</a:t>
                      </a:r>
                      <a:r>
                        <a:rPr sz="2000" b="1" spc="-5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81367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52602"/>
              </p:ext>
            </p:extLst>
          </p:nvPr>
        </p:nvGraphicFramePr>
        <p:xfrm>
          <a:off x="2134234" y="2996088"/>
          <a:ext cx="510476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xmlns="" val="3159128921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xmlns="" val="4105720350"/>
                    </a:ext>
                  </a:extLst>
                </a:gridCol>
                <a:gridCol w="3813810">
                  <a:extLst>
                    <a:ext uri="{9D8B030D-6E8A-4147-A177-3AD203B41FA5}">
                      <a16:colId xmlns:a16="http://schemas.microsoft.com/office/drawing/2014/main" xmlns="" val="38849248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3000" b="1" i="1" spc="7" baseline="-16666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300" b="1" spc="5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[0] + 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[1]</a:t>
                      </a:r>
                      <a:r>
                        <a:rPr sz="2000" b="1" spc="-5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000" b="1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</a:t>
                      </a:r>
                      <a:endParaRPr sz="1950" baseline="2564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77660621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365339"/>
              </p:ext>
            </p:extLst>
          </p:nvPr>
        </p:nvGraphicFramePr>
        <p:xfrm>
          <a:off x="2134233" y="3384551"/>
          <a:ext cx="510476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xmlns="" val="3458272545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xmlns="" val="3761987537"/>
                    </a:ext>
                  </a:extLst>
                </a:gridCol>
                <a:gridCol w="3813810">
                  <a:extLst>
                    <a:ext uri="{9D8B030D-6E8A-4147-A177-3AD203B41FA5}">
                      <a16:colId xmlns:a16="http://schemas.microsoft.com/office/drawing/2014/main" xmlns="" val="204741168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3000" b="1" i="1" spc="7" baseline="-16666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300" b="1" spc="5" dirty="0">
                          <a:latin typeface="Times New Roman"/>
                          <a:cs typeface="Times New Roman"/>
                        </a:rPr>
                        <a:t>3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[0] + 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[1]</a:t>
                      </a:r>
                      <a:r>
                        <a:rPr sz="2000" b="1" spc="-5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[2]</a:t>
                      </a:r>
                      <a:r>
                        <a:rPr sz="2000" b="1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[3]</a:t>
                      </a:r>
                      <a:r>
                        <a:rPr sz="2000" b="1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950" b="1" baseline="25641" dirty="0">
                          <a:latin typeface="Times New Roman"/>
                          <a:cs typeface="Times New Roman"/>
                        </a:rPr>
                        <a:t>3</a:t>
                      </a:r>
                      <a:endParaRPr sz="1950" baseline="2564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33631419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0912"/>
              </p:ext>
            </p:extLst>
          </p:nvPr>
        </p:nvGraphicFramePr>
        <p:xfrm>
          <a:off x="2134233" y="3765550"/>
          <a:ext cx="5104765" cy="33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xmlns="" val="2373301506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xmlns="" val="2479828677"/>
                    </a:ext>
                  </a:extLst>
                </a:gridCol>
                <a:gridCol w="3813810">
                  <a:extLst>
                    <a:ext uri="{9D8B030D-6E8A-4147-A177-3AD203B41FA5}">
                      <a16:colId xmlns:a16="http://schemas.microsoft.com/office/drawing/2014/main" xmlns="" val="2087974341"/>
                    </a:ext>
                  </a:extLst>
                </a:gridCol>
              </a:tblGrid>
              <a:tr h="2895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9520338"/>
                  </a:ext>
                </a:extLst>
              </a:tr>
            </a:tbl>
          </a:graphicData>
        </a:graphic>
      </p:graphicFrame>
      <p:sp>
        <p:nvSpPr>
          <p:cNvPr id="18" name="object 2"/>
          <p:cNvSpPr txBox="1">
            <a:spLocks/>
          </p:cNvSpPr>
          <p:nvPr/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宋体"/>
                <a:ea typeface="+mj-ea"/>
                <a:cs typeface="宋体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zh-CN" altLang="en-US" sz="4400" kern="0" spc="-10" dirty="0" smtClean="0">
                <a:latin typeface="黑体" pitchFamily="49" charset="-122"/>
                <a:ea typeface="黑体" pitchFamily="49" charset="-122"/>
              </a:rPr>
              <a:t>例：算法</a:t>
            </a:r>
            <a:r>
              <a:rPr lang="en-US" altLang="zh-CN" sz="4400" kern="0" dirty="0" smtClean="0"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lang="zh-CN" altLang="en-US" sz="4400" kern="0" spc="-10" dirty="0" smtClean="0">
                <a:latin typeface="黑体" pitchFamily="49" charset="-122"/>
                <a:ea typeface="黑体" pitchFamily="49" charset="-122"/>
              </a:rPr>
              <a:t>的伪</a:t>
            </a:r>
            <a:r>
              <a:rPr lang="zh-CN" altLang="en-US" sz="4400" kern="0" spc="-15" dirty="0" smtClean="0">
                <a:latin typeface="黑体" pitchFamily="49" charset="-122"/>
                <a:ea typeface="黑体" pitchFamily="49" charset="-122"/>
              </a:rPr>
              <a:t>码</a:t>
            </a:r>
            <a:endParaRPr lang="zh-CN" altLang="en-US" sz="4400" kern="0" spc="-15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193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34283"/>
            <a:ext cx="8153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小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结</a:t>
            </a:r>
            <a:endParaRPr sz="4000" spc="-15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8229600" cy="188833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用伪码表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示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算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法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55600" marR="5080" indent="-342900">
              <a:lnSpc>
                <a:spcPts val="2750"/>
              </a:lnSpc>
              <a:spcBef>
                <a:spcPts val="9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伪码不是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程</a:t>
            </a:r>
            <a:r>
              <a:rPr sz="2400" b="1" spc="5" dirty="0" err="1">
                <a:latin typeface="Times New Roman" pitchFamily="18" charset="0"/>
                <a:cs typeface="Times New Roman" pitchFamily="18" charset="0"/>
              </a:rPr>
              <a:t>序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代码，</a:t>
            </a:r>
            <a:r>
              <a:rPr sz="2400" b="1" dirty="0" err="1" smtClean="0">
                <a:latin typeface="Times New Roman" pitchFamily="18" charset="0"/>
                <a:cs typeface="Times New Roman" pitchFamily="18" charset="0"/>
              </a:rPr>
              <a:t>只是给出算法的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主要步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骤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伪码中有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哪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些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关键字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？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伪码中允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许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过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程调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用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9175771-8466-434D-9887-544DE58F2FF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77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655" y="1494790"/>
            <a:ext cx="71465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spc="-25" dirty="0"/>
              <a:t>函</a:t>
            </a:r>
            <a:r>
              <a:rPr sz="5400" spc="-10" dirty="0"/>
              <a:t>数</a:t>
            </a:r>
            <a:r>
              <a:rPr sz="5400" dirty="0"/>
              <a:t>的</a:t>
            </a:r>
            <a:r>
              <a:rPr sz="5400" spc="-10" dirty="0"/>
              <a:t>渐近的</a:t>
            </a:r>
            <a:r>
              <a:rPr sz="5400" spc="-25" dirty="0"/>
              <a:t>界</a:t>
            </a:r>
            <a:endParaRPr sz="5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B22A763-9058-4E59-B544-A94678702D3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63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40" y="1223553"/>
            <a:ext cx="8201660" cy="287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 marR="43180" algn="just">
              <a:lnSpc>
                <a:spcPct val="128000"/>
              </a:lnSpc>
              <a:spcBef>
                <a:spcPts val="130"/>
              </a:spcBef>
            </a:pPr>
            <a:r>
              <a:rPr sz="2800" b="1" spc="-5" dirty="0" err="1">
                <a:solidFill>
                  <a:srgbClr val="C00000"/>
                </a:solidFill>
                <a:latin typeface="宋体"/>
                <a:cs typeface="宋体"/>
              </a:rPr>
              <a:t>定义</a:t>
            </a:r>
            <a:r>
              <a:rPr sz="2800" b="1" spc="-5" dirty="0" err="1">
                <a:latin typeface="宋体"/>
                <a:cs typeface="宋体"/>
              </a:rPr>
              <a:t>：</a:t>
            </a:r>
            <a:r>
              <a:rPr sz="2800" b="1" spc="-10" dirty="0" err="1" smtClean="0">
                <a:latin typeface="宋体"/>
                <a:cs typeface="宋体"/>
              </a:rPr>
              <a:t>设</a:t>
            </a:r>
            <a:r>
              <a:rPr sz="2800" b="1" i="1" dirty="0" err="1" smtClean="0">
                <a:latin typeface="Times New Roman"/>
                <a:cs typeface="Times New Roman"/>
              </a:rPr>
              <a:t>f</a:t>
            </a:r>
            <a:r>
              <a:rPr sz="2800" b="1" spc="-10" dirty="0" err="1" smtClean="0">
                <a:latin typeface="宋体"/>
                <a:cs typeface="宋体"/>
              </a:rPr>
              <a:t>和</a:t>
            </a:r>
            <a:r>
              <a:rPr sz="2800" b="1" i="1" dirty="0" err="1" smtClean="0">
                <a:latin typeface="Times New Roman"/>
                <a:cs typeface="Times New Roman"/>
              </a:rPr>
              <a:t>g</a:t>
            </a:r>
            <a:r>
              <a:rPr sz="2800" b="1" spc="-10" dirty="0" err="1" smtClean="0">
                <a:latin typeface="宋体"/>
                <a:cs typeface="宋体"/>
              </a:rPr>
              <a:t>是</a:t>
            </a:r>
            <a:r>
              <a:rPr sz="2800" b="1" spc="-5" dirty="0" err="1" smtClean="0">
                <a:latin typeface="宋体"/>
                <a:cs typeface="宋体"/>
              </a:rPr>
              <a:t>定</a:t>
            </a:r>
            <a:r>
              <a:rPr sz="2800" b="1" spc="-10" dirty="0" err="1" smtClean="0">
                <a:latin typeface="宋体"/>
                <a:cs typeface="宋体"/>
              </a:rPr>
              <a:t>义</a:t>
            </a:r>
            <a:r>
              <a:rPr sz="2800" b="1" dirty="0" err="1" smtClean="0">
                <a:latin typeface="宋体"/>
                <a:cs typeface="宋体"/>
              </a:rPr>
              <a:t>域</a:t>
            </a:r>
            <a:r>
              <a:rPr sz="2800" b="1" spc="-5" dirty="0" err="1" smtClean="0">
                <a:latin typeface="宋体"/>
                <a:cs typeface="宋体"/>
              </a:rPr>
              <a:t>为自然数</a:t>
            </a:r>
            <a:r>
              <a:rPr sz="2800" b="1" spc="-10" dirty="0" err="1" smtClean="0">
                <a:latin typeface="宋体"/>
                <a:cs typeface="宋体"/>
              </a:rPr>
              <a:t>集</a:t>
            </a:r>
            <a:r>
              <a:rPr lang="en-US" sz="2800" b="1" spc="-10" dirty="0" smtClean="0">
                <a:latin typeface="宋体"/>
                <a:cs typeface="宋体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N</a:t>
            </a:r>
            <a:r>
              <a:rPr lang="en-US" sz="2800" b="1" spc="-5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宋体"/>
                <a:cs typeface="宋体"/>
              </a:rPr>
              <a:t>上的函数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5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若</a:t>
            </a:r>
            <a:r>
              <a:rPr sz="2800" b="1" spc="-10" dirty="0">
                <a:latin typeface="宋体"/>
                <a:cs typeface="宋体"/>
              </a:rPr>
              <a:t>存</a:t>
            </a:r>
            <a:r>
              <a:rPr sz="2800" b="1" spc="-5" dirty="0">
                <a:latin typeface="宋体"/>
                <a:cs typeface="宋体"/>
              </a:rPr>
              <a:t>在正</a:t>
            </a:r>
            <a:r>
              <a:rPr sz="2800" b="1" spc="-10" dirty="0">
                <a:latin typeface="宋体"/>
                <a:cs typeface="宋体"/>
              </a:rPr>
              <a:t>数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和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 smtClean="0">
                <a:latin typeface="宋体"/>
                <a:cs typeface="宋体"/>
              </a:rPr>
              <a:t>使得对一</a:t>
            </a:r>
            <a:r>
              <a:rPr sz="2800" b="1" spc="-10" dirty="0" smtClean="0">
                <a:latin typeface="宋体"/>
                <a:cs typeface="宋体"/>
              </a:rPr>
              <a:t>切</a:t>
            </a:r>
            <a:r>
              <a:rPr sz="2800" b="1" spc="-600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10" dirty="0" smtClean="0">
                <a:latin typeface="宋体"/>
                <a:cs typeface="宋体"/>
              </a:rPr>
              <a:t>有</a:t>
            </a:r>
            <a:endParaRPr lang="en-US" sz="2800" dirty="0">
              <a:latin typeface="宋体"/>
              <a:cs typeface="宋体"/>
            </a:endParaRPr>
          </a:p>
          <a:p>
            <a:pPr marL="63500" marR="43180" algn="ctr">
              <a:lnSpc>
                <a:spcPct val="128000"/>
              </a:lnSpc>
              <a:spcBef>
                <a:spcPts val="130"/>
              </a:spcBef>
            </a:pPr>
            <a:r>
              <a:rPr sz="2800" b="1" dirty="0" smtClean="0">
                <a:latin typeface="Times New Roman"/>
                <a:cs typeface="Times New Roman"/>
              </a:rPr>
              <a:t>0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63500" marR="58419" algn="just">
              <a:lnSpc>
                <a:spcPct val="120000"/>
              </a:lnSpc>
              <a:spcBef>
                <a:spcPts val="645"/>
              </a:spcBef>
            </a:pPr>
            <a:r>
              <a:rPr sz="2800" b="1" spc="-5" dirty="0">
                <a:latin typeface="宋体"/>
                <a:cs typeface="宋体"/>
              </a:rPr>
              <a:t>成立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则</a:t>
            </a:r>
            <a:r>
              <a:rPr sz="2800" b="1" spc="-10" dirty="0">
                <a:latin typeface="宋体"/>
                <a:cs typeface="宋体"/>
              </a:rPr>
              <a:t>称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的</a:t>
            </a:r>
            <a:r>
              <a:rPr sz="2800" b="1" spc="-5" dirty="0">
                <a:latin typeface="宋体"/>
                <a:cs typeface="宋体"/>
              </a:rPr>
              <a:t>渐近的上界</a:t>
            </a:r>
            <a:r>
              <a:rPr sz="2800" b="1" spc="-10" dirty="0">
                <a:latin typeface="宋体"/>
                <a:cs typeface="宋体"/>
              </a:rPr>
              <a:t>是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， </a:t>
            </a:r>
            <a:r>
              <a:rPr sz="2800" b="1" spc="-5" dirty="0" err="1" smtClean="0">
                <a:latin typeface="宋体"/>
                <a:cs typeface="宋体"/>
              </a:rPr>
              <a:t>记</a:t>
            </a:r>
            <a:r>
              <a:rPr sz="2800" b="1" spc="-10" dirty="0" err="1" smtClean="0">
                <a:latin typeface="宋体"/>
                <a:cs typeface="宋体"/>
              </a:rPr>
              <a:t>作</a:t>
            </a:r>
            <a:endParaRPr lang="en-US" sz="2800" dirty="0">
              <a:latin typeface="宋体"/>
              <a:cs typeface="宋体"/>
            </a:endParaRPr>
          </a:p>
          <a:p>
            <a:pPr marL="63500" marR="58419" algn="ctr">
              <a:lnSpc>
                <a:spcPct val="120000"/>
              </a:lnSpc>
              <a:spcBef>
                <a:spcPts val="645"/>
              </a:spcBef>
            </a:pPr>
            <a:r>
              <a:rPr sz="2800" b="1" i="1" dirty="0" smtClean="0">
                <a:latin typeface="Times New Roman"/>
                <a:cs typeface="Times New Roman"/>
              </a:rPr>
              <a:t>f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))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940" y="266332"/>
            <a:ext cx="82778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黑体" pitchFamily="49" charset="-122"/>
                <a:ea typeface="黑体" pitchFamily="49" charset="-122"/>
              </a:rPr>
              <a:t>大</a:t>
            </a:r>
            <a:r>
              <a:rPr sz="4400" i="1" dirty="0">
                <a:latin typeface="黑体" pitchFamily="49" charset="-122"/>
                <a:ea typeface="黑体" pitchFamily="49" charset="-122"/>
                <a:cs typeface="Times New Roman"/>
              </a:rPr>
              <a:t>O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符号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698C2C6-9E66-4541-B25F-2354F120D05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1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226313"/>
            <a:ext cx="8305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黑体" pitchFamily="49" charset="-122"/>
                <a:ea typeface="黑体" pitchFamily="49" charset="-122"/>
              </a:rPr>
              <a:t>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8305800" cy="341375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0"/>
              </a:spcBef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设</a:t>
            </a:r>
            <a:r>
              <a:rPr sz="2800" b="1" spc="-6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24305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800" b="1" spc="7" baseline="243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，则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81330">
              <a:lnSpc>
                <a:spcPct val="100000"/>
              </a:lnSpc>
              <a:spcBef>
                <a:spcPts val="900"/>
              </a:spcBef>
            </a:pP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24305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)，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取</a:t>
            </a:r>
            <a:r>
              <a:rPr sz="2800" b="1" spc="-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2，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b="1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sz="28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即可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81330">
              <a:lnSpc>
                <a:spcPct val="100000"/>
              </a:lnSpc>
              <a:spcAft>
                <a:spcPts val="1200"/>
              </a:spcAft>
            </a:pP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24305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)，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取</a:t>
            </a:r>
            <a:r>
              <a:rPr sz="2800" b="1" spc="-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1，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b="1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=2</a:t>
            </a:r>
            <a:r>
              <a:rPr sz="28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cs typeface="Times New Roman" pitchFamily="18" charset="0"/>
              </a:rPr>
              <a:t>即可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05130" indent="-380365">
              <a:lnSpc>
                <a:spcPct val="100000"/>
              </a:lnSpc>
              <a:buFont typeface="Times New Roman"/>
              <a:buAutoNum type="arabicPeriod"/>
              <a:tabLst>
                <a:tab pos="405130" algn="l"/>
                <a:tab pos="405765" algn="l"/>
              </a:tabLst>
            </a:pP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))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的阶不高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于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阶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28930" indent="-304165">
              <a:lnSpc>
                <a:spcPct val="100000"/>
              </a:lnSpc>
              <a:buFont typeface="Times New Roman"/>
              <a:buAutoNum type="arabicPeriod"/>
              <a:tabLst>
                <a:tab pos="329565" algn="l"/>
              </a:tabLst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可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能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存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多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正</a:t>
            </a:r>
            <a:r>
              <a:rPr sz="2800" b="1" spc="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，只要指出一个即可.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28930" indent="-304165">
              <a:lnSpc>
                <a:spcPct val="100000"/>
              </a:lnSpc>
              <a:buFont typeface="Times New Roman"/>
              <a:buAutoNum type="arabicPeriod"/>
              <a:tabLst>
                <a:tab pos="329565" algn="l"/>
              </a:tabLst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前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面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限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值可以不满足不等</a:t>
            </a:r>
            <a:r>
              <a:rPr sz="2800" b="1" spc="25" dirty="0">
                <a:latin typeface="Times New Roman" pitchFamily="18" charset="0"/>
                <a:cs typeface="Times New Roman" pitchFamily="18" charset="0"/>
              </a:rPr>
              <a:t>式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328930" indent="-304165">
              <a:lnSpc>
                <a:spcPct val="100000"/>
              </a:lnSpc>
              <a:buFont typeface="Times New Roman"/>
              <a:buAutoNum type="arabicPeriod"/>
              <a:tabLst>
                <a:tab pos="329565" algn="l"/>
              </a:tabLst>
            </a:pPr>
            <a:r>
              <a:rPr sz="2800" b="1" spc="-10" dirty="0" err="1">
                <a:latin typeface="Times New Roman" pitchFamily="18" charset="0"/>
                <a:cs typeface="Times New Roman" pitchFamily="18" charset="0"/>
              </a:rPr>
              <a:t>常函数</a:t>
            </a:r>
            <a:r>
              <a:rPr sz="2800" b="1" dirty="0" err="1">
                <a:latin typeface="Times New Roman" pitchFamily="18" charset="0"/>
                <a:cs typeface="Times New Roman" pitchFamily="18" charset="0"/>
              </a:rPr>
              <a:t>可</a:t>
            </a:r>
            <a:r>
              <a:rPr sz="2800" b="1" spc="-5" dirty="0" err="1">
                <a:latin typeface="Times New Roman" pitchFamily="18" charset="0"/>
                <a:cs typeface="Times New Roman" pitchFamily="18" charset="0"/>
              </a:rPr>
              <a:t>以</a:t>
            </a:r>
            <a:r>
              <a:rPr sz="2800" b="1" dirty="0" err="1">
                <a:latin typeface="Times New Roman" pitchFamily="18" charset="0"/>
                <a:cs typeface="Times New Roman" pitchFamily="18" charset="0"/>
              </a:rPr>
              <a:t>写</a:t>
            </a:r>
            <a:r>
              <a:rPr sz="2800" b="1" spc="5" dirty="0" err="1">
                <a:latin typeface="Times New Roman" pitchFamily="18" charset="0"/>
                <a:cs typeface="Times New Roman" pitchFamily="18" charset="0"/>
              </a:rPr>
              <a:t>作</a:t>
            </a:r>
            <a:r>
              <a:rPr sz="2800" b="1" i="1" dirty="0" err="1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(1</a:t>
            </a:r>
            <a:r>
              <a:rPr sz="2800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69F2991-1B1D-414D-9345-45384E5C68EF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21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25990"/>
            <a:ext cx="8229600" cy="286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21590">
              <a:lnSpc>
                <a:spcPct val="131300"/>
              </a:lnSpc>
              <a:spcBef>
                <a:spcPts val="95"/>
              </a:spcBef>
              <a:tabLst>
                <a:tab pos="1656714" algn="l"/>
                <a:tab pos="1699260" algn="l"/>
              </a:tabLst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定义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10" dirty="0">
                <a:latin typeface="宋体"/>
                <a:cs typeface="宋体"/>
              </a:rPr>
              <a:t>设</a:t>
            </a:r>
            <a:r>
              <a:rPr sz="2800" b="1" spc="1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	</a:t>
            </a:r>
            <a:r>
              <a:rPr sz="2800" b="1" spc="-10" dirty="0">
                <a:latin typeface="宋体"/>
                <a:cs typeface="宋体"/>
              </a:rPr>
              <a:t>和</a:t>
            </a:r>
            <a:r>
              <a:rPr sz="2800" b="1" spc="-690" dirty="0">
                <a:latin typeface="宋体"/>
                <a:cs typeface="宋体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g</a:t>
            </a:r>
            <a:r>
              <a:rPr sz="2800" b="1" spc="-10" dirty="0" err="1" smtClean="0">
                <a:latin typeface="宋体"/>
                <a:cs typeface="宋体"/>
              </a:rPr>
              <a:t>是</a:t>
            </a:r>
            <a:r>
              <a:rPr sz="2800" b="1" spc="-5" dirty="0" err="1" smtClean="0">
                <a:latin typeface="宋体"/>
                <a:cs typeface="宋体"/>
              </a:rPr>
              <a:t>定</a:t>
            </a:r>
            <a:r>
              <a:rPr sz="2800" b="1" spc="-10" dirty="0" err="1" smtClean="0">
                <a:latin typeface="宋体"/>
                <a:cs typeface="宋体"/>
              </a:rPr>
              <a:t>义</a:t>
            </a:r>
            <a:r>
              <a:rPr sz="2800" b="1" dirty="0" err="1" smtClean="0">
                <a:latin typeface="宋体"/>
                <a:cs typeface="宋体"/>
              </a:rPr>
              <a:t>域</a:t>
            </a:r>
            <a:r>
              <a:rPr sz="2800" b="1" spc="-5" dirty="0" err="1" smtClean="0">
                <a:latin typeface="宋体"/>
                <a:cs typeface="宋体"/>
              </a:rPr>
              <a:t>为自然数</a:t>
            </a:r>
            <a:r>
              <a:rPr sz="2800" b="1" spc="-10" dirty="0" err="1" smtClean="0">
                <a:latin typeface="宋体"/>
                <a:cs typeface="宋体"/>
              </a:rPr>
              <a:t>集</a:t>
            </a:r>
            <a:r>
              <a:rPr lang="en-US" sz="2800" b="1" spc="-10" dirty="0" smtClean="0">
                <a:latin typeface="宋体"/>
                <a:cs typeface="宋体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N</a:t>
            </a:r>
            <a:r>
              <a:rPr lang="en-US" sz="2800" b="1" spc="-5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宋体"/>
                <a:cs typeface="宋体"/>
              </a:rPr>
              <a:t>上的函数</a:t>
            </a:r>
            <a:r>
              <a:rPr sz="2800" b="1" dirty="0" smtClean="0">
                <a:latin typeface="Times New Roman"/>
                <a:cs typeface="Times New Roman"/>
              </a:rPr>
              <a:t>.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r>
              <a:rPr lang="en-US" sz="2800" b="1" dirty="0" smtClean="0"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latin typeface="宋体"/>
                <a:cs typeface="宋体"/>
              </a:rPr>
              <a:t>若</a:t>
            </a:r>
            <a:r>
              <a:rPr sz="2800" b="1" spc="-5" dirty="0" err="1" smtClean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存</a:t>
            </a:r>
            <a:r>
              <a:rPr sz="2800" b="1" spc="-10" dirty="0" err="1" smtClean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在</a:t>
            </a:r>
            <a:r>
              <a:rPr sz="2800" b="1" dirty="0" err="1" smtClean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正</a:t>
            </a:r>
            <a:r>
              <a:rPr sz="2800" b="1" spc="-10" dirty="0" err="1" smtClean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数</a:t>
            </a:r>
            <a:r>
              <a:rPr sz="2800" b="1" spc="-595" dirty="0" smtClean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i="1" spc="-2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10" dirty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和</a:t>
            </a:r>
            <a:r>
              <a:rPr sz="2800" b="1" spc="-615" dirty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 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 smtClean="0">
                <a:latin typeface="宋体"/>
                <a:cs typeface="宋体"/>
              </a:rPr>
              <a:t>使得对一</a:t>
            </a:r>
            <a:r>
              <a:rPr sz="2800" b="1" spc="-10" dirty="0" smtClean="0">
                <a:latin typeface="宋体"/>
                <a:cs typeface="宋体"/>
              </a:rPr>
              <a:t>切</a:t>
            </a:r>
            <a:r>
              <a:rPr sz="2800" b="1" spc="-590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10" dirty="0">
                <a:latin typeface="宋体"/>
                <a:cs typeface="宋体"/>
              </a:rPr>
              <a:t>有</a:t>
            </a:r>
            <a:endParaRPr sz="2800" dirty="0">
              <a:latin typeface="宋体"/>
              <a:cs typeface="宋体"/>
            </a:endParaRPr>
          </a:p>
          <a:p>
            <a:pPr marL="1369060">
              <a:lnSpc>
                <a:spcPct val="100000"/>
              </a:lnSpc>
              <a:spcBef>
                <a:spcPts val="1185"/>
              </a:spcBef>
            </a:pPr>
            <a:r>
              <a:rPr lang="en-US"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           </a:t>
            </a:r>
            <a:r>
              <a:rPr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385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0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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cg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</a:t>
            </a:r>
            <a:r>
              <a:rPr sz="2800" b="1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795"/>
              </a:spcBef>
              <a:tabLst>
                <a:tab pos="865505" algn="l"/>
              </a:tabLst>
            </a:pPr>
            <a:r>
              <a:rPr sz="2800" b="1" spc="-5" dirty="0">
                <a:latin typeface="宋体"/>
                <a:cs typeface="宋体"/>
              </a:rPr>
              <a:t>成立</a:t>
            </a:r>
            <a:r>
              <a:rPr sz="2800" b="1" dirty="0">
                <a:latin typeface="Times New Roman"/>
                <a:cs typeface="Times New Roman"/>
              </a:rPr>
              <a:t>,	</a:t>
            </a:r>
            <a:r>
              <a:rPr sz="2800" b="1" spc="-5" dirty="0">
                <a:latin typeface="宋体"/>
                <a:cs typeface="宋体"/>
              </a:rPr>
              <a:t>则</a:t>
            </a:r>
            <a:r>
              <a:rPr sz="2800" b="1" spc="-10" dirty="0">
                <a:latin typeface="宋体"/>
                <a:cs typeface="宋体"/>
              </a:rPr>
              <a:t>称</a:t>
            </a:r>
            <a:r>
              <a:rPr sz="2800" b="1" spc="-61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的</a:t>
            </a:r>
            <a:r>
              <a:rPr sz="2800" b="1" spc="-5" dirty="0">
                <a:latin typeface="宋体"/>
                <a:cs typeface="宋体"/>
              </a:rPr>
              <a:t>渐近的下界</a:t>
            </a:r>
            <a:r>
              <a:rPr sz="2800" b="1" spc="-10" dirty="0">
                <a:latin typeface="宋体"/>
                <a:cs typeface="宋体"/>
              </a:rPr>
              <a:t>是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),</a:t>
            </a:r>
            <a:r>
              <a:rPr sz="2800" b="1" spc="-5" dirty="0" err="1" smtClean="0">
                <a:latin typeface="宋体"/>
                <a:cs typeface="宋体"/>
              </a:rPr>
              <a:t>记作</a:t>
            </a:r>
            <a:endParaRPr sz="2800" dirty="0">
              <a:latin typeface="宋体"/>
              <a:cs typeface="宋体"/>
            </a:endParaRPr>
          </a:p>
          <a:p>
            <a:pPr marL="1548765">
              <a:lnSpc>
                <a:spcPct val="100000"/>
              </a:lnSpc>
              <a:spcBef>
                <a:spcPts val="380"/>
              </a:spcBef>
            </a:pPr>
            <a:r>
              <a:rPr lang="en-US" sz="2800" b="1" i="1" dirty="0" smtClean="0">
                <a:latin typeface="Times New Roman"/>
                <a:cs typeface="Times New Roman"/>
              </a:rPr>
              <a:t>             </a:t>
            </a:r>
            <a:r>
              <a:rPr sz="2800" b="1" i="1" dirty="0" smtClean="0">
                <a:latin typeface="Times New Roman"/>
                <a:cs typeface="Times New Roman"/>
              </a:rPr>
              <a:t>f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80" dirty="0">
                <a:latin typeface="Symbol"/>
                <a:cs typeface="Symbol"/>
              </a:rPr>
              <a:t>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))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264408"/>
            <a:ext cx="8229600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  <a:tabLst>
                <a:tab pos="1168400" algn="l"/>
              </a:tabLst>
            </a:pPr>
            <a:r>
              <a:rPr sz="4400" spc="-15" dirty="0" err="1"/>
              <a:t>大</a:t>
            </a:r>
            <a:r>
              <a:rPr sz="4400" i="1" spc="-155" dirty="0" err="1" smtClean="0">
                <a:latin typeface="Symbol"/>
                <a:cs typeface="Symbol"/>
              </a:rPr>
              <a:t></a:t>
            </a:r>
            <a:r>
              <a:rPr sz="4400" spc="-15" dirty="0" err="1" smtClean="0"/>
              <a:t>符号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953DE49-70A2-4844-843E-84D6D08B2F96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54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1200150"/>
            <a:ext cx="8239760" cy="3358612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30"/>
              </a:spcBef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设</a:t>
            </a:r>
            <a:r>
              <a:rPr sz="2800" b="1" spc="-6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24305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800" b="1" spc="7" baseline="243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，则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05130">
              <a:lnSpc>
                <a:spcPct val="100000"/>
              </a:lnSpc>
              <a:spcBef>
                <a:spcPts val="800"/>
              </a:spcBef>
              <a:tabLst>
                <a:tab pos="2219960" algn="l"/>
              </a:tabLst>
            </a:pP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24305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),	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取</a:t>
            </a:r>
            <a:r>
              <a:rPr sz="28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1,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b="1" spc="-15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即可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05130">
              <a:lnSpc>
                <a:spcPct val="100000"/>
              </a:lnSpc>
              <a:spcBef>
                <a:spcPts val="780"/>
              </a:spcBef>
              <a:tabLst>
                <a:tab pos="4112895" algn="l"/>
              </a:tabLst>
            </a:pP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sz="2800" b="1" spc="-5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100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),</a:t>
            </a:r>
            <a:r>
              <a:rPr sz="2800" b="1" spc="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取</a:t>
            </a:r>
            <a:r>
              <a:rPr sz="2800" b="1" spc="-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=1/100,	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7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b="1" baseline="-208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即可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81330" indent="-380365">
              <a:lnSpc>
                <a:spcPct val="100000"/>
              </a:lnSpc>
              <a:spcBef>
                <a:spcPts val="2640"/>
              </a:spcBef>
              <a:buFont typeface="Times New Roman"/>
              <a:buAutoNum type="arabicPeriod"/>
              <a:tabLst>
                <a:tab pos="481330" algn="l"/>
                <a:tab pos="481965" algn="l"/>
              </a:tabLst>
            </a:pP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2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2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20" dirty="0" smtClean="0">
                <a:latin typeface="Times New Roman" pitchFamily="18" charset="0"/>
                <a:cs typeface="Times New Roman" pitchFamily="18" charset="0"/>
              </a:rPr>
              <a:t>)=</a:t>
            </a:r>
            <a:r>
              <a:rPr sz="2800" b="1" i="1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))，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的阶不低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于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)的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阶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05130" indent="-30416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05765" algn="l"/>
              </a:tabLst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可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能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存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多</a:t>
            </a: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正</a:t>
            </a:r>
            <a:r>
              <a:rPr sz="2800" b="1" spc="10" dirty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，指出一个即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可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405130" indent="-304165">
              <a:lnSpc>
                <a:spcPct val="100000"/>
              </a:lnSpc>
              <a:spcBef>
                <a:spcPts val="505"/>
              </a:spcBef>
              <a:buFont typeface="Times New Roman"/>
              <a:buAutoNum type="arabicPeriod"/>
              <a:tabLst>
                <a:tab pos="405765" algn="l"/>
              </a:tabLst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前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面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有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限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sz="2800" b="1" spc="-6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值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可以不满足上述不等</a:t>
            </a:r>
            <a:r>
              <a:rPr sz="2800" b="1" spc="15" dirty="0">
                <a:latin typeface="Times New Roman" pitchFamily="18" charset="0"/>
                <a:cs typeface="Times New Roman" pitchFamily="18" charset="0"/>
              </a:rPr>
              <a:t>式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266332"/>
            <a:ext cx="8229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例子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B09C601-60C1-45EE-B92B-F52A0C97B07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00150"/>
            <a:ext cx="8229600" cy="2882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30480" algn="just">
              <a:lnSpc>
                <a:spcPct val="1313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定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义</a:t>
            </a:r>
            <a:r>
              <a:rPr sz="2800" b="1" spc="-2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latin typeface="宋体"/>
                <a:cs typeface="宋体"/>
              </a:rPr>
              <a:t>设</a:t>
            </a:r>
            <a:r>
              <a:rPr sz="2800" b="1" spc="-2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和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g</a:t>
            </a:r>
            <a:r>
              <a:rPr sz="2800" b="1" spc="-10" dirty="0" err="1" smtClean="0">
                <a:latin typeface="宋体"/>
                <a:cs typeface="宋体"/>
              </a:rPr>
              <a:t>是</a:t>
            </a:r>
            <a:r>
              <a:rPr sz="2800" b="1" spc="-5" dirty="0" err="1" smtClean="0">
                <a:latin typeface="宋体"/>
                <a:cs typeface="宋体"/>
              </a:rPr>
              <a:t>定</a:t>
            </a:r>
            <a:r>
              <a:rPr sz="2800" b="1" spc="-10" dirty="0" err="1" smtClean="0">
                <a:latin typeface="宋体"/>
                <a:cs typeface="宋体"/>
              </a:rPr>
              <a:t>义</a:t>
            </a:r>
            <a:r>
              <a:rPr sz="2800" b="1" dirty="0" err="1" smtClean="0">
                <a:latin typeface="宋体"/>
                <a:cs typeface="宋体"/>
              </a:rPr>
              <a:t>域</a:t>
            </a:r>
            <a:r>
              <a:rPr sz="2800" b="1" spc="-5" dirty="0" err="1" smtClean="0">
                <a:latin typeface="宋体"/>
                <a:cs typeface="宋体"/>
              </a:rPr>
              <a:t>为自然数</a:t>
            </a:r>
            <a:r>
              <a:rPr sz="2800" b="1" spc="-10" dirty="0" err="1" smtClean="0">
                <a:latin typeface="宋体"/>
                <a:cs typeface="宋体"/>
              </a:rPr>
              <a:t>集</a:t>
            </a:r>
            <a:r>
              <a:rPr lang="en-US" sz="2800" b="1" spc="-10" dirty="0" smtClean="0">
                <a:latin typeface="宋体"/>
                <a:cs typeface="宋体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N</a:t>
            </a:r>
            <a:r>
              <a:rPr lang="en-US" sz="2800" b="1" spc="-5" dirty="0" smtClean="0"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latin typeface="宋体"/>
                <a:cs typeface="宋体"/>
              </a:rPr>
              <a:t>上</a:t>
            </a:r>
            <a:r>
              <a:rPr sz="2800" b="1" spc="-5" dirty="0" err="1" smtClean="0">
                <a:latin typeface="宋体"/>
                <a:cs typeface="宋体"/>
              </a:rPr>
              <a:t>的函数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若</a:t>
            </a:r>
            <a:r>
              <a:rPr sz="2800" b="1" spc="-10" dirty="0">
                <a:latin typeface="宋体"/>
                <a:cs typeface="宋体"/>
              </a:rPr>
              <a:t>对</a:t>
            </a:r>
            <a:r>
              <a:rPr sz="2800" b="1" dirty="0">
                <a:latin typeface="宋体"/>
                <a:cs typeface="宋体"/>
              </a:rPr>
              <a:t>于</a:t>
            </a:r>
            <a:r>
              <a:rPr sz="2800" b="1" spc="-5" dirty="0">
                <a:latin typeface="宋体"/>
                <a:cs typeface="宋体"/>
              </a:rPr>
              <a:t>任意正</a:t>
            </a:r>
            <a:r>
              <a:rPr sz="2800" b="1" spc="-10" dirty="0">
                <a:latin typeface="宋体"/>
                <a:cs typeface="宋体"/>
              </a:rPr>
              <a:t>数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都存</a:t>
            </a:r>
            <a:r>
              <a:rPr sz="2800" b="1" spc="-10" dirty="0">
                <a:latin typeface="宋体"/>
                <a:cs typeface="宋体"/>
              </a:rPr>
              <a:t>在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10" dirty="0" smtClean="0">
                <a:latin typeface="宋体"/>
                <a:cs typeface="宋体"/>
              </a:rPr>
              <a:t>使</a:t>
            </a:r>
            <a:r>
              <a:rPr sz="2800" b="1" spc="-5" dirty="0" smtClean="0">
                <a:latin typeface="宋体"/>
                <a:cs typeface="宋体"/>
              </a:rPr>
              <a:t>得对一</a:t>
            </a:r>
            <a:r>
              <a:rPr sz="2800" b="1" spc="-10" dirty="0" smtClean="0">
                <a:latin typeface="宋体"/>
                <a:cs typeface="宋体"/>
              </a:rPr>
              <a:t>切</a:t>
            </a:r>
            <a:r>
              <a:rPr sz="2800" b="1" spc="-590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10" dirty="0">
                <a:latin typeface="宋体"/>
                <a:cs typeface="宋体"/>
              </a:rPr>
              <a:t>有</a:t>
            </a:r>
            <a:endParaRPr sz="2800" dirty="0">
              <a:latin typeface="宋体"/>
              <a:cs typeface="宋体"/>
            </a:endParaRPr>
          </a:p>
          <a:p>
            <a:pPr marR="256540" algn="ctr">
              <a:lnSpc>
                <a:spcPct val="100000"/>
              </a:lnSpc>
              <a:spcBef>
                <a:spcPts val="1185"/>
              </a:spcBef>
            </a:pP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38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0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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&lt;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i="1" spc="-2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  <a:spcBef>
                <a:spcPts val="1795"/>
              </a:spcBef>
            </a:pPr>
            <a:r>
              <a:rPr sz="2800" b="1" spc="-5" dirty="0">
                <a:latin typeface="宋体"/>
                <a:cs typeface="宋体"/>
              </a:rPr>
              <a:t>成立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宋体"/>
                <a:cs typeface="宋体"/>
              </a:rPr>
              <a:t>则记作</a:t>
            </a:r>
            <a:endParaRPr sz="2800" dirty="0">
              <a:latin typeface="宋体"/>
              <a:cs typeface="宋体"/>
            </a:endParaRPr>
          </a:p>
          <a:p>
            <a:pPr marR="99695" algn="ctr">
              <a:lnSpc>
                <a:spcPct val="100000"/>
              </a:lnSpc>
              <a:spcBef>
                <a:spcPts val="475"/>
              </a:spcBef>
            </a:pPr>
            <a:r>
              <a:rPr sz="2800" b="1" i="1" dirty="0">
                <a:latin typeface="Times New Roman"/>
                <a:cs typeface="Times New Roman"/>
              </a:rPr>
              <a:t>f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8153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Times New Roman" pitchFamily="18" charset="0"/>
                <a:cs typeface="Times New Roman" pitchFamily="18" charset="0"/>
              </a:rPr>
              <a:t>小</a:t>
            </a:r>
            <a:r>
              <a:rPr sz="4400" i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4400" spc="-15" dirty="0">
                <a:latin typeface="Times New Roman" pitchFamily="18" charset="0"/>
                <a:cs typeface="Times New Roman" pitchFamily="18" charset="0"/>
              </a:rPr>
              <a:t>符号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DCAF707-8B2B-48FF-94C7-38052908EF1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44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941" y="266973"/>
            <a:ext cx="827785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210649"/>
            <a:ext cx="8430260" cy="3575208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969"/>
              </a:spcBef>
            </a:pPr>
            <a:r>
              <a:rPr sz="2400" b="1" spc="-10" dirty="0">
                <a:latin typeface="宋体"/>
                <a:cs typeface="宋体"/>
              </a:rPr>
              <a:t>例子</a:t>
            </a:r>
            <a:r>
              <a:rPr sz="2400" b="1" spc="-5" dirty="0">
                <a:latin typeface="宋体"/>
                <a:cs typeface="宋体"/>
              </a:rPr>
              <a:t>：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)=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+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dirty="0">
                <a:latin typeface="宋体"/>
                <a:cs typeface="宋体"/>
              </a:rPr>
              <a:t>则</a:t>
            </a:r>
            <a:endParaRPr sz="2400" dirty="0">
              <a:latin typeface="宋体"/>
              <a:cs typeface="宋体"/>
            </a:endParaRPr>
          </a:p>
          <a:p>
            <a:pPr marL="1129030">
              <a:lnSpc>
                <a:spcPct val="100000"/>
              </a:lnSpc>
              <a:spcBef>
                <a:spcPts val="869"/>
              </a:spcBef>
            </a:pPr>
            <a:r>
              <a:rPr lang="en-US" sz="2400" b="1" i="1" spc="-5" dirty="0" smtClean="0">
                <a:latin typeface="Times New Roman"/>
                <a:cs typeface="Times New Roman"/>
              </a:rPr>
              <a:t>                        </a:t>
            </a: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)=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3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5" dirty="0">
                <a:latin typeface="宋体"/>
                <a:cs typeface="宋体"/>
              </a:rPr>
              <a:t>显然成立，因为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+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&lt;</a:t>
            </a:r>
            <a:r>
              <a:rPr sz="2400" b="1" i="1" spc="-5" dirty="0">
                <a:latin typeface="Times New Roman"/>
                <a:cs typeface="Times New Roman"/>
              </a:rPr>
              <a:t>cn</a:t>
            </a:r>
            <a:r>
              <a:rPr sz="2400" b="1" spc="-7" baseline="24305" dirty="0">
                <a:latin typeface="Times New Roman"/>
                <a:cs typeface="Times New Roman"/>
              </a:rPr>
              <a:t>3</a:t>
            </a:r>
            <a:r>
              <a:rPr sz="2400" b="1" spc="-5" dirty="0">
                <a:latin typeface="宋体"/>
                <a:cs typeface="宋体"/>
              </a:rPr>
              <a:t>（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i="1" spc="-5" dirty="0">
                <a:latin typeface="Times New Roman"/>
                <a:cs typeface="Times New Roman"/>
              </a:rPr>
              <a:t>=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R="445134" indent="-1066165">
              <a:tabLst>
                <a:tab pos="3221990" algn="l"/>
                <a:tab pos="4168140" algn="l"/>
              </a:tabLst>
            </a:pPr>
            <a:r>
              <a:rPr sz="2400" b="1" spc="-5" dirty="0">
                <a:latin typeface="宋体"/>
                <a:cs typeface="宋体"/>
              </a:rPr>
              <a:t>任给</a:t>
            </a:r>
            <a:r>
              <a:rPr sz="2400" b="1" dirty="0">
                <a:latin typeface="Times New Roman"/>
                <a:cs typeface="Times New Roman"/>
              </a:rPr>
              <a:t>1&gt;</a:t>
            </a:r>
            <a:r>
              <a:rPr sz="2400" b="1" i="1" dirty="0">
                <a:latin typeface="Times New Roman"/>
                <a:cs typeface="Times New Roman"/>
              </a:rPr>
              <a:t>c </a:t>
            </a:r>
            <a:r>
              <a:rPr sz="2400" b="1" dirty="0">
                <a:latin typeface="Times New Roman"/>
                <a:cs typeface="Times New Roman"/>
              </a:rPr>
              <a:t>&gt;0, </a:t>
            </a:r>
            <a:r>
              <a:rPr sz="2400" b="1" spc="-10" dirty="0">
                <a:latin typeface="宋体"/>
                <a:cs typeface="宋体"/>
              </a:rPr>
              <a:t>取</a:t>
            </a:r>
            <a:r>
              <a:rPr sz="2400" b="1" spc="-59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ymbol"/>
                <a:cs typeface="Symbol"/>
              </a:rPr>
              <a:t></a:t>
            </a:r>
            <a:r>
              <a:rPr sz="2400" b="1" spc="-5" dirty="0">
                <a:latin typeface="Times New Roman"/>
                <a:cs typeface="Times New Roman"/>
              </a:rPr>
              <a:t>2/</a:t>
            </a:r>
            <a:r>
              <a:rPr sz="2400" b="1" i="1" spc="-5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Symbol"/>
                <a:cs typeface="Symbol"/>
              </a:rPr>
              <a:t>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即可</a:t>
            </a:r>
            <a:r>
              <a:rPr sz="2400" b="1" dirty="0">
                <a:latin typeface="Times New Roman"/>
                <a:cs typeface="Times New Roman"/>
              </a:rPr>
              <a:t>.	</a:t>
            </a:r>
            <a:r>
              <a:rPr sz="2400" b="1" spc="-5" dirty="0">
                <a:latin typeface="宋体"/>
                <a:cs typeface="宋体"/>
              </a:rPr>
              <a:t>因为 </a:t>
            </a:r>
            <a:r>
              <a:rPr sz="2400" b="1" i="1" spc="-5" dirty="0">
                <a:latin typeface="Times New Roman"/>
                <a:cs typeface="Times New Roman"/>
              </a:rPr>
              <a:t>cn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cn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spc="7" baseline="-2083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 smtClean="0">
                <a:latin typeface="Times New Roman"/>
                <a:cs typeface="Times New Roman"/>
              </a:rPr>
              <a:t>2</a:t>
            </a:r>
            <a:r>
              <a:rPr sz="2400" b="1" spc="-5" dirty="0" smtClean="0">
                <a:latin typeface="宋体"/>
                <a:cs typeface="宋体"/>
              </a:rPr>
              <a:t>（</a:t>
            </a:r>
            <a:r>
              <a:rPr sz="2400" b="1" spc="-5" dirty="0">
                <a:latin typeface="宋体"/>
                <a:cs typeface="宋体"/>
              </a:rPr>
              <a:t>当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宋体"/>
                <a:cs typeface="宋体"/>
              </a:rPr>
              <a:t>） </a:t>
            </a:r>
            <a:endParaRPr lang="en-US" sz="2400" b="1" spc="-5" dirty="0" smtClean="0">
              <a:latin typeface="宋体"/>
              <a:cs typeface="宋体"/>
            </a:endParaRPr>
          </a:p>
          <a:p>
            <a:pPr marL="1129030" marR="445134" indent="-1066165">
              <a:lnSpc>
                <a:spcPct val="125600"/>
              </a:lnSpc>
              <a:spcBef>
                <a:spcPts val="420"/>
              </a:spcBef>
              <a:tabLst>
                <a:tab pos="3221990" algn="l"/>
                <a:tab pos="4168140" algn="l"/>
              </a:tabLst>
            </a:pPr>
            <a:r>
              <a:rPr sz="2400" b="1" spc="-5" dirty="0" smtClean="0">
                <a:latin typeface="宋体"/>
                <a:cs typeface="宋体"/>
              </a:rPr>
              <a:t> </a:t>
            </a:r>
            <a:r>
              <a:rPr lang="en-US" sz="2400" b="1" spc="-5" dirty="0" smtClean="0">
                <a:latin typeface="宋体"/>
                <a:cs typeface="宋体"/>
              </a:rPr>
              <a:t>                 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7" baseline="24305" dirty="0" smtClean="0">
                <a:latin typeface="Times New Roman"/>
                <a:cs typeface="Times New Roman"/>
              </a:rPr>
              <a:t>2</a:t>
            </a:r>
            <a:r>
              <a:rPr sz="2400" b="1" spc="-5" dirty="0" smtClean="0">
                <a:latin typeface="Times New Roman"/>
                <a:cs typeface="Times New Roman"/>
              </a:rPr>
              <a:t>+</a:t>
            </a:r>
            <a:r>
              <a:rPr sz="2400" b="1" i="1" spc="-5" dirty="0" smtClean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cn</a:t>
            </a:r>
            <a:r>
              <a:rPr sz="2400" b="1" spc="-7" baseline="24305" dirty="0">
                <a:latin typeface="Times New Roman"/>
                <a:cs typeface="Times New Roman"/>
              </a:rPr>
              <a:t>3</a:t>
            </a:r>
            <a:endParaRPr sz="2400" baseline="24305" dirty="0">
              <a:latin typeface="Times New Roman"/>
              <a:cs typeface="Times New Roman"/>
            </a:endParaRPr>
          </a:p>
          <a:p>
            <a:pPr marL="443230" indent="-380365">
              <a:lnSpc>
                <a:spcPct val="100000"/>
              </a:lnSpc>
              <a:spcBef>
                <a:spcPts val="930"/>
              </a:spcBef>
              <a:buFont typeface="Times New Roman"/>
              <a:buAutoNum type="arabicPeriod"/>
              <a:tabLst>
                <a:tab pos="443230" algn="l"/>
                <a:tab pos="44386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dirty="0">
                <a:latin typeface="Times New Roman"/>
                <a:cs typeface="Times New Roman"/>
              </a:rPr>
              <a:t> 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,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f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Times New Roman"/>
                <a:cs typeface="Times New Roman"/>
              </a:rPr>
              <a:t>)</a:t>
            </a:r>
            <a:r>
              <a:rPr sz="2400" b="1" spc="-10" dirty="0">
                <a:latin typeface="宋体"/>
                <a:cs typeface="宋体"/>
              </a:rPr>
              <a:t>的</a:t>
            </a:r>
            <a:r>
              <a:rPr sz="2400" b="1" dirty="0">
                <a:latin typeface="宋体"/>
                <a:cs typeface="宋体"/>
              </a:rPr>
              <a:t>阶</a:t>
            </a:r>
            <a:r>
              <a:rPr sz="2400" b="1" spc="-5" dirty="0">
                <a:latin typeface="宋体"/>
                <a:cs typeface="宋体"/>
              </a:rPr>
              <a:t>低</a:t>
            </a:r>
            <a:r>
              <a:rPr sz="2400" b="1" spc="5" dirty="0">
                <a:latin typeface="宋体"/>
                <a:cs typeface="宋体"/>
              </a:rPr>
              <a:t>于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dirty="0">
                <a:latin typeface="宋体"/>
                <a:cs typeface="宋体"/>
              </a:rPr>
              <a:t>的阶</a:t>
            </a:r>
            <a:endParaRPr sz="2400" dirty="0">
              <a:latin typeface="宋体"/>
              <a:cs typeface="宋体"/>
            </a:endParaRPr>
          </a:p>
          <a:p>
            <a:pPr marL="367030" indent="-304165">
              <a:lnSpc>
                <a:spcPct val="100000"/>
              </a:lnSpc>
              <a:spcBef>
                <a:spcPts val="500"/>
              </a:spcBef>
              <a:buFont typeface="Times New Roman"/>
              <a:buAutoNum type="arabicPeriod"/>
              <a:tabLst>
                <a:tab pos="367665" algn="l"/>
                <a:tab pos="3606165" algn="l"/>
              </a:tabLst>
            </a:pP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spc="-5" dirty="0">
                <a:latin typeface="宋体"/>
                <a:cs typeface="宋体"/>
              </a:rPr>
              <a:t>不</a:t>
            </a:r>
            <a:r>
              <a:rPr sz="2400" b="1" spc="-10" dirty="0">
                <a:latin typeface="宋体"/>
                <a:cs typeface="宋体"/>
              </a:rPr>
              <a:t>同</a:t>
            </a:r>
            <a:r>
              <a:rPr sz="2400" b="1" dirty="0">
                <a:latin typeface="宋体"/>
                <a:cs typeface="宋体"/>
              </a:rPr>
              <a:t>正数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宋体"/>
                <a:cs typeface="宋体"/>
              </a:rPr>
              <a:t>不一样</a:t>
            </a:r>
            <a:r>
              <a:rPr sz="2400" b="1" dirty="0">
                <a:latin typeface="Times New Roman"/>
                <a:cs typeface="Times New Roman"/>
              </a:rPr>
              <a:t>.	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宋体"/>
                <a:cs typeface="宋体"/>
              </a:rPr>
              <a:t>越小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宋体"/>
                <a:cs typeface="宋体"/>
              </a:rPr>
              <a:t>越大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67030" indent="-304165">
              <a:lnSpc>
                <a:spcPts val="2775"/>
              </a:lnSpc>
              <a:spcBef>
                <a:spcPts val="500"/>
              </a:spcBef>
              <a:buFont typeface="Times New Roman"/>
              <a:buAutoNum type="arabicPeriod"/>
              <a:tabLst>
                <a:tab pos="367665" algn="l"/>
              </a:tabLst>
            </a:pP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spc="-5" dirty="0">
                <a:latin typeface="宋体"/>
                <a:cs typeface="宋体"/>
              </a:rPr>
              <a:t>前</a:t>
            </a:r>
            <a:r>
              <a:rPr sz="2400" b="1" spc="-10" dirty="0">
                <a:latin typeface="宋体"/>
                <a:cs typeface="宋体"/>
              </a:rPr>
              <a:t>面</a:t>
            </a:r>
            <a:r>
              <a:rPr sz="2400" b="1" dirty="0">
                <a:latin typeface="宋体"/>
                <a:cs typeface="宋体"/>
              </a:rPr>
              <a:t>有</a:t>
            </a:r>
            <a:r>
              <a:rPr sz="2400" b="1" spc="-5" dirty="0">
                <a:latin typeface="宋体"/>
                <a:cs typeface="宋体"/>
              </a:rPr>
              <a:t>限</a:t>
            </a:r>
            <a:r>
              <a:rPr sz="2400" b="1" spc="-10" dirty="0">
                <a:latin typeface="宋体"/>
                <a:cs typeface="宋体"/>
              </a:rPr>
              <a:t>个</a:t>
            </a:r>
            <a:r>
              <a:rPr sz="2400" b="1" spc="-59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35" dirty="0">
                <a:latin typeface="Times New Roman"/>
                <a:cs typeface="Times New Roman"/>
              </a:rPr>
              <a:t> </a:t>
            </a:r>
            <a:r>
              <a:rPr sz="2400" b="1" spc="-10" dirty="0" err="1">
                <a:latin typeface="宋体"/>
                <a:cs typeface="宋体"/>
              </a:rPr>
              <a:t>值</a:t>
            </a:r>
            <a:r>
              <a:rPr sz="2400" b="1" spc="-5" dirty="0" err="1">
                <a:latin typeface="宋体"/>
                <a:cs typeface="宋体"/>
              </a:rPr>
              <a:t>可以不满足不等</a:t>
            </a:r>
            <a:r>
              <a:rPr sz="2400" b="1" spc="10" dirty="0" err="1">
                <a:latin typeface="宋体"/>
                <a:cs typeface="宋体"/>
              </a:rPr>
              <a:t>式</a:t>
            </a:r>
            <a:r>
              <a:rPr sz="2400" b="1" dirty="0" smtClean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E6275D3-193E-48AB-895B-2DB1394601A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3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40" y="1200150"/>
            <a:ext cx="8201660" cy="267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43180" algn="just">
              <a:lnSpc>
                <a:spcPct val="1313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定义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10" dirty="0">
                <a:latin typeface="宋体"/>
                <a:cs typeface="宋体"/>
              </a:rPr>
              <a:t>设</a:t>
            </a:r>
            <a:r>
              <a:rPr sz="2800" b="1" spc="-1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i="1" spc="5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和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g</a:t>
            </a:r>
            <a:r>
              <a:rPr sz="2800" b="1" spc="-10" dirty="0" err="1">
                <a:latin typeface="宋体"/>
                <a:cs typeface="宋体"/>
              </a:rPr>
              <a:t>是</a:t>
            </a:r>
            <a:r>
              <a:rPr sz="2800" b="1" spc="-5" dirty="0" err="1">
                <a:latin typeface="宋体"/>
                <a:cs typeface="宋体"/>
              </a:rPr>
              <a:t>定</a:t>
            </a:r>
            <a:r>
              <a:rPr sz="2800" b="1" spc="-10" dirty="0" err="1">
                <a:latin typeface="宋体"/>
                <a:cs typeface="宋体"/>
              </a:rPr>
              <a:t>义</a:t>
            </a:r>
            <a:r>
              <a:rPr sz="2800" b="1" dirty="0" err="1">
                <a:latin typeface="宋体"/>
                <a:cs typeface="宋体"/>
              </a:rPr>
              <a:t>域</a:t>
            </a:r>
            <a:r>
              <a:rPr sz="2800" b="1" spc="-5" dirty="0" err="1">
                <a:latin typeface="宋体"/>
                <a:cs typeface="宋体"/>
              </a:rPr>
              <a:t>为自然数</a:t>
            </a:r>
            <a:r>
              <a:rPr sz="2800" b="1" spc="-10" dirty="0" err="1">
                <a:latin typeface="宋体"/>
                <a:cs typeface="宋体"/>
              </a:rPr>
              <a:t>集</a:t>
            </a:r>
            <a:r>
              <a:rPr sz="2800" b="1" spc="-575" dirty="0">
                <a:latin typeface="宋体"/>
                <a:cs typeface="宋体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N</a:t>
            </a:r>
            <a:r>
              <a:rPr lang="en-US" sz="2800" b="1" spc="-5" dirty="0" smtClean="0"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latin typeface="宋体"/>
                <a:cs typeface="宋体"/>
              </a:rPr>
              <a:t>上</a:t>
            </a:r>
            <a:r>
              <a:rPr sz="2800" b="1" spc="-5" dirty="0" err="1" smtClean="0">
                <a:latin typeface="宋体"/>
                <a:cs typeface="宋体"/>
              </a:rPr>
              <a:t>的函数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5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若</a:t>
            </a:r>
            <a:r>
              <a:rPr sz="2800" b="1" spc="-5" dirty="0">
                <a:latin typeface="宋体"/>
                <a:cs typeface="宋体"/>
              </a:rPr>
              <a:t>对于任意正</a:t>
            </a:r>
            <a:r>
              <a:rPr sz="2800" b="1" spc="-10" dirty="0">
                <a:latin typeface="宋体"/>
                <a:cs typeface="宋体"/>
              </a:rPr>
              <a:t>数</a:t>
            </a:r>
            <a:r>
              <a:rPr sz="2800" b="1" spc="-58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都存</a:t>
            </a:r>
            <a:r>
              <a:rPr sz="2800" b="1" spc="-10" dirty="0">
                <a:latin typeface="宋体"/>
                <a:cs typeface="宋体"/>
              </a:rPr>
              <a:t>在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宋体"/>
                <a:cs typeface="宋体"/>
              </a:rPr>
              <a:t>，使 得对一</a:t>
            </a:r>
            <a:r>
              <a:rPr sz="2800" b="1" spc="-10" dirty="0">
                <a:latin typeface="宋体"/>
                <a:cs typeface="宋体"/>
              </a:rPr>
              <a:t>切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10" dirty="0">
                <a:latin typeface="宋体"/>
                <a:cs typeface="宋体"/>
              </a:rPr>
              <a:t>有</a:t>
            </a:r>
            <a:endParaRPr sz="2800" dirty="0">
              <a:latin typeface="宋体"/>
              <a:cs typeface="宋体"/>
            </a:endParaRPr>
          </a:p>
          <a:p>
            <a:pPr marR="222250" algn="ctr">
              <a:lnSpc>
                <a:spcPct val="100000"/>
              </a:lnSpc>
              <a:spcBef>
                <a:spcPts val="885"/>
              </a:spcBef>
            </a:pPr>
            <a:r>
              <a:rPr sz="2800" b="1" dirty="0">
                <a:latin typeface="Times New Roman"/>
                <a:cs typeface="Times New Roman"/>
              </a:rPr>
              <a:t>0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63500" algn="just">
              <a:lnSpc>
                <a:spcPct val="100000"/>
              </a:lnSpc>
              <a:spcBef>
                <a:spcPts val="595"/>
              </a:spcBef>
            </a:pPr>
            <a:r>
              <a:rPr sz="2800" b="1" spc="-5" dirty="0">
                <a:latin typeface="宋体"/>
                <a:cs typeface="宋体"/>
              </a:rPr>
              <a:t>成立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宋体"/>
                <a:cs typeface="宋体"/>
              </a:rPr>
              <a:t>则记作</a:t>
            </a:r>
            <a:endParaRPr sz="2800" dirty="0">
              <a:latin typeface="宋体"/>
              <a:cs typeface="宋体"/>
            </a:endParaRPr>
          </a:p>
          <a:p>
            <a:pPr marR="264160" algn="ctr">
              <a:lnSpc>
                <a:spcPct val="100000"/>
              </a:lnSpc>
              <a:spcBef>
                <a:spcPts val="380"/>
              </a:spcBef>
            </a:pPr>
            <a:r>
              <a:rPr sz="2800" b="1" i="1" dirty="0">
                <a:latin typeface="Times New Roman"/>
                <a:cs typeface="Times New Roman"/>
              </a:rPr>
              <a:t>f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70" dirty="0">
                <a:latin typeface="Symbol"/>
                <a:cs typeface="Symbol"/>
              </a:rPr>
              <a:t>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82461" y="4734559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264408"/>
            <a:ext cx="8305800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4400" spc="-15" dirty="0"/>
              <a:t>小</a:t>
            </a:r>
            <a:r>
              <a:rPr sz="4400" i="1" spc="-140" dirty="0">
                <a:latin typeface="Symbol"/>
                <a:cs typeface="Symbol"/>
              </a:rPr>
              <a:t></a:t>
            </a:r>
            <a:r>
              <a:rPr sz="4400" i="1" spc="-125" dirty="0">
                <a:latin typeface="Times New Roman"/>
                <a:cs typeface="Times New Roman"/>
              </a:rPr>
              <a:t> </a:t>
            </a:r>
            <a:r>
              <a:rPr sz="4400" spc="-15" dirty="0"/>
              <a:t>符号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F4B9DDB-353F-4EFF-A7CF-54302430785B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72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8103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黑体" pitchFamily="49" charset="-122"/>
                <a:ea typeface="黑体" pitchFamily="49" charset="-122"/>
              </a:rPr>
              <a:t>例子</a:t>
            </a:r>
            <a:endParaRPr sz="4000" spc="-15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200785"/>
            <a:ext cx="8328660" cy="40379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400" b="1" spc="-10" dirty="0">
                <a:latin typeface="宋体"/>
                <a:cs typeface="宋体"/>
              </a:rPr>
              <a:t>设</a:t>
            </a:r>
            <a:r>
              <a:rPr sz="2400" b="1" spc="-61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dirty="0">
                <a:latin typeface="Times New Roman"/>
                <a:cs typeface="Times New Roman"/>
              </a:rPr>
              <a:t> =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7" baseline="24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宋体"/>
                <a:cs typeface="宋体"/>
              </a:rPr>
              <a:t>，则</a:t>
            </a:r>
            <a:endParaRPr sz="2400" dirty="0">
              <a:latin typeface="宋体"/>
              <a:cs typeface="宋体"/>
            </a:endParaRPr>
          </a:p>
          <a:p>
            <a:pPr marR="192405" algn="ctr">
              <a:lnSpc>
                <a:spcPct val="100000"/>
              </a:lnSpc>
              <a:spcBef>
                <a:spcPts val="800"/>
              </a:spcBef>
            </a:pPr>
            <a:r>
              <a:rPr sz="2400" b="1" i="1" dirty="0">
                <a:latin typeface="Times New Roman"/>
                <a:cs typeface="Times New Roman"/>
              </a:rPr>
              <a:t>f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500" b="1" i="1" spc="-70" dirty="0">
                <a:latin typeface="Symbol"/>
                <a:cs typeface="Symbol"/>
              </a:rPr>
              <a:t></a:t>
            </a:r>
            <a:r>
              <a:rPr sz="2500" b="1" i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Times New Roman"/>
                <a:cs typeface="Times New Roman"/>
              </a:rPr>
              <a:t>)</a:t>
            </a:r>
            <a:r>
              <a:rPr sz="2400" b="1" spc="-10" dirty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  <a:p>
            <a:pPr marL="38100" marR="339725">
              <a:lnSpc>
                <a:spcPts val="2880"/>
              </a:lnSpc>
              <a:spcBef>
                <a:spcPts val="1055"/>
              </a:spcBef>
            </a:pPr>
            <a:r>
              <a:rPr sz="2400" b="1" spc="-5" dirty="0">
                <a:latin typeface="宋体"/>
                <a:cs typeface="宋体"/>
              </a:rPr>
              <a:t>不能</a:t>
            </a:r>
            <a:r>
              <a:rPr sz="2400" b="1" spc="-10" dirty="0">
                <a:latin typeface="宋体"/>
                <a:cs typeface="宋体"/>
              </a:rPr>
              <a:t>写</a:t>
            </a:r>
            <a:r>
              <a:rPr sz="2400" b="1" spc="-15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500" b="1" i="1" spc="-70" dirty="0">
                <a:latin typeface="Symbol"/>
                <a:cs typeface="Symbol"/>
              </a:rPr>
              <a:t></a:t>
            </a:r>
            <a:r>
              <a:rPr sz="2500" b="1" i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宋体"/>
                <a:cs typeface="宋体"/>
              </a:rPr>
              <a:t>，因为</a:t>
            </a:r>
            <a:r>
              <a:rPr sz="2400" b="1" spc="-10" dirty="0">
                <a:latin typeface="宋体"/>
                <a:cs typeface="宋体"/>
              </a:rPr>
              <a:t>取</a:t>
            </a:r>
            <a:r>
              <a:rPr sz="2400" b="1" spc="-58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2</a:t>
            </a:r>
            <a:r>
              <a:rPr sz="2400" b="1" spc="-10" dirty="0">
                <a:latin typeface="宋体"/>
                <a:cs typeface="宋体"/>
              </a:rPr>
              <a:t>，</a:t>
            </a:r>
            <a:r>
              <a:rPr sz="2400" b="1" spc="-5" dirty="0" smtClean="0">
                <a:latin typeface="宋体"/>
                <a:cs typeface="宋体"/>
              </a:rPr>
              <a:t>不存在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baseline="-20833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使</a:t>
            </a:r>
            <a:r>
              <a:rPr sz="2400" b="1" spc="-5" dirty="0">
                <a:latin typeface="宋体"/>
                <a:cs typeface="宋体"/>
              </a:rPr>
              <a:t>得</a:t>
            </a: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dirty="0">
                <a:latin typeface="宋体"/>
                <a:cs typeface="宋体"/>
              </a:rPr>
              <a:t>一</a:t>
            </a:r>
            <a:r>
              <a:rPr sz="2400" b="1" spc="-10" dirty="0">
                <a:latin typeface="宋体"/>
                <a:cs typeface="宋体"/>
              </a:rPr>
              <a:t>切</a:t>
            </a:r>
            <a:r>
              <a:rPr sz="2400" b="1" spc="-57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spc="-10" dirty="0">
                <a:latin typeface="宋体"/>
                <a:cs typeface="宋体"/>
              </a:rPr>
              <a:t>有</a:t>
            </a:r>
            <a:r>
              <a:rPr sz="2400" b="1" spc="-5" dirty="0">
                <a:latin typeface="宋体"/>
                <a:cs typeface="宋体"/>
              </a:rPr>
              <a:t>下式成</a:t>
            </a:r>
            <a:r>
              <a:rPr sz="2400" b="1" spc="-10" dirty="0">
                <a:latin typeface="宋体"/>
                <a:cs typeface="宋体"/>
              </a:rPr>
              <a:t>立</a:t>
            </a:r>
            <a:endParaRPr sz="2400" dirty="0">
              <a:latin typeface="宋体"/>
              <a:cs typeface="宋体"/>
            </a:endParaRPr>
          </a:p>
          <a:p>
            <a:pPr marL="1256030">
              <a:lnSpc>
                <a:spcPct val="100000"/>
              </a:lnSpc>
              <a:spcBef>
                <a:spcPts val="580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              </a:t>
            </a:r>
            <a:r>
              <a:rPr sz="2400" b="1" i="1" dirty="0" smtClean="0">
                <a:latin typeface="Times New Roman"/>
                <a:cs typeface="Times New Roman"/>
              </a:rPr>
              <a:t>c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Lucida Sans Unicode"/>
                <a:cs typeface="Lucida Sans Unicode"/>
              </a:rPr>
              <a:t>&lt;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36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494030" indent="-380365">
              <a:lnSpc>
                <a:spcPct val="100000"/>
              </a:lnSpc>
              <a:spcBef>
                <a:spcPts val="944"/>
              </a:spcBef>
              <a:buFont typeface="Times New Roman"/>
              <a:buAutoNum type="arabicPeriod"/>
              <a:tabLst>
                <a:tab pos="494030" algn="l"/>
                <a:tab pos="49466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(</a:t>
            </a:r>
            <a:r>
              <a:rPr sz="2400" b="1" i="1" spc="-20" dirty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)=</a:t>
            </a:r>
            <a:r>
              <a:rPr sz="2500" b="1" i="1" spc="-20" dirty="0">
                <a:latin typeface="Symbol"/>
                <a:cs typeface="Symbol"/>
              </a:rPr>
              <a:t></a:t>
            </a:r>
            <a:r>
              <a:rPr sz="2500" b="1" i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)),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Times New Roman"/>
                <a:cs typeface="Times New Roman"/>
              </a:rPr>
              <a:t>)</a:t>
            </a:r>
            <a:r>
              <a:rPr sz="2400" b="1" spc="-10" dirty="0">
                <a:latin typeface="宋体"/>
                <a:cs typeface="宋体"/>
              </a:rPr>
              <a:t>的</a:t>
            </a:r>
            <a:r>
              <a:rPr sz="2400" b="1" spc="-5" dirty="0">
                <a:latin typeface="宋体"/>
                <a:cs typeface="宋体"/>
              </a:rPr>
              <a:t>阶高</a:t>
            </a:r>
            <a:r>
              <a:rPr sz="2400" b="1" spc="5" dirty="0">
                <a:latin typeface="宋体"/>
                <a:cs typeface="宋体"/>
              </a:rPr>
              <a:t>于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的阶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17830" indent="-30416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18465" algn="l"/>
              </a:tabLst>
            </a:pP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spc="-5" dirty="0">
                <a:latin typeface="宋体"/>
                <a:cs typeface="宋体"/>
              </a:rPr>
              <a:t>不</a:t>
            </a:r>
            <a:r>
              <a:rPr sz="2400" b="1" spc="-10" dirty="0">
                <a:latin typeface="宋体"/>
                <a:cs typeface="宋体"/>
              </a:rPr>
              <a:t>同</a:t>
            </a:r>
            <a:r>
              <a:rPr sz="2400" b="1" dirty="0">
                <a:latin typeface="宋体"/>
                <a:cs typeface="宋体"/>
              </a:rPr>
              <a:t>的</a:t>
            </a:r>
            <a:r>
              <a:rPr sz="2400" b="1" spc="-5" dirty="0">
                <a:latin typeface="宋体"/>
                <a:cs typeface="宋体"/>
              </a:rPr>
              <a:t>正</a:t>
            </a:r>
            <a:r>
              <a:rPr sz="2400" b="1" spc="10" dirty="0">
                <a:latin typeface="宋体"/>
                <a:cs typeface="宋体"/>
              </a:rPr>
              <a:t>数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宋体"/>
                <a:cs typeface="宋体"/>
              </a:rPr>
              <a:t>不等，</a:t>
            </a:r>
            <a:r>
              <a:rPr sz="2400" b="1" i="1" spc="-5" dirty="0">
                <a:latin typeface="Times New Roman"/>
                <a:cs typeface="Times New Roman"/>
              </a:rPr>
              <a:t>c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越大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-20833" dirty="0">
                <a:latin typeface="Times New Roman"/>
                <a:cs typeface="Times New Roman"/>
              </a:rPr>
              <a:t>0 </a:t>
            </a:r>
            <a:r>
              <a:rPr sz="2400" b="1" spc="-5" dirty="0">
                <a:latin typeface="宋体"/>
                <a:cs typeface="宋体"/>
              </a:rPr>
              <a:t>越大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17830" indent="-304165">
              <a:lnSpc>
                <a:spcPct val="100000"/>
              </a:lnSpc>
              <a:spcBef>
                <a:spcPts val="505"/>
              </a:spcBef>
              <a:buFont typeface="Times New Roman"/>
              <a:buAutoNum type="arabicPeriod"/>
              <a:tabLst>
                <a:tab pos="418465" algn="l"/>
              </a:tabLst>
            </a:pP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spc="-5" dirty="0">
                <a:latin typeface="宋体"/>
                <a:cs typeface="宋体"/>
              </a:rPr>
              <a:t>前</a:t>
            </a:r>
            <a:r>
              <a:rPr sz="2400" b="1" spc="-10" dirty="0">
                <a:latin typeface="宋体"/>
                <a:cs typeface="宋体"/>
              </a:rPr>
              <a:t>面</a:t>
            </a:r>
            <a:r>
              <a:rPr sz="2400" b="1" dirty="0">
                <a:latin typeface="宋体"/>
                <a:cs typeface="宋体"/>
              </a:rPr>
              <a:t>有</a:t>
            </a:r>
            <a:r>
              <a:rPr sz="2400" b="1" spc="-5" dirty="0">
                <a:latin typeface="宋体"/>
                <a:cs typeface="宋体"/>
              </a:rPr>
              <a:t>限</a:t>
            </a:r>
            <a:r>
              <a:rPr sz="2400" b="1" spc="-10" dirty="0">
                <a:latin typeface="宋体"/>
                <a:cs typeface="宋体"/>
              </a:rPr>
              <a:t>个</a:t>
            </a:r>
            <a:r>
              <a:rPr sz="2400" b="1" spc="-59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值可</a:t>
            </a:r>
            <a:r>
              <a:rPr sz="2400" b="1" spc="-10" dirty="0">
                <a:latin typeface="宋体"/>
                <a:cs typeface="宋体"/>
              </a:rPr>
              <a:t>以</a:t>
            </a:r>
            <a:r>
              <a:rPr sz="2400" b="1" spc="-610" dirty="0"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不</a:t>
            </a:r>
            <a:r>
              <a:rPr sz="2400" b="1" spc="-5" dirty="0">
                <a:latin typeface="宋体"/>
                <a:cs typeface="宋体"/>
              </a:rPr>
              <a:t>满</a:t>
            </a:r>
            <a:r>
              <a:rPr sz="2400" b="1" spc="-10" dirty="0">
                <a:latin typeface="宋体"/>
                <a:cs typeface="宋体"/>
              </a:rPr>
              <a:t>足</a:t>
            </a:r>
            <a:r>
              <a:rPr sz="2400" b="1" dirty="0">
                <a:latin typeface="宋体"/>
                <a:cs typeface="宋体"/>
              </a:rPr>
              <a:t>不</a:t>
            </a:r>
            <a:r>
              <a:rPr sz="2400" b="1" spc="-5" dirty="0">
                <a:latin typeface="宋体"/>
                <a:cs typeface="宋体"/>
              </a:rPr>
              <a:t>等</a:t>
            </a:r>
            <a:r>
              <a:rPr sz="2400" b="1" spc="5" dirty="0">
                <a:latin typeface="宋体"/>
                <a:cs typeface="宋体"/>
              </a:rPr>
              <a:t>式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R="194310" algn="r">
              <a:lnSpc>
                <a:spcPct val="100000"/>
              </a:lnSpc>
              <a:spcBef>
                <a:spcPts val="1775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9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8AEA301-0FD2-42EA-A98A-383D605CFB3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6879" y="4734559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888888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540" y="1215704"/>
            <a:ext cx="8176260" cy="3184846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2400" b="1" spc="-10" dirty="0">
                <a:latin typeface="宋体"/>
                <a:cs typeface="宋体"/>
              </a:rPr>
              <a:t>若</a:t>
            </a:r>
            <a:r>
              <a:rPr sz="2400" b="1" spc="-61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且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500" b="1" i="1" spc="-80" dirty="0">
                <a:latin typeface="Symbol"/>
                <a:cs typeface="Symbol"/>
              </a:rPr>
              <a:t></a:t>
            </a:r>
            <a:r>
              <a:rPr sz="2500" b="1" i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)),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b="1" spc="-5" dirty="0" err="1" smtClean="0">
                <a:latin typeface="宋体"/>
                <a:cs typeface="宋体"/>
              </a:rPr>
              <a:t>则记作</a:t>
            </a:r>
            <a:endParaRPr sz="2400" dirty="0">
              <a:latin typeface="宋体"/>
              <a:cs typeface="宋体"/>
            </a:endParaRPr>
          </a:p>
          <a:p>
            <a:pPr marL="1637664">
              <a:lnSpc>
                <a:spcPct val="100000"/>
              </a:lnSpc>
              <a:spcBef>
                <a:spcPts val="480"/>
              </a:spcBef>
            </a:pPr>
            <a:r>
              <a:rPr lang="en-US" sz="2400" b="1" i="1" dirty="0" smtClean="0">
                <a:latin typeface="Times New Roman"/>
                <a:cs typeface="Times New Roman"/>
              </a:rPr>
              <a:t>                </a:t>
            </a:r>
            <a:r>
              <a:rPr sz="2400" b="1" i="1" dirty="0" smtClean="0">
                <a:latin typeface="Times New Roman"/>
                <a:cs typeface="Times New Roman"/>
              </a:rPr>
              <a:t>f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500" b="1" i="1" spc="-80" dirty="0">
                <a:latin typeface="Symbol"/>
                <a:cs typeface="Symbol"/>
              </a:rPr>
              <a:t></a:t>
            </a:r>
            <a:r>
              <a:rPr sz="2500" b="1" i="1" spc="-4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</a:t>
            </a:r>
            <a:endParaRPr sz="2400" dirty="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560"/>
              </a:spcBef>
            </a:pPr>
            <a:r>
              <a:rPr sz="2400" b="1" spc="-10" dirty="0">
                <a:latin typeface="宋体"/>
                <a:cs typeface="宋体"/>
              </a:rPr>
              <a:t>例子</a:t>
            </a:r>
            <a:r>
              <a:rPr sz="2400" b="1" spc="-5" dirty="0">
                <a:latin typeface="宋体"/>
                <a:cs typeface="宋体"/>
              </a:rPr>
              <a:t>：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15" baseline="24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=100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spc="-10" dirty="0">
                <a:latin typeface="宋体"/>
                <a:cs typeface="宋体"/>
              </a:rPr>
              <a:t>那么有</a:t>
            </a:r>
            <a:endParaRPr sz="2400" dirty="0">
              <a:latin typeface="宋体"/>
              <a:cs typeface="宋体"/>
            </a:endParaRPr>
          </a:p>
          <a:p>
            <a:pPr marL="1637664">
              <a:lnSpc>
                <a:spcPct val="100000"/>
              </a:lnSpc>
              <a:spcBef>
                <a:spcPts val="780"/>
              </a:spcBef>
            </a:pPr>
            <a:r>
              <a:rPr lang="en-US" sz="2400" b="1" i="1" spc="-20" dirty="0" smtClean="0">
                <a:latin typeface="Times New Roman"/>
                <a:cs typeface="Times New Roman"/>
              </a:rPr>
              <a:t>                  </a:t>
            </a:r>
            <a:r>
              <a:rPr sz="2400" b="1" i="1" spc="-20" dirty="0" smtClean="0">
                <a:latin typeface="Times New Roman"/>
                <a:cs typeface="Times New Roman"/>
              </a:rPr>
              <a:t>f</a:t>
            </a:r>
            <a:r>
              <a:rPr sz="2400" b="1" spc="-20" dirty="0" smtClean="0">
                <a:latin typeface="Times New Roman"/>
                <a:cs typeface="Times New Roman"/>
              </a:rPr>
              <a:t>(</a:t>
            </a:r>
            <a:r>
              <a:rPr sz="2400" b="1" i="1" spc="-20" dirty="0" smtClean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)=</a:t>
            </a:r>
            <a:r>
              <a:rPr sz="2500" b="1" i="1" spc="-20" dirty="0">
                <a:latin typeface="Symbol"/>
                <a:cs typeface="Symbol"/>
              </a:rPr>
              <a:t></a:t>
            </a:r>
            <a:r>
              <a:rPr sz="2500" b="1" i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417830" indent="-38036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17830" algn="l"/>
                <a:tab pos="418465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的阶</a:t>
            </a:r>
            <a:r>
              <a:rPr sz="2400" b="1" spc="-10" dirty="0">
                <a:latin typeface="宋体"/>
                <a:cs typeface="宋体"/>
              </a:rPr>
              <a:t>与</a:t>
            </a:r>
            <a:r>
              <a:rPr sz="2400" b="1" spc="-59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的阶相等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17830" indent="-380365">
              <a:lnSpc>
                <a:spcPct val="100000"/>
              </a:lnSpc>
              <a:spcBef>
                <a:spcPts val="495"/>
              </a:spcBef>
              <a:buFont typeface="Times New Roman"/>
              <a:buAutoNum type="arabicPeriod"/>
              <a:tabLst>
                <a:tab pos="417830" algn="l"/>
                <a:tab pos="418465" algn="l"/>
              </a:tabLst>
            </a:pPr>
            <a:r>
              <a:rPr sz="2400" b="1" spc="-10" dirty="0">
                <a:latin typeface="宋体"/>
                <a:cs typeface="宋体"/>
              </a:rPr>
              <a:t>对</a:t>
            </a:r>
            <a:r>
              <a:rPr sz="2400" b="1" spc="-5" dirty="0">
                <a:latin typeface="宋体"/>
                <a:cs typeface="宋体"/>
              </a:rPr>
              <a:t>前</a:t>
            </a:r>
            <a:r>
              <a:rPr sz="2400" b="1" spc="-10" dirty="0">
                <a:latin typeface="宋体"/>
                <a:cs typeface="宋体"/>
              </a:rPr>
              <a:t>面</a:t>
            </a:r>
            <a:r>
              <a:rPr sz="2400" b="1" dirty="0">
                <a:latin typeface="宋体"/>
                <a:cs typeface="宋体"/>
              </a:rPr>
              <a:t>有</a:t>
            </a:r>
            <a:r>
              <a:rPr sz="2400" b="1" spc="-5" dirty="0">
                <a:latin typeface="宋体"/>
                <a:cs typeface="宋体"/>
              </a:rPr>
              <a:t>限</a:t>
            </a:r>
            <a:r>
              <a:rPr sz="2400" b="1" spc="10" dirty="0">
                <a:latin typeface="宋体"/>
                <a:cs typeface="宋体"/>
              </a:rPr>
              <a:t>个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值</a:t>
            </a:r>
            <a:r>
              <a:rPr sz="2400" b="1" spc="-5" dirty="0">
                <a:latin typeface="宋体"/>
                <a:cs typeface="宋体"/>
              </a:rPr>
              <a:t>可以不满足条</a:t>
            </a:r>
            <a:r>
              <a:rPr sz="2400" b="1" spc="10" dirty="0">
                <a:latin typeface="宋体"/>
                <a:cs typeface="宋体"/>
              </a:rPr>
              <a:t>件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266332"/>
            <a:ext cx="8229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518795" algn="l"/>
              </a:tabLst>
            </a:pPr>
            <a:r>
              <a:rPr sz="4000" i="1" spc="-114" dirty="0">
                <a:latin typeface="Symbol"/>
                <a:cs typeface="Symbol"/>
              </a:rPr>
              <a:t></a:t>
            </a:r>
            <a:r>
              <a:rPr sz="4000" b="0" spc="-114" dirty="0">
                <a:latin typeface="Times New Roman"/>
                <a:cs typeface="Times New Roman"/>
              </a:rPr>
              <a:t>	</a:t>
            </a:r>
            <a:r>
              <a:rPr sz="4000" spc="-15" dirty="0"/>
              <a:t>符号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95A612D-0080-450E-BC63-A1B8A62B556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63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" y="266973"/>
            <a:ext cx="82524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5" dirty="0"/>
              <a:t>例子</a:t>
            </a:r>
            <a:r>
              <a:rPr sz="4000" spc="-5" dirty="0"/>
              <a:t>：</a:t>
            </a:r>
            <a:r>
              <a:rPr sz="4000" spc="-15" dirty="0"/>
              <a:t>素数</a:t>
            </a:r>
            <a:r>
              <a:rPr sz="4000" spc="5" dirty="0"/>
              <a:t>测</a:t>
            </a:r>
            <a:r>
              <a:rPr sz="4000" spc="-15" dirty="0"/>
              <a:t>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83640"/>
            <a:ext cx="3528060" cy="21501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宋体"/>
                <a:cs typeface="宋体"/>
              </a:rPr>
              <a:t>算法</a:t>
            </a:r>
            <a:r>
              <a:rPr sz="2400" b="1" spc="-15" dirty="0">
                <a:latin typeface="Times New Roman"/>
                <a:cs typeface="Times New Roman"/>
              </a:rPr>
              <a:t>PrimalityTest(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1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38100" marR="30480">
              <a:lnSpc>
                <a:spcPct val="115199"/>
              </a:lnSpc>
              <a:spcBef>
                <a:spcPts val="140"/>
              </a:spcBef>
            </a:pPr>
            <a:r>
              <a:rPr sz="2400" b="1" spc="-5" dirty="0">
                <a:latin typeface="宋体"/>
                <a:cs typeface="宋体"/>
              </a:rPr>
              <a:t>输入：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宋体"/>
                <a:cs typeface="宋体"/>
              </a:rPr>
              <a:t>大</a:t>
            </a:r>
            <a:r>
              <a:rPr sz="2400" b="1" spc="-5" dirty="0">
                <a:latin typeface="宋体"/>
                <a:cs typeface="宋体"/>
              </a:rPr>
              <a:t>于</a:t>
            </a:r>
            <a:r>
              <a:rPr sz="2400" b="1" spc="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宋体"/>
                <a:cs typeface="宋体"/>
              </a:rPr>
              <a:t>的</a:t>
            </a:r>
            <a:r>
              <a:rPr sz="2400" b="1" spc="5" dirty="0">
                <a:latin typeface="宋体"/>
                <a:cs typeface="宋体"/>
              </a:rPr>
              <a:t>奇</a:t>
            </a:r>
            <a:r>
              <a:rPr sz="2400" b="1" spc="-5" dirty="0">
                <a:latin typeface="宋体"/>
                <a:cs typeface="宋体"/>
              </a:rPr>
              <a:t>整</a:t>
            </a:r>
            <a:r>
              <a:rPr sz="2400" b="1" spc="-10" dirty="0">
                <a:latin typeface="宋体"/>
                <a:cs typeface="宋体"/>
              </a:rPr>
              <a:t>数 </a:t>
            </a:r>
            <a:r>
              <a:rPr sz="2400" b="1" spc="-5" dirty="0">
                <a:latin typeface="宋体"/>
                <a:cs typeface="宋体"/>
              </a:rPr>
              <a:t>输出：</a:t>
            </a:r>
            <a:r>
              <a:rPr sz="2400" b="1" spc="-5" dirty="0">
                <a:latin typeface="Times New Roman"/>
                <a:cs typeface="Times New Roman"/>
              </a:rPr>
              <a:t>true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或者</a:t>
            </a:r>
            <a:r>
              <a:rPr sz="2400" b="1" spc="-5" dirty="0">
                <a:latin typeface="Times New Roman"/>
                <a:cs typeface="Times New Roman"/>
              </a:rPr>
              <a:t>false  1</a:t>
            </a:r>
            <a:r>
              <a:rPr sz="2400" b="1" spc="-5" dirty="0">
                <a:latin typeface="宋体"/>
                <a:cs typeface="宋体"/>
              </a:rPr>
              <a:t>．</a:t>
            </a:r>
            <a:r>
              <a:rPr sz="2400" b="1" i="1" spc="-5" dirty="0">
                <a:latin typeface="Times New Roman"/>
                <a:cs typeface="Times New Roman"/>
              </a:rPr>
              <a:t>s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baseline="24305" dirty="0">
                <a:latin typeface="Times New Roman"/>
                <a:cs typeface="Times New Roman"/>
              </a:rPr>
              <a:t>1/2</a:t>
            </a:r>
            <a:r>
              <a:rPr sz="2400" b="1" dirty="0">
                <a:latin typeface="Symbol"/>
                <a:cs typeface="Symbol"/>
              </a:rPr>
              <a:t></a:t>
            </a:r>
            <a:endParaRPr sz="2400" dirty="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  <a:tabLst>
                <a:tab pos="1107440" algn="l"/>
                <a:tab pos="1798955" algn="l"/>
                <a:tab pos="220535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宋体"/>
                <a:cs typeface="宋体"/>
              </a:rPr>
              <a:t>．</a:t>
            </a:r>
            <a:r>
              <a:rPr sz="2400" b="1" spc="-5" dirty="0">
                <a:latin typeface="Times New Roman"/>
                <a:cs typeface="Times New Roman"/>
              </a:rPr>
              <a:t>for	</a:t>
            </a:r>
            <a:r>
              <a:rPr sz="2400" b="1" i="1" spc="-5" dirty="0">
                <a:latin typeface="Times New Roman"/>
                <a:cs typeface="Times New Roman"/>
              </a:rPr>
              <a:t>j</a:t>
            </a:r>
            <a:r>
              <a:rPr sz="2400" b="1" spc="-5" dirty="0">
                <a:latin typeface="Symbol"/>
                <a:cs typeface="Symbol"/>
              </a:rPr>
              <a:t></a:t>
            </a:r>
            <a:r>
              <a:rPr sz="2400" b="1" spc="-5" dirty="0">
                <a:latin typeface="Times New Roman"/>
                <a:cs typeface="Times New Roman"/>
              </a:rPr>
              <a:t>2	</a:t>
            </a:r>
            <a:r>
              <a:rPr sz="2400" b="1" dirty="0">
                <a:latin typeface="Times New Roman"/>
                <a:cs typeface="Times New Roman"/>
              </a:rPr>
              <a:t>to	</a:t>
            </a:r>
            <a:r>
              <a:rPr sz="2400" b="1" i="1" spc="-5" dirty="0">
                <a:latin typeface="Times New Roman"/>
                <a:cs typeface="Times New Roman"/>
              </a:rPr>
              <a:t>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3262631"/>
            <a:ext cx="3103245" cy="83311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27735" indent="-915669">
              <a:lnSpc>
                <a:spcPct val="100000"/>
              </a:lnSpc>
              <a:spcBef>
                <a:spcPts val="400"/>
              </a:spcBef>
              <a:buAutoNum type="arabicPeriod" startAt="3"/>
              <a:tabLst>
                <a:tab pos="927735" algn="l"/>
                <a:tab pos="928369" algn="l"/>
                <a:tab pos="1342390" algn="l"/>
              </a:tabLst>
            </a:pPr>
            <a:r>
              <a:rPr sz="2400" b="1" dirty="0">
                <a:latin typeface="Times New Roman"/>
                <a:cs typeface="Times New Roman"/>
              </a:rPr>
              <a:t>if	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整</a:t>
            </a:r>
            <a:r>
              <a:rPr sz="2400" b="1" spc="-10" dirty="0">
                <a:latin typeface="宋体"/>
                <a:cs typeface="宋体"/>
              </a:rPr>
              <a:t>除</a:t>
            </a:r>
            <a:r>
              <a:rPr sz="2400" b="1" spc="-60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927735" indent="-915669">
              <a:lnSpc>
                <a:spcPct val="100000"/>
              </a:lnSpc>
              <a:spcBef>
                <a:spcPts val="300"/>
              </a:spcBef>
              <a:buAutoNum type="arabicPeriod" startAt="3"/>
              <a:tabLst>
                <a:tab pos="927735" algn="l"/>
                <a:tab pos="928369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then </a:t>
            </a:r>
            <a:r>
              <a:rPr sz="2400" b="1" spc="-10" dirty="0">
                <a:latin typeface="Times New Roman"/>
                <a:cs typeface="Times New Roman"/>
              </a:rPr>
              <a:t>return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false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4009390"/>
            <a:ext cx="19424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5</a:t>
            </a:r>
            <a:r>
              <a:rPr sz="2400" b="1" spc="-10" dirty="0">
                <a:latin typeface="宋体"/>
                <a:cs typeface="宋体"/>
              </a:rPr>
              <a:t>．</a:t>
            </a:r>
            <a:r>
              <a:rPr sz="2400" b="1" spc="-10" dirty="0">
                <a:latin typeface="Times New Roman"/>
                <a:cs typeface="Times New Roman"/>
              </a:rPr>
              <a:t>return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true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8874" y="1247775"/>
            <a:ext cx="2346325" cy="2924175"/>
          </a:xfrm>
          <a:custGeom>
            <a:avLst/>
            <a:gdLst/>
            <a:ahLst/>
            <a:cxnLst/>
            <a:rect l="l" t="t" r="r" b="b"/>
            <a:pathLst>
              <a:path w="2133600" h="2924175">
                <a:moveTo>
                  <a:pt x="0" y="2924175"/>
                </a:moveTo>
                <a:lnTo>
                  <a:pt x="2133600" y="2924175"/>
                </a:lnTo>
                <a:lnTo>
                  <a:pt x="2133600" y="0"/>
                </a:lnTo>
                <a:lnTo>
                  <a:pt x="0" y="0"/>
                </a:lnTo>
                <a:lnTo>
                  <a:pt x="0" y="2924175"/>
                </a:lnTo>
                <a:close/>
              </a:path>
            </a:pathLst>
          </a:custGeom>
          <a:ln w="25400">
            <a:solidFill>
              <a:srgbClr val="375F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22468" y="1202105"/>
            <a:ext cx="2216531" cy="208839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2400" b="1" spc="-5" dirty="0">
                <a:latin typeface="宋体"/>
                <a:cs typeface="宋体"/>
              </a:rPr>
              <a:t>问题：</a:t>
            </a:r>
            <a:endParaRPr sz="2400" dirty="0">
              <a:latin typeface="宋体"/>
              <a:cs typeface="宋体"/>
            </a:endParaRPr>
          </a:p>
          <a:p>
            <a:pPr marL="38100" algn="just">
              <a:lnSpc>
                <a:spcPct val="100000"/>
              </a:lnSpc>
              <a:spcBef>
                <a:spcPts val="590"/>
              </a:spcBef>
            </a:pPr>
            <a:r>
              <a:rPr sz="2400" b="1" spc="-5" dirty="0">
                <a:latin typeface="宋体"/>
                <a:cs typeface="宋体"/>
              </a:rPr>
              <a:t>若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baseline="24904" dirty="0">
                <a:latin typeface="Times New Roman"/>
                <a:cs typeface="Times New Roman"/>
              </a:rPr>
              <a:t>1/2</a:t>
            </a:r>
            <a:r>
              <a:rPr sz="2400" b="1" spc="232" baseline="24904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可在</a:t>
            </a:r>
            <a:r>
              <a:rPr sz="2400" b="1" i="1" dirty="0">
                <a:latin typeface="Times New Roman"/>
                <a:cs typeface="Times New Roman"/>
              </a:rPr>
              <a:t>O</a:t>
            </a:r>
            <a:r>
              <a:rPr sz="2400" b="1" dirty="0">
                <a:latin typeface="Times New Roman"/>
                <a:cs typeface="Times New Roman"/>
              </a:rPr>
              <a:t>(1)</a:t>
            </a:r>
            <a:endParaRPr sz="2400" dirty="0">
              <a:latin typeface="Times New Roman"/>
              <a:cs typeface="Times New Roman"/>
            </a:endParaRPr>
          </a:p>
          <a:p>
            <a:pPr marL="38100" marR="30480" algn="just">
              <a:lnSpc>
                <a:spcPct val="100000"/>
              </a:lnSpc>
              <a:spcBef>
                <a:spcPts val="610"/>
              </a:spcBef>
            </a:pPr>
            <a:r>
              <a:rPr sz="2400" b="1" spc="-5" dirty="0" err="1">
                <a:latin typeface="宋体"/>
                <a:cs typeface="宋体"/>
              </a:rPr>
              <a:t>计算</a:t>
            </a:r>
            <a:r>
              <a:rPr sz="2400" b="1" dirty="0" err="1" smtClean="0">
                <a:latin typeface="Arial"/>
                <a:cs typeface="Arial"/>
              </a:rPr>
              <a:t>,</a:t>
            </a:r>
            <a:r>
              <a:rPr sz="2400" b="1" spc="-5" dirty="0" err="1" smtClean="0">
                <a:latin typeface="宋体"/>
                <a:cs typeface="宋体"/>
              </a:rPr>
              <a:t>基本运算</a:t>
            </a:r>
            <a:r>
              <a:rPr sz="2400" b="1" spc="-5" dirty="0" smtClean="0">
                <a:latin typeface="宋体"/>
                <a:cs typeface="宋体"/>
              </a:rPr>
              <a:t> </a:t>
            </a:r>
            <a:r>
              <a:rPr sz="2400" b="1" spc="-5" dirty="0">
                <a:latin typeface="宋体"/>
                <a:cs typeface="宋体"/>
              </a:rPr>
              <a:t>是整除</a:t>
            </a:r>
            <a:r>
              <a:rPr sz="2400" b="1" dirty="0">
                <a:latin typeface="Arial"/>
                <a:cs typeface="Arial"/>
              </a:rPr>
              <a:t>,</a:t>
            </a:r>
            <a:r>
              <a:rPr sz="2400" b="1" spc="-5" dirty="0">
                <a:latin typeface="宋体"/>
                <a:cs typeface="宋体"/>
              </a:rPr>
              <a:t>以下表 示是否正确？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2469" y="3270421"/>
            <a:ext cx="1612900" cy="83502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60"/>
              </a:spcBef>
            </a:pPr>
            <a:r>
              <a:rPr sz="2200" b="1" i="1" spc="-5" dirty="0">
                <a:latin typeface="Times New Roman"/>
                <a:cs typeface="Times New Roman"/>
              </a:rPr>
              <a:t>W</a:t>
            </a:r>
            <a:r>
              <a:rPr sz="2200" b="1" spc="-5" dirty="0">
                <a:latin typeface="Times New Roman"/>
                <a:cs typeface="Times New Roman"/>
              </a:rPr>
              <a:t>(</a:t>
            </a:r>
            <a:r>
              <a:rPr sz="2200" b="1" i="1" spc="-5" dirty="0">
                <a:latin typeface="Times New Roman"/>
                <a:cs typeface="Times New Roman"/>
              </a:rPr>
              <a:t>n</a:t>
            </a:r>
            <a:r>
              <a:rPr sz="2200" b="1" spc="-5" dirty="0">
                <a:latin typeface="Times New Roman"/>
                <a:cs typeface="Times New Roman"/>
              </a:rPr>
              <a:t>)=</a:t>
            </a:r>
            <a:r>
              <a:rPr sz="2200" b="1" i="1" spc="-5" dirty="0">
                <a:latin typeface="Times New Roman"/>
                <a:cs typeface="Times New Roman"/>
              </a:rPr>
              <a:t>O</a:t>
            </a:r>
            <a:r>
              <a:rPr sz="2200" b="1" spc="-5" dirty="0">
                <a:latin typeface="Times New Roman"/>
                <a:cs typeface="Times New Roman"/>
              </a:rPr>
              <a:t>(</a:t>
            </a:r>
            <a:r>
              <a:rPr sz="2200" b="1" i="1" spc="-5" dirty="0">
                <a:latin typeface="Times New Roman"/>
                <a:cs typeface="Times New Roman"/>
              </a:rPr>
              <a:t>n</a:t>
            </a:r>
            <a:r>
              <a:rPr sz="2175" b="1" spc="-7" baseline="24904" dirty="0">
                <a:latin typeface="Times New Roman"/>
                <a:cs typeface="Times New Roman"/>
              </a:rPr>
              <a:t>1/2</a:t>
            </a:r>
            <a:r>
              <a:rPr sz="2200" b="1" spc="-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sz="2200" b="1" i="1" spc="-10" dirty="0">
                <a:latin typeface="Times New Roman"/>
                <a:cs typeface="Times New Roman"/>
              </a:rPr>
              <a:t>W</a:t>
            </a:r>
            <a:r>
              <a:rPr sz="2200" b="1" spc="-10" dirty="0">
                <a:latin typeface="Times New Roman"/>
                <a:cs typeface="Times New Roman"/>
              </a:rPr>
              <a:t>(</a:t>
            </a:r>
            <a:r>
              <a:rPr sz="2200" b="1" i="1" spc="-10" dirty="0">
                <a:latin typeface="Times New Roman"/>
                <a:cs typeface="Times New Roman"/>
              </a:rPr>
              <a:t>n</a:t>
            </a:r>
            <a:r>
              <a:rPr sz="2200" b="1" spc="-10" dirty="0">
                <a:latin typeface="Times New Roman"/>
                <a:cs typeface="Times New Roman"/>
              </a:rPr>
              <a:t>)=</a:t>
            </a:r>
            <a:r>
              <a:rPr sz="2300" b="1" i="1" spc="-10" dirty="0">
                <a:latin typeface="Symbol"/>
                <a:cs typeface="Symbol"/>
              </a:rPr>
              <a:t></a:t>
            </a:r>
            <a:r>
              <a:rPr sz="2200" b="1" spc="-10" dirty="0">
                <a:latin typeface="Times New Roman"/>
                <a:cs typeface="Times New Roman"/>
              </a:rPr>
              <a:t>(</a:t>
            </a:r>
            <a:r>
              <a:rPr sz="2200" b="1" i="1" spc="-10" dirty="0">
                <a:latin typeface="Times New Roman"/>
                <a:cs typeface="Times New Roman"/>
              </a:rPr>
              <a:t>n</a:t>
            </a:r>
            <a:r>
              <a:rPr sz="2175" b="1" spc="-15" baseline="24904" dirty="0">
                <a:latin typeface="Times New Roman"/>
                <a:cs typeface="Times New Roman"/>
              </a:rPr>
              <a:t>1/2</a:t>
            </a:r>
            <a:r>
              <a:rPr sz="2200" b="1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21475" y="3329525"/>
            <a:ext cx="517525" cy="335280"/>
          </a:xfrm>
          <a:custGeom>
            <a:avLst/>
            <a:gdLst/>
            <a:ahLst/>
            <a:cxnLst/>
            <a:rect l="l" t="t" r="r" b="b"/>
            <a:pathLst>
              <a:path w="517525" h="335279">
                <a:moveTo>
                  <a:pt x="0" y="106552"/>
                </a:moveTo>
                <a:lnTo>
                  <a:pt x="152273" y="335025"/>
                </a:lnTo>
                <a:lnTo>
                  <a:pt x="517525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97675" y="3786725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0"/>
                </a:moveTo>
                <a:lnTo>
                  <a:pt x="304800" y="38100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97675" y="3786725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304800" y="0"/>
                </a:moveTo>
                <a:lnTo>
                  <a:pt x="0" y="38100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54421" y="4296155"/>
            <a:ext cx="1094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宋体"/>
                <a:cs typeface="宋体"/>
              </a:rPr>
              <a:t>为什么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35332" y="4125912"/>
            <a:ext cx="469356" cy="7663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BD40A56-4BC5-4D9F-8C3B-8C97AFADB4C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32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 animBg="1"/>
      <p:bldP spid="11" grpId="0" animBg="1"/>
      <p:bldP spid="12" grpId="0"/>
      <p:bldP spid="1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51232"/>
            <a:ext cx="8229600" cy="2006318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宋体"/>
                <a:cs typeface="宋体"/>
              </a:rPr>
              <a:t>五</a:t>
            </a:r>
            <a:r>
              <a:rPr sz="2800" b="1" spc="-5" dirty="0">
                <a:latin typeface="宋体"/>
                <a:cs typeface="宋体"/>
              </a:rPr>
              <a:t>种</a:t>
            </a:r>
            <a:r>
              <a:rPr sz="2800" b="1" spc="-10" dirty="0">
                <a:latin typeface="宋体"/>
                <a:cs typeface="宋体"/>
              </a:rPr>
              <a:t>表</a:t>
            </a:r>
            <a:r>
              <a:rPr sz="2800" b="1" spc="-5" dirty="0">
                <a:latin typeface="宋体"/>
                <a:cs typeface="宋体"/>
              </a:rPr>
              <a:t>示函</a:t>
            </a:r>
            <a:r>
              <a:rPr sz="2800" b="1" spc="5" dirty="0">
                <a:latin typeface="宋体"/>
                <a:cs typeface="宋体"/>
              </a:rPr>
              <a:t>数</a:t>
            </a:r>
            <a:r>
              <a:rPr sz="2800" b="1" spc="-5" dirty="0">
                <a:latin typeface="宋体"/>
                <a:cs typeface="宋体"/>
              </a:rPr>
              <a:t>的阶的符</a:t>
            </a:r>
            <a:r>
              <a:rPr sz="2800" b="1" spc="-10" dirty="0">
                <a:latin typeface="宋体"/>
                <a:cs typeface="宋体"/>
              </a:rPr>
              <a:t>号</a:t>
            </a:r>
            <a:endParaRPr sz="2800" dirty="0">
              <a:latin typeface="宋体"/>
              <a:cs typeface="宋体"/>
            </a:endParaRPr>
          </a:p>
          <a:p>
            <a:pPr marL="421640">
              <a:lnSpc>
                <a:spcPct val="100000"/>
              </a:lnSpc>
              <a:spcBef>
                <a:spcPts val="459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O, </a:t>
            </a:r>
            <a:r>
              <a:rPr sz="2800" b="1" i="1" spc="-40" dirty="0">
                <a:latin typeface="Symbol"/>
                <a:cs typeface="Symbol"/>
              </a:rPr>
              <a:t></a:t>
            </a:r>
            <a:r>
              <a:rPr sz="2800" b="1" i="1" spc="-40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o, </a:t>
            </a:r>
            <a:r>
              <a:rPr sz="2800" b="1" i="1" spc="-35" dirty="0">
                <a:latin typeface="Symbol"/>
                <a:cs typeface="Symbol"/>
              </a:rPr>
              <a:t></a:t>
            </a:r>
            <a:r>
              <a:rPr sz="2800" b="1" i="1" spc="-35" dirty="0">
                <a:latin typeface="Times New Roman"/>
                <a:cs typeface="Times New Roman"/>
              </a:rPr>
              <a:t>,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</a:t>
            </a:r>
            <a:endParaRPr sz="2800" dirty="0">
              <a:latin typeface="Symbol"/>
              <a:cs typeface="Symbo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定义</a:t>
            </a:r>
            <a:endParaRPr sz="28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宋体"/>
                <a:cs typeface="宋体"/>
              </a:rPr>
              <a:t>如何用定</a:t>
            </a:r>
            <a:r>
              <a:rPr sz="2800" b="1" spc="-5" dirty="0">
                <a:latin typeface="宋体"/>
                <a:cs typeface="宋体"/>
              </a:rPr>
              <a:t>义</a:t>
            </a:r>
            <a:r>
              <a:rPr sz="2800" b="1" dirty="0">
                <a:latin typeface="宋体"/>
                <a:cs typeface="宋体"/>
              </a:rPr>
              <a:t>证</a:t>
            </a:r>
            <a:r>
              <a:rPr sz="2800" b="1" spc="-5" dirty="0">
                <a:latin typeface="宋体"/>
                <a:cs typeface="宋体"/>
              </a:rPr>
              <a:t>明函数的阶</a:t>
            </a:r>
            <a:r>
              <a:rPr sz="2400" b="1" spc="-10" dirty="0">
                <a:latin typeface="宋体"/>
                <a:cs typeface="宋体"/>
              </a:rPr>
              <a:t>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6B7CE7A-D365-4B49-AD40-574DE078F74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72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357630"/>
            <a:ext cx="81534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170" algn="ctr">
              <a:lnSpc>
                <a:spcPct val="100000"/>
              </a:lnSpc>
              <a:spcBef>
                <a:spcPts val="100"/>
              </a:spcBef>
            </a:pP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有关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函</a:t>
            </a:r>
            <a:r>
              <a:rPr sz="6600" spc="-5" dirty="0" err="1" smtClean="0">
                <a:latin typeface="黑体" pitchFamily="49" charset="-122"/>
                <a:ea typeface="黑体" pitchFamily="49" charset="-122"/>
              </a:rPr>
              <a:t>数</a:t>
            </a:r>
            <a:r>
              <a:rPr sz="6600" spc="-25" dirty="0" err="1" smtClean="0">
                <a:latin typeface="黑体" pitchFamily="49" charset="-122"/>
                <a:ea typeface="黑体" pitchFamily="49" charset="-122"/>
              </a:rPr>
              <a:t>渐</a:t>
            </a:r>
            <a:r>
              <a:rPr lang="en-US" sz="6600" spc="-25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en-US" sz="6600" spc="-25" dirty="0" smtClean="0">
                <a:latin typeface="黑体" pitchFamily="49" charset="-122"/>
                <a:ea typeface="黑体" pitchFamily="49" charset="-122"/>
              </a:rPr>
            </a:b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近的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界</a:t>
            </a:r>
            <a:r>
              <a:rPr sz="6600" spc="-5" dirty="0" err="1" smtClean="0">
                <a:latin typeface="黑体" pitchFamily="49" charset="-122"/>
                <a:ea typeface="黑体" pitchFamily="49" charset="-122"/>
              </a:rPr>
              <a:t>的定理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C9B44F1-3563-4ED5-8E4B-FD998CC332D1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12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6345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定理</a:t>
            </a:r>
            <a:r>
              <a:rPr sz="4000" spc="-1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1" y="1255847"/>
            <a:ext cx="83032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定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理</a:t>
            </a:r>
            <a:r>
              <a:rPr sz="2400" b="1" spc="-1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设</a:t>
            </a:r>
            <a:r>
              <a:rPr sz="2400" b="1" spc="-56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和</a:t>
            </a:r>
            <a:r>
              <a:rPr sz="2400" b="1" spc="-56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宋体"/>
                <a:cs typeface="宋体"/>
              </a:rPr>
              <a:t>是定义域为自</a:t>
            </a:r>
            <a:r>
              <a:rPr sz="2400" b="1" dirty="0">
                <a:latin typeface="宋体"/>
                <a:cs typeface="宋体"/>
              </a:rPr>
              <a:t>然</a:t>
            </a:r>
            <a:r>
              <a:rPr sz="2400" b="1" spc="-5" dirty="0">
                <a:latin typeface="宋体"/>
                <a:cs typeface="宋体"/>
              </a:rPr>
              <a:t>数</a:t>
            </a:r>
            <a:r>
              <a:rPr sz="2400" b="1" dirty="0">
                <a:latin typeface="宋体"/>
                <a:cs typeface="宋体"/>
              </a:rPr>
              <a:t>集合的</a:t>
            </a:r>
            <a:r>
              <a:rPr sz="2400" b="1" spc="-5" dirty="0">
                <a:latin typeface="宋体"/>
                <a:cs typeface="宋体"/>
              </a:rPr>
              <a:t>函</a:t>
            </a:r>
            <a:r>
              <a:rPr sz="2400" b="1" spc="-10" dirty="0">
                <a:latin typeface="宋体"/>
                <a:cs typeface="宋体"/>
              </a:rPr>
              <a:t>数</a:t>
            </a:r>
            <a:r>
              <a:rPr sz="2200" b="1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495" y="1743563"/>
            <a:ext cx="84871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(1)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如果lim f (n) / g(n)存在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并且等于某个</a:t>
            </a:r>
            <a:r>
              <a:rPr lang="zh-CN" altLang="en-US" sz="2400" b="1" spc="-5" dirty="0">
                <a:latin typeface="Times New Roman" pitchFamily="18" charset="0"/>
                <a:cs typeface="Times New Roman" pitchFamily="18" charset="0"/>
              </a:rPr>
              <a:t>常数</a:t>
            </a:r>
            <a:r>
              <a:rPr lang="en-US" altLang="zh-CN" sz="2400" b="1" i="1" spc="-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b="1" spc="-5" dirty="0">
                <a:latin typeface="Times New Roman" pitchFamily="18" charset="0"/>
                <a:cs typeface="Times New Roman" pitchFamily="18" charset="0"/>
              </a:rPr>
              <a:t>&gt;0</a:t>
            </a:r>
            <a:r>
              <a:rPr lang="en-US" altLang="zh-CN" sz="2400" b="1" spc="-5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400" b="1" spc="-5" dirty="0" smtClean="0">
                <a:latin typeface="Times New Roman" pitchFamily="18" charset="0"/>
                <a:cs typeface="Times New Roman" pitchFamily="18" charset="0"/>
              </a:rPr>
              <a:t>那</a:t>
            </a:r>
            <a:r>
              <a:rPr lang="zh-CN" altLang="en-US" sz="2400" b="1" spc="-10" dirty="0" smtClean="0">
                <a:latin typeface="Times New Roman" pitchFamily="18" charset="0"/>
                <a:cs typeface="Times New Roman" pitchFamily="18" charset="0"/>
              </a:rPr>
              <a:t>么</a:t>
            </a:r>
            <a:r>
              <a:rPr lang="zh-CN" altLang="en-US" sz="2400" b="1" spc="-585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41" y="2129343"/>
            <a:ext cx="7579360" cy="41036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84"/>
              </a:spcBef>
              <a:tabLst>
                <a:tab pos="1206500" algn="l"/>
              </a:tabLst>
            </a:pP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i="1" spc="-15" dirty="0">
                <a:latin typeface="Symbol"/>
                <a:cs typeface="Symbol"/>
              </a:rPr>
              <a:t>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15" dirty="0">
                <a:latin typeface="Times New Roman"/>
                <a:cs typeface="Times New Roman"/>
              </a:rPr>
              <a:t>)).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372" y="2722835"/>
            <a:ext cx="8360829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397510">
              <a:lnSpc>
                <a:spcPts val="2420"/>
              </a:lnSpc>
              <a:spcBef>
                <a:spcPts val="100"/>
              </a:spcBef>
              <a:buFont typeface="Times New Roman"/>
              <a:buAutoNum type="arabicParenBoth" startAt="2"/>
              <a:tabLst>
                <a:tab pos="461645" algn="l"/>
              </a:tabLst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如果l</a:t>
            </a:r>
            <a:r>
              <a:rPr sz="2400" b="1" spc="130" dirty="0" err="1" smtClean="0">
                <a:latin typeface="Times New Roman" pitchFamily="18" charset="0"/>
                <a:cs typeface="Times New Roman" pitchFamily="18" charset="0"/>
              </a:rPr>
              <a:t>im</a:t>
            </a:r>
            <a:r>
              <a:rPr sz="2400" b="1" spc="3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9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16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16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16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400" b="1" spc="-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75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sz="2400" b="1" spc="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114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400" b="1" spc="114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400" b="1" i="1" spc="114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)=0，那么</a:t>
            </a:r>
          </a:p>
          <a:p>
            <a:pPr marL="1168400">
              <a:lnSpc>
                <a:spcPts val="1220"/>
              </a:lnSpc>
            </a:pPr>
            <a:endParaRPr lang="en-US" sz="2400" b="1" i="1" spc="-5" dirty="0" smtClean="0">
              <a:latin typeface="Times New Roman"/>
              <a:cs typeface="Times New Roman"/>
            </a:endParaRPr>
          </a:p>
          <a:p>
            <a:pPr marL="1168400">
              <a:lnSpc>
                <a:spcPts val="1220"/>
              </a:lnSpc>
            </a:pPr>
            <a:r>
              <a:rPr lang="en-US" sz="2400" b="1" i="1" spc="-5" dirty="0" smtClean="0">
                <a:latin typeface="Times New Roman"/>
                <a:cs typeface="Times New Roman"/>
              </a:rPr>
              <a:t>                              </a:t>
            </a: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)).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L="1168400">
              <a:lnSpc>
                <a:spcPts val="122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461009" indent="-398145">
              <a:lnSpc>
                <a:spcPts val="2420"/>
              </a:lnSpc>
              <a:spcBef>
                <a:spcPts val="95"/>
              </a:spcBef>
              <a:buFont typeface="Times New Roman"/>
              <a:buAutoNum type="arabicParenBoth" startAt="3"/>
              <a:tabLst>
                <a:tab pos="461645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如果lim f (n) / g(n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)=+</a:t>
            </a:r>
            <a:r>
              <a:rPr lang="en-US" altLang="zh-CN" sz="2400" b="1" spc="180" dirty="0" smtClean="0">
                <a:latin typeface="Symbol"/>
                <a:cs typeface="Symbol"/>
              </a:rPr>
              <a:t></a:t>
            </a:r>
            <a:r>
              <a:rPr sz="2400" b="1" spc="-5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那么</a:t>
            </a:r>
          </a:p>
          <a:p>
            <a:pPr marL="483234">
              <a:lnSpc>
                <a:spcPts val="2725"/>
              </a:lnSpc>
            </a:pPr>
            <a:r>
              <a:rPr lang="en-US" sz="2200" b="1" i="1" spc="-5" dirty="0" smtClean="0">
                <a:latin typeface="Times New Roman"/>
                <a:cs typeface="Times New Roman"/>
              </a:rPr>
              <a:t>                                       </a:t>
            </a: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i="1" spc="-15" dirty="0">
                <a:latin typeface="Symbol"/>
                <a:cs typeface="Symbol"/>
              </a:rPr>
              <a:t>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15" dirty="0">
                <a:latin typeface="Times New Roman"/>
                <a:cs typeface="Times New Roman"/>
              </a:rPr>
              <a:t>)).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820" y="4171950"/>
            <a:ext cx="2811780" cy="462280"/>
          </a:xfrm>
          <a:prstGeom prst="rect">
            <a:avLst/>
          </a:prstGeom>
          <a:ln w="25146">
            <a:solidFill>
              <a:srgbClr val="C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00"/>
              </a:spcBef>
            </a:pPr>
            <a:r>
              <a:rPr sz="2400" b="1" spc="-5" dirty="0">
                <a:latin typeface="宋体"/>
                <a:cs typeface="宋体"/>
              </a:rPr>
              <a:t>证明用到</a:t>
            </a:r>
            <a:r>
              <a:rPr sz="2500" b="1" i="1" spc="-30" dirty="0">
                <a:latin typeface="Symbol"/>
                <a:cs typeface="Symbol"/>
              </a:rPr>
              <a:t></a:t>
            </a:r>
            <a:r>
              <a:rPr sz="2400" b="1" i="1" spc="-30" dirty="0">
                <a:latin typeface="Times New Roman"/>
                <a:cs typeface="Times New Roman"/>
              </a:rPr>
              <a:t>,o,</a:t>
            </a:r>
            <a:r>
              <a:rPr sz="2500" b="1" i="1" spc="-30" dirty="0">
                <a:latin typeface="Symbol"/>
                <a:cs typeface="Symbol"/>
              </a:rPr>
              <a:t></a:t>
            </a:r>
            <a:r>
              <a:rPr sz="2400" b="1" spc="-5" dirty="0">
                <a:latin typeface="宋体"/>
                <a:cs typeface="宋体"/>
              </a:rPr>
              <a:t>定</a:t>
            </a:r>
            <a:r>
              <a:rPr sz="2400" b="1" spc="-10" dirty="0">
                <a:latin typeface="宋体"/>
                <a:cs typeface="宋体"/>
              </a:rPr>
              <a:t>义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1558" y="1931846"/>
            <a:ext cx="1474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92785" algn="ctr">
              <a:lnSpc>
                <a:spcPct val="100000"/>
              </a:lnSpc>
              <a:spcBef>
                <a:spcPts val="320"/>
              </a:spcBef>
            </a:pPr>
            <a:r>
              <a:rPr lang="en-US" altLang="zh-CN" b="1" i="1" spc="180" dirty="0">
                <a:latin typeface="Times New Roman"/>
                <a:cs typeface="Times New Roman"/>
              </a:rPr>
              <a:t>n</a:t>
            </a:r>
            <a:r>
              <a:rPr lang="en-US" altLang="zh-CN" b="1" spc="180" dirty="0">
                <a:latin typeface="Symbol"/>
                <a:cs typeface="Symbol"/>
              </a:rPr>
              <a:t></a:t>
            </a:r>
            <a:endParaRPr lang="en-US" altLang="zh-CN" dirty="0">
              <a:latin typeface="Symbol"/>
              <a:cs typeface="Symbo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4495" y="2905938"/>
            <a:ext cx="1474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92785" algn="ctr">
              <a:lnSpc>
                <a:spcPct val="100000"/>
              </a:lnSpc>
              <a:spcBef>
                <a:spcPts val="320"/>
              </a:spcBef>
            </a:pPr>
            <a:r>
              <a:rPr lang="en-US" altLang="zh-CN" b="1" i="1" spc="180" dirty="0">
                <a:latin typeface="Times New Roman"/>
                <a:cs typeface="Times New Roman"/>
              </a:rPr>
              <a:t>n</a:t>
            </a:r>
            <a:r>
              <a:rPr lang="en-US" altLang="zh-CN" b="1" spc="180" dirty="0">
                <a:latin typeface="Symbol"/>
                <a:cs typeface="Symbol"/>
              </a:rPr>
              <a:t></a:t>
            </a:r>
            <a:endParaRPr lang="en-US" altLang="zh-CN" dirty="0">
              <a:latin typeface="Symbol"/>
              <a:cs typeface="Symbo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8201" y="3678991"/>
            <a:ext cx="1474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92785" algn="ctr">
              <a:lnSpc>
                <a:spcPct val="100000"/>
              </a:lnSpc>
              <a:spcBef>
                <a:spcPts val="320"/>
              </a:spcBef>
            </a:pPr>
            <a:r>
              <a:rPr lang="en-US" altLang="zh-CN" b="1" i="1" spc="180" dirty="0">
                <a:latin typeface="Times New Roman"/>
                <a:cs typeface="Times New Roman"/>
              </a:rPr>
              <a:t>n</a:t>
            </a:r>
            <a:r>
              <a:rPr lang="en-US" altLang="zh-CN" b="1" spc="180" dirty="0">
                <a:latin typeface="Symbol"/>
                <a:cs typeface="Symbol"/>
              </a:rPr>
              <a:t></a:t>
            </a:r>
            <a:endParaRPr lang="en-US" altLang="zh-CN" dirty="0">
              <a:latin typeface="Symbol"/>
              <a:cs typeface="Symbol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AFDB70F-106E-49E1-964B-495639BCF05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03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391769"/>
            <a:ext cx="1371600" cy="380873"/>
          </a:xfrm>
          <a:prstGeom prst="rect">
            <a:avLst/>
          </a:prstGeom>
          <a:ln w="25146">
            <a:solidFill>
              <a:srgbClr val="C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10"/>
              </a:spcBef>
            </a:pPr>
            <a:r>
              <a:rPr sz="2200" b="1" spc="-5" dirty="0">
                <a:latin typeface="宋体"/>
                <a:cs typeface="宋体"/>
              </a:rPr>
              <a:t>取</a:t>
            </a:r>
            <a:r>
              <a:rPr sz="2300" b="1" i="1" spc="-45" dirty="0">
                <a:latin typeface="Symbol"/>
                <a:cs typeface="Symbol"/>
              </a:rPr>
              <a:t></a:t>
            </a:r>
            <a:r>
              <a:rPr sz="2300" b="1" i="1" spc="-45" dirty="0">
                <a:latin typeface="Times New Roman"/>
                <a:cs typeface="Times New Roman"/>
              </a:rPr>
              <a:t> </a:t>
            </a:r>
            <a:r>
              <a:rPr lang="en-US" sz="2300" b="1" i="1" spc="-45" dirty="0" smtClean="0">
                <a:latin typeface="Times New Roman"/>
                <a:cs typeface="Times New Roman"/>
              </a:rPr>
              <a:t> </a:t>
            </a:r>
            <a:r>
              <a:rPr sz="2200" b="1" i="1" spc="-5" dirty="0" smtClean="0">
                <a:latin typeface="Times New Roman"/>
                <a:cs typeface="Times New Roman"/>
              </a:rPr>
              <a:t>=</a:t>
            </a:r>
            <a:r>
              <a:rPr lang="en-US" sz="2200" b="1" i="1" spc="-5" dirty="0" smtClean="0">
                <a:latin typeface="Times New Roman"/>
                <a:cs typeface="Times New Roman"/>
              </a:rPr>
              <a:t> </a:t>
            </a:r>
            <a:r>
              <a:rPr sz="2200" b="1" i="1" spc="-5" dirty="0" smtClean="0">
                <a:latin typeface="Times New Roman"/>
                <a:cs typeface="Times New Roman"/>
              </a:rPr>
              <a:t>c</a:t>
            </a:r>
            <a:r>
              <a:rPr sz="2200" b="1" spc="-5" dirty="0" smtClean="0">
                <a:latin typeface="Times New Roman"/>
                <a:cs typeface="Times New Roman"/>
              </a:rPr>
              <a:t>/2</a:t>
            </a:r>
            <a:r>
              <a:rPr sz="2200" b="1" spc="-5" dirty="0">
                <a:latin typeface="Times New Roman"/>
                <a:cs typeface="Times New Roman"/>
              </a:rPr>
              <a:t>,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证明定理1(1)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17075"/>
            <a:ext cx="8229600" cy="74507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5400" marR="17780">
              <a:lnSpc>
                <a:spcPts val="2640"/>
              </a:lnSpc>
              <a:spcBef>
                <a:spcPts val="309"/>
              </a:spcBef>
            </a:pPr>
            <a:r>
              <a:rPr sz="2400" b="1" spc="-5" dirty="0">
                <a:latin typeface="宋体"/>
                <a:cs typeface="宋体"/>
              </a:rPr>
              <a:t>根据极限定义</a:t>
            </a:r>
            <a:r>
              <a:rPr sz="2400" b="1" dirty="0">
                <a:latin typeface="宋体"/>
                <a:cs typeface="宋体"/>
              </a:rPr>
              <a:t>，对于</a:t>
            </a:r>
            <a:r>
              <a:rPr sz="2400" b="1" spc="-5" dirty="0">
                <a:latin typeface="宋体"/>
                <a:cs typeface="宋体"/>
              </a:rPr>
              <a:t>给</a:t>
            </a:r>
            <a:r>
              <a:rPr sz="2400" b="1" dirty="0">
                <a:latin typeface="宋体"/>
                <a:cs typeface="宋体"/>
              </a:rPr>
              <a:t>定正</a:t>
            </a:r>
            <a:r>
              <a:rPr sz="2400" b="1" spc="-10" dirty="0">
                <a:latin typeface="宋体"/>
                <a:cs typeface="宋体"/>
              </a:rPr>
              <a:t>数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i="1" spc="-45" dirty="0">
                <a:latin typeface="Symbol"/>
                <a:cs typeface="Symbol"/>
              </a:rPr>
              <a:t>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lang="en-US" sz="2400" b="1" i="1" spc="-40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宋体"/>
                <a:cs typeface="宋体"/>
              </a:rPr>
              <a:t>存在某</a:t>
            </a:r>
            <a:r>
              <a:rPr sz="2400" b="1" spc="-10" dirty="0" smtClean="0">
                <a:latin typeface="宋体"/>
                <a:cs typeface="宋体"/>
              </a:rPr>
              <a:t>个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7" baseline="-21072" dirty="0" smtClean="0">
                <a:latin typeface="Times New Roman"/>
                <a:cs typeface="Times New Roman"/>
              </a:rPr>
              <a:t>0</a:t>
            </a:r>
            <a:r>
              <a:rPr sz="2400" b="1" spc="-5" dirty="0" smtClean="0">
                <a:latin typeface="宋体"/>
                <a:cs typeface="宋体"/>
              </a:rPr>
              <a:t>，只要</a:t>
            </a:r>
            <a:r>
              <a:rPr sz="2400" b="1" i="1" dirty="0" smtClean="0">
                <a:latin typeface="Times New Roman"/>
                <a:cs typeface="Times New Roman"/>
              </a:rPr>
              <a:t>n </a:t>
            </a:r>
            <a:r>
              <a:rPr sz="2400" b="1" dirty="0" smtClean="0">
                <a:latin typeface="Symbol"/>
                <a:cs typeface="Symbol"/>
              </a:rPr>
              <a:t></a:t>
            </a:r>
            <a:r>
              <a:rPr sz="2400" b="1" spc="5" dirty="0" smtClean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baseline="-21072" dirty="0">
                <a:latin typeface="Times New Roman"/>
                <a:cs typeface="Times New Roman"/>
              </a:rPr>
              <a:t>0</a:t>
            </a:r>
            <a:r>
              <a:rPr sz="2400" b="1" dirty="0" smtClean="0">
                <a:latin typeface="宋体"/>
                <a:cs typeface="宋体"/>
              </a:rPr>
              <a:t>，</a:t>
            </a:r>
            <a:r>
              <a:rPr sz="2400" b="1" spc="-5" dirty="0" smtClean="0">
                <a:latin typeface="宋体"/>
                <a:cs typeface="宋体"/>
              </a:rPr>
              <a:t>有</a:t>
            </a:r>
            <a:endParaRPr sz="2400" dirty="0">
              <a:latin typeface="宋体"/>
              <a:cs typeface="宋体"/>
            </a:endParaRPr>
          </a:p>
          <a:p>
            <a:pPr marL="280670" algn="ctr">
              <a:lnSpc>
                <a:spcPts val="2905"/>
              </a:lnSpc>
            </a:pPr>
            <a:r>
              <a:rPr sz="2400" b="1" spc="-5" dirty="0">
                <a:latin typeface="Times New Roman"/>
                <a:cs typeface="Times New Roman"/>
              </a:rPr>
              <a:t>|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)/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Symbol"/>
                <a:cs typeface="Symbol"/>
              </a:rPr>
              <a:t></a:t>
            </a:r>
            <a:r>
              <a:rPr sz="2400" b="1" i="1" spc="-5" dirty="0">
                <a:latin typeface="Times New Roman"/>
                <a:cs typeface="Times New Roman"/>
              </a:rPr>
              <a:t>c </a:t>
            </a:r>
            <a:r>
              <a:rPr sz="2400" b="1" spc="-5" dirty="0">
                <a:latin typeface="Times New Roman"/>
                <a:cs typeface="Times New Roman"/>
              </a:rPr>
              <a:t>|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500" b="1" i="1" spc="-50" dirty="0">
                <a:latin typeface="Symbol"/>
                <a:cs typeface="Symbol"/>
              </a:rPr>
              <a:t></a:t>
            </a:r>
            <a:endParaRPr sz="2500" dirty="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7539" y="2038350"/>
            <a:ext cx="3269615" cy="1016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30"/>
              </a:spcBef>
              <a:tabLst>
                <a:tab pos="749300" algn="l"/>
                <a:tab pos="107442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Symbol"/>
                <a:cs typeface="Symbol"/>
              </a:rPr>
              <a:t></a:t>
            </a:r>
            <a:r>
              <a:rPr sz="2500" b="1" i="1" spc="-25" dirty="0">
                <a:latin typeface="Symbol"/>
                <a:cs typeface="Symbol"/>
              </a:rPr>
              <a:t></a:t>
            </a:r>
            <a:r>
              <a:rPr sz="2500" spc="-25" dirty="0">
                <a:latin typeface="Times New Roman"/>
                <a:cs typeface="Times New Roman"/>
              </a:rPr>
              <a:t>	</a:t>
            </a:r>
            <a:r>
              <a:rPr sz="2400" b="1" i="1" dirty="0">
                <a:latin typeface="Times New Roman"/>
                <a:cs typeface="Times New Roman"/>
              </a:rPr>
              <a:t>&lt;	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)/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+</a:t>
            </a:r>
            <a:r>
              <a:rPr sz="2500" b="1" i="1" spc="-25" dirty="0">
                <a:latin typeface="Symbol"/>
                <a:cs typeface="Symbol"/>
              </a:rPr>
              <a:t></a:t>
            </a:r>
            <a:endParaRPr sz="250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c/</a:t>
            </a:r>
            <a:r>
              <a:rPr sz="2400" b="1" spc="-5" dirty="0">
                <a:latin typeface="Times New Roman"/>
                <a:cs typeface="Times New Roman"/>
              </a:rPr>
              <a:t>2 </a:t>
            </a:r>
            <a:r>
              <a:rPr sz="2400" b="1" i="1" dirty="0">
                <a:latin typeface="Times New Roman"/>
                <a:cs typeface="Times New Roman"/>
              </a:rPr>
              <a:t>&lt;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)/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spc="-5" dirty="0">
                <a:latin typeface="Times New Roman"/>
                <a:cs typeface="Times New Roman"/>
              </a:rPr>
              <a:t>3</a:t>
            </a:r>
            <a:r>
              <a:rPr sz="2400" b="1" i="1" spc="-5" dirty="0">
                <a:latin typeface="Times New Roman"/>
                <a:cs typeface="Times New Roman"/>
              </a:rPr>
              <a:t>c/</a:t>
            </a:r>
            <a:r>
              <a:rPr sz="2400" b="1" spc="-5" dirty="0">
                <a:latin typeface="Times New Roman"/>
                <a:cs typeface="Times New Roman"/>
              </a:rPr>
              <a:t>2 </a:t>
            </a:r>
            <a:r>
              <a:rPr sz="2400" b="1" i="1" dirty="0">
                <a:latin typeface="Times New Roman"/>
                <a:cs typeface="Times New Roman"/>
              </a:rPr>
              <a:t>&lt;</a:t>
            </a:r>
            <a:r>
              <a:rPr sz="2400" b="1" i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2952750"/>
            <a:ext cx="8229600" cy="1118896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65"/>
              </a:spcBef>
              <a:tabLst>
                <a:tab pos="1649095" algn="l"/>
              </a:tabLst>
            </a:pPr>
            <a:r>
              <a:rPr sz="2400" b="1" spc="-5" dirty="0" err="1">
                <a:latin typeface="宋体"/>
                <a:cs typeface="宋体"/>
              </a:rPr>
              <a:t>对所</a:t>
            </a:r>
            <a:r>
              <a:rPr sz="2400" b="1" spc="-10" dirty="0" err="1">
                <a:latin typeface="宋体"/>
                <a:cs typeface="宋体"/>
              </a:rPr>
              <a:t>有</a:t>
            </a:r>
            <a:r>
              <a:rPr sz="2400" b="1" i="1" spc="-5" dirty="0" err="1" smtClean="0">
                <a:latin typeface="Times New Roman"/>
                <a:cs typeface="Times New Roman"/>
              </a:rPr>
              <a:t>n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Symbol"/>
                <a:cs typeface="Symbol"/>
              </a:rPr>
              <a:t></a:t>
            </a:r>
            <a:r>
              <a:rPr lang="en-US" sz="2400" b="1" spc="-5" dirty="0" smtClean="0">
                <a:latin typeface="Symbol"/>
                <a:cs typeface="Symbol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7" baseline="-21072" dirty="0" smtClean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,	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Symbol"/>
                <a:cs typeface="Symbol"/>
              </a:rPr>
              <a:t></a:t>
            </a:r>
            <a:r>
              <a:rPr sz="2400" b="1" spc="10" dirty="0" smtClean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i="1" spc="-5" dirty="0">
                <a:latin typeface="Times New Roman"/>
                <a:cs typeface="Times New Roman"/>
              </a:rPr>
              <a:t>cg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),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于</a:t>
            </a:r>
            <a:r>
              <a:rPr sz="2400" b="1" spc="-10" dirty="0">
                <a:latin typeface="宋体"/>
                <a:cs typeface="宋体"/>
              </a:rPr>
              <a:t>是</a:t>
            </a:r>
            <a:r>
              <a:rPr sz="2400" b="1" spc="-55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=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O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g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))</a:t>
            </a:r>
            <a:r>
              <a:rPr sz="2400" b="1" spc="-5" dirty="0">
                <a:latin typeface="宋体"/>
                <a:cs typeface="宋体"/>
              </a:rPr>
              <a:t>；</a:t>
            </a:r>
            <a:endParaRPr sz="24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460"/>
              </a:spcBef>
              <a:tabLst>
                <a:tab pos="1649095" algn="l"/>
              </a:tabLst>
            </a:pPr>
            <a:r>
              <a:rPr sz="2400" b="1" spc="-5" dirty="0" err="1">
                <a:latin typeface="宋体"/>
                <a:cs typeface="宋体"/>
              </a:rPr>
              <a:t>对所</a:t>
            </a:r>
            <a:r>
              <a:rPr sz="2400" b="1" spc="-10" dirty="0" err="1">
                <a:latin typeface="宋体"/>
                <a:cs typeface="宋体"/>
              </a:rPr>
              <a:t>有</a:t>
            </a:r>
            <a:r>
              <a:rPr sz="2400" b="1" i="1" spc="-5" dirty="0" err="1" smtClean="0">
                <a:latin typeface="Times New Roman"/>
                <a:cs typeface="Times New Roman"/>
              </a:rPr>
              <a:t>n</a:t>
            </a:r>
            <a:r>
              <a:rPr lang="en-US"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Symbol"/>
                <a:cs typeface="Symbol"/>
              </a:rPr>
              <a:t></a:t>
            </a:r>
            <a:r>
              <a:rPr lang="en-US" sz="2400" b="1" spc="-5" dirty="0" smtClean="0">
                <a:latin typeface="Symbol"/>
                <a:cs typeface="Symbol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7" baseline="-21072" dirty="0" smtClean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,	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 smtClean="0">
                <a:latin typeface="Times New Roman"/>
                <a:cs typeface="Times New Roman"/>
              </a:rPr>
              <a:t>f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Symbol"/>
                <a:cs typeface="Symbol"/>
              </a:rPr>
              <a:t></a:t>
            </a:r>
            <a:r>
              <a:rPr lang="en-US" sz="2400" b="1" spc="-5" dirty="0" smtClean="0">
                <a:latin typeface="Symbol"/>
                <a:cs typeface="Symbol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Times New Roman"/>
                <a:cs typeface="Times New Roman"/>
              </a:rPr>
              <a:t>/2)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),</a:t>
            </a:r>
            <a:r>
              <a:rPr lang="en-US" sz="2400" b="1" spc="-5" dirty="0" smtClean="0">
                <a:latin typeface="Times New Roman"/>
                <a:cs typeface="Times New Roman"/>
              </a:rPr>
              <a:t> </a:t>
            </a:r>
            <a:r>
              <a:rPr sz="2400" b="1" dirty="0" err="1" smtClean="0">
                <a:latin typeface="宋体"/>
                <a:cs typeface="宋体"/>
              </a:rPr>
              <a:t>于</a:t>
            </a:r>
            <a:r>
              <a:rPr sz="2400" b="1" spc="-10" dirty="0" err="1" smtClean="0">
                <a:latin typeface="宋体"/>
                <a:cs typeface="宋体"/>
              </a:rPr>
              <a:t>是</a:t>
            </a:r>
            <a:r>
              <a:rPr sz="2400" b="1" spc="-530" dirty="0" smtClean="0">
                <a:latin typeface="宋体"/>
                <a:cs typeface="宋体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f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 smtClean="0">
                <a:latin typeface="Times New Roman"/>
                <a:cs typeface="Times New Roman"/>
              </a:rPr>
              <a:t>)</a:t>
            </a:r>
            <a:r>
              <a:rPr lang="en-US" sz="2400" b="1" spc="-10" dirty="0" smtClean="0">
                <a:latin typeface="Times New Roman"/>
                <a:cs typeface="Times New Roman"/>
              </a:rPr>
              <a:t> </a:t>
            </a:r>
            <a:r>
              <a:rPr sz="2400" b="1" spc="-10" dirty="0" smtClean="0">
                <a:latin typeface="Times New Roman"/>
                <a:cs typeface="Times New Roman"/>
              </a:rPr>
              <a:t>=</a:t>
            </a:r>
            <a:r>
              <a:rPr lang="en-US" sz="2400" b="1" spc="-10" dirty="0" smtClean="0">
                <a:latin typeface="Times New Roman"/>
                <a:cs typeface="Times New Roman"/>
              </a:rPr>
              <a:t> </a:t>
            </a:r>
            <a:r>
              <a:rPr sz="2400" b="1" i="1" spc="-10" dirty="0" smtClean="0">
                <a:latin typeface="Symbol"/>
                <a:cs typeface="Symbol"/>
              </a:rPr>
              <a:t>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g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>
                <a:latin typeface="Times New Roman"/>
                <a:cs typeface="Times New Roman"/>
              </a:rPr>
              <a:t>)).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060" y="4267685"/>
            <a:ext cx="5867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宋体"/>
                <a:cs typeface="宋体"/>
              </a:rPr>
              <a:t>从而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2" y="4252558"/>
            <a:ext cx="2286508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i="1" spc="-15" dirty="0">
                <a:latin typeface="Symbol"/>
                <a:cs typeface="Symbol"/>
              </a:rPr>
              <a:t>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15" dirty="0">
                <a:latin typeface="Times New Roman"/>
                <a:cs typeface="Times New Roman"/>
              </a:rPr>
              <a:t>)).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07B5D61-97E4-4D5B-A1E2-D9E8477A6DF9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01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66973"/>
            <a:ext cx="8305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例：估计函</a:t>
            </a:r>
            <a:r>
              <a:rPr sz="4000" spc="-5" dirty="0"/>
              <a:t>数</a:t>
            </a:r>
            <a:r>
              <a:rPr sz="4000" spc="-10" dirty="0"/>
              <a:t>的</a:t>
            </a:r>
            <a:r>
              <a:rPr sz="4000" spc="-15" dirty="0"/>
              <a:t>阶</a:t>
            </a:r>
          </a:p>
        </p:txBody>
      </p:sp>
      <p:sp>
        <p:nvSpPr>
          <p:cNvPr id="3" name="object 3"/>
          <p:cNvSpPr/>
          <p:nvPr/>
        </p:nvSpPr>
        <p:spPr>
          <a:xfrm>
            <a:off x="2306157" y="1448100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5">
                <a:moveTo>
                  <a:pt x="0" y="0"/>
                </a:moveTo>
                <a:lnTo>
                  <a:pt x="160595" y="0"/>
                </a:lnTo>
              </a:path>
            </a:pathLst>
          </a:custGeom>
          <a:ln w="11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1300" y="1444434"/>
            <a:ext cx="1587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80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1202966"/>
            <a:ext cx="542798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33095" algn="l"/>
                <a:tab pos="3063875" algn="l"/>
              </a:tabLst>
            </a:pPr>
            <a:r>
              <a:rPr sz="2400" b="1" spc="-5" dirty="0">
                <a:latin typeface="宋体"/>
                <a:cs typeface="宋体"/>
              </a:rPr>
              <a:t>例</a:t>
            </a:r>
            <a:r>
              <a:rPr sz="2400" b="1" dirty="0">
                <a:latin typeface="Times New Roman"/>
                <a:cs typeface="Times New Roman"/>
              </a:rPr>
              <a:t>1	</a:t>
            </a:r>
            <a:r>
              <a:rPr sz="2400" b="1" spc="-10" dirty="0">
                <a:latin typeface="宋体"/>
                <a:cs typeface="宋体"/>
              </a:rPr>
              <a:t>设 </a:t>
            </a:r>
            <a:r>
              <a:rPr sz="3375" b="1" i="1" spc="-82" baseline="2469" dirty="0">
                <a:latin typeface="Times New Roman"/>
                <a:cs typeface="Times New Roman"/>
              </a:rPr>
              <a:t>f </a:t>
            </a:r>
            <a:r>
              <a:rPr sz="3375" b="1" spc="-37" baseline="2469" dirty="0">
                <a:latin typeface="Times New Roman"/>
                <a:cs typeface="Times New Roman"/>
              </a:rPr>
              <a:t>(</a:t>
            </a:r>
            <a:r>
              <a:rPr sz="3375" b="1" i="1" spc="-37" baseline="2469" dirty="0">
                <a:latin typeface="Times New Roman"/>
                <a:cs typeface="Times New Roman"/>
              </a:rPr>
              <a:t>n</a:t>
            </a:r>
            <a:r>
              <a:rPr sz="3375" b="1" spc="-37" baseline="2469" dirty="0">
                <a:latin typeface="Times New Roman"/>
                <a:cs typeface="Times New Roman"/>
              </a:rPr>
              <a:t>) </a:t>
            </a:r>
            <a:r>
              <a:rPr sz="3375" b="1" spc="-135" baseline="2469" dirty="0" smtClean="0">
                <a:latin typeface="Symbol"/>
                <a:cs typeface="Symbol"/>
              </a:rPr>
              <a:t></a:t>
            </a:r>
            <a:r>
              <a:rPr sz="3375" b="1" spc="-120" baseline="38271" dirty="0" smtClean="0">
                <a:latin typeface="Times New Roman"/>
                <a:cs typeface="Times New Roman"/>
              </a:rPr>
              <a:t>1 </a:t>
            </a:r>
            <a:r>
              <a:rPr sz="3375" b="1" i="1" spc="-30" baseline="2469" dirty="0">
                <a:latin typeface="Times New Roman"/>
                <a:cs typeface="Times New Roman"/>
              </a:rPr>
              <a:t>n</a:t>
            </a:r>
            <a:r>
              <a:rPr sz="1950" b="1" spc="-30" baseline="47008" dirty="0">
                <a:latin typeface="Times New Roman"/>
                <a:cs typeface="Times New Roman"/>
              </a:rPr>
              <a:t>2 </a:t>
            </a:r>
            <a:r>
              <a:rPr sz="3375" b="1" spc="-135" baseline="2469" dirty="0">
                <a:latin typeface="Symbol"/>
                <a:cs typeface="Symbol"/>
              </a:rPr>
              <a:t></a:t>
            </a:r>
            <a:r>
              <a:rPr sz="3375" b="1" spc="-434" baseline="2469" dirty="0">
                <a:latin typeface="Times New Roman"/>
                <a:cs typeface="Times New Roman"/>
              </a:rPr>
              <a:t> </a:t>
            </a:r>
            <a:r>
              <a:rPr sz="3375" b="1" spc="-104" baseline="2469" dirty="0">
                <a:latin typeface="Times New Roman"/>
                <a:cs typeface="Times New Roman"/>
              </a:rPr>
              <a:t>3</a:t>
            </a:r>
            <a:r>
              <a:rPr sz="3375" b="1" i="1" spc="-104" baseline="2469" dirty="0">
                <a:latin typeface="Times New Roman"/>
                <a:cs typeface="Times New Roman"/>
              </a:rPr>
              <a:t>n</a:t>
            </a:r>
            <a:r>
              <a:rPr sz="3375" b="1" i="1" spc="-172" baseline="246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,	</a:t>
            </a:r>
            <a:r>
              <a:rPr sz="2400" b="1" spc="-5" dirty="0">
                <a:latin typeface="宋体"/>
                <a:cs typeface="宋体"/>
              </a:rPr>
              <a:t>证</a:t>
            </a:r>
            <a:r>
              <a:rPr sz="2400" b="1" spc="-10" dirty="0">
                <a:latin typeface="宋体"/>
                <a:cs typeface="宋体"/>
              </a:rPr>
              <a:t>明</a:t>
            </a:r>
            <a:r>
              <a:rPr sz="2400" b="1" spc="-15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500" b="1" i="1" spc="-15" dirty="0">
                <a:latin typeface="Symbol"/>
                <a:cs typeface="Symbol"/>
              </a:rPr>
              <a:t>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22" baseline="24305" dirty="0">
                <a:latin typeface="Times New Roman"/>
                <a:cs typeface="Times New Roman"/>
              </a:rPr>
              <a:t>2</a:t>
            </a:r>
            <a:r>
              <a:rPr sz="2400" b="1" spc="-15" dirty="0"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2133854"/>
            <a:ext cx="1147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证</a:t>
            </a:r>
            <a:r>
              <a:rPr sz="2400" b="1" spc="320" dirty="0">
                <a:latin typeface="宋体"/>
                <a:cs typeface="宋体"/>
              </a:rPr>
              <a:t> </a:t>
            </a:r>
            <a:r>
              <a:rPr sz="2400" b="1" spc="-5" dirty="0">
                <a:latin typeface="宋体"/>
                <a:cs typeface="宋体"/>
              </a:rPr>
              <a:t>因</a:t>
            </a:r>
            <a:r>
              <a:rPr sz="2400" b="1" spc="-10" dirty="0">
                <a:latin typeface="宋体"/>
                <a:cs typeface="宋体"/>
              </a:rPr>
              <a:t>为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3665750"/>
            <a:ext cx="378206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400" b="1" spc="-5" dirty="0">
                <a:latin typeface="宋体"/>
                <a:cs typeface="宋体"/>
              </a:rPr>
              <a:t>根据定理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dirty="0">
                <a:latin typeface="宋体"/>
                <a:cs typeface="宋体"/>
              </a:rPr>
              <a:t>，</a:t>
            </a:r>
            <a:r>
              <a:rPr sz="2400" b="1" spc="-10" dirty="0">
                <a:latin typeface="宋体"/>
                <a:cs typeface="宋体"/>
              </a:rPr>
              <a:t>有</a:t>
            </a:r>
            <a:r>
              <a:rPr sz="2400" b="1" spc="-13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500" b="1" i="1" spc="-15" dirty="0">
                <a:latin typeface="Symbol"/>
                <a:cs typeface="Symbol"/>
              </a:rPr>
              <a:t>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n</a:t>
            </a:r>
            <a:r>
              <a:rPr sz="2400" b="1" spc="-22" baseline="24305" dirty="0">
                <a:latin typeface="Times New Roman"/>
                <a:cs typeface="Times New Roman"/>
              </a:rPr>
              <a:t>2</a:t>
            </a:r>
            <a:r>
              <a:rPr sz="2400" b="1" spc="-15" dirty="0"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4581" y="3048952"/>
            <a:ext cx="737870" cy="0"/>
          </a:xfrm>
          <a:custGeom>
            <a:avLst/>
            <a:gdLst/>
            <a:ahLst/>
            <a:cxnLst/>
            <a:rect l="l" t="t" r="r" b="b"/>
            <a:pathLst>
              <a:path w="737869">
                <a:moveTo>
                  <a:pt x="0" y="0"/>
                </a:moveTo>
                <a:lnTo>
                  <a:pt x="737480" y="0"/>
                </a:lnTo>
              </a:path>
            </a:pathLst>
          </a:custGeom>
          <a:ln w="1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81001" y="2654935"/>
            <a:ext cx="208915" cy="0"/>
          </a:xfrm>
          <a:custGeom>
            <a:avLst/>
            <a:gdLst/>
            <a:ahLst/>
            <a:cxnLst/>
            <a:rect l="l" t="t" r="r" b="b"/>
            <a:pathLst>
              <a:path w="208914">
                <a:moveTo>
                  <a:pt x="0" y="0"/>
                </a:moveTo>
                <a:lnTo>
                  <a:pt x="208653" y="0"/>
                </a:lnTo>
              </a:path>
            </a:pathLst>
          </a:custGeom>
          <a:ln w="7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52222" y="3048952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89">
                <a:moveTo>
                  <a:pt x="0" y="0"/>
                </a:moveTo>
                <a:lnTo>
                  <a:pt x="1341855" y="0"/>
                </a:lnTo>
              </a:path>
            </a:pathLst>
          </a:custGeom>
          <a:ln w="1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71812" y="3048952"/>
            <a:ext cx="208915" cy="0"/>
          </a:xfrm>
          <a:custGeom>
            <a:avLst/>
            <a:gdLst/>
            <a:ahLst/>
            <a:cxnLst/>
            <a:rect l="l" t="t" r="r" b="b"/>
            <a:pathLst>
              <a:path w="208914">
                <a:moveTo>
                  <a:pt x="0" y="0"/>
                </a:moveTo>
                <a:lnTo>
                  <a:pt x="208653" y="0"/>
                </a:lnTo>
              </a:path>
            </a:pathLst>
          </a:custGeom>
          <a:ln w="1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82496" y="3047046"/>
            <a:ext cx="19812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00" b="1" spc="5" dirty="0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47715" y="2559471"/>
            <a:ext cx="553085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050" b="1" spc="7" baseline="-36008" dirty="0">
                <a:latin typeface="Symbol"/>
                <a:cs typeface="Symbol"/>
              </a:rPr>
              <a:t></a:t>
            </a:r>
            <a:r>
              <a:rPr sz="4050" b="1" spc="232" baseline="-36008" dirty="0">
                <a:latin typeface="Times New Roman"/>
                <a:cs typeface="Times New Roman"/>
              </a:rPr>
              <a:t> </a:t>
            </a:r>
            <a:r>
              <a:rPr sz="2700" b="1" spc="5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6871" y="2892317"/>
            <a:ext cx="38481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050" b="1" i="1" spc="104" baseline="-24691" dirty="0">
                <a:latin typeface="Times New Roman"/>
                <a:cs typeface="Times New Roman"/>
              </a:rPr>
              <a:t>n</a:t>
            </a:r>
            <a:r>
              <a:rPr sz="1550" b="1" spc="7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7503" y="2388636"/>
            <a:ext cx="654685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1780" indent="-259715">
              <a:lnSpc>
                <a:spcPct val="100000"/>
              </a:lnSpc>
              <a:spcBef>
                <a:spcPts val="120"/>
              </a:spcBef>
              <a:buFont typeface="Symbol"/>
              <a:buChar char=""/>
              <a:tabLst>
                <a:tab pos="272415" algn="l"/>
              </a:tabLst>
            </a:pPr>
            <a:r>
              <a:rPr sz="2700" b="1" spc="45" dirty="0">
                <a:latin typeface="Times New Roman"/>
                <a:cs typeface="Times New Roman"/>
              </a:rPr>
              <a:t>3</a:t>
            </a:r>
            <a:r>
              <a:rPr sz="2700" b="1" i="1" spc="10" dirty="0">
                <a:latin typeface="Times New Roman"/>
                <a:cs typeface="Times New Roman"/>
              </a:rPr>
              <a:t>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0829" y="2170851"/>
            <a:ext cx="63500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700" b="1" spc="5" dirty="0">
                <a:latin typeface="Times New Roman"/>
                <a:cs typeface="Times New Roman"/>
              </a:rPr>
              <a:t>1</a:t>
            </a:r>
            <a:r>
              <a:rPr sz="2700" b="1" spc="-125" dirty="0">
                <a:latin typeface="Times New Roman"/>
                <a:cs typeface="Times New Roman"/>
              </a:rPr>
              <a:t> </a:t>
            </a:r>
            <a:r>
              <a:rPr sz="4050" b="1" i="1" spc="104" baseline="-34979" dirty="0">
                <a:latin typeface="Times New Roman"/>
                <a:cs typeface="Times New Roman"/>
              </a:rPr>
              <a:t>n</a:t>
            </a:r>
            <a:r>
              <a:rPr sz="2325" b="1" spc="104" baseline="-17921" dirty="0">
                <a:latin typeface="Times New Roman"/>
                <a:cs typeface="Times New Roman"/>
              </a:rPr>
              <a:t>2</a:t>
            </a:r>
            <a:endParaRPr sz="2325" baseline="-1792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7328" y="2892317"/>
            <a:ext cx="38481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050" b="1" i="1" spc="104" baseline="-24691" dirty="0">
                <a:latin typeface="Times New Roman"/>
                <a:cs typeface="Times New Roman"/>
              </a:rPr>
              <a:t>n</a:t>
            </a:r>
            <a:r>
              <a:rPr sz="1550" b="1" spc="7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5331" y="2782625"/>
            <a:ext cx="249047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72465" algn="l"/>
              </a:tabLst>
            </a:pPr>
            <a:r>
              <a:rPr sz="2700" b="1" spc="5" dirty="0">
                <a:latin typeface="Times New Roman"/>
                <a:cs typeface="Times New Roman"/>
              </a:rPr>
              <a:t>lim	</a:t>
            </a:r>
            <a:r>
              <a:rPr sz="4050" b="1" i="1" spc="7" baseline="36008" dirty="0">
                <a:latin typeface="Times New Roman"/>
                <a:cs typeface="Times New Roman"/>
              </a:rPr>
              <a:t>f </a:t>
            </a:r>
            <a:r>
              <a:rPr sz="4050" b="1" spc="89" baseline="36008" dirty="0">
                <a:latin typeface="Times New Roman"/>
                <a:cs typeface="Times New Roman"/>
              </a:rPr>
              <a:t>(</a:t>
            </a:r>
            <a:r>
              <a:rPr sz="4050" b="1" i="1" spc="89" baseline="36008" dirty="0">
                <a:latin typeface="Times New Roman"/>
                <a:cs typeface="Times New Roman"/>
              </a:rPr>
              <a:t>n</a:t>
            </a:r>
            <a:r>
              <a:rPr sz="4050" b="1" spc="89" baseline="36008" dirty="0">
                <a:latin typeface="Times New Roman"/>
                <a:cs typeface="Times New Roman"/>
              </a:rPr>
              <a:t>) </a:t>
            </a:r>
            <a:r>
              <a:rPr sz="2700" b="1" spc="5" dirty="0">
                <a:latin typeface="Symbol"/>
                <a:cs typeface="Symbol"/>
              </a:rPr>
              <a:t></a:t>
            </a:r>
            <a:r>
              <a:rPr sz="2700" b="1" spc="5" dirty="0">
                <a:latin typeface="Times New Roman"/>
                <a:cs typeface="Times New Roman"/>
              </a:rPr>
              <a:t> lim</a:t>
            </a:r>
            <a:r>
              <a:rPr sz="2700" b="1" spc="130" dirty="0">
                <a:latin typeface="Times New Roman"/>
                <a:cs typeface="Times New Roman"/>
              </a:rPr>
              <a:t> </a:t>
            </a:r>
            <a:r>
              <a:rPr sz="4050" b="1" spc="7" baseline="21604" dirty="0">
                <a:latin typeface="Times New Roman"/>
                <a:cs typeface="Times New Roman"/>
              </a:rPr>
              <a:t>2</a:t>
            </a:r>
            <a:endParaRPr sz="4050" baseline="21604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6670" y="3128006"/>
            <a:ext cx="214630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59889" algn="l"/>
              </a:tabLst>
            </a:pPr>
            <a:r>
              <a:rPr sz="1550" b="1" i="1" spc="65" dirty="0">
                <a:latin typeface="Times New Roman"/>
                <a:cs typeface="Times New Roman"/>
              </a:rPr>
              <a:t>n</a:t>
            </a:r>
            <a:r>
              <a:rPr sz="1550" b="1" spc="125" dirty="0">
                <a:latin typeface="Symbol"/>
                <a:cs typeface="Symbol"/>
              </a:rPr>
              <a:t></a:t>
            </a:r>
            <a:r>
              <a:rPr sz="1550" b="1" spc="25" dirty="0">
                <a:latin typeface="Symbol"/>
                <a:cs typeface="Symbol"/>
              </a:rPr>
              <a:t>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b="1" i="1" spc="65" dirty="0">
                <a:latin typeface="Times New Roman"/>
                <a:cs typeface="Times New Roman"/>
              </a:rPr>
              <a:t>n</a:t>
            </a:r>
            <a:r>
              <a:rPr sz="1550" b="1" spc="125" dirty="0">
                <a:latin typeface="Symbol"/>
                <a:cs typeface="Symbol"/>
              </a:rPr>
              <a:t></a:t>
            </a:r>
            <a:r>
              <a:rPr sz="1550" b="1" spc="25" dirty="0">
                <a:latin typeface="Symbol"/>
                <a:cs typeface="Symbol"/>
              </a:rPr>
              <a:t>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CF6FE54-25FB-48E7-8785-5CCDA0FF8BF0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99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00150"/>
            <a:ext cx="5842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可证明：</a:t>
            </a:r>
            <a:r>
              <a:rPr sz="2400" b="1" dirty="0">
                <a:latin typeface="宋体"/>
                <a:cs typeface="宋体"/>
              </a:rPr>
              <a:t>多</a:t>
            </a:r>
            <a:r>
              <a:rPr sz="2400" b="1" spc="5" dirty="0">
                <a:latin typeface="宋体"/>
                <a:cs typeface="宋体"/>
              </a:rPr>
              <a:t>项</a:t>
            </a:r>
            <a:r>
              <a:rPr sz="2400" b="1" dirty="0">
                <a:latin typeface="宋体"/>
                <a:cs typeface="宋体"/>
              </a:rPr>
              <a:t>式函数的阶低于指数函数</a:t>
            </a:r>
            <a:r>
              <a:rPr sz="2400" b="1" spc="5" dirty="0">
                <a:latin typeface="宋体"/>
                <a:cs typeface="宋体"/>
              </a:rPr>
              <a:t>的</a:t>
            </a:r>
            <a:r>
              <a:rPr sz="2400" b="1" spc="-10" dirty="0">
                <a:latin typeface="宋体"/>
                <a:cs typeface="宋体"/>
              </a:rPr>
              <a:t>阶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3060" y="1612519"/>
            <a:ext cx="3429000" cy="457200"/>
          </a:xfrm>
          <a:prstGeom prst="rect">
            <a:avLst/>
          </a:prstGeom>
          <a:ln w="25146">
            <a:solidFill>
              <a:srgbClr val="0070C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8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7" baseline="24305" dirty="0">
                <a:latin typeface="Times New Roman"/>
                <a:cs typeface="Times New Roman"/>
              </a:rPr>
              <a:t>d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r</a:t>
            </a:r>
            <a:r>
              <a:rPr sz="2400" b="1" i="1" spc="-7" baseline="2430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r </a:t>
            </a:r>
            <a:r>
              <a:rPr sz="2400" b="1" spc="-5" dirty="0">
                <a:latin typeface="Times New Roman"/>
                <a:cs typeface="Times New Roman"/>
              </a:rPr>
              <a:t>&gt;1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d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226345"/>
            <a:ext cx="82270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一些重要结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400" y="2247900"/>
            <a:ext cx="3161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证</a:t>
            </a:r>
            <a:r>
              <a:rPr sz="2400" b="1" spc="509" dirty="0">
                <a:latin typeface="宋体"/>
                <a:cs typeface="宋体"/>
              </a:rPr>
              <a:t> </a:t>
            </a:r>
            <a:r>
              <a:rPr sz="2400" b="1" spc="-5" dirty="0">
                <a:latin typeface="宋体"/>
                <a:cs typeface="宋体"/>
              </a:rPr>
              <a:t>不妨设</a:t>
            </a:r>
            <a:r>
              <a:rPr sz="2400" b="1" i="1" dirty="0">
                <a:latin typeface="Times New Roman"/>
                <a:cs typeface="Times New Roman"/>
              </a:rPr>
              <a:t>d</a:t>
            </a:r>
            <a:r>
              <a:rPr sz="2400" b="1" dirty="0">
                <a:latin typeface="宋体"/>
                <a:cs typeface="宋体"/>
              </a:rPr>
              <a:t>为正整数，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29756" y="3194855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5">
                <a:moveTo>
                  <a:pt x="0" y="0"/>
                </a:moveTo>
                <a:lnTo>
                  <a:pt x="349624" y="0"/>
                </a:lnTo>
              </a:path>
            </a:pathLst>
          </a:custGeom>
          <a:ln w="12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70926" y="3194854"/>
            <a:ext cx="687070" cy="0"/>
          </a:xfrm>
          <a:custGeom>
            <a:avLst/>
            <a:gdLst/>
            <a:ahLst/>
            <a:cxnLst/>
            <a:rect l="l" t="t" r="r" b="b"/>
            <a:pathLst>
              <a:path w="687070">
                <a:moveTo>
                  <a:pt x="0" y="0"/>
                </a:moveTo>
                <a:lnTo>
                  <a:pt x="686735" y="0"/>
                </a:lnTo>
              </a:path>
            </a:pathLst>
          </a:custGeom>
          <a:ln w="12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49206" y="3194854"/>
            <a:ext cx="1528445" cy="0"/>
          </a:xfrm>
          <a:custGeom>
            <a:avLst/>
            <a:gdLst/>
            <a:ahLst/>
            <a:cxnLst/>
            <a:rect l="l" t="t" r="r" b="b"/>
            <a:pathLst>
              <a:path w="1528445">
                <a:moveTo>
                  <a:pt x="0" y="0"/>
                </a:moveTo>
                <a:lnTo>
                  <a:pt x="1528338" y="0"/>
                </a:lnTo>
              </a:path>
            </a:pathLst>
          </a:custGeom>
          <a:ln w="12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99400" y="4069589"/>
            <a:ext cx="1057275" cy="0"/>
          </a:xfrm>
          <a:custGeom>
            <a:avLst/>
            <a:gdLst/>
            <a:ahLst/>
            <a:cxnLst/>
            <a:rect l="l" t="t" r="r" b="b"/>
            <a:pathLst>
              <a:path w="1057275">
                <a:moveTo>
                  <a:pt x="0" y="0"/>
                </a:moveTo>
                <a:lnTo>
                  <a:pt x="1056696" y="0"/>
                </a:lnTo>
              </a:path>
            </a:pathLst>
          </a:custGeom>
          <a:ln w="12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23171" y="3836245"/>
            <a:ext cx="4152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-90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9323" y="3836245"/>
            <a:ext cx="12103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5" dirty="0">
                <a:latin typeface="Times New Roman"/>
                <a:cs typeface="Times New Roman"/>
              </a:rPr>
              <a:t> </a:t>
            </a:r>
            <a:r>
              <a:rPr sz="2350" b="1" dirty="0">
                <a:latin typeface="Times New Roman"/>
                <a:cs typeface="Times New Roman"/>
              </a:rPr>
              <a:t>... </a:t>
            </a: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-185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lim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6195" y="2961511"/>
            <a:ext cx="306324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12494" algn="l"/>
                <a:tab pos="2390775" algn="l"/>
              </a:tabLst>
            </a:pPr>
            <a:r>
              <a:rPr sz="2350" b="1" spc="5" dirty="0">
                <a:latin typeface="Times New Roman"/>
                <a:cs typeface="Times New Roman"/>
              </a:rPr>
              <a:t>lim	</a:t>
            </a: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10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lim	</a:t>
            </a: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-65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lim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1649" y="4056882"/>
            <a:ext cx="1130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i="1" spc="10" dirty="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59551" y="4056882"/>
            <a:ext cx="12318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i="1" spc="1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1254" y="3261903"/>
            <a:ext cx="4368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i="1" spc="55" dirty="0">
                <a:latin typeface="Times New Roman"/>
                <a:cs typeface="Times New Roman"/>
              </a:rPr>
              <a:t>n</a:t>
            </a:r>
            <a:r>
              <a:rPr sz="1350" b="1" spc="100" dirty="0">
                <a:latin typeface="Symbol"/>
                <a:cs typeface="Symbol"/>
              </a:rPr>
              <a:t></a:t>
            </a:r>
            <a:r>
              <a:rPr sz="1350" b="1" spc="20" dirty="0">
                <a:latin typeface="Symbol"/>
                <a:cs typeface="Symbol"/>
              </a:rPr>
              <a:t>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6354" y="3182160"/>
            <a:ext cx="124777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37285" algn="l"/>
              </a:tabLst>
            </a:pPr>
            <a:r>
              <a:rPr sz="1350" b="1" i="1" spc="15" dirty="0">
                <a:latin typeface="Times New Roman"/>
                <a:cs typeface="Times New Roman"/>
              </a:rPr>
              <a:t>n	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95887" y="4066269"/>
            <a:ext cx="143954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803275" algn="l"/>
              </a:tabLst>
            </a:pPr>
            <a:r>
              <a:rPr sz="2025" b="1" i="1" spc="89" baseline="18518" dirty="0">
                <a:latin typeface="Times New Roman"/>
                <a:cs typeface="Times New Roman"/>
              </a:rPr>
              <a:t>n</a:t>
            </a:r>
            <a:r>
              <a:rPr sz="2025" b="1" spc="89" baseline="18518" dirty="0">
                <a:latin typeface="Symbol"/>
                <a:cs typeface="Symbol"/>
              </a:rPr>
              <a:t></a:t>
            </a:r>
            <a:r>
              <a:rPr sz="2025" b="1" spc="367" baseline="18518" dirty="0">
                <a:latin typeface="Times New Roman"/>
                <a:cs typeface="Times New Roman"/>
              </a:rPr>
              <a:t> </a:t>
            </a:r>
            <a:r>
              <a:rPr sz="2350" b="1" i="1" spc="5" dirty="0">
                <a:latin typeface="Times New Roman"/>
                <a:cs typeface="Times New Roman"/>
              </a:rPr>
              <a:t>r	</a:t>
            </a:r>
            <a:r>
              <a:rPr sz="2350" b="1" spc="5" dirty="0">
                <a:latin typeface="Times New Roman"/>
                <a:cs typeface="Times New Roman"/>
              </a:rPr>
              <a:t>(ln</a:t>
            </a:r>
            <a:r>
              <a:rPr sz="2350" b="1" i="1" spc="5" dirty="0">
                <a:latin typeface="Times New Roman"/>
                <a:cs typeface="Times New Roman"/>
              </a:rPr>
              <a:t>r</a:t>
            </a:r>
            <a:r>
              <a:rPr sz="2350" b="1" i="1" spc="-400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90324" y="3642341"/>
            <a:ext cx="29464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i="1" spc="150" dirty="0">
                <a:latin typeface="Times New Roman"/>
                <a:cs typeface="Times New Roman"/>
              </a:rPr>
              <a:t>d</a:t>
            </a:r>
            <a:r>
              <a:rPr sz="2350" b="1" spc="5" dirty="0">
                <a:latin typeface="Times New Roman"/>
                <a:cs typeface="Times New Roman"/>
              </a:rPr>
              <a:t>!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5410" y="3191673"/>
            <a:ext cx="105219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b="1" i="1" spc="5" dirty="0">
                <a:latin typeface="Times New Roman"/>
                <a:cs typeface="Times New Roman"/>
              </a:rPr>
              <a:t>r</a:t>
            </a:r>
            <a:r>
              <a:rPr sz="2350" b="1" i="1" spc="-335" dirty="0">
                <a:latin typeface="Times New Roman"/>
                <a:cs typeface="Times New Roman"/>
              </a:rPr>
              <a:t> </a:t>
            </a:r>
            <a:r>
              <a:rPr sz="2025" b="1" i="1" spc="22" baseline="43209" dirty="0">
                <a:latin typeface="Times New Roman"/>
                <a:cs typeface="Times New Roman"/>
              </a:rPr>
              <a:t>n</a:t>
            </a:r>
            <a:r>
              <a:rPr sz="2025" b="1" i="1" spc="-179" baseline="43209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(ln</a:t>
            </a:r>
            <a:r>
              <a:rPr sz="2350" b="1" i="1" spc="5" dirty="0">
                <a:latin typeface="Times New Roman"/>
                <a:cs typeface="Times New Roman"/>
              </a:rPr>
              <a:t>r</a:t>
            </a:r>
            <a:r>
              <a:rPr sz="2350" b="1" i="1" spc="-385" dirty="0">
                <a:latin typeface="Times New Roman"/>
                <a:cs typeface="Times New Roman"/>
              </a:rPr>
              <a:t> </a:t>
            </a:r>
            <a:r>
              <a:rPr sz="2350" b="1" spc="45" dirty="0">
                <a:latin typeface="Times New Roman"/>
                <a:cs typeface="Times New Roman"/>
              </a:rPr>
              <a:t>)</a:t>
            </a:r>
            <a:r>
              <a:rPr sz="2025" b="1" spc="67" baseline="43209" dirty="0">
                <a:latin typeface="Times New Roman"/>
                <a:cs typeface="Times New Roman"/>
              </a:rPr>
              <a:t>2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26721" y="2767745"/>
            <a:ext cx="15449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b="1" i="1" spc="5" dirty="0">
                <a:latin typeface="Times New Roman"/>
                <a:cs typeface="Times New Roman"/>
              </a:rPr>
              <a:t>d</a:t>
            </a:r>
            <a:r>
              <a:rPr sz="2350" b="1" i="1" spc="-380" dirty="0">
                <a:latin typeface="Times New Roman"/>
                <a:cs typeface="Times New Roman"/>
              </a:rPr>
              <a:t> </a:t>
            </a:r>
            <a:r>
              <a:rPr sz="2350" b="1" spc="35" dirty="0">
                <a:latin typeface="Times New Roman"/>
                <a:cs typeface="Times New Roman"/>
              </a:rPr>
              <a:t>(</a:t>
            </a:r>
            <a:r>
              <a:rPr sz="2350" b="1" i="1" spc="35" dirty="0">
                <a:latin typeface="Times New Roman"/>
                <a:cs typeface="Times New Roman"/>
              </a:rPr>
              <a:t>d</a:t>
            </a:r>
            <a:r>
              <a:rPr sz="2350" b="1" i="1" spc="15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Symbol"/>
                <a:cs typeface="Symbol"/>
              </a:rPr>
              <a:t></a:t>
            </a:r>
            <a:r>
              <a:rPr sz="2350" b="1" spc="-275" dirty="0">
                <a:latin typeface="Times New Roman"/>
                <a:cs typeface="Times New Roman"/>
              </a:rPr>
              <a:t> </a:t>
            </a:r>
            <a:r>
              <a:rPr sz="2350" b="1" spc="30" dirty="0">
                <a:latin typeface="Times New Roman"/>
                <a:cs typeface="Times New Roman"/>
              </a:rPr>
              <a:t>1)</a:t>
            </a:r>
            <a:r>
              <a:rPr sz="2350" b="1" i="1" spc="30" dirty="0">
                <a:latin typeface="Times New Roman"/>
                <a:cs typeface="Times New Roman"/>
              </a:rPr>
              <a:t>n</a:t>
            </a:r>
            <a:r>
              <a:rPr sz="2025" b="1" i="1" spc="44" baseline="43209" dirty="0">
                <a:latin typeface="Times New Roman"/>
                <a:cs typeface="Times New Roman"/>
              </a:rPr>
              <a:t>d</a:t>
            </a:r>
            <a:r>
              <a:rPr sz="2025" b="1" i="1" spc="-195" baseline="43209" dirty="0">
                <a:latin typeface="Times New Roman"/>
                <a:cs typeface="Times New Roman"/>
              </a:rPr>
              <a:t> </a:t>
            </a:r>
            <a:r>
              <a:rPr sz="2025" b="1" spc="22" baseline="43209" dirty="0">
                <a:latin typeface="Symbol"/>
                <a:cs typeface="Symbol"/>
              </a:rPr>
              <a:t></a:t>
            </a:r>
            <a:r>
              <a:rPr sz="2025" b="1" spc="-330" baseline="43209" dirty="0">
                <a:latin typeface="Times New Roman"/>
                <a:cs typeface="Times New Roman"/>
              </a:rPr>
              <a:t> </a:t>
            </a:r>
            <a:r>
              <a:rPr sz="2025" b="1" spc="15" baseline="43209" dirty="0">
                <a:latin typeface="Times New Roman"/>
                <a:cs typeface="Times New Roman"/>
              </a:rPr>
              <a:t>2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7492" y="3191673"/>
            <a:ext cx="119380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784860" algn="l"/>
              </a:tabLst>
            </a:pPr>
            <a:r>
              <a:rPr sz="2025" b="1" i="1" spc="89" baseline="18518" dirty="0">
                <a:latin typeface="Times New Roman"/>
                <a:cs typeface="Times New Roman"/>
              </a:rPr>
              <a:t>n</a:t>
            </a:r>
            <a:r>
              <a:rPr sz="2025" b="1" spc="89" baseline="18518" dirty="0">
                <a:latin typeface="Symbol"/>
                <a:cs typeface="Symbol"/>
              </a:rPr>
              <a:t></a:t>
            </a:r>
            <a:r>
              <a:rPr sz="2025" b="1" spc="367" baseline="18518" dirty="0">
                <a:latin typeface="Times New Roman"/>
                <a:cs typeface="Times New Roman"/>
              </a:rPr>
              <a:t> </a:t>
            </a:r>
            <a:r>
              <a:rPr sz="2350" b="1" i="1" spc="5" dirty="0">
                <a:latin typeface="Times New Roman"/>
                <a:cs typeface="Times New Roman"/>
              </a:rPr>
              <a:t>r	</a:t>
            </a:r>
            <a:r>
              <a:rPr sz="2350" b="1" spc="10" dirty="0">
                <a:latin typeface="Times New Roman"/>
                <a:cs typeface="Times New Roman"/>
              </a:rPr>
              <a:t>ln</a:t>
            </a:r>
            <a:r>
              <a:rPr sz="2350" b="1" i="1" spc="10" dirty="0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6221" y="3136718"/>
            <a:ext cx="69532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350" b="1" i="1" spc="60" dirty="0">
                <a:latin typeface="Times New Roman"/>
                <a:cs typeface="Times New Roman"/>
              </a:rPr>
              <a:t>n</a:t>
            </a:r>
            <a:r>
              <a:rPr sz="1350" b="1" spc="60" dirty="0">
                <a:latin typeface="Symbol"/>
                <a:cs typeface="Symbol"/>
              </a:rPr>
              <a:t></a:t>
            </a:r>
            <a:r>
              <a:rPr sz="1350" b="1" spc="305" dirty="0">
                <a:latin typeface="Times New Roman"/>
                <a:cs typeface="Times New Roman"/>
              </a:rPr>
              <a:t> </a:t>
            </a:r>
            <a:r>
              <a:rPr sz="3525" b="1" i="1" spc="7" baseline="-10638" dirty="0">
                <a:latin typeface="Times New Roman"/>
                <a:cs typeface="Times New Roman"/>
              </a:rPr>
              <a:t>r</a:t>
            </a:r>
            <a:endParaRPr sz="3525" baseline="-1063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98885" y="2632845"/>
            <a:ext cx="18707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188085" algn="l"/>
              </a:tabLst>
            </a:pPr>
            <a:r>
              <a:rPr sz="3525" b="1" i="1" spc="75" baseline="-24822" dirty="0">
                <a:latin typeface="Times New Roman"/>
                <a:cs typeface="Times New Roman"/>
              </a:rPr>
              <a:t>n</a:t>
            </a:r>
            <a:r>
              <a:rPr sz="1350" b="1" i="1" spc="50" dirty="0">
                <a:latin typeface="Times New Roman"/>
                <a:cs typeface="Times New Roman"/>
              </a:rPr>
              <a:t>d	</a:t>
            </a:r>
            <a:r>
              <a:rPr sz="3525" b="1" i="1" spc="52" baseline="-24822" dirty="0">
                <a:latin typeface="Times New Roman"/>
                <a:cs typeface="Times New Roman"/>
              </a:rPr>
              <a:t>dn</a:t>
            </a:r>
            <a:r>
              <a:rPr sz="1350" b="1" i="1" spc="35" dirty="0">
                <a:latin typeface="Times New Roman"/>
                <a:cs typeface="Times New Roman"/>
              </a:rPr>
              <a:t>d</a:t>
            </a:r>
            <a:r>
              <a:rPr sz="1350" b="1" i="1" spc="-160" dirty="0">
                <a:latin typeface="Times New Roman"/>
                <a:cs typeface="Times New Roman"/>
              </a:rPr>
              <a:t> </a:t>
            </a:r>
            <a:r>
              <a:rPr sz="1350" b="1" spc="30" dirty="0">
                <a:latin typeface="Symbol"/>
                <a:cs typeface="Symbol"/>
              </a:rPr>
              <a:t></a:t>
            </a:r>
            <a:r>
              <a:rPr sz="1350" b="1" spc="3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80075" y="3440939"/>
            <a:ext cx="1861185" cy="841375"/>
          </a:xfrm>
          <a:custGeom>
            <a:avLst/>
            <a:gdLst/>
            <a:ahLst/>
            <a:cxnLst/>
            <a:rect l="l" t="t" r="r" b="b"/>
            <a:pathLst>
              <a:path w="1861185" h="841375">
                <a:moveTo>
                  <a:pt x="0" y="91595"/>
                </a:moveTo>
                <a:lnTo>
                  <a:pt x="244119" y="265420"/>
                </a:lnTo>
                <a:lnTo>
                  <a:pt x="218654" y="302555"/>
                </a:lnTo>
                <a:lnTo>
                  <a:pt x="200378" y="340253"/>
                </a:lnTo>
                <a:lnTo>
                  <a:pt x="189190" y="378279"/>
                </a:lnTo>
                <a:lnTo>
                  <a:pt x="184987" y="416399"/>
                </a:lnTo>
                <a:lnTo>
                  <a:pt x="187665" y="454377"/>
                </a:lnTo>
                <a:lnTo>
                  <a:pt x="197125" y="491980"/>
                </a:lnTo>
                <a:lnTo>
                  <a:pt x="213262" y="528972"/>
                </a:lnTo>
                <a:lnTo>
                  <a:pt x="235974" y="565118"/>
                </a:lnTo>
                <a:lnTo>
                  <a:pt x="265160" y="600185"/>
                </a:lnTo>
                <a:lnTo>
                  <a:pt x="300716" y="633937"/>
                </a:lnTo>
                <a:lnTo>
                  <a:pt x="342542" y="666139"/>
                </a:lnTo>
                <a:lnTo>
                  <a:pt x="390533" y="696558"/>
                </a:lnTo>
                <a:lnTo>
                  <a:pt x="444588" y="724957"/>
                </a:lnTo>
                <a:lnTo>
                  <a:pt x="485694" y="743400"/>
                </a:lnTo>
                <a:lnTo>
                  <a:pt x="528521" y="760245"/>
                </a:lnTo>
                <a:lnTo>
                  <a:pt x="572915" y="775494"/>
                </a:lnTo>
                <a:lnTo>
                  <a:pt x="618718" y="789149"/>
                </a:lnTo>
                <a:lnTo>
                  <a:pt x="665774" y="801212"/>
                </a:lnTo>
                <a:lnTo>
                  <a:pt x="713928" y="811685"/>
                </a:lnTo>
                <a:lnTo>
                  <a:pt x="763023" y="820569"/>
                </a:lnTo>
                <a:lnTo>
                  <a:pt x="812904" y="827867"/>
                </a:lnTo>
                <a:lnTo>
                  <a:pt x="863413" y="833580"/>
                </a:lnTo>
                <a:lnTo>
                  <a:pt x="914394" y="837710"/>
                </a:lnTo>
                <a:lnTo>
                  <a:pt x="965693" y="840259"/>
                </a:lnTo>
                <a:lnTo>
                  <a:pt x="1017151" y="841229"/>
                </a:lnTo>
                <a:lnTo>
                  <a:pt x="1068614" y="840622"/>
                </a:lnTo>
                <a:lnTo>
                  <a:pt x="1119925" y="838438"/>
                </a:lnTo>
                <a:lnTo>
                  <a:pt x="1170927" y="834682"/>
                </a:lnTo>
                <a:lnTo>
                  <a:pt x="1221466" y="829353"/>
                </a:lnTo>
                <a:lnTo>
                  <a:pt x="1271384" y="822454"/>
                </a:lnTo>
                <a:lnTo>
                  <a:pt x="1320525" y="813987"/>
                </a:lnTo>
                <a:lnTo>
                  <a:pt x="1368734" y="803953"/>
                </a:lnTo>
                <a:lnTo>
                  <a:pt x="1415853" y="792355"/>
                </a:lnTo>
                <a:lnTo>
                  <a:pt x="1461728" y="779195"/>
                </a:lnTo>
                <a:lnTo>
                  <a:pt x="1506201" y="764473"/>
                </a:lnTo>
                <a:lnTo>
                  <a:pt x="1549116" y="748193"/>
                </a:lnTo>
                <a:lnTo>
                  <a:pt x="1590318" y="730355"/>
                </a:lnTo>
                <a:lnTo>
                  <a:pt x="1629651" y="710962"/>
                </a:lnTo>
                <a:lnTo>
                  <a:pt x="1675093" y="685038"/>
                </a:lnTo>
                <a:lnTo>
                  <a:pt x="1715563" y="657796"/>
                </a:lnTo>
                <a:lnTo>
                  <a:pt x="1751066" y="629387"/>
                </a:lnTo>
                <a:lnTo>
                  <a:pt x="1781611" y="599964"/>
                </a:lnTo>
                <a:lnTo>
                  <a:pt x="1807203" y="569682"/>
                </a:lnTo>
                <a:lnTo>
                  <a:pt x="1843562" y="507148"/>
                </a:lnTo>
                <a:lnTo>
                  <a:pt x="1860200" y="443009"/>
                </a:lnTo>
                <a:lnTo>
                  <a:pt x="1861142" y="410721"/>
                </a:lnTo>
                <a:lnTo>
                  <a:pt x="1857174" y="378491"/>
                </a:lnTo>
                <a:lnTo>
                  <a:pt x="1834543" y="314815"/>
                </a:lnTo>
                <a:lnTo>
                  <a:pt x="1792362" y="253208"/>
                </a:lnTo>
                <a:lnTo>
                  <a:pt x="1763959" y="223563"/>
                </a:lnTo>
                <a:lnTo>
                  <a:pt x="1730690" y="194893"/>
                </a:lnTo>
                <a:lnTo>
                  <a:pt x="1692563" y="167353"/>
                </a:lnTo>
                <a:lnTo>
                  <a:pt x="1649584" y="141095"/>
                </a:lnTo>
                <a:lnTo>
                  <a:pt x="1628724" y="130267"/>
                </a:lnTo>
                <a:lnTo>
                  <a:pt x="416699" y="130267"/>
                </a:lnTo>
                <a:lnTo>
                  <a:pt x="0" y="91595"/>
                </a:lnTo>
                <a:close/>
              </a:path>
              <a:path w="1861185" h="841375">
                <a:moveTo>
                  <a:pt x="1029194" y="0"/>
                </a:moveTo>
                <a:lnTo>
                  <a:pt x="977732" y="607"/>
                </a:lnTo>
                <a:lnTo>
                  <a:pt x="926421" y="2790"/>
                </a:lnTo>
                <a:lnTo>
                  <a:pt x="875419" y="6547"/>
                </a:lnTo>
                <a:lnTo>
                  <a:pt x="824881" y="11876"/>
                </a:lnTo>
                <a:lnTo>
                  <a:pt x="774964" y="18775"/>
                </a:lnTo>
                <a:lnTo>
                  <a:pt x="725823" y="27242"/>
                </a:lnTo>
                <a:lnTo>
                  <a:pt x="677615" y="37275"/>
                </a:lnTo>
                <a:lnTo>
                  <a:pt x="630496" y="48873"/>
                </a:lnTo>
                <a:lnTo>
                  <a:pt x="584622" y="62034"/>
                </a:lnTo>
                <a:lnTo>
                  <a:pt x="540149" y="76756"/>
                </a:lnTo>
                <a:lnTo>
                  <a:pt x="497233" y="93036"/>
                </a:lnTo>
                <a:lnTo>
                  <a:pt x="456031" y="110874"/>
                </a:lnTo>
                <a:lnTo>
                  <a:pt x="416699" y="130267"/>
                </a:lnTo>
                <a:lnTo>
                  <a:pt x="1628724" y="130267"/>
                </a:lnTo>
                <a:lnTo>
                  <a:pt x="1560655" y="97829"/>
                </a:lnTo>
                <a:lnTo>
                  <a:pt x="1517826" y="80984"/>
                </a:lnTo>
                <a:lnTo>
                  <a:pt x="1473432" y="65735"/>
                </a:lnTo>
                <a:lnTo>
                  <a:pt x="1427628" y="52080"/>
                </a:lnTo>
                <a:lnTo>
                  <a:pt x="1380571" y="40016"/>
                </a:lnTo>
                <a:lnTo>
                  <a:pt x="1332416" y="29544"/>
                </a:lnTo>
                <a:lnTo>
                  <a:pt x="1283321" y="20659"/>
                </a:lnTo>
                <a:lnTo>
                  <a:pt x="1233441" y="13361"/>
                </a:lnTo>
                <a:lnTo>
                  <a:pt x="1182932" y="7648"/>
                </a:lnTo>
                <a:lnTo>
                  <a:pt x="1131950" y="3518"/>
                </a:lnTo>
                <a:lnTo>
                  <a:pt x="1080652" y="969"/>
                </a:lnTo>
                <a:lnTo>
                  <a:pt x="1029194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80075" y="3440939"/>
            <a:ext cx="1861185" cy="841375"/>
          </a:xfrm>
          <a:custGeom>
            <a:avLst/>
            <a:gdLst/>
            <a:ahLst/>
            <a:cxnLst/>
            <a:rect l="l" t="t" r="r" b="b"/>
            <a:pathLst>
              <a:path w="1861185" h="841375">
                <a:moveTo>
                  <a:pt x="0" y="91595"/>
                </a:moveTo>
                <a:lnTo>
                  <a:pt x="416699" y="130267"/>
                </a:lnTo>
                <a:lnTo>
                  <a:pt x="456031" y="110874"/>
                </a:lnTo>
                <a:lnTo>
                  <a:pt x="497233" y="93036"/>
                </a:lnTo>
                <a:lnTo>
                  <a:pt x="540149" y="76756"/>
                </a:lnTo>
                <a:lnTo>
                  <a:pt x="584622" y="62034"/>
                </a:lnTo>
                <a:lnTo>
                  <a:pt x="630496" y="48873"/>
                </a:lnTo>
                <a:lnTo>
                  <a:pt x="677615" y="37275"/>
                </a:lnTo>
                <a:lnTo>
                  <a:pt x="725823" y="27242"/>
                </a:lnTo>
                <a:lnTo>
                  <a:pt x="774964" y="18775"/>
                </a:lnTo>
                <a:lnTo>
                  <a:pt x="824881" y="11876"/>
                </a:lnTo>
                <a:lnTo>
                  <a:pt x="875419" y="6547"/>
                </a:lnTo>
                <a:lnTo>
                  <a:pt x="926421" y="2790"/>
                </a:lnTo>
                <a:lnTo>
                  <a:pt x="977732" y="607"/>
                </a:lnTo>
                <a:lnTo>
                  <a:pt x="1029194" y="0"/>
                </a:lnTo>
                <a:lnTo>
                  <a:pt x="1080652" y="969"/>
                </a:lnTo>
                <a:lnTo>
                  <a:pt x="1131950" y="3518"/>
                </a:lnTo>
                <a:lnTo>
                  <a:pt x="1182932" y="7648"/>
                </a:lnTo>
                <a:lnTo>
                  <a:pt x="1233441" y="13361"/>
                </a:lnTo>
                <a:lnTo>
                  <a:pt x="1283321" y="20659"/>
                </a:lnTo>
                <a:lnTo>
                  <a:pt x="1332416" y="29544"/>
                </a:lnTo>
                <a:lnTo>
                  <a:pt x="1380571" y="40016"/>
                </a:lnTo>
                <a:lnTo>
                  <a:pt x="1427628" y="52080"/>
                </a:lnTo>
                <a:lnTo>
                  <a:pt x="1473432" y="65735"/>
                </a:lnTo>
                <a:lnTo>
                  <a:pt x="1517826" y="80984"/>
                </a:lnTo>
                <a:lnTo>
                  <a:pt x="1560655" y="97829"/>
                </a:lnTo>
                <a:lnTo>
                  <a:pt x="1601762" y="116272"/>
                </a:lnTo>
                <a:lnTo>
                  <a:pt x="1649584" y="141095"/>
                </a:lnTo>
                <a:lnTo>
                  <a:pt x="1692563" y="167353"/>
                </a:lnTo>
                <a:lnTo>
                  <a:pt x="1730690" y="194893"/>
                </a:lnTo>
                <a:lnTo>
                  <a:pt x="1763959" y="223563"/>
                </a:lnTo>
                <a:lnTo>
                  <a:pt x="1792362" y="253208"/>
                </a:lnTo>
                <a:lnTo>
                  <a:pt x="1815892" y="283677"/>
                </a:lnTo>
                <a:lnTo>
                  <a:pt x="1848306" y="346471"/>
                </a:lnTo>
                <a:lnTo>
                  <a:pt x="1861142" y="410721"/>
                </a:lnTo>
                <a:lnTo>
                  <a:pt x="1860200" y="443009"/>
                </a:lnTo>
                <a:lnTo>
                  <a:pt x="1843562" y="507148"/>
                </a:lnTo>
                <a:lnTo>
                  <a:pt x="1807203" y="569682"/>
                </a:lnTo>
                <a:lnTo>
                  <a:pt x="1781611" y="599964"/>
                </a:lnTo>
                <a:lnTo>
                  <a:pt x="1751066" y="629387"/>
                </a:lnTo>
                <a:lnTo>
                  <a:pt x="1715563" y="657796"/>
                </a:lnTo>
                <a:lnTo>
                  <a:pt x="1675093" y="685038"/>
                </a:lnTo>
                <a:lnTo>
                  <a:pt x="1629651" y="710962"/>
                </a:lnTo>
                <a:lnTo>
                  <a:pt x="1590318" y="730355"/>
                </a:lnTo>
                <a:lnTo>
                  <a:pt x="1549116" y="748193"/>
                </a:lnTo>
                <a:lnTo>
                  <a:pt x="1506201" y="764473"/>
                </a:lnTo>
                <a:lnTo>
                  <a:pt x="1461728" y="779195"/>
                </a:lnTo>
                <a:lnTo>
                  <a:pt x="1415853" y="792355"/>
                </a:lnTo>
                <a:lnTo>
                  <a:pt x="1368734" y="803953"/>
                </a:lnTo>
                <a:lnTo>
                  <a:pt x="1320525" y="813987"/>
                </a:lnTo>
                <a:lnTo>
                  <a:pt x="1271384" y="822454"/>
                </a:lnTo>
                <a:lnTo>
                  <a:pt x="1221466" y="829353"/>
                </a:lnTo>
                <a:lnTo>
                  <a:pt x="1170927" y="834682"/>
                </a:lnTo>
                <a:lnTo>
                  <a:pt x="1119925" y="838438"/>
                </a:lnTo>
                <a:lnTo>
                  <a:pt x="1068614" y="840622"/>
                </a:lnTo>
                <a:lnTo>
                  <a:pt x="1017151" y="841229"/>
                </a:lnTo>
                <a:lnTo>
                  <a:pt x="965693" y="840259"/>
                </a:lnTo>
                <a:lnTo>
                  <a:pt x="914394" y="837710"/>
                </a:lnTo>
                <a:lnTo>
                  <a:pt x="863413" y="833580"/>
                </a:lnTo>
                <a:lnTo>
                  <a:pt x="812904" y="827867"/>
                </a:lnTo>
                <a:lnTo>
                  <a:pt x="763023" y="820569"/>
                </a:lnTo>
                <a:lnTo>
                  <a:pt x="713928" y="811685"/>
                </a:lnTo>
                <a:lnTo>
                  <a:pt x="665774" y="801212"/>
                </a:lnTo>
                <a:lnTo>
                  <a:pt x="618718" y="789149"/>
                </a:lnTo>
                <a:lnTo>
                  <a:pt x="572915" y="775494"/>
                </a:lnTo>
                <a:lnTo>
                  <a:pt x="528521" y="760245"/>
                </a:lnTo>
                <a:lnTo>
                  <a:pt x="485694" y="743400"/>
                </a:lnTo>
                <a:lnTo>
                  <a:pt x="444588" y="724957"/>
                </a:lnTo>
                <a:lnTo>
                  <a:pt x="390533" y="696558"/>
                </a:lnTo>
                <a:lnTo>
                  <a:pt x="342542" y="666139"/>
                </a:lnTo>
                <a:lnTo>
                  <a:pt x="300716" y="633937"/>
                </a:lnTo>
                <a:lnTo>
                  <a:pt x="265160" y="600185"/>
                </a:lnTo>
                <a:lnTo>
                  <a:pt x="235974" y="565118"/>
                </a:lnTo>
                <a:lnTo>
                  <a:pt x="213262" y="528972"/>
                </a:lnTo>
                <a:lnTo>
                  <a:pt x="197125" y="491980"/>
                </a:lnTo>
                <a:lnTo>
                  <a:pt x="187665" y="454377"/>
                </a:lnTo>
                <a:lnTo>
                  <a:pt x="184987" y="416399"/>
                </a:lnTo>
                <a:lnTo>
                  <a:pt x="189190" y="378279"/>
                </a:lnTo>
                <a:lnTo>
                  <a:pt x="200378" y="340253"/>
                </a:lnTo>
                <a:lnTo>
                  <a:pt x="218654" y="302555"/>
                </a:lnTo>
                <a:lnTo>
                  <a:pt x="244119" y="265420"/>
                </a:lnTo>
                <a:lnTo>
                  <a:pt x="0" y="91595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31254" y="3581077"/>
            <a:ext cx="942975" cy="557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635" marR="5080" indent="-115570">
              <a:lnSpc>
                <a:spcPts val="2030"/>
              </a:lnSpc>
              <a:spcBef>
                <a:spcPts val="275"/>
              </a:spcBef>
            </a:pPr>
            <a:r>
              <a:rPr sz="1800" b="1" spc="-5" dirty="0">
                <a:solidFill>
                  <a:srgbClr val="FFFFFF"/>
                </a:solidFill>
                <a:latin typeface="宋体"/>
                <a:cs typeface="宋体"/>
              </a:rPr>
              <a:t>分子分母 求导数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EA71B55-E755-4B66-B58D-2A9B525D8A13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62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200150"/>
            <a:ext cx="5231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可证明：</a:t>
            </a:r>
            <a:r>
              <a:rPr sz="2400" b="1" dirty="0">
                <a:latin typeface="宋体"/>
                <a:cs typeface="宋体"/>
              </a:rPr>
              <a:t>对</a:t>
            </a:r>
            <a:r>
              <a:rPr sz="2400" b="1" spc="5" dirty="0">
                <a:latin typeface="宋体"/>
                <a:cs typeface="宋体"/>
              </a:rPr>
              <a:t>数</a:t>
            </a:r>
            <a:r>
              <a:rPr sz="2400" b="1" dirty="0">
                <a:latin typeface="宋体"/>
                <a:cs typeface="宋体"/>
              </a:rPr>
              <a:t>函数的阶低于幂函数的阶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4600" y="1809750"/>
            <a:ext cx="3429000" cy="457200"/>
          </a:xfrm>
          <a:prstGeom prst="rect">
            <a:avLst/>
          </a:prstGeom>
          <a:ln w="25146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1805">
              <a:lnSpc>
                <a:spcPts val="2710"/>
              </a:lnSpc>
            </a:pPr>
            <a:r>
              <a:rPr sz="2400" b="1" spc="-5" dirty="0">
                <a:latin typeface="Times New Roman"/>
                <a:cs typeface="Times New Roman"/>
              </a:rPr>
              <a:t>ln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i="1" dirty="0">
                <a:latin typeface="Times New Roman"/>
                <a:cs typeface="Times New Roman"/>
              </a:rPr>
              <a:t>o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7" baseline="24305" dirty="0">
                <a:latin typeface="Times New Roman"/>
                <a:cs typeface="Times New Roman"/>
              </a:rPr>
              <a:t>d 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d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一些重要结果</a:t>
            </a:r>
            <a:r>
              <a:rPr sz="4400" dirty="0">
                <a:latin typeface="黑体" pitchFamily="49" charset="-122"/>
                <a:ea typeface="黑体" pitchFamily="49" charset="-122"/>
              </a:rPr>
              <a:t>(</a:t>
            </a:r>
            <a:r>
              <a:rPr sz="4400" spc="-10" dirty="0">
                <a:latin typeface="黑体" pitchFamily="49" charset="-122"/>
                <a:ea typeface="黑体" pitchFamily="49" charset="-122"/>
              </a:rPr>
              <a:t>续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2445511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证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1919" y="320244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>
                <a:moveTo>
                  <a:pt x="0" y="0"/>
                </a:moveTo>
                <a:lnTo>
                  <a:pt x="448964" y="0"/>
                </a:lnTo>
              </a:path>
            </a:pathLst>
          </a:custGeom>
          <a:ln w="12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1443" y="2855446"/>
            <a:ext cx="200660" cy="0"/>
          </a:xfrm>
          <a:custGeom>
            <a:avLst/>
            <a:gdLst/>
            <a:ahLst/>
            <a:cxnLst/>
            <a:rect l="l" t="t" r="r" b="b"/>
            <a:pathLst>
              <a:path w="200660">
                <a:moveTo>
                  <a:pt x="0" y="0"/>
                </a:moveTo>
                <a:lnTo>
                  <a:pt x="200234" y="0"/>
                </a:lnTo>
              </a:path>
            </a:pathLst>
          </a:custGeom>
          <a:ln w="62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52437" y="3202449"/>
            <a:ext cx="639445" cy="0"/>
          </a:xfrm>
          <a:custGeom>
            <a:avLst/>
            <a:gdLst/>
            <a:ahLst/>
            <a:cxnLst/>
            <a:rect l="l" t="t" r="r" b="b"/>
            <a:pathLst>
              <a:path w="639445">
                <a:moveTo>
                  <a:pt x="0" y="0"/>
                </a:moveTo>
                <a:lnTo>
                  <a:pt x="639030" y="0"/>
                </a:lnTo>
              </a:path>
            </a:pathLst>
          </a:custGeom>
          <a:ln w="12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55955" y="401524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112" y="0"/>
                </a:lnTo>
              </a:path>
            </a:pathLst>
          </a:custGeom>
          <a:ln w="12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15332" y="3588335"/>
            <a:ext cx="175895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1483" y="3782156"/>
            <a:ext cx="68453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-70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lim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3830" y="3269469"/>
            <a:ext cx="43688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i="1" spc="60" dirty="0">
                <a:latin typeface="Times New Roman"/>
                <a:cs typeface="Times New Roman"/>
              </a:rPr>
              <a:t>n</a:t>
            </a:r>
            <a:r>
              <a:rPr sz="1350" b="1" spc="100" dirty="0">
                <a:latin typeface="Symbol"/>
                <a:cs typeface="Symbol"/>
              </a:rPr>
              <a:t></a:t>
            </a:r>
            <a:r>
              <a:rPr sz="1350" b="1" spc="20" dirty="0">
                <a:latin typeface="Symbol"/>
                <a:cs typeface="Symbol"/>
              </a:rPr>
              <a:t>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467" y="3957220"/>
            <a:ext cx="972819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350" b="1" i="1" spc="60" dirty="0">
                <a:latin typeface="Times New Roman"/>
                <a:cs typeface="Times New Roman"/>
              </a:rPr>
              <a:t>n</a:t>
            </a:r>
            <a:r>
              <a:rPr sz="1350" b="1" spc="60" dirty="0">
                <a:latin typeface="Symbol"/>
                <a:cs typeface="Symbol"/>
              </a:rPr>
              <a:t></a:t>
            </a:r>
            <a:r>
              <a:rPr sz="1350" b="1" spc="155" dirty="0">
                <a:latin typeface="Times New Roman"/>
                <a:cs typeface="Times New Roman"/>
              </a:rPr>
              <a:t> </a:t>
            </a:r>
            <a:r>
              <a:rPr sz="3525" b="1" i="1" spc="52" baseline="-10638" dirty="0">
                <a:latin typeface="Times New Roman"/>
                <a:cs typeface="Times New Roman"/>
              </a:rPr>
              <a:t>dn</a:t>
            </a:r>
            <a:r>
              <a:rPr sz="2025" b="1" i="1" spc="52" baseline="26748" dirty="0">
                <a:latin typeface="Times New Roman"/>
                <a:cs typeface="Times New Roman"/>
              </a:rPr>
              <a:t>d</a:t>
            </a:r>
            <a:endParaRPr sz="2025" baseline="2674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9082" y="2379141"/>
            <a:ext cx="192405" cy="854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535"/>
              </a:spcBef>
            </a:pPr>
            <a:r>
              <a:rPr sz="2350" b="1" spc="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i="1" spc="5" dirty="0">
                <a:latin typeface="Times New Roman"/>
                <a:cs typeface="Times New Roman"/>
              </a:rPr>
              <a:t>n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31515" y="3064704"/>
            <a:ext cx="1873885" cy="1102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755015" algn="l"/>
              </a:tabLst>
            </a:pPr>
            <a:r>
              <a:rPr sz="3525" b="1" i="1" spc="75" baseline="-24822" dirty="0">
                <a:latin typeface="Times New Roman"/>
                <a:cs typeface="Times New Roman"/>
              </a:rPr>
              <a:t>n</a:t>
            </a:r>
            <a:r>
              <a:rPr sz="1350" b="1" i="1" spc="50" dirty="0">
                <a:latin typeface="Times New Roman"/>
                <a:cs typeface="Times New Roman"/>
              </a:rPr>
              <a:t>d	</a:t>
            </a:r>
            <a:r>
              <a:rPr sz="2025" b="1" i="1" spc="89" baseline="-26748" dirty="0">
                <a:latin typeface="Times New Roman"/>
                <a:cs typeface="Times New Roman"/>
              </a:rPr>
              <a:t>n</a:t>
            </a:r>
            <a:r>
              <a:rPr sz="2025" b="1" spc="89" baseline="-26748" dirty="0">
                <a:latin typeface="Symbol"/>
                <a:cs typeface="Symbol"/>
              </a:rPr>
              <a:t></a:t>
            </a:r>
            <a:r>
              <a:rPr sz="2025" b="1" spc="89" baseline="-26748" dirty="0">
                <a:latin typeface="Times New Roman"/>
                <a:cs typeface="Times New Roman"/>
              </a:rPr>
              <a:t> </a:t>
            </a:r>
            <a:r>
              <a:rPr sz="3525" b="1" i="1" spc="52" baseline="-24822" dirty="0">
                <a:latin typeface="Times New Roman"/>
                <a:cs typeface="Times New Roman"/>
              </a:rPr>
              <a:t>dn</a:t>
            </a:r>
            <a:r>
              <a:rPr sz="1350" b="1" i="1" spc="35" dirty="0">
                <a:latin typeface="Times New Roman"/>
                <a:cs typeface="Times New Roman"/>
              </a:rPr>
              <a:t>d</a:t>
            </a:r>
            <a:r>
              <a:rPr sz="1350" b="1" i="1" spc="-55" dirty="0">
                <a:latin typeface="Times New Roman"/>
                <a:cs typeface="Times New Roman"/>
              </a:rPr>
              <a:t> </a:t>
            </a:r>
            <a:r>
              <a:rPr sz="1350" b="1" spc="10" dirty="0">
                <a:latin typeface="Times New Roman"/>
                <a:cs typeface="Times New Roman"/>
              </a:rPr>
              <a:t>-1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Times New Roman"/>
              <a:cs typeface="Times New Roman"/>
            </a:endParaRPr>
          </a:p>
          <a:p>
            <a:pPr marL="114300" algn="ctr">
              <a:lnSpc>
                <a:spcPct val="100000"/>
              </a:lnSpc>
            </a:pP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-15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954" y="2969356"/>
            <a:ext cx="173482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50" b="1" spc="5" dirty="0">
                <a:latin typeface="Times New Roman"/>
                <a:cs typeface="Times New Roman"/>
              </a:rPr>
              <a:t>lim </a:t>
            </a:r>
            <a:r>
              <a:rPr sz="3525" b="1" spc="15" baseline="36643" dirty="0">
                <a:latin typeface="Times New Roman"/>
                <a:cs typeface="Times New Roman"/>
              </a:rPr>
              <a:t>ln</a:t>
            </a:r>
            <a:r>
              <a:rPr sz="3525" b="1" i="1" spc="15" baseline="36643" dirty="0">
                <a:latin typeface="Times New Roman"/>
                <a:cs typeface="Times New Roman"/>
              </a:rPr>
              <a:t>n </a:t>
            </a:r>
            <a:r>
              <a:rPr sz="2350" b="1" spc="5" dirty="0">
                <a:latin typeface="Symbol"/>
                <a:cs typeface="Symbol"/>
              </a:rPr>
              <a:t></a:t>
            </a:r>
            <a:r>
              <a:rPr sz="2350" b="1" spc="20" dirty="0">
                <a:latin typeface="Times New Roman"/>
                <a:cs typeface="Times New Roman"/>
              </a:rPr>
              <a:t> </a:t>
            </a:r>
            <a:r>
              <a:rPr sz="2350" b="1" spc="5" dirty="0">
                <a:latin typeface="Times New Roman"/>
                <a:cs typeface="Times New Roman"/>
              </a:rPr>
              <a:t>lim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4498209-FF20-4371-9C33-6067DFDD3B3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4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定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理</a:t>
            </a:r>
            <a:r>
              <a:rPr sz="4400" spc="-85" dirty="0">
                <a:latin typeface="黑体" pitchFamily="49" charset="-122"/>
                <a:ea typeface="黑体" pitchFamily="49" charset="-122"/>
              </a:rPr>
              <a:t> 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00150"/>
            <a:ext cx="8227060" cy="2837956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定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理</a:t>
            </a:r>
            <a:r>
              <a:rPr sz="2400" b="1" spc="-3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400" b="1" spc="-5" dirty="0">
                <a:latin typeface="宋体"/>
                <a:cs typeface="宋体"/>
              </a:rPr>
              <a:t>设函数</a:t>
            </a:r>
            <a:r>
              <a:rPr sz="2400" b="1" i="1" spc="-5" dirty="0">
                <a:latin typeface="Times New Roman"/>
                <a:cs typeface="Times New Roman"/>
              </a:rPr>
              <a:t>f,</a:t>
            </a:r>
            <a:r>
              <a:rPr sz="2400" b="1" i="1" dirty="0">
                <a:latin typeface="Times New Roman"/>
                <a:cs typeface="Times New Roman"/>
              </a:rPr>
              <a:t> g,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宋体"/>
                <a:cs typeface="宋体"/>
              </a:rPr>
              <a:t>的定义</a:t>
            </a:r>
            <a:r>
              <a:rPr sz="2400" b="1" dirty="0">
                <a:latin typeface="宋体"/>
                <a:cs typeface="宋体"/>
              </a:rPr>
              <a:t>域为自然数集</a:t>
            </a:r>
            <a:r>
              <a:rPr sz="2400" b="1" spc="5" dirty="0">
                <a:latin typeface="宋体"/>
                <a:cs typeface="宋体"/>
              </a:rPr>
              <a:t>合</a:t>
            </a:r>
            <a:r>
              <a:rPr sz="2400" b="1" spc="-10" dirty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  <a:p>
            <a:pPr marL="165100" marR="147955" indent="-635">
              <a:lnSpc>
                <a:spcPct val="126899"/>
              </a:lnSpc>
              <a:spcBef>
                <a:spcPts val="125"/>
              </a:spcBef>
            </a:pPr>
            <a:r>
              <a:rPr sz="2400" b="1" spc="-5" dirty="0">
                <a:latin typeface="Times New Roman"/>
                <a:cs typeface="Times New Roman"/>
              </a:rPr>
              <a:t>(1) </a:t>
            </a:r>
            <a:r>
              <a:rPr sz="2400" b="1" spc="-5" dirty="0">
                <a:latin typeface="宋体"/>
                <a:cs typeface="宋体"/>
              </a:rPr>
              <a:t>如</a:t>
            </a:r>
            <a:r>
              <a:rPr sz="2400" b="1" spc="-10" dirty="0">
                <a:latin typeface="宋体"/>
                <a:cs typeface="宋体"/>
              </a:rPr>
              <a:t>果</a:t>
            </a:r>
            <a:r>
              <a:rPr sz="2400" b="1" spc="-595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spc="-10" dirty="0">
                <a:latin typeface="宋体"/>
                <a:cs typeface="宋体"/>
              </a:rPr>
              <a:t>且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g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宋体"/>
                <a:cs typeface="宋体"/>
              </a:rPr>
              <a:t>，那</a:t>
            </a:r>
            <a:r>
              <a:rPr sz="2400" b="1" spc="-10" dirty="0">
                <a:latin typeface="宋体"/>
                <a:cs typeface="宋体"/>
              </a:rPr>
              <a:t>么</a:t>
            </a:r>
            <a:r>
              <a:rPr sz="2400" b="1" spc="-58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Times New Roman"/>
                <a:cs typeface="Times New Roman"/>
              </a:rPr>
              <a:t>).  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L="165100" marR="147955" indent="-635">
              <a:lnSpc>
                <a:spcPct val="126899"/>
              </a:lnSpc>
              <a:spcBef>
                <a:spcPts val="125"/>
              </a:spcBef>
            </a:pP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spc="-5" dirty="0">
                <a:latin typeface="Times New Roman"/>
                <a:cs typeface="Times New Roman"/>
              </a:rPr>
              <a:t>2)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如</a:t>
            </a:r>
            <a:r>
              <a:rPr sz="2400" b="1" spc="-10" dirty="0">
                <a:latin typeface="宋体"/>
                <a:cs typeface="宋体"/>
              </a:rPr>
              <a:t>果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spc="-15" dirty="0">
                <a:latin typeface="Times New Roman"/>
                <a:cs typeface="Times New Roman"/>
              </a:rPr>
              <a:t>f</a:t>
            </a:r>
            <a:r>
              <a:rPr sz="2400" b="1" spc="-15" dirty="0">
                <a:latin typeface="Times New Roman"/>
                <a:cs typeface="Times New Roman"/>
              </a:rPr>
              <a:t>=</a:t>
            </a:r>
            <a:r>
              <a:rPr sz="2400" b="1" i="1" spc="-15" dirty="0">
                <a:latin typeface="Symbol"/>
                <a:cs typeface="Symbol"/>
              </a:rPr>
              <a:t>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) </a:t>
            </a:r>
            <a:r>
              <a:rPr sz="2400" b="1" spc="-10" dirty="0">
                <a:latin typeface="宋体"/>
                <a:cs typeface="宋体"/>
              </a:rPr>
              <a:t>且</a:t>
            </a:r>
            <a:r>
              <a:rPr sz="2400" b="1" spc="-605" dirty="0">
                <a:latin typeface="宋体"/>
                <a:cs typeface="宋体"/>
              </a:rPr>
              <a:t> </a:t>
            </a:r>
            <a:r>
              <a:rPr sz="2400" b="1" i="1" spc="-30" dirty="0">
                <a:latin typeface="Times New Roman"/>
                <a:cs typeface="Times New Roman"/>
              </a:rPr>
              <a:t>g</a:t>
            </a:r>
            <a:r>
              <a:rPr sz="2400" b="1" spc="-30" dirty="0">
                <a:latin typeface="Times New Roman"/>
                <a:cs typeface="Times New Roman"/>
              </a:rPr>
              <a:t>=</a:t>
            </a:r>
            <a:r>
              <a:rPr sz="2400" b="1" i="1" spc="-30" dirty="0">
                <a:latin typeface="Symbol"/>
                <a:cs typeface="Symbol"/>
              </a:rPr>
              <a:t></a:t>
            </a:r>
            <a:r>
              <a:rPr sz="2400" b="1" spc="-30" dirty="0">
                <a:latin typeface="Times New Roman"/>
                <a:cs typeface="Times New Roman"/>
              </a:rPr>
              <a:t>(</a:t>
            </a:r>
            <a:r>
              <a:rPr sz="2400" b="1" i="1" spc="-30" dirty="0">
                <a:latin typeface="Times New Roman"/>
                <a:cs typeface="Times New Roman"/>
              </a:rPr>
              <a:t>h</a:t>
            </a:r>
            <a:r>
              <a:rPr sz="2400" b="1" spc="-30" dirty="0">
                <a:latin typeface="Times New Roman"/>
                <a:cs typeface="Times New Roman"/>
              </a:rPr>
              <a:t>)</a:t>
            </a:r>
            <a:r>
              <a:rPr sz="2400" b="1" i="1" spc="-30" dirty="0">
                <a:latin typeface="宋体"/>
                <a:cs typeface="宋体"/>
              </a:rPr>
              <a:t>，</a:t>
            </a:r>
            <a:r>
              <a:rPr sz="2400" b="1" spc="-5" dirty="0">
                <a:latin typeface="宋体"/>
                <a:cs typeface="宋体"/>
              </a:rPr>
              <a:t>那</a:t>
            </a:r>
            <a:r>
              <a:rPr sz="2400" b="1" spc="-10" dirty="0">
                <a:latin typeface="宋体"/>
                <a:cs typeface="宋体"/>
              </a:rPr>
              <a:t>么</a:t>
            </a:r>
            <a:r>
              <a:rPr sz="2400" b="1" spc="-585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=</a:t>
            </a:r>
            <a:r>
              <a:rPr sz="2400" b="1" i="1" spc="-40" dirty="0">
                <a:latin typeface="Symbol"/>
                <a:cs typeface="Symbol"/>
              </a:rPr>
              <a:t>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Times New Roman"/>
                <a:cs typeface="Times New Roman"/>
              </a:rPr>
              <a:t>). 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L="165100" marR="147955" indent="-635">
              <a:lnSpc>
                <a:spcPct val="126899"/>
              </a:lnSpc>
              <a:spcBef>
                <a:spcPts val="125"/>
              </a:spcBef>
            </a:pPr>
            <a:r>
              <a:rPr sz="2400" b="1" spc="-5" dirty="0" smtClean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(3)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如</a:t>
            </a:r>
            <a:r>
              <a:rPr sz="2400" b="1" spc="-10" dirty="0">
                <a:latin typeface="宋体"/>
                <a:cs typeface="宋体"/>
              </a:rPr>
              <a:t>果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spc="-15" dirty="0">
                <a:latin typeface="Times New Roman"/>
                <a:cs typeface="Times New Roman"/>
              </a:rPr>
              <a:t>f</a:t>
            </a:r>
            <a:r>
              <a:rPr sz="2400" b="1" spc="-15" dirty="0">
                <a:latin typeface="Times New Roman"/>
                <a:cs typeface="Times New Roman"/>
              </a:rPr>
              <a:t>=</a:t>
            </a:r>
            <a:r>
              <a:rPr sz="2400" b="1" i="1" spc="-15" dirty="0">
                <a:latin typeface="Symbol"/>
                <a:cs typeface="Symbol"/>
              </a:rPr>
              <a:t></a:t>
            </a:r>
            <a:r>
              <a:rPr sz="2400" b="1" spc="-15" dirty="0">
                <a:latin typeface="Times New Roman"/>
                <a:cs typeface="Times New Roman"/>
              </a:rPr>
              <a:t>(</a:t>
            </a:r>
            <a:r>
              <a:rPr sz="2400" b="1" i="1" spc="-15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) </a:t>
            </a:r>
            <a:r>
              <a:rPr sz="2400" b="1" spc="-10" dirty="0">
                <a:latin typeface="宋体"/>
                <a:cs typeface="宋体"/>
              </a:rPr>
              <a:t>和</a:t>
            </a:r>
            <a:r>
              <a:rPr sz="2400" b="1" spc="-605" dirty="0">
                <a:latin typeface="宋体"/>
                <a:cs typeface="宋体"/>
              </a:rPr>
              <a:t> </a:t>
            </a:r>
            <a:r>
              <a:rPr sz="2400" b="1" i="1" spc="-30" dirty="0">
                <a:latin typeface="Times New Roman"/>
                <a:cs typeface="Times New Roman"/>
              </a:rPr>
              <a:t>g</a:t>
            </a:r>
            <a:r>
              <a:rPr sz="2400" b="1" spc="-30" dirty="0">
                <a:latin typeface="Times New Roman"/>
                <a:cs typeface="Times New Roman"/>
              </a:rPr>
              <a:t>=</a:t>
            </a:r>
            <a:r>
              <a:rPr sz="2400" b="1" i="1" spc="-30" dirty="0">
                <a:latin typeface="Symbol"/>
                <a:cs typeface="Symbol"/>
              </a:rPr>
              <a:t></a:t>
            </a:r>
            <a:r>
              <a:rPr sz="2400" b="1" spc="-30" dirty="0">
                <a:latin typeface="Times New Roman"/>
                <a:cs typeface="Times New Roman"/>
              </a:rPr>
              <a:t>(</a:t>
            </a:r>
            <a:r>
              <a:rPr sz="2400" b="1" i="1" spc="-30" dirty="0">
                <a:latin typeface="Times New Roman"/>
                <a:cs typeface="Times New Roman"/>
              </a:rPr>
              <a:t>h</a:t>
            </a:r>
            <a:r>
              <a:rPr sz="2400" b="1" spc="-30" dirty="0">
                <a:latin typeface="Times New Roman"/>
                <a:cs typeface="Times New Roman"/>
              </a:rPr>
              <a:t>)</a:t>
            </a:r>
            <a:r>
              <a:rPr sz="2400" b="1" i="1" spc="-30" dirty="0">
                <a:latin typeface="宋体"/>
                <a:cs typeface="宋体"/>
              </a:rPr>
              <a:t>，</a:t>
            </a:r>
            <a:r>
              <a:rPr sz="2400" b="1" spc="-5" dirty="0">
                <a:latin typeface="宋体"/>
                <a:cs typeface="宋体"/>
              </a:rPr>
              <a:t>那</a:t>
            </a:r>
            <a:r>
              <a:rPr sz="2400" b="1" spc="-10" dirty="0">
                <a:latin typeface="宋体"/>
                <a:cs typeface="宋体"/>
              </a:rPr>
              <a:t>么</a:t>
            </a:r>
            <a:r>
              <a:rPr sz="2400" b="1" spc="-595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=</a:t>
            </a:r>
            <a:r>
              <a:rPr sz="2400" b="1" i="1" spc="-40" dirty="0">
                <a:latin typeface="Symbol"/>
                <a:cs typeface="Symbol"/>
              </a:rPr>
              <a:t>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b="1" spc="-5" dirty="0">
                <a:latin typeface="宋体"/>
                <a:cs typeface="宋体"/>
              </a:rPr>
              <a:t>函数的阶</a:t>
            </a:r>
            <a:r>
              <a:rPr sz="2400" b="1" dirty="0">
                <a:latin typeface="宋体"/>
                <a:cs typeface="宋体"/>
              </a:rPr>
              <a:t>之</a:t>
            </a:r>
            <a:r>
              <a:rPr sz="2400" b="1" spc="5" dirty="0">
                <a:latin typeface="宋体"/>
                <a:cs typeface="宋体"/>
              </a:rPr>
              <a:t>间</a:t>
            </a:r>
            <a:r>
              <a:rPr sz="2400" b="1" dirty="0">
                <a:latin typeface="宋体"/>
                <a:cs typeface="宋体"/>
              </a:rPr>
              <a:t>的关系具有传递性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8A0CFE6-E62B-4C56-8CBD-12A9EC1B9841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12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907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子</a:t>
            </a:r>
            <a:endParaRPr sz="4000" spc="-15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8239760" cy="291746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54965" marR="17780" indent="-330200">
              <a:lnSpc>
                <a:spcPct val="103800"/>
              </a:lnSpc>
              <a:spcBef>
                <a:spcPts val="140"/>
              </a:spcBef>
            </a:pPr>
            <a:r>
              <a:rPr sz="2600" b="1" spc="-10" dirty="0">
                <a:latin typeface="宋体"/>
                <a:cs typeface="宋体"/>
              </a:rPr>
              <a:t>按照</a:t>
            </a:r>
            <a:r>
              <a:rPr sz="2600" b="1" spc="-5" dirty="0">
                <a:latin typeface="宋体"/>
                <a:cs typeface="宋体"/>
              </a:rPr>
              <a:t>阶从高</a:t>
            </a:r>
            <a:r>
              <a:rPr sz="2600" b="1" dirty="0">
                <a:latin typeface="宋体"/>
                <a:cs typeface="宋体"/>
              </a:rPr>
              <a:t>到</a:t>
            </a:r>
            <a:r>
              <a:rPr sz="2600" b="1" spc="-5" dirty="0">
                <a:latin typeface="宋体"/>
                <a:cs typeface="宋体"/>
              </a:rPr>
              <a:t>低排</a:t>
            </a:r>
            <a:r>
              <a:rPr sz="2600" b="1" dirty="0">
                <a:latin typeface="宋体"/>
                <a:cs typeface="宋体"/>
              </a:rPr>
              <a:t>序</a:t>
            </a:r>
            <a:r>
              <a:rPr sz="2600" b="1" spc="-5" dirty="0">
                <a:latin typeface="宋体"/>
                <a:cs typeface="宋体"/>
              </a:rPr>
              <a:t>以</a:t>
            </a:r>
            <a:r>
              <a:rPr sz="2600" b="1" dirty="0">
                <a:latin typeface="宋体"/>
                <a:cs typeface="宋体"/>
              </a:rPr>
              <a:t>下函数： </a:t>
            </a:r>
            <a:endParaRPr lang="en-US" sz="2600" b="1" dirty="0" smtClean="0">
              <a:latin typeface="宋体"/>
              <a:cs typeface="宋体"/>
            </a:endParaRPr>
          </a:p>
          <a:p>
            <a:pPr marL="354965" marR="17780" indent="-330200">
              <a:lnSpc>
                <a:spcPct val="103800"/>
              </a:lnSpc>
              <a:spcBef>
                <a:spcPts val="140"/>
              </a:spcBef>
            </a:pPr>
            <a:r>
              <a:rPr lang="en-US" sz="2600" b="1" dirty="0">
                <a:latin typeface="宋体"/>
                <a:cs typeface="宋体"/>
              </a:rPr>
              <a:t> </a:t>
            </a:r>
            <a:r>
              <a:rPr lang="en-US" sz="2600" b="1" dirty="0" smtClean="0">
                <a:latin typeface="宋体"/>
                <a:cs typeface="宋体"/>
              </a:rPr>
              <a:t>  </a:t>
            </a:r>
            <a:r>
              <a:rPr sz="2600" b="1" i="1" spc="-5" dirty="0" smtClean="0">
                <a:latin typeface="Times New Roman"/>
                <a:cs typeface="Times New Roman"/>
              </a:rPr>
              <a:t>f</a:t>
            </a:r>
            <a:r>
              <a:rPr sz="2600" b="1" spc="-5" dirty="0" smtClean="0">
                <a:latin typeface="Times New Roman"/>
                <a:cs typeface="Times New Roman"/>
              </a:rPr>
              <a:t>(</a:t>
            </a:r>
            <a:r>
              <a:rPr sz="2600" b="1" i="1" spc="-5" dirty="0" smtClean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)=(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550" b="1" spc="-7" baseline="26143" dirty="0">
                <a:latin typeface="Times New Roman"/>
                <a:cs typeface="Times New Roman"/>
              </a:rPr>
              <a:t>2</a:t>
            </a:r>
            <a:r>
              <a:rPr sz="2600" b="1" spc="-5" dirty="0">
                <a:latin typeface="Times New Roman"/>
                <a:cs typeface="Times New Roman"/>
              </a:rPr>
              <a:t>+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)/2</a:t>
            </a:r>
            <a:r>
              <a:rPr sz="2600" b="1" spc="-5" dirty="0" smtClean="0">
                <a:latin typeface="宋体"/>
                <a:cs typeface="宋体"/>
              </a:rPr>
              <a:t>，</a:t>
            </a:r>
            <a:r>
              <a:rPr lang="en-US" sz="2600" b="1" spc="-5" dirty="0" smtClean="0">
                <a:latin typeface="宋体"/>
                <a:cs typeface="宋体"/>
              </a:rPr>
              <a:t>  </a:t>
            </a:r>
            <a:r>
              <a:rPr sz="2600" b="1" i="1" spc="-5" dirty="0" smtClean="0">
                <a:latin typeface="Times New Roman"/>
                <a:cs typeface="Times New Roman"/>
              </a:rPr>
              <a:t>g</a:t>
            </a:r>
            <a:r>
              <a:rPr sz="2600" b="1" spc="-5" dirty="0" smtClean="0">
                <a:latin typeface="Times New Roman"/>
                <a:cs typeface="Times New Roman"/>
              </a:rPr>
              <a:t>(</a:t>
            </a:r>
            <a:r>
              <a:rPr sz="2600" b="1" i="1" spc="-5" dirty="0" smtClean="0">
                <a:latin typeface="Times New Roman"/>
                <a:cs typeface="Times New Roman"/>
              </a:rPr>
              <a:t>n</a:t>
            </a:r>
            <a:r>
              <a:rPr sz="2600" b="1" spc="-5" dirty="0" smtClean="0">
                <a:latin typeface="Times New Roman"/>
                <a:cs typeface="Times New Roman"/>
              </a:rPr>
              <a:t>)=10</a:t>
            </a:r>
            <a:r>
              <a:rPr sz="2600" b="1" i="1" spc="-5" dirty="0" smtClean="0">
                <a:latin typeface="Times New Roman"/>
                <a:cs typeface="Times New Roman"/>
              </a:rPr>
              <a:t>n </a:t>
            </a:r>
            <a:r>
              <a:rPr lang="en-US" sz="2600" b="1" i="1" spc="-5" dirty="0" smtClean="0">
                <a:latin typeface="Times New Roman"/>
                <a:cs typeface="Times New Roman"/>
              </a:rPr>
              <a:t>    </a:t>
            </a:r>
            <a:r>
              <a:rPr sz="2600" b="1" i="1" spc="-5" dirty="0" smtClean="0">
                <a:latin typeface="Times New Roman"/>
                <a:cs typeface="Times New Roman"/>
              </a:rPr>
              <a:t> </a:t>
            </a:r>
            <a:r>
              <a:rPr sz="2600" b="1" i="1" dirty="0" smtClean="0">
                <a:latin typeface="Times New Roman"/>
                <a:cs typeface="Times New Roman"/>
              </a:rPr>
              <a:t>h</a:t>
            </a:r>
            <a:r>
              <a:rPr sz="2600" b="1" dirty="0" smtClean="0">
                <a:latin typeface="Times New Roman"/>
                <a:cs typeface="Times New Roman"/>
              </a:rPr>
              <a:t>(</a:t>
            </a:r>
            <a:r>
              <a:rPr sz="2600" b="1" i="1" dirty="0" smtClean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)=1.5</a:t>
            </a:r>
            <a:r>
              <a:rPr sz="2550" b="1" i="1" baseline="26143" dirty="0">
                <a:latin typeface="Times New Roman"/>
                <a:cs typeface="Times New Roman"/>
              </a:rPr>
              <a:t>n </a:t>
            </a:r>
            <a:r>
              <a:rPr sz="2600" b="1" spc="-15" dirty="0">
                <a:latin typeface="宋体"/>
                <a:cs typeface="宋体"/>
              </a:rPr>
              <a:t>，</a:t>
            </a:r>
            <a:r>
              <a:rPr sz="2600" b="1" spc="-635" dirty="0">
                <a:latin typeface="宋体"/>
                <a:cs typeface="宋体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(</a:t>
            </a:r>
            <a:r>
              <a:rPr sz="2600" b="1" i="1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)=</a:t>
            </a:r>
            <a:r>
              <a:rPr sz="2600" b="1" i="1" dirty="0">
                <a:latin typeface="Times New Roman"/>
                <a:cs typeface="Times New Roman"/>
              </a:rPr>
              <a:t>n</a:t>
            </a:r>
            <a:r>
              <a:rPr sz="2550" b="1" baseline="26143" dirty="0">
                <a:latin typeface="Times New Roman"/>
                <a:cs typeface="Times New Roman"/>
              </a:rPr>
              <a:t>1/2</a:t>
            </a:r>
            <a:endParaRPr sz="2550" baseline="26143" dirty="0">
              <a:latin typeface="Times New Roman"/>
              <a:cs typeface="Times New Roman"/>
            </a:endParaRPr>
          </a:p>
          <a:p>
            <a:pPr marL="431165">
              <a:lnSpc>
                <a:spcPts val="3170"/>
              </a:lnSpc>
              <a:spcBef>
                <a:spcPts val="2300"/>
              </a:spcBef>
            </a:pPr>
            <a:r>
              <a:rPr sz="2600" b="1" i="1" spc="-5" dirty="0">
                <a:latin typeface="Times New Roman"/>
                <a:cs typeface="Times New Roman"/>
              </a:rPr>
              <a:t>h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 =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700" b="1" i="1" spc="-15" dirty="0">
                <a:latin typeface="Symbol"/>
                <a:cs typeface="Symbol"/>
              </a:rPr>
              <a:t></a:t>
            </a:r>
            <a:r>
              <a:rPr sz="2600" b="1" spc="-15" dirty="0">
                <a:latin typeface="Times New Roman"/>
                <a:cs typeface="Times New Roman"/>
              </a:rPr>
              <a:t>(</a:t>
            </a:r>
            <a:r>
              <a:rPr sz="2600" b="1" i="1" spc="-15" dirty="0">
                <a:latin typeface="Times New Roman"/>
                <a:cs typeface="Times New Roman"/>
              </a:rPr>
              <a:t>f</a:t>
            </a:r>
            <a:r>
              <a:rPr sz="2600" b="1" spc="-15" dirty="0">
                <a:latin typeface="Times New Roman"/>
                <a:cs typeface="Times New Roman"/>
              </a:rPr>
              <a:t>(</a:t>
            </a:r>
            <a:r>
              <a:rPr sz="2600" b="1" i="1" spc="-15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))</a:t>
            </a:r>
            <a:r>
              <a:rPr sz="2600" b="1" spc="-15" dirty="0">
                <a:latin typeface="宋体"/>
                <a:cs typeface="宋体"/>
              </a:rPr>
              <a:t>，</a:t>
            </a:r>
            <a:endParaRPr sz="2600" dirty="0">
              <a:latin typeface="宋体"/>
              <a:cs typeface="宋体"/>
            </a:endParaRPr>
          </a:p>
          <a:p>
            <a:pPr marL="431165">
              <a:lnSpc>
                <a:spcPts val="3110"/>
              </a:lnSpc>
            </a:pPr>
            <a:r>
              <a:rPr sz="2600" b="1" i="1" spc="-5" dirty="0">
                <a:latin typeface="Times New Roman"/>
                <a:cs typeface="Times New Roman"/>
              </a:rPr>
              <a:t>f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 =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700" b="1" i="1" spc="-10" dirty="0">
                <a:latin typeface="Symbol"/>
                <a:cs typeface="Symbol"/>
              </a:rPr>
              <a:t></a:t>
            </a:r>
            <a:r>
              <a:rPr sz="2600" b="1" spc="-10" dirty="0">
                <a:latin typeface="Times New Roman"/>
                <a:cs typeface="Times New Roman"/>
              </a:rPr>
              <a:t>(</a:t>
            </a:r>
            <a:r>
              <a:rPr sz="2600" b="1" i="1" spc="-10" dirty="0">
                <a:latin typeface="Times New Roman"/>
                <a:cs typeface="Times New Roman"/>
              </a:rPr>
              <a:t>g</a:t>
            </a:r>
            <a:r>
              <a:rPr sz="2600" b="1" spc="-10" dirty="0">
                <a:latin typeface="Times New Roman"/>
                <a:cs typeface="Times New Roman"/>
              </a:rPr>
              <a:t>(</a:t>
            </a:r>
            <a:r>
              <a:rPr sz="2600" b="1" i="1" spc="-10" dirty="0">
                <a:latin typeface="Times New Roman"/>
                <a:cs typeface="Times New Roman"/>
              </a:rPr>
              <a:t>n</a:t>
            </a:r>
            <a:r>
              <a:rPr sz="2600" b="1" spc="-10" dirty="0">
                <a:latin typeface="Times New Roman"/>
                <a:cs typeface="Times New Roman"/>
              </a:rPr>
              <a:t>)),</a:t>
            </a:r>
            <a:endParaRPr sz="2600" dirty="0">
              <a:latin typeface="Times New Roman"/>
              <a:cs typeface="Times New Roman"/>
            </a:endParaRPr>
          </a:p>
          <a:p>
            <a:pPr marL="431165">
              <a:lnSpc>
                <a:spcPts val="3180"/>
              </a:lnSpc>
            </a:pPr>
            <a:r>
              <a:rPr sz="2600" b="1" i="1" spc="-5" dirty="0">
                <a:latin typeface="Times New Roman"/>
                <a:cs typeface="Times New Roman"/>
              </a:rPr>
              <a:t>g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 =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700" b="1" i="1" spc="-10" dirty="0">
                <a:latin typeface="Symbol"/>
                <a:cs typeface="Symbol"/>
              </a:rPr>
              <a:t></a:t>
            </a:r>
            <a:r>
              <a:rPr sz="2600" b="1" spc="-10" dirty="0">
                <a:latin typeface="Times New Roman"/>
                <a:cs typeface="Times New Roman"/>
              </a:rPr>
              <a:t>(</a:t>
            </a:r>
            <a:r>
              <a:rPr sz="2600" b="1" i="1" spc="-10" dirty="0">
                <a:latin typeface="Times New Roman"/>
                <a:cs typeface="Times New Roman"/>
              </a:rPr>
              <a:t>t</a:t>
            </a:r>
            <a:r>
              <a:rPr sz="2600" b="1" spc="-10" dirty="0">
                <a:latin typeface="Times New Roman"/>
                <a:cs typeface="Times New Roman"/>
              </a:rPr>
              <a:t>(</a:t>
            </a:r>
            <a:r>
              <a:rPr sz="2600" b="1" i="1" spc="-10" dirty="0">
                <a:latin typeface="Times New Roman"/>
                <a:cs typeface="Times New Roman"/>
              </a:rPr>
              <a:t>n</a:t>
            </a:r>
            <a:r>
              <a:rPr sz="2600" b="1" spc="-10" dirty="0">
                <a:latin typeface="Times New Roman"/>
                <a:cs typeface="Times New Roman"/>
              </a:rPr>
              <a:t>)),</a:t>
            </a:r>
            <a:endParaRPr sz="2600" dirty="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205"/>
              </a:spcBef>
            </a:pPr>
            <a:r>
              <a:rPr sz="2600" b="1" spc="-10" dirty="0">
                <a:latin typeface="宋体"/>
                <a:cs typeface="宋体"/>
              </a:rPr>
              <a:t>排</a:t>
            </a:r>
            <a:r>
              <a:rPr sz="2600" b="1" spc="-15" dirty="0">
                <a:latin typeface="宋体"/>
                <a:cs typeface="宋体"/>
              </a:rPr>
              <a:t>序</a:t>
            </a:r>
            <a:r>
              <a:rPr sz="2600" b="1" spc="10" dirty="0">
                <a:latin typeface="宋体"/>
                <a:cs typeface="宋体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h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), </a:t>
            </a:r>
            <a:r>
              <a:rPr sz="2600" b="1" i="1" spc="-5" dirty="0">
                <a:latin typeface="Times New Roman"/>
                <a:cs typeface="Times New Roman"/>
              </a:rPr>
              <a:t>f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),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g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),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t</a:t>
            </a:r>
            <a:r>
              <a:rPr sz="2600" b="1" spc="-5" dirty="0">
                <a:latin typeface="Times New Roman"/>
                <a:cs typeface="Times New Roman"/>
              </a:rPr>
              <a:t>(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r>
              <a:rPr sz="2600" b="1" spc="-5" dirty="0" smtClean="0">
                <a:latin typeface="Times New Roman"/>
                <a:cs typeface="Times New Roman"/>
              </a:rPr>
              <a:t>)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02D712E-CF76-43C7-93C7-725EB7A3270A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55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95350"/>
            <a:ext cx="8227060" cy="1747851"/>
          </a:xfrm>
          <a:prstGeom prst="rect">
            <a:avLst/>
          </a:prstGeom>
        </p:spPr>
        <p:txBody>
          <a:bodyPr vert="horz" wrap="square" lIns="0" tIns="326390" rIns="0" bIns="0" rtlCol="0">
            <a:spAutoFit/>
          </a:bodyPr>
          <a:lstStyle/>
          <a:p>
            <a:pPr marL="12700" marR="5080">
              <a:lnSpc>
                <a:spcPct val="128400"/>
              </a:lnSpc>
              <a:spcBef>
                <a:spcPts val="665"/>
              </a:spcBef>
              <a:tabLst>
                <a:tab pos="1996439" algn="l"/>
              </a:tabLst>
            </a:pPr>
            <a:r>
              <a:rPr sz="2400" spc="-5" dirty="0" err="1" smtClean="0"/>
              <a:t>定</a:t>
            </a:r>
            <a:r>
              <a:rPr sz="2400" spc="-10" dirty="0" err="1" smtClean="0"/>
              <a:t>理</a:t>
            </a:r>
            <a:r>
              <a:rPr sz="2400" spc="-30" dirty="0" smtClean="0"/>
              <a:t> </a:t>
            </a:r>
            <a:r>
              <a:rPr sz="2400" spc="-5" dirty="0">
                <a:solidFill>
                  <a:srgbClr val="000000"/>
                </a:solidFill>
              </a:rPr>
              <a:t>假设函数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2400" i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 err="1">
                <a:solidFill>
                  <a:srgbClr val="000000"/>
                </a:solidFill>
              </a:rPr>
              <a:t>和</a:t>
            </a:r>
            <a:r>
              <a:rPr sz="24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sz="2400" spc="-5" dirty="0" err="1">
                <a:solidFill>
                  <a:srgbClr val="000000"/>
                </a:solidFill>
              </a:rPr>
              <a:t>的定义</a:t>
            </a:r>
            <a:r>
              <a:rPr sz="2400" dirty="0" err="1">
                <a:solidFill>
                  <a:srgbClr val="000000"/>
                </a:solidFill>
              </a:rPr>
              <a:t>域为自</a:t>
            </a:r>
            <a:r>
              <a:rPr sz="2400" spc="5" dirty="0" err="1">
                <a:solidFill>
                  <a:srgbClr val="000000"/>
                </a:solidFill>
              </a:rPr>
              <a:t>然</a:t>
            </a:r>
            <a:r>
              <a:rPr sz="2400" dirty="0" err="1">
                <a:solidFill>
                  <a:srgbClr val="000000"/>
                </a:solidFill>
              </a:rPr>
              <a:t>数集</a:t>
            </a:r>
            <a:r>
              <a:rPr sz="2400" dirty="0" err="1" smtClean="0">
                <a:solidFill>
                  <a:srgbClr val="000000"/>
                </a:solidFill>
              </a:rPr>
              <a:t>，若对某个其它函</a:t>
            </a:r>
            <a:r>
              <a:rPr sz="2400" spc="-10" dirty="0" err="1" smtClean="0">
                <a:solidFill>
                  <a:srgbClr val="000000"/>
                </a:solidFill>
              </a:rPr>
              <a:t>数</a:t>
            </a:r>
            <a:r>
              <a:rPr sz="2400" spc="-610" dirty="0" smtClean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400" spc="-10" dirty="0">
                <a:solidFill>
                  <a:srgbClr val="000000"/>
                </a:solidFill>
              </a:rPr>
              <a:t>有</a:t>
            </a:r>
            <a:r>
              <a:rPr sz="2400" spc="-605" dirty="0">
                <a:solidFill>
                  <a:srgbClr val="000000"/>
                </a:solidFill>
              </a:rPr>
              <a:t> 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24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和</a:t>
            </a:r>
            <a:r>
              <a:rPr sz="2400" spc="-60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000000"/>
                </a:solidFill>
              </a:rPr>
              <a:t>， </a:t>
            </a:r>
            <a:r>
              <a:rPr sz="2400" spc="-5" dirty="0" err="1" smtClean="0">
                <a:solidFill>
                  <a:srgbClr val="000000"/>
                </a:solidFill>
              </a:rPr>
              <a:t>那</a:t>
            </a:r>
            <a:r>
              <a:rPr sz="2400" spc="-10" dirty="0" err="1" smtClean="0">
                <a:solidFill>
                  <a:srgbClr val="000000"/>
                </a:solidFill>
              </a:rPr>
              <a:t>么</a:t>
            </a:r>
            <a:r>
              <a:rPr sz="2400" spc="-10" dirty="0">
                <a:solidFill>
                  <a:srgbClr val="000000"/>
                </a:solidFill>
              </a:rPr>
              <a:t>	</a:t>
            </a:r>
            <a:r>
              <a:rPr lang="en-US" sz="2400" spc="-10" dirty="0" smtClean="0">
                <a:solidFill>
                  <a:srgbClr val="000000"/>
                </a:solidFill>
              </a:rPr>
              <a:t/>
            </a:r>
            <a:br>
              <a:rPr lang="en-US" sz="2400" spc="-10" dirty="0" smtClean="0">
                <a:solidFill>
                  <a:srgbClr val="000000"/>
                </a:solidFill>
              </a:rPr>
            </a:b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10" dirty="0" smtClean="0">
                <a:solidFill>
                  <a:srgbClr val="000000"/>
                </a:solidFill>
              </a:rPr>
              <a:t>                     </a:t>
            </a:r>
            <a:r>
              <a:rPr sz="2400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f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+ </a:t>
            </a:r>
            <a:r>
              <a:rPr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g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2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2638488"/>
            <a:ext cx="8227060" cy="184550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b="1" spc="-5" dirty="0">
                <a:latin typeface="宋体"/>
                <a:cs typeface="宋体"/>
              </a:rPr>
              <a:t>该性质可</a:t>
            </a:r>
            <a:r>
              <a:rPr sz="2400" b="1" dirty="0">
                <a:latin typeface="宋体"/>
                <a:cs typeface="宋体"/>
              </a:rPr>
              <a:t>以</a:t>
            </a:r>
            <a:r>
              <a:rPr sz="2400" b="1" spc="5" dirty="0">
                <a:latin typeface="宋体"/>
                <a:cs typeface="宋体"/>
              </a:rPr>
              <a:t>推</a:t>
            </a:r>
            <a:r>
              <a:rPr sz="2400" b="1" dirty="0">
                <a:latin typeface="宋体"/>
                <a:cs typeface="宋体"/>
              </a:rPr>
              <a:t>广到有限个函</a:t>
            </a:r>
            <a:r>
              <a:rPr sz="2400" b="1" spc="-5" dirty="0">
                <a:latin typeface="宋体"/>
                <a:cs typeface="宋体"/>
              </a:rPr>
              <a:t>数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2700" marR="57785" algn="just">
              <a:lnSpc>
                <a:spcPct val="111000"/>
              </a:lnSpc>
              <a:spcBef>
                <a:spcPts val="505"/>
              </a:spcBef>
            </a:pPr>
            <a:r>
              <a:rPr sz="2400" b="1" spc="-5" dirty="0">
                <a:latin typeface="宋体"/>
                <a:cs typeface="宋体"/>
              </a:rPr>
              <a:t>算法由有</a:t>
            </a:r>
            <a:r>
              <a:rPr sz="2400" b="1" dirty="0">
                <a:latin typeface="宋体"/>
                <a:cs typeface="宋体"/>
              </a:rPr>
              <a:t>限</a:t>
            </a:r>
            <a:r>
              <a:rPr sz="2400" b="1" spc="5" dirty="0">
                <a:latin typeface="宋体"/>
                <a:cs typeface="宋体"/>
              </a:rPr>
              <a:t>步</a:t>
            </a:r>
            <a:r>
              <a:rPr sz="2400" b="1" dirty="0">
                <a:latin typeface="宋体"/>
                <a:cs typeface="宋体"/>
              </a:rPr>
              <a:t>骤构</a:t>
            </a:r>
            <a:r>
              <a:rPr sz="2400" b="1" spc="-5" dirty="0">
                <a:latin typeface="宋体"/>
                <a:cs typeface="宋体"/>
              </a:rPr>
              <a:t>成</a:t>
            </a:r>
            <a:r>
              <a:rPr sz="2400" b="1" dirty="0">
                <a:latin typeface="Times New Roman"/>
                <a:cs typeface="Times New Roman"/>
              </a:rPr>
              <a:t>.</a:t>
            </a:r>
            <a:r>
              <a:rPr sz="2400" b="1" spc="570" dirty="0">
                <a:latin typeface="Times New Roman"/>
                <a:cs typeface="Times New Roman"/>
              </a:rPr>
              <a:t> </a:t>
            </a:r>
            <a:endParaRPr lang="en-US" sz="2400" b="1" spc="570" dirty="0" smtClean="0">
              <a:latin typeface="Times New Roman"/>
              <a:cs typeface="Times New Roman"/>
            </a:endParaRPr>
          </a:p>
          <a:p>
            <a:pPr marL="12700" marR="57785" algn="just">
              <a:lnSpc>
                <a:spcPct val="111000"/>
              </a:lnSpc>
              <a:spcBef>
                <a:spcPts val="505"/>
              </a:spcBef>
            </a:pPr>
            <a:r>
              <a:rPr sz="2400" b="1" spc="-5" dirty="0" err="1" smtClean="0">
                <a:latin typeface="宋体"/>
                <a:cs typeface="宋体"/>
              </a:rPr>
              <a:t>若每一步</a:t>
            </a:r>
            <a:r>
              <a:rPr sz="2400" b="1" dirty="0" err="1" smtClean="0">
                <a:latin typeface="宋体"/>
                <a:cs typeface="宋体"/>
              </a:rPr>
              <a:t>的时间</a:t>
            </a:r>
            <a:r>
              <a:rPr sz="2400" b="1" spc="-10" dirty="0" err="1" smtClean="0">
                <a:latin typeface="宋体"/>
                <a:cs typeface="宋体"/>
              </a:rPr>
              <a:t>复</a:t>
            </a:r>
            <a:r>
              <a:rPr sz="2400" b="1" spc="-5" dirty="0" err="1" smtClean="0">
                <a:latin typeface="宋体"/>
                <a:cs typeface="宋体"/>
              </a:rPr>
              <a:t>杂度函数</a:t>
            </a:r>
            <a:r>
              <a:rPr sz="2400" b="1" dirty="0" err="1" smtClean="0">
                <a:latin typeface="宋体"/>
                <a:cs typeface="宋体"/>
              </a:rPr>
              <a:t>的</a:t>
            </a:r>
            <a:r>
              <a:rPr sz="2400" b="1" spc="5" dirty="0" err="1" smtClean="0">
                <a:latin typeface="宋体"/>
                <a:cs typeface="宋体"/>
              </a:rPr>
              <a:t>上</a:t>
            </a:r>
            <a:r>
              <a:rPr sz="2400" b="1" dirty="0" err="1" smtClean="0">
                <a:latin typeface="宋体"/>
                <a:cs typeface="宋体"/>
              </a:rPr>
              <a:t>界都</a:t>
            </a:r>
            <a:r>
              <a:rPr sz="2400" b="1" spc="-10" dirty="0" err="1" smtClean="0">
                <a:latin typeface="宋体"/>
                <a:cs typeface="宋体"/>
              </a:rPr>
              <a:t>是</a:t>
            </a:r>
            <a:r>
              <a:rPr sz="2400" b="1" i="1" spc="-5" dirty="0" err="1" smtClean="0">
                <a:latin typeface="Times New Roman"/>
                <a:cs typeface="Times New Roman"/>
              </a:rPr>
              <a:t>h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i="1" spc="-5" dirty="0" smtClean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dirty="0" err="1" smtClean="0">
                <a:latin typeface="宋体"/>
                <a:cs typeface="宋体"/>
              </a:rPr>
              <a:t>那么该算法的</a:t>
            </a:r>
            <a:r>
              <a:rPr sz="2400" b="1" spc="-5" dirty="0" err="1" smtClean="0">
                <a:latin typeface="宋体"/>
                <a:cs typeface="宋体"/>
              </a:rPr>
              <a:t>时间复杂</a:t>
            </a:r>
            <a:r>
              <a:rPr sz="2400" b="1" dirty="0" err="1" smtClean="0">
                <a:latin typeface="宋体"/>
                <a:cs typeface="宋体"/>
              </a:rPr>
              <a:t>度</a:t>
            </a:r>
            <a:r>
              <a:rPr sz="2400" b="1" spc="5" dirty="0" err="1" smtClean="0">
                <a:latin typeface="宋体"/>
                <a:cs typeface="宋体"/>
              </a:rPr>
              <a:t>函</a:t>
            </a:r>
            <a:r>
              <a:rPr sz="2400" b="1" dirty="0" err="1" smtClean="0">
                <a:latin typeface="宋体"/>
                <a:cs typeface="宋体"/>
              </a:rPr>
              <a:t>数可以写</a:t>
            </a:r>
            <a:r>
              <a:rPr sz="2400" b="1" spc="-10" dirty="0" err="1" smtClean="0">
                <a:latin typeface="宋体"/>
                <a:cs typeface="宋体"/>
              </a:rPr>
              <a:t>作</a:t>
            </a:r>
            <a:r>
              <a:rPr sz="2400" b="1" spc="10" dirty="0" smtClean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h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 smtClean="0">
                <a:latin typeface="Times New Roman"/>
                <a:cs typeface="Times New Roman"/>
              </a:rPr>
              <a:t>)).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2490933-4545-4ADA-ABF4-39B16762264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89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3078" y="133350"/>
            <a:ext cx="82837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44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定理</a:t>
            </a:r>
            <a:r>
              <a:rPr lang="en-US" altLang="zh-CN" sz="44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3</a:t>
            </a:r>
            <a:endParaRPr lang="zh-CN" altLang="en-US" sz="4400" b="1" spc="-10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4419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小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1286928-B6AF-4E09-AAD0-77CF3F325E5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90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7200" y="1200150"/>
            <a:ext cx="82296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800" b="1" dirty="0">
                <a:latin typeface="+mn-ea"/>
              </a:rPr>
              <a:t>估计函数的阶的方法：计算极限阶具有传递性</a:t>
            </a:r>
          </a:p>
          <a:p>
            <a:pPr marL="457200" indent="-45720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800" b="1" dirty="0">
                <a:latin typeface="+mn-ea"/>
              </a:rPr>
              <a:t>对数函数的阶低于幂函数的阶，多项式函数的阶低于指数函数的阶</a:t>
            </a:r>
            <a:r>
              <a:rPr lang="en-US" altLang="zh-CN" sz="2800" b="1" dirty="0">
                <a:latin typeface="+mn-ea"/>
              </a:rPr>
              <a:t>.</a:t>
            </a:r>
          </a:p>
          <a:p>
            <a:pPr marL="457200" indent="-45720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800" b="1" dirty="0">
                <a:latin typeface="+mn-ea"/>
              </a:rPr>
              <a:t>算法的时间复杂度是各步操作时间之和，在常数步的情况下取最高阶的函数即可</a:t>
            </a:r>
            <a:r>
              <a:rPr lang="en-US" altLang="zh-CN" sz="28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45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928" y="1276350"/>
            <a:ext cx="6918072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600" spc="-15" dirty="0">
                <a:latin typeface="黑体" pitchFamily="49" charset="-122"/>
                <a:ea typeface="黑体" pitchFamily="49" charset="-122"/>
              </a:rPr>
              <a:t>几类</a:t>
            </a:r>
            <a:r>
              <a:rPr sz="6600" spc="5" dirty="0">
                <a:latin typeface="黑体" pitchFamily="49" charset="-122"/>
                <a:ea typeface="黑体" pitchFamily="49" charset="-122"/>
              </a:rPr>
              <a:t>重</a:t>
            </a:r>
            <a:r>
              <a:rPr sz="6600" spc="-5" dirty="0">
                <a:latin typeface="黑体" pitchFamily="49" charset="-122"/>
                <a:ea typeface="黑体" pitchFamily="49" charset="-122"/>
              </a:rPr>
              <a:t>要的函数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AE4A2CC-3D97-4049-A5BF-306E72BBEBFC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53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基本函数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200150"/>
            <a:ext cx="8176260" cy="2198038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0"/>
              </a:spcBef>
            </a:pPr>
            <a:r>
              <a:rPr sz="2800" b="1" spc="-5" dirty="0">
                <a:latin typeface="宋体"/>
                <a:cs typeface="宋体"/>
              </a:rPr>
              <a:t>阶的高</a:t>
            </a:r>
            <a:r>
              <a:rPr sz="2800" b="1" spc="-10" dirty="0">
                <a:latin typeface="宋体"/>
                <a:cs typeface="宋体"/>
              </a:rPr>
              <a:t>低</a:t>
            </a:r>
            <a:endParaRPr sz="28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2800" b="1" spc="-5" dirty="0">
                <a:latin typeface="宋体"/>
                <a:cs typeface="宋体"/>
              </a:rPr>
              <a:t>至少指数</a:t>
            </a:r>
            <a:r>
              <a:rPr sz="2800" b="1" dirty="0">
                <a:latin typeface="宋体"/>
                <a:cs typeface="宋体"/>
              </a:rPr>
              <a:t>级</a:t>
            </a:r>
            <a:r>
              <a:rPr sz="2800" b="1" spc="-10" dirty="0">
                <a:latin typeface="宋体"/>
                <a:cs typeface="宋体"/>
              </a:rPr>
              <a:t>：</a:t>
            </a:r>
            <a:r>
              <a:rPr sz="2800" b="1" spc="-575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3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!,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2044064" algn="l"/>
                <a:tab pos="2544445" algn="l"/>
                <a:tab pos="3501390" algn="l"/>
              </a:tabLst>
            </a:pPr>
            <a:r>
              <a:rPr sz="2800" b="1" spc="-5" dirty="0">
                <a:latin typeface="宋体"/>
                <a:cs typeface="宋体"/>
              </a:rPr>
              <a:t>多项式级</a:t>
            </a:r>
            <a:r>
              <a:rPr sz="2800" b="1" spc="-10" dirty="0">
                <a:latin typeface="宋体"/>
                <a:cs typeface="宋体"/>
              </a:rPr>
              <a:t>：</a:t>
            </a:r>
            <a:r>
              <a:rPr sz="2800" b="1" spc="-57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,	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7" baseline="24305" dirty="0" smtClean="0">
                <a:latin typeface="Times New Roman"/>
                <a:cs typeface="Times New Roman"/>
              </a:rPr>
              <a:t>2</a:t>
            </a:r>
            <a:r>
              <a:rPr sz="2800" b="1" spc="-5" dirty="0" smtClean="0">
                <a:latin typeface="Times New Roman"/>
                <a:cs typeface="Times New Roman"/>
              </a:rPr>
              <a:t>,</a:t>
            </a:r>
            <a:r>
              <a:rPr lang="en-US" sz="2800" b="1" spc="-5" dirty="0" smtClean="0">
                <a:latin typeface="Times New Roman"/>
                <a:cs typeface="Times New Roman"/>
              </a:rPr>
              <a:t>  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spc="-5" dirty="0" err="1" smtClean="0">
                <a:latin typeface="Times New Roman"/>
                <a:cs typeface="Times New Roman"/>
              </a:rPr>
              <a:t>log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,</a:t>
            </a:r>
            <a:r>
              <a:rPr lang="en-US" sz="2800" b="1" spc="-5" dirty="0" smtClean="0">
                <a:latin typeface="Times New Roman"/>
                <a:cs typeface="Times New Roman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7" baseline="24305" dirty="0" smtClean="0">
                <a:latin typeface="Times New Roman"/>
                <a:cs typeface="Times New Roman"/>
              </a:rPr>
              <a:t>1/2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3046095" algn="l"/>
                <a:tab pos="3935095" algn="l"/>
              </a:tabLst>
            </a:pPr>
            <a:r>
              <a:rPr sz="2800" b="1" spc="-5" dirty="0">
                <a:latin typeface="宋体"/>
                <a:cs typeface="宋体"/>
              </a:rPr>
              <a:t>对数多项</a:t>
            </a:r>
            <a:r>
              <a:rPr sz="2800" b="1" dirty="0">
                <a:latin typeface="宋体"/>
                <a:cs typeface="宋体"/>
              </a:rPr>
              <a:t>式</a:t>
            </a:r>
            <a:r>
              <a:rPr sz="2800" b="1" spc="5" dirty="0">
                <a:latin typeface="宋体"/>
                <a:cs typeface="宋体"/>
              </a:rPr>
              <a:t>级</a:t>
            </a:r>
            <a:r>
              <a:rPr sz="2800" b="1" spc="-10" dirty="0">
                <a:latin typeface="宋体"/>
                <a:cs typeface="宋体"/>
              </a:rPr>
              <a:t>：</a:t>
            </a:r>
            <a:r>
              <a:rPr sz="2800" b="1" spc="-570" dirty="0">
                <a:latin typeface="宋体"/>
                <a:cs typeface="宋体"/>
              </a:rPr>
              <a:t> </a:t>
            </a:r>
            <a:r>
              <a:rPr sz="2800" b="1" spc="-5" dirty="0" err="1" smtClean="0">
                <a:latin typeface="Times New Roman"/>
                <a:cs typeface="Times New Roman"/>
              </a:rPr>
              <a:t>log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,</a:t>
            </a:r>
            <a:r>
              <a:rPr lang="en-US"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log</a:t>
            </a:r>
            <a:r>
              <a:rPr sz="2800" b="1" spc="-7" baseline="24305" dirty="0" smtClean="0">
                <a:latin typeface="Times New Roman"/>
                <a:cs typeface="Times New Roman"/>
              </a:rPr>
              <a:t>2</a:t>
            </a:r>
            <a:r>
              <a:rPr sz="2800" b="1" i="1" spc="-5" dirty="0" smtClean="0">
                <a:latin typeface="Times New Roman"/>
                <a:cs typeface="Times New Roman"/>
              </a:rPr>
              <a:t>n,</a:t>
            </a:r>
            <a:r>
              <a:rPr lang="en-US" sz="2800" b="1" i="1" spc="-5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/>
                <a:cs typeface="Times New Roman"/>
              </a:rPr>
              <a:t>loglog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,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…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0BDD48F-2E18-4A61-BECF-AC3BC226C96F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25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对数函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067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2860"/>
              </a:lnSpc>
              <a:spcBef>
                <a:spcPts val="100"/>
              </a:spcBef>
            </a:pPr>
            <a:r>
              <a:rPr sz="2800" b="1" spc="-5" dirty="0"/>
              <a:t>符号</a:t>
            </a:r>
            <a:r>
              <a:rPr sz="2800" b="1" spc="-10" dirty="0"/>
              <a:t>：</a:t>
            </a:r>
          </a:p>
          <a:p>
            <a:pPr marL="444500">
              <a:lnSpc>
                <a:spcPts val="2860"/>
              </a:lnSpc>
            </a:pP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7" baseline="-20833" dirty="0">
                <a:latin typeface="Times New Roman"/>
                <a:cs typeface="Times New Roman"/>
              </a:rPr>
              <a:t>2</a:t>
            </a:r>
            <a:r>
              <a:rPr sz="2400" b="1" spc="-37" baseline="-20833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b="1" dirty="0">
              <a:latin typeface="Times New Roman"/>
              <a:cs typeface="Times New Roman"/>
            </a:endParaRPr>
          </a:p>
          <a:p>
            <a:pPr marL="444500" marR="112268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7" baseline="24305" dirty="0">
                <a:latin typeface="Times New Roman"/>
                <a:cs typeface="Times New Roman"/>
              </a:rPr>
              <a:t>k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spc="-5" dirty="0" err="1">
                <a:latin typeface="Times New Roman"/>
                <a:cs typeface="Times New Roman"/>
              </a:rPr>
              <a:t>log</a:t>
            </a:r>
            <a:r>
              <a:rPr sz="2400" b="1" i="1" spc="-5" dirty="0" err="1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i="1" spc="-7" baseline="24305" dirty="0">
                <a:latin typeface="Times New Roman"/>
                <a:cs typeface="Times New Roman"/>
              </a:rPr>
              <a:t>k </a:t>
            </a:r>
            <a:endParaRPr lang="en-US" sz="2400" b="1" i="1" spc="-7" baseline="24305" dirty="0" smtClean="0">
              <a:latin typeface="Times New Roman"/>
              <a:cs typeface="Times New Roman"/>
            </a:endParaRPr>
          </a:p>
          <a:p>
            <a:pPr marL="444500" marR="1122680">
              <a:lnSpc>
                <a:spcPct val="100000"/>
              </a:lnSpc>
            </a:pPr>
            <a:r>
              <a:rPr sz="2400" b="1" spc="-5" dirty="0" err="1" smtClean="0">
                <a:latin typeface="Times New Roman"/>
                <a:cs typeface="Times New Roman"/>
              </a:rPr>
              <a:t>loglog</a:t>
            </a:r>
            <a:r>
              <a:rPr sz="2400" b="1" i="1" spc="-5" dirty="0" err="1" smtClean="0">
                <a:latin typeface="Times New Roman"/>
                <a:cs typeface="Times New Roman"/>
              </a:rPr>
              <a:t>n</a:t>
            </a:r>
            <a:r>
              <a:rPr sz="2400" b="1" i="1" spc="-5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log(log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b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63500">
              <a:lnSpc>
                <a:spcPts val="2815"/>
              </a:lnSpc>
              <a:spcBef>
                <a:spcPts val="5"/>
              </a:spcBef>
            </a:pPr>
            <a:r>
              <a:rPr sz="2800" b="1" spc="-5" dirty="0"/>
              <a:t>性质</a:t>
            </a:r>
            <a:r>
              <a:rPr sz="2800" b="1" spc="-10" dirty="0"/>
              <a:t>：</a:t>
            </a:r>
          </a:p>
          <a:p>
            <a:pPr marL="952500" indent="-584835">
              <a:lnSpc>
                <a:spcPts val="2875"/>
              </a:lnSpc>
              <a:buAutoNum type="arabicParenBoth"/>
              <a:tabLst>
                <a:tab pos="952500" algn="l"/>
                <a:tab pos="95313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7" baseline="-20833" dirty="0">
                <a:latin typeface="Times New Roman"/>
                <a:cs typeface="Times New Roman"/>
              </a:rPr>
              <a:t>2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i="1" spc="-80" dirty="0">
                <a:latin typeface="Symbol"/>
                <a:cs typeface="Symbol"/>
              </a:rPr>
              <a:t></a:t>
            </a:r>
            <a:r>
              <a:rPr sz="2400" b="1" i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(log</a:t>
            </a:r>
            <a:r>
              <a:rPr sz="2400" b="1" i="1" spc="-7" baseline="-20833" dirty="0">
                <a:latin typeface="Times New Roman"/>
                <a:cs typeface="Times New Roman"/>
              </a:rPr>
              <a:t>l</a:t>
            </a:r>
            <a:r>
              <a:rPr sz="2400" b="1" i="1" spc="44" baseline="-20833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b="1" dirty="0">
              <a:latin typeface="Times New Roman"/>
              <a:cs typeface="Times New Roman"/>
            </a:endParaRPr>
          </a:p>
          <a:p>
            <a:pPr marL="952500" indent="-584835">
              <a:lnSpc>
                <a:spcPts val="2940"/>
              </a:lnSpc>
              <a:buAutoNum type="arabicParenBoth"/>
              <a:tabLst>
                <a:tab pos="952500" algn="l"/>
                <a:tab pos="953135" algn="l"/>
                <a:tab pos="327787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7" baseline="-20833" dirty="0">
                <a:latin typeface="Times New Roman"/>
                <a:cs typeface="Times New Roman"/>
              </a:rPr>
              <a:t>b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o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i="1" spc="-15" baseline="23569" dirty="0">
                <a:latin typeface="Symbol"/>
                <a:cs typeface="Symbol"/>
              </a:rPr>
              <a:t></a:t>
            </a:r>
            <a:r>
              <a:rPr sz="2400" b="1" spc="-10" dirty="0">
                <a:latin typeface="Times New Roman"/>
                <a:cs typeface="Times New Roman"/>
              </a:rPr>
              <a:t>)	</a:t>
            </a:r>
            <a:r>
              <a:rPr sz="2400" b="1" i="1" spc="-65" dirty="0">
                <a:latin typeface="Symbol"/>
                <a:cs typeface="Symbol"/>
              </a:rPr>
              <a:t>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6078" y="4161790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3)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6852" y="4144089"/>
            <a:ext cx="309600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baseline="-16203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l</a:t>
            </a:r>
            <a:r>
              <a:rPr sz="2400" b="1" dirty="0">
                <a:latin typeface="Times New Roman"/>
                <a:cs typeface="Times New Roman"/>
              </a:rPr>
              <a:t>og</a:t>
            </a:r>
            <a:r>
              <a:rPr sz="2400" b="1" i="1" spc="22" baseline="-18518" dirty="0">
                <a:latin typeface="Times New Roman"/>
                <a:cs typeface="Times New Roman"/>
              </a:rPr>
              <a:t>b</a:t>
            </a:r>
            <a:r>
              <a:rPr sz="2400" b="1" i="1" baseline="-18518" dirty="0">
                <a:latin typeface="Times New Roman"/>
                <a:cs typeface="Times New Roman"/>
              </a:rPr>
              <a:t> </a:t>
            </a:r>
            <a:r>
              <a:rPr sz="2400" b="1" i="1" spc="-89" baseline="-18518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baseline="-16203" dirty="0">
                <a:latin typeface="Times New Roman"/>
                <a:cs typeface="Times New Roman"/>
              </a:rPr>
              <a:t>=</a:t>
            </a:r>
            <a:r>
              <a:rPr sz="2400" b="1" spc="-15" baseline="-16203" dirty="0">
                <a:latin typeface="Times New Roman"/>
                <a:cs typeface="Times New Roman"/>
              </a:rPr>
              <a:t> </a:t>
            </a:r>
            <a:r>
              <a:rPr sz="2400" b="1" i="1" spc="-15" baseline="-16203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l</a:t>
            </a:r>
            <a:r>
              <a:rPr sz="2400" b="1" dirty="0">
                <a:latin typeface="Times New Roman"/>
                <a:cs typeface="Times New Roman"/>
              </a:rPr>
              <a:t>og</a:t>
            </a:r>
            <a:r>
              <a:rPr sz="2400" b="1" i="1" spc="22" baseline="-18518" dirty="0">
                <a:latin typeface="Times New Roman"/>
                <a:cs typeface="Times New Roman"/>
              </a:rPr>
              <a:t>b</a:t>
            </a:r>
            <a:r>
              <a:rPr sz="2400" b="1" i="1" baseline="-18518" dirty="0">
                <a:latin typeface="Times New Roman"/>
                <a:cs typeface="Times New Roman"/>
              </a:rPr>
              <a:t> </a:t>
            </a:r>
            <a:r>
              <a:rPr sz="2400" b="1" i="1" spc="-82" baseline="-18518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EAFC921-D4BD-4849-89E8-8E1C4577AFB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3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有关性质(1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)的证明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7400" y="3876824"/>
            <a:ext cx="397637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400" b="1" spc="-5" dirty="0">
                <a:latin typeface="宋体"/>
                <a:cs typeface="宋体"/>
              </a:rPr>
              <a:t>根据定理</a:t>
            </a:r>
            <a:r>
              <a:rPr sz="2400" b="1" spc="-10" dirty="0">
                <a:latin typeface="宋体"/>
                <a:cs typeface="宋体"/>
              </a:rPr>
              <a:t>，</a:t>
            </a:r>
            <a:r>
              <a:rPr sz="2400" b="1" spc="-520" dirty="0">
                <a:latin typeface="宋体"/>
                <a:cs typeface="宋体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7" baseline="-20833" dirty="0">
                <a:latin typeface="Times New Roman"/>
                <a:cs typeface="Times New Roman"/>
              </a:rPr>
              <a:t>k</a:t>
            </a:r>
            <a:r>
              <a:rPr sz="2400" b="1" i="1" spc="-22" baseline="-20833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500" b="1" i="1" spc="-80" dirty="0">
                <a:latin typeface="Symbol"/>
                <a:cs typeface="Symbol"/>
              </a:rPr>
              <a:t></a:t>
            </a:r>
            <a:r>
              <a:rPr sz="2500" b="1" i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7" baseline="-20833" dirty="0">
                <a:latin typeface="Times New Roman"/>
                <a:cs typeface="Times New Roman"/>
              </a:rPr>
              <a:t>l</a:t>
            </a:r>
            <a:r>
              <a:rPr sz="2400" b="1" i="1" baseline="-20833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9436" y="3044662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5">
                <a:moveTo>
                  <a:pt x="0" y="0"/>
                </a:moveTo>
                <a:lnTo>
                  <a:pt x="806545" y="0"/>
                </a:lnTo>
              </a:path>
            </a:pathLst>
          </a:custGeom>
          <a:ln w="14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115" y="3044662"/>
            <a:ext cx="1671320" cy="0"/>
          </a:xfrm>
          <a:custGeom>
            <a:avLst/>
            <a:gdLst/>
            <a:ahLst/>
            <a:cxnLst/>
            <a:rect l="l" t="t" r="r" b="b"/>
            <a:pathLst>
              <a:path w="1671320">
                <a:moveTo>
                  <a:pt x="0" y="0"/>
                </a:moveTo>
                <a:lnTo>
                  <a:pt x="1671077" y="0"/>
                </a:lnTo>
              </a:path>
            </a:pathLst>
          </a:custGeom>
          <a:ln w="14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5200" y="3044662"/>
            <a:ext cx="768985" cy="0"/>
          </a:xfrm>
          <a:custGeom>
            <a:avLst/>
            <a:gdLst/>
            <a:ahLst/>
            <a:cxnLst/>
            <a:rect l="l" t="t" r="r" b="b"/>
            <a:pathLst>
              <a:path w="768985">
                <a:moveTo>
                  <a:pt x="0" y="0"/>
                </a:moveTo>
                <a:lnTo>
                  <a:pt x="768766" y="0"/>
                </a:lnTo>
              </a:path>
            </a:pathLst>
          </a:custGeom>
          <a:ln w="14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92125" y="2566235"/>
            <a:ext cx="19431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b="1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8663" y="2565223"/>
            <a:ext cx="80835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50" b="1" spc="50" dirty="0">
                <a:latin typeface="Times New Roman"/>
                <a:cs typeface="Times New Roman"/>
              </a:rPr>
              <a:t>log</a:t>
            </a:r>
            <a:r>
              <a:rPr sz="2325" b="1" i="1" spc="75" baseline="-23297" dirty="0">
                <a:latin typeface="Times New Roman"/>
                <a:cs typeface="Times New Roman"/>
              </a:rPr>
              <a:t>l</a:t>
            </a:r>
            <a:r>
              <a:rPr sz="2325" b="1" i="1" spc="-262" baseline="-23297" dirty="0">
                <a:latin typeface="Times New Roman"/>
                <a:cs typeface="Times New Roman"/>
              </a:rPr>
              <a:t> </a:t>
            </a:r>
            <a:r>
              <a:rPr sz="2650" b="1" i="1" dirty="0">
                <a:latin typeface="Times New Roman"/>
                <a:cs typeface="Times New Roman"/>
              </a:rPr>
              <a:t>n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3184" y="2783952"/>
            <a:ext cx="21082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b="1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2337" y="2783952"/>
            <a:ext cx="224155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50" b="1" dirty="0">
                <a:latin typeface="Times New Roman"/>
                <a:cs typeface="Times New Roman"/>
              </a:rPr>
              <a:t>lim </a:t>
            </a:r>
            <a:r>
              <a:rPr sz="3975" b="1" spc="67" baseline="35639" dirty="0">
                <a:latin typeface="Times New Roman"/>
                <a:cs typeface="Times New Roman"/>
              </a:rPr>
              <a:t>log</a:t>
            </a:r>
            <a:r>
              <a:rPr sz="2325" b="1" i="1" spc="67" baseline="37634" dirty="0">
                <a:latin typeface="Times New Roman"/>
                <a:cs typeface="Times New Roman"/>
              </a:rPr>
              <a:t>k </a:t>
            </a:r>
            <a:r>
              <a:rPr sz="3975" b="1" i="1" baseline="35639" dirty="0">
                <a:latin typeface="Times New Roman"/>
                <a:cs typeface="Times New Roman"/>
              </a:rPr>
              <a:t>n </a:t>
            </a:r>
            <a:r>
              <a:rPr sz="2650" b="1" dirty="0">
                <a:latin typeface="Symbol"/>
                <a:cs typeface="Symbol"/>
              </a:rPr>
              <a:t></a:t>
            </a:r>
            <a:r>
              <a:rPr sz="2650" b="1" spc="-130" dirty="0">
                <a:latin typeface="Times New Roman"/>
                <a:cs typeface="Times New Roman"/>
              </a:rPr>
              <a:t> </a:t>
            </a:r>
            <a:r>
              <a:rPr sz="2650" b="1" dirty="0">
                <a:latin typeface="Times New Roman"/>
                <a:cs typeface="Times New Roman"/>
              </a:rPr>
              <a:t>lim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3105" y="3042511"/>
            <a:ext cx="510349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1758950" algn="l"/>
                <a:tab pos="4339590" algn="l"/>
              </a:tabLst>
            </a:pPr>
            <a:r>
              <a:rPr sz="2325" b="1" i="1" spc="67" baseline="17921" dirty="0">
                <a:latin typeface="Times New Roman"/>
                <a:cs typeface="Times New Roman"/>
              </a:rPr>
              <a:t>n</a:t>
            </a:r>
            <a:r>
              <a:rPr sz="2325" b="1" spc="67" baseline="17921" dirty="0">
                <a:latin typeface="Symbol"/>
                <a:cs typeface="Symbol"/>
              </a:rPr>
              <a:t></a:t>
            </a:r>
            <a:r>
              <a:rPr sz="2325" b="1" spc="607" baseline="17921" dirty="0">
                <a:latin typeface="Times New Roman"/>
                <a:cs typeface="Times New Roman"/>
              </a:rPr>
              <a:t> </a:t>
            </a:r>
            <a:r>
              <a:rPr sz="2650" b="1" spc="45" dirty="0">
                <a:latin typeface="Times New Roman"/>
                <a:cs typeface="Times New Roman"/>
              </a:rPr>
              <a:t>log</a:t>
            </a:r>
            <a:r>
              <a:rPr sz="2325" b="1" i="1" spc="67" baseline="-23297" dirty="0">
                <a:latin typeface="Times New Roman"/>
                <a:cs typeface="Times New Roman"/>
              </a:rPr>
              <a:t>l</a:t>
            </a:r>
            <a:r>
              <a:rPr sz="2325" b="1" i="1" spc="-179" baseline="-23297" dirty="0">
                <a:latin typeface="Times New Roman"/>
                <a:cs typeface="Times New Roman"/>
              </a:rPr>
              <a:t> </a:t>
            </a:r>
            <a:r>
              <a:rPr sz="2650" b="1" i="1" dirty="0">
                <a:latin typeface="Times New Roman"/>
                <a:cs typeface="Times New Roman"/>
              </a:rPr>
              <a:t>n	</a:t>
            </a:r>
            <a:r>
              <a:rPr sz="2325" b="1" i="1" spc="67" baseline="17921" dirty="0">
                <a:latin typeface="Times New Roman"/>
                <a:cs typeface="Times New Roman"/>
              </a:rPr>
              <a:t>n</a:t>
            </a:r>
            <a:r>
              <a:rPr sz="2325" b="1" spc="67" baseline="17921" dirty="0">
                <a:latin typeface="Symbol"/>
                <a:cs typeface="Symbol"/>
              </a:rPr>
              <a:t></a:t>
            </a:r>
            <a:r>
              <a:rPr sz="2325" b="1" spc="67" baseline="17921" dirty="0">
                <a:latin typeface="Times New Roman"/>
                <a:cs typeface="Times New Roman"/>
              </a:rPr>
              <a:t> </a:t>
            </a:r>
            <a:r>
              <a:rPr sz="2650" b="1" spc="45" dirty="0">
                <a:latin typeface="Times New Roman"/>
                <a:cs typeface="Times New Roman"/>
              </a:rPr>
              <a:t>log</a:t>
            </a:r>
            <a:r>
              <a:rPr sz="2325" b="1" i="1" spc="67" baseline="-23297" dirty="0">
                <a:latin typeface="Times New Roman"/>
                <a:cs typeface="Times New Roman"/>
              </a:rPr>
              <a:t>l </a:t>
            </a:r>
            <a:r>
              <a:rPr sz="2650" b="1" i="1" dirty="0">
                <a:latin typeface="Times New Roman"/>
                <a:cs typeface="Times New Roman"/>
              </a:rPr>
              <a:t>k </a:t>
            </a:r>
            <a:r>
              <a:rPr sz="2650" b="1" dirty="0">
                <a:latin typeface="Symbol"/>
                <a:cs typeface="Symbol"/>
              </a:rPr>
              <a:t></a:t>
            </a:r>
            <a:r>
              <a:rPr sz="2650" b="1" spc="-440" dirty="0">
                <a:latin typeface="Times New Roman"/>
                <a:cs typeface="Times New Roman"/>
              </a:rPr>
              <a:t> </a:t>
            </a:r>
            <a:r>
              <a:rPr sz="2650" b="1" spc="50" dirty="0">
                <a:latin typeface="Times New Roman"/>
                <a:cs typeface="Times New Roman"/>
              </a:rPr>
              <a:t>log</a:t>
            </a:r>
            <a:r>
              <a:rPr sz="2325" b="1" i="1" spc="75" baseline="-23297" dirty="0">
                <a:latin typeface="Times New Roman"/>
                <a:cs typeface="Times New Roman"/>
              </a:rPr>
              <a:t>l</a:t>
            </a:r>
            <a:r>
              <a:rPr sz="2325" b="1" i="1" spc="-195" baseline="-23297" dirty="0">
                <a:latin typeface="Times New Roman"/>
                <a:cs typeface="Times New Roman"/>
              </a:rPr>
              <a:t> </a:t>
            </a:r>
            <a:r>
              <a:rPr sz="2650" b="1" i="1" dirty="0">
                <a:latin typeface="Times New Roman"/>
                <a:cs typeface="Times New Roman"/>
              </a:rPr>
              <a:t>n	</a:t>
            </a:r>
            <a:r>
              <a:rPr sz="2650" b="1" spc="45" dirty="0">
                <a:latin typeface="Times New Roman"/>
                <a:cs typeface="Times New Roman"/>
              </a:rPr>
              <a:t>log</a:t>
            </a:r>
            <a:r>
              <a:rPr sz="2325" b="1" i="1" spc="67" baseline="-23297" dirty="0">
                <a:latin typeface="Times New Roman"/>
                <a:cs typeface="Times New Roman"/>
              </a:rPr>
              <a:t>l</a:t>
            </a:r>
            <a:r>
              <a:rPr sz="2325" b="1" i="1" spc="-240" baseline="-23297" dirty="0">
                <a:latin typeface="Times New Roman"/>
                <a:cs typeface="Times New Roman"/>
              </a:rPr>
              <a:t> </a:t>
            </a:r>
            <a:r>
              <a:rPr sz="2650" b="1" i="1" dirty="0">
                <a:latin typeface="Times New Roman"/>
                <a:cs typeface="Times New Roman"/>
              </a:rPr>
              <a:t>k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97156" y="1752190"/>
            <a:ext cx="774065" cy="0"/>
          </a:xfrm>
          <a:custGeom>
            <a:avLst/>
            <a:gdLst/>
            <a:ahLst/>
            <a:cxnLst/>
            <a:rect l="l" t="t" r="r" b="b"/>
            <a:pathLst>
              <a:path w="774064">
                <a:moveTo>
                  <a:pt x="0" y="0"/>
                </a:moveTo>
                <a:lnTo>
                  <a:pt x="773697" y="0"/>
                </a:lnTo>
              </a:path>
            </a:pathLst>
          </a:custGeom>
          <a:ln w="141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58699" y="1716496"/>
            <a:ext cx="6794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i="1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3690" y="1976429"/>
            <a:ext cx="6794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i="1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6265" y="1496187"/>
            <a:ext cx="6794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i="1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8763" y="1716496"/>
            <a:ext cx="11176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50" b="1" i="1" dirty="0">
                <a:latin typeface="Times New Roman"/>
                <a:cs typeface="Times New Roman"/>
              </a:rPr>
              <a:t>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9786" y="1490073"/>
            <a:ext cx="175133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650" b="1" spc="10" dirty="0">
                <a:latin typeface="Times New Roman"/>
                <a:cs typeface="Times New Roman"/>
              </a:rPr>
              <a:t>log</a:t>
            </a:r>
            <a:r>
              <a:rPr sz="2650" b="1" spc="145" dirty="0">
                <a:latin typeface="Times New Roman"/>
                <a:cs typeface="Times New Roman"/>
              </a:rPr>
              <a:t> </a:t>
            </a:r>
            <a:r>
              <a:rPr sz="2650" b="1" i="1" spc="10" dirty="0">
                <a:latin typeface="Times New Roman"/>
                <a:cs typeface="Times New Roman"/>
              </a:rPr>
              <a:t>k</a:t>
            </a:r>
            <a:r>
              <a:rPr sz="2650" b="1" spc="15" dirty="0">
                <a:latin typeface="宋体"/>
                <a:cs typeface="宋体"/>
              </a:rPr>
              <a:t>为</a:t>
            </a:r>
            <a:r>
              <a:rPr sz="2650" b="1" spc="20" dirty="0">
                <a:latin typeface="宋体"/>
                <a:cs typeface="宋体"/>
              </a:rPr>
              <a:t>常</a:t>
            </a:r>
            <a:r>
              <a:rPr sz="2650" b="1" spc="10" dirty="0">
                <a:latin typeface="宋体"/>
                <a:cs typeface="宋体"/>
              </a:rPr>
              <a:t>数</a:t>
            </a:r>
            <a:endParaRPr sz="26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14945" y="1750233"/>
            <a:ext cx="73025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650" b="1" spc="10" dirty="0">
                <a:latin typeface="Times New Roman"/>
                <a:cs typeface="Times New Roman"/>
              </a:rPr>
              <a:t>log</a:t>
            </a:r>
            <a:r>
              <a:rPr sz="2650" b="1" spc="135" dirty="0">
                <a:latin typeface="Times New Roman"/>
                <a:cs typeface="Times New Roman"/>
              </a:rPr>
              <a:t> </a:t>
            </a:r>
            <a:r>
              <a:rPr sz="2650" b="1" i="1" spc="10" dirty="0">
                <a:latin typeface="Times New Roman"/>
                <a:cs typeface="Times New Roman"/>
              </a:rPr>
              <a:t>k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7661" y="1269989"/>
            <a:ext cx="74930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650" b="1" spc="10" dirty="0">
                <a:latin typeface="Times New Roman"/>
                <a:cs typeface="Times New Roman"/>
              </a:rPr>
              <a:t>log</a:t>
            </a:r>
            <a:r>
              <a:rPr sz="2650" b="1" spc="135" dirty="0">
                <a:latin typeface="Times New Roman"/>
                <a:cs typeface="Times New Roman"/>
              </a:rPr>
              <a:t> </a:t>
            </a:r>
            <a:r>
              <a:rPr sz="2650" b="1" i="1" spc="10" dirty="0">
                <a:latin typeface="Times New Roman"/>
                <a:cs typeface="Times New Roman"/>
              </a:rPr>
              <a:t>n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60158" y="1490073"/>
            <a:ext cx="105537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590550" algn="l"/>
              </a:tabLst>
            </a:pPr>
            <a:r>
              <a:rPr sz="2650" b="1" spc="10" dirty="0">
                <a:latin typeface="Times New Roman"/>
                <a:cs typeface="Times New Roman"/>
              </a:rPr>
              <a:t>log	</a:t>
            </a:r>
            <a:r>
              <a:rPr sz="2650" b="1" i="1" spc="10" dirty="0">
                <a:latin typeface="Times New Roman"/>
                <a:cs typeface="Times New Roman"/>
              </a:rPr>
              <a:t>n</a:t>
            </a:r>
            <a:r>
              <a:rPr sz="2650" b="1" i="1" spc="-150" dirty="0">
                <a:latin typeface="Times New Roman"/>
                <a:cs typeface="Times New Roman"/>
              </a:rPr>
              <a:t> </a:t>
            </a:r>
            <a:r>
              <a:rPr sz="2650" b="1" spc="10" dirty="0">
                <a:latin typeface="Symbol"/>
                <a:cs typeface="Symbol"/>
              </a:rPr>
              <a:t></a:t>
            </a:r>
            <a:endParaRPr sz="2650" dirty="0">
              <a:latin typeface="Symbol"/>
              <a:cs typeface="Symbo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01488" y="1263777"/>
            <a:ext cx="4071620" cy="1016000"/>
          </a:xfrm>
          <a:custGeom>
            <a:avLst/>
            <a:gdLst/>
            <a:ahLst/>
            <a:cxnLst/>
            <a:rect l="l" t="t" r="r" b="b"/>
            <a:pathLst>
              <a:path w="4071620" h="1016000">
                <a:moveTo>
                  <a:pt x="0" y="0"/>
                </a:moveTo>
                <a:lnTo>
                  <a:pt x="4071366" y="0"/>
                </a:lnTo>
                <a:lnTo>
                  <a:pt x="4071366" y="1015746"/>
                </a:lnTo>
                <a:lnTo>
                  <a:pt x="0" y="1015746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558E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3BE3FDB-7AC9-4FC3-91B6-FB9C5C826EFD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5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有关性质(2)(3)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的说明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3160" y="1226820"/>
            <a:ext cx="2136775" cy="1268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 marR="30480">
              <a:lnSpc>
                <a:spcPct val="139700"/>
              </a:lnSpc>
              <a:spcBef>
                <a:spcPts val="175"/>
              </a:spcBef>
            </a:pPr>
            <a:r>
              <a:rPr sz="2800" b="1" spc="-10" dirty="0">
                <a:latin typeface="Times New Roman"/>
                <a:cs typeface="Times New Roman"/>
              </a:rPr>
              <a:t>log</a:t>
            </a:r>
            <a:r>
              <a:rPr sz="2775" b="1" i="1" spc="-15" baseline="-21021" dirty="0">
                <a:latin typeface="Times New Roman"/>
                <a:cs typeface="Times New Roman"/>
              </a:rPr>
              <a:t>b</a:t>
            </a:r>
            <a:r>
              <a:rPr sz="2800" b="1" i="1" spc="-10" dirty="0">
                <a:latin typeface="Times New Roman"/>
                <a:cs typeface="Times New Roman"/>
              </a:rPr>
              <a:t>n</a:t>
            </a:r>
            <a:r>
              <a:rPr sz="2800" b="1" spc="-10" dirty="0">
                <a:latin typeface="Times New Roman"/>
                <a:cs typeface="Times New Roman"/>
              </a:rPr>
              <a:t>=</a:t>
            </a:r>
            <a:r>
              <a:rPr sz="2950" b="1" i="1" spc="-10" dirty="0">
                <a:latin typeface="Symbol"/>
                <a:cs typeface="Symbol"/>
              </a:rPr>
              <a:t></a:t>
            </a:r>
            <a:r>
              <a:rPr sz="2800" b="1" spc="-10" dirty="0">
                <a:latin typeface="Times New Roman"/>
                <a:cs typeface="Times New Roman"/>
              </a:rPr>
              <a:t>(ln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  ln</a:t>
            </a:r>
            <a:r>
              <a:rPr sz="2800" b="1" i="1" dirty="0">
                <a:latin typeface="Times New Roman"/>
                <a:cs typeface="Times New Roman"/>
              </a:rPr>
              <a:t>n </a:t>
            </a:r>
            <a:r>
              <a:rPr sz="2800" b="1" spc="-15" dirty="0">
                <a:latin typeface="Times New Roman"/>
                <a:cs typeface="Times New Roman"/>
              </a:rPr>
              <a:t>=</a:t>
            </a:r>
            <a:r>
              <a:rPr sz="2800" b="1" i="1" spc="-15" dirty="0">
                <a:latin typeface="Times New Roman"/>
                <a:cs typeface="Times New Roman"/>
              </a:rPr>
              <a:t>o</a:t>
            </a:r>
            <a:r>
              <a:rPr sz="2800" b="1" spc="-15" dirty="0">
                <a:latin typeface="Times New Roman"/>
                <a:cs typeface="Times New Roman"/>
              </a:rPr>
              <a:t>(</a:t>
            </a:r>
            <a:r>
              <a:rPr sz="2800" b="1" i="1" spc="-15" dirty="0">
                <a:latin typeface="Times New Roman"/>
                <a:cs typeface="Times New Roman"/>
              </a:rPr>
              <a:t>n</a:t>
            </a:r>
            <a:r>
              <a:rPr sz="2925" b="1" i="1" spc="-22" baseline="24216" dirty="0">
                <a:latin typeface="Symbol"/>
                <a:cs typeface="Symbol"/>
              </a:rPr>
              <a:t></a:t>
            </a:r>
            <a:r>
              <a:rPr sz="2925" b="1" i="1" spc="-75" baseline="2421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0" y="1899654"/>
            <a:ext cx="2971800" cy="524510"/>
          </a:xfrm>
          <a:prstGeom prst="rect">
            <a:avLst/>
          </a:prstGeom>
          <a:ln w="25146">
            <a:solidFill>
              <a:srgbClr val="558ED5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  <a:tabLst>
                <a:tab pos="200723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log</a:t>
            </a:r>
            <a:r>
              <a:rPr sz="2775" b="1" i="1" spc="-7" baseline="-21021" dirty="0">
                <a:latin typeface="Times New Roman"/>
                <a:cs typeface="Times New Roman"/>
              </a:rPr>
              <a:t>b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925" b="1" i="1" spc="-7" baseline="24216" dirty="0">
                <a:latin typeface="Symbol"/>
                <a:cs typeface="Symbol"/>
              </a:rPr>
              <a:t></a:t>
            </a:r>
            <a:r>
              <a:rPr sz="2800" b="1" spc="-5" dirty="0">
                <a:latin typeface="Times New Roman"/>
                <a:cs typeface="Times New Roman"/>
              </a:rPr>
              <a:t>)	</a:t>
            </a:r>
            <a:r>
              <a:rPr sz="2950" b="1" i="1" spc="-95" dirty="0">
                <a:latin typeface="Symbol"/>
                <a:cs typeface="Symbol"/>
              </a:rPr>
              <a:t></a:t>
            </a:r>
            <a:r>
              <a:rPr sz="2950" b="1" i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620" y="2749676"/>
            <a:ext cx="2025014" cy="584835"/>
          </a:xfrm>
          <a:prstGeom prst="rect">
            <a:avLst/>
          </a:prstGeom>
          <a:ln w="25146">
            <a:solidFill>
              <a:srgbClr val="558ED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130"/>
              </a:lnSpc>
            </a:pPr>
            <a:r>
              <a:rPr sz="4800" b="1" i="1" spc="-7" baseline="-16493" dirty="0">
                <a:latin typeface="Times New Roman"/>
                <a:cs typeface="Times New Roman"/>
              </a:rPr>
              <a:t>a</a:t>
            </a:r>
            <a:r>
              <a:rPr sz="2100" b="1" spc="15" dirty="0">
                <a:latin typeface="Times New Roman"/>
                <a:cs typeface="Times New Roman"/>
              </a:rPr>
              <a:t>log</a:t>
            </a:r>
            <a:r>
              <a:rPr sz="1800" b="1" i="1" spc="22" baseline="-18518" dirty="0">
                <a:latin typeface="Times New Roman"/>
                <a:cs typeface="Times New Roman"/>
              </a:rPr>
              <a:t>b</a:t>
            </a:r>
            <a:r>
              <a:rPr sz="2100" b="1" i="1" spc="15" dirty="0">
                <a:latin typeface="Times New Roman"/>
                <a:cs typeface="Times New Roman"/>
              </a:rPr>
              <a:t>n</a:t>
            </a:r>
            <a:r>
              <a:rPr sz="4800" b="1" spc="-7" baseline="-16493" dirty="0">
                <a:latin typeface="Times New Roman"/>
                <a:cs typeface="Times New Roman"/>
              </a:rPr>
              <a:t>=</a:t>
            </a:r>
            <a:r>
              <a:rPr sz="4800" b="1" i="1" spc="-15" baseline="-16493" dirty="0">
                <a:latin typeface="Times New Roman"/>
                <a:cs typeface="Times New Roman"/>
              </a:rPr>
              <a:t>n</a:t>
            </a:r>
            <a:r>
              <a:rPr sz="2100" b="1" dirty="0">
                <a:latin typeface="Times New Roman"/>
                <a:cs typeface="Times New Roman"/>
              </a:rPr>
              <a:t>lo</a:t>
            </a:r>
            <a:r>
              <a:rPr sz="2100" b="1" spc="15" dirty="0">
                <a:latin typeface="Times New Roman"/>
                <a:cs typeface="Times New Roman"/>
              </a:rPr>
              <a:t>g</a:t>
            </a:r>
            <a:r>
              <a:rPr sz="2100" b="1" spc="-285" dirty="0">
                <a:latin typeface="Times New Roman"/>
                <a:cs typeface="Times New Roman"/>
              </a:rPr>
              <a:t> </a:t>
            </a:r>
            <a:r>
              <a:rPr sz="1800" b="1" i="1" baseline="-18518" dirty="0">
                <a:latin typeface="Times New Roman"/>
                <a:cs typeface="Times New Roman"/>
              </a:rPr>
              <a:t>b</a:t>
            </a:r>
            <a:r>
              <a:rPr sz="2100" b="1" i="1" spc="15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3160" y="3735578"/>
            <a:ext cx="36810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log</a:t>
            </a:r>
            <a:r>
              <a:rPr sz="2775" b="1" i="1" baseline="-21021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n </a:t>
            </a:r>
            <a:r>
              <a:rPr sz="2800" b="1" dirty="0">
                <a:latin typeface="Times New Roman"/>
                <a:cs typeface="Times New Roman"/>
              </a:rPr>
              <a:t>log</a:t>
            </a:r>
            <a:r>
              <a:rPr sz="2775" b="1" i="1" baseline="-21021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log</a:t>
            </a:r>
            <a:r>
              <a:rPr sz="2775" b="1" i="1" baseline="-21021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log</a:t>
            </a:r>
            <a:r>
              <a:rPr sz="2775" b="1" i="1" baseline="-21021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7600" y="2052054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76200"/>
                </a:moveTo>
                <a:lnTo>
                  <a:pt x="239890" y="76200"/>
                </a:lnTo>
                <a:lnTo>
                  <a:pt x="239890" y="0"/>
                </a:lnTo>
                <a:lnTo>
                  <a:pt x="381000" y="152400"/>
                </a:lnTo>
                <a:lnTo>
                  <a:pt x="239890" y="304800"/>
                </a:lnTo>
                <a:lnTo>
                  <a:pt x="239890" y="2286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19400" y="3410330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114300"/>
                </a:moveTo>
                <a:lnTo>
                  <a:pt x="114300" y="0"/>
                </a:lnTo>
                <a:lnTo>
                  <a:pt x="228600" y="114300"/>
                </a:lnTo>
                <a:lnTo>
                  <a:pt x="171450" y="114300"/>
                </a:lnTo>
                <a:lnTo>
                  <a:pt x="171450" y="266700"/>
                </a:lnTo>
                <a:lnTo>
                  <a:pt x="228600" y="266700"/>
                </a:lnTo>
                <a:lnTo>
                  <a:pt x="114300" y="381000"/>
                </a:lnTo>
                <a:lnTo>
                  <a:pt x="0" y="266700"/>
                </a:lnTo>
                <a:lnTo>
                  <a:pt x="57150" y="266700"/>
                </a:lnTo>
                <a:lnTo>
                  <a:pt x="57150" y="114300"/>
                </a:lnTo>
                <a:lnTo>
                  <a:pt x="0" y="1143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7788C4E-07D0-4066-8C88-8502BA1933F8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29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305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指数函数与阶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乘</a:t>
            </a:r>
          </a:p>
        </p:txBody>
      </p:sp>
      <p:sp>
        <p:nvSpPr>
          <p:cNvPr id="3" name="object 3"/>
          <p:cNvSpPr/>
          <p:nvPr/>
        </p:nvSpPr>
        <p:spPr>
          <a:xfrm>
            <a:off x="4007631" y="1792175"/>
            <a:ext cx="43815" cy="24765"/>
          </a:xfrm>
          <a:custGeom>
            <a:avLst/>
            <a:gdLst/>
            <a:ahLst/>
            <a:cxnLst/>
            <a:rect l="l" t="t" r="r" b="b"/>
            <a:pathLst>
              <a:path w="43814" h="24764">
                <a:moveTo>
                  <a:pt x="0" y="24273"/>
                </a:moveTo>
                <a:lnTo>
                  <a:pt x="43523" y="0"/>
                </a:lnTo>
              </a:path>
            </a:pathLst>
          </a:custGeom>
          <a:ln w="13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51155" y="1799111"/>
            <a:ext cx="63500" cy="115570"/>
          </a:xfrm>
          <a:custGeom>
            <a:avLst/>
            <a:gdLst/>
            <a:ahLst/>
            <a:cxnLst/>
            <a:rect l="l" t="t" r="r" b="b"/>
            <a:pathLst>
              <a:path w="63500" h="115569">
                <a:moveTo>
                  <a:pt x="0" y="0"/>
                </a:moveTo>
                <a:lnTo>
                  <a:pt x="63065" y="115300"/>
                </a:lnTo>
              </a:path>
            </a:pathLst>
          </a:custGeom>
          <a:ln w="28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1326" y="1572844"/>
            <a:ext cx="83820" cy="341630"/>
          </a:xfrm>
          <a:custGeom>
            <a:avLst/>
            <a:gdLst/>
            <a:ahLst/>
            <a:cxnLst/>
            <a:rect l="l" t="t" r="r" b="b"/>
            <a:pathLst>
              <a:path w="83820" h="341630">
                <a:moveTo>
                  <a:pt x="0" y="341567"/>
                </a:moveTo>
                <a:lnTo>
                  <a:pt x="83494" y="0"/>
                </a:lnTo>
              </a:path>
            </a:pathLst>
          </a:custGeom>
          <a:ln w="14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4821" y="1572844"/>
            <a:ext cx="588645" cy="0"/>
          </a:xfrm>
          <a:custGeom>
            <a:avLst/>
            <a:gdLst/>
            <a:ahLst/>
            <a:cxnLst/>
            <a:rect l="l" t="t" r="r" b="b"/>
            <a:pathLst>
              <a:path w="588645">
                <a:moveTo>
                  <a:pt x="0" y="0"/>
                </a:moveTo>
                <a:lnTo>
                  <a:pt x="588017" y="0"/>
                </a:lnTo>
              </a:path>
            </a:pathLst>
          </a:custGeom>
          <a:ln w="13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36734" y="1806913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390" y="0"/>
                </a:lnTo>
              </a:path>
            </a:pathLst>
          </a:custGeom>
          <a:ln w="13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20102" y="1806913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390" y="0"/>
                </a:lnTo>
              </a:path>
            </a:pathLst>
          </a:custGeom>
          <a:ln w="13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2800" y="1549740"/>
            <a:ext cx="3606800" cy="6800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2565"/>
              </a:lnSpc>
              <a:spcBef>
                <a:spcPts val="120"/>
              </a:spcBef>
              <a:tabLst>
                <a:tab pos="873125" algn="l"/>
              </a:tabLst>
            </a:pPr>
            <a:r>
              <a:rPr sz="2600" b="1" i="1" spc="65" dirty="0">
                <a:latin typeface="Times New Roman"/>
                <a:cs typeface="Times New Roman"/>
              </a:rPr>
              <a:t>n</a:t>
            </a:r>
            <a:r>
              <a:rPr sz="2600" b="1" spc="65" dirty="0">
                <a:latin typeface="Times New Roman"/>
                <a:cs typeface="Times New Roman"/>
              </a:rPr>
              <a:t>!</a:t>
            </a:r>
            <a:r>
              <a:rPr sz="2600" b="1" spc="65" dirty="0">
                <a:latin typeface="Symbol"/>
                <a:cs typeface="Symbol"/>
              </a:rPr>
              <a:t></a:t>
            </a:r>
            <a:r>
              <a:rPr sz="2600" spc="65" dirty="0">
                <a:latin typeface="Times New Roman"/>
                <a:cs typeface="Times New Roman"/>
              </a:rPr>
              <a:t>	</a:t>
            </a:r>
            <a:r>
              <a:rPr sz="2600" b="1" spc="95" dirty="0">
                <a:latin typeface="Times New Roman"/>
                <a:cs typeface="Times New Roman"/>
              </a:rPr>
              <a:t>2</a:t>
            </a:r>
            <a:r>
              <a:rPr sz="2600" b="1" spc="95" dirty="0">
                <a:latin typeface="Symbol"/>
                <a:cs typeface="Symbol"/>
              </a:rPr>
              <a:t></a:t>
            </a:r>
            <a:r>
              <a:rPr sz="2600" b="1" i="1" spc="95" dirty="0">
                <a:latin typeface="Times New Roman"/>
                <a:cs typeface="Times New Roman"/>
              </a:rPr>
              <a:t>n</a:t>
            </a:r>
            <a:r>
              <a:rPr sz="2600" b="1" spc="95" dirty="0">
                <a:latin typeface="Times New Roman"/>
                <a:cs typeface="Times New Roman"/>
              </a:rPr>
              <a:t>(</a:t>
            </a:r>
            <a:r>
              <a:rPr sz="2600" b="1" spc="-325" dirty="0">
                <a:latin typeface="Times New Roman"/>
                <a:cs typeface="Times New Roman"/>
              </a:rPr>
              <a:t> </a:t>
            </a:r>
            <a:r>
              <a:rPr sz="3900" b="1" i="1" spc="67" baseline="36324" dirty="0">
                <a:latin typeface="Times New Roman"/>
                <a:cs typeface="Times New Roman"/>
              </a:rPr>
              <a:t>n</a:t>
            </a:r>
            <a:r>
              <a:rPr sz="3900" b="1" i="1" spc="-562" baseline="36324" dirty="0">
                <a:latin typeface="Times New Roman"/>
                <a:cs typeface="Times New Roman"/>
              </a:rPr>
              <a:t> </a:t>
            </a:r>
            <a:r>
              <a:rPr sz="2600" b="1" spc="75" dirty="0">
                <a:latin typeface="Times New Roman"/>
                <a:cs typeface="Times New Roman"/>
              </a:rPr>
              <a:t>)</a:t>
            </a:r>
            <a:r>
              <a:rPr sz="2250" b="1" i="1" spc="112" baseline="42592" dirty="0">
                <a:latin typeface="Times New Roman"/>
                <a:cs typeface="Times New Roman"/>
              </a:rPr>
              <a:t>n</a:t>
            </a:r>
            <a:r>
              <a:rPr sz="2250" b="1" i="1" spc="-172" baseline="42592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(1</a:t>
            </a:r>
            <a:r>
              <a:rPr sz="2600" b="1" spc="-32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Symbol"/>
                <a:cs typeface="Symbol"/>
              </a:rPr>
              <a:t></a:t>
            </a:r>
            <a:r>
              <a:rPr sz="2600" b="1" spc="-204" dirty="0">
                <a:latin typeface="Times New Roman"/>
                <a:cs typeface="Times New Roman"/>
              </a:rPr>
              <a:t> </a:t>
            </a:r>
            <a:r>
              <a:rPr sz="2600" b="1" i="1" spc="65" dirty="0">
                <a:latin typeface="Times New Roman"/>
                <a:cs typeface="Times New Roman"/>
              </a:rPr>
              <a:t>Θ</a:t>
            </a:r>
            <a:r>
              <a:rPr sz="2600" b="1" spc="65" dirty="0">
                <a:latin typeface="Times New Roman"/>
                <a:cs typeface="Times New Roman"/>
              </a:rPr>
              <a:t>(</a:t>
            </a:r>
            <a:r>
              <a:rPr sz="2600" b="1" spc="-280" dirty="0">
                <a:latin typeface="Times New Roman"/>
                <a:cs typeface="Times New Roman"/>
              </a:rPr>
              <a:t> </a:t>
            </a:r>
            <a:r>
              <a:rPr sz="3900" b="1" spc="60" baseline="36324" dirty="0">
                <a:latin typeface="Times New Roman"/>
                <a:cs typeface="Times New Roman"/>
              </a:rPr>
              <a:t>1</a:t>
            </a:r>
            <a:r>
              <a:rPr sz="3900" b="1" spc="-405" baseline="36324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))</a:t>
            </a:r>
            <a:endParaRPr sz="2600">
              <a:latin typeface="Times New Roman"/>
              <a:cs typeface="Times New Roman"/>
            </a:endParaRPr>
          </a:p>
          <a:p>
            <a:pPr marL="1619885">
              <a:lnSpc>
                <a:spcPts val="2565"/>
              </a:lnSpc>
              <a:tabLst>
                <a:tab pos="3089910" algn="l"/>
              </a:tabLst>
            </a:pPr>
            <a:r>
              <a:rPr sz="2600" b="1" spc="35" dirty="0">
                <a:latin typeface="Times New Roman"/>
                <a:cs typeface="Times New Roman"/>
              </a:rPr>
              <a:t>e	</a:t>
            </a:r>
            <a:r>
              <a:rPr sz="2600" b="1" i="1" spc="4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800" y="2181674"/>
            <a:ext cx="2820670" cy="179451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30"/>
              </a:spcBef>
            </a:pP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! =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775" b="1" i="1" baseline="2552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95"/>
              </a:spcBef>
            </a:pP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! = </a:t>
            </a:r>
            <a:r>
              <a:rPr sz="2950" b="1" i="1" spc="-105" dirty="0">
                <a:latin typeface="Symbol"/>
                <a:cs typeface="Symbol"/>
              </a:rPr>
              <a:t></a:t>
            </a:r>
            <a:r>
              <a:rPr sz="2950" b="1" i="1" spc="-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(2</a:t>
            </a:r>
            <a:r>
              <a:rPr sz="2775" b="1" i="1" baseline="2552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60"/>
              </a:spcBef>
            </a:pPr>
            <a:r>
              <a:rPr sz="2800" b="1" dirty="0" smtClean="0">
                <a:latin typeface="Times New Roman"/>
                <a:cs typeface="Times New Roman"/>
              </a:rPr>
              <a:t>log(</a:t>
            </a:r>
            <a:r>
              <a:rPr sz="2800" b="1" i="1" dirty="0" smtClean="0">
                <a:latin typeface="Times New Roman"/>
                <a:cs typeface="Times New Roman"/>
              </a:rPr>
              <a:t>n</a:t>
            </a:r>
            <a:r>
              <a:rPr sz="2800" b="1" dirty="0" smtClean="0">
                <a:latin typeface="Times New Roman"/>
                <a:cs typeface="Times New Roman"/>
              </a:rPr>
              <a:t>!) =</a:t>
            </a:r>
            <a:r>
              <a:rPr sz="2800" b="1" spc="-70" dirty="0" smtClean="0">
                <a:latin typeface="Times New Roman"/>
                <a:cs typeface="Times New Roman"/>
              </a:rPr>
              <a:t> </a:t>
            </a:r>
            <a:r>
              <a:rPr sz="2950" b="1" i="1" spc="-15" dirty="0" smtClean="0">
                <a:latin typeface="Symbol"/>
                <a:cs typeface="Symbol"/>
              </a:rPr>
              <a:t></a:t>
            </a:r>
            <a:r>
              <a:rPr sz="2800" b="1" spc="-15" dirty="0" smtClean="0">
                <a:latin typeface="Times New Roman"/>
                <a:cs typeface="Times New Roman"/>
              </a:rPr>
              <a:t>(</a:t>
            </a:r>
            <a:r>
              <a:rPr sz="2800" b="1" i="1" spc="-15" dirty="0" err="1" smtClean="0">
                <a:latin typeface="Times New Roman"/>
                <a:cs typeface="Times New Roman"/>
              </a:rPr>
              <a:t>n</a:t>
            </a:r>
            <a:r>
              <a:rPr sz="2800" b="1" spc="-15" dirty="0" err="1" smtClean="0">
                <a:latin typeface="Times New Roman"/>
                <a:cs typeface="Times New Roman"/>
              </a:rPr>
              <a:t>log</a:t>
            </a:r>
            <a:r>
              <a:rPr sz="2800" b="1" i="1" spc="-15" dirty="0" err="1" smtClean="0">
                <a:latin typeface="Times New Roman"/>
                <a:cs typeface="Times New Roman"/>
              </a:rPr>
              <a:t>n</a:t>
            </a:r>
            <a:r>
              <a:rPr sz="2800" b="1" spc="-15" dirty="0" smtClean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6646" y="1531111"/>
            <a:ext cx="1617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C33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CC3300"/>
                </a:solidFill>
                <a:latin typeface="Times New Roman"/>
                <a:cs typeface="Times New Roman"/>
              </a:rPr>
              <a:t>ti</a:t>
            </a:r>
            <a:r>
              <a:rPr sz="2400" b="1" dirty="0">
                <a:solidFill>
                  <a:srgbClr val="CC3300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CC3300"/>
                </a:solidFill>
                <a:latin typeface="Times New Roman"/>
                <a:cs typeface="Times New Roman"/>
              </a:rPr>
              <a:t>li</a:t>
            </a:r>
            <a:r>
              <a:rPr sz="2400" b="1" spc="-10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CC3300"/>
                </a:solidFill>
                <a:latin typeface="Times New Roman"/>
                <a:cs typeface="Times New Roman"/>
              </a:rPr>
              <a:t>g</a:t>
            </a:r>
            <a:r>
              <a:rPr sz="2400" b="1" spc="-5" dirty="0">
                <a:solidFill>
                  <a:srgbClr val="CC3300"/>
                </a:solidFill>
                <a:latin typeface="宋体"/>
                <a:cs typeface="宋体"/>
              </a:rPr>
              <a:t>公</a:t>
            </a:r>
            <a:r>
              <a:rPr sz="2400" b="1" spc="-10" dirty="0">
                <a:solidFill>
                  <a:srgbClr val="CC3300"/>
                </a:solidFill>
                <a:latin typeface="宋体"/>
                <a:cs typeface="宋体"/>
              </a:rPr>
              <a:t>式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8586C5D-4506-4CF9-82B2-054325CEE2F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14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5965" y="1852104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0" y="0"/>
                </a:moveTo>
                <a:lnTo>
                  <a:pt x="1269869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59614" y="1848930"/>
            <a:ext cx="110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5" dirty="0">
                <a:latin typeface="Times New Roman"/>
                <a:cs typeface="Times New Roman"/>
              </a:rPr>
              <a:t>m</a:t>
            </a:r>
            <a:r>
              <a:rPr sz="2400" b="1" spc="100" dirty="0">
                <a:latin typeface="Times New Roman"/>
                <a:cs typeface="Times New Roman"/>
              </a:rPr>
              <a:t>!(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40" dirty="0">
                <a:latin typeface="Times New Roman"/>
                <a:cs typeface="Times New Roman"/>
              </a:rPr>
              <a:t>-</a:t>
            </a:r>
            <a:r>
              <a:rPr sz="2400" b="1" spc="-40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)!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806" y="1479153"/>
            <a:ext cx="459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i="1" spc="247" baseline="-24305" dirty="0">
                <a:latin typeface="Times New Roman"/>
                <a:cs typeface="Times New Roman"/>
              </a:rPr>
              <a:t>C</a:t>
            </a:r>
            <a:r>
              <a:rPr sz="1400" b="1" i="1" spc="165" dirty="0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4374" y="1418843"/>
            <a:ext cx="1290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latin typeface="Times New Roman"/>
                <a:cs typeface="Times New Roman"/>
              </a:rPr>
              <a:t>(</a:t>
            </a:r>
            <a:r>
              <a:rPr sz="2400" b="1" i="1" spc="50" dirty="0">
                <a:latin typeface="Times New Roman"/>
                <a:cs typeface="Times New Roman"/>
              </a:rPr>
              <a:t>m </a:t>
            </a:r>
            <a:r>
              <a:rPr sz="2400" b="1" spc="-5" dirty="0">
                <a:latin typeface="Symbol"/>
                <a:cs typeface="Symbol"/>
              </a:rPr>
              <a:t></a:t>
            </a:r>
            <a:r>
              <a:rPr sz="2400" b="1" spc="-305" dirty="0">
                <a:latin typeface="Times New Roman"/>
                <a:cs typeface="Times New Roman"/>
              </a:rPr>
              <a:t> </a:t>
            </a:r>
            <a:r>
              <a:rPr sz="2400" b="1" i="1" spc="-20" dirty="0">
                <a:latin typeface="Times New Roman"/>
                <a:cs typeface="Times New Roman"/>
              </a:rPr>
              <a:t>n-</a:t>
            </a:r>
            <a:r>
              <a:rPr sz="2400" b="1" spc="-20" dirty="0">
                <a:latin typeface="Times New Roman"/>
                <a:cs typeface="Times New Roman"/>
              </a:rPr>
              <a:t>1)!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0876" y="1615638"/>
            <a:ext cx="19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639" y="1818778"/>
            <a:ext cx="552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latin typeface="Times New Roman"/>
                <a:cs typeface="Times New Roman"/>
              </a:rPr>
              <a:t>m</a:t>
            </a:r>
            <a:r>
              <a:rPr sz="1400" b="1" i="1" spc="-24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Symbol"/>
                <a:cs typeface="Symbol"/>
              </a:rPr>
              <a:t></a:t>
            </a:r>
            <a:r>
              <a:rPr sz="1400" b="1" spc="-235" dirty="0">
                <a:latin typeface="Times New Roman"/>
                <a:cs typeface="Times New Roman"/>
              </a:rPr>
              <a:t> </a:t>
            </a:r>
            <a:r>
              <a:rPr sz="1400" b="1" i="1" spc="15" dirty="0">
                <a:latin typeface="Times New Roman"/>
                <a:cs typeface="Times New Roman"/>
              </a:rPr>
              <a:t>n-</a:t>
            </a:r>
            <a:r>
              <a:rPr sz="1400" b="1" spc="15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7580" y="266973"/>
            <a:ext cx="822922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应用：估计搜</a:t>
            </a:r>
            <a:r>
              <a:rPr sz="4400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索空间</a:t>
            </a:r>
            <a:r>
              <a:rPr sz="4400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大</a:t>
            </a:r>
            <a:r>
              <a:rPr sz="4400" spc="-1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小</a:t>
            </a:r>
          </a:p>
        </p:txBody>
      </p:sp>
      <p:sp>
        <p:nvSpPr>
          <p:cNvPr id="9" name="object 9"/>
          <p:cNvSpPr/>
          <p:nvPr/>
        </p:nvSpPr>
        <p:spPr>
          <a:xfrm>
            <a:off x="1072540" y="2886001"/>
            <a:ext cx="31115" cy="20320"/>
          </a:xfrm>
          <a:custGeom>
            <a:avLst/>
            <a:gdLst/>
            <a:ahLst/>
            <a:cxnLst/>
            <a:rect l="l" t="t" r="r" b="b"/>
            <a:pathLst>
              <a:path w="31115" h="20319">
                <a:moveTo>
                  <a:pt x="0" y="19877"/>
                </a:moveTo>
                <a:lnTo>
                  <a:pt x="30682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03223" y="2891680"/>
            <a:ext cx="45085" cy="116205"/>
          </a:xfrm>
          <a:custGeom>
            <a:avLst/>
            <a:gdLst/>
            <a:ahLst/>
            <a:cxnLst/>
            <a:rect l="l" t="t" r="r" b="b"/>
            <a:pathLst>
              <a:path w="45084" h="116205">
                <a:moveTo>
                  <a:pt x="0" y="0"/>
                </a:moveTo>
                <a:lnTo>
                  <a:pt x="44458" y="115715"/>
                </a:lnTo>
              </a:path>
            </a:pathLst>
          </a:custGeom>
          <a:ln w="203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52691" y="2672318"/>
            <a:ext cx="59055" cy="335280"/>
          </a:xfrm>
          <a:custGeom>
            <a:avLst/>
            <a:gdLst/>
            <a:ahLst/>
            <a:cxnLst/>
            <a:rect l="l" t="t" r="r" b="b"/>
            <a:pathLst>
              <a:path w="59055" h="335280">
                <a:moveTo>
                  <a:pt x="0" y="335077"/>
                </a:moveTo>
                <a:lnTo>
                  <a:pt x="58860" y="0"/>
                </a:lnTo>
              </a:path>
            </a:pathLst>
          </a:custGeom>
          <a:ln w="10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11552" y="2672318"/>
            <a:ext cx="1282700" cy="0"/>
          </a:xfrm>
          <a:custGeom>
            <a:avLst/>
            <a:gdLst/>
            <a:ahLst/>
            <a:cxnLst/>
            <a:rect l="l" t="t" r="r" b="b"/>
            <a:pathLst>
              <a:path w="1282700">
                <a:moveTo>
                  <a:pt x="0" y="0"/>
                </a:moveTo>
                <a:lnTo>
                  <a:pt x="1282416" y="0"/>
                </a:lnTo>
              </a:path>
            </a:pathLst>
          </a:custGeom>
          <a:ln w="113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09830" y="2863994"/>
            <a:ext cx="833119" cy="0"/>
          </a:xfrm>
          <a:custGeom>
            <a:avLst/>
            <a:gdLst/>
            <a:ahLst/>
            <a:cxnLst/>
            <a:rect l="l" t="t" r="r" b="b"/>
            <a:pathLst>
              <a:path w="833120">
                <a:moveTo>
                  <a:pt x="0" y="0"/>
                </a:moveTo>
                <a:lnTo>
                  <a:pt x="832819" y="0"/>
                </a:lnTo>
              </a:path>
            </a:pathLst>
          </a:custGeom>
          <a:ln w="5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3890" y="3513561"/>
            <a:ext cx="31115" cy="20320"/>
          </a:xfrm>
          <a:custGeom>
            <a:avLst/>
            <a:gdLst/>
            <a:ahLst/>
            <a:cxnLst/>
            <a:rect l="l" t="t" r="r" b="b"/>
            <a:pathLst>
              <a:path w="31115" h="20320">
                <a:moveTo>
                  <a:pt x="0" y="19877"/>
                </a:moveTo>
                <a:lnTo>
                  <a:pt x="30682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4573" y="3519241"/>
            <a:ext cx="45085" cy="94615"/>
          </a:xfrm>
          <a:custGeom>
            <a:avLst/>
            <a:gdLst/>
            <a:ahLst/>
            <a:cxnLst/>
            <a:rect l="l" t="t" r="r" b="b"/>
            <a:pathLst>
              <a:path w="45084" h="94614">
                <a:moveTo>
                  <a:pt x="0" y="0"/>
                </a:moveTo>
                <a:lnTo>
                  <a:pt x="44458" y="94417"/>
                </a:lnTo>
              </a:path>
            </a:pathLst>
          </a:custGeom>
          <a:ln w="20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4041" y="3333954"/>
            <a:ext cx="59055" cy="280035"/>
          </a:xfrm>
          <a:custGeom>
            <a:avLst/>
            <a:gdLst/>
            <a:ahLst/>
            <a:cxnLst/>
            <a:rect l="l" t="t" r="r" b="b"/>
            <a:pathLst>
              <a:path w="59055" h="280035">
                <a:moveTo>
                  <a:pt x="0" y="279704"/>
                </a:moveTo>
                <a:lnTo>
                  <a:pt x="58860" y="0"/>
                </a:lnTo>
              </a:path>
            </a:pathLst>
          </a:custGeom>
          <a:ln w="1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2902" y="3333954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>
                <a:moveTo>
                  <a:pt x="0" y="0"/>
                </a:moveTo>
                <a:lnTo>
                  <a:pt x="463373" y="0"/>
                </a:lnTo>
              </a:path>
            </a:pathLst>
          </a:custGeom>
          <a:ln w="113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20706" y="3525630"/>
            <a:ext cx="224790" cy="0"/>
          </a:xfrm>
          <a:custGeom>
            <a:avLst/>
            <a:gdLst/>
            <a:ahLst/>
            <a:cxnLst/>
            <a:rect l="l" t="t" r="r" b="b"/>
            <a:pathLst>
              <a:path w="224789">
                <a:moveTo>
                  <a:pt x="0" y="0"/>
                </a:moveTo>
                <a:lnTo>
                  <a:pt x="224172" y="0"/>
                </a:lnTo>
              </a:path>
            </a:pathLst>
          </a:custGeom>
          <a:ln w="5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30227" y="3547637"/>
            <a:ext cx="31115" cy="20320"/>
          </a:xfrm>
          <a:custGeom>
            <a:avLst/>
            <a:gdLst/>
            <a:ahLst/>
            <a:cxnLst/>
            <a:rect l="l" t="t" r="r" b="b"/>
            <a:pathLst>
              <a:path w="31114" h="20320">
                <a:moveTo>
                  <a:pt x="0" y="19877"/>
                </a:moveTo>
                <a:lnTo>
                  <a:pt x="30682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60910" y="3553316"/>
            <a:ext cx="45085" cy="116205"/>
          </a:xfrm>
          <a:custGeom>
            <a:avLst/>
            <a:gdLst/>
            <a:ahLst/>
            <a:cxnLst/>
            <a:rect l="l" t="t" r="r" b="b"/>
            <a:pathLst>
              <a:path w="45085" h="116204">
                <a:moveTo>
                  <a:pt x="0" y="0"/>
                </a:moveTo>
                <a:lnTo>
                  <a:pt x="44458" y="115715"/>
                </a:lnTo>
              </a:path>
            </a:pathLst>
          </a:custGeom>
          <a:ln w="203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10378" y="3333954"/>
            <a:ext cx="59055" cy="335280"/>
          </a:xfrm>
          <a:custGeom>
            <a:avLst/>
            <a:gdLst/>
            <a:ahLst/>
            <a:cxnLst/>
            <a:rect l="l" t="t" r="r" b="b"/>
            <a:pathLst>
              <a:path w="59055" h="335279">
                <a:moveTo>
                  <a:pt x="0" y="335077"/>
                </a:moveTo>
                <a:lnTo>
                  <a:pt x="58860" y="0"/>
                </a:lnTo>
              </a:path>
            </a:pathLst>
          </a:custGeom>
          <a:ln w="10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69239" y="3333954"/>
            <a:ext cx="861694" cy="0"/>
          </a:xfrm>
          <a:custGeom>
            <a:avLst/>
            <a:gdLst/>
            <a:ahLst/>
            <a:cxnLst/>
            <a:rect l="l" t="t" r="r" b="b"/>
            <a:pathLst>
              <a:path w="861695">
                <a:moveTo>
                  <a:pt x="0" y="0"/>
                </a:moveTo>
                <a:lnTo>
                  <a:pt x="861623" y="0"/>
                </a:lnTo>
              </a:path>
            </a:pathLst>
          </a:custGeom>
          <a:ln w="113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08647" y="3525630"/>
            <a:ext cx="412115" cy="0"/>
          </a:xfrm>
          <a:custGeom>
            <a:avLst/>
            <a:gdLst/>
            <a:ahLst/>
            <a:cxnLst/>
            <a:rect l="l" t="t" r="r" b="b"/>
            <a:pathLst>
              <a:path w="412114">
                <a:moveTo>
                  <a:pt x="0" y="0"/>
                </a:moveTo>
                <a:lnTo>
                  <a:pt x="412026" y="0"/>
                </a:lnTo>
              </a:path>
            </a:pathLst>
          </a:custGeom>
          <a:ln w="5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460432" y="3141066"/>
            <a:ext cx="14605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13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45414" y="2651194"/>
            <a:ext cx="18605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Times New Roman"/>
                <a:cs typeface="Times New Roman"/>
              </a:rPr>
              <a:t>))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53928" y="2479452"/>
            <a:ext cx="14605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13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8332" y="3517262"/>
            <a:ext cx="42037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i="1" spc="-145" dirty="0">
                <a:latin typeface="Times New Roman"/>
                <a:cs typeface="Times New Roman"/>
              </a:rPr>
              <a:t>n</a:t>
            </a:r>
            <a:r>
              <a:rPr sz="2150" b="1" i="1" spc="-305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-</a:t>
            </a:r>
            <a:r>
              <a:rPr sz="2150" b="1" spc="-375" dirty="0">
                <a:latin typeface="Times New Roman"/>
                <a:cs typeface="Times New Roman"/>
              </a:rPr>
              <a:t> </a:t>
            </a:r>
            <a:r>
              <a:rPr sz="2150" b="1" spc="-13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00252" y="3517262"/>
            <a:ext cx="21272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i="1" spc="-200" dirty="0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9600" y="2827085"/>
            <a:ext cx="540893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093845" algn="l"/>
                <a:tab pos="5370195" algn="l"/>
              </a:tabLst>
            </a:pPr>
            <a:r>
              <a:rPr sz="3225" b="1" spc="-217" baseline="-21963" dirty="0" smtClean="0">
                <a:latin typeface="Symbol"/>
                <a:cs typeface="Symbol"/>
              </a:rPr>
              <a:t></a:t>
            </a:r>
            <a:r>
              <a:rPr sz="2150" b="1" u="sng" spc="-145" dirty="0" smtClean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</a:t>
            </a:r>
            <a:r>
              <a:rPr lang="en-US" sz="2150" b="1" u="sng" spc="-145" dirty="0" smtClean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                                                                             </a:t>
            </a:r>
            <a:r>
              <a:rPr sz="2150" b="1" i="1" u="sng" spc="-20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 </a:t>
            </a:r>
            <a:r>
              <a:rPr sz="2150" b="1" u="sng" spc="-14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2150" b="1" u="sng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50" b="1" i="1" u="sng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 </a:t>
            </a:r>
            <a:r>
              <a:rPr sz="215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2150" b="1" u="sng" spc="-4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50" b="1" u="sng" spc="-1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7709" y="3892549"/>
            <a:ext cx="168021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50" b="1" spc="-145" dirty="0">
                <a:latin typeface="Symbol"/>
                <a:cs typeface="Symbol"/>
              </a:rPr>
              <a:t></a:t>
            </a:r>
            <a:r>
              <a:rPr sz="2150" b="1" spc="-145" dirty="0">
                <a:latin typeface="Times New Roman"/>
                <a:cs typeface="Times New Roman"/>
              </a:rPr>
              <a:t> </a:t>
            </a:r>
            <a:r>
              <a:rPr sz="2150" b="1" i="1" spc="-130" dirty="0">
                <a:latin typeface="Times New Roman"/>
                <a:cs typeface="Times New Roman"/>
              </a:rPr>
              <a:t>Θ</a:t>
            </a:r>
            <a:r>
              <a:rPr sz="2150" b="1" spc="-130" dirty="0">
                <a:latin typeface="Times New Roman"/>
                <a:cs typeface="Times New Roman"/>
              </a:rPr>
              <a:t>((1</a:t>
            </a:r>
            <a:r>
              <a:rPr sz="2150" b="1" spc="-315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229" dirty="0">
                <a:latin typeface="Times New Roman"/>
                <a:cs typeface="Times New Roman"/>
              </a:rPr>
              <a:t> </a:t>
            </a:r>
            <a:r>
              <a:rPr sz="2200" b="1" i="1" spc="-140" dirty="0">
                <a:latin typeface="Symbol"/>
                <a:cs typeface="Symbol"/>
              </a:rPr>
              <a:t></a:t>
            </a:r>
            <a:r>
              <a:rPr sz="2200" b="1" i="1" spc="-240" dirty="0">
                <a:latin typeface="Times New Roman"/>
                <a:cs typeface="Times New Roman"/>
              </a:rPr>
              <a:t> </a:t>
            </a:r>
            <a:r>
              <a:rPr sz="2150" b="1" spc="-40" dirty="0">
                <a:latin typeface="Times New Roman"/>
                <a:cs typeface="Times New Roman"/>
              </a:rPr>
              <a:t>)</a:t>
            </a:r>
            <a:r>
              <a:rPr sz="1875" b="1" i="1" spc="-60" baseline="42222" dirty="0">
                <a:latin typeface="Times New Roman"/>
                <a:cs typeface="Times New Roman"/>
              </a:rPr>
              <a:t>m</a:t>
            </a:r>
            <a:r>
              <a:rPr sz="1875" b="1" spc="-60" baseline="42222" dirty="0">
                <a:latin typeface="Symbol"/>
                <a:cs typeface="Symbol"/>
              </a:rPr>
              <a:t></a:t>
            </a:r>
            <a:r>
              <a:rPr sz="1875" b="1" spc="-292" baseline="42222" dirty="0">
                <a:latin typeface="Times New Roman"/>
                <a:cs typeface="Times New Roman"/>
              </a:rPr>
              <a:t> </a:t>
            </a:r>
            <a:r>
              <a:rPr sz="1875" b="1" i="1" spc="-89" baseline="42222" dirty="0">
                <a:latin typeface="Times New Roman"/>
                <a:cs typeface="Times New Roman"/>
              </a:rPr>
              <a:t>n</a:t>
            </a:r>
            <a:r>
              <a:rPr sz="1875" b="1" spc="-89" baseline="42222" dirty="0">
                <a:latin typeface="Times New Roman"/>
                <a:cs typeface="Times New Roman"/>
              </a:rPr>
              <a:t>-1</a:t>
            </a:r>
            <a:r>
              <a:rPr sz="1875" b="1" spc="-195" baseline="42222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55003" y="3301267"/>
            <a:ext cx="287909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399030" algn="l"/>
                <a:tab pos="2680335" algn="l"/>
              </a:tabLst>
            </a:pPr>
            <a:r>
              <a:rPr sz="2200" b="1" i="1" spc="-170" dirty="0">
                <a:latin typeface="Symbol"/>
                <a:cs typeface="Symbol"/>
              </a:rPr>
              <a:t></a:t>
            </a:r>
            <a:r>
              <a:rPr sz="2200" b="1" i="1" spc="-254" dirty="0">
                <a:latin typeface="Times New Roman"/>
                <a:cs typeface="Times New Roman"/>
              </a:rPr>
              <a:t> </a:t>
            </a:r>
            <a:r>
              <a:rPr sz="2150" b="1" spc="-80" dirty="0">
                <a:latin typeface="Times New Roman"/>
                <a:cs typeface="Times New Roman"/>
              </a:rPr>
              <a:t>(</a:t>
            </a:r>
            <a:r>
              <a:rPr sz="2150" b="1" i="1" spc="-80" dirty="0">
                <a:latin typeface="Times New Roman"/>
                <a:cs typeface="Times New Roman"/>
              </a:rPr>
              <a:t>n</a:t>
            </a:r>
            <a:r>
              <a:rPr sz="2150" b="1" i="1" spc="-250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-</a:t>
            </a:r>
            <a:r>
              <a:rPr sz="2150" b="1" spc="-345" dirty="0">
                <a:latin typeface="Times New Roman"/>
                <a:cs typeface="Times New Roman"/>
              </a:rPr>
              <a:t> </a:t>
            </a:r>
            <a:r>
              <a:rPr sz="2150" b="1" spc="-75" dirty="0">
                <a:latin typeface="Times New Roman"/>
                <a:cs typeface="Times New Roman"/>
              </a:rPr>
              <a:t>1)(</a:t>
            </a:r>
            <a:r>
              <a:rPr sz="2150" b="1" i="1" spc="-75" dirty="0">
                <a:latin typeface="Times New Roman"/>
                <a:cs typeface="Times New Roman"/>
              </a:rPr>
              <a:t>n</a:t>
            </a:r>
            <a:r>
              <a:rPr sz="2150" b="1" i="1" spc="-250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-</a:t>
            </a:r>
            <a:r>
              <a:rPr sz="2150" b="1" spc="-340" dirty="0">
                <a:latin typeface="Times New Roman"/>
                <a:cs typeface="Times New Roman"/>
              </a:rPr>
              <a:t> </a:t>
            </a:r>
            <a:r>
              <a:rPr sz="2150" b="1" spc="-65" dirty="0">
                <a:latin typeface="Times New Roman"/>
                <a:cs typeface="Times New Roman"/>
              </a:rPr>
              <a:t>1)</a:t>
            </a:r>
            <a:r>
              <a:rPr sz="1875" b="1" i="1" spc="-97" baseline="42222" dirty="0">
                <a:latin typeface="Times New Roman"/>
                <a:cs typeface="Times New Roman"/>
              </a:rPr>
              <a:t>n</a:t>
            </a:r>
            <a:r>
              <a:rPr sz="1875" b="1" spc="-97" baseline="42222" dirty="0">
                <a:latin typeface="Times New Roman"/>
                <a:cs typeface="Times New Roman"/>
              </a:rPr>
              <a:t>-1</a:t>
            </a:r>
            <a:r>
              <a:rPr sz="1875" b="1" spc="-262" baseline="42222" dirty="0">
                <a:latin typeface="Times New Roman"/>
                <a:cs typeface="Times New Roman"/>
              </a:rPr>
              <a:t> </a:t>
            </a:r>
            <a:r>
              <a:rPr sz="2150" b="1" spc="-130" dirty="0">
                <a:latin typeface="Times New Roman"/>
                <a:cs typeface="Times New Roman"/>
              </a:rPr>
              <a:t>(1</a:t>
            </a:r>
            <a:r>
              <a:rPr sz="2150" b="1" spc="-300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220" dirty="0">
                <a:latin typeface="Times New Roman"/>
                <a:cs typeface="Times New Roman"/>
              </a:rPr>
              <a:t> </a:t>
            </a:r>
            <a:r>
              <a:rPr sz="2150" b="1" i="1" spc="-125" dirty="0">
                <a:latin typeface="Times New Roman"/>
                <a:cs typeface="Times New Roman"/>
              </a:rPr>
              <a:t>Θ</a:t>
            </a:r>
            <a:r>
              <a:rPr sz="2150" b="1" spc="-125" dirty="0">
                <a:latin typeface="Times New Roman"/>
                <a:cs typeface="Times New Roman"/>
              </a:rPr>
              <a:t>(	</a:t>
            </a:r>
            <a:r>
              <a:rPr sz="3225" b="1" spc="-195" baseline="34883" dirty="0">
                <a:latin typeface="Times New Roman"/>
                <a:cs typeface="Times New Roman"/>
              </a:rPr>
              <a:t>1	</a:t>
            </a:r>
            <a:r>
              <a:rPr sz="2150" b="1" spc="-90" dirty="0">
                <a:latin typeface="Times New Roman"/>
                <a:cs typeface="Times New Roman"/>
              </a:rPr>
              <a:t>))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0320" y="3301269"/>
            <a:ext cx="223329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750060" algn="l"/>
                <a:tab pos="2073910" algn="l"/>
              </a:tabLst>
            </a:pPr>
            <a:r>
              <a:rPr sz="2150" b="1" spc="-125" dirty="0">
                <a:latin typeface="Times New Roman"/>
                <a:cs typeface="Times New Roman"/>
              </a:rPr>
              <a:t>2</a:t>
            </a:r>
            <a:r>
              <a:rPr sz="2200" b="1" i="1" spc="-125" dirty="0">
                <a:latin typeface="Symbol"/>
                <a:cs typeface="Symbol"/>
              </a:rPr>
              <a:t></a:t>
            </a:r>
            <a:r>
              <a:rPr sz="2150" b="1" i="1" spc="-125" dirty="0">
                <a:latin typeface="Times New Roman"/>
                <a:cs typeface="Times New Roman"/>
              </a:rPr>
              <a:t>mm</a:t>
            </a:r>
            <a:r>
              <a:rPr sz="1875" b="1" i="1" spc="-187" baseline="42222" dirty="0">
                <a:latin typeface="Times New Roman"/>
                <a:cs typeface="Times New Roman"/>
              </a:rPr>
              <a:t>m  </a:t>
            </a:r>
            <a:r>
              <a:rPr sz="2150" b="1" spc="-130" dirty="0">
                <a:latin typeface="Times New Roman"/>
                <a:cs typeface="Times New Roman"/>
              </a:rPr>
              <a:t>(1</a:t>
            </a:r>
            <a:r>
              <a:rPr sz="2150" b="1" spc="-434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215" dirty="0">
                <a:latin typeface="Times New Roman"/>
                <a:cs typeface="Times New Roman"/>
              </a:rPr>
              <a:t> </a:t>
            </a:r>
            <a:r>
              <a:rPr sz="2150" b="1" i="1" spc="-125" dirty="0">
                <a:latin typeface="Times New Roman"/>
                <a:cs typeface="Times New Roman"/>
              </a:rPr>
              <a:t>Θ</a:t>
            </a:r>
            <a:r>
              <a:rPr sz="2150" b="1" spc="-125" dirty="0">
                <a:latin typeface="Times New Roman"/>
                <a:cs typeface="Times New Roman"/>
              </a:rPr>
              <a:t>(	</a:t>
            </a:r>
            <a:r>
              <a:rPr sz="2150" b="1" spc="-90" dirty="0">
                <a:latin typeface="Times New Roman"/>
                <a:cs typeface="Times New Roman"/>
              </a:rPr>
              <a:t>))	</a:t>
            </a:r>
            <a:r>
              <a:rPr sz="2150" b="1" spc="-130" dirty="0">
                <a:latin typeface="Times New Roman"/>
                <a:cs typeface="Times New Roman"/>
              </a:rPr>
              <a:t>2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89726" y="2639655"/>
            <a:ext cx="344551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50" b="1" spc="-200" dirty="0">
                <a:latin typeface="Times New Roman"/>
                <a:cs typeface="Times New Roman"/>
              </a:rPr>
              <a:t>2</a:t>
            </a:r>
            <a:r>
              <a:rPr sz="2200" b="1" i="1" spc="-200" dirty="0">
                <a:latin typeface="Symbol"/>
                <a:cs typeface="Symbol"/>
              </a:rPr>
              <a:t></a:t>
            </a:r>
            <a:r>
              <a:rPr sz="2200" b="1" i="1" spc="-254" dirty="0">
                <a:latin typeface="Times New Roman"/>
                <a:cs typeface="Times New Roman"/>
              </a:rPr>
              <a:t> </a:t>
            </a:r>
            <a:r>
              <a:rPr sz="2150" b="1" spc="-114" dirty="0">
                <a:latin typeface="Times New Roman"/>
                <a:cs typeface="Times New Roman"/>
              </a:rPr>
              <a:t>(</a:t>
            </a:r>
            <a:r>
              <a:rPr sz="2150" b="1" i="1" spc="-114" dirty="0">
                <a:latin typeface="Times New Roman"/>
                <a:cs typeface="Times New Roman"/>
              </a:rPr>
              <a:t>m</a:t>
            </a:r>
            <a:r>
              <a:rPr sz="2150" b="1" i="1" spc="-145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135" dirty="0">
                <a:latin typeface="Times New Roman"/>
                <a:cs typeface="Times New Roman"/>
              </a:rPr>
              <a:t> </a:t>
            </a:r>
            <a:r>
              <a:rPr sz="2150" b="1" i="1" spc="-145" dirty="0">
                <a:latin typeface="Times New Roman"/>
                <a:cs typeface="Times New Roman"/>
              </a:rPr>
              <a:t>n</a:t>
            </a:r>
            <a:r>
              <a:rPr sz="2150" b="1" i="1" spc="-250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-</a:t>
            </a:r>
            <a:r>
              <a:rPr sz="2150" b="1" spc="-345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1)(</a:t>
            </a:r>
            <a:r>
              <a:rPr sz="2150" b="1" i="1" spc="-90" dirty="0">
                <a:latin typeface="Times New Roman"/>
                <a:cs typeface="Times New Roman"/>
              </a:rPr>
              <a:t>m</a:t>
            </a:r>
            <a:r>
              <a:rPr sz="2150" b="1" i="1" spc="-150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130" dirty="0">
                <a:latin typeface="Times New Roman"/>
                <a:cs typeface="Times New Roman"/>
              </a:rPr>
              <a:t> </a:t>
            </a:r>
            <a:r>
              <a:rPr sz="2150" b="1" i="1" spc="-145" dirty="0">
                <a:latin typeface="Times New Roman"/>
                <a:cs typeface="Times New Roman"/>
              </a:rPr>
              <a:t>n</a:t>
            </a:r>
            <a:r>
              <a:rPr sz="2150" b="1" i="1" spc="-254" dirty="0">
                <a:latin typeface="Times New Roman"/>
                <a:cs typeface="Times New Roman"/>
              </a:rPr>
              <a:t> </a:t>
            </a:r>
            <a:r>
              <a:rPr sz="2150" b="1" spc="-90" dirty="0">
                <a:latin typeface="Times New Roman"/>
                <a:cs typeface="Times New Roman"/>
              </a:rPr>
              <a:t>-</a:t>
            </a:r>
            <a:r>
              <a:rPr sz="2150" b="1" spc="-345" dirty="0">
                <a:latin typeface="Times New Roman"/>
                <a:cs typeface="Times New Roman"/>
              </a:rPr>
              <a:t> </a:t>
            </a:r>
            <a:r>
              <a:rPr sz="2150" b="1" spc="-65" dirty="0">
                <a:latin typeface="Times New Roman"/>
                <a:cs typeface="Times New Roman"/>
              </a:rPr>
              <a:t>1)</a:t>
            </a:r>
            <a:r>
              <a:rPr sz="1875" b="1" i="1" spc="-97" baseline="42222" dirty="0">
                <a:latin typeface="Times New Roman"/>
                <a:cs typeface="Times New Roman"/>
              </a:rPr>
              <a:t>m</a:t>
            </a:r>
            <a:r>
              <a:rPr sz="1875" b="1" spc="-97" baseline="42222" dirty="0">
                <a:latin typeface="Symbol"/>
                <a:cs typeface="Symbol"/>
              </a:rPr>
              <a:t></a:t>
            </a:r>
            <a:r>
              <a:rPr sz="1875" b="1" spc="-292" baseline="42222" dirty="0">
                <a:latin typeface="Times New Roman"/>
                <a:cs typeface="Times New Roman"/>
              </a:rPr>
              <a:t> </a:t>
            </a:r>
            <a:r>
              <a:rPr sz="1875" b="1" i="1" spc="-82" baseline="42222" dirty="0">
                <a:latin typeface="Times New Roman"/>
                <a:cs typeface="Times New Roman"/>
              </a:rPr>
              <a:t>n-</a:t>
            </a:r>
            <a:r>
              <a:rPr sz="1875" b="1" spc="-82" baseline="42222" dirty="0">
                <a:latin typeface="Times New Roman"/>
                <a:cs typeface="Times New Roman"/>
              </a:rPr>
              <a:t>1</a:t>
            </a:r>
            <a:r>
              <a:rPr sz="1875" b="1" spc="-240" baseline="42222" dirty="0">
                <a:latin typeface="Times New Roman"/>
                <a:cs typeface="Times New Roman"/>
              </a:rPr>
              <a:t> </a:t>
            </a:r>
            <a:r>
              <a:rPr sz="2150" b="1" spc="-130" dirty="0">
                <a:latin typeface="Times New Roman"/>
                <a:cs typeface="Times New Roman"/>
              </a:rPr>
              <a:t>(1</a:t>
            </a:r>
            <a:r>
              <a:rPr sz="2150" b="1" spc="-315" dirty="0">
                <a:latin typeface="Times New Roman"/>
                <a:cs typeface="Times New Roman"/>
              </a:rPr>
              <a:t> </a:t>
            </a:r>
            <a:r>
              <a:rPr sz="2150" b="1" spc="-145" dirty="0">
                <a:latin typeface="Symbol"/>
                <a:cs typeface="Symbol"/>
              </a:rPr>
              <a:t></a:t>
            </a:r>
            <a:r>
              <a:rPr sz="2150" b="1" spc="-220" dirty="0">
                <a:latin typeface="Times New Roman"/>
                <a:cs typeface="Times New Roman"/>
              </a:rPr>
              <a:t> </a:t>
            </a:r>
            <a:r>
              <a:rPr sz="2150" b="1" i="1" spc="-125" dirty="0">
                <a:latin typeface="Times New Roman"/>
                <a:cs typeface="Times New Roman"/>
              </a:rPr>
              <a:t>Θ</a:t>
            </a:r>
            <a:r>
              <a:rPr sz="2150" b="1" spc="-125" dirty="0">
                <a:latin typeface="Times New Roman"/>
                <a:cs typeface="Times New Roman"/>
              </a:rPr>
              <a:t>(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78441" y="1273175"/>
            <a:ext cx="2918460" cy="1069975"/>
          </a:xfrm>
          <a:custGeom>
            <a:avLst/>
            <a:gdLst/>
            <a:ahLst/>
            <a:cxnLst/>
            <a:rect l="l" t="t" r="r" b="b"/>
            <a:pathLst>
              <a:path w="2918460" h="1069975">
                <a:moveTo>
                  <a:pt x="2917939" y="891527"/>
                </a:moveTo>
                <a:lnTo>
                  <a:pt x="479539" y="891527"/>
                </a:lnTo>
                <a:lnTo>
                  <a:pt x="485908" y="938933"/>
                </a:lnTo>
                <a:lnTo>
                  <a:pt x="503883" y="981531"/>
                </a:lnTo>
                <a:lnTo>
                  <a:pt x="531764" y="1017620"/>
                </a:lnTo>
                <a:lnTo>
                  <a:pt x="567852" y="1045503"/>
                </a:lnTo>
                <a:lnTo>
                  <a:pt x="610446" y="1063478"/>
                </a:lnTo>
                <a:lnTo>
                  <a:pt x="657847" y="1069848"/>
                </a:lnTo>
                <a:lnTo>
                  <a:pt x="2739631" y="1069848"/>
                </a:lnTo>
                <a:lnTo>
                  <a:pt x="2787032" y="1063478"/>
                </a:lnTo>
                <a:lnTo>
                  <a:pt x="2829626" y="1045503"/>
                </a:lnTo>
                <a:lnTo>
                  <a:pt x="2865713" y="1017620"/>
                </a:lnTo>
                <a:lnTo>
                  <a:pt x="2893594" y="981531"/>
                </a:lnTo>
                <a:lnTo>
                  <a:pt x="2911569" y="938933"/>
                </a:lnTo>
                <a:lnTo>
                  <a:pt x="2917939" y="891527"/>
                </a:lnTo>
                <a:close/>
              </a:path>
              <a:path w="2918460" h="1069975">
                <a:moveTo>
                  <a:pt x="2739631" y="0"/>
                </a:moveTo>
                <a:lnTo>
                  <a:pt x="657847" y="0"/>
                </a:lnTo>
                <a:lnTo>
                  <a:pt x="610446" y="6369"/>
                </a:lnTo>
                <a:lnTo>
                  <a:pt x="567852" y="24344"/>
                </a:lnTo>
                <a:lnTo>
                  <a:pt x="531764" y="52225"/>
                </a:lnTo>
                <a:lnTo>
                  <a:pt x="503883" y="88312"/>
                </a:lnTo>
                <a:lnTo>
                  <a:pt x="485908" y="130907"/>
                </a:lnTo>
                <a:lnTo>
                  <a:pt x="479539" y="178308"/>
                </a:lnTo>
                <a:lnTo>
                  <a:pt x="479539" y="624078"/>
                </a:lnTo>
                <a:lnTo>
                  <a:pt x="0" y="628383"/>
                </a:lnTo>
                <a:lnTo>
                  <a:pt x="479539" y="891540"/>
                </a:lnTo>
                <a:lnTo>
                  <a:pt x="2917939" y="891527"/>
                </a:lnTo>
                <a:lnTo>
                  <a:pt x="2917939" y="178308"/>
                </a:lnTo>
                <a:lnTo>
                  <a:pt x="2911569" y="130907"/>
                </a:lnTo>
                <a:lnTo>
                  <a:pt x="2893594" y="88312"/>
                </a:lnTo>
                <a:lnTo>
                  <a:pt x="2865713" y="52225"/>
                </a:lnTo>
                <a:lnTo>
                  <a:pt x="2829626" y="24344"/>
                </a:lnTo>
                <a:lnTo>
                  <a:pt x="2787032" y="6369"/>
                </a:lnTo>
                <a:lnTo>
                  <a:pt x="2739631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78441" y="1273175"/>
            <a:ext cx="2918460" cy="1069975"/>
          </a:xfrm>
          <a:custGeom>
            <a:avLst/>
            <a:gdLst/>
            <a:ahLst/>
            <a:cxnLst/>
            <a:rect l="l" t="t" r="r" b="b"/>
            <a:pathLst>
              <a:path w="2918460" h="1069975">
                <a:moveTo>
                  <a:pt x="479539" y="178308"/>
                </a:moveTo>
                <a:lnTo>
                  <a:pt x="485908" y="130907"/>
                </a:lnTo>
                <a:lnTo>
                  <a:pt x="503883" y="88312"/>
                </a:lnTo>
                <a:lnTo>
                  <a:pt x="531764" y="52225"/>
                </a:lnTo>
                <a:lnTo>
                  <a:pt x="567852" y="24344"/>
                </a:lnTo>
                <a:lnTo>
                  <a:pt x="610446" y="6369"/>
                </a:lnTo>
                <a:lnTo>
                  <a:pt x="657847" y="0"/>
                </a:lnTo>
                <a:lnTo>
                  <a:pt x="885939" y="0"/>
                </a:lnTo>
                <a:lnTo>
                  <a:pt x="1495539" y="0"/>
                </a:lnTo>
                <a:lnTo>
                  <a:pt x="2739631" y="0"/>
                </a:lnTo>
                <a:lnTo>
                  <a:pt x="2787032" y="6369"/>
                </a:lnTo>
                <a:lnTo>
                  <a:pt x="2829626" y="24344"/>
                </a:lnTo>
                <a:lnTo>
                  <a:pt x="2865713" y="52225"/>
                </a:lnTo>
                <a:lnTo>
                  <a:pt x="2893594" y="88312"/>
                </a:lnTo>
                <a:lnTo>
                  <a:pt x="2911569" y="130907"/>
                </a:lnTo>
                <a:lnTo>
                  <a:pt x="2917939" y="178308"/>
                </a:lnTo>
                <a:lnTo>
                  <a:pt x="2917939" y="624078"/>
                </a:lnTo>
                <a:lnTo>
                  <a:pt x="2917939" y="891540"/>
                </a:lnTo>
                <a:lnTo>
                  <a:pt x="2911569" y="938933"/>
                </a:lnTo>
                <a:lnTo>
                  <a:pt x="2893594" y="981531"/>
                </a:lnTo>
                <a:lnTo>
                  <a:pt x="2865713" y="1017620"/>
                </a:lnTo>
                <a:lnTo>
                  <a:pt x="2829626" y="1045503"/>
                </a:lnTo>
                <a:lnTo>
                  <a:pt x="2787032" y="1063478"/>
                </a:lnTo>
                <a:lnTo>
                  <a:pt x="2739631" y="1069848"/>
                </a:lnTo>
                <a:lnTo>
                  <a:pt x="1495539" y="1069848"/>
                </a:lnTo>
                <a:lnTo>
                  <a:pt x="885939" y="1069848"/>
                </a:lnTo>
                <a:lnTo>
                  <a:pt x="657847" y="1069848"/>
                </a:lnTo>
                <a:lnTo>
                  <a:pt x="610446" y="1063478"/>
                </a:lnTo>
                <a:lnTo>
                  <a:pt x="567852" y="1045503"/>
                </a:lnTo>
                <a:lnTo>
                  <a:pt x="531764" y="1017620"/>
                </a:lnTo>
                <a:lnTo>
                  <a:pt x="503883" y="981531"/>
                </a:lnTo>
                <a:lnTo>
                  <a:pt x="485908" y="938933"/>
                </a:lnTo>
                <a:lnTo>
                  <a:pt x="479539" y="891527"/>
                </a:lnTo>
                <a:lnTo>
                  <a:pt x="0" y="628383"/>
                </a:lnTo>
                <a:lnTo>
                  <a:pt x="479539" y="624078"/>
                </a:lnTo>
                <a:lnTo>
                  <a:pt x="479539" y="178308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788571" y="1332544"/>
            <a:ext cx="14954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元钱、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sz="2000" b="1" spc="-10" dirty="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8571" y="1637344"/>
            <a:ext cx="23061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i="1" spc="-10" dirty="0" err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b="1" spc="-5" dirty="0" err="1">
                <a:solidFill>
                  <a:srgbClr val="FFFFFF"/>
                </a:solidFill>
                <a:latin typeface="宋体"/>
                <a:cs typeface="宋体"/>
              </a:rPr>
              <a:t>个项</a:t>
            </a:r>
            <a:r>
              <a:rPr sz="2000" b="1" dirty="0" err="1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sz="2000" b="1" spc="5" dirty="0" err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sz="2000" b="1" dirty="0" err="1">
                <a:solidFill>
                  <a:srgbClr val="FFFFFF"/>
                </a:solidFill>
                <a:latin typeface="宋体"/>
                <a:cs typeface="宋体"/>
              </a:rPr>
              <a:t>配方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spc="-5" dirty="0" err="1" smtClean="0">
                <a:solidFill>
                  <a:srgbClr val="FFFFFF"/>
                </a:solidFill>
                <a:latin typeface="宋体"/>
                <a:cs typeface="宋体"/>
              </a:rPr>
              <a:t>案数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7580" y="3867532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76200"/>
                </a:move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200" y="0"/>
                </a:lnTo>
                <a:lnTo>
                  <a:pt x="1981200" y="0"/>
                </a:lnTo>
                <a:lnTo>
                  <a:pt x="2010862" y="5987"/>
                </a:lnTo>
                <a:lnTo>
                  <a:pt x="2035082" y="22317"/>
                </a:lnTo>
                <a:lnTo>
                  <a:pt x="2051412" y="46537"/>
                </a:lnTo>
                <a:lnTo>
                  <a:pt x="2057400" y="76200"/>
                </a:lnTo>
                <a:lnTo>
                  <a:pt x="2057400" y="381000"/>
                </a:lnTo>
                <a:lnTo>
                  <a:pt x="2051412" y="410662"/>
                </a:lnTo>
                <a:lnTo>
                  <a:pt x="2035082" y="434882"/>
                </a:lnTo>
                <a:lnTo>
                  <a:pt x="2010862" y="451212"/>
                </a:lnTo>
                <a:lnTo>
                  <a:pt x="1981200" y="457200"/>
                </a:lnTo>
                <a:lnTo>
                  <a:pt x="76200" y="457200"/>
                </a:lnTo>
                <a:lnTo>
                  <a:pt x="46537" y="451212"/>
                </a:lnTo>
                <a:lnTo>
                  <a:pt x="22317" y="434882"/>
                </a:lnTo>
                <a:lnTo>
                  <a:pt x="5987" y="410662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日期占位符 3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FA4FBAA-0E68-4856-86E2-575288AA3C3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3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50" y="209550"/>
            <a:ext cx="8274050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log(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!)</a:t>
            </a:r>
            <a:r>
              <a:rPr sz="4400" spc="-1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C3300"/>
                </a:solidFill>
                <a:latin typeface="Times New Roman"/>
                <a:cs typeface="Times New Roman"/>
              </a:rPr>
              <a:t>=</a:t>
            </a:r>
            <a:r>
              <a:rPr sz="4400"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4400" i="1" spc="-155" dirty="0">
                <a:solidFill>
                  <a:srgbClr val="CC3300"/>
                </a:solidFill>
                <a:latin typeface="Symbol"/>
                <a:cs typeface="Symbol"/>
              </a:rPr>
              <a:t></a:t>
            </a:r>
            <a:r>
              <a:rPr sz="4400" i="1" spc="-6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(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log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)</a:t>
            </a:r>
            <a:r>
              <a:rPr sz="4400" spc="-10" dirty="0">
                <a:solidFill>
                  <a:srgbClr val="CC3300"/>
                </a:solidFill>
              </a:rPr>
              <a:t>的证</a:t>
            </a:r>
            <a:r>
              <a:rPr sz="4400" spc="-15" dirty="0">
                <a:solidFill>
                  <a:srgbClr val="CC3300"/>
                </a:solidFill>
              </a:rPr>
              <a:t>明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1784" y="3020185"/>
            <a:ext cx="127635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i="1" spc="-3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39999" y="3058810"/>
            <a:ext cx="127635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i="1" spc="-3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85078" y="3754625"/>
            <a:ext cx="117475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3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38141" y="3716023"/>
            <a:ext cx="338455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i="1" spc="-30" dirty="0">
                <a:latin typeface="Times New Roman"/>
                <a:cs typeface="Times New Roman"/>
              </a:rPr>
              <a:t>k</a:t>
            </a:r>
            <a:r>
              <a:rPr sz="1500" b="1" i="1" spc="-250" dirty="0">
                <a:latin typeface="Times New Roman"/>
                <a:cs typeface="Times New Roman"/>
              </a:rPr>
              <a:t> </a:t>
            </a:r>
            <a:r>
              <a:rPr sz="1500" b="1" spc="-15" dirty="0">
                <a:latin typeface="Symbol"/>
                <a:cs typeface="Symbol"/>
              </a:rPr>
              <a:t></a:t>
            </a:r>
            <a:r>
              <a:rPr sz="1500" b="1" spc="-1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466" y="3100909"/>
            <a:ext cx="3826510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00" b="1" spc="-25" dirty="0">
                <a:latin typeface="Times New Roman"/>
                <a:cs typeface="Times New Roman"/>
              </a:rPr>
              <a:t>log(</a:t>
            </a:r>
            <a:r>
              <a:rPr sz="2600" b="1" i="1" spc="-25" dirty="0">
                <a:latin typeface="Times New Roman"/>
                <a:cs typeface="Times New Roman"/>
              </a:rPr>
              <a:t>n</a:t>
            </a:r>
            <a:r>
              <a:rPr sz="2600" b="1" spc="-25" dirty="0">
                <a:latin typeface="Times New Roman"/>
                <a:cs typeface="Times New Roman"/>
              </a:rPr>
              <a:t>!) </a:t>
            </a:r>
            <a:r>
              <a:rPr sz="2600" b="1" spc="-70" dirty="0">
                <a:latin typeface="Symbol"/>
                <a:cs typeface="Symbol"/>
              </a:rPr>
              <a:t>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5850" b="1" spc="22" baseline="-8547" dirty="0">
                <a:latin typeface="Symbol"/>
                <a:cs typeface="Symbol"/>
              </a:rPr>
              <a:t></a:t>
            </a:r>
            <a:r>
              <a:rPr sz="2600" b="1" spc="15" dirty="0">
                <a:latin typeface="Times New Roman"/>
                <a:cs typeface="Times New Roman"/>
              </a:rPr>
              <a:t>log </a:t>
            </a:r>
            <a:r>
              <a:rPr sz="2600" b="1" i="1" spc="-60" dirty="0">
                <a:latin typeface="Times New Roman"/>
                <a:cs typeface="Times New Roman"/>
              </a:rPr>
              <a:t>k </a:t>
            </a:r>
            <a:r>
              <a:rPr sz="2600" b="1" spc="-70" dirty="0">
                <a:latin typeface="Symbol"/>
                <a:cs typeface="Symbol"/>
              </a:rPr>
              <a:t>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5850" b="1" spc="-82" baseline="-12820" dirty="0">
                <a:latin typeface="Symbol"/>
                <a:cs typeface="Symbol"/>
              </a:rPr>
              <a:t></a:t>
            </a:r>
            <a:r>
              <a:rPr sz="5850" b="1" spc="-630" baseline="-12820" dirty="0">
                <a:latin typeface="Times New Roman"/>
                <a:cs typeface="Times New Roman"/>
              </a:rPr>
              <a:t> </a:t>
            </a:r>
            <a:r>
              <a:rPr sz="2600" b="1" spc="-55" dirty="0">
                <a:latin typeface="Times New Roman"/>
                <a:cs typeface="Times New Roman"/>
              </a:rPr>
              <a:t>log </a:t>
            </a:r>
            <a:r>
              <a:rPr sz="2600" b="1" i="1" spc="-60" dirty="0">
                <a:latin typeface="Times New Roman"/>
                <a:cs typeface="Times New Roman"/>
              </a:rPr>
              <a:t>xdx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62200" y="4130675"/>
            <a:ext cx="47142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30" dirty="0">
                <a:latin typeface="Symbol"/>
                <a:cs typeface="Symbol"/>
              </a:rPr>
              <a:t></a:t>
            </a:r>
            <a:r>
              <a:rPr sz="2700" b="1" spc="5" dirty="0">
                <a:latin typeface="Times New Roman"/>
                <a:cs typeface="Times New Roman"/>
              </a:rPr>
              <a:t> </a:t>
            </a:r>
            <a:r>
              <a:rPr sz="2700" b="1" spc="80" dirty="0">
                <a:latin typeface="Times New Roman"/>
                <a:cs typeface="Times New Roman"/>
              </a:rPr>
              <a:t>loge(</a:t>
            </a:r>
            <a:r>
              <a:rPr sz="2700" b="1" i="1" spc="80" dirty="0">
                <a:latin typeface="Times New Roman"/>
                <a:cs typeface="Times New Roman"/>
              </a:rPr>
              <a:t>n</a:t>
            </a:r>
            <a:r>
              <a:rPr sz="2700" b="1" spc="80" dirty="0">
                <a:latin typeface="Times New Roman"/>
                <a:cs typeface="Times New Roman"/>
              </a:rPr>
              <a:t>ln</a:t>
            </a:r>
            <a:r>
              <a:rPr sz="2700" b="1" i="1" spc="80" dirty="0">
                <a:latin typeface="Times New Roman"/>
                <a:cs typeface="Times New Roman"/>
              </a:rPr>
              <a:t>n</a:t>
            </a:r>
            <a:r>
              <a:rPr sz="2700" b="1" i="1" spc="-229" dirty="0">
                <a:latin typeface="Times New Roman"/>
                <a:cs typeface="Times New Roman"/>
              </a:rPr>
              <a:t> </a:t>
            </a:r>
            <a:r>
              <a:rPr sz="2700" b="1" spc="30" dirty="0">
                <a:latin typeface="Symbol"/>
                <a:cs typeface="Symbol"/>
              </a:rPr>
              <a:t></a:t>
            </a:r>
            <a:r>
              <a:rPr sz="2700" b="1" spc="-125" dirty="0">
                <a:latin typeface="Times New Roman"/>
                <a:cs typeface="Times New Roman"/>
              </a:rPr>
              <a:t> </a:t>
            </a:r>
            <a:r>
              <a:rPr sz="2700" b="1" i="1" spc="35" dirty="0">
                <a:latin typeface="Times New Roman"/>
                <a:cs typeface="Times New Roman"/>
              </a:rPr>
              <a:t>n</a:t>
            </a:r>
            <a:r>
              <a:rPr sz="2700" b="1" i="1" spc="-225" dirty="0">
                <a:latin typeface="Times New Roman"/>
                <a:cs typeface="Times New Roman"/>
              </a:rPr>
              <a:t> </a:t>
            </a:r>
            <a:r>
              <a:rPr sz="2700" b="1" spc="30" dirty="0">
                <a:latin typeface="Symbol"/>
                <a:cs typeface="Symbol"/>
              </a:rPr>
              <a:t></a:t>
            </a:r>
            <a:r>
              <a:rPr sz="2700" b="1" spc="-2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1)</a:t>
            </a:r>
            <a:r>
              <a:rPr sz="2700" b="1" spc="-85" dirty="0">
                <a:latin typeface="Times New Roman"/>
                <a:cs typeface="Times New Roman"/>
              </a:rPr>
              <a:t> </a:t>
            </a:r>
            <a:r>
              <a:rPr sz="2700" b="1" spc="30" dirty="0">
                <a:latin typeface="Symbol"/>
                <a:cs typeface="Symbol"/>
              </a:rPr>
              <a:t></a:t>
            </a:r>
            <a:r>
              <a:rPr sz="2700" b="1" spc="135" dirty="0">
                <a:latin typeface="Times New Roman"/>
                <a:cs typeface="Times New Roman"/>
              </a:rPr>
              <a:t> </a:t>
            </a:r>
            <a:r>
              <a:rPr sz="2700" b="1" i="1" spc="90" dirty="0">
                <a:latin typeface="Times New Roman"/>
                <a:cs typeface="Times New Roman"/>
              </a:rPr>
              <a:t>Ω</a:t>
            </a:r>
            <a:r>
              <a:rPr sz="2700" b="1" spc="90" dirty="0">
                <a:latin typeface="Times New Roman"/>
                <a:cs typeface="Times New Roman"/>
              </a:rPr>
              <a:t>(</a:t>
            </a:r>
            <a:r>
              <a:rPr sz="2700" b="1" i="1" spc="90" dirty="0">
                <a:latin typeface="Times New Roman"/>
                <a:cs typeface="Times New Roman"/>
              </a:rPr>
              <a:t>n</a:t>
            </a:r>
            <a:r>
              <a:rPr sz="2700" b="1" i="1" spc="-365" dirty="0">
                <a:latin typeface="Times New Roman"/>
                <a:cs typeface="Times New Roman"/>
              </a:rPr>
              <a:t> </a:t>
            </a:r>
            <a:r>
              <a:rPr sz="2700" b="1" spc="25" dirty="0">
                <a:latin typeface="Times New Roman"/>
                <a:cs typeface="Times New Roman"/>
              </a:rPr>
              <a:t>log</a:t>
            </a:r>
            <a:r>
              <a:rPr sz="2700" b="1" spc="-245" dirty="0">
                <a:latin typeface="Times New Roman"/>
                <a:cs typeface="Times New Roman"/>
              </a:rPr>
              <a:t> </a:t>
            </a:r>
            <a:r>
              <a:rPr sz="2700" b="1" i="1" spc="55" dirty="0">
                <a:latin typeface="Times New Roman"/>
                <a:cs typeface="Times New Roman"/>
              </a:rPr>
              <a:t>n</a:t>
            </a:r>
            <a:r>
              <a:rPr sz="2700" b="1" spc="55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564402" y="1138991"/>
            <a:ext cx="3828142" cy="1889959"/>
            <a:chOff x="2564402" y="1138991"/>
            <a:chExt cx="3828142" cy="1889959"/>
          </a:xfrm>
        </p:grpSpPr>
        <p:sp>
          <p:nvSpPr>
            <p:cNvPr id="3" name="object 3"/>
            <p:cNvSpPr/>
            <p:nvPr/>
          </p:nvSpPr>
          <p:spPr>
            <a:xfrm>
              <a:off x="3148419" y="1343969"/>
              <a:ext cx="3197860" cy="1287145"/>
            </a:xfrm>
            <a:custGeom>
              <a:avLst/>
              <a:gdLst/>
              <a:ahLst/>
              <a:cxnLst/>
              <a:rect l="l" t="t" r="r" b="b"/>
              <a:pathLst>
                <a:path w="3197860" h="1287145">
                  <a:moveTo>
                    <a:pt x="0" y="1287018"/>
                  </a:moveTo>
                  <a:lnTo>
                    <a:pt x="28776" y="1242724"/>
                  </a:lnTo>
                  <a:lnTo>
                    <a:pt x="57444" y="1198879"/>
                  </a:lnTo>
                  <a:lnTo>
                    <a:pt x="85896" y="1155931"/>
                  </a:lnTo>
                  <a:lnTo>
                    <a:pt x="114025" y="1114329"/>
                  </a:lnTo>
                  <a:lnTo>
                    <a:pt x="141722" y="1074523"/>
                  </a:lnTo>
                  <a:lnTo>
                    <a:pt x="168880" y="1036961"/>
                  </a:lnTo>
                  <a:lnTo>
                    <a:pt x="195390" y="1002093"/>
                  </a:lnTo>
                  <a:lnTo>
                    <a:pt x="221145" y="970368"/>
                  </a:lnTo>
                  <a:lnTo>
                    <a:pt x="258883" y="928368"/>
                  </a:lnTo>
                  <a:lnTo>
                    <a:pt x="293084" y="895437"/>
                  </a:lnTo>
                  <a:lnTo>
                    <a:pt x="326844" y="867164"/>
                  </a:lnTo>
                  <a:lnTo>
                    <a:pt x="363258" y="839137"/>
                  </a:lnTo>
                  <a:lnTo>
                    <a:pt x="405422" y="806945"/>
                  </a:lnTo>
                  <a:lnTo>
                    <a:pt x="436775" y="781630"/>
                  </a:lnTo>
                  <a:lnTo>
                    <a:pt x="466676" y="756405"/>
                  </a:lnTo>
                  <a:lnTo>
                    <a:pt x="497623" y="730733"/>
                  </a:lnTo>
                  <a:lnTo>
                    <a:pt x="532115" y="704079"/>
                  </a:lnTo>
                  <a:lnTo>
                    <a:pt x="572651" y="675906"/>
                  </a:lnTo>
                  <a:lnTo>
                    <a:pt x="621730" y="645680"/>
                  </a:lnTo>
                  <a:lnTo>
                    <a:pt x="681850" y="612863"/>
                  </a:lnTo>
                  <a:lnTo>
                    <a:pt x="716075" y="595169"/>
                  </a:lnTo>
                  <a:lnTo>
                    <a:pt x="752263" y="576474"/>
                  </a:lnTo>
                  <a:lnTo>
                    <a:pt x="790406" y="556922"/>
                  </a:lnTo>
                  <a:lnTo>
                    <a:pt x="830492" y="536660"/>
                  </a:lnTo>
                  <a:lnTo>
                    <a:pt x="872512" y="515831"/>
                  </a:lnTo>
                  <a:lnTo>
                    <a:pt x="916456" y="494582"/>
                  </a:lnTo>
                  <a:lnTo>
                    <a:pt x="962313" y="473057"/>
                  </a:lnTo>
                  <a:lnTo>
                    <a:pt x="1010075" y="451402"/>
                  </a:lnTo>
                  <a:lnTo>
                    <a:pt x="1059730" y="429761"/>
                  </a:lnTo>
                  <a:lnTo>
                    <a:pt x="1111270" y="408280"/>
                  </a:lnTo>
                  <a:lnTo>
                    <a:pt x="1164683" y="387105"/>
                  </a:lnTo>
                  <a:lnTo>
                    <a:pt x="1219960" y="366379"/>
                  </a:lnTo>
                  <a:lnTo>
                    <a:pt x="1277090" y="346249"/>
                  </a:lnTo>
                  <a:lnTo>
                    <a:pt x="1336065" y="326859"/>
                  </a:lnTo>
                  <a:lnTo>
                    <a:pt x="1377009" y="314128"/>
                  </a:lnTo>
                  <a:lnTo>
                    <a:pt x="1419862" y="301250"/>
                  </a:lnTo>
                  <a:lnTo>
                    <a:pt x="1464448" y="288267"/>
                  </a:lnTo>
                  <a:lnTo>
                    <a:pt x="1510585" y="275217"/>
                  </a:lnTo>
                  <a:lnTo>
                    <a:pt x="1558095" y="262141"/>
                  </a:lnTo>
                  <a:lnTo>
                    <a:pt x="1606799" y="249078"/>
                  </a:lnTo>
                  <a:lnTo>
                    <a:pt x="1656518" y="236068"/>
                  </a:lnTo>
                  <a:lnTo>
                    <a:pt x="1707073" y="223150"/>
                  </a:lnTo>
                  <a:lnTo>
                    <a:pt x="1758284" y="210365"/>
                  </a:lnTo>
                  <a:lnTo>
                    <a:pt x="1809973" y="197752"/>
                  </a:lnTo>
                  <a:lnTo>
                    <a:pt x="1861960" y="185350"/>
                  </a:lnTo>
                  <a:lnTo>
                    <a:pt x="1914066" y="173200"/>
                  </a:lnTo>
                  <a:lnTo>
                    <a:pt x="1966113" y="161340"/>
                  </a:lnTo>
                  <a:lnTo>
                    <a:pt x="2017921" y="149812"/>
                  </a:lnTo>
                  <a:lnTo>
                    <a:pt x="2069311" y="138654"/>
                  </a:lnTo>
                  <a:lnTo>
                    <a:pt x="2120105" y="127906"/>
                  </a:lnTo>
                  <a:lnTo>
                    <a:pt x="2170122" y="117609"/>
                  </a:lnTo>
                  <a:lnTo>
                    <a:pt x="2219183" y="107801"/>
                  </a:lnTo>
                  <a:lnTo>
                    <a:pt x="2267111" y="98522"/>
                  </a:lnTo>
                  <a:lnTo>
                    <a:pt x="2313725" y="89812"/>
                  </a:lnTo>
                  <a:lnTo>
                    <a:pt x="2358847" y="81711"/>
                  </a:lnTo>
                  <a:lnTo>
                    <a:pt x="2413123" y="72515"/>
                  </a:lnTo>
                  <a:lnTo>
                    <a:pt x="2466499" y="64116"/>
                  </a:lnTo>
                  <a:lnTo>
                    <a:pt x="2519030" y="56465"/>
                  </a:lnTo>
                  <a:lnTo>
                    <a:pt x="2570773" y="49513"/>
                  </a:lnTo>
                  <a:lnTo>
                    <a:pt x="2621785" y="43210"/>
                  </a:lnTo>
                  <a:lnTo>
                    <a:pt x="2672122" y="37505"/>
                  </a:lnTo>
                  <a:lnTo>
                    <a:pt x="2721839" y="32349"/>
                  </a:lnTo>
                  <a:lnTo>
                    <a:pt x="2770994" y="27692"/>
                  </a:lnTo>
                  <a:lnTo>
                    <a:pt x="2819642" y="23483"/>
                  </a:lnTo>
                  <a:lnTo>
                    <a:pt x="2867840" y="19674"/>
                  </a:lnTo>
                  <a:lnTo>
                    <a:pt x="2915644" y="16215"/>
                  </a:lnTo>
                  <a:lnTo>
                    <a:pt x="2963111" y="13054"/>
                  </a:lnTo>
                  <a:lnTo>
                    <a:pt x="3010296" y="10144"/>
                  </a:lnTo>
                  <a:lnTo>
                    <a:pt x="3057257" y="7433"/>
                  </a:lnTo>
                  <a:lnTo>
                    <a:pt x="3104049" y="4872"/>
                  </a:lnTo>
                  <a:lnTo>
                    <a:pt x="3150728" y="2410"/>
                  </a:lnTo>
                  <a:lnTo>
                    <a:pt x="3197352" y="0"/>
                  </a:lnTo>
                </a:path>
              </a:pathLst>
            </a:custGeom>
            <a:ln w="22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80602" y="2245415"/>
              <a:ext cx="361950" cy="403225"/>
            </a:xfrm>
            <a:custGeom>
              <a:avLst/>
              <a:gdLst/>
              <a:ahLst/>
              <a:cxnLst/>
              <a:rect l="l" t="t" r="r" b="b"/>
              <a:pathLst>
                <a:path w="361950" h="403225">
                  <a:moveTo>
                    <a:pt x="0" y="0"/>
                  </a:moveTo>
                  <a:lnTo>
                    <a:pt x="361950" y="0"/>
                  </a:lnTo>
                  <a:lnTo>
                    <a:pt x="361950" y="403098"/>
                  </a:lnTo>
                  <a:lnTo>
                    <a:pt x="0" y="40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4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0602" y="2245415"/>
              <a:ext cx="361950" cy="403225"/>
            </a:xfrm>
            <a:custGeom>
              <a:avLst/>
              <a:gdLst/>
              <a:ahLst/>
              <a:cxnLst/>
              <a:rect l="l" t="t" r="r" b="b"/>
              <a:pathLst>
                <a:path w="361950" h="403225">
                  <a:moveTo>
                    <a:pt x="0" y="0"/>
                  </a:moveTo>
                  <a:lnTo>
                    <a:pt x="361950" y="0"/>
                  </a:lnTo>
                  <a:lnTo>
                    <a:pt x="361950" y="403098"/>
                  </a:lnTo>
                  <a:lnTo>
                    <a:pt x="0" y="403098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42552" y="1962713"/>
              <a:ext cx="363855" cy="685800"/>
            </a:xfrm>
            <a:custGeom>
              <a:avLst/>
              <a:gdLst/>
              <a:ahLst/>
              <a:cxnLst/>
              <a:rect l="l" t="t" r="r" b="b"/>
              <a:pathLst>
                <a:path w="363855" h="685800">
                  <a:moveTo>
                    <a:pt x="0" y="0"/>
                  </a:moveTo>
                  <a:lnTo>
                    <a:pt x="363473" y="0"/>
                  </a:lnTo>
                  <a:lnTo>
                    <a:pt x="363473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4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42552" y="1962713"/>
              <a:ext cx="363855" cy="685800"/>
            </a:xfrm>
            <a:custGeom>
              <a:avLst/>
              <a:gdLst/>
              <a:ahLst/>
              <a:cxnLst/>
              <a:rect l="l" t="t" r="r" b="b"/>
              <a:pathLst>
                <a:path w="363855" h="685800">
                  <a:moveTo>
                    <a:pt x="0" y="0"/>
                  </a:moveTo>
                  <a:lnTo>
                    <a:pt x="363473" y="0"/>
                  </a:lnTo>
                  <a:lnTo>
                    <a:pt x="363473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06026" y="1792787"/>
              <a:ext cx="361950" cy="855980"/>
            </a:xfrm>
            <a:custGeom>
              <a:avLst/>
              <a:gdLst/>
              <a:ahLst/>
              <a:cxnLst/>
              <a:rect l="l" t="t" r="r" b="b"/>
              <a:pathLst>
                <a:path w="361950" h="855980">
                  <a:moveTo>
                    <a:pt x="0" y="0"/>
                  </a:moveTo>
                  <a:lnTo>
                    <a:pt x="361950" y="0"/>
                  </a:lnTo>
                  <a:lnTo>
                    <a:pt x="361950" y="855726"/>
                  </a:lnTo>
                  <a:lnTo>
                    <a:pt x="0" y="855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4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6026" y="1792787"/>
              <a:ext cx="361950" cy="855980"/>
            </a:xfrm>
            <a:custGeom>
              <a:avLst/>
              <a:gdLst/>
              <a:ahLst/>
              <a:cxnLst/>
              <a:rect l="l" t="t" r="r" b="b"/>
              <a:pathLst>
                <a:path w="361950" h="855980">
                  <a:moveTo>
                    <a:pt x="0" y="0"/>
                  </a:moveTo>
                  <a:lnTo>
                    <a:pt x="361950" y="0"/>
                  </a:lnTo>
                  <a:lnTo>
                    <a:pt x="361950" y="855726"/>
                  </a:lnTo>
                  <a:lnTo>
                    <a:pt x="0" y="855726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67976" y="1641911"/>
              <a:ext cx="363855" cy="1007110"/>
            </a:xfrm>
            <a:custGeom>
              <a:avLst/>
              <a:gdLst/>
              <a:ahLst/>
              <a:cxnLst/>
              <a:rect l="l" t="t" r="r" b="b"/>
              <a:pathLst>
                <a:path w="363855" h="1007110">
                  <a:moveTo>
                    <a:pt x="0" y="0"/>
                  </a:moveTo>
                  <a:lnTo>
                    <a:pt x="363474" y="0"/>
                  </a:lnTo>
                  <a:lnTo>
                    <a:pt x="363474" y="1006601"/>
                  </a:lnTo>
                  <a:lnTo>
                    <a:pt x="0" y="1006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4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67976" y="1641911"/>
              <a:ext cx="363855" cy="1007110"/>
            </a:xfrm>
            <a:custGeom>
              <a:avLst/>
              <a:gdLst/>
              <a:ahLst/>
              <a:cxnLst/>
              <a:rect l="l" t="t" r="r" b="b"/>
              <a:pathLst>
                <a:path w="363855" h="1007110">
                  <a:moveTo>
                    <a:pt x="0" y="0"/>
                  </a:moveTo>
                  <a:lnTo>
                    <a:pt x="363474" y="0"/>
                  </a:lnTo>
                  <a:lnTo>
                    <a:pt x="363474" y="1006601"/>
                  </a:lnTo>
                  <a:lnTo>
                    <a:pt x="0" y="1006601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11026" y="1340922"/>
              <a:ext cx="363855" cy="1308100"/>
            </a:xfrm>
            <a:custGeom>
              <a:avLst/>
              <a:gdLst/>
              <a:ahLst/>
              <a:cxnLst/>
              <a:rect l="l" t="t" r="r" b="b"/>
              <a:pathLst>
                <a:path w="363854" h="1308100">
                  <a:moveTo>
                    <a:pt x="0" y="0"/>
                  </a:moveTo>
                  <a:lnTo>
                    <a:pt x="363474" y="0"/>
                  </a:lnTo>
                  <a:lnTo>
                    <a:pt x="363474" y="1307591"/>
                  </a:lnTo>
                  <a:lnTo>
                    <a:pt x="0" y="13075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4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11026" y="1340922"/>
              <a:ext cx="363855" cy="1308100"/>
            </a:xfrm>
            <a:custGeom>
              <a:avLst/>
              <a:gdLst/>
              <a:ahLst/>
              <a:cxnLst/>
              <a:rect l="l" t="t" r="r" b="b"/>
              <a:pathLst>
                <a:path w="363854" h="1308100">
                  <a:moveTo>
                    <a:pt x="0" y="0"/>
                  </a:moveTo>
                  <a:lnTo>
                    <a:pt x="363474" y="0"/>
                  </a:lnTo>
                  <a:lnTo>
                    <a:pt x="363474" y="1307591"/>
                  </a:lnTo>
                  <a:lnTo>
                    <a:pt x="0" y="1307591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27974" y="2639369"/>
              <a:ext cx="3688079" cy="1905"/>
            </a:xfrm>
            <a:custGeom>
              <a:avLst/>
              <a:gdLst/>
              <a:ahLst/>
              <a:cxnLst/>
              <a:rect l="l" t="t" r="r" b="b"/>
              <a:pathLst>
                <a:path w="3688079" h="1905">
                  <a:moveTo>
                    <a:pt x="0" y="0"/>
                  </a:moveTo>
                  <a:lnTo>
                    <a:pt x="3687762" y="1549"/>
                  </a:lnTo>
                </a:path>
              </a:pathLst>
            </a:custGeom>
            <a:ln w="22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64909" y="2577395"/>
              <a:ext cx="127635" cy="127000"/>
            </a:xfrm>
            <a:custGeom>
              <a:avLst/>
              <a:gdLst/>
              <a:ahLst/>
              <a:cxnLst/>
              <a:rect l="l" t="t" r="r" b="b"/>
              <a:pathLst>
                <a:path w="127635" h="127000">
                  <a:moveTo>
                    <a:pt x="50" y="0"/>
                  </a:moveTo>
                  <a:lnTo>
                    <a:pt x="50825" y="63525"/>
                  </a:lnTo>
                  <a:lnTo>
                    <a:pt x="0" y="127000"/>
                  </a:lnTo>
                  <a:lnTo>
                    <a:pt x="127025" y="63563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26449" y="1238306"/>
              <a:ext cx="1905" cy="1424305"/>
            </a:xfrm>
            <a:custGeom>
              <a:avLst/>
              <a:gdLst/>
              <a:ahLst/>
              <a:cxnLst/>
              <a:rect l="l" t="t" r="r" b="b"/>
              <a:pathLst>
                <a:path w="1904" h="1424305">
                  <a:moveTo>
                    <a:pt x="0" y="1423987"/>
                  </a:moveTo>
                  <a:lnTo>
                    <a:pt x="1511" y="0"/>
                  </a:lnTo>
                </a:path>
              </a:pathLst>
            </a:custGeom>
            <a:ln w="22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64402" y="1138991"/>
              <a:ext cx="127000" cy="127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996627" y="2688844"/>
              <a:ext cx="161290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393065" algn="l"/>
                  <a:tab pos="774065" algn="l"/>
                  <a:tab pos="1091565" algn="l"/>
                  <a:tab pos="1472565" algn="l"/>
                </a:tabLst>
              </a:pPr>
              <a:r>
                <a:rPr sz="2000" b="1" spc="-5" dirty="0">
                  <a:latin typeface="Times New Roman"/>
                  <a:cs typeface="Times New Roman"/>
                </a:rPr>
                <a:t>1	2	3	4	5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5423597" y="2637790"/>
              <a:ext cx="73025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547370" algn="l"/>
                </a:tabLst>
              </a:pPr>
              <a:r>
                <a:rPr sz="2400" b="1" i="1" spc="-10" dirty="0">
                  <a:latin typeface="Times New Roman"/>
                  <a:cs typeface="Times New Roman"/>
                </a:rPr>
                <a:t>n</a:t>
              </a:r>
              <a:r>
                <a:rPr sz="2000" b="1" spc="-5" dirty="0">
                  <a:latin typeface="Arial"/>
                  <a:cs typeface="Arial"/>
                </a:rPr>
                <a:t>-</a:t>
              </a:r>
              <a:r>
                <a:rPr sz="2000" spc="-5" dirty="0">
                  <a:latin typeface="Arial"/>
                  <a:cs typeface="Arial"/>
                </a:rPr>
                <a:t>1</a:t>
              </a:r>
              <a:r>
                <a:rPr sz="2000" dirty="0">
                  <a:latin typeface="Arial"/>
                  <a:cs typeface="Arial"/>
                </a:rPr>
                <a:t>	</a:t>
              </a:r>
              <a:r>
                <a:rPr sz="2400" b="1" i="1" spc="-5" dirty="0">
                  <a:latin typeface="Times New Roman"/>
                  <a:cs typeface="Times New Roman"/>
                </a:rPr>
                <a:t>n</a:t>
              </a:r>
              <a:endParaRPr sz="240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06891" y="1355998"/>
              <a:ext cx="2960370" cy="1306830"/>
            </a:xfrm>
            <a:custGeom>
              <a:avLst/>
              <a:gdLst/>
              <a:ahLst/>
              <a:cxnLst/>
              <a:rect l="l" t="t" r="r" b="b"/>
              <a:pathLst>
                <a:path w="2960370" h="1306830">
                  <a:moveTo>
                    <a:pt x="0" y="1306612"/>
                  </a:moveTo>
                  <a:lnTo>
                    <a:pt x="25430" y="1262594"/>
                  </a:lnTo>
                  <a:lnTo>
                    <a:pt x="51806" y="1218397"/>
                  </a:lnTo>
                  <a:lnTo>
                    <a:pt x="80073" y="1173841"/>
                  </a:lnTo>
                  <a:lnTo>
                    <a:pt x="111176" y="1128749"/>
                  </a:lnTo>
                  <a:lnTo>
                    <a:pt x="146061" y="1082941"/>
                  </a:lnTo>
                  <a:lnTo>
                    <a:pt x="185674" y="1036241"/>
                  </a:lnTo>
                  <a:lnTo>
                    <a:pt x="214097" y="1004612"/>
                  </a:lnTo>
                  <a:lnTo>
                    <a:pt x="243284" y="972664"/>
                  </a:lnTo>
                  <a:lnTo>
                    <a:pt x="273694" y="940399"/>
                  </a:lnTo>
                  <a:lnTo>
                    <a:pt x="305786" y="907815"/>
                  </a:lnTo>
                  <a:lnTo>
                    <a:pt x="340016" y="874914"/>
                  </a:lnTo>
                  <a:lnTo>
                    <a:pt x="376845" y="841694"/>
                  </a:lnTo>
                  <a:lnTo>
                    <a:pt x="416730" y="808157"/>
                  </a:lnTo>
                  <a:lnTo>
                    <a:pt x="460131" y="774301"/>
                  </a:lnTo>
                  <a:lnTo>
                    <a:pt x="507504" y="740128"/>
                  </a:lnTo>
                  <a:lnTo>
                    <a:pt x="543025" y="715897"/>
                  </a:lnTo>
                  <a:lnTo>
                    <a:pt x="580854" y="690869"/>
                  </a:lnTo>
                  <a:lnTo>
                    <a:pt x="620740" y="665237"/>
                  </a:lnTo>
                  <a:lnTo>
                    <a:pt x="662428" y="639195"/>
                  </a:lnTo>
                  <a:lnTo>
                    <a:pt x="705665" y="612937"/>
                  </a:lnTo>
                  <a:lnTo>
                    <a:pt x="750198" y="586655"/>
                  </a:lnTo>
                  <a:lnTo>
                    <a:pt x="795772" y="560543"/>
                  </a:lnTo>
                  <a:lnTo>
                    <a:pt x="842136" y="534795"/>
                  </a:lnTo>
                  <a:lnTo>
                    <a:pt x="889034" y="509604"/>
                  </a:lnTo>
                  <a:lnTo>
                    <a:pt x="936214" y="485162"/>
                  </a:lnTo>
                  <a:lnTo>
                    <a:pt x="983422" y="461664"/>
                  </a:lnTo>
                  <a:lnTo>
                    <a:pt x="1030405" y="439303"/>
                  </a:lnTo>
                  <a:lnTo>
                    <a:pt x="1076909" y="418272"/>
                  </a:lnTo>
                  <a:lnTo>
                    <a:pt x="1123272" y="398451"/>
                  </a:lnTo>
                  <a:lnTo>
                    <a:pt x="1170002" y="379551"/>
                  </a:lnTo>
                  <a:lnTo>
                    <a:pt x="1217099" y="361500"/>
                  </a:lnTo>
                  <a:lnTo>
                    <a:pt x="1264561" y="344229"/>
                  </a:lnTo>
                  <a:lnTo>
                    <a:pt x="1312391" y="327668"/>
                  </a:lnTo>
                  <a:lnTo>
                    <a:pt x="1360587" y="311746"/>
                  </a:lnTo>
                  <a:lnTo>
                    <a:pt x="1409149" y="296392"/>
                  </a:lnTo>
                  <a:lnTo>
                    <a:pt x="1458077" y="281537"/>
                  </a:lnTo>
                  <a:lnTo>
                    <a:pt x="1507372" y="267110"/>
                  </a:lnTo>
                  <a:lnTo>
                    <a:pt x="1557033" y="253041"/>
                  </a:lnTo>
                  <a:lnTo>
                    <a:pt x="1607060" y="239259"/>
                  </a:lnTo>
                  <a:lnTo>
                    <a:pt x="1657453" y="225695"/>
                  </a:lnTo>
                  <a:lnTo>
                    <a:pt x="1708213" y="212278"/>
                  </a:lnTo>
                  <a:lnTo>
                    <a:pt x="1756288" y="199966"/>
                  </a:lnTo>
                  <a:lnTo>
                    <a:pt x="1805721" y="187879"/>
                  </a:lnTo>
                  <a:lnTo>
                    <a:pt x="1856227" y="176046"/>
                  </a:lnTo>
                  <a:lnTo>
                    <a:pt x="1907524" y="164494"/>
                  </a:lnTo>
                  <a:lnTo>
                    <a:pt x="1959325" y="153252"/>
                  </a:lnTo>
                  <a:lnTo>
                    <a:pt x="2011348" y="142348"/>
                  </a:lnTo>
                  <a:lnTo>
                    <a:pt x="2063308" y="131809"/>
                  </a:lnTo>
                  <a:lnTo>
                    <a:pt x="2114921" y="121665"/>
                  </a:lnTo>
                  <a:lnTo>
                    <a:pt x="2165902" y="111942"/>
                  </a:lnTo>
                  <a:lnTo>
                    <a:pt x="2215968" y="102670"/>
                  </a:lnTo>
                  <a:lnTo>
                    <a:pt x="2264834" y="93877"/>
                  </a:lnTo>
                  <a:lnTo>
                    <a:pt x="2312216" y="85590"/>
                  </a:lnTo>
                  <a:lnTo>
                    <a:pt x="2357830" y="77837"/>
                  </a:lnTo>
                  <a:lnTo>
                    <a:pt x="2401392" y="70648"/>
                  </a:lnTo>
                  <a:lnTo>
                    <a:pt x="2461266" y="61675"/>
                  </a:lnTo>
                  <a:lnTo>
                    <a:pt x="2521413" y="53964"/>
                  </a:lnTo>
                  <a:lnTo>
                    <a:pt x="2580867" y="47360"/>
                  </a:lnTo>
                  <a:lnTo>
                    <a:pt x="2638661" y="41708"/>
                  </a:lnTo>
                  <a:lnTo>
                    <a:pt x="2693831" y="36854"/>
                  </a:lnTo>
                  <a:lnTo>
                    <a:pt x="2745412" y="32644"/>
                  </a:lnTo>
                  <a:lnTo>
                    <a:pt x="2792437" y="28923"/>
                  </a:lnTo>
                  <a:lnTo>
                    <a:pt x="2833942" y="25536"/>
                  </a:lnTo>
                  <a:lnTo>
                    <a:pt x="2896527" y="19149"/>
                  </a:lnTo>
                  <a:lnTo>
                    <a:pt x="2936732" y="12047"/>
                  </a:lnTo>
                  <a:lnTo>
                    <a:pt x="2960102" y="308"/>
                  </a:lnTo>
                  <a:lnTo>
                    <a:pt x="2932574" y="0"/>
                  </a:lnTo>
                  <a:lnTo>
                    <a:pt x="2871774" y="6284"/>
                  </a:lnTo>
                  <a:lnTo>
                    <a:pt x="2809495" y="14788"/>
                  </a:lnTo>
                  <a:lnTo>
                    <a:pt x="2771754" y="20184"/>
                  </a:lnTo>
                  <a:lnTo>
                    <a:pt x="2730051" y="26268"/>
                  </a:lnTo>
                  <a:lnTo>
                    <a:pt x="2684718" y="32981"/>
                  </a:lnTo>
                  <a:lnTo>
                    <a:pt x="2636084" y="40266"/>
                  </a:lnTo>
                  <a:lnTo>
                    <a:pt x="2584480" y="48067"/>
                  </a:lnTo>
                  <a:lnTo>
                    <a:pt x="2530235" y="56325"/>
                  </a:lnTo>
                  <a:lnTo>
                    <a:pt x="2473679" y="64984"/>
                  </a:lnTo>
                  <a:lnTo>
                    <a:pt x="2415143" y="73986"/>
                  </a:lnTo>
                  <a:lnTo>
                    <a:pt x="2354957" y="83275"/>
                  </a:lnTo>
                  <a:lnTo>
                    <a:pt x="2293451" y="92792"/>
                  </a:lnTo>
                  <a:lnTo>
                    <a:pt x="2230955" y="102482"/>
                  </a:lnTo>
                  <a:lnTo>
                    <a:pt x="2167799" y="112285"/>
                  </a:lnTo>
                  <a:lnTo>
                    <a:pt x="2104313" y="122146"/>
                  </a:lnTo>
                </a:path>
              </a:pathLst>
            </a:custGeom>
            <a:ln w="32004">
              <a:solidFill>
                <a:srgbClr val="558E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10695" y="1332158"/>
              <a:ext cx="0" cy="1330325"/>
            </a:xfrm>
            <a:custGeom>
              <a:avLst/>
              <a:gdLst/>
              <a:ahLst/>
              <a:cxnLst/>
              <a:rect l="l" t="t" r="r" b="b"/>
              <a:pathLst>
                <a:path h="1330325">
                  <a:moveTo>
                    <a:pt x="0" y="0"/>
                  </a:moveTo>
                  <a:lnTo>
                    <a:pt x="0" y="1330325"/>
                  </a:lnTo>
                </a:path>
              </a:pathLst>
            </a:custGeom>
            <a:ln w="32004">
              <a:solidFill>
                <a:srgbClr val="558E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06891" y="2661087"/>
              <a:ext cx="3024505" cy="1905"/>
            </a:xfrm>
            <a:custGeom>
              <a:avLst/>
              <a:gdLst/>
              <a:ahLst/>
              <a:cxnLst/>
              <a:rect l="l" t="t" r="r" b="b"/>
              <a:pathLst>
                <a:path w="3024504" h="1905">
                  <a:moveTo>
                    <a:pt x="0" y="0"/>
                  </a:moveTo>
                  <a:lnTo>
                    <a:pt x="3024187" y="1587"/>
                  </a:lnTo>
                </a:path>
              </a:pathLst>
            </a:custGeom>
            <a:ln w="32004">
              <a:solidFill>
                <a:srgbClr val="558E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3617049" y="3943730"/>
            <a:ext cx="2819400" cy="1905"/>
          </a:xfrm>
          <a:custGeom>
            <a:avLst/>
            <a:gdLst/>
            <a:ahLst/>
            <a:cxnLst/>
            <a:rect l="l" t="t" r="r" b="b"/>
            <a:pathLst>
              <a:path w="2819400" h="1904">
                <a:moveTo>
                  <a:pt x="0" y="0"/>
                </a:moveTo>
                <a:lnTo>
                  <a:pt x="2819400" y="1587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BD9CD1F-F766-43B4-8486-4C880309878E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62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log(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!)</a:t>
            </a:r>
            <a:r>
              <a:rPr sz="4400" spc="-1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C3300"/>
                </a:solidFill>
                <a:latin typeface="Times New Roman"/>
                <a:cs typeface="Times New Roman"/>
              </a:rPr>
              <a:t>=</a:t>
            </a:r>
            <a:r>
              <a:rPr sz="4400" spc="-2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O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(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log</a:t>
            </a:r>
            <a:r>
              <a:rPr sz="4400" i="1" spc="-5" dirty="0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sz="4400" spc="-5" dirty="0">
                <a:solidFill>
                  <a:srgbClr val="CC3300"/>
                </a:solidFill>
                <a:latin typeface="Times New Roman"/>
                <a:cs typeface="Times New Roman"/>
              </a:rPr>
              <a:t>)</a:t>
            </a:r>
            <a:r>
              <a:rPr sz="4400" spc="-10" dirty="0">
                <a:solidFill>
                  <a:srgbClr val="CC3300"/>
                </a:solidFill>
              </a:rPr>
              <a:t>的证</a:t>
            </a:r>
            <a:r>
              <a:rPr sz="4400" spc="-15" dirty="0">
                <a:solidFill>
                  <a:srgbClr val="CC3300"/>
                </a:solidFill>
              </a:rPr>
              <a:t>明</a:t>
            </a:r>
          </a:p>
        </p:txBody>
      </p:sp>
      <p:sp>
        <p:nvSpPr>
          <p:cNvPr id="3" name="object 3"/>
          <p:cNvSpPr/>
          <p:nvPr/>
        </p:nvSpPr>
        <p:spPr>
          <a:xfrm>
            <a:off x="5881158" y="1670685"/>
            <a:ext cx="387350" cy="1207770"/>
          </a:xfrm>
          <a:custGeom>
            <a:avLst/>
            <a:gdLst/>
            <a:ahLst/>
            <a:cxnLst/>
            <a:rect l="l" t="t" r="r" b="b"/>
            <a:pathLst>
              <a:path w="387350" h="1207770">
                <a:moveTo>
                  <a:pt x="0" y="0"/>
                </a:moveTo>
                <a:lnTo>
                  <a:pt x="387096" y="0"/>
                </a:lnTo>
                <a:lnTo>
                  <a:pt x="387096" y="1207770"/>
                </a:lnTo>
                <a:lnTo>
                  <a:pt x="0" y="1207770"/>
                </a:lnTo>
                <a:lnTo>
                  <a:pt x="0" y="0"/>
                </a:lnTo>
                <a:close/>
              </a:path>
            </a:pathLst>
          </a:custGeom>
          <a:solidFill>
            <a:srgbClr val="C0C0C0">
              <a:alpha val="4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81158" y="1670685"/>
            <a:ext cx="387350" cy="1207770"/>
          </a:xfrm>
          <a:custGeom>
            <a:avLst/>
            <a:gdLst/>
            <a:ahLst/>
            <a:cxnLst/>
            <a:rect l="l" t="t" r="r" b="b"/>
            <a:pathLst>
              <a:path w="387350" h="1207770">
                <a:moveTo>
                  <a:pt x="0" y="0"/>
                </a:moveTo>
                <a:lnTo>
                  <a:pt x="387096" y="0"/>
                </a:lnTo>
                <a:lnTo>
                  <a:pt x="387096" y="1207770"/>
                </a:lnTo>
                <a:lnTo>
                  <a:pt x="0" y="120777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61807" y="2484501"/>
            <a:ext cx="387350" cy="394335"/>
          </a:xfrm>
          <a:custGeom>
            <a:avLst/>
            <a:gdLst/>
            <a:ahLst/>
            <a:cxnLst/>
            <a:rect l="l" t="t" r="r" b="b"/>
            <a:pathLst>
              <a:path w="387350" h="394335">
                <a:moveTo>
                  <a:pt x="0" y="0"/>
                </a:moveTo>
                <a:lnTo>
                  <a:pt x="387095" y="0"/>
                </a:lnTo>
                <a:lnTo>
                  <a:pt x="387095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solidFill>
            <a:srgbClr val="C0C0C0">
              <a:alpha val="4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61807" y="2484501"/>
            <a:ext cx="387350" cy="394335"/>
          </a:xfrm>
          <a:custGeom>
            <a:avLst/>
            <a:gdLst/>
            <a:ahLst/>
            <a:cxnLst/>
            <a:rect l="l" t="t" r="r" b="b"/>
            <a:pathLst>
              <a:path w="387350" h="394335">
                <a:moveTo>
                  <a:pt x="0" y="0"/>
                </a:moveTo>
                <a:lnTo>
                  <a:pt x="387095" y="0"/>
                </a:lnTo>
                <a:lnTo>
                  <a:pt x="387095" y="393954"/>
                </a:lnTo>
                <a:lnTo>
                  <a:pt x="0" y="393954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48903" y="2202560"/>
            <a:ext cx="387350" cy="676275"/>
          </a:xfrm>
          <a:custGeom>
            <a:avLst/>
            <a:gdLst/>
            <a:ahLst/>
            <a:cxnLst/>
            <a:rect l="l" t="t" r="r" b="b"/>
            <a:pathLst>
              <a:path w="387350" h="676275">
                <a:moveTo>
                  <a:pt x="0" y="0"/>
                </a:moveTo>
                <a:lnTo>
                  <a:pt x="387095" y="0"/>
                </a:lnTo>
                <a:lnTo>
                  <a:pt x="387095" y="675894"/>
                </a:lnTo>
                <a:lnTo>
                  <a:pt x="0" y="675894"/>
                </a:lnTo>
                <a:lnTo>
                  <a:pt x="0" y="0"/>
                </a:lnTo>
                <a:close/>
              </a:path>
            </a:pathLst>
          </a:custGeom>
          <a:solidFill>
            <a:srgbClr val="C0C0C0">
              <a:alpha val="4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48903" y="2202560"/>
            <a:ext cx="387350" cy="676275"/>
          </a:xfrm>
          <a:custGeom>
            <a:avLst/>
            <a:gdLst/>
            <a:ahLst/>
            <a:cxnLst/>
            <a:rect l="l" t="t" r="r" b="b"/>
            <a:pathLst>
              <a:path w="387350" h="676275">
                <a:moveTo>
                  <a:pt x="0" y="0"/>
                </a:moveTo>
                <a:lnTo>
                  <a:pt x="387095" y="0"/>
                </a:lnTo>
                <a:lnTo>
                  <a:pt x="387095" y="675894"/>
                </a:lnTo>
                <a:lnTo>
                  <a:pt x="0" y="675894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36000" y="2057780"/>
            <a:ext cx="387985" cy="821055"/>
          </a:xfrm>
          <a:custGeom>
            <a:avLst/>
            <a:gdLst/>
            <a:ahLst/>
            <a:cxnLst/>
            <a:rect l="l" t="t" r="r" b="b"/>
            <a:pathLst>
              <a:path w="387985" h="821055">
                <a:moveTo>
                  <a:pt x="0" y="0"/>
                </a:moveTo>
                <a:lnTo>
                  <a:pt x="387857" y="0"/>
                </a:lnTo>
                <a:lnTo>
                  <a:pt x="387857" y="820674"/>
                </a:lnTo>
                <a:lnTo>
                  <a:pt x="0" y="820674"/>
                </a:lnTo>
                <a:lnTo>
                  <a:pt x="0" y="0"/>
                </a:lnTo>
                <a:close/>
              </a:path>
            </a:pathLst>
          </a:custGeom>
          <a:solidFill>
            <a:srgbClr val="C0C0C0">
              <a:alpha val="4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36000" y="2057780"/>
            <a:ext cx="387985" cy="821055"/>
          </a:xfrm>
          <a:custGeom>
            <a:avLst/>
            <a:gdLst/>
            <a:ahLst/>
            <a:cxnLst/>
            <a:rect l="l" t="t" r="r" b="b"/>
            <a:pathLst>
              <a:path w="387985" h="821055">
                <a:moveTo>
                  <a:pt x="0" y="0"/>
                </a:moveTo>
                <a:lnTo>
                  <a:pt x="387857" y="0"/>
                </a:lnTo>
                <a:lnTo>
                  <a:pt x="387857" y="820674"/>
                </a:lnTo>
                <a:lnTo>
                  <a:pt x="0" y="820674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9857" y="1641729"/>
            <a:ext cx="3411854" cy="1236980"/>
          </a:xfrm>
          <a:custGeom>
            <a:avLst/>
            <a:gdLst/>
            <a:ahLst/>
            <a:cxnLst/>
            <a:rect l="l" t="t" r="r" b="b"/>
            <a:pathLst>
              <a:path w="3411854" h="1236980">
                <a:moveTo>
                  <a:pt x="0" y="1236726"/>
                </a:moveTo>
                <a:lnTo>
                  <a:pt x="30703" y="1194163"/>
                </a:lnTo>
                <a:lnTo>
                  <a:pt x="61292" y="1152031"/>
                </a:lnTo>
                <a:lnTo>
                  <a:pt x="91650" y="1110761"/>
                </a:lnTo>
                <a:lnTo>
                  <a:pt x="121662" y="1070784"/>
                </a:lnTo>
                <a:lnTo>
                  <a:pt x="151214" y="1032533"/>
                </a:lnTo>
                <a:lnTo>
                  <a:pt x="180190" y="996438"/>
                </a:lnTo>
                <a:lnTo>
                  <a:pt x="208475" y="962932"/>
                </a:lnTo>
                <a:lnTo>
                  <a:pt x="235953" y="932446"/>
                </a:lnTo>
                <a:lnTo>
                  <a:pt x="276222" y="892087"/>
                </a:lnTo>
                <a:lnTo>
                  <a:pt x="312715" y="860443"/>
                </a:lnTo>
                <a:lnTo>
                  <a:pt x="348735" y="833277"/>
                </a:lnTo>
                <a:lnTo>
                  <a:pt x="387587" y="806346"/>
                </a:lnTo>
                <a:lnTo>
                  <a:pt x="432574" y="775411"/>
                </a:lnTo>
                <a:lnTo>
                  <a:pt x="466024" y="751084"/>
                </a:lnTo>
                <a:lnTo>
                  <a:pt x="497926" y="726844"/>
                </a:lnTo>
                <a:lnTo>
                  <a:pt x="530947" y="702175"/>
                </a:lnTo>
                <a:lnTo>
                  <a:pt x="567751" y="676563"/>
                </a:lnTo>
                <a:lnTo>
                  <a:pt x="611004" y="649491"/>
                </a:lnTo>
                <a:lnTo>
                  <a:pt x="663372" y="620446"/>
                </a:lnTo>
                <a:lnTo>
                  <a:pt x="727519" y="588911"/>
                </a:lnTo>
                <a:lnTo>
                  <a:pt x="797375" y="556389"/>
                </a:lnTo>
                <a:lnTo>
                  <a:pt x="835034" y="538971"/>
                </a:lnTo>
                <a:lnTo>
                  <a:pt x="874503" y="520934"/>
                </a:lnTo>
                <a:lnTo>
                  <a:pt x="915771" y="502391"/>
                </a:lnTo>
                <a:lnTo>
                  <a:pt x="958831" y="483456"/>
                </a:lnTo>
                <a:lnTo>
                  <a:pt x="1003674" y="464241"/>
                </a:lnTo>
                <a:lnTo>
                  <a:pt x="1050291" y="444860"/>
                </a:lnTo>
                <a:lnTo>
                  <a:pt x="1098673" y="425427"/>
                </a:lnTo>
                <a:lnTo>
                  <a:pt x="1148812" y="406056"/>
                </a:lnTo>
                <a:lnTo>
                  <a:pt x="1200699" y="386858"/>
                </a:lnTo>
                <a:lnTo>
                  <a:pt x="1254324" y="367949"/>
                </a:lnTo>
                <a:lnTo>
                  <a:pt x="1309681" y="349441"/>
                </a:lnTo>
                <a:lnTo>
                  <a:pt x="1366758" y="331448"/>
                </a:lnTo>
                <a:lnTo>
                  <a:pt x="1425549" y="314083"/>
                </a:lnTo>
                <a:lnTo>
                  <a:pt x="1467202" y="302408"/>
                </a:lnTo>
                <a:lnTo>
                  <a:pt x="1510720" y="290604"/>
                </a:lnTo>
                <a:lnTo>
                  <a:pt x="1555937" y="278704"/>
                </a:lnTo>
                <a:lnTo>
                  <a:pt x="1602687" y="266741"/>
                </a:lnTo>
                <a:lnTo>
                  <a:pt x="1650803" y="254749"/>
                </a:lnTo>
                <a:lnTo>
                  <a:pt x="1700120" y="242760"/>
                </a:lnTo>
                <a:lnTo>
                  <a:pt x="1750471" y="230809"/>
                </a:lnTo>
                <a:lnTo>
                  <a:pt x="1801690" y="218927"/>
                </a:lnTo>
                <a:lnTo>
                  <a:pt x="1853611" y="207149"/>
                </a:lnTo>
                <a:lnTo>
                  <a:pt x="1906068" y="195507"/>
                </a:lnTo>
                <a:lnTo>
                  <a:pt x="1958894" y="184035"/>
                </a:lnTo>
                <a:lnTo>
                  <a:pt x="2011923" y="172766"/>
                </a:lnTo>
                <a:lnTo>
                  <a:pt x="2064988" y="161732"/>
                </a:lnTo>
                <a:lnTo>
                  <a:pt x="2117925" y="150968"/>
                </a:lnTo>
                <a:lnTo>
                  <a:pt x="2170566" y="140506"/>
                </a:lnTo>
                <a:lnTo>
                  <a:pt x="2222746" y="130380"/>
                </a:lnTo>
                <a:lnTo>
                  <a:pt x="2274298" y="120622"/>
                </a:lnTo>
                <a:lnTo>
                  <a:pt x="2325056" y="111266"/>
                </a:lnTo>
                <a:lnTo>
                  <a:pt x="2374853" y="102345"/>
                </a:lnTo>
                <a:lnTo>
                  <a:pt x="2423524" y="93892"/>
                </a:lnTo>
                <a:lnTo>
                  <a:pt x="2470903" y="85940"/>
                </a:lnTo>
                <a:lnTo>
                  <a:pt x="2516822" y="78524"/>
                </a:lnTo>
                <a:lnTo>
                  <a:pt x="2571540" y="70155"/>
                </a:lnTo>
                <a:lnTo>
                  <a:pt x="2625398" y="62474"/>
                </a:lnTo>
                <a:lnTo>
                  <a:pt x="2678447" y="55439"/>
                </a:lnTo>
                <a:lnTo>
                  <a:pt x="2730738" y="49009"/>
                </a:lnTo>
                <a:lnTo>
                  <a:pt x="2782321" y="43145"/>
                </a:lnTo>
                <a:lnTo>
                  <a:pt x="2833246" y="37806"/>
                </a:lnTo>
                <a:lnTo>
                  <a:pt x="2883565" y="32952"/>
                </a:lnTo>
                <a:lnTo>
                  <a:pt x="2933327" y="28542"/>
                </a:lnTo>
                <a:lnTo>
                  <a:pt x="2982583" y="24536"/>
                </a:lnTo>
                <a:lnTo>
                  <a:pt x="3031385" y="20894"/>
                </a:lnTo>
                <a:lnTo>
                  <a:pt x="3079781" y="17574"/>
                </a:lnTo>
                <a:lnTo>
                  <a:pt x="3127824" y="14538"/>
                </a:lnTo>
                <a:lnTo>
                  <a:pt x="3175563" y="11744"/>
                </a:lnTo>
                <a:lnTo>
                  <a:pt x="3223049" y="9153"/>
                </a:lnTo>
                <a:lnTo>
                  <a:pt x="3270332" y="6723"/>
                </a:lnTo>
                <a:lnTo>
                  <a:pt x="3317464" y="4414"/>
                </a:lnTo>
                <a:lnTo>
                  <a:pt x="3364494" y="2187"/>
                </a:lnTo>
                <a:lnTo>
                  <a:pt x="3411474" y="0"/>
                </a:lnTo>
              </a:path>
            </a:pathLst>
          </a:custGeom>
          <a:ln w="22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3127" y="2876930"/>
            <a:ext cx="3938904" cy="1905"/>
          </a:xfrm>
          <a:custGeom>
            <a:avLst/>
            <a:gdLst/>
            <a:ahLst/>
            <a:cxnLst/>
            <a:rect l="l" t="t" r="r" b="b"/>
            <a:pathLst>
              <a:path w="3938904" h="1905">
                <a:moveTo>
                  <a:pt x="0" y="0"/>
                </a:moveTo>
                <a:lnTo>
                  <a:pt x="3938587" y="1562"/>
                </a:lnTo>
              </a:path>
            </a:pathLst>
          </a:custGeom>
          <a:ln w="22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0890" y="2814960"/>
            <a:ext cx="127635" cy="127000"/>
          </a:xfrm>
          <a:custGeom>
            <a:avLst/>
            <a:gdLst/>
            <a:ahLst/>
            <a:cxnLst/>
            <a:rect l="l" t="t" r="r" b="b"/>
            <a:pathLst>
              <a:path w="127635" h="127000">
                <a:moveTo>
                  <a:pt x="50" y="0"/>
                </a:moveTo>
                <a:lnTo>
                  <a:pt x="50825" y="63525"/>
                </a:lnTo>
                <a:lnTo>
                  <a:pt x="0" y="127000"/>
                </a:lnTo>
                <a:lnTo>
                  <a:pt x="127025" y="63563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1604" y="1505330"/>
            <a:ext cx="1905" cy="1373505"/>
          </a:xfrm>
          <a:custGeom>
            <a:avLst/>
            <a:gdLst/>
            <a:ahLst/>
            <a:cxnLst/>
            <a:rect l="l" t="t" r="r" b="b"/>
            <a:pathLst>
              <a:path w="1905" h="1373505">
                <a:moveTo>
                  <a:pt x="0" y="1373187"/>
                </a:moveTo>
                <a:lnTo>
                  <a:pt x="1498" y="0"/>
                </a:lnTo>
              </a:path>
            </a:pathLst>
          </a:custGeom>
          <a:ln w="22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29540" y="1429129"/>
            <a:ext cx="127000" cy="127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72994" y="2951960"/>
            <a:ext cx="167576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0200" algn="l"/>
                <a:tab pos="710565" algn="l"/>
                <a:tab pos="1091565" algn="l"/>
                <a:tab pos="153543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1	2	3	4	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2552" y="2900906"/>
            <a:ext cx="96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86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n	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000" b="1" spc="-5" dirty="0">
                <a:latin typeface="宋体"/>
                <a:cs typeface="宋体"/>
              </a:rPr>
              <a:t>＋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50301" y="4320621"/>
            <a:ext cx="1181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5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14507" y="3618083"/>
            <a:ext cx="1289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spc="-25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13610" y="3660531"/>
            <a:ext cx="5558790" cy="624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72161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log(</a:t>
            </a:r>
            <a:r>
              <a:rPr sz="2600" b="1" i="1" spc="-10" dirty="0">
                <a:latin typeface="Times New Roman"/>
                <a:cs typeface="Times New Roman"/>
              </a:rPr>
              <a:t>n</a:t>
            </a:r>
            <a:r>
              <a:rPr sz="2600" b="1" spc="-10" dirty="0">
                <a:latin typeface="Times New Roman"/>
                <a:cs typeface="Times New Roman"/>
              </a:rPr>
              <a:t>!) </a:t>
            </a:r>
            <a:r>
              <a:rPr sz="2600" b="1" spc="-60" dirty="0">
                <a:latin typeface="Symbol"/>
                <a:cs typeface="Symbol"/>
              </a:rPr>
              <a:t>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5850" b="1" spc="37" baseline="-8547" dirty="0">
                <a:latin typeface="Symbol"/>
                <a:cs typeface="Symbol"/>
              </a:rPr>
              <a:t></a:t>
            </a:r>
            <a:r>
              <a:rPr sz="2600" b="1" spc="25" dirty="0">
                <a:latin typeface="Times New Roman"/>
                <a:cs typeface="Times New Roman"/>
              </a:rPr>
              <a:t>log</a:t>
            </a:r>
            <a:r>
              <a:rPr sz="2600" b="1" spc="-305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Times New Roman"/>
                <a:cs typeface="Times New Roman"/>
              </a:rPr>
              <a:t>k</a:t>
            </a:r>
            <a:r>
              <a:rPr sz="2600" b="1" i="1" spc="55" dirty="0">
                <a:latin typeface="Times New Roman"/>
                <a:cs typeface="Times New Roman"/>
              </a:rPr>
              <a:t> </a:t>
            </a:r>
            <a:r>
              <a:rPr sz="2600" b="1" spc="-60" dirty="0">
                <a:latin typeface="Symbol"/>
                <a:cs typeface="Symbol"/>
              </a:rPr>
              <a:t></a:t>
            </a:r>
            <a:r>
              <a:rPr sz="2600" spc="-60" dirty="0">
                <a:latin typeface="Times New Roman"/>
                <a:cs typeface="Times New Roman"/>
              </a:rPr>
              <a:t>	</a:t>
            </a:r>
            <a:r>
              <a:rPr sz="5850" b="1" spc="-67" baseline="-12820" dirty="0">
                <a:latin typeface="Symbol"/>
                <a:cs typeface="Symbol"/>
              </a:rPr>
              <a:t></a:t>
            </a:r>
            <a:r>
              <a:rPr sz="5850" b="1" spc="-757" baseline="-12820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log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Times New Roman"/>
                <a:cs typeface="Times New Roman"/>
              </a:rPr>
              <a:t>xdx</a:t>
            </a:r>
            <a:r>
              <a:rPr sz="2600" b="1" i="1" dirty="0">
                <a:latin typeface="Times New Roman"/>
                <a:cs typeface="Times New Roman"/>
              </a:rPr>
              <a:t> </a:t>
            </a:r>
            <a:r>
              <a:rPr sz="2600" b="1" spc="-60" dirty="0">
                <a:latin typeface="Symbol"/>
                <a:cs typeface="Symbol"/>
              </a:rPr>
              <a:t>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O</a:t>
            </a:r>
            <a:r>
              <a:rPr sz="2600" b="1" dirty="0">
                <a:latin typeface="Times New Roman"/>
                <a:cs typeface="Times New Roman"/>
              </a:rPr>
              <a:t>(</a:t>
            </a:r>
            <a:r>
              <a:rPr sz="2600" b="1" i="1" dirty="0">
                <a:latin typeface="Times New Roman"/>
                <a:cs typeface="Times New Roman"/>
              </a:rPr>
              <a:t>n</a:t>
            </a:r>
            <a:r>
              <a:rPr sz="2600" b="1" i="1" spc="-370" dirty="0">
                <a:latin typeface="Times New Roman"/>
                <a:cs typeface="Times New Roman"/>
              </a:rPr>
              <a:t> </a:t>
            </a:r>
            <a:r>
              <a:rPr sz="2600" b="1" spc="-45" dirty="0">
                <a:latin typeface="Times New Roman"/>
                <a:cs typeface="Times New Roman"/>
              </a:rPr>
              <a:t>log</a:t>
            </a:r>
            <a:r>
              <a:rPr sz="2600" b="1" spc="-260" dirty="0">
                <a:latin typeface="Times New Roman"/>
                <a:cs typeface="Times New Roman"/>
              </a:rPr>
              <a:t> </a:t>
            </a:r>
            <a:r>
              <a:rPr sz="2600" b="1" i="1" spc="-20" dirty="0">
                <a:latin typeface="Times New Roman"/>
                <a:cs typeface="Times New Roman"/>
              </a:rPr>
              <a:t>n</a:t>
            </a:r>
            <a:r>
              <a:rPr sz="2600" b="1" spc="-2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41951" y="3579101"/>
            <a:ext cx="34099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spc="45" dirty="0">
                <a:latin typeface="Times New Roman"/>
                <a:cs typeface="Times New Roman"/>
              </a:rPr>
              <a:t>n</a:t>
            </a:r>
            <a:r>
              <a:rPr sz="1500" b="1" spc="40" dirty="0">
                <a:latin typeface="Symbol"/>
                <a:cs typeface="Symbol"/>
              </a:rPr>
              <a:t></a:t>
            </a:r>
            <a:r>
              <a:rPr sz="1500" b="1" spc="-2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11946" y="4281638"/>
            <a:ext cx="34099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spc="-25" dirty="0">
                <a:latin typeface="Times New Roman"/>
                <a:cs typeface="Times New Roman"/>
              </a:rPr>
              <a:t>k</a:t>
            </a:r>
            <a:r>
              <a:rPr sz="1500" b="1" i="1" spc="-254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Symbol"/>
                <a:cs typeface="Symbol"/>
              </a:rPr>
              <a:t></a:t>
            </a:r>
            <a:r>
              <a:rPr sz="1500" b="1" spc="-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49997" y="1679448"/>
            <a:ext cx="2818130" cy="821055"/>
          </a:xfrm>
          <a:custGeom>
            <a:avLst/>
            <a:gdLst/>
            <a:ahLst/>
            <a:cxnLst/>
            <a:rect l="l" t="t" r="r" b="b"/>
            <a:pathLst>
              <a:path w="2818129" h="821055">
                <a:moveTo>
                  <a:pt x="0" y="820674"/>
                </a:moveTo>
                <a:lnTo>
                  <a:pt x="38581" y="790365"/>
                </a:lnTo>
                <a:lnTo>
                  <a:pt x="77708" y="760056"/>
                </a:lnTo>
                <a:lnTo>
                  <a:pt x="117928" y="729748"/>
                </a:lnTo>
                <a:lnTo>
                  <a:pt x="159788" y="699439"/>
                </a:lnTo>
                <a:lnTo>
                  <a:pt x="203835" y="669131"/>
                </a:lnTo>
                <a:lnTo>
                  <a:pt x="250617" y="638822"/>
                </a:lnTo>
                <a:lnTo>
                  <a:pt x="300679" y="608514"/>
                </a:lnTo>
                <a:lnTo>
                  <a:pt x="354571" y="578205"/>
                </a:lnTo>
                <a:lnTo>
                  <a:pt x="393075" y="557703"/>
                </a:lnTo>
                <a:lnTo>
                  <a:pt x="433751" y="536714"/>
                </a:lnTo>
                <a:lnTo>
                  <a:pt x="476305" y="515402"/>
                </a:lnTo>
                <a:lnTo>
                  <a:pt x="520447" y="493927"/>
                </a:lnTo>
                <a:lnTo>
                  <a:pt x="565885" y="472453"/>
                </a:lnTo>
                <a:lnTo>
                  <a:pt x="612327" y="451140"/>
                </a:lnTo>
                <a:lnTo>
                  <a:pt x="659482" y="430151"/>
                </a:lnTo>
                <a:lnTo>
                  <a:pt x="707058" y="409647"/>
                </a:lnTo>
                <a:lnTo>
                  <a:pt x="754764" y="389790"/>
                </a:lnTo>
                <a:lnTo>
                  <a:pt x="802308" y="370743"/>
                </a:lnTo>
                <a:lnTo>
                  <a:pt x="849398" y="352667"/>
                </a:lnTo>
                <a:lnTo>
                  <a:pt x="895743" y="335724"/>
                </a:lnTo>
                <a:lnTo>
                  <a:pt x="945799" y="318446"/>
                </a:lnTo>
                <a:lnTo>
                  <a:pt x="995897" y="302163"/>
                </a:lnTo>
                <a:lnTo>
                  <a:pt x="1046079" y="286791"/>
                </a:lnTo>
                <a:lnTo>
                  <a:pt x="1096386" y="272245"/>
                </a:lnTo>
                <a:lnTo>
                  <a:pt x="1146861" y="258442"/>
                </a:lnTo>
                <a:lnTo>
                  <a:pt x="1197546" y="245298"/>
                </a:lnTo>
                <a:lnTo>
                  <a:pt x="1248483" y="232728"/>
                </a:lnTo>
                <a:lnTo>
                  <a:pt x="1299715" y="220648"/>
                </a:lnTo>
                <a:lnTo>
                  <a:pt x="1351283" y="208975"/>
                </a:lnTo>
                <a:lnTo>
                  <a:pt x="1403230" y="197624"/>
                </a:lnTo>
                <a:lnTo>
                  <a:pt x="1455597" y="186512"/>
                </a:lnTo>
                <a:lnTo>
                  <a:pt x="1504765" y="176722"/>
                </a:lnTo>
                <a:lnTo>
                  <a:pt x="1555553" y="167515"/>
                </a:lnTo>
                <a:lnTo>
                  <a:pt x="1607508" y="158826"/>
                </a:lnTo>
                <a:lnTo>
                  <a:pt x="1660176" y="150591"/>
                </a:lnTo>
                <a:lnTo>
                  <a:pt x="1713104" y="142744"/>
                </a:lnTo>
                <a:lnTo>
                  <a:pt x="1765838" y="135221"/>
                </a:lnTo>
                <a:lnTo>
                  <a:pt x="1817923" y="127957"/>
                </a:lnTo>
                <a:lnTo>
                  <a:pt x="1868907" y="120888"/>
                </a:lnTo>
                <a:lnTo>
                  <a:pt x="1918335" y="113947"/>
                </a:lnTo>
                <a:lnTo>
                  <a:pt x="1965755" y="107072"/>
                </a:lnTo>
                <a:lnTo>
                  <a:pt x="2010711" y="100196"/>
                </a:lnTo>
                <a:lnTo>
                  <a:pt x="2052751" y="93256"/>
                </a:lnTo>
                <a:lnTo>
                  <a:pt x="2109994" y="82654"/>
                </a:lnTo>
                <a:lnTo>
                  <a:pt x="2161369" y="71980"/>
                </a:lnTo>
                <a:lnTo>
                  <a:pt x="2208298" y="61452"/>
                </a:lnTo>
                <a:lnTo>
                  <a:pt x="2252202" y="51288"/>
                </a:lnTo>
                <a:lnTo>
                  <a:pt x="2294502" y="41708"/>
                </a:lnTo>
                <a:lnTo>
                  <a:pt x="2336619" y="32930"/>
                </a:lnTo>
                <a:lnTo>
                  <a:pt x="2379975" y="25173"/>
                </a:lnTo>
                <a:lnTo>
                  <a:pt x="2425992" y="18656"/>
                </a:lnTo>
                <a:lnTo>
                  <a:pt x="2541016" y="9183"/>
                </a:lnTo>
                <a:lnTo>
                  <a:pt x="2669749" y="3498"/>
                </a:lnTo>
                <a:lnTo>
                  <a:pt x="2774574" y="729"/>
                </a:lnTo>
                <a:lnTo>
                  <a:pt x="2817876" y="0"/>
                </a:lnTo>
              </a:path>
            </a:pathLst>
          </a:custGeom>
          <a:ln w="4419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49997" y="1679448"/>
            <a:ext cx="2818130" cy="1213485"/>
          </a:xfrm>
          <a:custGeom>
            <a:avLst/>
            <a:gdLst/>
            <a:ahLst/>
            <a:cxnLst/>
            <a:rect l="l" t="t" r="r" b="b"/>
            <a:pathLst>
              <a:path w="2818129" h="1213485">
                <a:moveTo>
                  <a:pt x="2817876" y="0"/>
                </a:moveTo>
                <a:lnTo>
                  <a:pt x="2817876" y="1194435"/>
                </a:lnTo>
                <a:lnTo>
                  <a:pt x="0" y="1213104"/>
                </a:lnTo>
                <a:lnTo>
                  <a:pt x="18656" y="839838"/>
                </a:lnTo>
              </a:path>
            </a:pathLst>
          </a:custGeom>
          <a:ln w="381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8279" y="4553330"/>
            <a:ext cx="2819400" cy="1905"/>
          </a:xfrm>
          <a:custGeom>
            <a:avLst/>
            <a:gdLst/>
            <a:ahLst/>
            <a:cxnLst/>
            <a:rect l="l" t="t" r="r" b="b"/>
            <a:pathLst>
              <a:path w="2819400" h="1904">
                <a:moveTo>
                  <a:pt x="0" y="0"/>
                </a:moveTo>
                <a:lnTo>
                  <a:pt x="2819400" y="1587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日期占位符 2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A378679-8DE4-4778-B13B-6F083BBDBB9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1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66973"/>
            <a:ext cx="8227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取整函</a:t>
            </a:r>
            <a:r>
              <a:rPr sz="4000" spc="-15" dirty="0"/>
              <a:t>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95705"/>
            <a:ext cx="5413375" cy="145224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b="1" spc="-10" dirty="0">
                <a:latin typeface="宋体"/>
                <a:cs typeface="宋体"/>
              </a:rPr>
              <a:t>取整</a:t>
            </a:r>
            <a:r>
              <a:rPr sz="2600" b="1" spc="-5" dirty="0">
                <a:latin typeface="宋体"/>
                <a:cs typeface="宋体"/>
              </a:rPr>
              <a:t>函数的</a:t>
            </a:r>
            <a:r>
              <a:rPr sz="2600" b="1" dirty="0">
                <a:latin typeface="宋体"/>
                <a:cs typeface="宋体"/>
              </a:rPr>
              <a:t>定</a:t>
            </a:r>
            <a:r>
              <a:rPr sz="2600" b="1" spc="-15" dirty="0">
                <a:latin typeface="宋体"/>
                <a:cs typeface="宋体"/>
              </a:rPr>
              <a:t>义</a:t>
            </a:r>
            <a:endParaRPr sz="2600" dirty="0">
              <a:latin typeface="宋体"/>
              <a:cs typeface="宋体"/>
            </a:endParaRPr>
          </a:p>
          <a:p>
            <a:pPr marL="342265">
              <a:lnSpc>
                <a:spcPct val="100000"/>
              </a:lnSpc>
              <a:spcBef>
                <a:spcPts val="620"/>
              </a:spcBef>
            </a:pPr>
            <a:r>
              <a:rPr sz="2600" b="1" spc="-5" dirty="0">
                <a:latin typeface="Symbol"/>
                <a:cs typeface="Symbol"/>
              </a:rPr>
              <a:t></a:t>
            </a:r>
            <a:r>
              <a:rPr sz="2600" b="1" i="1" spc="-5" dirty="0">
                <a:latin typeface="Times New Roman"/>
                <a:cs typeface="Times New Roman"/>
              </a:rPr>
              <a:t>x</a:t>
            </a:r>
            <a:r>
              <a:rPr sz="2600" b="1" spc="-5" dirty="0">
                <a:latin typeface="Symbol"/>
                <a:cs typeface="Symbol"/>
              </a:rPr>
              <a:t></a:t>
            </a:r>
            <a:r>
              <a:rPr sz="2600" b="1" spc="-5" dirty="0">
                <a:latin typeface="宋体"/>
                <a:cs typeface="宋体"/>
              </a:rPr>
              <a:t>：</a:t>
            </a:r>
            <a:r>
              <a:rPr sz="2600" b="1" spc="-10" dirty="0">
                <a:latin typeface="宋体"/>
                <a:cs typeface="宋体"/>
              </a:rPr>
              <a:t>表示</a:t>
            </a:r>
            <a:r>
              <a:rPr sz="2600" b="1" spc="-5" dirty="0">
                <a:latin typeface="宋体"/>
                <a:cs typeface="宋体"/>
              </a:rPr>
              <a:t>小于</a:t>
            </a:r>
            <a:r>
              <a:rPr sz="2600" b="1" dirty="0">
                <a:latin typeface="宋体"/>
                <a:cs typeface="宋体"/>
              </a:rPr>
              <a:t>等</a:t>
            </a:r>
            <a:r>
              <a:rPr sz="2600" b="1" spc="-15" dirty="0">
                <a:latin typeface="宋体"/>
                <a:cs typeface="宋体"/>
              </a:rPr>
              <a:t>于</a:t>
            </a:r>
            <a:r>
              <a:rPr sz="2600" b="1" spc="-650" dirty="0">
                <a:latin typeface="宋体"/>
                <a:cs typeface="宋体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x</a:t>
            </a:r>
            <a:r>
              <a:rPr sz="2600" b="1" i="1" spc="-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宋体"/>
                <a:cs typeface="宋体"/>
              </a:rPr>
              <a:t>的最大</a:t>
            </a:r>
            <a:r>
              <a:rPr sz="2600" b="1" spc="-5" dirty="0">
                <a:latin typeface="宋体"/>
                <a:cs typeface="宋体"/>
              </a:rPr>
              <a:t>的</a:t>
            </a:r>
            <a:r>
              <a:rPr sz="2600" b="1" dirty="0">
                <a:latin typeface="宋体"/>
                <a:cs typeface="宋体"/>
              </a:rPr>
              <a:t>整</a:t>
            </a:r>
            <a:r>
              <a:rPr sz="2600" b="1" spc="-15" dirty="0">
                <a:latin typeface="宋体"/>
                <a:cs typeface="宋体"/>
              </a:rPr>
              <a:t>数</a:t>
            </a:r>
            <a:endParaRPr sz="2600" dirty="0">
              <a:latin typeface="宋体"/>
              <a:cs typeface="宋体"/>
            </a:endParaRPr>
          </a:p>
          <a:p>
            <a:pPr marL="342265">
              <a:lnSpc>
                <a:spcPct val="100000"/>
              </a:lnSpc>
              <a:spcBef>
                <a:spcPts val="625"/>
              </a:spcBef>
            </a:pPr>
            <a:r>
              <a:rPr sz="2600" b="1" spc="-5" dirty="0">
                <a:latin typeface="Symbol"/>
                <a:cs typeface="Symbol"/>
              </a:rPr>
              <a:t></a:t>
            </a:r>
            <a:r>
              <a:rPr sz="2600" b="1" i="1" spc="-5" dirty="0">
                <a:latin typeface="Times New Roman"/>
                <a:cs typeface="Times New Roman"/>
              </a:rPr>
              <a:t>x</a:t>
            </a:r>
            <a:r>
              <a:rPr sz="2600" b="1" spc="-5" dirty="0">
                <a:latin typeface="Symbol"/>
                <a:cs typeface="Symbol"/>
              </a:rPr>
              <a:t></a:t>
            </a:r>
            <a:r>
              <a:rPr sz="2600" b="1" spc="-5" dirty="0">
                <a:latin typeface="宋体"/>
                <a:cs typeface="宋体"/>
              </a:rPr>
              <a:t>：</a:t>
            </a:r>
            <a:r>
              <a:rPr sz="2600" b="1" spc="-10" dirty="0">
                <a:latin typeface="宋体"/>
                <a:cs typeface="宋体"/>
              </a:rPr>
              <a:t>表示</a:t>
            </a:r>
            <a:r>
              <a:rPr sz="2600" b="1" spc="-5" dirty="0">
                <a:latin typeface="宋体"/>
                <a:cs typeface="宋体"/>
              </a:rPr>
              <a:t>大于</a:t>
            </a:r>
            <a:r>
              <a:rPr sz="2600" b="1" dirty="0">
                <a:latin typeface="宋体"/>
                <a:cs typeface="宋体"/>
              </a:rPr>
              <a:t>等</a:t>
            </a:r>
            <a:r>
              <a:rPr sz="2600" b="1" spc="-15" dirty="0">
                <a:latin typeface="宋体"/>
                <a:cs typeface="宋体"/>
              </a:rPr>
              <a:t>于</a:t>
            </a:r>
            <a:r>
              <a:rPr sz="2600" b="1" spc="-650" dirty="0">
                <a:latin typeface="宋体"/>
                <a:cs typeface="宋体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x</a:t>
            </a:r>
            <a:r>
              <a:rPr sz="2600" b="1" i="1" spc="-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宋体"/>
                <a:cs typeface="宋体"/>
              </a:rPr>
              <a:t>的最小</a:t>
            </a:r>
            <a:r>
              <a:rPr sz="2600" b="1" spc="-5" dirty="0">
                <a:latin typeface="宋体"/>
                <a:cs typeface="宋体"/>
              </a:rPr>
              <a:t>的</a:t>
            </a:r>
            <a:r>
              <a:rPr sz="2600" b="1" dirty="0">
                <a:latin typeface="宋体"/>
                <a:cs typeface="宋体"/>
              </a:rPr>
              <a:t>整</a:t>
            </a:r>
            <a:r>
              <a:rPr sz="2600" b="1" spc="-15" dirty="0">
                <a:latin typeface="宋体"/>
                <a:cs typeface="宋体"/>
              </a:rPr>
              <a:t>数</a:t>
            </a:r>
            <a:endParaRPr sz="26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2750007"/>
            <a:ext cx="2067560" cy="19215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b="1" spc="-10" dirty="0">
                <a:latin typeface="宋体"/>
                <a:cs typeface="宋体"/>
              </a:rPr>
              <a:t>实例</a:t>
            </a:r>
            <a:endParaRPr sz="2600" dirty="0">
              <a:latin typeface="宋体"/>
              <a:cs typeface="宋体"/>
            </a:endParaRPr>
          </a:p>
          <a:p>
            <a:pPr marL="342265">
              <a:lnSpc>
                <a:spcPct val="100000"/>
              </a:lnSpc>
              <a:spcBef>
                <a:spcPts val="600"/>
              </a:spcBef>
            </a:pPr>
            <a:r>
              <a:rPr sz="2600" b="1" spc="-5" dirty="0">
                <a:latin typeface="Symbol"/>
                <a:cs typeface="Symbol"/>
              </a:rPr>
              <a:t></a:t>
            </a:r>
            <a:r>
              <a:rPr sz="2600" b="1" spc="-5" dirty="0">
                <a:latin typeface="Times New Roman"/>
                <a:cs typeface="Times New Roman"/>
              </a:rPr>
              <a:t>2.6</a:t>
            </a:r>
            <a:r>
              <a:rPr sz="2600" b="1" spc="-5" dirty="0">
                <a:latin typeface="Symbol"/>
                <a:cs typeface="Symbol"/>
              </a:rPr>
              <a:t></a:t>
            </a:r>
            <a:r>
              <a:rPr sz="2600" b="1" spc="-5" dirty="0">
                <a:latin typeface="Times New Roman"/>
                <a:cs typeface="Times New Roman"/>
              </a:rPr>
              <a:t> =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2</a:t>
            </a:r>
            <a:endParaRPr sz="2600" dirty="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  <a:spcBef>
                <a:spcPts val="625"/>
              </a:spcBef>
            </a:pPr>
            <a:r>
              <a:rPr sz="2600" b="1" spc="-5" dirty="0">
                <a:latin typeface="Symbol"/>
                <a:cs typeface="Symbol"/>
              </a:rPr>
              <a:t></a:t>
            </a:r>
            <a:r>
              <a:rPr sz="2600" b="1" spc="-5" dirty="0">
                <a:latin typeface="Times New Roman"/>
                <a:cs typeface="Times New Roman"/>
              </a:rPr>
              <a:t>2.6</a:t>
            </a:r>
            <a:r>
              <a:rPr sz="2600" b="1" spc="-5" dirty="0">
                <a:latin typeface="Symbol"/>
                <a:cs typeface="Symbol"/>
              </a:rPr>
              <a:t></a:t>
            </a:r>
            <a:r>
              <a:rPr sz="2600" b="1" spc="-5" dirty="0">
                <a:latin typeface="Times New Roman"/>
                <a:cs typeface="Times New Roman"/>
              </a:rPr>
              <a:t> =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3</a:t>
            </a:r>
            <a:endParaRPr sz="2600" dirty="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  <a:spcBef>
                <a:spcPts val="620"/>
              </a:spcBef>
            </a:pPr>
            <a:r>
              <a:rPr sz="2600" b="1" spc="-5" dirty="0">
                <a:latin typeface="Symbol"/>
                <a:cs typeface="Symbol"/>
              </a:rPr>
              <a:t></a:t>
            </a:r>
            <a:r>
              <a:rPr sz="2600" b="1" spc="-5" dirty="0">
                <a:latin typeface="Times New Roman"/>
                <a:cs typeface="Times New Roman"/>
              </a:rPr>
              <a:t>2</a:t>
            </a:r>
            <a:r>
              <a:rPr sz="2600" b="1" spc="-5" dirty="0">
                <a:latin typeface="Symbol"/>
                <a:cs typeface="Symbol"/>
              </a:rPr>
              <a:t></a:t>
            </a:r>
            <a:r>
              <a:rPr sz="2600" b="1" spc="-5" dirty="0">
                <a:latin typeface="Times New Roman"/>
                <a:cs typeface="Times New Roman"/>
              </a:rPr>
              <a:t> = </a:t>
            </a:r>
            <a:r>
              <a:rPr sz="2600" b="1" spc="-5" dirty="0">
                <a:latin typeface="Symbol"/>
                <a:cs typeface="Symbol"/>
              </a:rPr>
              <a:t></a:t>
            </a:r>
            <a:r>
              <a:rPr sz="2600" b="1" spc="-5" dirty="0">
                <a:latin typeface="Times New Roman"/>
                <a:cs typeface="Times New Roman"/>
              </a:rPr>
              <a:t>2</a:t>
            </a:r>
            <a:r>
              <a:rPr sz="2600" b="1" spc="-5" dirty="0">
                <a:latin typeface="Symbol"/>
                <a:cs typeface="Symbol"/>
              </a:rPr>
              <a:t></a:t>
            </a:r>
            <a:r>
              <a:rPr sz="2600" b="1" spc="-5" dirty="0">
                <a:latin typeface="Times New Roman"/>
                <a:cs typeface="Times New Roman"/>
              </a:rPr>
              <a:t> =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2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2939" y="3090267"/>
            <a:ext cx="4798061" cy="153888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82930">
              <a:lnSpc>
                <a:spcPts val="2870"/>
              </a:lnSpc>
              <a:spcBef>
                <a:spcPts val="200"/>
              </a:spcBef>
            </a:pPr>
            <a:r>
              <a:rPr sz="2400" b="1" spc="-5" dirty="0" err="1">
                <a:solidFill>
                  <a:srgbClr val="C00000"/>
                </a:solidFill>
                <a:latin typeface="宋体"/>
                <a:cs typeface="宋体"/>
              </a:rPr>
              <a:t>应用</a:t>
            </a:r>
            <a:r>
              <a:rPr sz="2400" b="1" spc="-5" dirty="0" err="1">
                <a:latin typeface="宋体"/>
                <a:cs typeface="宋体"/>
              </a:rPr>
              <a:t>：二</a:t>
            </a:r>
            <a:r>
              <a:rPr sz="2400" b="1" dirty="0" err="1">
                <a:latin typeface="宋体"/>
                <a:cs typeface="宋体"/>
              </a:rPr>
              <a:t>分</a:t>
            </a:r>
            <a:r>
              <a:rPr sz="2400" b="1" spc="5" dirty="0" err="1">
                <a:latin typeface="宋体"/>
                <a:cs typeface="宋体"/>
              </a:rPr>
              <a:t>检</a:t>
            </a:r>
            <a:r>
              <a:rPr sz="2400" b="1" spc="-10" dirty="0" err="1">
                <a:latin typeface="宋体"/>
                <a:cs typeface="宋体"/>
              </a:rPr>
              <a:t>索</a:t>
            </a:r>
            <a:r>
              <a:rPr sz="2400" b="1" spc="-10" dirty="0">
                <a:latin typeface="宋体"/>
                <a:cs typeface="宋体"/>
              </a:rPr>
              <a:t> </a:t>
            </a:r>
            <a:endParaRPr lang="en-US" sz="2400" b="1" spc="-10" dirty="0" smtClean="0">
              <a:latin typeface="宋体"/>
              <a:cs typeface="宋体"/>
            </a:endParaRPr>
          </a:p>
          <a:p>
            <a:pPr marL="12700" marR="582930">
              <a:lnSpc>
                <a:spcPts val="2870"/>
              </a:lnSpc>
              <a:spcBef>
                <a:spcPts val="200"/>
              </a:spcBef>
            </a:pPr>
            <a:r>
              <a:rPr sz="2400" b="1" spc="-5" dirty="0" err="1" smtClean="0">
                <a:latin typeface="宋体"/>
                <a:cs typeface="宋体"/>
              </a:rPr>
              <a:t>输入数组</a:t>
            </a:r>
            <a:r>
              <a:rPr sz="2400" b="1" dirty="0" err="1" smtClean="0">
                <a:latin typeface="宋体"/>
                <a:cs typeface="宋体"/>
              </a:rPr>
              <a:t>长</a:t>
            </a:r>
            <a:r>
              <a:rPr sz="2400" b="1" spc="5" dirty="0" err="1" smtClean="0">
                <a:latin typeface="宋体"/>
                <a:cs typeface="宋体"/>
              </a:rPr>
              <a:t>度</a:t>
            </a:r>
            <a:r>
              <a:rPr sz="2400" b="1" dirty="0" err="1">
                <a:latin typeface="宋体"/>
                <a:cs typeface="宋体"/>
              </a:rPr>
              <a:t>：</a:t>
            </a:r>
            <a:r>
              <a:rPr sz="2400" b="1" i="1" spc="-5" dirty="0" err="1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b="1" spc="-5" dirty="0">
                <a:latin typeface="宋体"/>
                <a:cs typeface="宋体"/>
              </a:rPr>
              <a:t>中位数的</a:t>
            </a:r>
            <a:r>
              <a:rPr sz="2400" b="1" dirty="0">
                <a:latin typeface="宋体"/>
                <a:cs typeface="宋体"/>
              </a:rPr>
              <a:t>位</a:t>
            </a:r>
            <a:r>
              <a:rPr sz="2400" b="1" spc="5" dirty="0">
                <a:latin typeface="宋体"/>
                <a:cs typeface="宋体"/>
              </a:rPr>
              <a:t>置</a:t>
            </a:r>
            <a:r>
              <a:rPr sz="2400" b="1" spc="-10" dirty="0">
                <a:latin typeface="宋体"/>
                <a:cs typeface="宋体"/>
              </a:rPr>
              <a:t>：</a:t>
            </a:r>
            <a:r>
              <a:rPr sz="2400" b="1" spc="-575" dirty="0">
                <a:latin typeface="宋体"/>
                <a:cs typeface="宋体"/>
              </a:rPr>
              <a:t> </a:t>
            </a:r>
            <a:r>
              <a:rPr sz="2400" b="1" spc="-5" dirty="0">
                <a:latin typeface="Symbol"/>
                <a:cs typeface="Symbol"/>
              </a:rPr>
              <a:t>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Arial"/>
                <a:cs typeface="Arial"/>
              </a:rPr>
              <a:t>/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Symbol"/>
                <a:cs typeface="Symbol"/>
              </a:rPr>
              <a:t></a:t>
            </a:r>
            <a:endParaRPr sz="2400" dirty="0">
              <a:latin typeface="Symbol"/>
              <a:cs typeface="Symbol"/>
            </a:endParaRPr>
          </a:p>
          <a:p>
            <a:pPr marL="12700" marR="140970">
              <a:lnSpc>
                <a:spcPts val="2870"/>
              </a:lnSpc>
              <a:spcBef>
                <a:spcPts val="120"/>
              </a:spcBef>
            </a:pPr>
            <a:r>
              <a:rPr sz="2400" b="1" spc="-5" dirty="0" err="1" smtClean="0">
                <a:latin typeface="宋体"/>
                <a:cs typeface="宋体"/>
              </a:rPr>
              <a:t>与中位数</a:t>
            </a:r>
            <a:r>
              <a:rPr sz="2400" b="1" dirty="0" err="1" smtClean="0">
                <a:latin typeface="宋体"/>
                <a:cs typeface="宋体"/>
              </a:rPr>
              <a:t>比</a:t>
            </a:r>
            <a:r>
              <a:rPr sz="2400" b="1" spc="5" dirty="0" err="1" smtClean="0">
                <a:latin typeface="宋体"/>
                <a:cs typeface="宋体"/>
              </a:rPr>
              <a:t>较</a:t>
            </a:r>
            <a:r>
              <a:rPr sz="2400" b="1" dirty="0" err="1" smtClean="0">
                <a:latin typeface="宋体"/>
                <a:cs typeface="宋体"/>
              </a:rPr>
              <a:t>后子</a:t>
            </a:r>
            <a:r>
              <a:rPr sz="2400" b="1" spc="-10" dirty="0" err="1" smtClean="0">
                <a:latin typeface="宋体"/>
                <a:cs typeface="宋体"/>
              </a:rPr>
              <a:t>问</a:t>
            </a:r>
            <a:r>
              <a:rPr sz="2400" b="1" spc="-5" dirty="0" err="1" smtClean="0">
                <a:latin typeface="宋体"/>
                <a:cs typeface="宋体"/>
              </a:rPr>
              <a:t>题大小</a:t>
            </a:r>
            <a:r>
              <a:rPr sz="2400" b="1" spc="-5" dirty="0">
                <a:latin typeface="宋体"/>
                <a:cs typeface="宋体"/>
              </a:rPr>
              <a:t>：</a:t>
            </a:r>
            <a:r>
              <a:rPr sz="2400" b="1" spc="-5" dirty="0">
                <a:latin typeface="Symbol"/>
                <a:cs typeface="Symbol"/>
              </a:rPr>
              <a:t>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Arial"/>
                <a:cs typeface="Arial"/>
              </a:rPr>
              <a:t>/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spc="-5" dirty="0" smtClean="0">
                <a:latin typeface="Symbol"/>
                <a:cs typeface="Symbol"/>
              </a:rPr>
              <a:t></a:t>
            </a:r>
            <a:endParaRPr sz="2400" dirty="0">
              <a:latin typeface="Symbol"/>
              <a:cs typeface="Symbol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7E88217-3F24-4F49-905A-BF43E5DFEE85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26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取整函数的</a:t>
            </a:r>
            <a:r>
              <a:rPr sz="4400" spc="-5" dirty="0">
                <a:latin typeface="黑体" pitchFamily="49" charset="-122"/>
                <a:ea typeface="黑体" pitchFamily="49" charset="-122"/>
              </a:rPr>
              <a:t>性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7200" y="2529359"/>
            <a:ext cx="4146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b="1" spc="120" dirty="0">
                <a:latin typeface="Times New Roman"/>
                <a:cs typeface="Times New Roman"/>
              </a:rPr>
              <a:t>(</a:t>
            </a:r>
            <a:r>
              <a:rPr sz="2450" b="1" spc="60" dirty="0">
                <a:latin typeface="Times New Roman"/>
                <a:cs typeface="Times New Roman"/>
              </a:rPr>
              <a:t>3</a:t>
            </a:r>
            <a:r>
              <a:rPr sz="2450" b="1" spc="15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8069" y="3648407"/>
            <a:ext cx="38227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65" dirty="0">
                <a:latin typeface="Times New Roman"/>
                <a:cs typeface="Times New Roman"/>
              </a:rPr>
              <a:t>(</a:t>
            </a:r>
            <a:r>
              <a:rPr sz="2300" b="1" spc="45" dirty="0">
                <a:latin typeface="Times New Roman"/>
                <a:cs typeface="Times New Roman"/>
              </a:rPr>
              <a:t>4</a:t>
            </a:r>
            <a:r>
              <a:rPr sz="2300" b="1" spc="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200" y="1200150"/>
            <a:ext cx="5571490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(1)	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1&lt;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dirty="0">
                <a:latin typeface="Times New Roman"/>
                <a:cs typeface="Times New Roman"/>
              </a:rPr>
              <a:t> &lt;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Times New Roman"/>
                <a:cs typeface="Times New Roman"/>
              </a:rPr>
              <a:t>+1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  <a:tabLst>
                <a:tab pos="520700" algn="l"/>
                <a:tab pos="253428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(2)	</a:t>
            </a:r>
            <a:r>
              <a:rPr sz="2400" b="1" spc="-5" dirty="0">
                <a:latin typeface="Symbol"/>
                <a:cs typeface="Symbol"/>
              </a:rPr>
              <a:t></a:t>
            </a: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spc="-5" dirty="0">
                <a:latin typeface="Times New Roman"/>
                <a:cs typeface="Times New Roman"/>
              </a:rPr>
              <a:t>+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Symbol"/>
                <a:cs typeface="Symbol"/>
              </a:rPr>
              <a:t></a:t>
            </a:r>
            <a:r>
              <a:rPr sz="2400" b="1" dirty="0">
                <a:latin typeface="Times New Roman"/>
                <a:cs typeface="Times New Roman"/>
              </a:rPr>
              <a:t> =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	</a:t>
            </a:r>
            <a:r>
              <a:rPr sz="2400" b="1" spc="-5" dirty="0">
                <a:latin typeface="Symbol"/>
                <a:cs typeface="Symbol"/>
              </a:rPr>
              <a:t></a:t>
            </a:r>
            <a:r>
              <a:rPr sz="2400" b="1" i="1" spc="-5" dirty="0">
                <a:latin typeface="Times New Roman"/>
                <a:cs typeface="Times New Roman"/>
              </a:rPr>
              <a:t>x</a:t>
            </a:r>
            <a:r>
              <a:rPr sz="2400" b="1" spc="-5" dirty="0">
                <a:latin typeface="Times New Roman"/>
                <a:cs typeface="Times New Roman"/>
              </a:rPr>
              <a:t>+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Symbol"/>
                <a:cs typeface="Symbol"/>
              </a:rPr>
              <a:t>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宋体"/>
                <a:cs typeface="宋体"/>
              </a:rPr>
              <a:t>为整</a:t>
            </a:r>
            <a:r>
              <a:rPr sz="2400" b="1" spc="-10" dirty="0">
                <a:latin typeface="宋体"/>
                <a:cs typeface="宋体"/>
              </a:rPr>
              <a:t>数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580" y="1543782"/>
            <a:ext cx="3124200" cy="1905"/>
          </a:xfrm>
          <a:custGeom>
            <a:avLst/>
            <a:gdLst/>
            <a:ahLst/>
            <a:cxnLst/>
            <a:rect l="l" t="t" r="r" b="b"/>
            <a:pathLst>
              <a:path w="3124200" h="1905">
                <a:moveTo>
                  <a:pt x="0" y="0"/>
                </a:moveTo>
                <a:lnTo>
                  <a:pt x="3124200" y="1587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5633" y="2154905"/>
            <a:ext cx="1828800" cy="1905"/>
          </a:xfrm>
          <a:custGeom>
            <a:avLst/>
            <a:gdLst/>
            <a:ahLst/>
            <a:cxnLst/>
            <a:rect l="l" t="t" r="r" b="b"/>
            <a:pathLst>
              <a:path w="1828800" h="1905">
                <a:moveTo>
                  <a:pt x="0" y="0"/>
                </a:moveTo>
                <a:lnTo>
                  <a:pt x="1828800" y="1587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8200" y="3068925"/>
            <a:ext cx="1828800" cy="1905"/>
          </a:xfrm>
          <a:custGeom>
            <a:avLst/>
            <a:gdLst/>
            <a:ahLst/>
            <a:cxnLst/>
            <a:rect l="l" t="t" r="r" b="b"/>
            <a:pathLst>
              <a:path w="1828800" h="1905">
                <a:moveTo>
                  <a:pt x="0" y="0"/>
                </a:moveTo>
                <a:lnTo>
                  <a:pt x="1828800" y="1587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0E5C952-C7E8-4D6D-A7E9-A38E89ACF567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788267" y="2355521"/>
                <a:ext cx="2031133" cy="749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40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67" y="2355521"/>
                <a:ext cx="2031133" cy="74962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804517" y="3257170"/>
                <a:ext cx="4224683" cy="10502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40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altLang="zh-CN" sz="24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/>
                                </a:rPr>
                                <m:t>ab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, 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CN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𝑎𝑏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17" y="3257170"/>
                <a:ext cx="4224683" cy="105022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2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证明</a:t>
            </a:r>
            <a:r>
              <a:rPr sz="4400" dirty="0">
                <a:latin typeface="黑体" pitchFamily="49" charset="-122"/>
                <a:ea typeface="黑体" pitchFamily="49" charset="-122"/>
                <a:cs typeface="Times New Roman"/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97610"/>
            <a:ext cx="8229600" cy="354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 marR="5080" indent="-1066800">
              <a:lnSpc>
                <a:spcPct val="119400"/>
              </a:lnSpc>
              <a:spcBef>
                <a:spcPts val="100"/>
              </a:spcBef>
              <a:tabLst>
                <a:tab pos="5207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(1)	</a:t>
            </a:r>
            <a:r>
              <a:rPr sz="2400" b="1" spc="-5" dirty="0">
                <a:latin typeface="宋体"/>
                <a:cs typeface="宋体"/>
              </a:rPr>
              <a:t>如果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spc="-5" dirty="0">
                <a:latin typeface="宋体"/>
                <a:cs typeface="宋体"/>
              </a:rPr>
              <a:t>是整</a:t>
            </a:r>
            <a:r>
              <a:rPr sz="2400" b="1" dirty="0">
                <a:latin typeface="宋体"/>
                <a:cs typeface="宋体"/>
              </a:rPr>
              <a:t>数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宋体"/>
                <a:cs typeface="宋体"/>
              </a:rPr>
              <a:t>，根据定</a:t>
            </a:r>
            <a:r>
              <a:rPr sz="2400" b="1" spc="-5" dirty="0">
                <a:latin typeface="宋体"/>
                <a:cs typeface="宋体"/>
              </a:rPr>
              <a:t>义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spc="-10" dirty="0" smtClean="0">
                <a:latin typeface="宋体"/>
                <a:cs typeface="宋体"/>
              </a:rPr>
              <a:t>，</a:t>
            </a:r>
            <a:endParaRPr lang="en-US" sz="2400" b="1" spc="-10" dirty="0" smtClean="0">
              <a:latin typeface="宋体"/>
              <a:cs typeface="宋体"/>
            </a:endParaRPr>
          </a:p>
          <a:p>
            <a:pPr marL="1079500" marR="5080" indent="-1066800" algn="ctr">
              <a:lnSpc>
                <a:spcPct val="119400"/>
              </a:lnSpc>
              <a:spcBef>
                <a:spcPts val="100"/>
              </a:spcBef>
              <a:tabLst>
                <a:tab pos="520700" algn="l"/>
              </a:tabLst>
            </a:pPr>
            <a:r>
              <a:rPr sz="2400" b="1" spc="-10" dirty="0" smtClean="0">
                <a:latin typeface="宋体"/>
                <a:cs typeface="宋体"/>
              </a:rPr>
              <a:t> 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1&lt;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dirty="0">
                <a:latin typeface="Times New Roman"/>
                <a:cs typeface="Times New Roman"/>
              </a:rPr>
              <a:t> =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dirty="0">
                <a:latin typeface="Times New Roman"/>
                <a:cs typeface="Times New Roman"/>
              </a:rPr>
              <a:t> &lt;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Times New Roman"/>
                <a:cs typeface="Times New Roman"/>
              </a:rPr>
              <a:t>+1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080"/>
              </a:spcBef>
            </a:pPr>
            <a:r>
              <a:rPr sz="2400" b="1" spc="-5" dirty="0">
                <a:latin typeface="宋体"/>
                <a:cs typeface="宋体"/>
              </a:rPr>
              <a:t>如</a:t>
            </a:r>
            <a:r>
              <a:rPr sz="2400" b="1" spc="-10" dirty="0">
                <a:latin typeface="宋体"/>
                <a:cs typeface="宋体"/>
              </a:rPr>
              <a:t>果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+1</a:t>
            </a:r>
            <a:r>
              <a:rPr sz="2400" b="1" spc="-5" dirty="0">
                <a:latin typeface="宋体"/>
                <a:cs typeface="宋体"/>
              </a:rPr>
              <a:t>，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宋体"/>
                <a:cs typeface="宋体"/>
              </a:rPr>
              <a:t>为</a:t>
            </a:r>
            <a:r>
              <a:rPr sz="2400" b="1" dirty="0">
                <a:latin typeface="宋体"/>
                <a:cs typeface="宋体"/>
              </a:rPr>
              <a:t>整数，那么</a:t>
            </a:r>
            <a:endParaRPr sz="2400" dirty="0">
              <a:latin typeface="宋体"/>
              <a:cs typeface="宋体"/>
            </a:endParaRPr>
          </a:p>
          <a:p>
            <a:pPr marL="412115" algn="ctr">
              <a:lnSpc>
                <a:spcPct val="100000"/>
              </a:lnSpc>
              <a:spcBef>
                <a:spcPts val="575"/>
              </a:spcBef>
              <a:tabLst>
                <a:tab pos="1598930" algn="l"/>
              </a:tabLst>
            </a:pP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	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dirty="0">
                <a:latin typeface="Times New Roman"/>
                <a:cs typeface="Times New Roman"/>
              </a:rPr>
              <a:t> =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+1</a:t>
            </a:r>
            <a:r>
              <a:rPr sz="2400" b="1" spc="-5" dirty="0">
                <a:latin typeface="宋体"/>
                <a:cs typeface="宋体"/>
              </a:rPr>
              <a:t>，</a:t>
            </a:r>
            <a:endParaRPr sz="2400" dirty="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465"/>
              </a:spcBef>
            </a:pPr>
            <a:r>
              <a:rPr sz="2400" b="1" spc="-5" dirty="0">
                <a:latin typeface="宋体"/>
                <a:cs typeface="宋体"/>
              </a:rPr>
              <a:t>从而</a:t>
            </a:r>
            <a:r>
              <a:rPr sz="2400" b="1" spc="-10" dirty="0">
                <a:latin typeface="宋体"/>
                <a:cs typeface="宋体"/>
              </a:rPr>
              <a:t>有</a:t>
            </a:r>
            <a:endParaRPr sz="2400" dirty="0">
              <a:latin typeface="宋体"/>
              <a:cs typeface="宋体"/>
            </a:endParaRPr>
          </a:p>
          <a:p>
            <a:pPr marL="354330" algn="ctr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1&lt;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dirty="0">
                <a:latin typeface="宋体"/>
                <a:cs typeface="宋体"/>
              </a:rPr>
              <a:t>，</a:t>
            </a:r>
            <a:r>
              <a:rPr sz="2400" b="1" i="1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+1=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endParaRPr sz="2400" dirty="0">
              <a:latin typeface="Symbol"/>
              <a:cs typeface="Symbol"/>
            </a:endParaRPr>
          </a:p>
          <a:p>
            <a:pPr marL="546100">
              <a:lnSpc>
                <a:spcPct val="100000"/>
              </a:lnSpc>
              <a:spcBef>
                <a:spcPts val="1445"/>
              </a:spcBef>
            </a:pPr>
            <a:r>
              <a:rPr sz="2400" b="1" spc="-5" dirty="0">
                <a:latin typeface="Symbol"/>
                <a:cs typeface="Symbol"/>
              </a:rPr>
              <a:t>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</a:t>
            </a:r>
            <a:r>
              <a:rPr sz="2400" b="1" dirty="0">
                <a:latin typeface="Times New Roman"/>
                <a:cs typeface="Times New Roman"/>
              </a:rPr>
              <a:t>1&lt;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dirty="0">
                <a:latin typeface="Symbol"/>
                <a:cs typeface="Symbol"/>
              </a:rPr>
              <a:t>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</a:t>
            </a:r>
            <a:r>
              <a:rPr sz="2400" b="1" dirty="0">
                <a:latin typeface="Times New Roman"/>
                <a:cs typeface="Times New Roman"/>
              </a:rPr>
              <a:t> &lt;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dirty="0">
                <a:latin typeface="Symbol"/>
                <a:cs typeface="Symbol"/>
              </a:rPr>
              <a:t>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Symbol"/>
                <a:cs typeface="Symbol"/>
              </a:rPr>
              <a:t></a:t>
            </a:r>
            <a:r>
              <a:rPr sz="2400" b="1" dirty="0">
                <a:latin typeface="Times New Roman"/>
                <a:cs typeface="Times New Roman"/>
              </a:rPr>
              <a:t> =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+1&lt;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dirty="0">
                <a:latin typeface="Times New Roman"/>
                <a:cs typeface="Times New Roman"/>
              </a:rPr>
              <a:t>+1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0F0C4DE-D32D-46F0-8AFD-1BE86BB19B4B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43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6973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例：按照阶排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序</a:t>
            </a:r>
          </a:p>
        </p:txBody>
      </p:sp>
      <p:sp>
        <p:nvSpPr>
          <p:cNvPr id="3" name="object 3"/>
          <p:cNvSpPr/>
          <p:nvPr/>
        </p:nvSpPr>
        <p:spPr>
          <a:xfrm>
            <a:off x="2020980" y="2339727"/>
            <a:ext cx="36830" cy="20955"/>
          </a:xfrm>
          <a:custGeom>
            <a:avLst/>
            <a:gdLst/>
            <a:ahLst/>
            <a:cxnLst/>
            <a:rect l="l" t="t" r="r" b="b"/>
            <a:pathLst>
              <a:path w="36830" h="20955">
                <a:moveTo>
                  <a:pt x="0" y="20839"/>
                </a:moveTo>
                <a:lnTo>
                  <a:pt x="36358" y="0"/>
                </a:lnTo>
              </a:path>
            </a:pathLst>
          </a:custGeom>
          <a:ln w="118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057339" y="2345681"/>
            <a:ext cx="52705" cy="121920"/>
          </a:xfrm>
          <a:custGeom>
            <a:avLst/>
            <a:gdLst/>
            <a:ahLst/>
            <a:cxnLst/>
            <a:rect l="l" t="t" r="r" b="b"/>
            <a:pathLst>
              <a:path w="52705" h="121919">
                <a:moveTo>
                  <a:pt x="0" y="0"/>
                </a:moveTo>
                <a:lnTo>
                  <a:pt x="52683" y="121314"/>
                </a:lnTo>
              </a:path>
            </a:pathLst>
          </a:custGeom>
          <a:ln w="237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115958" y="2115704"/>
            <a:ext cx="69850" cy="351790"/>
          </a:xfrm>
          <a:custGeom>
            <a:avLst/>
            <a:gdLst/>
            <a:ahLst/>
            <a:cxnLst/>
            <a:rect l="l" t="t" r="r" b="b"/>
            <a:pathLst>
              <a:path w="69850" h="351789">
                <a:moveTo>
                  <a:pt x="0" y="351291"/>
                </a:moveTo>
                <a:lnTo>
                  <a:pt x="69749" y="0"/>
                </a:lnTo>
              </a:path>
            </a:pathLst>
          </a:custGeom>
          <a:ln w="118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 flipV="1">
            <a:off x="2185708" y="2069985"/>
            <a:ext cx="709892" cy="45719"/>
          </a:xfrm>
          <a:custGeom>
            <a:avLst/>
            <a:gdLst/>
            <a:ahLst/>
            <a:cxnLst/>
            <a:rect l="l" t="t" r="r" b="b"/>
            <a:pathLst>
              <a:path w="593725">
                <a:moveTo>
                  <a:pt x="0" y="0"/>
                </a:moveTo>
                <a:lnTo>
                  <a:pt x="593616" y="0"/>
                </a:lnTo>
              </a:path>
            </a:pathLst>
          </a:custGeom>
          <a:ln w="11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834232" y="2094068"/>
            <a:ext cx="118674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40" dirty="0">
                <a:latin typeface="Times New Roman"/>
                <a:cs typeface="Times New Roman"/>
              </a:rPr>
              <a:t>(3</a:t>
            </a:r>
            <a:r>
              <a:rPr sz="2400" b="1" spc="-27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/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spc="35" dirty="0">
                <a:latin typeface="Times New Roman"/>
                <a:cs typeface="Times New Roman"/>
              </a:rPr>
              <a:t>2)</a:t>
            </a:r>
            <a:r>
              <a:rPr sz="2400" b="1" i="1" spc="52" baseline="42735" dirty="0">
                <a:latin typeface="Times New Roman"/>
                <a:cs typeface="Times New Roman"/>
              </a:rPr>
              <a:t>n</a:t>
            </a:r>
            <a:r>
              <a:rPr sz="2400" b="1" i="1" spc="-127" baseline="427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2646794"/>
            <a:ext cx="56737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  <a:tabLst>
                <a:tab pos="937260" algn="l"/>
                <a:tab pos="2250440" algn="l"/>
                <a:tab pos="3350260" algn="l"/>
              </a:tabLst>
            </a:pPr>
            <a:r>
              <a:rPr sz="2400" b="1" i="1" spc="50" dirty="0">
                <a:latin typeface="Times New Roman"/>
                <a:cs typeface="Times New Roman"/>
              </a:rPr>
              <a:t>n</a:t>
            </a:r>
            <a:r>
              <a:rPr sz="2400" b="1" spc="75" baseline="42735" dirty="0">
                <a:latin typeface="Times New Roman"/>
                <a:cs typeface="Times New Roman"/>
              </a:rPr>
              <a:t>3</a:t>
            </a:r>
            <a:r>
              <a:rPr sz="2400" b="1" spc="-112" baseline="427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	log</a:t>
            </a:r>
            <a:r>
              <a:rPr sz="2400" b="1" spc="-25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2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	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30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	</a:t>
            </a:r>
            <a:r>
              <a:rPr sz="2400" b="1" i="1" dirty="0" smtClean="0">
                <a:latin typeface="Times New Roman"/>
                <a:cs typeface="Times New Roman"/>
              </a:rPr>
              <a:t>n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latin typeface="Times New Roman"/>
                <a:cs typeface="Times New Roman"/>
              </a:rPr>
              <a:t>log</a:t>
            </a:r>
            <a:r>
              <a:rPr sz="2400" b="1" spc="-220" dirty="0" smtClean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3180194"/>
            <a:ext cx="4800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22" baseline="-24691" dirty="0">
                <a:latin typeface="Times New Roman"/>
                <a:cs typeface="Times New Roman"/>
              </a:rPr>
              <a:t>n</a:t>
            </a:r>
            <a:r>
              <a:rPr sz="2400" b="1" spc="15" dirty="0">
                <a:latin typeface="Times New Roman"/>
                <a:cs typeface="Times New Roman"/>
              </a:rPr>
              <a:t>log</a:t>
            </a:r>
            <a:r>
              <a:rPr sz="2400" b="1" spc="-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log</a:t>
            </a:r>
            <a:r>
              <a:rPr sz="2400" b="1" spc="-16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90" dirty="0">
                <a:latin typeface="Times New Roman"/>
                <a:cs typeface="Times New Roman"/>
              </a:rPr>
              <a:t> </a:t>
            </a:r>
            <a:r>
              <a:rPr sz="2400" b="1" spc="-7" baseline="-24691" dirty="0" smtClean="0">
                <a:latin typeface="Times New Roman"/>
                <a:cs typeface="Times New Roman"/>
              </a:rPr>
              <a:t>,</a:t>
            </a:r>
            <a:r>
              <a:rPr lang="en-US" sz="2400" baseline="-24691" dirty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b="1" spc="22" baseline="-24691" dirty="0" smtClean="0">
                <a:latin typeface="Times New Roman"/>
                <a:cs typeface="Times New Roman"/>
              </a:rPr>
              <a:t>2</a:t>
            </a:r>
            <a:r>
              <a:rPr sz="2400" b="1" spc="15" dirty="0" smtClean="0">
                <a:latin typeface="Times New Roman"/>
                <a:cs typeface="Times New Roman"/>
              </a:rPr>
              <a:t>log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250" dirty="0">
                <a:latin typeface="Times New Roman"/>
                <a:cs typeface="Times New Roman"/>
              </a:rPr>
              <a:t> </a:t>
            </a:r>
            <a:r>
              <a:rPr sz="2400" b="1" spc="-7" baseline="-24691" dirty="0">
                <a:latin typeface="Times New Roman"/>
                <a:cs typeface="Times New Roman"/>
              </a:rPr>
              <a:t>,</a:t>
            </a:r>
            <a:endParaRPr sz="2400" baseline="-24691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5886" y="2277324"/>
            <a:ext cx="3782635" cy="15677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67005" algn="r">
              <a:lnSpc>
                <a:spcPts val="660"/>
              </a:lnSpc>
              <a:spcBef>
                <a:spcPts val="135"/>
              </a:spcBef>
            </a:pPr>
            <a:r>
              <a:rPr sz="2400" b="1" i="1" spc="15" dirty="0" err="1" smtClean="0">
                <a:latin typeface="Times New Roman"/>
                <a:cs typeface="Times New Roman"/>
              </a:rPr>
              <a:t>n</a:t>
            </a:r>
            <a:r>
              <a:rPr sz="2400" b="1" spc="-5" dirty="0" err="1" smtClean="0">
                <a:latin typeface="Times New Roman"/>
                <a:cs typeface="Times New Roman"/>
              </a:rPr>
              <a:t>log</a:t>
            </a:r>
            <a:r>
              <a:rPr sz="2400" b="1" spc="-215" dirty="0" smtClean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i="1" spc="-3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	</a:t>
            </a:r>
            <a:r>
              <a:rPr lang="en-US" sz="2400" b="1" spc="-5" dirty="0" smtClean="0">
                <a:latin typeface="Times New Roman"/>
                <a:cs typeface="Times New Roman"/>
              </a:rPr>
              <a:t>  </a:t>
            </a:r>
            <a:r>
              <a:rPr sz="2400" b="1" spc="-5" dirty="0" smtClean="0">
                <a:latin typeface="Times New Roman"/>
                <a:cs typeface="Times New Roman"/>
              </a:rPr>
              <a:t>(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380" dirty="0">
                <a:latin typeface="Times New Roman"/>
                <a:cs typeface="Times New Roman"/>
              </a:rPr>
              <a:t> </a:t>
            </a:r>
            <a:r>
              <a:rPr sz="2400" b="1" i="1" spc="15" dirty="0">
                <a:latin typeface="Times New Roman"/>
                <a:cs typeface="Times New Roman"/>
              </a:rPr>
              <a:t>n</a:t>
            </a:r>
            <a:r>
              <a:rPr sz="2400" b="1" spc="15" dirty="0">
                <a:latin typeface="Times New Roman"/>
                <a:cs typeface="Times New Roman"/>
              </a:rPr>
              <a:t>)</a:t>
            </a:r>
            <a:r>
              <a:rPr sz="2400" b="1" spc="22" baseline="42735" dirty="0">
                <a:latin typeface="Times New Roman"/>
                <a:cs typeface="Times New Roman"/>
              </a:rPr>
              <a:t>log </a:t>
            </a:r>
            <a:r>
              <a:rPr sz="2400" b="1" i="1" baseline="42735" dirty="0">
                <a:latin typeface="Times New Roman"/>
                <a:cs typeface="Times New Roman"/>
              </a:rPr>
              <a:t>n</a:t>
            </a:r>
            <a:r>
              <a:rPr sz="2400" b="1" i="1" spc="-97" baseline="427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	</a:t>
            </a:r>
            <a:r>
              <a:rPr sz="2400" b="1" spc="40" dirty="0">
                <a:latin typeface="Times New Roman"/>
                <a:cs typeface="Times New Roman"/>
              </a:rPr>
              <a:t>2</a:t>
            </a:r>
            <a:r>
              <a:rPr sz="2400" b="1" spc="60" baseline="42735" dirty="0">
                <a:latin typeface="Times New Roman"/>
                <a:cs typeface="Times New Roman"/>
              </a:rPr>
              <a:t>2</a:t>
            </a:r>
            <a:r>
              <a:rPr sz="2400" b="1" spc="367" baseline="427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7856" y="1291980"/>
            <a:ext cx="1304343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i="1" spc="60" baseline="-24691" dirty="0">
                <a:latin typeface="Times New Roman"/>
                <a:cs typeface="Times New Roman"/>
              </a:rPr>
              <a:t>n</a:t>
            </a:r>
            <a:r>
              <a:rPr sz="2400" b="1" spc="40" dirty="0">
                <a:latin typeface="Times New Roman"/>
                <a:cs typeface="Times New Roman"/>
              </a:rPr>
              <a:t>1/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log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90" dirty="0">
                <a:latin typeface="Times New Roman"/>
                <a:cs typeface="Times New Roman"/>
              </a:rPr>
              <a:t> </a:t>
            </a:r>
            <a:r>
              <a:rPr sz="2400" b="1" spc="-7" baseline="-24691" dirty="0">
                <a:latin typeface="Times New Roman"/>
                <a:cs typeface="Times New Roman"/>
              </a:rPr>
              <a:t>,</a:t>
            </a:r>
            <a:endParaRPr sz="2400" baseline="-24691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683" y="1450280"/>
            <a:ext cx="3876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99515" algn="l"/>
                <a:tab pos="2216150" algn="l"/>
                <a:tab pos="2687955" algn="l"/>
                <a:tab pos="3284854" algn="l"/>
              </a:tabLst>
            </a:pPr>
            <a:r>
              <a:rPr sz="2400" b="1" spc="15" dirty="0">
                <a:latin typeface="Times New Roman"/>
                <a:cs typeface="Times New Roman"/>
              </a:rPr>
              <a:t>log(</a:t>
            </a:r>
            <a:r>
              <a:rPr sz="2400" b="1" i="1" spc="15" dirty="0">
                <a:latin typeface="Times New Roman"/>
                <a:cs typeface="Times New Roman"/>
              </a:rPr>
              <a:t>n</a:t>
            </a:r>
            <a:r>
              <a:rPr sz="2400" b="1" spc="15" dirty="0">
                <a:latin typeface="Times New Roman"/>
                <a:cs typeface="Times New Roman"/>
              </a:rPr>
              <a:t>!),	</a:t>
            </a:r>
            <a:r>
              <a:rPr sz="2400" b="1" spc="35" dirty="0">
                <a:latin typeface="Times New Roman"/>
                <a:cs typeface="Times New Roman"/>
              </a:rPr>
              <a:t>log</a:t>
            </a:r>
            <a:r>
              <a:rPr sz="2400" b="1" spc="52" baseline="42735" dirty="0">
                <a:latin typeface="Times New Roman"/>
                <a:cs typeface="Times New Roman"/>
              </a:rPr>
              <a:t>2</a:t>
            </a:r>
            <a:r>
              <a:rPr sz="2400" b="1" spc="315" baseline="427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,	</a:t>
            </a:r>
            <a:r>
              <a:rPr sz="2400" b="1" spc="-40" dirty="0">
                <a:latin typeface="Times New Roman"/>
                <a:cs typeface="Times New Roman"/>
              </a:rPr>
              <a:t>1,	</a:t>
            </a:r>
            <a:r>
              <a:rPr sz="2400" b="1" i="1" spc="5" dirty="0">
                <a:latin typeface="Times New Roman"/>
                <a:cs typeface="Times New Roman"/>
              </a:rPr>
              <a:t>n</a:t>
            </a:r>
            <a:r>
              <a:rPr sz="2400" b="1" spc="5" dirty="0">
                <a:latin typeface="Times New Roman"/>
                <a:cs typeface="Times New Roman"/>
              </a:rPr>
              <a:t>!,	</a:t>
            </a:r>
            <a:r>
              <a:rPr sz="2400" b="1" i="1" spc="40" dirty="0">
                <a:latin typeface="Times New Roman"/>
                <a:cs typeface="Times New Roman"/>
              </a:rPr>
              <a:t>n</a:t>
            </a:r>
            <a:r>
              <a:rPr sz="2400" b="1" spc="40" dirty="0">
                <a:latin typeface="Times New Roman"/>
                <a:cs typeface="Times New Roman"/>
              </a:rPr>
              <a:t>2</a:t>
            </a:r>
            <a:r>
              <a:rPr sz="2400" b="1" i="1" spc="60" baseline="42735" dirty="0">
                <a:latin typeface="Times New Roman"/>
                <a:cs typeface="Times New Roman"/>
              </a:rPr>
              <a:t>n</a:t>
            </a:r>
            <a:r>
              <a:rPr sz="2400" b="1" i="1" spc="-150" baseline="427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7653F30-15BF-4357-A274-953CCD81CF54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6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66973"/>
            <a:ext cx="8305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例：按照阶排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序</a:t>
            </a:r>
          </a:p>
        </p:txBody>
      </p:sp>
      <p:sp>
        <p:nvSpPr>
          <p:cNvPr id="3" name="object 3"/>
          <p:cNvSpPr/>
          <p:nvPr/>
        </p:nvSpPr>
        <p:spPr>
          <a:xfrm>
            <a:off x="3189010" y="2802424"/>
            <a:ext cx="35560" cy="22225"/>
          </a:xfrm>
          <a:custGeom>
            <a:avLst/>
            <a:gdLst/>
            <a:ahLst/>
            <a:cxnLst/>
            <a:rect l="l" t="t" r="r" b="b"/>
            <a:pathLst>
              <a:path w="35560" h="22225">
                <a:moveTo>
                  <a:pt x="0" y="21994"/>
                </a:moveTo>
                <a:lnTo>
                  <a:pt x="35054" y="0"/>
                </a:lnTo>
              </a:path>
            </a:pathLst>
          </a:custGeom>
          <a:ln w="12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224064" y="2808708"/>
            <a:ext cx="50800" cy="128270"/>
          </a:xfrm>
          <a:custGeom>
            <a:avLst/>
            <a:gdLst/>
            <a:ahLst/>
            <a:cxnLst/>
            <a:rect l="l" t="t" r="r" b="b"/>
            <a:pathLst>
              <a:path w="50800" h="128269">
                <a:moveTo>
                  <a:pt x="0" y="0"/>
                </a:moveTo>
                <a:lnTo>
                  <a:pt x="50793" y="128037"/>
                </a:lnTo>
              </a:path>
            </a:pathLst>
          </a:custGeom>
          <a:ln w="2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280581" y="2565987"/>
            <a:ext cx="67310" cy="370840"/>
          </a:xfrm>
          <a:custGeom>
            <a:avLst/>
            <a:gdLst/>
            <a:ahLst/>
            <a:cxnLst/>
            <a:rect l="l" t="t" r="r" b="b"/>
            <a:pathLst>
              <a:path w="67310" h="370839">
                <a:moveTo>
                  <a:pt x="0" y="370759"/>
                </a:moveTo>
                <a:lnTo>
                  <a:pt x="67247" y="0"/>
                </a:lnTo>
              </a:path>
            </a:pathLst>
          </a:custGeom>
          <a:ln w="11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347828" y="2565986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0" y="0"/>
                </a:moveTo>
                <a:lnTo>
                  <a:pt x="572317" y="0"/>
                </a:lnTo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234176" y="2553408"/>
            <a:ext cx="2806065" cy="7803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1068705" algn="l"/>
                <a:tab pos="2125980" algn="l"/>
              </a:tabLst>
            </a:pPr>
            <a:r>
              <a:rPr sz="2400" b="1" spc="-35" dirty="0">
                <a:latin typeface="Times New Roman"/>
                <a:cs typeface="Times New Roman"/>
              </a:rPr>
              <a:t>log</a:t>
            </a:r>
            <a:r>
              <a:rPr sz="2400" b="1" spc="-52" baseline="43209" dirty="0">
                <a:latin typeface="Times New Roman"/>
                <a:cs typeface="Times New Roman"/>
              </a:rPr>
              <a:t>2</a:t>
            </a:r>
            <a:r>
              <a:rPr sz="2400" b="1" spc="262" baseline="43209" dirty="0">
                <a:latin typeface="Times New Roman"/>
                <a:cs typeface="Times New Roman"/>
              </a:rPr>
              <a:t> </a:t>
            </a:r>
            <a:r>
              <a:rPr sz="2400" b="1" i="1" spc="-75" dirty="0">
                <a:latin typeface="Times New Roman"/>
                <a:cs typeface="Times New Roman"/>
              </a:rPr>
              <a:t>n</a:t>
            </a:r>
            <a:r>
              <a:rPr sz="2400" b="1" spc="-75" dirty="0">
                <a:latin typeface="Times New Roman"/>
                <a:cs typeface="Times New Roman"/>
              </a:rPr>
              <a:t>,	</a:t>
            </a:r>
            <a:r>
              <a:rPr sz="2400" b="1" spc="-80" dirty="0">
                <a:latin typeface="Times New Roman"/>
                <a:cs typeface="Times New Roman"/>
              </a:rPr>
              <a:t>log</a:t>
            </a:r>
            <a:r>
              <a:rPr sz="2400" b="1" spc="-240" dirty="0">
                <a:latin typeface="Times New Roman"/>
                <a:cs typeface="Times New Roman"/>
              </a:rPr>
              <a:t> </a:t>
            </a:r>
            <a:r>
              <a:rPr sz="2400" b="1" i="1" spc="-75" dirty="0">
                <a:latin typeface="Times New Roman"/>
                <a:cs typeface="Times New Roman"/>
              </a:rPr>
              <a:t>n</a:t>
            </a:r>
            <a:r>
              <a:rPr sz="2400" b="1" spc="-75" dirty="0">
                <a:latin typeface="Times New Roman"/>
                <a:cs typeface="Times New Roman"/>
              </a:rPr>
              <a:t>,	</a:t>
            </a:r>
            <a:r>
              <a:rPr sz="2400" b="1" spc="-80" dirty="0">
                <a:latin typeface="Times New Roman"/>
                <a:cs typeface="Times New Roman"/>
              </a:rPr>
              <a:t>log</a:t>
            </a:r>
            <a:r>
              <a:rPr sz="2400" b="1" spc="-295" dirty="0">
                <a:latin typeface="Times New Roman"/>
                <a:cs typeface="Times New Roman"/>
              </a:rPr>
              <a:t> </a:t>
            </a:r>
            <a:r>
              <a:rPr sz="2400" b="1" i="1" spc="15" dirty="0">
                <a:latin typeface="Times New Roman"/>
                <a:cs typeface="Times New Roman"/>
              </a:rPr>
              <a:t>n</a:t>
            </a:r>
            <a:r>
              <a:rPr sz="2400" b="1" spc="15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165"/>
              </a:spcBef>
            </a:pPr>
            <a:r>
              <a:rPr sz="2400" b="1" i="1" spc="-30" baseline="-24822" dirty="0">
                <a:latin typeface="Times New Roman"/>
                <a:cs typeface="Times New Roman"/>
              </a:rPr>
              <a:t>n</a:t>
            </a:r>
            <a:r>
              <a:rPr sz="2400" b="1" spc="-20" dirty="0">
                <a:latin typeface="Times New Roman"/>
                <a:cs typeface="Times New Roman"/>
              </a:rPr>
              <a:t>1/ </a:t>
            </a:r>
            <a:r>
              <a:rPr sz="2400" b="1" spc="-40" dirty="0">
                <a:latin typeface="Times New Roman"/>
                <a:cs typeface="Times New Roman"/>
              </a:rPr>
              <a:t>log </a:t>
            </a:r>
            <a:r>
              <a:rPr sz="2400" b="1" i="1" spc="-50" dirty="0">
                <a:latin typeface="Times New Roman"/>
                <a:cs typeface="Times New Roman"/>
              </a:rPr>
              <a:t>n </a:t>
            </a:r>
            <a:r>
              <a:rPr sz="2400" b="1" spc="-157" baseline="-24822" dirty="0">
                <a:latin typeface="Symbol"/>
                <a:cs typeface="Symbol"/>
              </a:rPr>
              <a:t></a:t>
            </a:r>
            <a:r>
              <a:rPr sz="2400" b="1" spc="-427" baseline="-24822" dirty="0">
                <a:latin typeface="Times New Roman"/>
                <a:cs typeface="Times New Roman"/>
              </a:rPr>
              <a:t> </a:t>
            </a:r>
            <a:r>
              <a:rPr sz="2400" b="1" spc="-142" baseline="-24822" dirty="0">
                <a:latin typeface="Times New Roman"/>
                <a:cs typeface="Times New Roman"/>
              </a:rPr>
              <a:t>1</a:t>
            </a:r>
            <a:endParaRPr sz="2400" baseline="-24822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9140" y="1218933"/>
            <a:ext cx="3860350" cy="1716496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125"/>
              </a:spcBef>
            </a:pPr>
            <a:r>
              <a:rPr sz="2400" b="1" spc="-120" baseline="-24822" dirty="0">
                <a:latin typeface="Times New Roman"/>
                <a:cs typeface="Times New Roman"/>
              </a:rPr>
              <a:t>(log</a:t>
            </a:r>
            <a:r>
              <a:rPr sz="2400" b="1" spc="-390" baseline="-24822" dirty="0">
                <a:latin typeface="Times New Roman"/>
                <a:cs typeface="Times New Roman"/>
              </a:rPr>
              <a:t> </a:t>
            </a:r>
            <a:r>
              <a:rPr sz="2400" b="1" i="1" spc="-60" baseline="-24822" dirty="0">
                <a:latin typeface="Times New Roman"/>
                <a:cs typeface="Times New Roman"/>
              </a:rPr>
              <a:t>n</a:t>
            </a:r>
            <a:r>
              <a:rPr sz="2400" b="1" spc="-60" baseline="-24822" dirty="0">
                <a:latin typeface="Times New Roman"/>
                <a:cs typeface="Times New Roman"/>
              </a:rPr>
              <a:t>)</a:t>
            </a:r>
            <a:r>
              <a:rPr sz="2400" b="1" spc="-40" dirty="0">
                <a:latin typeface="Times New Roman"/>
                <a:cs typeface="Times New Roman"/>
              </a:rPr>
              <a:t>log</a:t>
            </a:r>
            <a:r>
              <a:rPr sz="2400" b="1" spc="-175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n</a:t>
            </a:r>
            <a:r>
              <a:rPr sz="2400" b="1" i="1" spc="80" dirty="0">
                <a:latin typeface="Times New Roman"/>
                <a:cs typeface="Times New Roman"/>
              </a:rPr>
              <a:t> </a:t>
            </a:r>
            <a:r>
              <a:rPr sz="2400" b="1" spc="-157" baseline="-24822" dirty="0">
                <a:latin typeface="Symbol"/>
                <a:cs typeface="Symbol"/>
              </a:rPr>
              <a:t></a:t>
            </a:r>
            <a:r>
              <a:rPr sz="2400" b="1" spc="-37" baseline="-24822" dirty="0">
                <a:latin typeface="Times New Roman"/>
                <a:cs typeface="Times New Roman"/>
              </a:rPr>
              <a:t> </a:t>
            </a:r>
            <a:r>
              <a:rPr sz="2400" b="1" i="1" spc="-60" baseline="-24822" dirty="0">
                <a:latin typeface="Times New Roman"/>
                <a:cs typeface="Times New Roman"/>
              </a:rPr>
              <a:t>n</a:t>
            </a:r>
            <a:r>
              <a:rPr sz="2400" b="1" spc="-40" dirty="0">
                <a:latin typeface="Times New Roman"/>
                <a:cs typeface="Times New Roman"/>
              </a:rPr>
              <a:t>log</a:t>
            </a:r>
            <a:r>
              <a:rPr sz="2400" b="1" spc="-20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log</a:t>
            </a:r>
            <a:r>
              <a:rPr sz="2400" b="1" spc="-175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n</a:t>
            </a:r>
            <a:r>
              <a:rPr sz="2400" b="1" i="1" spc="-95" dirty="0">
                <a:latin typeface="Times New Roman"/>
                <a:cs typeface="Times New Roman"/>
              </a:rPr>
              <a:t> </a:t>
            </a:r>
            <a:r>
              <a:rPr sz="2400" b="1" spc="-75" baseline="-24822" dirty="0">
                <a:latin typeface="Times New Roman"/>
                <a:cs typeface="Times New Roman"/>
              </a:rPr>
              <a:t>,</a:t>
            </a:r>
            <a:endParaRPr sz="2400" baseline="-24822" dirty="0">
              <a:latin typeface="Times New Roman"/>
              <a:cs typeface="Times New Roman"/>
            </a:endParaRPr>
          </a:p>
          <a:p>
            <a:pPr marL="236854">
              <a:lnSpc>
                <a:spcPct val="100000"/>
              </a:lnSpc>
              <a:spcBef>
                <a:spcPts val="1035"/>
              </a:spcBef>
            </a:pPr>
            <a:r>
              <a:rPr sz="4000" b="1" i="1" spc="-157" baseline="-24822" dirty="0">
                <a:latin typeface="Times New Roman"/>
                <a:cs typeface="Times New Roman"/>
              </a:rPr>
              <a:t>n </a:t>
            </a:r>
            <a:r>
              <a:rPr sz="4000" b="1" spc="-157" baseline="-24822" dirty="0">
                <a:latin typeface="Symbol"/>
                <a:cs typeface="Symbol"/>
              </a:rPr>
              <a:t></a:t>
            </a:r>
            <a:r>
              <a:rPr sz="4000" b="1" spc="-157" baseline="-24822" dirty="0">
                <a:latin typeface="Times New Roman"/>
                <a:cs typeface="Times New Roman"/>
              </a:rPr>
              <a:t> </a:t>
            </a:r>
            <a:r>
              <a:rPr sz="4000" b="1" spc="-60" baseline="-24822" dirty="0">
                <a:latin typeface="Times New Roman"/>
                <a:cs typeface="Times New Roman"/>
              </a:rPr>
              <a:t>2</a:t>
            </a:r>
            <a:r>
              <a:rPr sz="2400" b="1" spc="-40" dirty="0">
                <a:latin typeface="Times New Roman"/>
                <a:cs typeface="Times New Roman"/>
              </a:rPr>
              <a:t>log </a:t>
            </a:r>
            <a:r>
              <a:rPr sz="2400" b="1" i="1" spc="-50" dirty="0">
                <a:latin typeface="Times New Roman"/>
                <a:cs typeface="Times New Roman"/>
              </a:rPr>
              <a:t>n</a:t>
            </a:r>
            <a:r>
              <a:rPr sz="2400" b="1" i="1" spc="-150" dirty="0">
                <a:latin typeface="Times New Roman"/>
                <a:cs typeface="Times New Roman"/>
              </a:rPr>
              <a:t> </a:t>
            </a:r>
            <a:r>
              <a:rPr sz="2400" b="1" spc="-75" baseline="-24822" dirty="0">
                <a:latin typeface="Times New Roman"/>
                <a:cs typeface="Times New Roman"/>
              </a:rPr>
              <a:t>,</a:t>
            </a:r>
            <a:endParaRPr sz="2400" baseline="-24822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300"/>
              </a:spcBef>
            </a:pPr>
            <a:r>
              <a:rPr sz="2400" b="1" spc="-80" dirty="0">
                <a:latin typeface="Times New Roman"/>
                <a:cs typeface="Times New Roman"/>
              </a:rPr>
              <a:t>log log</a:t>
            </a:r>
            <a:r>
              <a:rPr sz="2400" b="1" spc="-455" dirty="0">
                <a:latin typeface="Times New Roman"/>
                <a:cs typeface="Times New Roman"/>
              </a:rPr>
              <a:t> </a:t>
            </a:r>
            <a:r>
              <a:rPr sz="2400" b="1" i="1" spc="-75" dirty="0">
                <a:latin typeface="Times New Roman"/>
                <a:cs typeface="Times New Roman"/>
              </a:rPr>
              <a:t>n</a:t>
            </a:r>
            <a:r>
              <a:rPr sz="2400" b="1" spc="-75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3869" y="1501485"/>
            <a:ext cx="2985135" cy="91503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6385">
              <a:lnSpc>
                <a:spcPts val="710"/>
              </a:lnSpc>
              <a:spcBef>
                <a:spcPts val="140"/>
              </a:spcBef>
            </a:pPr>
            <a:r>
              <a:rPr sz="2400" b="1" i="1" spc="-30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50800">
              <a:lnSpc>
                <a:spcPts val="2390"/>
              </a:lnSpc>
              <a:tabLst>
                <a:tab pos="727710" algn="l"/>
                <a:tab pos="1303020" algn="l"/>
                <a:tab pos="2047875" algn="l"/>
              </a:tabLst>
            </a:pPr>
            <a:r>
              <a:rPr sz="2400" b="1" spc="-30" dirty="0">
                <a:latin typeface="Times New Roman"/>
                <a:cs typeface="Times New Roman"/>
              </a:rPr>
              <a:t>2</a:t>
            </a:r>
            <a:r>
              <a:rPr sz="2400" b="1" spc="-44" baseline="43209" dirty="0">
                <a:latin typeface="Times New Roman"/>
                <a:cs typeface="Times New Roman"/>
              </a:rPr>
              <a:t>2  </a:t>
            </a:r>
            <a:r>
              <a:rPr sz="2400" b="1" spc="15" baseline="43209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	</a:t>
            </a:r>
            <a:r>
              <a:rPr sz="2400" b="1" i="1" spc="-65" dirty="0">
                <a:latin typeface="Times New Roman"/>
                <a:cs typeface="Times New Roman"/>
              </a:rPr>
              <a:t>n</a:t>
            </a:r>
            <a:r>
              <a:rPr sz="2400" b="1" spc="-65" dirty="0">
                <a:latin typeface="Times New Roman"/>
                <a:cs typeface="Times New Roman"/>
              </a:rPr>
              <a:t>!,	</a:t>
            </a:r>
            <a:r>
              <a:rPr sz="2400" b="1" i="1" spc="-45" dirty="0">
                <a:latin typeface="Times New Roman"/>
                <a:cs typeface="Times New Roman"/>
              </a:rPr>
              <a:t>n</a:t>
            </a:r>
            <a:r>
              <a:rPr sz="2400" b="1" spc="-45" dirty="0">
                <a:latin typeface="Times New Roman"/>
                <a:cs typeface="Times New Roman"/>
              </a:rPr>
              <a:t>2</a:t>
            </a:r>
            <a:r>
              <a:rPr sz="2400" b="1" i="1" spc="-67" baseline="43209" dirty="0">
                <a:latin typeface="Times New Roman"/>
                <a:cs typeface="Times New Roman"/>
              </a:rPr>
              <a:t>n</a:t>
            </a:r>
            <a:r>
              <a:rPr sz="2400" b="1" i="1" spc="-135" baseline="43209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	</a:t>
            </a:r>
            <a:r>
              <a:rPr sz="2400" b="1" spc="-35" dirty="0">
                <a:latin typeface="Times New Roman"/>
                <a:cs typeface="Times New Roman"/>
              </a:rPr>
              <a:t>(3</a:t>
            </a:r>
            <a:r>
              <a:rPr sz="2400" b="1" spc="-310" dirty="0">
                <a:latin typeface="Times New Roman"/>
                <a:cs typeface="Times New Roman"/>
              </a:rPr>
              <a:t> </a:t>
            </a:r>
            <a:r>
              <a:rPr sz="2400" b="1" spc="-55" dirty="0">
                <a:latin typeface="Times New Roman"/>
                <a:cs typeface="Times New Roman"/>
              </a:rPr>
              <a:t>/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2)</a:t>
            </a:r>
            <a:r>
              <a:rPr sz="2400" b="1" i="1" spc="-52" baseline="43209" dirty="0">
                <a:latin typeface="Times New Roman"/>
                <a:cs typeface="Times New Roman"/>
              </a:rPr>
              <a:t>n</a:t>
            </a:r>
            <a:r>
              <a:rPr sz="2400" b="1" i="1" spc="-172" baseline="43209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endParaRPr sz="24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30"/>
              </a:spcBef>
              <a:tabLst>
                <a:tab pos="648335" algn="l"/>
              </a:tabLst>
            </a:pPr>
            <a:r>
              <a:rPr sz="2400" b="1" i="1" spc="-30" dirty="0">
                <a:latin typeface="Times New Roman"/>
                <a:cs typeface="Times New Roman"/>
              </a:rPr>
              <a:t>n</a:t>
            </a:r>
            <a:r>
              <a:rPr sz="2400" b="1" spc="-44" baseline="43209" dirty="0">
                <a:latin typeface="Times New Roman"/>
                <a:cs typeface="Times New Roman"/>
              </a:rPr>
              <a:t>3</a:t>
            </a:r>
            <a:r>
              <a:rPr sz="2400" b="1" spc="-150" baseline="43209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	</a:t>
            </a:r>
            <a:r>
              <a:rPr sz="2400" b="1" spc="-55" dirty="0">
                <a:latin typeface="Times New Roman"/>
                <a:cs typeface="Times New Roman"/>
              </a:rPr>
              <a:t>log(</a:t>
            </a:r>
            <a:r>
              <a:rPr sz="2400" b="1" i="1" spc="-55" dirty="0">
                <a:latin typeface="Times New Roman"/>
                <a:cs typeface="Times New Roman"/>
              </a:rPr>
              <a:t>n</a:t>
            </a:r>
            <a:r>
              <a:rPr sz="2400" b="1" spc="-55" dirty="0">
                <a:latin typeface="Times New Roman"/>
                <a:cs typeface="Times New Roman"/>
              </a:rPr>
              <a:t>!)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Symbol"/>
                <a:cs typeface="Symbol"/>
              </a:rPr>
              <a:t>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i="1" spc="-65" dirty="0">
                <a:latin typeface="Times New Roman"/>
                <a:cs typeface="Times New Roman"/>
              </a:rPr>
              <a:t>Θ</a:t>
            </a:r>
            <a:r>
              <a:rPr sz="2400" b="1" spc="-65" dirty="0">
                <a:latin typeface="Times New Roman"/>
                <a:cs typeface="Times New Roman"/>
              </a:rPr>
              <a:t>(</a:t>
            </a:r>
            <a:r>
              <a:rPr sz="2400" b="1" i="1" spc="-65" dirty="0">
                <a:latin typeface="Times New Roman"/>
                <a:cs typeface="Times New Roman"/>
              </a:rPr>
              <a:t>n</a:t>
            </a:r>
            <a:r>
              <a:rPr sz="2400" b="1" i="1" spc="-350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log</a:t>
            </a:r>
            <a:r>
              <a:rPr sz="2400" b="1" spc="-254" dirty="0">
                <a:latin typeface="Times New Roman"/>
                <a:cs typeface="Times New Roman"/>
              </a:rPr>
              <a:t> </a:t>
            </a:r>
            <a:r>
              <a:rPr sz="2400" b="1" i="1" spc="-60" dirty="0">
                <a:latin typeface="Times New Roman"/>
                <a:cs typeface="Times New Roman"/>
              </a:rPr>
              <a:t>n</a:t>
            </a:r>
            <a:r>
              <a:rPr sz="2400" b="1" spc="-60" dirty="0">
                <a:latin typeface="Times New Roman"/>
                <a:cs typeface="Times New Roman"/>
              </a:rPr>
              <a:t>),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0DBFEBD-CE08-448C-A419-FFD82098FAB1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6233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266973"/>
            <a:ext cx="82295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黑体" pitchFamily="49" charset="-122"/>
                <a:ea typeface="黑体" pitchFamily="49" charset="-122"/>
              </a:rPr>
              <a:t>小</a:t>
            </a:r>
            <a:r>
              <a:rPr sz="4400" spc="-15" dirty="0"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00150"/>
            <a:ext cx="8229600" cy="2764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1229995" indent="-341630" algn="just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几类常用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函</a:t>
            </a:r>
            <a:r>
              <a:rPr sz="2400" b="1" spc="5" dirty="0" err="1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dirty="0" err="1">
                <a:latin typeface="Times New Roman" pitchFamily="18" charset="0"/>
                <a:cs typeface="Times New Roman" pitchFamily="18" charset="0"/>
              </a:rPr>
              <a:t>的阶的性质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2065" marR="1229995" algn="just">
              <a:lnSpc>
                <a:spcPct val="12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b="1" spc="-5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对数函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3695" marR="3377565" algn="just">
              <a:lnSpc>
                <a:spcPct val="120000"/>
              </a:lnSpc>
            </a:pPr>
            <a:r>
              <a:rPr sz="2400" b="1" spc="-5" dirty="0" err="1">
                <a:latin typeface="Times New Roman" pitchFamily="18" charset="0"/>
                <a:cs typeface="Times New Roman" pitchFamily="18" charset="0"/>
              </a:rPr>
              <a:t>指数函</a:t>
            </a:r>
            <a:r>
              <a:rPr sz="2400" b="1" spc="-10" dirty="0" err="1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353695" marR="3377565" algn="just">
              <a:lnSpc>
                <a:spcPct val="120000"/>
              </a:lnSpc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阶乘函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r>
              <a:rPr sz="2400" b="1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353695" marR="3377565" algn="just">
              <a:lnSpc>
                <a:spcPct val="120000"/>
              </a:lnSpc>
            </a:pPr>
            <a:r>
              <a:rPr sz="2400" b="1" spc="-5" dirty="0" err="1" smtClean="0">
                <a:latin typeface="Times New Roman" pitchFamily="18" charset="0"/>
                <a:cs typeface="Times New Roman" pitchFamily="18" charset="0"/>
              </a:rPr>
              <a:t>取整函</a:t>
            </a:r>
            <a:r>
              <a:rPr sz="2400" b="1" spc="-10" dirty="0" err="1" smtClean="0">
                <a:latin typeface="Times New Roman" pitchFamily="18" charset="0"/>
                <a:cs typeface="Times New Roman" pitchFamily="18" charset="0"/>
              </a:rPr>
              <a:t>数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如何利用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上</a:t>
            </a:r>
            <a:r>
              <a:rPr sz="2400" b="1" spc="5" dirty="0">
                <a:latin typeface="Times New Roman" pitchFamily="18" charset="0"/>
                <a:cs typeface="Times New Roman" pitchFamily="18" charset="0"/>
              </a:rPr>
              <a:t>述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性质估计函数的阶？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16E8180-B65A-4730-A1C5-2BDD1BAA2B72}" type="datetime1">
              <a:rPr lang="zh-CN" altLang="en-US" smtClean="0"/>
              <a:t>2019/3/13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345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</TotalTime>
  <Words>4701</Words>
  <Application>Microsoft Office PowerPoint</Application>
  <PresentationFormat>全屏显示(16:9)</PresentationFormat>
  <Paragraphs>1439</Paragraphs>
  <Slides>105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06" baseType="lpstr">
      <vt:lpstr>Office Theme</vt:lpstr>
      <vt:lpstr>《算法设计与分析》</vt:lpstr>
      <vt:lpstr>课程介绍</vt:lpstr>
      <vt:lpstr>PowerPoint 演示文稿</vt:lpstr>
      <vt:lpstr>PowerPoint 演示文稿</vt:lpstr>
      <vt:lpstr>PowerPoint 演示文稿</vt:lpstr>
      <vt:lpstr>算法课程主要内容及有关概念</vt:lpstr>
      <vt:lpstr>两个例子: 调度问题与投资问题</vt:lpstr>
      <vt:lpstr>PowerPoint 演示文稿</vt:lpstr>
      <vt:lpstr>贪心法的解</vt:lpstr>
      <vt:lpstr>问题建模</vt:lpstr>
      <vt:lpstr>贪心算法</vt:lpstr>
      <vt:lpstr>直觉不一定是正确的</vt:lpstr>
      <vt:lpstr>实例的解</vt:lpstr>
      <vt:lpstr>算法设计</vt:lpstr>
      <vt:lpstr>例2：投资问题</vt:lpstr>
      <vt:lpstr>问题建模</vt:lpstr>
      <vt:lpstr>蛮力算法</vt:lpstr>
      <vt:lpstr>实例计算</vt:lpstr>
      <vt:lpstr>蛮力算法的效率</vt:lpstr>
      <vt:lpstr>蛮力算法的效率</vt:lpstr>
      <vt:lpstr>小结</vt:lpstr>
      <vt:lpstr>问题计算复杂度的界定：               排序问题</vt:lpstr>
      <vt:lpstr>例3 排序算法的效率</vt:lpstr>
      <vt:lpstr>插入排序的插入操作</vt:lpstr>
      <vt:lpstr>插入排序运行实例</vt:lpstr>
      <vt:lpstr>冒泡排序的一次巡回</vt:lpstr>
      <vt:lpstr>冒泡排序运行实例</vt:lpstr>
      <vt:lpstr>快速排序一次递归运行</vt:lpstr>
      <vt:lpstr>二分归并排序运行实例</vt:lpstr>
      <vt:lpstr>问题的计算复杂度分析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算法及其时间复杂度</vt:lpstr>
      <vt:lpstr>问题及实例</vt:lpstr>
      <vt:lpstr>算法</vt:lpstr>
      <vt:lpstr>基本运算与输入规模</vt:lpstr>
      <vt:lpstr>输入规模</vt:lpstr>
      <vt:lpstr>基本运算的例子</vt:lpstr>
      <vt:lpstr>算法的两种时间复杂度</vt:lpstr>
      <vt:lpstr>A(n) 计算公式</vt:lpstr>
      <vt:lpstr>例子：检索</vt:lpstr>
      <vt:lpstr>顺序检索算法</vt:lpstr>
      <vt:lpstr>最坏情况的时间估计</vt:lpstr>
      <vt:lpstr>平均情况的时间估计</vt:lpstr>
      <vt:lpstr>改进顺序检索算法</vt:lpstr>
      <vt:lpstr>时间估计</vt:lpstr>
      <vt:lpstr>算法的伪码表示</vt:lpstr>
      <vt:lpstr>算法的伪码描述</vt:lpstr>
      <vt:lpstr>例：求最大公约数</vt:lpstr>
      <vt:lpstr>运行实例：n=36，m=15</vt:lpstr>
      <vt:lpstr>例：改进的顺序检索</vt:lpstr>
      <vt:lpstr>例：插入排序</vt:lpstr>
      <vt:lpstr>运行实例</vt:lpstr>
      <vt:lpstr>例：二分归并排序</vt:lpstr>
      <vt:lpstr>例：算法A的伪码</vt:lpstr>
      <vt:lpstr>power  power ∗ x  y  y + P[i]∗ power</vt:lpstr>
      <vt:lpstr>小结</vt:lpstr>
      <vt:lpstr>函数的渐近的界</vt:lpstr>
      <vt:lpstr>大O符号</vt:lpstr>
      <vt:lpstr>例子</vt:lpstr>
      <vt:lpstr>大符号</vt:lpstr>
      <vt:lpstr>例子</vt:lpstr>
      <vt:lpstr>小o符号</vt:lpstr>
      <vt:lpstr>例子</vt:lpstr>
      <vt:lpstr>小 符号</vt:lpstr>
      <vt:lpstr>例子</vt:lpstr>
      <vt:lpstr> 符号</vt:lpstr>
      <vt:lpstr>例子：素数测试</vt:lpstr>
      <vt:lpstr>小结</vt:lpstr>
      <vt:lpstr>有关函数渐 近的界的定理</vt:lpstr>
      <vt:lpstr>定理1</vt:lpstr>
      <vt:lpstr>证明定理1(1)</vt:lpstr>
      <vt:lpstr>例：估计函数的阶</vt:lpstr>
      <vt:lpstr>一些重要结果</vt:lpstr>
      <vt:lpstr>一些重要结果(续)</vt:lpstr>
      <vt:lpstr>定理 2</vt:lpstr>
      <vt:lpstr>例子</vt:lpstr>
      <vt:lpstr>定理 假设函数f 和g的定义域为自然数集，若对某个其它函数 h, 有 f =O(h) 和 g=O(h)， 那么                        f + g = O(h).</vt:lpstr>
      <vt:lpstr>小结</vt:lpstr>
      <vt:lpstr>几类重要的函数</vt:lpstr>
      <vt:lpstr>基本函数类</vt:lpstr>
      <vt:lpstr>对数函数</vt:lpstr>
      <vt:lpstr>有关性质(1)的证明</vt:lpstr>
      <vt:lpstr>有关性质(2)(3)的说明</vt:lpstr>
      <vt:lpstr>指数函数与阶乘</vt:lpstr>
      <vt:lpstr>应用：估计搜索空间大小</vt:lpstr>
      <vt:lpstr>log(n!) =  (nlogn)的证明</vt:lpstr>
      <vt:lpstr>log(n!) = O(nlogn)的证明</vt:lpstr>
      <vt:lpstr>取整函数</vt:lpstr>
      <vt:lpstr>取整函数的性质</vt:lpstr>
      <vt:lpstr>证明(1)</vt:lpstr>
      <vt:lpstr>例：按照阶排序</vt:lpstr>
      <vt:lpstr>例：按照阶排序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网络结构与效应原理</dc:title>
  <dc:creator>LI Xiaoming</dc:creator>
  <cp:lastModifiedBy>admin</cp:lastModifiedBy>
  <cp:revision>129</cp:revision>
  <dcterms:created xsi:type="dcterms:W3CDTF">2018-12-24T23:44:54Z</dcterms:created>
  <dcterms:modified xsi:type="dcterms:W3CDTF">2019-03-13T13:58:03Z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2015-03-03T00:00:00Z</vt:filetime>
  </property>
  <property fmtid="{D5CDD505-2E9C-101B-9397-08002B2CF9AE}" pid="3" name="Creator">
    <vt:lpwstr>Acrobat PDFMaker 11 PowerPoint 版</vt:lpwstr>
  </property>
  <property fmtid="{D5CDD505-2E9C-101B-9397-08002B2CF9AE}" pid="4" name="LastSaved">
    <vt:filetime>2018-12-24T00:00:00Z</vt:filetime>
  </property>
</Properties>
</file>