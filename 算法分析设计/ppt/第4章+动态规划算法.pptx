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56" r:id="rId2"/>
    <p:sldId id="257" r:id="rId3"/>
    <p:sldId id="258" r:id="rId4"/>
    <p:sldId id="259" r:id="rId5"/>
    <p:sldId id="260" r:id="rId6"/>
    <p:sldId id="261" r:id="rId7"/>
    <p:sldId id="33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9720263" cy="6480175"/>
  <p:notesSz cx="6858000" cy="9144000"/>
  <p:defaultTextStyle>
    <a:defPPr>
      <a:defRPr lang="zh-CN"/>
    </a:defPPr>
    <a:lvl1pPr marL="0" algn="l" defTabSz="777606" rtl="0" eaLnBrk="1" latinLnBrk="0" hangingPunct="1">
      <a:defRPr sz="1531" kern="1200">
        <a:solidFill>
          <a:schemeClr val="tx1"/>
        </a:solidFill>
        <a:latin typeface="+mn-lt"/>
        <a:ea typeface="+mn-ea"/>
        <a:cs typeface="+mn-cs"/>
      </a:defRPr>
    </a:lvl1pPr>
    <a:lvl2pPr marL="388803" algn="l" defTabSz="777606" rtl="0" eaLnBrk="1" latinLnBrk="0" hangingPunct="1">
      <a:defRPr sz="1531" kern="1200">
        <a:solidFill>
          <a:schemeClr val="tx1"/>
        </a:solidFill>
        <a:latin typeface="+mn-lt"/>
        <a:ea typeface="+mn-ea"/>
        <a:cs typeface="+mn-cs"/>
      </a:defRPr>
    </a:lvl2pPr>
    <a:lvl3pPr marL="777606" algn="l" defTabSz="777606" rtl="0" eaLnBrk="1" latinLnBrk="0" hangingPunct="1">
      <a:defRPr sz="1531" kern="1200">
        <a:solidFill>
          <a:schemeClr val="tx1"/>
        </a:solidFill>
        <a:latin typeface="+mn-lt"/>
        <a:ea typeface="+mn-ea"/>
        <a:cs typeface="+mn-cs"/>
      </a:defRPr>
    </a:lvl3pPr>
    <a:lvl4pPr marL="1166409" algn="l" defTabSz="777606" rtl="0" eaLnBrk="1" latinLnBrk="0" hangingPunct="1">
      <a:defRPr sz="1531" kern="1200">
        <a:solidFill>
          <a:schemeClr val="tx1"/>
        </a:solidFill>
        <a:latin typeface="+mn-lt"/>
        <a:ea typeface="+mn-ea"/>
        <a:cs typeface="+mn-cs"/>
      </a:defRPr>
    </a:lvl4pPr>
    <a:lvl5pPr marL="1555212" algn="l" defTabSz="777606" rtl="0" eaLnBrk="1" latinLnBrk="0" hangingPunct="1">
      <a:defRPr sz="1531" kern="1200">
        <a:solidFill>
          <a:schemeClr val="tx1"/>
        </a:solidFill>
        <a:latin typeface="+mn-lt"/>
        <a:ea typeface="+mn-ea"/>
        <a:cs typeface="+mn-cs"/>
      </a:defRPr>
    </a:lvl5pPr>
    <a:lvl6pPr marL="1944014" algn="l" defTabSz="777606" rtl="0" eaLnBrk="1" latinLnBrk="0" hangingPunct="1">
      <a:defRPr sz="1531" kern="1200">
        <a:solidFill>
          <a:schemeClr val="tx1"/>
        </a:solidFill>
        <a:latin typeface="+mn-lt"/>
        <a:ea typeface="+mn-ea"/>
        <a:cs typeface="+mn-cs"/>
      </a:defRPr>
    </a:lvl6pPr>
    <a:lvl7pPr marL="2332817" algn="l" defTabSz="777606" rtl="0" eaLnBrk="1" latinLnBrk="0" hangingPunct="1">
      <a:defRPr sz="1531" kern="1200">
        <a:solidFill>
          <a:schemeClr val="tx1"/>
        </a:solidFill>
        <a:latin typeface="+mn-lt"/>
        <a:ea typeface="+mn-ea"/>
        <a:cs typeface="+mn-cs"/>
      </a:defRPr>
    </a:lvl7pPr>
    <a:lvl8pPr marL="2721620" algn="l" defTabSz="777606" rtl="0" eaLnBrk="1" latinLnBrk="0" hangingPunct="1">
      <a:defRPr sz="1531" kern="1200">
        <a:solidFill>
          <a:schemeClr val="tx1"/>
        </a:solidFill>
        <a:latin typeface="+mn-lt"/>
        <a:ea typeface="+mn-ea"/>
        <a:cs typeface="+mn-cs"/>
      </a:defRPr>
    </a:lvl8pPr>
    <a:lvl9pPr marL="3110423" algn="l" defTabSz="777606" rtl="0" eaLnBrk="1" latinLnBrk="0" hangingPunct="1">
      <a:defRPr sz="1531"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041">
          <p15:clr>
            <a:srgbClr val="A4A3A4"/>
          </p15:clr>
        </p15:guide>
        <p15:guide id="2" pos="30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092" y="-60"/>
      </p:cViewPr>
      <p:guideLst>
        <p:guide orient="horz" pos="2041"/>
        <p:guide pos="30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DECBF0-DBC2-47DD-83A6-0304AD21E319}" type="datetimeFigureOut">
              <a:rPr lang="zh-CN" altLang="en-US" smtClean="0"/>
              <a:t>2019/5/7</a:t>
            </a:fld>
            <a:endParaRPr lang="zh-CN" altLang="en-US"/>
          </a:p>
        </p:txBody>
      </p:sp>
      <p:sp>
        <p:nvSpPr>
          <p:cNvPr id="4" name="幻灯片图像占位符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5F843E-061E-4382-A777-7FF12644A080}" type="slidenum">
              <a:rPr lang="zh-CN" altLang="en-US" smtClean="0"/>
              <a:t>‹#›</a:t>
            </a:fld>
            <a:endParaRPr lang="zh-CN" altLang="en-US"/>
          </a:p>
        </p:txBody>
      </p:sp>
    </p:spTree>
    <p:extLst>
      <p:ext uri="{BB962C8B-B14F-4D97-AF65-F5344CB8AC3E}">
        <p14:creationId xmlns:p14="http://schemas.microsoft.com/office/powerpoint/2010/main" val="240593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05F843E-061E-4382-A777-7FF12644A080}" type="slidenum">
              <a:rPr lang="zh-CN" altLang="en-US" smtClean="0"/>
              <a:t>7</a:t>
            </a:fld>
            <a:endParaRPr lang="zh-CN" altLang="en-US"/>
          </a:p>
        </p:txBody>
      </p:sp>
    </p:spTree>
    <p:extLst>
      <p:ext uri="{BB962C8B-B14F-4D97-AF65-F5344CB8AC3E}">
        <p14:creationId xmlns:p14="http://schemas.microsoft.com/office/powerpoint/2010/main" val="806090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05F843E-061E-4382-A777-7FF12644A080}" type="slidenum">
              <a:rPr lang="zh-CN" altLang="en-US" smtClean="0"/>
              <a:t>25</a:t>
            </a:fld>
            <a:endParaRPr lang="zh-CN" altLang="en-US"/>
          </a:p>
        </p:txBody>
      </p:sp>
    </p:spTree>
    <p:extLst>
      <p:ext uri="{BB962C8B-B14F-4D97-AF65-F5344CB8AC3E}">
        <p14:creationId xmlns:p14="http://schemas.microsoft.com/office/powerpoint/2010/main" val="1907837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729020" y="1060529"/>
            <a:ext cx="8262224" cy="2256061"/>
          </a:xfrm>
        </p:spPr>
        <p:txBody>
          <a:bodyPr anchor="b"/>
          <a:lstStyle>
            <a:lvl1pPr algn="ctr">
              <a:defRPr sz="5669"/>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215033" y="3403592"/>
            <a:ext cx="7290197" cy="1564542"/>
          </a:xfrm>
        </p:spPr>
        <p:txBody>
          <a:bodyPr/>
          <a:lstStyle>
            <a:lvl1pPr marL="0" indent="0" algn="ctr">
              <a:buNone/>
              <a:defRPr sz="2268"/>
            </a:lvl1pPr>
            <a:lvl2pPr marL="432008" indent="0" algn="ctr">
              <a:buNone/>
              <a:defRPr sz="1890"/>
            </a:lvl2pPr>
            <a:lvl3pPr marL="864017" indent="0" algn="ctr">
              <a:buNone/>
              <a:defRPr sz="1701"/>
            </a:lvl3pPr>
            <a:lvl4pPr marL="1296025" indent="0" algn="ctr">
              <a:buNone/>
              <a:defRPr sz="1512"/>
            </a:lvl4pPr>
            <a:lvl5pPr marL="1728033" indent="0" algn="ctr">
              <a:buNone/>
              <a:defRPr sz="1512"/>
            </a:lvl5pPr>
            <a:lvl6pPr marL="2160041" indent="0" algn="ctr">
              <a:buNone/>
              <a:defRPr sz="1512"/>
            </a:lvl6pPr>
            <a:lvl7pPr marL="2592050" indent="0" algn="ctr">
              <a:buNone/>
              <a:defRPr sz="1512"/>
            </a:lvl7pPr>
            <a:lvl8pPr marL="3024058" indent="0" algn="ctr">
              <a:buNone/>
              <a:defRPr sz="1512"/>
            </a:lvl8pPr>
            <a:lvl9pPr marL="3456066" indent="0" algn="ctr">
              <a:buNone/>
              <a:defRPr sz="1512"/>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2017870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2592568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63206" y="1615546"/>
            <a:ext cx="8383727" cy="2695572"/>
          </a:xfrm>
        </p:spPr>
        <p:txBody>
          <a:bodyPr anchor="b"/>
          <a:lstStyle>
            <a:lvl1pPr>
              <a:defRPr sz="5669"/>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63206" y="4336619"/>
            <a:ext cx="8383727" cy="1417538"/>
          </a:xfrm>
        </p:spPr>
        <p:txBody>
          <a:bodyPr/>
          <a:lstStyle>
            <a:lvl1pPr marL="0" indent="0">
              <a:buNone/>
              <a:defRPr sz="2268">
                <a:solidFill>
                  <a:schemeClr val="tx1"/>
                </a:solidFill>
              </a:defRPr>
            </a:lvl1pPr>
            <a:lvl2pPr marL="432008" indent="0">
              <a:buNone/>
              <a:defRPr sz="1890">
                <a:solidFill>
                  <a:schemeClr val="tx1">
                    <a:tint val="75000"/>
                  </a:schemeClr>
                </a:solidFill>
              </a:defRPr>
            </a:lvl2pPr>
            <a:lvl3pPr marL="864017" indent="0">
              <a:buNone/>
              <a:defRPr sz="1701">
                <a:solidFill>
                  <a:schemeClr val="tx1">
                    <a:tint val="75000"/>
                  </a:schemeClr>
                </a:solidFill>
              </a:defRPr>
            </a:lvl3pPr>
            <a:lvl4pPr marL="1296025" indent="0">
              <a:buNone/>
              <a:defRPr sz="1512">
                <a:solidFill>
                  <a:schemeClr val="tx1">
                    <a:tint val="75000"/>
                  </a:schemeClr>
                </a:solidFill>
              </a:defRPr>
            </a:lvl4pPr>
            <a:lvl5pPr marL="1728033" indent="0">
              <a:buNone/>
              <a:defRPr sz="1512">
                <a:solidFill>
                  <a:schemeClr val="tx1">
                    <a:tint val="75000"/>
                  </a:schemeClr>
                </a:solidFill>
              </a:defRPr>
            </a:lvl5pPr>
            <a:lvl6pPr marL="2160041" indent="0">
              <a:buNone/>
              <a:defRPr sz="1512">
                <a:solidFill>
                  <a:schemeClr val="tx1">
                    <a:tint val="75000"/>
                  </a:schemeClr>
                </a:solidFill>
              </a:defRPr>
            </a:lvl6pPr>
            <a:lvl7pPr marL="2592050" indent="0">
              <a:buNone/>
              <a:defRPr sz="1512">
                <a:solidFill>
                  <a:schemeClr val="tx1">
                    <a:tint val="75000"/>
                  </a:schemeClr>
                </a:solidFill>
              </a:defRPr>
            </a:lvl7pPr>
            <a:lvl8pPr marL="3024058" indent="0">
              <a:buNone/>
              <a:defRPr sz="1512">
                <a:solidFill>
                  <a:schemeClr val="tx1">
                    <a:tint val="75000"/>
                  </a:schemeClr>
                </a:solidFill>
              </a:defRPr>
            </a:lvl8pPr>
            <a:lvl9pPr marL="3456066" indent="0">
              <a:buNone/>
              <a:defRPr sz="1512">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219790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68268" y="1725046"/>
            <a:ext cx="4131112" cy="4111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920883" y="1725046"/>
            <a:ext cx="4131112" cy="4111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1811823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69534" y="345011"/>
            <a:ext cx="8383727" cy="1252534"/>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69535" y="1588543"/>
            <a:ext cx="4112126"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zh-CN" altLang="en-US" smtClean="0"/>
              <a:t>编辑母版文本样式</a:t>
            </a:r>
          </a:p>
        </p:txBody>
      </p:sp>
      <p:sp>
        <p:nvSpPr>
          <p:cNvPr id="4" name="Content Placeholder 3"/>
          <p:cNvSpPr>
            <a:spLocks noGrp="1"/>
          </p:cNvSpPr>
          <p:nvPr>
            <p:ph sz="half" idx="2"/>
          </p:nvPr>
        </p:nvSpPr>
        <p:spPr>
          <a:xfrm>
            <a:off x="669535" y="2367064"/>
            <a:ext cx="4112126" cy="348159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920884" y="1588543"/>
            <a:ext cx="4132378"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zh-CN" altLang="en-US" smtClean="0"/>
              <a:t>编辑母版文本样式</a:t>
            </a:r>
          </a:p>
        </p:txBody>
      </p:sp>
      <p:sp>
        <p:nvSpPr>
          <p:cNvPr id="6" name="Content Placeholder 5"/>
          <p:cNvSpPr>
            <a:spLocks noGrp="1"/>
          </p:cNvSpPr>
          <p:nvPr>
            <p:ph sz="quarter" idx="4"/>
          </p:nvPr>
        </p:nvSpPr>
        <p:spPr>
          <a:xfrm>
            <a:off x="4920884" y="2367064"/>
            <a:ext cx="4132378" cy="348159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2824981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1128069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4186110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69534" y="432012"/>
            <a:ext cx="3135038" cy="1512041"/>
          </a:xfrm>
        </p:spPr>
        <p:txBody>
          <a:bodyPr anchor="b"/>
          <a:lstStyle>
            <a:lvl1pPr>
              <a:defRPr sz="3024"/>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132378" y="933027"/>
            <a:ext cx="4920883" cy="4605124"/>
          </a:xfrm>
        </p:spPr>
        <p:txBody>
          <a:bodyPr/>
          <a:lstStyle>
            <a:lvl1pPr>
              <a:defRPr sz="3024"/>
            </a:lvl1pPr>
            <a:lvl2pPr>
              <a:defRPr sz="2646"/>
            </a:lvl2pPr>
            <a:lvl3pPr>
              <a:defRPr sz="2268"/>
            </a:lvl3pPr>
            <a:lvl4pPr>
              <a:defRPr sz="1890"/>
            </a:lvl4pPr>
            <a:lvl5pPr>
              <a:defRPr sz="1890"/>
            </a:lvl5pPr>
            <a:lvl6pPr>
              <a:defRPr sz="1890"/>
            </a:lvl6pPr>
            <a:lvl7pPr>
              <a:defRPr sz="1890"/>
            </a:lvl7pPr>
            <a:lvl8pPr>
              <a:defRPr sz="1890"/>
            </a:lvl8pPr>
            <a:lvl9pPr>
              <a:defRPr sz="189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69534" y="1944052"/>
            <a:ext cx="3135038"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3269988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69534" y="432012"/>
            <a:ext cx="3135038" cy="1512041"/>
          </a:xfrm>
        </p:spPr>
        <p:txBody>
          <a:bodyPr anchor="b"/>
          <a:lstStyle>
            <a:lvl1pPr>
              <a:defRPr sz="3024"/>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4132378" y="933027"/>
            <a:ext cx="4920883" cy="4605124"/>
          </a:xfrm>
        </p:spPr>
        <p:txBody>
          <a:bodyPr anchor="t"/>
          <a:lstStyle>
            <a:lvl1pPr marL="0" indent="0">
              <a:buNone/>
              <a:defRPr sz="3024"/>
            </a:lvl1pPr>
            <a:lvl2pPr marL="432008" indent="0">
              <a:buNone/>
              <a:defRPr sz="2646"/>
            </a:lvl2pPr>
            <a:lvl3pPr marL="864017" indent="0">
              <a:buNone/>
              <a:defRPr sz="2268"/>
            </a:lvl3pPr>
            <a:lvl4pPr marL="1296025" indent="0">
              <a:buNone/>
              <a:defRPr sz="1890"/>
            </a:lvl4pPr>
            <a:lvl5pPr marL="1728033" indent="0">
              <a:buNone/>
              <a:defRPr sz="1890"/>
            </a:lvl5pPr>
            <a:lvl6pPr marL="2160041" indent="0">
              <a:buNone/>
              <a:defRPr sz="1890"/>
            </a:lvl6pPr>
            <a:lvl7pPr marL="2592050" indent="0">
              <a:buNone/>
              <a:defRPr sz="1890"/>
            </a:lvl7pPr>
            <a:lvl8pPr marL="3024058" indent="0">
              <a:buNone/>
              <a:defRPr sz="1890"/>
            </a:lvl8pPr>
            <a:lvl9pPr marL="3456066" indent="0">
              <a:buNone/>
              <a:defRPr sz="189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69534" y="1944052"/>
            <a:ext cx="3135038"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1580070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153201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6064" y="345009"/>
            <a:ext cx="2095932" cy="5491649"/>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68269" y="345009"/>
            <a:ext cx="6166292" cy="5491649"/>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3767515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t>5/7/2019</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91103696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268" y="345011"/>
            <a:ext cx="8383727" cy="1252534"/>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68268" y="1725046"/>
            <a:ext cx="8383727" cy="4111612"/>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68268" y="6006164"/>
            <a:ext cx="2187059"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BDAFF40D-6DEE-4325-A8B4-C32E85178208}" type="datetimeFigureOut">
              <a:rPr lang="zh-CN" altLang="en-US" smtClean="0"/>
              <a:t>2019/5/7</a:t>
            </a:fld>
            <a:endParaRPr lang="zh-CN" altLang="en-US"/>
          </a:p>
        </p:txBody>
      </p:sp>
      <p:sp>
        <p:nvSpPr>
          <p:cNvPr id="5" name="Footer Placeholder 4"/>
          <p:cNvSpPr>
            <a:spLocks noGrp="1"/>
          </p:cNvSpPr>
          <p:nvPr>
            <p:ph type="ftr" sz="quarter" idx="3"/>
          </p:nvPr>
        </p:nvSpPr>
        <p:spPr>
          <a:xfrm>
            <a:off x="3219837" y="6006164"/>
            <a:ext cx="3280589"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64936" y="6006164"/>
            <a:ext cx="2187059"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10F284E8-5745-4625-A355-D44AB4ED42FC}" type="slidenum">
              <a:rPr lang="zh-CN" altLang="en-US" smtClean="0"/>
              <a:t>‹#›</a:t>
            </a:fld>
            <a:endParaRPr lang="zh-CN" altLang="en-US"/>
          </a:p>
        </p:txBody>
      </p:sp>
    </p:spTree>
    <p:extLst>
      <p:ext uri="{BB962C8B-B14F-4D97-AF65-F5344CB8AC3E}">
        <p14:creationId xmlns:p14="http://schemas.microsoft.com/office/powerpoint/2010/main" val="16716402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864017" rtl="0" eaLnBrk="1" latinLnBrk="0" hangingPunct="1">
        <a:lnSpc>
          <a:spcPct val="90000"/>
        </a:lnSpc>
        <a:spcBef>
          <a:spcPct val="0"/>
        </a:spcBef>
        <a:buNone/>
        <a:defRPr sz="4158" kern="1200">
          <a:solidFill>
            <a:schemeClr val="tx1"/>
          </a:solidFill>
          <a:latin typeface="+mj-lt"/>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mn-lt"/>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mn-lt"/>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mn-lt"/>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2.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peg"/><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5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85.png"/></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6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7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jpe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377514" y="2162632"/>
            <a:ext cx="6661382" cy="1107996"/>
          </a:xfrm>
          <a:prstGeom prst="rect">
            <a:avLst/>
          </a:prstGeom>
        </p:spPr>
        <p:txBody>
          <a:bodyPr wrap="square">
            <a:spAutoFit/>
          </a:bodyPr>
          <a:lstStyle/>
          <a:p>
            <a:r>
              <a:rPr lang="zh-CN" altLang="en-US" sz="6600" b="1" dirty="0">
                <a:solidFill>
                  <a:srgbClr val="CC3300"/>
                </a:solidFill>
                <a:latin typeface="宋体" panose="02010600030101010101" pitchFamily="2" charset="-122"/>
                <a:ea typeface="宋体" panose="02010600030101010101" pitchFamily="2" charset="-122"/>
              </a:rPr>
              <a:t>本周教学内容</a:t>
            </a:r>
            <a:r>
              <a:rPr lang="zh-CN" altLang="en-US" sz="6600" b="1" dirty="0">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6529698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2093" y="399435"/>
            <a:ext cx="8487824" cy="1231106"/>
          </a:xfrm>
          <a:prstGeom prst="rect">
            <a:avLst/>
          </a:prstGeom>
        </p:spPr>
        <p:txBody>
          <a:bodyPr vert="horz" wrap="square" lIns="0" tIns="0" rIns="0" bIns="0" rtlCol="0">
            <a:spAutoFit/>
          </a:bodyPr>
          <a:lstStyle/>
          <a:p>
            <a:pPr algn="ctr">
              <a:spcAft>
                <a:spcPct val="0"/>
              </a:spcAft>
            </a:pPr>
            <a:r>
              <a:rPr sz="4000" dirty="0" err="1">
                <a:solidFill>
                  <a:srgbClr val="C00000"/>
                </a:solidFill>
                <a:latin typeface="黑体" panose="02010609060101010101" pitchFamily="49" charset="-122"/>
                <a:ea typeface="黑体" panose="02010609060101010101" pitchFamily="49" charset="-122"/>
                <a:cs typeface="NBHULI+ËÎÌå"/>
              </a:rPr>
              <a:t>动态规划算法的</a:t>
            </a:r>
            <a:endParaRPr sz="4000" dirty="0">
              <a:solidFill>
                <a:srgbClr val="C00000"/>
              </a:solidFill>
              <a:latin typeface="黑体" panose="02010609060101010101" pitchFamily="49" charset="-122"/>
              <a:ea typeface="黑体" panose="02010609060101010101" pitchFamily="49" charset="-122"/>
              <a:cs typeface="NBHULI+ËÎÌå"/>
            </a:endParaRPr>
          </a:p>
          <a:p>
            <a:pPr marL="379083" algn="ctr">
              <a:spcAft>
                <a:spcPct val="0"/>
              </a:spcAft>
            </a:pPr>
            <a:r>
              <a:rPr sz="4000" dirty="0" err="1">
                <a:solidFill>
                  <a:srgbClr val="C00000"/>
                </a:solidFill>
                <a:latin typeface="黑体" panose="02010609060101010101" pitchFamily="49" charset="-122"/>
                <a:ea typeface="黑体" panose="02010609060101010101" pitchFamily="49" charset="-122"/>
                <a:cs typeface="NBHULI+ËÎÌå"/>
              </a:rPr>
              <a:t>设计与分析</a:t>
            </a:r>
            <a:endParaRPr sz="2976" dirty="0">
              <a:solidFill>
                <a:srgbClr val="C00000"/>
              </a:solidFill>
              <a:latin typeface="黑体" panose="02010609060101010101" pitchFamily="49" charset="-122"/>
              <a:ea typeface="黑体" panose="02010609060101010101" pitchFamily="49" charset="-122"/>
              <a:cs typeface="NBHULI+ËÎÌå"/>
            </a:endParaRPr>
          </a:p>
        </p:txBody>
      </p:sp>
      <p:sp>
        <p:nvSpPr>
          <p:cNvPr id="4" name="object 4"/>
          <p:cNvSpPr txBox="1"/>
          <p:nvPr/>
        </p:nvSpPr>
        <p:spPr>
          <a:xfrm>
            <a:off x="1389727" y="1051990"/>
            <a:ext cx="177395" cy="115416"/>
          </a:xfrm>
          <a:prstGeom prst="rect">
            <a:avLst/>
          </a:prstGeom>
        </p:spPr>
        <p:txBody>
          <a:bodyPr vert="horz" wrap="square" lIns="0" tIns="0" rIns="0" bIns="0" rtlCol="0">
            <a:spAutoFit/>
          </a:bodyPr>
          <a:lstStyle/>
          <a:p>
            <a:pPr>
              <a:lnSpc>
                <a:spcPts val="890"/>
              </a:lnSpc>
              <a:spcBef>
                <a:spcPct val="0"/>
              </a:spcBef>
              <a:spcAft>
                <a:spcPct val="0"/>
              </a:spcAft>
            </a:pPr>
            <a:r>
              <a:rPr sz="797">
                <a:solidFill>
                  <a:srgbClr val="000000"/>
                </a:solidFill>
                <a:latin typeface="QUGVRE+Times New Roman"/>
                <a:cs typeface="QUGVRE+Times New Roman"/>
              </a:rPr>
              <a:t>.</a:t>
            </a:r>
          </a:p>
        </p:txBody>
      </p:sp>
      <p:sp>
        <p:nvSpPr>
          <p:cNvPr id="5" name="object 5"/>
          <p:cNvSpPr txBox="1"/>
          <p:nvPr/>
        </p:nvSpPr>
        <p:spPr>
          <a:xfrm>
            <a:off x="798784" y="1937410"/>
            <a:ext cx="2448482" cy="861774"/>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投资问题</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ctr">
              <a:spcAft>
                <a:spcPct val="0"/>
              </a:spcAft>
            </a:pPr>
            <a:r>
              <a:rPr sz="2800"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3405352" y="1937004"/>
            <a:ext cx="2217683" cy="861774"/>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背包问题</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ctr">
              <a:spcAft>
                <a:spcPct val="0"/>
              </a:spcAft>
            </a:pPr>
            <a:r>
              <a:rPr sz="2800"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5775175" y="1930404"/>
            <a:ext cx="3316275" cy="861774"/>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最长公共子序列问题</a:t>
            </a:r>
            <a:endParaRPr lang="en-US" sz="2800" spc="1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ctr">
              <a:spcAft>
                <a:spcPct val="0"/>
              </a:spcAft>
            </a:pPr>
            <a:r>
              <a:rPr sz="2800"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2554218" y="3003971"/>
            <a:ext cx="1492059" cy="430887"/>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递归实现</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p:nvPr/>
        </p:nvSpPr>
        <p:spPr>
          <a:xfrm>
            <a:off x="4981336" y="3004916"/>
            <a:ext cx="1492060" cy="430887"/>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迭代实现</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10"/>
          <p:cNvSpPr txBox="1"/>
          <p:nvPr/>
        </p:nvSpPr>
        <p:spPr>
          <a:xfrm>
            <a:off x="2373959" y="3671176"/>
            <a:ext cx="4267606" cy="861774"/>
          </a:xfrm>
          <a:prstGeom prst="rect">
            <a:avLst/>
          </a:prstGeom>
          <a:ln w="25400">
            <a:solidFill>
              <a:schemeClr val="tx1"/>
            </a:solidFill>
          </a:ln>
        </p:spPr>
        <p:txBody>
          <a:bodyPr vert="horz" wrap="square" lIns="0" tIns="0" rIns="0" bIns="0" rtlCol="0">
            <a:spAutoFit/>
          </a:bodyPr>
          <a:lstStyle/>
          <a:p>
            <a:pPr algn="ctr">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动态规划算法的设计要素</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08243" algn="ctr">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例子：矩阵链相乘</a:t>
            </a:r>
            <a:endPar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txBox="1"/>
          <p:nvPr/>
        </p:nvSpPr>
        <p:spPr>
          <a:xfrm>
            <a:off x="2166006" y="4799846"/>
            <a:ext cx="4696373" cy="861774"/>
          </a:xfrm>
          <a:prstGeom prst="rect">
            <a:avLst/>
          </a:prstGeom>
          <a:ln w="25400">
            <a:solidFill>
              <a:schemeClr val="tx1"/>
            </a:solidFill>
          </a:ln>
        </p:spPr>
        <p:txBody>
          <a:bodyPr vert="horz" wrap="square" lIns="0" tIns="0" rIns="0" bIns="0" rtlCol="0">
            <a:spAutoFit/>
          </a:bodyPr>
          <a:lstStyle/>
          <a:p>
            <a:pPr algn="ctr">
              <a:spcAft>
                <a:spcPct val="0"/>
              </a:spcAft>
            </a:pPr>
            <a:r>
              <a:rPr sz="2800" spc="19"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以最短路径为例说明动态规划算法的设计思想及必要条件</a:t>
            </a:r>
            <a:endParaRPr sz="2800" spc="1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587613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2856648" y="2200025"/>
            <a:ext cx="4746404" cy="1603003"/>
          </a:xfrm>
          <a:prstGeom prst="rect">
            <a:avLst/>
          </a:prstGeom>
        </p:spPr>
        <p:txBody>
          <a:bodyPr vert="horz" wrap="square" lIns="0" tIns="0" rIns="0" bIns="0" rtlCol="0">
            <a:spAutoFit/>
          </a:bodyPr>
          <a:lstStyle/>
          <a:p>
            <a:pPr marL="364475">
              <a:lnSpc>
                <a:spcPts val="5740"/>
              </a:lnSpc>
              <a:spcBef>
                <a:spcPct val="0"/>
              </a:spcBef>
              <a:spcAft>
                <a:spcPct val="0"/>
              </a:spcAft>
            </a:pPr>
            <a:r>
              <a:rPr sz="6600" spc="15" dirty="0" err="1">
                <a:solidFill>
                  <a:srgbClr val="C00000"/>
                </a:solidFill>
                <a:latin typeface="黑体" panose="02010609060101010101" pitchFamily="49" charset="-122"/>
                <a:ea typeface="黑体" panose="02010609060101010101" pitchFamily="49" charset="-122"/>
                <a:cs typeface="LVCUMA+ËÎÌå"/>
              </a:rPr>
              <a:t>动态规划</a:t>
            </a:r>
            <a:endParaRPr sz="6600" spc="15" dirty="0">
              <a:solidFill>
                <a:srgbClr val="C00000"/>
              </a:solidFill>
              <a:latin typeface="黑体" panose="02010609060101010101" pitchFamily="49" charset="-122"/>
              <a:ea typeface="黑体" panose="02010609060101010101" pitchFamily="49" charset="-122"/>
              <a:cs typeface="LVCUMA+ËÎÌå"/>
            </a:endParaRPr>
          </a:p>
          <a:p>
            <a:pPr>
              <a:lnSpc>
                <a:spcPts val="5740"/>
              </a:lnSpc>
              <a:spcBef>
                <a:spcPts val="1149"/>
              </a:spcBef>
              <a:spcAft>
                <a:spcPct val="0"/>
              </a:spcAft>
            </a:pPr>
            <a:r>
              <a:rPr sz="6600" spc="15" dirty="0" err="1">
                <a:solidFill>
                  <a:srgbClr val="C00000"/>
                </a:solidFill>
                <a:latin typeface="黑体" panose="02010609060101010101" pitchFamily="49" charset="-122"/>
                <a:ea typeface="黑体" panose="02010609060101010101" pitchFamily="49" charset="-122"/>
                <a:cs typeface="LVCUMA+ËÎÌå"/>
              </a:rPr>
              <a:t>算法的例子</a:t>
            </a:r>
            <a:endParaRPr sz="6600" spc="15" dirty="0">
              <a:solidFill>
                <a:srgbClr val="C00000"/>
              </a:solidFill>
              <a:latin typeface="黑体" panose="02010609060101010101" pitchFamily="49" charset="-122"/>
              <a:ea typeface="黑体" panose="02010609060101010101" pitchFamily="49" charset="-122"/>
              <a:cs typeface="LVCUMA+ËÎÌå"/>
            </a:endParaRPr>
          </a:p>
        </p:txBody>
      </p:sp>
    </p:spTree>
    <p:extLst>
      <p:ext uri="{BB962C8B-B14F-4D97-AF65-F5344CB8AC3E}">
        <p14:creationId xmlns:p14="http://schemas.microsoft.com/office/powerpoint/2010/main" val="424160359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02212" y="203923"/>
            <a:ext cx="870484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spc="11" dirty="0" err="1">
                <a:solidFill>
                  <a:srgbClr val="C00000"/>
                </a:solidFill>
                <a:latin typeface="黑体" panose="02010609060101010101" pitchFamily="49" charset="-122"/>
                <a:ea typeface="黑体" panose="02010609060101010101" pitchFamily="49" charset="-122"/>
                <a:cs typeface="LVCUMA+ËÎÌå"/>
              </a:rPr>
              <a:t>最短路径问题</a:t>
            </a:r>
            <a:endParaRPr sz="4000" spc="11"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502212" y="1563592"/>
            <a:ext cx="8263416" cy="1038746"/>
          </a:xfrm>
          <a:prstGeom prst="rect">
            <a:avLst/>
          </a:prstGeom>
        </p:spPr>
        <p:txBody>
          <a:bodyPr vert="horz" wrap="square" lIns="0" tIns="0" rIns="0" bIns="0" rtlCol="0">
            <a:spAutoFit/>
          </a:bodyPr>
          <a:lstStyle/>
          <a:p>
            <a:pPr>
              <a:lnSpc>
                <a:spcPts val="2551"/>
              </a:lnSpc>
              <a:spcBef>
                <a:spcPct val="0"/>
              </a:spcBef>
              <a:spcAft>
                <a:spcPts val="1800"/>
              </a:spcAft>
            </a:pPr>
            <a:r>
              <a:rPr sz="32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问题</a:t>
            </a:r>
            <a:r>
              <a:rPr sz="3200" b="1" spc="12"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824"/>
              </a:lnSpc>
              <a:spcBef>
                <a:spcPts val="874"/>
              </a:spcBef>
              <a:spcAft>
                <a:spcPct val="0"/>
              </a:spcAft>
            </a:pPr>
            <a:r>
              <a:rPr sz="32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输入：</a:t>
            </a: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起点集合</a:t>
            </a:r>
            <a:r>
              <a:rPr sz="3200" spc="-7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sz="3200" b="1" spc="213"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sz="3200" b="1" spc="213"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sz="3200" b="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3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1744823" y="2799884"/>
            <a:ext cx="7231007" cy="359073"/>
          </a:xfrm>
          <a:prstGeom prst="rect">
            <a:avLst/>
          </a:prstGeom>
        </p:spPr>
        <p:txBody>
          <a:bodyPr vert="horz" wrap="square" lIns="0" tIns="0" rIns="0" bIns="0" rtlCol="0">
            <a:spAutoFit/>
          </a:bodyPr>
          <a:lstStyle/>
          <a:p>
            <a:pPr>
              <a:lnSpc>
                <a:spcPts val="2824"/>
              </a:lnSpc>
              <a:spcBef>
                <a:spcPct val="0"/>
              </a:spcBef>
              <a:spcAft>
                <a:spcPct val="0"/>
              </a:spcAft>
            </a:pP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终点集合</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en-US" sz="3200" b="1" spc="217"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en-US" sz="3200" b="1" spc="214"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en-US" sz="3200" b="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3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3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p:nvPr/>
        </p:nvSpPr>
        <p:spPr>
          <a:xfrm>
            <a:off x="1744822" y="3312856"/>
            <a:ext cx="3076539" cy="341247"/>
          </a:xfrm>
          <a:prstGeom prst="rect">
            <a:avLst/>
          </a:prstGeom>
        </p:spPr>
        <p:txBody>
          <a:bodyPr vert="horz" wrap="square" lIns="0" tIns="0" rIns="0" bIns="0" rtlCol="0">
            <a:spAutoFit/>
          </a:bodyPr>
          <a:lstStyle/>
          <a:p>
            <a:pPr>
              <a:lnSpc>
                <a:spcPts val="2551"/>
              </a:lnSpc>
              <a:spcBef>
                <a:spcPts val="522"/>
              </a:spcBef>
              <a:spcAft>
                <a:spcPct val="0"/>
              </a:spcAft>
            </a:pPr>
            <a:r>
              <a:rPr sz="3200"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中间结点集</a:t>
            </a:r>
            <a:r>
              <a:rPr sz="32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2" name="object 12"/>
          <p:cNvSpPr txBox="1"/>
          <p:nvPr/>
        </p:nvSpPr>
        <p:spPr>
          <a:xfrm>
            <a:off x="1744823" y="3739491"/>
            <a:ext cx="6442735" cy="359073"/>
          </a:xfrm>
          <a:prstGeom prst="rect">
            <a:avLst/>
          </a:prstGeom>
        </p:spPr>
        <p:txBody>
          <a:bodyPr vert="horz" wrap="square" lIns="0" tIns="0" rIns="0" bIns="0" rtlCol="0">
            <a:spAutoFit/>
          </a:bodyPr>
          <a:lstStyle/>
          <a:p>
            <a:pPr>
              <a:lnSpc>
                <a:spcPts val="2828"/>
              </a:lnSpc>
              <a:spcBef>
                <a:spcPct val="0"/>
              </a:spcBef>
              <a:spcAft>
                <a:spcPct val="0"/>
              </a:spcAft>
            </a:pP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边集</a:t>
            </a:r>
            <a:r>
              <a:rPr sz="3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a:t>
            </a: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，对于任意边</a:t>
            </a:r>
            <a:r>
              <a:rPr sz="32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 </a:t>
            </a: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有长度</a:t>
            </a:r>
            <a:endParaRPr sz="32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3"/>
          <p:cNvSpPr txBox="1"/>
          <p:nvPr/>
        </p:nvSpPr>
        <p:spPr>
          <a:xfrm>
            <a:off x="544254" y="4454836"/>
            <a:ext cx="7726350" cy="341247"/>
          </a:xfrm>
          <a:prstGeom prst="rect">
            <a:avLst/>
          </a:prstGeom>
        </p:spPr>
        <p:txBody>
          <a:bodyPr vert="horz" wrap="square" lIns="0" tIns="0" rIns="0" bIns="0" rtlCol="0">
            <a:spAutoFit/>
          </a:bodyPr>
          <a:lstStyle/>
          <a:p>
            <a:pPr>
              <a:lnSpc>
                <a:spcPts val="2551"/>
              </a:lnSpc>
              <a:spcBef>
                <a:spcPct val="0"/>
              </a:spcBef>
              <a:spcAft>
                <a:spcPct val="0"/>
              </a:spcAft>
            </a:pPr>
            <a:r>
              <a:rPr sz="32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输出：</a:t>
            </a:r>
            <a:r>
              <a:rPr sz="32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一条从起点到终点的最短路</a:t>
            </a:r>
            <a:endParaRPr sz="32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386726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886" y="136442"/>
            <a:ext cx="8936810"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VCUMA+ËÎÌå"/>
              </a:rPr>
              <a:t>一个实例</a:t>
            </a:r>
            <a:endParaRPr sz="4000" b="1" spc="11" dirty="0">
              <a:solidFill>
                <a:srgbClr val="C00000"/>
              </a:solidFill>
              <a:latin typeface="黑体" panose="02010609060101010101" pitchFamily="49" charset="-122"/>
              <a:ea typeface="黑体" panose="02010609060101010101" pitchFamily="49" charset="-122"/>
              <a:cs typeface="LVCUMA+ËÎÌå"/>
            </a:endParaRPr>
          </a:p>
        </p:txBody>
      </p:sp>
      <p:grpSp>
        <p:nvGrpSpPr>
          <p:cNvPr id="5" name="组合 4"/>
          <p:cNvGrpSpPr/>
          <p:nvPr/>
        </p:nvGrpSpPr>
        <p:grpSpPr>
          <a:xfrm>
            <a:off x="429213" y="1211168"/>
            <a:ext cx="630620" cy="523220"/>
            <a:chOff x="809298" y="1081087"/>
            <a:chExt cx="630620" cy="523220"/>
          </a:xfrm>
        </p:grpSpPr>
        <p:sp>
          <p:nvSpPr>
            <p:cNvPr id="18" name="矩形 17"/>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9" name="文本框 18"/>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smtClean="0"/>
                <a:t>1</a:t>
              </a:r>
              <a:endParaRPr lang="zh-CN" altLang="en-US" sz="2800" b="1" baseline="-25000" dirty="0"/>
            </a:p>
          </p:txBody>
        </p:sp>
      </p:grpSp>
      <p:grpSp>
        <p:nvGrpSpPr>
          <p:cNvPr id="6" name="组合 5"/>
          <p:cNvGrpSpPr/>
          <p:nvPr/>
        </p:nvGrpSpPr>
        <p:grpSpPr>
          <a:xfrm>
            <a:off x="431743" y="2071745"/>
            <a:ext cx="630620" cy="523220"/>
            <a:chOff x="809298" y="1081087"/>
            <a:chExt cx="630620" cy="523220"/>
          </a:xfrm>
        </p:grpSpPr>
        <p:sp>
          <p:nvSpPr>
            <p:cNvPr id="16" name="矩形 15"/>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7" name="文本框 16"/>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2</a:t>
              </a:r>
              <a:endParaRPr lang="zh-CN" altLang="en-US" sz="2800" b="1" baseline="-25000" dirty="0"/>
            </a:p>
          </p:txBody>
        </p:sp>
      </p:grpSp>
      <p:grpSp>
        <p:nvGrpSpPr>
          <p:cNvPr id="7" name="组合 6"/>
          <p:cNvGrpSpPr/>
          <p:nvPr/>
        </p:nvGrpSpPr>
        <p:grpSpPr>
          <a:xfrm>
            <a:off x="443045" y="3001158"/>
            <a:ext cx="630620" cy="523220"/>
            <a:chOff x="809298" y="1081087"/>
            <a:chExt cx="630620" cy="523220"/>
          </a:xfrm>
        </p:grpSpPr>
        <p:sp>
          <p:nvSpPr>
            <p:cNvPr id="14" name="矩形 13"/>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5" name="文本框 14"/>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3</a:t>
              </a:r>
              <a:endParaRPr lang="zh-CN" altLang="en-US" sz="2800" b="1" baseline="-25000" dirty="0"/>
            </a:p>
          </p:txBody>
        </p:sp>
      </p:grpSp>
      <p:grpSp>
        <p:nvGrpSpPr>
          <p:cNvPr id="8" name="组合 7"/>
          <p:cNvGrpSpPr/>
          <p:nvPr/>
        </p:nvGrpSpPr>
        <p:grpSpPr>
          <a:xfrm>
            <a:off x="443429" y="3921401"/>
            <a:ext cx="630620" cy="523220"/>
            <a:chOff x="809298" y="1081087"/>
            <a:chExt cx="630620" cy="523220"/>
          </a:xfrm>
        </p:grpSpPr>
        <p:sp>
          <p:nvSpPr>
            <p:cNvPr id="12" name="矩形 11"/>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3" name="文本框 12"/>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smtClean="0"/>
                <a:t>4</a:t>
              </a:r>
              <a:endParaRPr lang="zh-CN" altLang="en-US" sz="2800" b="1" baseline="-25000" dirty="0"/>
            </a:p>
          </p:txBody>
        </p:sp>
      </p:grpSp>
      <p:grpSp>
        <p:nvGrpSpPr>
          <p:cNvPr id="9" name="组合 8"/>
          <p:cNvGrpSpPr/>
          <p:nvPr/>
        </p:nvGrpSpPr>
        <p:grpSpPr>
          <a:xfrm>
            <a:off x="469886" y="4837533"/>
            <a:ext cx="630620" cy="523220"/>
            <a:chOff x="809298" y="1081087"/>
            <a:chExt cx="630620" cy="523220"/>
          </a:xfrm>
        </p:grpSpPr>
        <p:sp>
          <p:nvSpPr>
            <p:cNvPr id="10" name="矩形 9"/>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1" name="文本框 10"/>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5</a:t>
              </a:r>
              <a:endParaRPr lang="zh-CN" altLang="en-US" sz="2800" b="1" baseline="-25000" dirty="0"/>
            </a:p>
          </p:txBody>
        </p:sp>
      </p:grpSp>
      <p:grpSp>
        <p:nvGrpSpPr>
          <p:cNvPr id="21" name="组合 20"/>
          <p:cNvGrpSpPr/>
          <p:nvPr/>
        </p:nvGrpSpPr>
        <p:grpSpPr>
          <a:xfrm>
            <a:off x="2382274" y="1629802"/>
            <a:ext cx="620111" cy="544240"/>
            <a:chOff x="1660635" y="1371271"/>
            <a:chExt cx="620111" cy="544240"/>
          </a:xfrm>
        </p:grpSpPr>
        <p:sp>
          <p:nvSpPr>
            <p:cNvPr id="31" name="椭圆 30"/>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smtClean="0"/>
                <a:t>1</a:t>
              </a:r>
              <a:endParaRPr lang="zh-CN" altLang="en-US" sz="2800" b="1" baseline="-25000" dirty="0"/>
            </a:p>
          </p:txBody>
        </p:sp>
      </p:grpSp>
      <p:grpSp>
        <p:nvGrpSpPr>
          <p:cNvPr id="22" name="组合 21"/>
          <p:cNvGrpSpPr/>
          <p:nvPr/>
        </p:nvGrpSpPr>
        <p:grpSpPr>
          <a:xfrm>
            <a:off x="2377019" y="2515627"/>
            <a:ext cx="620111" cy="544240"/>
            <a:chOff x="1660635" y="1371271"/>
            <a:chExt cx="620111" cy="544240"/>
          </a:xfrm>
        </p:grpSpPr>
        <p:sp>
          <p:nvSpPr>
            <p:cNvPr id="29" name="椭圆 28"/>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a:t>2</a:t>
              </a:r>
              <a:endParaRPr lang="zh-CN" altLang="en-US" sz="2800" b="1" baseline="-25000" dirty="0"/>
            </a:p>
          </p:txBody>
        </p:sp>
      </p:grpSp>
      <p:grpSp>
        <p:nvGrpSpPr>
          <p:cNvPr id="23" name="组合 22"/>
          <p:cNvGrpSpPr/>
          <p:nvPr/>
        </p:nvGrpSpPr>
        <p:grpSpPr>
          <a:xfrm>
            <a:off x="2382272" y="3375123"/>
            <a:ext cx="620111" cy="544240"/>
            <a:chOff x="1660635" y="1371271"/>
            <a:chExt cx="620111" cy="544240"/>
          </a:xfrm>
        </p:grpSpPr>
        <p:sp>
          <p:nvSpPr>
            <p:cNvPr id="27" name="椭圆 26"/>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a:t>3</a:t>
              </a:r>
              <a:endParaRPr lang="zh-CN" altLang="en-US" sz="2800" b="1" baseline="-25000" dirty="0"/>
            </a:p>
          </p:txBody>
        </p:sp>
      </p:grpSp>
      <p:grpSp>
        <p:nvGrpSpPr>
          <p:cNvPr id="24" name="组合 23"/>
          <p:cNvGrpSpPr/>
          <p:nvPr/>
        </p:nvGrpSpPr>
        <p:grpSpPr>
          <a:xfrm>
            <a:off x="2419057" y="4324014"/>
            <a:ext cx="620111" cy="544240"/>
            <a:chOff x="1660635" y="1371271"/>
            <a:chExt cx="620111" cy="544240"/>
          </a:xfrm>
        </p:grpSpPr>
        <p:sp>
          <p:nvSpPr>
            <p:cNvPr id="25" name="椭圆 24"/>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smtClean="0"/>
                <a:t>4</a:t>
              </a:r>
              <a:endParaRPr lang="zh-CN" altLang="en-US" sz="2800" b="1" baseline="-25000" dirty="0"/>
            </a:p>
          </p:txBody>
        </p:sp>
      </p:grpSp>
      <p:grpSp>
        <p:nvGrpSpPr>
          <p:cNvPr id="33" name="组合 32"/>
          <p:cNvGrpSpPr/>
          <p:nvPr/>
        </p:nvGrpSpPr>
        <p:grpSpPr>
          <a:xfrm>
            <a:off x="4425392" y="1179638"/>
            <a:ext cx="620111" cy="544240"/>
            <a:chOff x="1660635" y="1371271"/>
            <a:chExt cx="620111" cy="544240"/>
          </a:xfrm>
        </p:grpSpPr>
        <p:sp>
          <p:nvSpPr>
            <p:cNvPr id="34" name="椭圆 33"/>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1</a:t>
              </a:r>
              <a:endParaRPr lang="zh-CN" altLang="en-US" sz="2800" b="1" baseline="-25000" dirty="0"/>
            </a:p>
          </p:txBody>
        </p:sp>
      </p:grpSp>
      <p:grpSp>
        <p:nvGrpSpPr>
          <p:cNvPr id="36" name="组合 35"/>
          <p:cNvGrpSpPr/>
          <p:nvPr/>
        </p:nvGrpSpPr>
        <p:grpSpPr>
          <a:xfrm>
            <a:off x="4420137" y="2044442"/>
            <a:ext cx="620111" cy="544240"/>
            <a:chOff x="1660635" y="1371271"/>
            <a:chExt cx="620111" cy="544240"/>
          </a:xfrm>
        </p:grpSpPr>
        <p:sp>
          <p:nvSpPr>
            <p:cNvPr id="37" name="椭圆 36"/>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2</a:t>
              </a:r>
              <a:endParaRPr lang="zh-CN" altLang="en-US" sz="2800" b="1" baseline="-25000" dirty="0"/>
            </a:p>
          </p:txBody>
        </p:sp>
      </p:grpSp>
      <p:grpSp>
        <p:nvGrpSpPr>
          <p:cNvPr id="39" name="组合 38"/>
          <p:cNvGrpSpPr/>
          <p:nvPr/>
        </p:nvGrpSpPr>
        <p:grpSpPr>
          <a:xfrm>
            <a:off x="4425390" y="2967003"/>
            <a:ext cx="620111" cy="544240"/>
            <a:chOff x="1660635" y="1371271"/>
            <a:chExt cx="620111" cy="544240"/>
          </a:xfrm>
        </p:grpSpPr>
        <p:sp>
          <p:nvSpPr>
            <p:cNvPr id="40" name="椭圆 39"/>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3</a:t>
              </a:r>
              <a:endParaRPr lang="zh-CN" altLang="en-US" sz="2800" b="1" baseline="-25000" dirty="0"/>
            </a:p>
          </p:txBody>
        </p:sp>
      </p:grpSp>
      <p:grpSp>
        <p:nvGrpSpPr>
          <p:cNvPr id="42" name="组合 41"/>
          <p:cNvGrpSpPr/>
          <p:nvPr/>
        </p:nvGrpSpPr>
        <p:grpSpPr>
          <a:xfrm>
            <a:off x="4430645" y="3884362"/>
            <a:ext cx="620111" cy="544240"/>
            <a:chOff x="1660635" y="1371271"/>
            <a:chExt cx="620111" cy="544240"/>
          </a:xfrm>
        </p:grpSpPr>
        <p:sp>
          <p:nvSpPr>
            <p:cNvPr id="43" name="椭圆 42"/>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4</a:t>
              </a:r>
              <a:endParaRPr lang="zh-CN" altLang="en-US" sz="2800" b="1" baseline="-25000" dirty="0"/>
            </a:p>
          </p:txBody>
        </p:sp>
      </p:grpSp>
      <p:grpSp>
        <p:nvGrpSpPr>
          <p:cNvPr id="45" name="组合 44"/>
          <p:cNvGrpSpPr/>
          <p:nvPr/>
        </p:nvGrpSpPr>
        <p:grpSpPr>
          <a:xfrm>
            <a:off x="4439661" y="4812439"/>
            <a:ext cx="620111" cy="544240"/>
            <a:chOff x="1660635" y="1371271"/>
            <a:chExt cx="620111" cy="544240"/>
          </a:xfrm>
        </p:grpSpPr>
        <p:sp>
          <p:nvSpPr>
            <p:cNvPr id="46" name="椭圆 45"/>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5</a:t>
              </a:r>
              <a:endParaRPr lang="zh-CN" altLang="en-US" sz="2800" b="1" baseline="-25000" dirty="0"/>
            </a:p>
          </p:txBody>
        </p:sp>
      </p:grpSp>
      <p:grpSp>
        <p:nvGrpSpPr>
          <p:cNvPr id="49" name="组合 48"/>
          <p:cNvGrpSpPr/>
          <p:nvPr/>
        </p:nvGrpSpPr>
        <p:grpSpPr>
          <a:xfrm>
            <a:off x="6437812" y="1603599"/>
            <a:ext cx="620111" cy="544240"/>
            <a:chOff x="1660635" y="1371271"/>
            <a:chExt cx="620111" cy="544240"/>
          </a:xfrm>
        </p:grpSpPr>
        <p:sp>
          <p:nvSpPr>
            <p:cNvPr id="59" name="椭圆 58"/>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1</a:t>
              </a:r>
              <a:endParaRPr lang="zh-CN" altLang="en-US" sz="2800" b="1" baseline="-25000" dirty="0"/>
            </a:p>
          </p:txBody>
        </p:sp>
      </p:grpSp>
      <p:grpSp>
        <p:nvGrpSpPr>
          <p:cNvPr id="50" name="组合 49"/>
          <p:cNvGrpSpPr/>
          <p:nvPr/>
        </p:nvGrpSpPr>
        <p:grpSpPr>
          <a:xfrm>
            <a:off x="6453577" y="2489423"/>
            <a:ext cx="620111" cy="544240"/>
            <a:chOff x="1660635" y="1371271"/>
            <a:chExt cx="620111" cy="544240"/>
          </a:xfrm>
        </p:grpSpPr>
        <p:sp>
          <p:nvSpPr>
            <p:cNvPr id="57" name="椭圆 56"/>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2</a:t>
              </a:r>
              <a:endParaRPr lang="zh-CN" altLang="en-US" sz="2800" b="1" baseline="-25000" dirty="0"/>
            </a:p>
          </p:txBody>
        </p:sp>
      </p:grpSp>
      <p:grpSp>
        <p:nvGrpSpPr>
          <p:cNvPr id="51" name="组合 50"/>
          <p:cNvGrpSpPr/>
          <p:nvPr/>
        </p:nvGrpSpPr>
        <p:grpSpPr>
          <a:xfrm>
            <a:off x="6437810" y="3338411"/>
            <a:ext cx="620111" cy="544240"/>
            <a:chOff x="1660635" y="1371271"/>
            <a:chExt cx="620111" cy="544240"/>
          </a:xfrm>
        </p:grpSpPr>
        <p:sp>
          <p:nvSpPr>
            <p:cNvPr id="55" name="椭圆 54"/>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3</a:t>
              </a:r>
              <a:endParaRPr lang="zh-CN" altLang="en-US" sz="2800" b="1" baseline="-25000" dirty="0"/>
            </a:p>
          </p:txBody>
        </p:sp>
      </p:grpSp>
      <p:grpSp>
        <p:nvGrpSpPr>
          <p:cNvPr id="52" name="组合 51"/>
          <p:cNvGrpSpPr/>
          <p:nvPr/>
        </p:nvGrpSpPr>
        <p:grpSpPr>
          <a:xfrm>
            <a:off x="6464085" y="4287301"/>
            <a:ext cx="620111" cy="544240"/>
            <a:chOff x="1660635" y="1371271"/>
            <a:chExt cx="620111" cy="544240"/>
          </a:xfrm>
        </p:grpSpPr>
        <p:sp>
          <p:nvSpPr>
            <p:cNvPr id="53" name="椭圆 52"/>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4</a:t>
              </a:r>
              <a:endParaRPr lang="zh-CN" altLang="en-US" sz="2800" b="1" baseline="-25000" dirty="0"/>
            </a:p>
          </p:txBody>
        </p:sp>
      </p:grpSp>
      <p:grpSp>
        <p:nvGrpSpPr>
          <p:cNvPr id="62" name="组合 61"/>
          <p:cNvGrpSpPr/>
          <p:nvPr/>
        </p:nvGrpSpPr>
        <p:grpSpPr>
          <a:xfrm>
            <a:off x="8437521" y="1173355"/>
            <a:ext cx="630620" cy="523220"/>
            <a:chOff x="4974399" y="1081087"/>
            <a:chExt cx="630620" cy="523220"/>
          </a:xfrm>
        </p:grpSpPr>
        <p:sp>
          <p:nvSpPr>
            <p:cNvPr id="75" name="矩形 74"/>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6" name="文本框 75"/>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1</a:t>
              </a:r>
              <a:endParaRPr lang="zh-CN" altLang="en-US" sz="2800" b="1" baseline="-25000" dirty="0"/>
            </a:p>
          </p:txBody>
        </p:sp>
      </p:grpSp>
      <p:grpSp>
        <p:nvGrpSpPr>
          <p:cNvPr id="63" name="组合 62"/>
          <p:cNvGrpSpPr/>
          <p:nvPr/>
        </p:nvGrpSpPr>
        <p:grpSpPr>
          <a:xfrm>
            <a:off x="8443540" y="2029702"/>
            <a:ext cx="630620" cy="523220"/>
            <a:chOff x="4974399" y="1081087"/>
            <a:chExt cx="630620" cy="523220"/>
          </a:xfrm>
        </p:grpSpPr>
        <p:sp>
          <p:nvSpPr>
            <p:cNvPr id="73" name="矩形 72"/>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4" name="文本框 73"/>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2</a:t>
              </a:r>
              <a:endParaRPr lang="zh-CN" altLang="en-US" sz="2800" b="1" baseline="-25000" dirty="0"/>
            </a:p>
          </p:txBody>
        </p:sp>
      </p:grpSp>
      <p:grpSp>
        <p:nvGrpSpPr>
          <p:cNvPr id="64" name="组合 63"/>
          <p:cNvGrpSpPr/>
          <p:nvPr/>
        </p:nvGrpSpPr>
        <p:grpSpPr>
          <a:xfrm>
            <a:off x="8437521" y="2947953"/>
            <a:ext cx="630620" cy="523220"/>
            <a:chOff x="4974399" y="1081087"/>
            <a:chExt cx="630620" cy="523220"/>
          </a:xfrm>
        </p:grpSpPr>
        <p:sp>
          <p:nvSpPr>
            <p:cNvPr id="71" name="矩形 70"/>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2" name="文本框 71"/>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3</a:t>
              </a:r>
              <a:endParaRPr lang="zh-CN" altLang="en-US" sz="2800" b="1" baseline="-25000" dirty="0"/>
            </a:p>
          </p:txBody>
        </p:sp>
      </p:grpSp>
      <p:grpSp>
        <p:nvGrpSpPr>
          <p:cNvPr id="65" name="组合 64"/>
          <p:cNvGrpSpPr/>
          <p:nvPr/>
        </p:nvGrpSpPr>
        <p:grpSpPr>
          <a:xfrm>
            <a:off x="8467392" y="3830303"/>
            <a:ext cx="630620" cy="523220"/>
            <a:chOff x="4974399" y="1081087"/>
            <a:chExt cx="630620" cy="523220"/>
          </a:xfrm>
        </p:grpSpPr>
        <p:sp>
          <p:nvSpPr>
            <p:cNvPr id="69" name="矩形 68"/>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0" name="文本框 69"/>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4</a:t>
              </a:r>
              <a:endParaRPr lang="zh-CN" altLang="en-US" sz="2800" b="1" baseline="-25000" dirty="0"/>
            </a:p>
          </p:txBody>
        </p:sp>
      </p:grpSp>
      <p:grpSp>
        <p:nvGrpSpPr>
          <p:cNvPr id="66" name="组合 65"/>
          <p:cNvGrpSpPr/>
          <p:nvPr/>
        </p:nvGrpSpPr>
        <p:grpSpPr>
          <a:xfrm>
            <a:off x="8489890" y="4744999"/>
            <a:ext cx="630620" cy="523220"/>
            <a:chOff x="4985157" y="1081087"/>
            <a:chExt cx="630620" cy="523220"/>
          </a:xfrm>
        </p:grpSpPr>
        <p:sp>
          <p:nvSpPr>
            <p:cNvPr id="67" name="矩形 66"/>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8" name="文本框 67"/>
            <p:cNvSpPr txBox="1"/>
            <p:nvPr/>
          </p:nvSpPr>
          <p:spPr>
            <a:xfrm>
              <a:off x="4985157"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5</a:t>
              </a:r>
              <a:endParaRPr lang="zh-CN" altLang="en-US" sz="2800" b="1" baseline="-25000" dirty="0"/>
            </a:p>
          </p:txBody>
        </p:sp>
      </p:grpSp>
      <p:cxnSp>
        <p:nvCxnSpPr>
          <p:cNvPr id="77" name="直接连接符 76"/>
          <p:cNvCxnSpPr/>
          <p:nvPr/>
        </p:nvCxnSpPr>
        <p:spPr>
          <a:xfrm>
            <a:off x="849366" y="1490781"/>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829738" y="1933948"/>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文本框 108"/>
          <p:cNvSpPr txBox="1"/>
          <p:nvPr/>
        </p:nvSpPr>
        <p:spPr>
          <a:xfrm>
            <a:off x="7052551" y="1455152"/>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110" name="文本框 109"/>
          <p:cNvSpPr txBox="1"/>
          <p:nvPr/>
        </p:nvSpPr>
        <p:spPr>
          <a:xfrm>
            <a:off x="7064475" y="2292504"/>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11" name="文本框 110"/>
          <p:cNvSpPr txBox="1"/>
          <p:nvPr/>
        </p:nvSpPr>
        <p:spPr>
          <a:xfrm>
            <a:off x="7066264" y="3246040"/>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112" name="文本框 111"/>
          <p:cNvSpPr txBox="1"/>
          <p:nvPr/>
        </p:nvSpPr>
        <p:spPr>
          <a:xfrm>
            <a:off x="7078212" y="4135114"/>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113" name="文本框 112"/>
          <p:cNvSpPr txBox="1"/>
          <p:nvPr/>
        </p:nvSpPr>
        <p:spPr>
          <a:xfrm>
            <a:off x="7989442" y="1852882"/>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114" name="文本框 113"/>
          <p:cNvSpPr txBox="1"/>
          <p:nvPr/>
        </p:nvSpPr>
        <p:spPr>
          <a:xfrm>
            <a:off x="8001366" y="2732278"/>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115" name="文本框 114"/>
          <p:cNvSpPr txBox="1"/>
          <p:nvPr/>
        </p:nvSpPr>
        <p:spPr>
          <a:xfrm>
            <a:off x="8015103" y="4574888"/>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116" name="文本框 115"/>
          <p:cNvSpPr txBox="1"/>
          <p:nvPr/>
        </p:nvSpPr>
        <p:spPr>
          <a:xfrm>
            <a:off x="8026441" y="3603701"/>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117" name="文本框 116"/>
          <p:cNvSpPr txBox="1"/>
          <p:nvPr/>
        </p:nvSpPr>
        <p:spPr>
          <a:xfrm>
            <a:off x="5984288" y="1489641"/>
            <a:ext cx="440951" cy="461665"/>
          </a:xfrm>
          <a:prstGeom prst="rect">
            <a:avLst/>
          </a:prstGeom>
          <a:noFill/>
        </p:spPr>
        <p:txBody>
          <a:bodyPr wrap="square" rtlCol="0">
            <a:spAutoFit/>
          </a:bodyPr>
          <a:lstStyle/>
          <a:p>
            <a:r>
              <a:rPr lang="en-US" altLang="zh-CN" sz="2400" dirty="0" smtClean="0"/>
              <a:t>9</a:t>
            </a:r>
            <a:endParaRPr lang="zh-CN" altLang="en-US" sz="2400" dirty="0"/>
          </a:p>
        </p:txBody>
      </p:sp>
      <p:sp>
        <p:nvSpPr>
          <p:cNvPr id="118" name="文本框 117"/>
          <p:cNvSpPr txBox="1"/>
          <p:nvPr/>
        </p:nvSpPr>
        <p:spPr>
          <a:xfrm>
            <a:off x="5996212" y="2348016"/>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119" name="文本框 118"/>
          <p:cNvSpPr txBox="1"/>
          <p:nvPr/>
        </p:nvSpPr>
        <p:spPr>
          <a:xfrm>
            <a:off x="5998001" y="3259509"/>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120" name="文本框 119"/>
          <p:cNvSpPr txBox="1"/>
          <p:nvPr/>
        </p:nvSpPr>
        <p:spPr>
          <a:xfrm>
            <a:off x="5978419" y="4190625"/>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21" name="文本框 120"/>
          <p:cNvSpPr txBox="1"/>
          <p:nvPr/>
        </p:nvSpPr>
        <p:spPr>
          <a:xfrm>
            <a:off x="5033234" y="1883547"/>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122" name="文本框 121"/>
          <p:cNvSpPr txBox="1"/>
          <p:nvPr/>
        </p:nvSpPr>
        <p:spPr>
          <a:xfrm>
            <a:off x="5045158" y="2773453"/>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23" name="文本框 122"/>
          <p:cNvSpPr txBox="1"/>
          <p:nvPr/>
        </p:nvSpPr>
        <p:spPr>
          <a:xfrm>
            <a:off x="5035262" y="3630248"/>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124" name="文本框 123"/>
          <p:cNvSpPr txBox="1"/>
          <p:nvPr/>
        </p:nvSpPr>
        <p:spPr>
          <a:xfrm>
            <a:off x="5050514" y="4626958"/>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125" name="文本框 124"/>
          <p:cNvSpPr txBox="1"/>
          <p:nvPr/>
        </p:nvSpPr>
        <p:spPr>
          <a:xfrm>
            <a:off x="2973629" y="1390617"/>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126" name="文本框 125"/>
          <p:cNvSpPr txBox="1"/>
          <p:nvPr/>
        </p:nvSpPr>
        <p:spPr>
          <a:xfrm>
            <a:off x="2985553" y="2301544"/>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127" name="文本框 126"/>
          <p:cNvSpPr txBox="1"/>
          <p:nvPr/>
        </p:nvSpPr>
        <p:spPr>
          <a:xfrm>
            <a:off x="2987342" y="3170995"/>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128" name="文本框 127"/>
          <p:cNvSpPr txBox="1"/>
          <p:nvPr/>
        </p:nvSpPr>
        <p:spPr>
          <a:xfrm>
            <a:off x="2999290" y="4133644"/>
            <a:ext cx="436636" cy="461665"/>
          </a:xfrm>
          <a:prstGeom prst="rect">
            <a:avLst/>
          </a:prstGeom>
          <a:noFill/>
        </p:spPr>
        <p:txBody>
          <a:bodyPr wrap="square" rtlCol="0">
            <a:spAutoFit/>
          </a:bodyPr>
          <a:lstStyle/>
          <a:p>
            <a:r>
              <a:rPr lang="en-US" altLang="zh-CN" sz="2400" dirty="0" smtClean="0"/>
              <a:t>2</a:t>
            </a:r>
            <a:endParaRPr lang="zh-CN" altLang="en-US" sz="2400" dirty="0"/>
          </a:p>
        </p:txBody>
      </p:sp>
      <p:sp>
        <p:nvSpPr>
          <p:cNvPr id="129" name="文本框 128"/>
          <p:cNvSpPr txBox="1"/>
          <p:nvPr/>
        </p:nvSpPr>
        <p:spPr>
          <a:xfrm>
            <a:off x="3986256" y="1867988"/>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30" name="文本框 129"/>
          <p:cNvSpPr txBox="1"/>
          <p:nvPr/>
        </p:nvSpPr>
        <p:spPr>
          <a:xfrm>
            <a:off x="3998180" y="2757893"/>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131" name="文本框 130"/>
          <p:cNvSpPr txBox="1"/>
          <p:nvPr/>
        </p:nvSpPr>
        <p:spPr>
          <a:xfrm>
            <a:off x="3999969" y="3690408"/>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132" name="文本框 131"/>
          <p:cNvSpPr txBox="1"/>
          <p:nvPr/>
        </p:nvSpPr>
        <p:spPr>
          <a:xfrm>
            <a:off x="4011917" y="4611014"/>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133" name="文本框 132"/>
          <p:cNvSpPr txBox="1"/>
          <p:nvPr/>
        </p:nvSpPr>
        <p:spPr>
          <a:xfrm>
            <a:off x="1867777" y="1443660"/>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134" name="文本框 133"/>
          <p:cNvSpPr txBox="1"/>
          <p:nvPr/>
        </p:nvSpPr>
        <p:spPr>
          <a:xfrm>
            <a:off x="1879701" y="2312547"/>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135" name="文本框 134"/>
          <p:cNvSpPr txBox="1"/>
          <p:nvPr/>
        </p:nvSpPr>
        <p:spPr>
          <a:xfrm>
            <a:off x="1881490" y="3255570"/>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36" name="文本框 135"/>
          <p:cNvSpPr txBox="1"/>
          <p:nvPr/>
        </p:nvSpPr>
        <p:spPr>
          <a:xfrm>
            <a:off x="1903948" y="4164676"/>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37" name="文本框 136"/>
          <p:cNvSpPr txBox="1"/>
          <p:nvPr/>
        </p:nvSpPr>
        <p:spPr>
          <a:xfrm>
            <a:off x="923689" y="1912158"/>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38" name="文本框 137"/>
          <p:cNvSpPr txBox="1"/>
          <p:nvPr/>
        </p:nvSpPr>
        <p:spPr>
          <a:xfrm>
            <a:off x="935613" y="2844104"/>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139" name="文本框 138"/>
          <p:cNvSpPr txBox="1"/>
          <p:nvPr/>
        </p:nvSpPr>
        <p:spPr>
          <a:xfrm>
            <a:off x="937402" y="3713556"/>
            <a:ext cx="440951" cy="461665"/>
          </a:xfrm>
          <a:prstGeom prst="rect">
            <a:avLst/>
          </a:prstGeom>
          <a:noFill/>
        </p:spPr>
        <p:txBody>
          <a:bodyPr wrap="square" rtlCol="0">
            <a:spAutoFit/>
          </a:bodyPr>
          <a:lstStyle/>
          <a:p>
            <a:r>
              <a:rPr lang="en-US" altLang="zh-CN" sz="2400" dirty="0" smtClean="0"/>
              <a:t>9</a:t>
            </a:r>
            <a:endParaRPr lang="zh-CN" altLang="en-US" sz="2400" dirty="0"/>
          </a:p>
        </p:txBody>
      </p:sp>
      <p:sp>
        <p:nvSpPr>
          <p:cNvPr id="140" name="文本框 139"/>
          <p:cNvSpPr txBox="1"/>
          <p:nvPr/>
        </p:nvSpPr>
        <p:spPr>
          <a:xfrm>
            <a:off x="949350" y="4644674"/>
            <a:ext cx="440951" cy="461665"/>
          </a:xfrm>
          <a:prstGeom prst="rect">
            <a:avLst/>
          </a:prstGeom>
          <a:noFill/>
        </p:spPr>
        <p:txBody>
          <a:bodyPr wrap="square" rtlCol="0">
            <a:spAutoFit/>
          </a:bodyPr>
          <a:lstStyle/>
          <a:p>
            <a:r>
              <a:rPr lang="en-US" altLang="zh-CN" sz="2400" dirty="0" smtClean="0"/>
              <a:t>4</a:t>
            </a:r>
            <a:endParaRPr lang="zh-CN" altLang="en-US" sz="2400" dirty="0"/>
          </a:p>
        </p:txBody>
      </p:sp>
      <p:cxnSp>
        <p:nvCxnSpPr>
          <p:cNvPr id="142" name="直接连接符 141"/>
          <p:cNvCxnSpPr/>
          <p:nvPr/>
        </p:nvCxnSpPr>
        <p:spPr>
          <a:xfrm>
            <a:off x="877258" y="3292720"/>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V="1">
            <a:off x="857632" y="3735887"/>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866055" y="2843069"/>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V="1">
            <a:off x="864722" y="4656470"/>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860787" y="420124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2892416" y="1915689"/>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V="1">
            <a:off x="2872788" y="2358856"/>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2875933" y="3748205"/>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V="1">
            <a:off x="2888342" y="4195246"/>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flipV="1">
            <a:off x="2883315" y="1475855"/>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V="1">
            <a:off x="2878823" y="3237464"/>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2879421" y="279305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2906505" y="4669345"/>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843708" y="234605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4922741" y="1519234"/>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4919507" y="328974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4934162" y="4229699"/>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a:off x="4917083" y="237450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V="1">
            <a:off x="4915936" y="281518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V="1">
            <a:off x="4931490" y="465157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V="1">
            <a:off x="4926463" y="1932182"/>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V="1">
            <a:off x="4921971" y="3735831"/>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a:off x="6956665" y="1911381"/>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6953431" y="3681890"/>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6968086" y="462184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6951007" y="276665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V="1">
            <a:off x="6949274" y="234619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V="1">
            <a:off x="6964828" y="418258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V="1">
            <a:off x="6959801" y="1463192"/>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V="1">
            <a:off x="6955309" y="3266841"/>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88009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83215" y="186421"/>
            <a:ext cx="8665887"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VCUMA+ËÎÌå"/>
              </a:rPr>
              <a:t>算法设计</a:t>
            </a:r>
            <a:endParaRPr sz="4000" b="1" spc="11"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583216" y="1599319"/>
            <a:ext cx="8665886" cy="861774"/>
          </a:xfrm>
          <a:prstGeom prst="rect">
            <a:avLst/>
          </a:prstGeom>
        </p:spPr>
        <p:txBody>
          <a:bodyPr vert="horz" wrap="square" lIns="0" tIns="0" rIns="0" bIns="0" rtlCol="0">
            <a:spAutoFit/>
          </a:bodyPr>
          <a:lstStyle/>
          <a:p>
            <a:pPr algn="just">
              <a:spcBef>
                <a:spcPct val="0"/>
              </a:spcBef>
              <a:spcAft>
                <a:spcPct val="0"/>
              </a:spcAft>
            </a:pPr>
            <a:r>
              <a:rPr sz="2800" b="1" spc="12" dirty="0" err="1">
                <a:solidFill>
                  <a:srgbClr val="C00000"/>
                </a:solidFill>
                <a:latin typeface="黑体" panose="02010609060101010101" pitchFamily="49" charset="-122"/>
                <a:ea typeface="黑体" panose="02010609060101010101" pitchFamily="49" charset="-122"/>
                <a:cs typeface="LVCUMA+ËÎÌå"/>
              </a:rPr>
              <a:t>蛮力算法</a:t>
            </a:r>
            <a:r>
              <a:rPr sz="2800" b="1" spc="12" dirty="0" smtClean="0">
                <a:solidFill>
                  <a:srgbClr val="000000"/>
                </a:solidFill>
                <a:latin typeface="黑体" panose="02010609060101010101" pitchFamily="49" charset="-122"/>
                <a:ea typeface="黑体" panose="02010609060101010101" pitchFamily="49" charset="-122"/>
                <a:cs typeface="LVCUMA+ËÎÌå"/>
              </a:rPr>
              <a:t>：</a:t>
            </a:r>
            <a:r>
              <a:rPr lang="zh-CN" altLang="en-US" sz="2800" b="1" spc="12" dirty="0">
                <a:solidFill>
                  <a:srgbClr val="000000"/>
                </a:solidFill>
                <a:latin typeface="黑体" panose="02010609060101010101" pitchFamily="49" charset="-122"/>
                <a:ea typeface="黑体" panose="02010609060101010101" pitchFamily="49" charset="-122"/>
                <a:cs typeface="LVCUMA+ËÎÌå"/>
              </a:rPr>
              <a:t>考察每一条从某个起点到某个终点的路径，计算长度，从其中找出最短</a:t>
            </a:r>
            <a:r>
              <a:rPr lang="zh-CN" altLang="en-US" sz="2800" b="1" spc="12" dirty="0" smtClean="0">
                <a:solidFill>
                  <a:srgbClr val="000000"/>
                </a:solidFill>
                <a:latin typeface="黑体" panose="02010609060101010101" pitchFamily="49" charset="-122"/>
                <a:ea typeface="黑体" panose="02010609060101010101" pitchFamily="49" charset="-122"/>
                <a:cs typeface="LVCUMA+ËÎÌå"/>
              </a:rPr>
              <a:t>路径</a:t>
            </a:r>
            <a:r>
              <a:rPr lang="en-US" altLang="zh-CN" sz="2800" b="1" spc="12" dirty="0" smtClean="0">
                <a:solidFill>
                  <a:srgbClr val="000000"/>
                </a:solidFill>
                <a:latin typeface="黑体" panose="02010609060101010101" pitchFamily="49" charset="-122"/>
                <a:ea typeface="黑体" panose="02010609060101010101" pitchFamily="49" charset="-122"/>
                <a:cs typeface="LVCUMA+ËÎÌå"/>
              </a:rPr>
              <a:t>.</a:t>
            </a:r>
            <a:endParaRPr lang="en-US" altLang="zh-CN" sz="2800" b="1" spc="12" dirty="0">
              <a:solidFill>
                <a:srgbClr val="000000"/>
              </a:solidFill>
              <a:latin typeface="黑体" panose="02010609060101010101" pitchFamily="49" charset="-122"/>
              <a:ea typeface="黑体" panose="02010609060101010101" pitchFamily="49" charset="-122"/>
              <a:cs typeface="LVCUMA+ËÎÌå"/>
            </a:endParaRPr>
          </a:p>
        </p:txBody>
      </p:sp>
      <mc:AlternateContent xmlns:mc="http://schemas.openxmlformats.org/markup-compatibility/2006" xmlns:a14="http://schemas.microsoft.com/office/drawing/2010/main">
        <mc:Choice Requires="a14">
          <p:sp>
            <p:nvSpPr>
              <p:cNvPr id="5" name="object 5"/>
              <p:cNvSpPr txBox="1"/>
              <p:nvPr/>
            </p:nvSpPr>
            <p:spPr>
              <a:xfrm>
                <a:off x="583216" y="2915471"/>
                <a:ext cx="8665886" cy="877997"/>
              </a:xfrm>
              <a:prstGeom prst="rect">
                <a:avLst/>
              </a:prstGeom>
            </p:spPr>
            <p:txBody>
              <a:bodyPr vert="horz" wrap="square" lIns="0" tIns="0" rIns="0" bIns="0" rtlCol="0">
                <a:spAutoFit/>
              </a:bodyPr>
              <a:lstStyle/>
              <a:p>
                <a:pPr algn="just">
                  <a:spcBef>
                    <a:spcPct val="0"/>
                  </a:spcBef>
                  <a:spcAft>
                    <a:spcPct val="0"/>
                  </a:spcAft>
                </a:pPr>
                <a:r>
                  <a:rPr lang="zh-CN" altLang="en-US" sz="2800" b="1" spc="12" dirty="0" smtClean="0">
                    <a:solidFill>
                      <a:srgbClr val="000000"/>
                    </a:solidFill>
                    <a:latin typeface="黑体" panose="02010609060101010101" pitchFamily="49" charset="-122"/>
                    <a:ea typeface="黑体" panose="02010609060101010101" pitchFamily="49" charset="-122"/>
                    <a:cs typeface="LVCUMA+ËÎÌå"/>
                  </a:rPr>
                  <a:t>在上述实例中，</a:t>
                </a:r>
                <a:r>
                  <a:rPr lang="zh-CN" altLang="en-US" sz="2800" b="1" spc="12" dirty="0" err="1" smtClean="0">
                    <a:solidFill>
                      <a:srgbClr val="000000"/>
                    </a:solidFill>
                    <a:latin typeface="黑体" panose="02010609060101010101" pitchFamily="49" charset="-122"/>
                    <a:ea typeface="黑体" panose="02010609060101010101" pitchFamily="49" charset="-122"/>
                    <a:cs typeface="LVCUMA+ËÎÌå"/>
                  </a:rPr>
                  <a:t>如果网络的层数为</a:t>
                </a:r>
                <a:r>
                  <a:rPr lang="en-US" altLang="zh-CN" sz="2800" b="1" i="1" dirty="0" err="1">
                    <a:solidFill>
                      <a:srgbClr val="000000"/>
                    </a:solidFill>
                    <a:latin typeface="黑体" panose="02010609060101010101" pitchFamily="49" charset="-122"/>
                    <a:ea typeface="黑体" panose="02010609060101010101" pitchFamily="49" charset="-122"/>
                    <a:cs typeface="AMJDTO+Times New Roman,BoldItalic"/>
                  </a:rPr>
                  <a:t>k</a:t>
                </a:r>
                <a:r>
                  <a:rPr lang="zh-CN" altLang="en-US" sz="2800" b="1" spc="12" dirty="0">
                    <a:solidFill>
                      <a:srgbClr val="000000"/>
                    </a:solidFill>
                    <a:latin typeface="黑体" panose="02010609060101010101" pitchFamily="49" charset="-122"/>
                    <a:ea typeface="黑体" panose="02010609060101010101" pitchFamily="49" charset="-122"/>
                    <a:cs typeface="LVCUMA+ËÎÌå"/>
                  </a:rPr>
                  <a:t>，那么路径条数将接近</a:t>
                </a:r>
                <a:r>
                  <a:rPr lang="zh-CN" altLang="en-US" sz="2800" b="1" spc="12" dirty="0" smtClean="0">
                    <a:solidFill>
                      <a:srgbClr val="000000"/>
                    </a:solidFill>
                    <a:latin typeface="黑体" panose="02010609060101010101" pitchFamily="49" charset="-122"/>
                    <a:ea typeface="黑体" panose="02010609060101010101" pitchFamily="49" charset="-122"/>
                    <a:cs typeface="LVCUMA+ËÎÌå"/>
                  </a:rPr>
                  <a:t>于</a:t>
                </a:r>
                <a14:m>
                  <m:oMath xmlns:m="http://schemas.openxmlformats.org/officeDocument/2006/math">
                    <m:sSup>
                      <m:sSupPr>
                        <m:ctrlPr>
                          <a:rPr lang="zh-CN" altLang="en-US" sz="2800" b="1" i="1" spc="12" smtClean="0">
                            <a:solidFill>
                              <a:srgbClr val="000000"/>
                            </a:solidFill>
                            <a:latin typeface="Cambria Math"/>
                            <a:cs typeface="LVCUMA+ËÎÌå"/>
                          </a:rPr>
                        </m:ctrlPr>
                      </m:sSupPr>
                      <m:e>
                        <m:r>
                          <a:rPr lang="en-US" altLang="zh-CN" sz="2800" b="1" i="1" spc="12" smtClean="0">
                            <a:solidFill>
                              <a:srgbClr val="000000"/>
                            </a:solidFill>
                            <a:latin typeface="Cambria Math" panose="02040503050406030204" pitchFamily="18" charset="0"/>
                            <a:cs typeface="LVCUMA+ËÎÌå"/>
                          </a:rPr>
                          <m:t>𝟐</m:t>
                        </m:r>
                      </m:e>
                      <m:sup>
                        <m:r>
                          <a:rPr lang="en-US" altLang="zh-CN" sz="2800" b="1" i="1" spc="12" smtClean="0">
                            <a:solidFill>
                              <a:srgbClr val="000000"/>
                            </a:solidFill>
                            <a:latin typeface="Cambria Math" panose="02040503050406030204" pitchFamily="18" charset="0"/>
                            <a:cs typeface="LVCUMA+ËÎÌå"/>
                          </a:rPr>
                          <m:t>𝒌</m:t>
                        </m:r>
                      </m:sup>
                    </m:sSup>
                  </m:oMath>
                </a14:m>
                <a:endParaRPr lang="zh-CN" altLang="en-US" sz="2551" b="1" dirty="0">
                  <a:solidFill>
                    <a:srgbClr val="000000"/>
                  </a:solidFill>
                  <a:latin typeface="黑体" panose="02010609060101010101" pitchFamily="49" charset="-122"/>
                  <a:ea typeface="黑体" panose="02010609060101010101" pitchFamily="49" charset="-122"/>
                  <a:cs typeface="NKKDDH+Times New Roman,Bold"/>
                </a:endParaRPr>
              </a:p>
            </p:txBody>
          </p:sp>
        </mc:Choice>
        <mc:Fallback xmlns="">
          <p:sp>
            <p:nvSpPr>
              <p:cNvPr id="5" name="object 5"/>
              <p:cNvSpPr txBox="1">
                <a:spLocks noRot="1" noChangeAspect="1" noMove="1" noResize="1" noEditPoints="1" noAdjustHandles="1" noChangeArrowheads="1" noChangeShapeType="1" noTextEdit="1"/>
              </p:cNvSpPr>
              <p:nvPr/>
            </p:nvSpPr>
            <p:spPr>
              <a:xfrm>
                <a:off x="583216" y="2915471"/>
                <a:ext cx="8665886" cy="877997"/>
              </a:xfrm>
              <a:prstGeom prst="rect">
                <a:avLst/>
              </a:prstGeom>
              <a:blipFill>
                <a:blip r:embed="rId3"/>
                <a:stretch>
                  <a:fillRect l="-2533" t="-12500" r="-2463" b="-22222"/>
                </a:stretch>
              </a:blipFill>
            </p:spPr>
            <p:txBody>
              <a:bodyPr/>
              <a:lstStyle/>
              <a:p>
                <a:r>
                  <a:rPr lang="zh-CN" altLang="en-US">
                    <a:noFill/>
                  </a:rPr>
                  <a:t> </a:t>
                </a:r>
              </a:p>
            </p:txBody>
          </p:sp>
        </mc:Fallback>
      </mc:AlternateContent>
      <p:sp>
        <p:nvSpPr>
          <p:cNvPr id="7" name="object 7"/>
          <p:cNvSpPr txBox="1"/>
          <p:nvPr/>
        </p:nvSpPr>
        <p:spPr>
          <a:xfrm>
            <a:off x="527187" y="4253445"/>
            <a:ext cx="8665886" cy="1723549"/>
          </a:xfrm>
          <a:prstGeom prst="rect">
            <a:avLst/>
          </a:prstGeom>
        </p:spPr>
        <p:txBody>
          <a:bodyPr vert="horz" wrap="square" lIns="0" tIns="0" rIns="0" bIns="0" rtlCol="0">
            <a:spAutoFit/>
          </a:bodyPr>
          <a:lstStyle/>
          <a:p>
            <a:pPr algn="just">
              <a:spcBef>
                <a:spcPct val="0"/>
              </a:spcBef>
              <a:spcAft>
                <a:spcPct val="0"/>
              </a:spcAft>
            </a:pPr>
            <a:r>
              <a:rPr sz="2800" b="1" spc="12" dirty="0" err="1">
                <a:solidFill>
                  <a:srgbClr val="C00000"/>
                </a:solidFill>
                <a:latin typeface="黑体" panose="02010609060101010101" pitchFamily="49" charset="-122"/>
                <a:ea typeface="黑体" panose="02010609060101010101" pitchFamily="49" charset="-122"/>
                <a:cs typeface="LVCUMA+ËÎÌå"/>
              </a:rPr>
              <a:t>动态规划算法</a:t>
            </a:r>
            <a:r>
              <a:rPr sz="2800" b="1" spc="13" dirty="0" smtClean="0">
                <a:solidFill>
                  <a:srgbClr val="000000"/>
                </a:solidFill>
                <a:latin typeface="LVCUMA+ËÎÌå"/>
                <a:cs typeface="LVCUMA+ËÎÌå"/>
              </a:rPr>
              <a:t>：</a:t>
            </a:r>
            <a:r>
              <a:rPr lang="zh-CN" altLang="en-US" sz="2800" b="1" spc="13" dirty="0">
                <a:solidFill>
                  <a:srgbClr val="000000"/>
                </a:solidFill>
                <a:latin typeface="LVCUMA+ËÎÌå"/>
                <a:cs typeface="LVCUMA+ËÎÌå"/>
              </a:rPr>
              <a:t>多阶段决策过程</a:t>
            </a:r>
            <a:r>
              <a:rPr lang="en-US" altLang="zh-CN" sz="2800" b="1" spc="13" dirty="0">
                <a:solidFill>
                  <a:srgbClr val="000000"/>
                </a:solidFill>
                <a:latin typeface="LVCUMA+ËÎÌå"/>
                <a:cs typeface="LVCUMA+ËÎÌå"/>
              </a:rPr>
              <a:t>.</a:t>
            </a:r>
            <a:r>
              <a:rPr lang="zh-CN" altLang="en-US" sz="2800" b="1" spc="13" dirty="0">
                <a:solidFill>
                  <a:srgbClr val="000000"/>
                </a:solidFill>
                <a:latin typeface="LVCUMA+ËÎÌå"/>
                <a:cs typeface="LVCUMA+ËÎÌå"/>
              </a:rPr>
              <a:t>每步求解的问题是后面阶段求解问题的子问题</a:t>
            </a:r>
            <a:r>
              <a:rPr lang="en-US" altLang="zh-CN" sz="2800" b="1" spc="13" dirty="0">
                <a:solidFill>
                  <a:srgbClr val="000000"/>
                </a:solidFill>
                <a:latin typeface="LVCUMA+ËÎÌå"/>
                <a:cs typeface="LVCUMA+ËÎÌå"/>
              </a:rPr>
              <a:t>. </a:t>
            </a:r>
            <a:r>
              <a:rPr lang="zh-CN" altLang="en-US" sz="2800" b="1" spc="13" dirty="0">
                <a:solidFill>
                  <a:srgbClr val="000000"/>
                </a:solidFill>
                <a:latin typeface="LVCUMA+ËÎÌå"/>
                <a:cs typeface="LVCUMA+ËÎÌå"/>
              </a:rPr>
              <a:t>每步决策将依赖于以前步骤的决策结果</a:t>
            </a:r>
            <a:r>
              <a:rPr lang="en-US" altLang="zh-CN" sz="2800" b="1" spc="13" dirty="0">
                <a:solidFill>
                  <a:srgbClr val="000000"/>
                </a:solidFill>
                <a:latin typeface="LVCUMA+ËÎÌå"/>
                <a:cs typeface="LVCUMA+ËÎÌå"/>
              </a:rPr>
              <a:t>.</a:t>
            </a:r>
          </a:p>
          <a:p>
            <a:pPr algn="just">
              <a:spcBef>
                <a:spcPct val="0"/>
              </a:spcBef>
              <a:spcAft>
                <a:spcPct val="0"/>
              </a:spcAft>
            </a:pPr>
            <a:endParaRPr sz="2800" b="1" dirty="0">
              <a:solidFill>
                <a:srgbClr val="000000"/>
              </a:solidFill>
              <a:latin typeface="NKKDDH+Times New Roman,Bold"/>
              <a:cs typeface="NKKDDH+Times New Roman,Bold"/>
            </a:endParaRPr>
          </a:p>
        </p:txBody>
      </p:sp>
    </p:spTree>
    <p:extLst>
      <p:ext uri="{BB962C8B-B14F-4D97-AF65-F5344CB8AC3E}">
        <p14:creationId xmlns:p14="http://schemas.microsoft.com/office/powerpoint/2010/main" val="36591875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23803" y="1095558"/>
            <a:ext cx="630620" cy="523220"/>
            <a:chOff x="809298" y="1081087"/>
            <a:chExt cx="630620" cy="523220"/>
          </a:xfrm>
        </p:grpSpPr>
        <p:sp>
          <p:nvSpPr>
            <p:cNvPr id="5" name="矩形 4"/>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 name="文本框 5"/>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smtClean="0"/>
                <a:t>1</a:t>
              </a:r>
              <a:endParaRPr lang="zh-CN" altLang="en-US" sz="2800" b="1" baseline="-25000" dirty="0"/>
            </a:p>
          </p:txBody>
        </p:sp>
      </p:grpSp>
      <p:grpSp>
        <p:nvGrpSpPr>
          <p:cNvPr id="7" name="组合 6"/>
          <p:cNvGrpSpPr/>
          <p:nvPr/>
        </p:nvGrpSpPr>
        <p:grpSpPr>
          <a:xfrm>
            <a:off x="526333" y="1956135"/>
            <a:ext cx="630620" cy="523220"/>
            <a:chOff x="809298" y="1081087"/>
            <a:chExt cx="630620" cy="523220"/>
          </a:xfrm>
        </p:grpSpPr>
        <p:sp>
          <p:nvSpPr>
            <p:cNvPr id="8" name="矩形 7"/>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9" name="文本框 8"/>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2</a:t>
              </a:r>
              <a:endParaRPr lang="zh-CN" altLang="en-US" sz="2800" b="1" baseline="-25000" dirty="0"/>
            </a:p>
          </p:txBody>
        </p:sp>
      </p:grpSp>
      <p:grpSp>
        <p:nvGrpSpPr>
          <p:cNvPr id="10" name="组合 9"/>
          <p:cNvGrpSpPr/>
          <p:nvPr/>
        </p:nvGrpSpPr>
        <p:grpSpPr>
          <a:xfrm>
            <a:off x="537635" y="2885548"/>
            <a:ext cx="630620" cy="523220"/>
            <a:chOff x="809298" y="1081087"/>
            <a:chExt cx="630620" cy="523220"/>
          </a:xfrm>
        </p:grpSpPr>
        <p:sp>
          <p:nvSpPr>
            <p:cNvPr id="11" name="矩形 10"/>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2" name="文本框 11"/>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3</a:t>
              </a:r>
              <a:endParaRPr lang="zh-CN" altLang="en-US" sz="2800" b="1" baseline="-25000" dirty="0"/>
            </a:p>
          </p:txBody>
        </p:sp>
      </p:grpSp>
      <p:grpSp>
        <p:nvGrpSpPr>
          <p:cNvPr id="13" name="组合 12"/>
          <p:cNvGrpSpPr/>
          <p:nvPr/>
        </p:nvGrpSpPr>
        <p:grpSpPr>
          <a:xfrm>
            <a:off x="538019" y="3805791"/>
            <a:ext cx="630620" cy="523220"/>
            <a:chOff x="809298" y="1081087"/>
            <a:chExt cx="630620" cy="523220"/>
          </a:xfrm>
        </p:grpSpPr>
        <p:sp>
          <p:nvSpPr>
            <p:cNvPr id="14" name="矩形 13"/>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5" name="文本框 14"/>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smtClean="0"/>
                <a:t>4</a:t>
              </a:r>
              <a:endParaRPr lang="zh-CN" altLang="en-US" sz="2800" b="1" baseline="-25000" dirty="0"/>
            </a:p>
          </p:txBody>
        </p:sp>
      </p:grpSp>
      <p:grpSp>
        <p:nvGrpSpPr>
          <p:cNvPr id="16" name="组合 15"/>
          <p:cNvGrpSpPr/>
          <p:nvPr/>
        </p:nvGrpSpPr>
        <p:grpSpPr>
          <a:xfrm>
            <a:off x="564476" y="4721923"/>
            <a:ext cx="630620" cy="523220"/>
            <a:chOff x="809298" y="1081087"/>
            <a:chExt cx="630620" cy="523220"/>
          </a:xfrm>
        </p:grpSpPr>
        <p:sp>
          <p:nvSpPr>
            <p:cNvPr id="17" name="矩形 16"/>
            <p:cNvSpPr/>
            <p:nvPr/>
          </p:nvSpPr>
          <p:spPr>
            <a:xfrm>
              <a:off x="840828" y="1150883"/>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8" name="文本框 17"/>
            <p:cNvSpPr txBox="1"/>
            <p:nvPr/>
          </p:nvSpPr>
          <p:spPr>
            <a:xfrm>
              <a:off x="809298" y="1081087"/>
              <a:ext cx="630620" cy="523220"/>
            </a:xfrm>
            <a:prstGeom prst="rect">
              <a:avLst/>
            </a:prstGeom>
            <a:noFill/>
          </p:spPr>
          <p:txBody>
            <a:bodyPr wrap="square" rtlCol="0">
              <a:spAutoFit/>
            </a:bodyPr>
            <a:lstStyle/>
            <a:p>
              <a:r>
                <a:rPr lang="en-US" altLang="zh-CN" sz="2800" b="1" i="1" dirty="0" smtClean="0"/>
                <a:t>S</a:t>
              </a:r>
              <a:r>
                <a:rPr lang="en-US" altLang="zh-CN" sz="2800" b="1" baseline="-25000" dirty="0"/>
                <a:t>5</a:t>
              </a:r>
              <a:endParaRPr lang="zh-CN" altLang="en-US" sz="2800" b="1" baseline="-25000" dirty="0"/>
            </a:p>
          </p:txBody>
        </p:sp>
      </p:grpSp>
      <p:grpSp>
        <p:nvGrpSpPr>
          <p:cNvPr id="19" name="组合 18"/>
          <p:cNvGrpSpPr/>
          <p:nvPr/>
        </p:nvGrpSpPr>
        <p:grpSpPr>
          <a:xfrm>
            <a:off x="2476864" y="1514192"/>
            <a:ext cx="620111" cy="544240"/>
            <a:chOff x="1660635" y="1371271"/>
            <a:chExt cx="620111" cy="544240"/>
          </a:xfrm>
        </p:grpSpPr>
        <p:sp>
          <p:nvSpPr>
            <p:cNvPr id="20" name="椭圆 19"/>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smtClean="0"/>
                <a:t>1</a:t>
              </a:r>
              <a:endParaRPr lang="zh-CN" altLang="en-US" sz="2800" b="1" baseline="-25000" dirty="0"/>
            </a:p>
          </p:txBody>
        </p:sp>
      </p:grpSp>
      <p:grpSp>
        <p:nvGrpSpPr>
          <p:cNvPr id="22" name="组合 21"/>
          <p:cNvGrpSpPr/>
          <p:nvPr/>
        </p:nvGrpSpPr>
        <p:grpSpPr>
          <a:xfrm>
            <a:off x="2471609" y="2400017"/>
            <a:ext cx="620111" cy="544240"/>
            <a:chOff x="1660635" y="1371271"/>
            <a:chExt cx="620111" cy="544240"/>
          </a:xfrm>
        </p:grpSpPr>
        <p:sp>
          <p:nvSpPr>
            <p:cNvPr id="23" name="椭圆 22"/>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a:t>2</a:t>
              </a:r>
              <a:endParaRPr lang="zh-CN" altLang="en-US" sz="2800" b="1" baseline="-25000" dirty="0"/>
            </a:p>
          </p:txBody>
        </p:sp>
      </p:grpSp>
      <p:grpSp>
        <p:nvGrpSpPr>
          <p:cNvPr id="25" name="组合 24"/>
          <p:cNvGrpSpPr/>
          <p:nvPr/>
        </p:nvGrpSpPr>
        <p:grpSpPr>
          <a:xfrm>
            <a:off x="2476862" y="3259513"/>
            <a:ext cx="620111" cy="544240"/>
            <a:chOff x="1660635" y="1371271"/>
            <a:chExt cx="620111" cy="544240"/>
          </a:xfrm>
        </p:grpSpPr>
        <p:sp>
          <p:nvSpPr>
            <p:cNvPr id="26" name="椭圆 25"/>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a:t>3</a:t>
              </a:r>
              <a:endParaRPr lang="zh-CN" altLang="en-US" sz="2800" b="1" baseline="-25000" dirty="0"/>
            </a:p>
          </p:txBody>
        </p:sp>
      </p:grpSp>
      <p:grpSp>
        <p:nvGrpSpPr>
          <p:cNvPr id="28" name="组合 27"/>
          <p:cNvGrpSpPr/>
          <p:nvPr/>
        </p:nvGrpSpPr>
        <p:grpSpPr>
          <a:xfrm>
            <a:off x="2513647" y="4208404"/>
            <a:ext cx="620111" cy="544240"/>
            <a:chOff x="1660635" y="1371271"/>
            <a:chExt cx="620111" cy="544240"/>
          </a:xfrm>
        </p:grpSpPr>
        <p:sp>
          <p:nvSpPr>
            <p:cNvPr id="29" name="椭圆 28"/>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660635" y="1371271"/>
              <a:ext cx="620111" cy="523220"/>
            </a:xfrm>
            <a:prstGeom prst="rect">
              <a:avLst/>
            </a:prstGeom>
            <a:noFill/>
          </p:spPr>
          <p:txBody>
            <a:bodyPr wrap="square" rtlCol="0">
              <a:spAutoFit/>
            </a:bodyPr>
            <a:lstStyle/>
            <a:p>
              <a:r>
                <a:rPr lang="en-US" altLang="zh-CN" sz="2800" b="1" dirty="0" smtClean="0"/>
                <a:t>A</a:t>
              </a:r>
              <a:r>
                <a:rPr lang="en-US" altLang="zh-CN" sz="2800" b="1" baseline="-25000" dirty="0" smtClean="0"/>
                <a:t>4</a:t>
              </a:r>
              <a:endParaRPr lang="zh-CN" altLang="en-US" sz="2800" b="1" baseline="-25000" dirty="0"/>
            </a:p>
          </p:txBody>
        </p:sp>
      </p:grpSp>
      <p:grpSp>
        <p:nvGrpSpPr>
          <p:cNvPr id="31" name="组合 30"/>
          <p:cNvGrpSpPr/>
          <p:nvPr/>
        </p:nvGrpSpPr>
        <p:grpSpPr>
          <a:xfrm>
            <a:off x="4519982" y="1064028"/>
            <a:ext cx="620111" cy="544240"/>
            <a:chOff x="1660635" y="1371271"/>
            <a:chExt cx="620111" cy="544240"/>
          </a:xfrm>
        </p:grpSpPr>
        <p:sp>
          <p:nvSpPr>
            <p:cNvPr id="32" name="椭圆 31"/>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1</a:t>
              </a:r>
              <a:endParaRPr lang="zh-CN" altLang="en-US" sz="2800" b="1" baseline="-25000" dirty="0"/>
            </a:p>
          </p:txBody>
        </p:sp>
      </p:grpSp>
      <p:grpSp>
        <p:nvGrpSpPr>
          <p:cNvPr id="34" name="组合 33"/>
          <p:cNvGrpSpPr/>
          <p:nvPr/>
        </p:nvGrpSpPr>
        <p:grpSpPr>
          <a:xfrm>
            <a:off x="4514727" y="1928832"/>
            <a:ext cx="620111" cy="544240"/>
            <a:chOff x="1660635" y="1371271"/>
            <a:chExt cx="620111" cy="544240"/>
          </a:xfrm>
        </p:grpSpPr>
        <p:sp>
          <p:nvSpPr>
            <p:cNvPr id="35" name="椭圆 34"/>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2</a:t>
              </a:r>
              <a:endParaRPr lang="zh-CN" altLang="en-US" sz="2800" b="1" baseline="-25000" dirty="0"/>
            </a:p>
          </p:txBody>
        </p:sp>
      </p:grpSp>
      <p:grpSp>
        <p:nvGrpSpPr>
          <p:cNvPr id="37" name="组合 36"/>
          <p:cNvGrpSpPr/>
          <p:nvPr/>
        </p:nvGrpSpPr>
        <p:grpSpPr>
          <a:xfrm>
            <a:off x="4519980" y="2851393"/>
            <a:ext cx="620111" cy="544240"/>
            <a:chOff x="1660635" y="1371271"/>
            <a:chExt cx="620111" cy="544240"/>
          </a:xfrm>
        </p:grpSpPr>
        <p:sp>
          <p:nvSpPr>
            <p:cNvPr id="38" name="椭圆 37"/>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3</a:t>
              </a:r>
              <a:endParaRPr lang="zh-CN" altLang="en-US" sz="2800" b="1" baseline="-25000" dirty="0"/>
            </a:p>
          </p:txBody>
        </p:sp>
      </p:grpSp>
      <p:grpSp>
        <p:nvGrpSpPr>
          <p:cNvPr id="40" name="组合 39"/>
          <p:cNvGrpSpPr/>
          <p:nvPr/>
        </p:nvGrpSpPr>
        <p:grpSpPr>
          <a:xfrm>
            <a:off x="4525235" y="3768752"/>
            <a:ext cx="620111" cy="544240"/>
            <a:chOff x="1660635" y="1371271"/>
            <a:chExt cx="620111" cy="544240"/>
          </a:xfrm>
        </p:grpSpPr>
        <p:sp>
          <p:nvSpPr>
            <p:cNvPr id="41" name="椭圆 40"/>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4</a:t>
              </a:r>
              <a:endParaRPr lang="zh-CN" altLang="en-US" sz="2800" b="1" baseline="-25000" dirty="0"/>
            </a:p>
          </p:txBody>
        </p:sp>
      </p:grpSp>
      <p:grpSp>
        <p:nvGrpSpPr>
          <p:cNvPr id="43" name="组合 42"/>
          <p:cNvGrpSpPr/>
          <p:nvPr/>
        </p:nvGrpSpPr>
        <p:grpSpPr>
          <a:xfrm>
            <a:off x="4534251" y="4696829"/>
            <a:ext cx="620111" cy="544240"/>
            <a:chOff x="1660635" y="1371271"/>
            <a:chExt cx="620111" cy="544240"/>
          </a:xfrm>
        </p:grpSpPr>
        <p:sp>
          <p:nvSpPr>
            <p:cNvPr id="44" name="椭圆 43"/>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1660635" y="1371271"/>
              <a:ext cx="620111" cy="523220"/>
            </a:xfrm>
            <a:prstGeom prst="rect">
              <a:avLst/>
            </a:prstGeom>
            <a:noFill/>
          </p:spPr>
          <p:txBody>
            <a:bodyPr wrap="square" rtlCol="0">
              <a:spAutoFit/>
            </a:bodyPr>
            <a:lstStyle/>
            <a:p>
              <a:r>
                <a:rPr lang="en-US" altLang="zh-CN" sz="2800" b="1" dirty="0" smtClean="0"/>
                <a:t>B</a:t>
              </a:r>
              <a:r>
                <a:rPr lang="en-US" altLang="zh-CN" sz="2800" b="1" baseline="-25000" dirty="0" smtClean="0"/>
                <a:t>5</a:t>
              </a:r>
              <a:endParaRPr lang="zh-CN" altLang="en-US" sz="2800" b="1" baseline="-25000" dirty="0"/>
            </a:p>
          </p:txBody>
        </p:sp>
      </p:grpSp>
      <p:grpSp>
        <p:nvGrpSpPr>
          <p:cNvPr id="46" name="组合 45"/>
          <p:cNvGrpSpPr/>
          <p:nvPr/>
        </p:nvGrpSpPr>
        <p:grpSpPr>
          <a:xfrm>
            <a:off x="6532402" y="1487989"/>
            <a:ext cx="620111" cy="544240"/>
            <a:chOff x="1660635" y="1371271"/>
            <a:chExt cx="620111" cy="544240"/>
          </a:xfrm>
        </p:grpSpPr>
        <p:sp>
          <p:nvSpPr>
            <p:cNvPr id="47" name="椭圆 46"/>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1</a:t>
              </a:r>
              <a:endParaRPr lang="zh-CN" altLang="en-US" sz="2800" b="1" baseline="-25000" dirty="0"/>
            </a:p>
          </p:txBody>
        </p:sp>
      </p:grpSp>
      <p:grpSp>
        <p:nvGrpSpPr>
          <p:cNvPr id="49" name="组合 48"/>
          <p:cNvGrpSpPr/>
          <p:nvPr/>
        </p:nvGrpSpPr>
        <p:grpSpPr>
          <a:xfrm>
            <a:off x="6548167" y="2373813"/>
            <a:ext cx="620111" cy="544240"/>
            <a:chOff x="1660635" y="1371271"/>
            <a:chExt cx="620111" cy="544240"/>
          </a:xfrm>
        </p:grpSpPr>
        <p:sp>
          <p:nvSpPr>
            <p:cNvPr id="50" name="椭圆 49"/>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2</a:t>
              </a:r>
              <a:endParaRPr lang="zh-CN" altLang="en-US" sz="2800" b="1" baseline="-25000" dirty="0"/>
            </a:p>
          </p:txBody>
        </p:sp>
      </p:grpSp>
      <p:grpSp>
        <p:nvGrpSpPr>
          <p:cNvPr id="52" name="组合 51"/>
          <p:cNvGrpSpPr/>
          <p:nvPr/>
        </p:nvGrpSpPr>
        <p:grpSpPr>
          <a:xfrm>
            <a:off x="6532400" y="3222801"/>
            <a:ext cx="620111" cy="544240"/>
            <a:chOff x="1660635" y="1371271"/>
            <a:chExt cx="620111" cy="544240"/>
          </a:xfrm>
        </p:grpSpPr>
        <p:sp>
          <p:nvSpPr>
            <p:cNvPr id="53" name="椭圆 52"/>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3</a:t>
              </a:r>
              <a:endParaRPr lang="zh-CN" altLang="en-US" sz="2800" b="1" baseline="-25000" dirty="0"/>
            </a:p>
          </p:txBody>
        </p:sp>
      </p:grpSp>
      <p:grpSp>
        <p:nvGrpSpPr>
          <p:cNvPr id="55" name="组合 54"/>
          <p:cNvGrpSpPr/>
          <p:nvPr/>
        </p:nvGrpSpPr>
        <p:grpSpPr>
          <a:xfrm>
            <a:off x="6558675" y="4171691"/>
            <a:ext cx="620111" cy="544240"/>
            <a:chOff x="1660635" y="1371271"/>
            <a:chExt cx="620111" cy="544240"/>
          </a:xfrm>
        </p:grpSpPr>
        <p:sp>
          <p:nvSpPr>
            <p:cNvPr id="56" name="椭圆 55"/>
            <p:cNvSpPr/>
            <p:nvPr/>
          </p:nvSpPr>
          <p:spPr>
            <a:xfrm>
              <a:off x="1681655" y="1450428"/>
              <a:ext cx="472966" cy="46508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1660635" y="1371271"/>
              <a:ext cx="620111" cy="523220"/>
            </a:xfrm>
            <a:prstGeom prst="rect">
              <a:avLst/>
            </a:prstGeom>
            <a:noFill/>
          </p:spPr>
          <p:txBody>
            <a:bodyPr wrap="square" rtlCol="0">
              <a:spAutoFit/>
            </a:bodyPr>
            <a:lstStyle/>
            <a:p>
              <a:r>
                <a:rPr lang="en-US" altLang="zh-CN" sz="2800" b="1" dirty="0" smtClean="0"/>
                <a:t>C</a:t>
              </a:r>
              <a:r>
                <a:rPr lang="en-US" altLang="zh-CN" sz="2800" b="1" baseline="-25000" dirty="0" smtClean="0"/>
                <a:t>4</a:t>
              </a:r>
              <a:endParaRPr lang="zh-CN" altLang="en-US" sz="2800" b="1" baseline="-25000" dirty="0"/>
            </a:p>
          </p:txBody>
        </p:sp>
      </p:grpSp>
      <p:grpSp>
        <p:nvGrpSpPr>
          <p:cNvPr id="58" name="组合 57"/>
          <p:cNvGrpSpPr/>
          <p:nvPr/>
        </p:nvGrpSpPr>
        <p:grpSpPr>
          <a:xfrm>
            <a:off x="8532111" y="1057745"/>
            <a:ext cx="630620" cy="523220"/>
            <a:chOff x="4974399" y="1081087"/>
            <a:chExt cx="630620" cy="523220"/>
          </a:xfrm>
        </p:grpSpPr>
        <p:sp>
          <p:nvSpPr>
            <p:cNvPr id="59" name="矩形 58"/>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0" name="文本框 59"/>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1</a:t>
              </a:r>
              <a:endParaRPr lang="zh-CN" altLang="en-US" sz="2800" b="1" baseline="-25000" dirty="0"/>
            </a:p>
          </p:txBody>
        </p:sp>
      </p:grpSp>
      <p:grpSp>
        <p:nvGrpSpPr>
          <p:cNvPr id="61" name="组合 60"/>
          <p:cNvGrpSpPr/>
          <p:nvPr/>
        </p:nvGrpSpPr>
        <p:grpSpPr>
          <a:xfrm>
            <a:off x="8538130" y="1914092"/>
            <a:ext cx="630620" cy="523220"/>
            <a:chOff x="4974399" y="1081087"/>
            <a:chExt cx="630620" cy="523220"/>
          </a:xfrm>
        </p:grpSpPr>
        <p:sp>
          <p:nvSpPr>
            <p:cNvPr id="62" name="矩形 61"/>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3" name="文本框 62"/>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2</a:t>
              </a:r>
              <a:endParaRPr lang="zh-CN" altLang="en-US" sz="2800" b="1" baseline="-25000" dirty="0"/>
            </a:p>
          </p:txBody>
        </p:sp>
      </p:grpSp>
      <p:grpSp>
        <p:nvGrpSpPr>
          <p:cNvPr id="64" name="组合 63"/>
          <p:cNvGrpSpPr/>
          <p:nvPr/>
        </p:nvGrpSpPr>
        <p:grpSpPr>
          <a:xfrm>
            <a:off x="8548221" y="2792365"/>
            <a:ext cx="630620" cy="523220"/>
            <a:chOff x="4974399" y="1081087"/>
            <a:chExt cx="630620" cy="523220"/>
          </a:xfrm>
        </p:grpSpPr>
        <p:sp>
          <p:nvSpPr>
            <p:cNvPr id="65" name="矩形 64"/>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6" name="文本框 65"/>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3</a:t>
              </a:r>
              <a:endParaRPr lang="zh-CN" altLang="en-US" sz="2800" b="1" baseline="-25000" dirty="0"/>
            </a:p>
          </p:txBody>
        </p:sp>
      </p:grpSp>
      <p:grpSp>
        <p:nvGrpSpPr>
          <p:cNvPr id="67" name="组合 66"/>
          <p:cNvGrpSpPr/>
          <p:nvPr/>
        </p:nvGrpSpPr>
        <p:grpSpPr>
          <a:xfrm>
            <a:off x="8561982" y="3734786"/>
            <a:ext cx="630620" cy="523220"/>
            <a:chOff x="4974399" y="1081087"/>
            <a:chExt cx="630620" cy="523220"/>
          </a:xfrm>
        </p:grpSpPr>
        <p:sp>
          <p:nvSpPr>
            <p:cNvPr id="68" name="矩形 67"/>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9" name="文本框 68"/>
            <p:cNvSpPr txBox="1"/>
            <p:nvPr/>
          </p:nvSpPr>
          <p:spPr>
            <a:xfrm>
              <a:off x="4974399"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4</a:t>
              </a:r>
              <a:endParaRPr lang="zh-CN" altLang="en-US" sz="2800" b="1" baseline="-25000" dirty="0"/>
            </a:p>
          </p:txBody>
        </p:sp>
      </p:grpSp>
      <p:grpSp>
        <p:nvGrpSpPr>
          <p:cNvPr id="70" name="组合 69"/>
          <p:cNvGrpSpPr/>
          <p:nvPr/>
        </p:nvGrpSpPr>
        <p:grpSpPr>
          <a:xfrm>
            <a:off x="8584480" y="4649482"/>
            <a:ext cx="630620" cy="523220"/>
            <a:chOff x="4985157" y="1081087"/>
            <a:chExt cx="630620" cy="523220"/>
          </a:xfrm>
        </p:grpSpPr>
        <p:sp>
          <p:nvSpPr>
            <p:cNvPr id="71" name="矩形 70"/>
            <p:cNvSpPr/>
            <p:nvPr/>
          </p:nvSpPr>
          <p:spPr>
            <a:xfrm>
              <a:off x="5035386" y="1156039"/>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2" name="文本框 71"/>
            <p:cNvSpPr txBox="1"/>
            <p:nvPr/>
          </p:nvSpPr>
          <p:spPr>
            <a:xfrm>
              <a:off x="4985157" y="1081087"/>
              <a:ext cx="630620" cy="523220"/>
            </a:xfrm>
            <a:prstGeom prst="rect">
              <a:avLst/>
            </a:prstGeom>
            <a:noFill/>
          </p:spPr>
          <p:txBody>
            <a:bodyPr wrap="square" rtlCol="0">
              <a:spAutoFit/>
            </a:bodyPr>
            <a:lstStyle/>
            <a:p>
              <a:r>
                <a:rPr lang="en-US" altLang="zh-CN" sz="2800" b="1" i="1" dirty="0" smtClean="0"/>
                <a:t>T</a:t>
              </a:r>
              <a:r>
                <a:rPr lang="en-US" altLang="zh-CN" sz="2800" b="1" baseline="-25000" dirty="0" smtClean="0"/>
                <a:t>5</a:t>
              </a:r>
              <a:endParaRPr lang="zh-CN" altLang="en-US" sz="2800" b="1" baseline="-25000" dirty="0"/>
            </a:p>
          </p:txBody>
        </p:sp>
      </p:grpSp>
      <p:cxnSp>
        <p:nvCxnSpPr>
          <p:cNvPr id="73" name="直接连接符 72"/>
          <p:cNvCxnSpPr/>
          <p:nvPr/>
        </p:nvCxnSpPr>
        <p:spPr>
          <a:xfrm>
            <a:off x="943956" y="1375171"/>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V="1">
            <a:off x="924328" y="1818338"/>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7147141" y="1339542"/>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76" name="文本框 75"/>
          <p:cNvSpPr txBox="1"/>
          <p:nvPr/>
        </p:nvSpPr>
        <p:spPr>
          <a:xfrm>
            <a:off x="7159065" y="2176894"/>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77" name="文本框 76"/>
          <p:cNvSpPr txBox="1"/>
          <p:nvPr/>
        </p:nvSpPr>
        <p:spPr>
          <a:xfrm>
            <a:off x="7160854" y="3130430"/>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78" name="文本框 77"/>
          <p:cNvSpPr txBox="1"/>
          <p:nvPr/>
        </p:nvSpPr>
        <p:spPr>
          <a:xfrm>
            <a:off x="7172802" y="4019504"/>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79" name="文本框 78"/>
          <p:cNvSpPr txBox="1"/>
          <p:nvPr/>
        </p:nvSpPr>
        <p:spPr>
          <a:xfrm>
            <a:off x="8084032" y="1737272"/>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80" name="文本框 79"/>
          <p:cNvSpPr txBox="1"/>
          <p:nvPr/>
        </p:nvSpPr>
        <p:spPr>
          <a:xfrm>
            <a:off x="8095956" y="2616668"/>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81" name="文本框 80"/>
          <p:cNvSpPr txBox="1"/>
          <p:nvPr/>
        </p:nvSpPr>
        <p:spPr>
          <a:xfrm>
            <a:off x="8109693" y="4459278"/>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82" name="文本框 81"/>
          <p:cNvSpPr txBox="1"/>
          <p:nvPr/>
        </p:nvSpPr>
        <p:spPr>
          <a:xfrm>
            <a:off x="8121031" y="3488091"/>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83" name="文本框 82"/>
          <p:cNvSpPr txBox="1"/>
          <p:nvPr/>
        </p:nvSpPr>
        <p:spPr>
          <a:xfrm>
            <a:off x="6078878" y="1374031"/>
            <a:ext cx="440951" cy="461665"/>
          </a:xfrm>
          <a:prstGeom prst="rect">
            <a:avLst/>
          </a:prstGeom>
          <a:noFill/>
        </p:spPr>
        <p:txBody>
          <a:bodyPr wrap="square" rtlCol="0">
            <a:spAutoFit/>
          </a:bodyPr>
          <a:lstStyle/>
          <a:p>
            <a:r>
              <a:rPr lang="en-US" altLang="zh-CN" sz="2400" dirty="0" smtClean="0"/>
              <a:t>9</a:t>
            </a:r>
            <a:endParaRPr lang="zh-CN" altLang="en-US" sz="2400" dirty="0"/>
          </a:p>
        </p:txBody>
      </p:sp>
      <p:sp>
        <p:nvSpPr>
          <p:cNvPr id="84" name="文本框 83"/>
          <p:cNvSpPr txBox="1"/>
          <p:nvPr/>
        </p:nvSpPr>
        <p:spPr>
          <a:xfrm>
            <a:off x="6090802" y="2232406"/>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85" name="文本框 84"/>
          <p:cNvSpPr txBox="1"/>
          <p:nvPr/>
        </p:nvSpPr>
        <p:spPr>
          <a:xfrm>
            <a:off x="6092591" y="3143899"/>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86" name="文本框 85"/>
          <p:cNvSpPr txBox="1"/>
          <p:nvPr/>
        </p:nvSpPr>
        <p:spPr>
          <a:xfrm>
            <a:off x="6073009" y="4075015"/>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87" name="文本框 86"/>
          <p:cNvSpPr txBox="1"/>
          <p:nvPr/>
        </p:nvSpPr>
        <p:spPr>
          <a:xfrm>
            <a:off x="5127824" y="1767937"/>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88" name="文本框 87"/>
          <p:cNvSpPr txBox="1"/>
          <p:nvPr/>
        </p:nvSpPr>
        <p:spPr>
          <a:xfrm>
            <a:off x="5139748" y="2657843"/>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89" name="文本框 88"/>
          <p:cNvSpPr txBox="1"/>
          <p:nvPr/>
        </p:nvSpPr>
        <p:spPr>
          <a:xfrm>
            <a:off x="5129852" y="3514638"/>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90" name="文本框 89"/>
          <p:cNvSpPr txBox="1"/>
          <p:nvPr/>
        </p:nvSpPr>
        <p:spPr>
          <a:xfrm>
            <a:off x="5145104" y="4511348"/>
            <a:ext cx="440951" cy="461665"/>
          </a:xfrm>
          <a:prstGeom prst="rect">
            <a:avLst/>
          </a:prstGeom>
          <a:noFill/>
        </p:spPr>
        <p:txBody>
          <a:bodyPr wrap="square" rtlCol="0">
            <a:spAutoFit/>
          </a:bodyPr>
          <a:lstStyle/>
          <a:p>
            <a:r>
              <a:rPr lang="en-US" altLang="zh-CN" sz="2400" dirty="0" smtClean="0"/>
              <a:t>3</a:t>
            </a:r>
            <a:endParaRPr lang="zh-CN" altLang="en-US" sz="2400" dirty="0"/>
          </a:p>
        </p:txBody>
      </p:sp>
      <p:sp>
        <p:nvSpPr>
          <p:cNvPr id="91" name="文本框 90"/>
          <p:cNvSpPr txBox="1"/>
          <p:nvPr/>
        </p:nvSpPr>
        <p:spPr>
          <a:xfrm>
            <a:off x="3068219" y="1275007"/>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92" name="文本框 91"/>
          <p:cNvSpPr txBox="1"/>
          <p:nvPr/>
        </p:nvSpPr>
        <p:spPr>
          <a:xfrm>
            <a:off x="3080143" y="2185934"/>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93" name="文本框 92"/>
          <p:cNvSpPr txBox="1"/>
          <p:nvPr/>
        </p:nvSpPr>
        <p:spPr>
          <a:xfrm>
            <a:off x="3081932" y="3055385"/>
            <a:ext cx="436636" cy="461665"/>
          </a:xfrm>
          <a:prstGeom prst="rect">
            <a:avLst/>
          </a:prstGeom>
          <a:noFill/>
        </p:spPr>
        <p:txBody>
          <a:bodyPr wrap="square" rtlCol="0">
            <a:spAutoFit/>
          </a:bodyPr>
          <a:lstStyle/>
          <a:p>
            <a:r>
              <a:rPr lang="en-US" altLang="zh-CN" sz="2400" dirty="0" smtClean="0"/>
              <a:t>3</a:t>
            </a:r>
            <a:endParaRPr lang="zh-CN" altLang="en-US" sz="2400" dirty="0"/>
          </a:p>
        </p:txBody>
      </p:sp>
      <p:sp>
        <p:nvSpPr>
          <p:cNvPr id="94" name="文本框 93"/>
          <p:cNvSpPr txBox="1"/>
          <p:nvPr/>
        </p:nvSpPr>
        <p:spPr>
          <a:xfrm>
            <a:off x="3093880" y="4018034"/>
            <a:ext cx="436636" cy="461665"/>
          </a:xfrm>
          <a:prstGeom prst="rect">
            <a:avLst/>
          </a:prstGeom>
          <a:noFill/>
        </p:spPr>
        <p:txBody>
          <a:bodyPr wrap="square" rtlCol="0">
            <a:spAutoFit/>
          </a:bodyPr>
          <a:lstStyle/>
          <a:p>
            <a:r>
              <a:rPr lang="en-US" altLang="zh-CN" sz="2400" dirty="0" smtClean="0"/>
              <a:t>2</a:t>
            </a:r>
            <a:endParaRPr lang="zh-CN" altLang="en-US" sz="2400" dirty="0"/>
          </a:p>
        </p:txBody>
      </p:sp>
      <p:sp>
        <p:nvSpPr>
          <p:cNvPr id="95" name="文本框 94"/>
          <p:cNvSpPr txBox="1"/>
          <p:nvPr/>
        </p:nvSpPr>
        <p:spPr>
          <a:xfrm>
            <a:off x="4080846" y="1752378"/>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96" name="文本框 95"/>
          <p:cNvSpPr txBox="1"/>
          <p:nvPr/>
        </p:nvSpPr>
        <p:spPr>
          <a:xfrm>
            <a:off x="4092770" y="2642283"/>
            <a:ext cx="440951" cy="461665"/>
          </a:xfrm>
          <a:prstGeom prst="rect">
            <a:avLst/>
          </a:prstGeom>
          <a:noFill/>
        </p:spPr>
        <p:txBody>
          <a:bodyPr wrap="square" rtlCol="0">
            <a:spAutoFit/>
          </a:bodyPr>
          <a:lstStyle/>
          <a:p>
            <a:r>
              <a:rPr lang="en-US" altLang="zh-CN" sz="2400" dirty="0" smtClean="0"/>
              <a:t>2</a:t>
            </a:r>
            <a:endParaRPr lang="zh-CN" altLang="en-US" sz="2400" dirty="0"/>
          </a:p>
        </p:txBody>
      </p:sp>
      <p:sp>
        <p:nvSpPr>
          <p:cNvPr id="97" name="文本框 96"/>
          <p:cNvSpPr txBox="1"/>
          <p:nvPr/>
        </p:nvSpPr>
        <p:spPr>
          <a:xfrm>
            <a:off x="4094559" y="3574798"/>
            <a:ext cx="440951" cy="461665"/>
          </a:xfrm>
          <a:prstGeom prst="rect">
            <a:avLst/>
          </a:prstGeom>
          <a:noFill/>
        </p:spPr>
        <p:txBody>
          <a:bodyPr wrap="square" rtlCol="0">
            <a:spAutoFit/>
          </a:bodyPr>
          <a:lstStyle/>
          <a:p>
            <a:r>
              <a:rPr lang="en-US" altLang="zh-CN" sz="2400" dirty="0" smtClean="0"/>
              <a:t>1</a:t>
            </a:r>
            <a:endParaRPr lang="zh-CN" altLang="en-US" sz="2400" dirty="0"/>
          </a:p>
        </p:txBody>
      </p:sp>
      <p:sp>
        <p:nvSpPr>
          <p:cNvPr id="98" name="文本框 97"/>
          <p:cNvSpPr txBox="1"/>
          <p:nvPr/>
        </p:nvSpPr>
        <p:spPr>
          <a:xfrm>
            <a:off x="4106507" y="4495404"/>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99" name="文本框 98"/>
          <p:cNvSpPr txBox="1"/>
          <p:nvPr/>
        </p:nvSpPr>
        <p:spPr>
          <a:xfrm>
            <a:off x="1962367" y="1328050"/>
            <a:ext cx="440951" cy="461665"/>
          </a:xfrm>
          <a:prstGeom prst="rect">
            <a:avLst/>
          </a:prstGeom>
          <a:noFill/>
        </p:spPr>
        <p:txBody>
          <a:bodyPr wrap="square" rtlCol="0">
            <a:spAutoFit/>
          </a:bodyPr>
          <a:lstStyle/>
          <a:p>
            <a:r>
              <a:rPr lang="en-US" altLang="zh-CN" sz="2400" dirty="0" smtClean="0"/>
              <a:t>6</a:t>
            </a:r>
            <a:endParaRPr lang="zh-CN" altLang="en-US" sz="2400" dirty="0"/>
          </a:p>
        </p:txBody>
      </p:sp>
      <p:sp>
        <p:nvSpPr>
          <p:cNvPr id="100" name="文本框 99"/>
          <p:cNvSpPr txBox="1"/>
          <p:nvPr/>
        </p:nvSpPr>
        <p:spPr>
          <a:xfrm>
            <a:off x="1974291" y="2196937"/>
            <a:ext cx="440951" cy="461665"/>
          </a:xfrm>
          <a:prstGeom prst="rect">
            <a:avLst/>
          </a:prstGeom>
          <a:noFill/>
        </p:spPr>
        <p:txBody>
          <a:bodyPr wrap="square" rtlCol="0">
            <a:spAutoFit/>
          </a:bodyPr>
          <a:lstStyle/>
          <a:p>
            <a:r>
              <a:rPr lang="en-US" altLang="zh-CN" sz="2400" dirty="0" smtClean="0"/>
              <a:t>7</a:t>
            </a:r>
            <a:endParaRPr lang="zh-CN" altLang="en-US" sz="2400" dirty="0"/>
          </a:p>
        </p:txBody>
      </p:sp>
      <p:sp>
        <p:nvSpPr>
          <p:cNvPr id="101" name="文本框 100"/>
          <p:cNvSpPr txBox="1"/>
          <p:nvPr/>
        </p:nvSpPr>
        <p:spPr>
          <a:xfrm>
            <a:off x="1976080" y="3139960"/>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02" name="文本框 101"/>
          <p:cNvSpPr txBox="1"/>
          <p:nvPr/>
        </p:nvSpPr>
        <p:spPr>
          <a:xfrm>
            <a:off x="1998538" y="4049066"/>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03" name="文本框 102"/>
          <p:cNvSpPr txBox="1"/>
          <p:nvPr/>
        </p:nvSpPr>
        <p:spPr>
          <a:xfrm>
            <a:off x="1018279" y="1796548"/>
            <a:ext cx="440951" cy="461665"/>
          </a:xfrm>
          <a:prstGeom prst="rect">
            <a:avLst/>
          </a:prstGeom>
          <a:noFill/>
        </p:spPr>
        <p:txBody>
          <a:bodyPr wrap="square" rtlCol="0">
            <a:spAutoFit/>
          </a:bodyPr>
          <a:lstStyle/>
          <a:p>
            <a:r>
              <a:rPr lang="en-US" altLang="zh-CN" sz="2400" dirty="0" smtClean="0"/>
              <a:t>4</a:t>
            </a:r>
            <a:endParaRPr lang="zh-CN" altLang="en-US" sz="2400" dirty="0"/>
          </a:p>
        </p:txBody>
      </p:sp>
      <p:sp>
        <p:nvSpPr>
          <p:cNvPr id="104" name="文本框 103"/>
          <p:cNvSpPr txBox="1"/>
          <p:nvPr/>
        </p:nvSpPr>
        <p:spPr>
          <a:xfrm>
            <a:off x="1030203" y="2728494"/>
            <a:ext cx="440951" cy="461665"/>
          </a:xfrm>
          <a:prstGeom prst="rect">
            <a:avLst/>
          </a:prstGeom>
          <a:noFill/>
        </p:spPr>
        <p:txBody>
          <a:bodyPr wrap="square" rtlCol="0">
            <a:spAutoFit/>
          </a:bodyPr>
          <a:lstStyle/>
          <a:p>
            <a:r>
              <a:rPr lang="en-US" altLang="zh-CN" sz="2400" dirty="0" smtClean="0"/>
              <a:t>5</a:t>
            </a:r>
            <a:endParaRPr lang="zh-CN" altLang="en-US" sz="2400" dirty="0"/>
          </a:p>
        </p:txBody>
      </p:sp>
      <p:sp>
        <p:nvSpPr>
          <p:cNvPr id="105" name="文本框 104"/>
          <p:cNvSpPr txBox="1"/>
          <p:nvPr/>
        </p:nvSpPr>
        <p:spPr>
          <a:xfrm>
            <a:off x="1031992" y="3597946"/>
            <a:ext cx="440951" cy="461665"/>
          </a:xfrm>
          <a:prstGeom prst="rect">
            <a:avLst/>
          </a:prstGeom>
          <a:noFill/>
        </p:spPr>
        <p:txBody>
          <a:bodyPr wrap="square" rtlCol="0">
            <a:spAutoFit/>
          </a:bodyPr>
          <a:lstStyle/>
          <a:p>
            <a:r>
              <a:rPr lang="en-US" altLang="zh-CN" sz="2400" dirty="0" smtClean="0"/>
              <a:t>9</a:t>
            </a:r>
            <a:endParaRPr lang="zh-CN" altLang="en-US" sz="2400" dirty="0"/>
          </a:p>
        </p:txBody>
      </p:sp>
      <p:sp>
        <p:nvSpPr>
          <p:cNvPr id="106" name="文本框 105"/>
          <p:cNvSpPr txBox="1"/>
          <p:nvPr/>
        </p:nvSpPr>
        <p:spPr>
          <a:xfrm>
            <a:off x="1043940" y="4529064"/>
            <a:ext cx="440951" cy="461665"/>
          </a:xfrm>
          <a:prstGeom prst="rect">
            <a:avLst/>
          </a:prstGeom>
          <a:noFill/>
        </p:spPr>
        <p:txBody>
          <a:bodyPr wrap="square" rtlCol="0">
            <a:spAutoFit/>
          </a:bodyPr>
          <a:lstStyle/>
          <a:p>
            <a:r>
              <a:rPr lang="en-US" altLang="zh-CN" sz="2400" dirty="0" smtClean="0"/>
              <a:t>4</a:t>
            </a:r>
            <a:endParaRPr lang="zh-CN" altLang="en-US" sz="2400" dirty="0"/>
          </a:p>
        </p:txBody>
      </p:sp>
      <p:cxnSp>
        <p:nvCxnSpPr>
          <p:cNvPr id="107" name="直接连接符 106"/>
          <p:cNvCxnSpPr/>
          <p:nvPr/>
        </p:nvCxnSpPr>
        <p:spPr>
          <a:xfrm>
            <a:off x="971848" y="3177110"/>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V="1">
            <a:off x="952222" y="3620277"/>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V="1">
            <a:off x="960645" y="2727459"/>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V="1">
            <a:off x="959312" y="4540860"/>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955377" y="408563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2987006" y="1800079"/>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V="1">
            <a:off x="2967378" y="2243246"/>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2970523" y="3632595"/>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2982932" y="4079636"/>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V="1">
            <a:off x="2977905" y="1360245"/>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V="1">
            <a:off x="2973413" y="3121854"/>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2974011" y="267744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3001095" y="4553735"/>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938298" y="223044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5017331" y="1403624"/>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5014097" y="317413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5028752" y="4114089"/>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5011673" y="225889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V="1">
            <a:off x="5010526" y="269957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5026080" y="453596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flipV="1">
            <a:off x="5021053" y="1816572"/>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flipV="1">
            <a:off x="5016561" y="3620221"/>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7051255" y="1795771"/>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7048021" y="3566280"/>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7062676" y="4506236"/>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7045597" y="2651043"/>
            <a:ext cx="1543666" cy="4329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V="1">
            <a:off x="7043864" y="223058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V="1">
            <a:off x="7059418" y="4066973"/>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V="1">
            <a:off x="7054391" y="1347582"/>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7049899" y="3151231"/>
            <a:ext cx="1552288" cy="4235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文本框 136"/>
          <p:cNvSpPr txBox="1"/>
          <p:nvPr/>
        </p:nvSpPr>
        <p:spPr>
          <a:xfrm>
            <a:off x="6503029" y="1149366"/>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u,2</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38" name="文本框 137"/>
          <p:cNvSpPr txBox="1"/>
          <p:nvPr/>
        </p:nvSpPr>
        <p:spPr>
          <a:xfrm>
            <a:off x="6505702" y="2050641"/>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d,3</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39" name="文本框 138"/>
          <p:cNvSpPr txBox="1"/>
          <p:nvPr/>
        </p:nvSpPr>
        <p:spPr>
          <a:xfrm>
            <a:off x="6504989" y="2844760"/>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0" name="文本框 139"/>
          <p:cNvSpPr txBox="1"/>
          <p:nvPr/>
        </p:nvSpPr>
        <p:spPr>
          <a:xfrm>
            <a:off x="6524545" y="3817722"/>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u,1</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1" name="文本框 140"/>
          <p:cNvSpPr txBox="1"/>
          <p:nvPr/>
        </p:nvSpPr>
        <p:spPr>
          <a:xfrm>
            <a:off x="4480534" y="1634524"/>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2" name="文本框 141"/>
          <p:cNvSpPr txBox="1"/>
          <p:nvPr/>
        </p:nvSpPr>
        <p:spPr>
          <a:xfrm>
            <a:off x="4483207" y="2556818"/>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3" name="文本框 142"/>
          <p:cNvSpPr txBox="1"/>
          <p:nvPr/>
        </p:nvSpPr>
        <p:spPr>
          <a:xfrm>
            <a:off x="4482494" y="3435019"/>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4" name="文本框 143"/>
          <p:cNvSpPr txBox="1"/>
          <p:nvPr/>
        </p:nvSpPr>
        <p:spPr>
          <a:xfrm>
            <a:off x="4502050" y="4376455"/>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u,4</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5" name="文本框 144"/>
          <p:cNvSpPr txBox="1"/>
          <p:nvPr/>
        </p:nvSpPr>
        <p:spPr>
          <a:xfrm>
            <a:off x="4451158" y="747976"/>
            <a:ext cx="822963"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d,11</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6" name="文本框 145"/>
          <p:cNvSpPr txBox="1"/>
          <p:nvPr/>
        </p:nvSpPr>
        <p:spPr>
          <a:xfrm>
            <a:off x="2449045" y="1205851"/>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d,9</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7" name="文本框 146"/>
          <p:cNvSpPr txBox="1"/>
          <p:nvPr/>
        </p:nvSpPr>
        <p:spPr>
          <a:xfrm>
            <a:off x="2451718" y="2086104"/>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u,8</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8" name="文本框 147"/>
          <p:cNvSpPr txBox="1"/>
          <p:nvPr/>
        </p:nvSpPr>
        <p:spPr>
          <a:xfrm>
            <a:off x="2451005" y="2974818"/>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d,6</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49" name="文本框 148"/>
          <p:cNvSpPr txBox="1"/>
          <p:nvPr/>
        </p:nvSpPr>
        <p:spPr>
          <a:xfrm>
            <a:off x="2470561" y="3926764"/>
            <a:ext cx="648135"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0" name="文本框 149"/>
          <p:cNvSpPr txBox="1"/>
          <p:nvPr/>
        </p:nvSpPr>
        <p:spPr>
          <a:xfrm>
            <a:off x="413170" y="766423"/>
            <a:ext cx="811850"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d,15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1" name="文本框 150"/>
          <p:cNvSpPr txBox="1"/>
          <p:nvPr/>
        </p:nvSpPr>
        <p:spPr>
          <a:xfrm>
            <a:off x="394327" y="1625160"/>
            <a:ext cx="802143"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u,13</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2" name="文本框 151"/>
          <p:cNvSpPr txBox="1"/>
          <p:nvPr/>
        </p:nvSpPr>
        <p:spPr>
          <a:xfrm>
            <a:off x="404372" y="2544911"/>
            <a:ext cx="854031"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d,10</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3" name="文本框 152"/>
          <p:cNvSpPr txBox="1"/>
          <p:nvPr/>
        </p:nvSpPr>
        <p:spPr>
          <a:xfrm>
            <a:off x="434686" y="3443802"/>
            <a:ext cx="819727"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d,11</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4" name="文本框 153"/>
          <p:cNvSpPr txBox="1"/>
          <p:nvPr/>
        </p:nvSpPr>
        <p:spPr>
          <a:xfrm>
            <a:off x="423937" y="4407942"/>
            <a:ext cx="819727"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u,10</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5" name="object 48"/>
          <p:cNvSpPr txBox="1"/>
          <p:nvPr/>
        </p:nvSpPr>
        <p:spPr>
          <a:xfrm>
            <a:off x="464856" y="5546949"/>
            <a:ext cx="988911" cy="269304"/>
          </a:xfrm>
          <a:prstGeom prst="rect">
            <a:avLst/>
          </a:prstGeom>
        </p:spPr>
        <p:txBody>
          <a:bodyPr vert="horz" wrap="square" lIns="0" tIns="0" rIns="0" bIns="0" rtlCol="0">
            <a:spAutoFit/>
          </a:bodyPr>
          <a:lstStyle/>
          <a:p>
            <a:pPr>
              <a:lnSpc>
                <a:spcPts val="2137"/>
              </a:lnSpc>
              <a:spcBef>
                <a:spcPct val="0"/>
              </a:spcBef>
              <a:spcAft>
                <a:spcPct val="0"/>
              </a:spcAft>
            </a:pPr>
            <a:r>
              <a:rPr sz="2400" b="1" spc="12" dirty="0">
                <a:solidFill>
                  <a:srgbClr val="000000"/>
                </a:solidFill>
                <a:latin typeface="黑体" panose="02010609060101010101" pitchFamily="49" charset="-122"/>
                <a:ea typeface="黑体" panose="02010609060101010101" pitchFamily="49" charset="-122"/>
                <a:cs typeface="LVCUMA+ËÎÌå"/>
              </a:rPr>
              <a:t>阶段</a:t>
            </a:r>
            <a:r>
              <a:rPr sz="2400" b="1" dirty="0">
                <a:solidFill>
                  <a:srgbClr val="000000"/>
                </a:solidFill>
                <a:latin typeface="黑体" panose="02010609060101010101" pitchFamily="49" charset="-122"/>
                <a:ea typeface="黑体" panose="02010609060101010101" pitchFamily="49" charset="-122"/>
                <a:cs typeface="GDQOVV+Arial,Bold"/>
              </a:rPr>
              <a:t>4</a:t>
            </a:r>
          </a:p>
        </p:txBody>
      </p:sp>
      <p:sp>
        <p:nvSpPr>
          <p:cNvPr id="156" name="object 49"/>
          <p:cNvSpPr txBox="1"/>
          <p:nvPr/>
        </p:nvSpPr>
        <p:spPr>
          <a:xfrm>
            <a:off x="2403318" y="5546949"/>
            <a:ext cx="988911" cy="269304"/>
          </a:xfrm>
          <a:prstGeom prst="rect">
            <a:avLst/>
          </a:prstGeom>
        </p:spPr>
        <p:txBody>
          <a:bodyPr vert="horz" wrap="square" lIns="0" tIns="0" rIns="0" bIns="0" rtlCol="0">
            <a:spAutoFit/>
          </a:bodyPr>
          <a:lstStyle/>
          <a:p>
            <a:pPr>
              <a:lnSpc>
                <a:spcPts val="2137"/>
              </a:lnSpc>
              <a:spcBef>
                <a:spcPct val="0"/>
              </a:spcBef>
              <a:spcAft>
                <a:spcPct val="0"/>
              </a:spcAft>
            </a:pPr>
            <a:r>
              <a:rPr sz="2400" b="1" spc="12" dirty="0">
                <a:solidFill>
                  <a:srgbClr val="000000"/>
                </a:solidFill>
                <a:latin typeface="黑体" panose="02010609060101010101" pitchFamily="49" charset="-122"/>
                <a:ea typeface="黑体" panose="02010609060101010101" pitchFamily="49" charset="-122"/>
                <a:cs typeface="LVCUMA+ËÎÌå"/>
              </a:rPr>
              <a:t>阶段</a:t>
            </a:r>
            <a:r>
              <a:rPr sz="2400" b="1" dirty="0">
                <a:solidFill>
                  <a:srgbClr val="000000"/>
                </a:solidFill>
                <a:latin typeface="黑体" panose="02010609060101010101" pitchFamily="49" charset="-122"/>
                <a:ea typeface="黑体" panose="02010609060101010101" pitchFamily="49" charset="-122"/>
                <a:cs typeface="GDQOVV+Arial,Bold"/>
              </a:rPr>
              <a:t>3</a:t>
            </a:r>
          </a:p>
        </p:txBody>
      </p:sp>
      <p:sp>
        <p:nvSpPr>
          <p:cNvPr id="157" name="object 50"/>
          <p:cNvSpPr txBox="1"/>
          <p:nvPr/>
        </p:nvSpPr>
        <p:spPr>
          <a:xfrm>
            <a:off x="4502050" y="5546949"/>
            <a:ext cx="989316" cy="269304"/>
          </a:xfrm>
          <a:prstGeom prst="rect">
            <a:avLst/>
          </a:prstGeom>
        </p:spPr>
        <p:txBody>
          <a:bodyPr vert="horz" wrap="square" lIns="0" tIns="0" rIns="0" bIns="0" rtlCol="0">
            <a:spAutoFit/>
          </a:bodyPr>
          <a:lstStyle/>
          <a:p>
            <a:pPr>
              <a:lnSpc>
                <a:spcPts val="2137"/>
              </a:lnSpc>
              <a:spcBef>
                <a:spcPct val="0"/>
              </a:spcBef>
              <a:spcAft>
                <a:spcPct val="0"/>
              </a:spcAft>
            </a:pPr>
            <a:r>
              <a:rPr sz="2400" b="1" spc="15" dirty="0">
                <a:solidFill>
                  <a:srgbClr val="000000"/>
                </a:solidFill>
                <a:latin typeface="黑体" panose="02010609060101010101" pitchFamily="49" charset="-122"/>
                <a:ea typeface="黑体" panose="02010609060101010101" pitchFamily="49" charset="-122"/>
                <a:cs typeface="LVCUMA+ËÎÌå"/>
              </a:rPr>
              <a:t>阶段</a:t>
            </a:r>
            <a:r>
              <a:rPr sz="2400" b="1" dirty="0">
                <a:solidFill>
                  <a:srgbClr val="000000"/>
                </a:solidFill>
                <a:latin typeface="黑体" panose="02010609060101010101" pitchFamily="49" charset="-122"/>
                <a:ea typeface="黑体" panose="02010609060101010101" pitchFamily="49" charset="-122"/>
                <a:cs typeface="GDQOVV+Arial,Bold"/>
              </a:rPr>
              <a:t>2</a:t>
            </a:r>
          </a:p>
        </p:txBody>
      </p:sp>
      <p:sp>
        <p:nvSpPr>
          <p:cNvPr id="158" name="object 51"/>
          <p:cNvSpPr txBox="1"/>
          <p:nvPr/>
        </p:nvSpPr>
        <p:spPr>
          <a:xfrm>
            <a:off x="6458773" y="5545025"/>
            <a:ext cx="1182251" cy="271228"/>
          </a:xfrm>
          <a:prstGeom prst="rect">
            <a:avLst/>
          </a:prstGeom>
        </p:spPr>
        <p:txBody>
          <a:bodyPr vert="horz" wrap="square" lIns="0" tIns="0" rIns="0" bIns="0" rtlCol="0">
            <a:spAutoFit/>
          </a:bodyPr>
          <a:lstStyle/>
          <a:p>
            <a:pPr>
              <a:lnSpc>
                <a:spcPts val="2137"/>
              </a:lnSpc>
              <a:spcBef>
                <a:spcPct val="0"/>
              </a:spcBef>
              <a:spcAft>
                <a:spcPct val="0"/>
              </a:spcAft>
            </a:pPr>
            <a:r>
              <a:rPr sz="2400" b="1" spc="12" dirty="0" smtClean="0">
                <a:solidFill>
                  <a:srgbClr val="000000"/>
                </a:solidFill>
                <a:latin typeface="黑体" panose="02010609060101010101" pitchFamily="49" charset="-122"/>
                <a:ea typeface="黑体" panose="02010609060101010101" pitchFamily="49" charset="-122"/>
                <a:cs typeface="LVCUMA+ËÎÌå"/>
              </a:rPr>
              <a:t>阶段</a:t>
            </a:r>
            <a:r>
              <a:rPr lang="en-US" sz="2400" b="1" spc="12" dirty="0" smtClean="0">
                <a:solidFill>
                  <a:srgbClr val="000000"/>
                </a:solidFill>
                <a:latin typeface="黑体" panose="02010609060101010101" pitchFamily="49" charset="-122"/>
                <a:ea typeface="黑体" panose="02010609060101010101" pitchFamily="49" charset="-122"/>
                <a:cs typeface="LVCUMA+ËÎÌå"/>
              </a:rPr>
              <a:t>1</a:t>
            </a:r>
            <a:endParaRPr sz="2400" b="1" dirty="0">
              <a:solidFill>
                <a:srgbClr val="000000"/>
              </a:solidFill>
              <a:latin typeface="黑体" panose="02010609060101010101" pitchFamily="49" charset="-122"/>
              <a:ea typeface="黑体" panose="02010609060101010101" pitchFamily="49" charset="-122"/>
              <a:cs typeface="GDQOVV+Arial,Bold"/>
            </a:endParaRPr>
          </a:p>
        </p:txBody>
      </p:sp>
      <p:cxnSp>
        <p:nvCxnSpPr>
          <p:cNvPr id="159" name="直接连接符 158"/>
          <p:cNvCxnSpPr/>
          <p:nvPr/>
        </p:nvCxnSpPr>
        <p:spPr>
          <a:xfrm>
            <a:off x="977104" y="3171855"/>
            <a:ext cx="1543666" cy="4329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a:off x="2975779" y="3627340"/>
            <a:ext cx="1543666" cy="4329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5034008" y="4108834"/>
            <a:ext cx="1543666" cy="4329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V="1">
            <a:off x="7064674" y="4061718"/>
            <a:ext cx="1552288" cy="4235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V="1">
            <a:off x="954031" y="4546156"/>
            <a:ext cx="1552288" cy="4235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V="1">
            <a:off x="2977651" y="4084932"/>
            <a:ext cx="1552288" cy="4235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1916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5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6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6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6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p:bldP spid="138" grpId="0"/>
      <p:bldP spid="139" grpId="0"/>
      <p:bldP spid="140" grpId="0"/>
      <p:bldP spid="141" grpId="0"/>
      <p:bldP spid="142" grpId="0"/>
      <p:bldP spid="143" grpId="0"/>
      <p:bldP spid="144" grpId="0"/>
      <p:bldP spid="145" grpId="0"/>
      <p:bldP spid="146" grpId="0"/>
      <p:bldP spid="147" grpId="0"/>
      <p:bldP spid="148" grpId="0"/>
      <p:bldP spid="149" grpId="0"/>
      <p:bldP spid="150" grpId="0"/>
      <p:bldP spid="151" grpId="0"/>
      <p:bldP spid="152" grpId="0"/>
      <p:bldP spid="153" grpId="0"/>
      <p:bldP spid="154" grpId="0"/>
      <p:bldP spid="155" grpId="0"/>
      <p:bldP spid="156" grpId="0"/>
      <p:bldP spid="157" grpId="0"/>
      <p:bldP spid="15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29083" y="214395"/>
            <a:ext cx="885665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VCUMA+ËÎÌå"/>
              </a:rPr>
              <a:t>子问题界定</a:t>
            </a:r>
            <a:endParaRPr sz="4000" b="1" spc="11"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1009295" y="1431449"/>
            <a:ext cx="7425577" cy="371897"/>
          </a:xfrm>
          <a:prstGeom prst="rect">
            <a:avLst/>
          </a:prstGeom>
        </p:spPr>
        <p:txBody>
          <a:bodyPr vert="horz" wrap="square" lIns="0" tIns="0" rIns="0" bIns="0" rtlCol="0">
            <a:spAutoFit/>
          </a:bodyPr>
          <a:lstStyle/>
          <a:p>
            <a:pPr>
              <a:lnSpc>
                <a:spcPts val="2850"/>
              </a:lnSpc>
              <a:spcBef>
                <a:spcPct val="0"/>
              </a:spcBef>
              <a:spcAft>
                <a:spcPct val="0"/>
              </a:spcAft>
            </a:pPr>
            <a:r>
              <a:rPr sz="3200" b="1" spc="12" dirty="0" err="1">
                <a:solidFill>
                  <a:srgbClr val="000000"/>
                </a:solidFill>
                <a:latin typeface="黑体" panose="02010609060101010101" pitchFamily="49" charset="-122"/>
                <a:ea typeface="黑体" panose="02010609060101010101" pitchFamily="49" charset="-122"/>
                <a:cs typeface="LVCUMA+ËÎÌå"/>
              </a:rPr>
              <a:t>后边界不变</a:t>
            </a:r>
            <a:r>
              <a:rPr sz="3200" b="1" dirty="0">
                <a:solidFill>
                  <a:srgbClr val="000000"/>
                </a:solidFill>
                <a:latin typeface="黑体" panose="02010609060101010101" pitchFamily="49" charset="-122"/>
                <a:ea typeface="黑体" panose="02010609060101010101" pitchFamily="49" charset="-122"/>
                <a:cs typeface="GDQOVV+Arial,Bold"/>
              </a:rPr>
              <a:t>,</a:t>
            </a:r>
            <a:r>
              <a:rPr sz="3200" b="1" spc="-15" dirty="0">
                <a:solidFill>
                  <a:srgbClr val="000000"/>
                </a:solidFill>
                <a:latin typeface="黑体" panose="02010609060101010101" pitchFamily="49" charset="-122"/>
                <a:ea typeface="黑体" panose="02010609060101010101" pitchFamily="49" charset="-122"/>
                <a:cs typeface="GDQOVV+Arial,Bold"/>
              </a:rPr>
              <a:t> </a:t>
            </a:r>
            <a:r>
              <a:rPr sz="3200" b="1" spc="12" dirty="0" err="1">
                <a:solidFill>
                  <a:srgbClr val="000000"/>
                </a:solidFill>
                <a:latin typeface="黑体" panose="02010609060101010101" pitchFamily="49" charset="-122"/>
                <a:ea typeface="黑体" panose="02010609060101010101" pitchFamily="49" charset="-122"/>
                <a:cs typeface="LVCUMA+ËÎÌå"/>
              </a:rPr>
              <a:t>前边界前移</a:t>
            </a:r>
            <a:endParaRPr sz="3200" b="1" spc="12" dirty="0">
              <a:solidFill>
                <a:srgbClr val="000000"/>
              </a:solidFill>
              <a:latin typeface="黑体" panose="02010609060101010101" pitchFamily="49" charset="-122"/>
              <a:ea typeface="黑体" panose="02010609060101010101" pitchFamily="49" charset="-122"/>
              <a:cs typeface="LVCUMA+ËÎÌå"/>
            </a:endParaRPr>
          </a:p>
        </p:txBody>
      </p:sp>
      <p:sp>
        <p:nvSpPr>
          <p:cNvPr id="5" name="object 5"/>
          <p:cNvSpPr txBox="1"/>
          <p:nvPr/>
        </p:nvSpPr>
        <p:spPr>
          <a:xfrm>
            <a:off x="5812219" y="2297201"/>
            <a:ext cx="2100139" cy="2641749"/>
          </a:xfrm>
          <a:prstGeom prst="rect">
            <a:avLst/>
          </a:prstGeom>
        </p:spPr>
        <p:txBody>
          <a:bodyPr vert="horz" wrap="square" lIns="0" tIns="0" rIns="0" bIns="0" rtlCol="0">
            <a:spAutoFit/>
          </a:bodyPr>
          <a:lstStyle/>
          <a:p>
            <a:pPr>
              <a:lnSpc>
                <a:spcPts val="2850"/>
              </a:lnSpc>
              <a:spcBef>
                <a:spcPts val="1800"/>
              </a:spcBef>
              <a:spcAft>
                <a:spcPts val="1200"/>
              </a:spcAft>
            </a:pPr>
            <a:r>
              <a:rPr sz="2800" b="1" spc="12" dirty="0" err="1">
                <a:solidFill>
                  <a:srgbClr val="000000"/>
                </a:solidFill>
                <a:latin typeface="黑体" panose="02010609060101010101" pitchFamily="49" charset="-122"/>
                <a:ea typeface="黑体" panose="02010609060101010101" pitchFamily="49" charset="-122"/>
                <a:cs typeface="LVCUMA+ËÎÌå"/>
              </a:rPr>
              <a:t>决策</a:t>
            </a:r>
            <a:r>
              <a:rPr sz="2800" b="1" spc="50"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1</a:t>
            </a:r>
          </a:p>
          <a:p>
            <a:pPr>
              <a:lnSpc>
                <a:spcPts val="2850"/>
              </a:lnSpc>
              <a:spcBef>
                <a:spcPts val="1800"/>
              </a:spcBef>
              <a:spcAft>
                <a:spcPts val="1200"/>
              </a:spcAft>
            </a:pPr>
            <a:r>
              <a:rPr sz="2800" b="1" spc="12" dirty="0" err="1">
                <a:solidFill>
                  <a:srgbClr val="000000"/>
                </a:solidFill>
                <a:latin typeface="黑体" panose="02010609060101010101" pitchFamily="49" charset="-122"/>
                <a:ea typeface="黑体" panose="02010609060101010101" pitchFamily="49" charset="-122"/>
                <a:cs typeface="LVCUMA+ËÎÌå"/>
              </a:rPr>
              <a:t>决策</a:t>
            </a:r>
            <a:r>
              <a:rPr sz="2800" b="1" spc="53"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2</a:t>
            </a:r>
          </a:p>
          <a:p>
            <a:pPr>
              <a:lnSpc>
                <a:spcPts val="2852"/>
              </a:lnSpc>
              <a:spcBef>
                <a:spcPts val="1800"/>
              </a:spcBef>
              <a:spcAft>
                <a:spcPts val="1200"/>
              </a:spcAft>
            </a:pPr>
            <a:r>
              <a:rPr sz="2800" b="1" spc="12" dirty="0" err="1">
                <a:solidFill>
                  <a:srgbClr val="000000"/>
                </a:solidFill>
                <a:latin typeface="黑体" panose="02010609060101010101" pitchFamily="49" charset="-122"/>
                <a:ea typeface="黑体" panose="02010609060101010101" pitchFamily="49" charset="-122"/>
                <a:cs typeface="LVCUMA+ËÎÌå"/>
              </a:rPr>
              <a:t>决策</a:t>
            </a:r>
            <a:r>
              <a:rPr sz="2800" b="1" spc="53"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3</a:t>
            </a:r>
          </a:p>
          <a:p>
            <a:pPr>
              <a:lnSpc>
                <a:spcPts val="2850"/>
              </a:lnSpc>
              <a:spcBef>
                <a:spcPts val="1800"/>
              </a:spcBef>
              <a:spcAft>
                <a:spcPts val="1200"/>
              </a:spcAft>
            </a:pPr>
            <a:r>
              <a:rPr sz="2800" b="1" spc="15" dirty="0" err="1">
                <a:solidFill>
                  <a:srgbClr val="000000"/>
                </a:solidFill>
                <a:latin typeface="黑体" panose="02010609060101010101" pitchFamily="49" charset="-122"/>
                <a:ea typeface="黑体" panose="02010609060101010101" pitchFamily="49" charset="-122"/>
                <a:cs typeface="LVCUMA+ËÎÌå"/>
              </a:rPr>
              <a:t>决策</a:t>
            </a:r>
            <a:r>
              <a:rPr sz="2800" b="1" spc="49"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4</a:t>
            </a:r>
          </a:p>
        </p:txBody>
      </p:sp>
      <p:pic>
        <p:nvPicPr>
          <p:cNvPr id="2" name="图片 1"/>
          <p:cNvPicPr>
            <a:picLocks noChangeAspect="1"/>
          </p:cNvPicPr>
          <p:nvPr/>
        </p:nvPicPr>
        <p:blipFill rotWithShape="1">
          <a:blip r:embed="rId2"/>
          <a:srcRect t="85767" r="21260"/>
          <a:stretch/>
        </p:blipFill>
        <p:spPr>
          <a:xfrm>
            <a:off x="840590" y="4938950"/>
            <a:ext cx="5045204" cy="638069"/>
          </a:xfrm>
          <a:prstGeom prst="rect">
            <a:avLst/>
          </a:prstGeom>
        </p:spPr>
      </p:pic>
      <p:pic>
        <p:nvPicPr>
          <p:cNvPr id="13" name="图片 12"/>
          <p:cNvPicPr>
            <a:picLocks noChangeAspect="1"/>
          </p:cNvPicPr>
          <p:nvPr/>
        </p:nvPicPr>
        <p:blipFill rotWithShape="1">
          <a:blip r:embed="rId2"/>
          <a:srcRect r="25664" b="20301"/>
          <a:stretch/>
        </p:blipFill>
        <p:spPr>
          <a:xfrm>
            <a:off x="1009296" y="1971105"/>
            <a:ext cx="4523906" cy="2967845"/>
          </a:xfrm>
          <a:prstGeom prst="rect">
            <a:avLst/>
          </a:prstGeom>
        </p:spPr>
      </p:pic>
    </p:spTree>
    <p:extLst>
      <p:ext uri="{BB962C8B-B14F-4D97-AF65-F5344CB8AC3E}">
        <p14:creationId xmlns:p14="http://schemas.microsoft.com/office/powerpoint/2010/main" val="166226497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99642" y="218044"/>
            <a:ext cx="856537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VCUMA+ËÎÌå"/>
              </a:rPr>
              <a:t>最短路长的依赖关系</a:t>
            </a:r>
            <a:endParaRPr sz="4000" b="1" spc="11" dirty="0">
              <a:solidFill>
                <a:srgbClr val="C00000"/>
              </a:solidFill>
              <a:latin typeface="黑体" panose="02010609060101010101" pitchFamily="49" charset="-122"/>
              <a:ea typeface="黑体" panose="02010609060101010101" pitchFamily="49" charset="-122"/>
              <a:cs typeface="LVCUMA+ËÎÌå"/>
            </a:endParaRPr>
          </a:p>
        </p:txBody>
      </p:sp>
      <p:sp>
        <p:nvSpPr>
          <p:cNvPr id="5" name="object 5"/>
          <p:cNvSpPr txBox="1"/>
          <p:nvPr/>
        </p:nvSpPr>
        <p:spPr>
          <a:xfrm>
            <a:off x="5745017" y="1865046"/>
            <a:ext cx="1405221" cy="371897"/>
          </a:xfrm>
          <a:prstGeom prst="rect">
            <a:avLst/>
          </a:prstGeom>
        </p:spPr>
        <p:txBody>
          <a:bodyPr vert="horz" wrap="square" lIns="0" tIns="0" rIns="0" bIns="0" rtlCol="0">
            <a:spAutoFit/>
          </a:bodyPr>
          <a:lstStyle/>
          <a:p>
            <a:pPr>
              <a:lnSpc>
                <a:spcPts val="2850"/>
              </a:lnSpc>
              <a:spcBef>
                <a:spcPct val="0"/>
              </a:spcBef>
              <a:spcAft>
                <a:spcPct val="0"/>
              </a:spcAft>
            </a:pPr>
            <a:r>
              <a:rPr sz="2800" b="1" spc="15" dirty="0" err="1">
                <a:solidFill>
                  <a:srgbClr val="000000"/>
                </a:solidFill>
                <a:latin typeface="黑体" panose="02010609060101010101" pitchFamily="49" charset="-122"/>
                <a:ea typeface="黑体" panose="02010609060101010101" pitchFamily="49" charset="-122"/>
                <a:cs typeface="LVCUMA+ËÎÌå"/>
              </a:rPr>
              <a:t>决策</a:t>
            </a:r>
            <a:r>
              <a:rPr sz="2800" b="1" spc="47"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1</a:t>
            </a:r>
          </a:p>
        </p:txBody>
      </p:sp>
      <p:sp>
        <p:nvSpPr>
          <p:cNvPr id="9" name="object 9"/>
          <p:cNvSpPr txBox="1"/>
          <p:nvPr/>
        </p:nvSpPr>
        <p:spPr>
          <a:xfrm>
            <a:off x="5745016" y="2654105"/>
            <a:ext cx="1634728" cy="371897"/>
          </a:xfrm>
          <a:prstGeom prst="rect">
            <a:avLst/>
          </a:prstGeom>
        </p:spPr>
        <p:txBody>
          <a:bodyPr vert="horz" wrap="square" lIns="0" tIns="0" rIns="0" bIns="0" rtlCol="0">
            <a:spAutoFit/>
          </a:bodyPr>
          <a:lstStyle/>
          <a:p>
            <a:pPr>
              <a:lnSpc>
                <a:spcPts val="2884"/>
              </a:lnSpc>
              <a:spcBef>
                <a:spcPct val="0"/>
              </a:spcBef>
              <a:spcAft>
                <a:spcPct val="0"/>
              </a:spcAft>
            </a:pPr>
            <a:r>
              <a:rPr sz="2800" b="1" spc="15" dirty="0" err="1" smtClean="0">
                <a:solidFill>
                  <a:srgbClr val="000000"/>
                </a:solidFill>
                <a:latin typeface="黑体" panose="02010609060101010101" pitchFamily="49" charset="-122"/>
                <a:ea typeface="黑体" panose="02010609060101010101" pitchFamily="49" charset="-122"/>
                <a:cs typeface="LVCUMA+ËÎÌå"/>
              </a:rPr>
              <a:t>决策</a:t>
            </a:r>
            <a:r>
              <a:rPr sz="2800" b="1" spc="47" dirty="0" smtClean="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2</a:t>
            </a:r>
          </a:p>
        </p:txBody>
      </p:sp>
      <p:sp>
        <p:nvSpPr>
          <p:cNvPr id="15" name="object 15"/>
          <p:cNvSpPr txBox="1"/>
          <p:nvPr/>
        </p:nvSpPr>
        <p:spPr>
          <a:xfrm>
            <a:off x="5745017" y="3447408"/>
            <a:ext cx="1405221" cy="371897"/>
          </a:xfrm>
          <a:prstGeom prst="rect">
            <a:avLst/>
          </a:prstGeom>
        </p:spPr>
        <p:txBody>
          <a:bodyPr vert="horz" wrap="square" lIns="0" tIns="0" rIns="0" bIns="0" rtlCol="0">
            <a:spAutoFit/>
          </a:bodyPr>
          <a:lstStyle/>
          <a:p>
            <a:pPr>
              <a:lnSpc>
                <a:spcPts val="2850"/>
              </a:lnSpc>
              <a:spcBef>
                <a:spcPct val="0"/>
              </a:spcBef>
              <a:spcAft>
                <a:spcPct val="0"/>
              </a:spcAft>
            </a:pPr>
            <a:r>
              <a:rPr sz="2800" b="1" spc="15" dirty="0" err="1">
                <a:solidFill>
                  <a:srgbClr val="000000"/>
                </a:solidFill>
                <a:latin typeface="黑体" panose="02010609060101010101" pitchFamily="49" charset="-122"/>
                <a:ea typeface="黑体" panose="02010609060101010101" pitchFamily="49" charset="-122"/>
                <a:cs typeface="LVCUMA+ËÎÌå"/>
              </a:rPr>
              <a:t>决策</a:t>
            </a:r>
            <a:r>
              <a:rPr sz="2800" b="1" spc="47"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3</a:t>
            </a:r>
          </a:p>
        </p:txBody>
      </p:sp>
      <p:sp>
        <p:nvSpPr>
          <p:cNvPr id="24" name="object 24"/>
          <p:cNvSpPr txBox="1"/>
          <p:nvPr/>
        </p:nvSpPr>
        <p:spPr>
          <a:xfrm>
            <a:off x="5763678" y="4265822"/>
            <a:ext cx="1405401" cy="371897"/>
          </a:xfrm>
          <a:prstGeom prst="rect">
            <a:avLst/>
          </a:prstGeom>
        </p:spPr>
        <p:txBody>
          <a:bodyPr vert="horz" wrap="square" lIns="0" tIns="0" rIns="0" bIns="0" rtlCol="0">
            <a:spAutoFit/>
          </a:bodyPr>
          <a:lstStyle/>
          <a:p>
            <a:pPr>
              <a:lnSpc>
                <a:spcPts val="2852"/>
              </a:lnSpc>
              <a:spcBef>
                <a:spcPct val="0"/>
              </a:spcBef>
              <a:spcAft>
                <a:spcPct val="0"/>
              </a:spcAft>
            </a:pPr>
            <a:r>
              <a:rPr sz="2800" b="1" spc="15" dirty="0" err="1">
                <a:solidFill>
                  <a:srgbClr val="000000"/>
                </a:solidFill>
                <a:latin typeface="黑体" panose="02010609060101010101" pitchFamily="49" charset="-122"/>
                <a:ea typeface="黑体" panose="02010609060101010101" pitchFamily="49" charset="-122"/>
                <a:cs typeface="LVCUMA+ËÎÌå"/>
              </a:rPr>
              <a:t>决策</a:t>
            </a:r>
            <a:r>
              <a:rPr sz="2800" b="1" spc="47"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CSBSGL+Arial"/>
              </a:rPr>
              <a:t>4</a:t>
            </a:r>
          </a:p>
        </p:txBody>
      </p:sp>
      <p:sp>
        <p:nvSpPr>
          <p:cNvPr id="26" name="object 26"/>
          <p:cNvSpPr txBox="1"/>
          <p:nvPr/>
        </p:nvSpPr>
        <p:spPr>
          <a:xfrm>
            <a:off x="770501" y="5258779"/>
            <a:ext cx="7272486" cy="333425"/>
          </a:xfrm>
          <a:prstGeom prst="rect">
            <a:avLst/>
          </a:prstGeom>
        </p:spPr>
        <p:txBody>
          <a:bodyPr vert="horz" wrap="square" lIns="0" tIns="0" rIns="0" bIns="0" rtlCol="0">
            <a:spAutoFit/>
          </a:bodyPr>
          <a:lstStyle/>
          <a:p>
            <a:pPr>
              <a:lnSpc>
                <a:spcPts val="2551"/>
              </a:lnSpc>
              <a:spcBef>
                <a:spcPct val="0"/>
              </a:spcBef>
              <a:spcAft>
                <a:spcPct val="0"/>
              </a:spcAft>
            </a:pPr>
            <a:r>
              <a:rPr sz="3200" b="1" spc="12" dirty="0" err="1">
                <a:solidFill>
                  <a:srgbClr val="000000"/>
                </a:solidFill>
                <a:latin typeface="黑体" panose="02010609060101010101" pitchFamily="49" charset="-122"/>
                <a:ea typeface="黑体" panose="02010609060101010101" pitchFamily="49" charset="-122"/>
                <a:cs typeface="LVCUMA+ËÎÌå"/>
              </a:rPr>
              <a:t>优化函数值之间存在依赖关系</a:t>
            </a:r>
            <a:endParaRPr sz="3200" b="1" spc="12" dirty="0">
              <a:solidFill>
                <a:srgbClr val="000000"/>
              </a:solidFill>
              <a:latin typeface="黑体" panose="02010609060101010101" pitchFamily="49" charset="-122"/>
              <a:ea typeface="黑体" panose="02010609060101010101" pitchFamily="49" charset="-122"/>
              <a:cs typeface="LVCUMA+ËÎÌå"/>
            </a:endParaRPr>
          </a:p>
        </p:txBody>
      </p:sp>
      <p:pic>
        <p:nvPicPr>
          <p:cNvPr id="2" name="图片 1"/>
          <p:cNvPicPr>
            <a:picLocks noChangeAspect="1"/>
          </p:cNvPicPr>
          <p:nvPr/>
        </p:nvPicPr>
        <p:blipFill>
          <a:blip r:embed="rId2"/>
          <a:stretch>
            <a:fillRect/>
          </a:stretch>
        </p:blipFill>
        <p:spPr>
          <a:xfrm>
            <a:off x="681135" y="1674511"/>
            <a:ext cx="4946723" cy="3107557"/>
          </a:xfrm>
          <a:prstGeom prst="rect">
            <a:avLst/>
          </a:prstGeom>
        </p:spPr>
      </p:pic>
    </p:spTree>
    <p:extLst>
      <p:ext uri="{BB962C8B-B14F-4D97-AF65-F5344CB8AC3E}">
        <p14:creationId xmlns:p14="http://schemas.microsoft.com/office/powerpoint/2010/main" val="329730025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1522" y="320618"/>
            <a:ext cx="8987278" cy="436017"/>
          </a:xfrm>
          <a:prstGeom prst="rect">
            <a:avLst/>
          </a:prstGeom>
        </p:spPr>
        <p:txBody>
          <a:bodyPr vert="horz" wrap="square" lIns="0" tIns="0" rIns="0" bIns="0" rtlCol="0">
            <a:spAutoFit/>
          </a:bodyPr>
          <a:lstStyle/>
          <a:p>
            <a:pPr algn="ctr">
              <a:lnSpc>
                <a:spcPts val="3406"/>
              </a:lnSpc>
              <a:spcBef>
                <a:spcPct val="0"/>
              </a:spcBef>
              <a:spcAft>
                <a:spcPct val="0"/>
              </a:spcAft>
            </a:pPr>
            <a:r>
              <a:rPr sz="4000" b="1" spc="18" dirty="0" err="1">
                <a:solidFill>
                  <a:srgbClr val="C00000"/>
                </a:solidFill>
                <a:latin typeface="黑体" panose="02010609060101010101" pitchFamily="49" charset="-122"/>
                <a:ea typeface="黑体" panose="02010609060101010101" pitchFamily="49" charset="-122"/>
                <a:cs typeface="LVCUMA+ËÎÌå"/>
              </a:rPr>
              <a:t>优化原则</a:t>
            </a:r>
            <a:r>
              <a:rPr sz="4000" b="1" spc="21" dirty="0" err="1">
                <a:solidFill>
                  <a:srgbClr val="C00000"/>
                </a:solidFill>
                <a:latin typeface="黑体" panose="02010609060101010101" pitchFamily="49" charset="-122"/>
                <a:ea typeface="黑体" panose="02010609060101010101" pitchFamily="49" charset="-122"/>
                <a:cs typeface="WNQESC+ËÎÌå"/>
              </a:rPr>
              <a:t>:</a:t>
            </a:r>
            <a:r>
              <a:rPr sz="4000" b="1" spc="12" dirty="0" err="1">
                <a:solidFill>
                  <a:srgbClr val="C00000"/>
                </a:solidFill>
                <a:latin typeface="黑体" panose="02010609060101010101" pitchFamily="49" charset="-122"/>
                <a:ea typeface="黑体" panose="02010609060101010101" pitchFamily="49" charset="-122"/>
                <a:cs typeface="LVCUMA+ËÎÌå"/>
              </a:rPr>
              <a:t>最优子结构性质</a:t>
            </a:r>
            <a:endParaRPr sz="4000" b="1" spc="12"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259207" y="1523493"/>
            <a:ext cx="9095000" cy="1292662"/>
          </a:xfrm>
          <a:prstGeom prst="rect">
            <a:avLst/>
          </a:prstGeom>
        </p:spPr>
        <p:txBody>
          <a:bodyPr vert="horz" wrap="square" lIns="0" tIns="0" rIns="0" bIns="0" rtlCol="0">
            <a:spAutoFit/>
          </a:bodyPr>
          <a:lstStyle/>
          <a:p>
            <a:pPr algn="just">
              <a:spcBef>
                <a:spcPct val="0"/>
              </a:spcBef>
              <a:spcAft>
                <a:spcPct val="0"/>
              </a:spcAft>
            </a:pPr>
            <a:r>
              <a:rPr sz="2800" b="1" dirty="0">
                <a:solidFill>
                  <a:srgbClr val="C00000"/>
                </a:solidFill>
                <a:latin typeface="黑体" panose="02010609060101010101" pitchFamily="49" charset="-122"/>
                <a:ea typeface="黑体" panose="02010609060101010101" pitchFamily="49" charset="-122"/>
                <a:cs typeface="GOLBRE+Arial"/>
              </a:rPr>
              <a:t>•</a:t>
            </a:r>
            <a:r>
              <a:rPr sz="2800" b="1" spc="1339" dirty="0">
                <a:solidFill>
                  <a:srgbClr val="C00000"/>
                </a:solidFill>
                <a:latin typeface="黑体" panose="02010609060101010101" pitchFamily="49" charset="-122"/>
                <a:ea typeface="黑体" panose="02010609060101010101" pitchFamily="49" charset="-122"/>
                <a:cs typeface="Times New Roman"/>
              </a:rPr>
              <a:t> </a:t>
            </a:r>
            <a:r>
              <a:rPr sz="2800" b="1" spc="12" dirty="0" err="1">
                <a:solidFill>
                  <a:srgbClr val="C00000"/>
                </a:solidFill>
                <a:latin typeface="黑体" panose="02010609060101010101" pitchFamily="49" charset="-122"/>
                <a:ea typeface="黑体" panose="02010609060101010101" pitchFamily="49" charset="-122"/>
                <a:cs typeface="LVCUMA+ËÎÌå"/>
              </a:rPr>
              <a:t>优化函数的特点</a:t>
            </a:r>
            <a:r>
              <a:rPr sz="2800" b="1" spc="12" dirty="0" smtClean="0">
                <a:solidFill>
                  <a:srgbClr val="000000"/>
                </a:solidFill>
                <a:latin typeface="黑体" panose="02010609060101010101" pitchFamily="49" charset="-122"/>
                <a:ea typeface="黑体" panose="02010609060101010101" pitchFamily="49" charset="-122"/>
                <a:cs typeface="LVCUMA+ËÎÌå"/>
              </a:rPr>
              <a:t>：</a:t>
            </a:r>
            <a:r>
              <a:rPr lang="zh-CN" altLang="en-US" sz="2800" b="1" spc="12" dirty="0">
                <a:solidFill>
                  <a:srgbClr val="000000"/>
                </a:solidFill>
                <a:latin typeface="黑体" panose="02010609060101010101" pitchFamily="49" charset="-122"/>
                <a:ea typeface="黑体" panose="02010609060101010101" pitchFamily="49" charset="-122"/>
                <a:cs typeface="LVCUMA+ËÎÌå"/>
              </a:rPr>
              <a:t>任何最短路的子路径相对于子问题始、终点最短</a:t>
            </a:r>
          </a:p>
          <a:p>
            <a:pPr>
              <a:spcBef>
                <a:spcPct val="0"/>
              </a:spcBef>
              <a:spcAft>
                <a:spcPct val="0"/>
              </a:spcAft>
            </a:pPr>
            <a:endParaRPr sz="2800" b="1" spc="12" dirty="0">
              <a:solidFill>
                <a:srgbClr val="000000"/>
              </a:solidFill>
              <a:latin typeface="黑体" panose="02010609060101010101" pitchFamily="49" charset="-122"/>
              <a:ea typeface="黑体" panose="02010609060101010101" pitchFamily="49" charset="-122"/>
              <a:cs typeface="LVCUMA+ËÎÌå"/>
            </a:endParaRPr>
          </a:p>
        </p:txBody>
      </p:sp>
      <p:sp>
        <p:nvSpPr>
          <p:cNvPr id="5" name="object 5"/>
          <p:cNvSpPr txBox="1"/>
          <p:nvPr/>
        </p:nvSpPr>
        <p:spPr>
          <a:xfrm>
            <a:off x="4223351" y="2582979"/>
            <a:ext cx="2960589" cy="243656"/>
          </a:xfrm>
          <a:prstGeom prst="rect">
            <a:avLst/>
          </a:prstGeom>
        </p:spPr>
        <p:txBody>
          <a:bodyPr vert="horz" wrap="square" lIns="0" tIns="0" rIns="0" bIns="0" rtlCol="0">
            <a:spAutoFit/>
          </a:bodyPr>
          <a:lstStyle/>
          <a:p>
            <a:pPr>
              <a:lnSpc>
                <a:spcPts val="1913"/>
              </a:lnSpc>
              <a:spcBef>
                <a:spcPct val="0"/>
              </a:spcBef>
              <a:spcAft>
                <a:spcPct val="0"/>
              </a:spcAft>
            </a:pPr>
            <a:r>
              <a:rPr sz="2800" b="1" spc="12" dirty="0" err="1">
                <a:solidFill>
                  <a:srgbClr val="0070C0"/>
                </a:solidFill>
                <a:latin typeface="黑体" panose="02010609060101010101" pitchFamily="49" charset="-122"/>
                <a:ea typeface="黑体" panose="02010609060101010101" pitchFamily="49" charset="-122"/>
                <a:cs typeface="LVCUMA+ËÎÌå"/>
              </a:rPr>
              <a:t>全局最短</a:t>
            </a:r>
            <a:endParaRPr sz="2800" b="1" spc="12" dirty="0">
              <a:solidFill>
                <a:srgbClr val="0070C0"/>
              </a:solidFill>
              <a:latin typeface="黑体" panose="02010609060101010101" pitchFamily="49" charset="-122"/>
              <a:ea typeface="黑体" panose="02010609060101010101" pitchFamily="49" charset="-122"/>
              <a:cs typeface="LVCUMA+ËÎÌå"/>
            </a:endParaRPr>
          </a:p>
        </p:txBody>
      </p:sp>
      <p:sp>
        <p:nvSpPr>
          <p:cNvPr id="6" name="object 6"/>
          <p:cNvSpPr txBox="1"/>
          <p:nvPr/>
        </p:nvSpPr>
        <p:spPr>
          <a:xfrm>
            <a:off x="4671611" y="3773762"/>
            <a:ext cx="3115858" cy="243656"/>
          </a:xfrm>
          <a:prstGeom prst="rect">
            <a:avLst/>
          </a:prstGeom>
        </p:spPr>
        <p:txBody>
          <a:bodyPr vert="horz" wrap="square" lIns="0" tIns="0" rIns="0" bIns="0" rtlCol="0">
            <a:spAutoFit/>
          </a:bodyPr>
          <a:lstStyle/>
          <a:p>
            <a:pPr>
              <a:lnSpc>
                <a:spcPts val="1913"/>
              </a:lnSpc>
              <a:spcBef>
                <a:spcPct val="0"/>
              </a:spcBef>
              <a:spcAft>
                <a:spcPct val="0"/>
              </a:spcAft>
            </a:pPr>
            <a:r>
              <a:rPr sz="2800" b="1" spc="12" dirty="0" err="1">
                <a:solidFill>
                  <a:srgbClr val="0070C0"/>
                </a:solidFill>
                <a:latin typeface="黑体" panose="02010609060101010101" pitchFamily="49" charset="-122"/>
                <a:ea typeface="黑体" panose="02010609060101010101" pitchFamily="49" charset="-122"/>
                <a:cs typeface="LVCUMA+ËÎÌå"/>
              </a:rPr>
              <a:t>子问题最短</a:t>
            </a:r>
            <a:endParaRPr sz="2800" b="1" spc="12" dirty="0">
              <a:solidFill>
                <a:srgbClr val="0070C0"/>
              </a:solidFill>
              <a:latin typeface="黑体" panose="02010609060101010101" pitchFamily="49" charset="-122"/>
              <a:ea typeface="黑体" panose="02010609060101010101" pitchFamily="49" charset="-122"/>
              <a:cs typeface="LVCUMA+ËÎÌå"/>
            </a:endParaRPr>
          </a:p>
        </p:txBody>
      </p:sp>
      <p:sp>
        <p:nvSpPr>
          <p:cNvPr id="7" name="object 7"/>
          <p:cNvSpPr txBox="1"/>
          <p:nvPr/>
        </p:nvSpPr>
        <p:spPr>
          <a:xfrm>
            <a:off x="259207" y="4215130"/>
            <a:ext cx="9095000" cy="1233671"/>
          </a:xfrm>
          <a:prstGeom prst="rect">
            <a:avLst/>
          </a:prstGeom>
        </p:spPr>
        <p:txBody>
          <a:bodyPr vert="horz" wrap="square" lIns="0" tIns="0" rIns="0" bIns="0" rtlCol="0">
            <a:spAutoFit/>
          </a:bodyPr>
          <a:lstStyle/>
          <a:p>
            <a:pPr>
              <a:spcBef>
                <a:spcPct val="0"/>
              </a:spcBef>
              <a:spcAft>
                <a:spcPct val="0"/>
              </a:spcAft>
            </a:pPr>
            <a:r>
              <a:rPr sz="2800" b="1" dirty="0">
                <a:solidFill>
                  <a:srgbClr val="C00000"/>
                </a:solidFill>
                <a:latin typeface="黑体" panose="02010609060101010101" pitchFamily="49" charset="-122"/>
                <a:ea typeface="黑体" panose="02010609060101010101" pitchFamily="49" charset="-122"/>
                <a:cs typeface="GOLBRE+Arial"/>
              </a:rPr>
              <a:t>•</a:t>
            </a:r>
            <a:r>
              <a:rPr sz="2800" b="1" spc="638" dirty="0">
                <a:solidFill>
                  <a:srgbClr val="C00000"/>
                </a:solidFill>
                <a:latin typeface="黑体" panose="02010609060101010101" pitchFamily="49" charset="-122"/>
                <a:ea typeface="黑体" panose="02010609060101010101" pitchFamily="49" charset="-122"/>
                <a:cs typeface="Times New Roman"/>
              </a:rPr>
              <a:t> </a:t>
            </a:r>
            <a:r>
              <a:rPr sz="2800" b="1" spc="13" dirty="0" err="1">
                <a:solidFill>
                  <a:srgbClr val="C00000"/>
                </a:solidFill>
                <a:latin typeface="黑体" panose="02010609060101010101" pitchFamily="49" charset="-122"/>
                <a:ea typeface="黑体" panose="02010609060101010101" pitchFamily="49" charset="-122"/>
                <a:cs typeface="LVCUMA+ËÎÌå"/>
              </a:rPr>
              <a:t>优化原则</a:t>
            </a:r>
            <a:r>
              <a:rPr sz="2800" b="1" spc="12" dirty="0" err="1">
                <a:solidFill>
                  <a:srgbClr val="000000"/>
                </a:solidFill>
                <a:latin typeface="黑体" panose="02010609060101010101" pitchFamily="49" charset="-122"/>
                <a:ea typeface="黑体" panose="02010609060101010101" pitchFamily="49" charset="-122"/>
                <a:cs typeface="LVCUMA+ËÎÌå"/>
              </a:rPr>
              <a:t>：</a:t>
            </a:r>
            <a:r>
              <a:rPr sz="2800" b="1" spc="12" dirty="0" err="1" smtClean="0">
                <a:solidFill>
                  <a:srgbClr val="000000"/>
                </a:solidFill>
                <a:latin typeface="黑体" panose="02010609060101010101" pitchFamily="49" charset="-122"/>
                <a:ea typeface="黑体" panose="02010609060101010101" pitchFamily="49" charset="-122"/>
                <a:cs typeface="LVCUMA+ËÎÌå"/>
              </a:rPr>
              <a:t>一个最优决策序列的任</a:t>
            </a:r>
            <a:r>
              <a:rPr lang="zh-CN" altLang="en-US" sz="2800" b="1" spc="12" dirty="0">
                <a:solidFill>
                  <a:srgbClr val="000000"/>
                </a:solidFill>
                <a:latin typeface="黑体" panose="02010609060101010101" pitchFamily="49" charset="-122"/>
                <a:ea typeface="黑体" panose="02010609060101010101" pitchFamily="49" charset="-122"/>
                <a:cs typeface="LVCUMA+ËÎÌå"/>
              </a:rPr>
              <a:t>何子序列本身一定是相对于子</a:t>
            </a:r>
            <a:r>
              <a:rPr lang="zh-CN" altLang="en-US" sz="2800" b="1" spc="12" dirty="0" smtClean="0">
                <a:solidFill>
                  <a:srgbClr val="000000"/>
                </a:solidFill>
                <a:latin typeface="黑体" panose="02010609060101010101" pitchFamily="49" charset="-122"/>
                <a:ea typeface="黑体" panose="02010609060101010101" pitchFamily="49" charset="-122"/>
                <a:cs typeface="LVCUMA+ËÎÌå"/>
              </a:rPr>
              <a:t>序列</a:t>
            </a:r>
            <a:r>
              <a:rPr lang="zh-CN" altLang="en-US" sz="2800" b="1" spc="12" dirty="0">
                <a:solidFill>
                  <a:srgbClr val="000000"/>
                </a:solidFill>
                <a:latin typeface="黑体" panose="02010609060101010101" pitchFamily="49" charset="-122"/>
                <a:ea typeface="黑体" panose="02010609060101010101" pitchFamily="49" charset="-122"/>
                <a:cs typeface="LVCUMA+ËÎÌå"/>
              </a:rPr>
              <a:t>的初始和结束状态的最优决策</a:t>
            </a:r>
            <a:r>
              <a:rPr lang="zh-CN" altLang="en-US" sz="2800" b="1" spc="12" dirty="0" smtClean="0">
                <a:solidFill>
                  <a:srgbClr val="000000"/>
                </a:solidFill>
                <a:latin typeface="黑体" panose="02010609060101010101" pitchFamily="49" charset="-122"/>
                <a:ea typeface="黑体" panose="02010609060101010101" pitchFamily="49" charset="-122"/>
                <a:cs typeface="LVCUMA+ËÎÌå"/>
              </a:rPr>
              <a:t>序列</a:t>
            </a:r>
            <a:endParaRPr lang="zh-CN" altLang="en-US" sz="2800" b="1" spc="12" dirty="0">
              <a:solidFill>
                <a:srgbClr val="000000"/>
              </a:solidFill>
              <a:latin typeface="黑体" panose="02010609060101010101" pitchFamily="49" charset="-122"/>
              <a:ea typeface="黑体" panose="02010609060101010101" pitchFamily="49" charset="-122"/>
              <a:cs typeface="LVCUMA+ËÎÌå"/>
            </a:endParaRPr>
          </a:p>
          <a:p>
            <a:pPr>
              <a:lnSpc>
                <a:spcPts val="2850"/>
              </a:lnSpc>
              <a:spcBef>
                <a:spcPct val="0"/>
              </a:spcBef>
              <a:spcAft>
                <a:spcPct val="0"/>
              </a:spcAft>
            </a:pPr>
            <a:endParaRPr sz="2800" b="1" spc="12" dirty="0">
              <a:solidFill>
                <a:srgbClr val="000000"/>
              </a:solidFill>
              <a:latin typeface="黑体" panose="02010609060101010101" pitchFamily="49" charset="-122"/>
              <a:ea typeface="黑体" panose="02010609060101010101" pitchFamily="49" charset="-122"/>
              <a:cs typeface="LVCUMA+ËÎÌå"/>
            </a:endParaRPr>
          </a:p>
        </p:txBody>
      </p:sp>
      <p:pic>
        <p:nvPicPr>
          <p:cNvPr id="2" name="图片 1"/>
          <p:cNvPicPr>
            <a:picLocks noChangeAspect="1"/>
          </p:cNvPicPr>
          <p:nvPr/>
        </p:nvPicPr>
        <p:blipFill>
          <a:blip r:embed="rId2"/>
          <a:stretch>
            <a:fillRect/>
          </a:stretch>
        </p:blipFill>
        <p:spPr>
          <a:xfrm>
            <a:off x="2536321" y="2830563"/>
            <a:ext cx="4647619" cy="819048"/>
          </a:xfrm>
          <a:prstGeom prst="rect">
            <a:avLst/>
          </a:prstGeom>
        </p:spPr>
      </p:pic>
    </p:spTree>
    <p:extLst>
      <p:ext uri="{BB962C8B-B14F-4D97-AF65-F5344CB8AC3E}">
        <p14:creationId xmlns:p14="http://schemas.microsoft.com/office/powerpoint/2010/main" val="22043607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14407" y="226167"/>
            <a:ext cx="893979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spc="11" dirty="0" err="1">
                <a:solidFill>
                  <a:srgbClr val="C00000"/>
                </a:solidFill>
                <a:latin typeface="黑体" panose="02010609060101010101" pitchFamily="49" charset="-122"/>
                <a:ea typeface="黑体" panose="02010609060101010101" pitchFamily="49" charset="-122"/>
                <a:cs typeface="LVCUMA+ËÎÌå"/>
              </a:rPr>
              <a:t>一个反例</a:t>
            </a:r>
            <a:endParaRPr sz="4000" spc="11"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414407" y="1712175"/>
            <a:ext cx="3745476" cy="333425"/>
          </a:xfrm>
          <a:prstGeom prst="rect">
            <a:avLst/>
          </a:prstGeom>
        </p:spPr>
        <p:txBody>
          <a:bodyPr vert="horz" wrap="square" lIns="0" tIns="0" rIns="0" bIns="0" rtlCol="0">
            <a:spAutoFit/>
          </a:bodyPr>
          <a:lstStyle/>
          <a:p>
            <a:pPr>
              <a:lnSpc>
                <a:spcPts val="2553"/>
              </a:lnSpc>
              <a:spcBef>
                <a:spcPct val="0"/>
              </a:spcBef>
              <a:spcAft>
                <a:spcPct val="0"/>
              </a:spcAft>
            </a:pPr>
            <a:r>
              <a:rPr sz="2800" b="1" spc="13" dirty="0">
                <a:solidFill>
                  <a:srgbClr val="000000"/>
                </a:solidFill>
                <a:latin typeface="黑体" panose="02010609060101010101" pitchFamily="49" charset="-122"/>
                <a:ea typeface="黑体" panose="02010609060101010101" pitchFamily="49" charset="-122"/>
                <a:cs typeface="LVCUMA+ËÎÌå"/>
              </a:rPr>
              <a:t>求总长模</a:t>
            </a:r>
            <a:r>
              <a:rPr sz="2800" b="1" spc="12" dirty="0">
                <a:solidFill>
                  <a:srgbClr val="000000"/>
                </a:solidFill>
                <a:latin typeface="黑体" panose="02010609060101010101" pitchFamily="49" charset="-122"/>
                <a:ea typeface="黑体" panose="02010609060101010101" pitchFamily="49" charset="-122"/>
                <a:cs typeface="WNQESC+ËÎÌå"/>
              </a:rPr>
              <a:t>10</a:t>
            </a:r>
            <a:r>
              <a:rPr sz="2800" b="1" spc="12" dirty="0">
                <a:solidFill>
                  <a:srgbClr val="000000"/>
                </a:solidFill>
                <a:latin typeface="黑体" panose="02010609060101010101" pitchFamily="49" charset="-122"/>
                <a:ea typeface="黑体" panose="02010609060101010101" pitchFamily="49" charset="-122"/>
                <a:cs typeface="LVCUMA+ËÎÌå"/>
              </a:rPr>
              <a:t>的最小路径</a:t>
            </a:r>
          </a:p>
        </p:txBody>
      </p:sp>
      <p:sp>
        <p:nvSpPr>
          <p:cNvPr id="14" name="object 14"/>
          <p:cNvSpPr txBox="1"/>
          <p:nvPr/>
        </p:nvSpPr>
        <p:spPr>
          <a:xfrm>
            <a:off x="424291" y="3940397"/>
            <a:ext cx="7195708" cy="371897"/>
          </a:xfrm>
          <a:prstGeom prst="rect">
            <a:avLst/>
          </a:prstGeom>
        </p:spPr>
        <p:txBody>
          <a:bodyPr vert="horz" wrap="square" lIns="0" tIns="0" rIns="0" bIns="0" rtlCol="0">
            <a:spAutoFit/>
          </a:bodyPr>
          <a:lstStyle/>
          <a:p>
            <a:pPr>
              <a:lnSpc>
                <a:spcPts val="2850"/>
              </a:lnSpc>
              <a:spcBef>
                <a:spcPct val="0"/>
              </a:spcBef>
              <a:spcAft>
                <a:spcPct val="0"/>
              </a:spcAft>
            </a:pPr>
            <a:r>
              <a:rPr sz="2800" b="1" spc="13" dirty="0" err="1">
                <a:solidFill>
                  <a:srgbClr val="000000"/>
                </a:solidFill>
                <a:latin typeface="黑体" panose="02010609060101010101" pitchFamily="49" charset="-122"/>
                <a:ea typeface="黑体" panose="02010609060101010101" pitchFamily="49" charset="-122"/>
                <a:cs typeface="LVCUMA+ËÎÌå"/>
              </a:rPr>
              <a:t>动态规划算法的解：下</a:t>
            </a:r>
            <a:r>
              <a:rPr sz="2800" b="1" dirty="0">
                <a:solidFill>
                  <a:srgbClr val="000000"/>
                </a:solidFill>
                <a:latin typeface="黑体" panose="02010609060101010101" pitchFamily="49" charset="-122"/>
                <a:ea typeface="黑体" panose="02010609060101010101" pitchFamily="49" charset="-122"/>
                <a:cs typeface="GDQOVV+Arial,Bold"/>
              </a:rPr>
              <a:t>,</a:t>
            </a:r>
            <a:r>
              <a:rPr sz="2800" b="1" spc="-15" dirty="0">
                <a:solidFill>
                  <a:srgbClr val="000000"/>
                </a:solidFill>
                <a:latin typeface="黑体" panose="02010609060101010101" pitchFamily="49" charset="-122"/>
                <a:ea typeface="黑体" panose="02010609060101010101" pitchFamily="49" charset="-122"/>
                <a:cs typeface="GDQOVV+Arial,Bold"/>
              </a:rPr>
              <a:t> </a:t>
            </a:r>
            <a:r>
              <a:rPr sz="2800" b="1" spc="12" dirty="0">
                <a:solidFill>
                  <a:srgbClr val="000000"/>
                </a:solidFill>
                <a:latin typeface="黑体" panose="02010609060101010101" pitchFamily="49" charset="-122"/>
                <a:ea typeface="黑体" panose="02010609060101010101" pitchFamily="49" charset="-122"/>
                <a:cs typeface="LVCUMA+ËÎÌå"/>
              </a:rPr>
              <a:t>上</a:t>
            </a:r>
            <a:r>
              <a:rPr sz="2800" b="1" dirty="0">
                <a:solidFill>
                  <a:srgbClr val="000000"/>
                </a:solidFill>
                <a:latin typeface="黑体" panose="02010609060101010101" pitchFamily="49" charset="-122"/>
                <a:ea typeface="黑体" panose="02010609060101010101" pitchFamily="49" charset="-122"/>
                <a:cs typeface="GDQOVV+Arial,Bold"/>
              </a:rPr>
              <a:t>,</a:t>
            </a:r>
            <a:r>
              <a:rPr sz="2800" b="1" spc="-15" dirty="0">
                <a:solidFill>
                  <a:srgbClr val="000000"/>
                </a:solidFill>
                <a:latin typeface="黑体" panose="02010609060101010101" pitchFamily="49" charset="-122"/>
                <a:ea typeface="黑体" panose="02010609060101010101" pitchFamily="49" charset="-122"/>
                <a:cs typeface="GDQOVV+Arial,Bold"/>
              </a:rPr>
              <a:t> </a:t>
            </a:r>
            <a:r>
              <a:rPr sz="2800" b="1" spc="12" dirty="0">
                <a:solidFill>
                  <a:srgbClr val="000000"/>
                </a:solidFill>
                <a:latin typeface="黑体" panose="02010609060101010101" pitchFamily="49" charset="-122"/>
                <a:ea typeface="黑体" panose="02010609060101010101" pitchFamily="49" charset="-122"/>
                <a:cs typeface="LVCUMA+ËÎÌå"/>
              </a:rPr>
              <a:t>上</a:t>
            </a:r>
            <a:r>
              <a:rPr sz="2800" b="1" dirty="0">
                <a:solidFill>
                  <a:srgbClr val="000000"/>
                </a:solidFill>
                <a:latin typeface="黑体" panose="02010609060101010101" pitchFamily="49" charset="-122"/>
                <a:ea typeface="黑体" panose="02010609060101010101" pitchFamily="49" charset="-122"/>
                <a:cs typeface="GDQOVV+Arial,Bold"/>
              </a:rPr>
              <a:t>, </a:t>
            </a:r>
            <a:r>
              <a:rPr sz="2800" b="1" dirty="0">
                <a:solidFill>
                  <a:srgbClr val="000000"/>
                </a:solidFill>
                <a:latin typeface="黑体" panose="02010609060101010101" pitchFamily="49" charset="-122"/>
                <a:ea typeface="黑体" panose="02010609060101010101" pitchFamily="49" charset="-122"/>
                <a:cs typeface="LVCUMA+ËÎÌå"/>
              </a:rPr>
              <a:t>上</a:t>
            </a:r>
          </a:p>
        </p:txBody>
      </p:sp>
      <p:sp>
        <p:nvSpPr>
          <p:cNvPr id="15" name="object 15"/>
          <p:cNvSpPr txBox="1"/>
          <p:nvPr/>
        </p:nvSpPr>
        <p:spPr>
          <a:xfrm>
            <a:off x="417487" y="4519753"/>
            <a:ext cx="4758336" cy="371897"/>
          </a:xfrm>
          <a:prstGeom prst="rect">
            <a:avLst/>
          </a:prstGeom>
        </p:spPr>
        <p:txBody>
          <a:bodyPr vert="horz" wrap="square" lIns="0" tIns="0" rIns="0" bIns="0" rtlCol="0">
            <a:spAutoFit/>
          </a:bodyPr>
          <a:lstStyle/>
          <a:p>
            <a:pPr>
              <a:lnSpc>
                <a:spcPts val="2850"/>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LVCUMA+ËÎÌå"/>
              </a:rPr>
              <a:t>最优解：下</a:t>
            </a:r>
            <a:r>
              <a:rPr sz="2800" b="1" dirty="0">
                <a:solidFill>
                  <a:srgbClr val="000000"/>
                </a:solidFill>
                <a:latin typeface="黑体" panose="02010609060101010101" pitchFamily="49" charset="-122"/>
                <a:ea typeface="黑体" panose="02010609060101010101" pitchFamily="49" charset="-122"/>
                <a:cs typeface="GDQOVV+Arial,Bold"/>
              </a:rPr>
              <a:t>,</a:t>
            </a:r>
            <a:r>
              <a:rPr sz="2800" b="1" spc="-15" dirty="0">
                <a:solidFill>
                  <a:srgbClr val="000000"/>
                </a:solidFill>
                <a:latin typeface="黑体" panose="02010609060101010101" pitchFamily="49" charset="-122"/>
                <a:ea typeface="黑体" panose="02010609060101010101" pitchFamily="49" charset="-122"/>
                <a:cs typeface="GDQOVV+Arial,Bold"/>
              </a:rPr>
              <a:t> </a:t>
            </a:r>
            <a:r>
              <a:rPr sz="2800" b="1" spc="12" dirty="0">
                <a:solidFill>
                  <a:srgbClr val="000000"/>
                </a:solidFill>
                <a:latin typeface="黑体" panose="02010609060101010101" pitchFamily="49" charset="-122"/>
                <a:ea typeface="黑体" panose="02010609060101010101" pitchFamily="49" charset="-122"/>
                <a:cs typeface="LVCUMA+ËÎÌå"/>
              </a:rPr>
              <a:t>下</a:t>
            </a:r>
            <a:r>
              <a:rPr sz="2800" b="1" dirty="0">
                <a:solidFill>
                  <a:srgbClr val="000000"/>
                </a:solidFill>
                <a:latin typeface="黑体" panose="02010609060101010101" pitchFamily="49" charset="-122"/>
                <a:ea typeface="黑体" panose="02010609060101010101" pitchFamily="49" charset="-122"/>
                <a:cs typeface="GDQOVV+Arial,Bold"/>
              </a:rPr>
              <a:t>,</a:t>
            </a:r>
            <a:r>
              <a:rPr sz="2800" b="1" spc="-15" dirty="0">
                <a:solidFill>
                  <a:srgbClr val="000000"/>
                </a:solidFill>
                <a:latin typeface="黑体" panose="02010609060101010101" pitchFamily="49" charset="-122"/>
                <a:ea typeface="黑体" panose="02010609060101010101" pitchFamily="49" charset="-122"/>
                <a:cs typeface="GDQOVV+Arial,Bold"/>
              </a:rPr>
              <a:t> </a:t>
            </a:r>
            <a:r>
              <a:rPr sz="2800" b="1" spc="15" dirty="0">
                <a:solidFill>
                  <a:srgbClr val="000000"/>
                </a:solidFill>
                <a:latin typeface="黑体" panose="02010609060101010101" pitchFamily="49" charset="-122"/>
                <a:ea typeface="黑体" panose="02010609060101010101" pitchFamily="49" charset="-122"/>
                <a:cs typeface="LVCUMA+ËÎÌå"/>
              </a:rPr>
              <a:t>下</a:t>
            </a:r>
            <a:r>
              <a:rPr sz="2800" b="1" dirty="0">
                <a:solidFill>
                  <a:srgbClr val="000000"/>
                </a:solidFill>
                <a:latin typeface="黑体" panose="02010609060101010101" pitchFamily="49" charset="-122"/>
                <a:ea typeface="黑体" panose="02010609060101010101" pitchFamily="49" charset="-122"/>
                <a:cs typeface="GDQOVV+Arial,Bold"/>
              </a:rPr>
              <a:t>, </a:t>
            </a:r>
            <a:r>
              <a:rPr sz="2800" b="1" dirty="0">
                <a:solidFill>
                  <a:srgbClr val="000000"/>
                </a:solidFill>
                <a:latin typeface="黑体" panose="02010609060101010101" pitchFamily="49" charset="-122"/>
                <a:ea typeface="黑体" panose="02010609060101010101" pitchFamily="49" charset="-122"/>
                <a:cs typeface="LVCUMA+ËÎÌå"/>
              </a:rPr>
              <a:t>下</a:t>
            </a:r>
          </a:p>
        </p:txBody>
      </p:sp>
      <p:sp>
        <p:nvSpPr>
          <p:cNvPr id="16" name="object 16"/>
          <p:cNvSpPr txBox="1"/>
          <p:nvPr/>
        </p:nvSpPr>
        <p:spPr>
          <a:xfrm>
            <a:off x="417487" y="5140082"/>
            <a:ext cx="7368261"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LVCUMA+ËÎÌå"/>
              </a:rPr>
              <a:t>不满足优化原则，不能用动态规划</a:t>
            </a:r>
            <a:endParaRPr sz="2800" b="1" spc="12" dirty="0">
              <a:solidFill>
                <a:srgbClr val="000000"/>
              </a:solidFill>
              <a:latin typeface="黑体" panose="02010609060101010101" pitchFamily="49" charset="-122"/>
              <a:ea typeface="黑体" panose="02010609060101010101" pitchFamily="49" charset="-122"/>
              <a:cs typeface="LVCUMA+ËÎÌå"/>
            </a:endParaRPr>
          </a:p>
        </p:txBody>
      </p:sp>
      <p:sp>
        <p:nvSpPr>
          <p:cNvPr id="9" name="矩形 8"/>
          <p:cNvSpPr/>
          <p:nvPr/>
        </p:nvSpPr>
        <p:spPr>
          <a:xfrm>
            <a:off x="2639001" y="2822772"/>
            <a:ext cx="378372" cy="4046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0" name="文本框 9"/>
          <p:cNvSpPr txBox="1"/>
          <p:nvPr/>
        </p:nvSpPr>
        <p:spPr>
          <a:xfrm>
            <a:off x="2639001" y="2752976"/>
            <a:ext cx="630620" cy="523220"/>
          </a:xfrm>
          <a:prstGeom prst="rect">
            <a:avLst/>
          </a:prstGeom>
          <a:noFill/>
        </p:spPr>
        <p:txBody>
          <a:bodyPr wrap="square" rtlCol="0">
            <a:spAutoFit/>
          </a:bodyPr>
          <a:lstStyle/>
          <a:p>
            <a:r>
              <a:rPr lang="en-US" altLang="zh-CN" sz="2800" b="1" i="1" dirty="0" smtClean="0"/>
              <a:t>S</a:t>
            </a:r>
            <a:endParaRPr lang="zh-CN" altLang="en-US" sz="2800" b="1" baseline="-25000" dirty="0"/>
          </a:p>
        </p:txBody>
      </p:sp>
      <p:sp>
        <p:nvSpPr>
          <p:cNvPr id="12" name="矩形 11"/>
          <p:cNvSpPr/>
          <p:nvPr/>
        </p:nvSpPr>
        <p:spPr>
          <a:xfrm>
            <a:off x="6805477" y="2852150"/>
            <a:ext cx="378372" cy="404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3" name="文本框 12"/>
          <p:cNvSpPr txBox="1"/>
          <p:nvPr/>
        </p:nvSpPr>
        <p:spPr>
          <a:xfrm>
            <a:off x="6797040" y="2777198"/>
            <a:ext cx="630620" cy="523220"/>
          </a:xfrm>
          <a:prstGeom prst="rect">
            <a:avLst/>
          </a:prstGeom>
          <a:noFill/>
        </p:spPr>
        <p:txBody>
          <a:bodyPr wrap="square" rtlCol="0">
            <a:spAutoFit/>
          </a:bodyPr>
          <a:lstStyle/>
          <a:p>
            <a:r>
              <a:rPr lang="en-US" altLang="zh-CN" sz="2800" b="1" i="1" dirty="0" smtClean="0"/>
              <a:t>T</a:t>
            </a:r>
            <a:endParaRPr lang="zh-CN" altLang="en-US" sz="2800" b="1" baseline="-25000" dirty="0"/>
          </a:p>
        </p:txBody>
      </p:sp>
      <p:sp>
        <p:nvSpPr>
          <p:cNvPr id="5" name="椭圆 4"/>
          <p:cNvSpPr/>
          <p:nvPr/>
        </p:nvSpPr>
        <p:spPr>
          <a:xfrm>
            <a:off x="3681245" y="2843792"/>
            <a:ext cx="430924" cy="4046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722668" y="2843792"/>
            <a:ext cx="430924" cy="4046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743206" y="2840160"/>
            <a:ext cx="430924" cy="4046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258308" y="2199648"/>
            <a:ext cx="575921" cy="461665"/>
          </a:xfrm>
          <a:prstGeom prst="rect">
            <a:avLst/>
          </a:prstGeom>
          <a:noFill/>
        </p:spPr>
        <p:txBody>
          <a:bodyPr wrap="square" rtlCol="0">
            <a:spAutoFit/>
          </a:bodyPr>
          <a:lstStyle/>
          <a:p>
            <a:r>
              <a:rPr lang="en-US" altLang="zh-CN" sz="2400" b="1" dirty="0" smtClean="0"/>
              <a:t>2</a:t>
            </a:r>
            <a:endParaRPr lang="zh-CN" altLang="en-US" sz="2400" b="1" dirty="0"/>
          </a:p>
        </p:txBody>
      </p:sp>
      <p:sp>
        <p:nvSpPr>
          <p:cNvPr id="26" name="文本框 25"/>
          <p:cNvSpPr txBox="1"/>
          <p:nvPr/>
        </p:nvSpPr>
        <p:spPr>
          <a:xfrm>
            <a:off x="5241202" y="2222641"/>
            <a:ext cx="575921" cy="461665"/>
          </a:xfrm>
          <a:prstGeom prst="rect">
            <a:avLst/>
          </a:prstGeom>
          <a:noFill/>
        </p:spPr>
        <p:txBody>
          <a:bodyPr wrap="square" rtlCol="0">
            <a:spAutoFit/>
          </a:bodyPr>
          <a:lstStyle/>
          <a:p>
            <a:r>
              <a:rPr lang="en-US" altLang="zh-CN" sz="2400" b="1" dirty="0" smtClean="0"/>
              <a:t>2</a:t>
            </a:r>
            <a:endParaRPr lang="zh-CN" altLang="en-US" sz="2400" b="1" dirty="0"/>
          </a:p>
        </p:txBody>
      </p:sp>
      <p:sp>
        <p:nvSpPr>
          <p:cNvPr id="27" name="文本框 26"/>
          <p:cNvSpPr txBox="1"/>
          <p:nvPr/>
        </p:nvSpPr>
        <p:spPr>
          <a:xfrm>
            <a:off x="4224226" y="2209022"/>
            <a:ext cx="575921" cy="461665"/>
          </a:xfrm>
          <a:prstGeom prst="rect">
            <a:avLst/>
          </a:prstGeom>
          <a:noFill/>
        </p:spPr>
        <p:txBody>
          <a:bodyPr wrap="square" rtlCol="0">
            <a:spAutoFit/>
          </a:bodyPr>
          <a:lstStyle/>
          <a:p>
            <a:r>
              <a:rPr lang="en-US" altLang="zh-CN" sz="2400" b="1" dirty="0" smtClean="0"/>
              <a:t>2</a:t>
            </a:r>
            <a:endParaRPr lang="zh-CN" altLang="en-US" sz="2400" b="1" dirty="0"/>
          </a:p>
        </p:txBody>
      </p:sp>
      <p:sp>
        <p:nvSpPr>
          <p:cNvPr id="28" name="文本框 27"/>
          <p:cNvSpPr txBox="1"/>
          <p:nvPr/>
        </p:nvSpPr>
        <p:spPr>
          <a:xfrm>
            <a:off x="3161295" y="2203252"/>
            <a:ext cx="575921" cy="461665"/>
          </a:xfrm>
          <a:prstGeom prst="rect">
            <a:avLst/>
          </a:prstGeom>
          <a:noFill/>
        </p:spPr>
        <p:txBody>
          <a:bodyPr wrap="square" rtlCol="0">
            <a:spAutoFit/>
          </a:bodyPr>
          <a:lstStyle/>
          <a:p>
            <a:r>
              <a:rPr lang="en-US" altLang="zh-CN" sz="2400" b="1" dirty="0" smtClean="0"/>
              <a:t>2</a:t>
            </a:r>
            <a:endParaRPr lang="zh-CN" altLang="en-US" sz="2400" b="1" dirty="0"/>
          </a:p>
        </p:txBody>
      </p:sp>
      <p:sp>
        <p:nvSpPr>
          <p:cNvPr id="29" name="文本框 28"/>
          <p:cNvSpPr txBox="1"/>
          <p:nvPr/>
        </p:nvSpPr>
        <p:spPr>
          <a:xfrm>
            <a:off x="6274004" y="3423497"/>
            <a:ext cx="575921" cy="461665"/>
          </a:xfrm>
          <a:prstGeom prst="rect">
            <a:avLst/>
          </a:prstGeom>
          <a:noFill/>
        </p:spPr>
        <p:txBody>
          <a:bodyPr wrap="square" rtlCol="0">
            <a:spAutoFit/>
          </a:bodyPr>
          <a:lstStyle/>
          <a:p>
            <a:r>
              <a:rPr lang="en-US" altLang="zh-CN" sz="2400" b="1" dirty="0" smtClean="0"/>
              <a:t>5</a:t>
            </a:r>
            <a:endParaRPr lang="zh-CN" altLang="en-US" sz="2400" b="1" dirty="0"/>
          </a:p>
        </p:txBody>
      </p:sp>
      <p:sp>
        <p:nvSpPr>
          <p:cNvPr id="30" name="文本框 29"/>
          <p:cNvSpPr txBox="1"/>
          <p:nvPr/>
        </p:nvSpPr>
        <p:spPr>
          <a:xfrm>
            <a:off x="5246453" y="3403069"/>
            <a:ext cx="575921" cy="461665"/>
          </a:xfrm>
          <a:prstGeom prst="rect">
            <a:avLst/>
          </a:prstGeom>
          <a:noFill/>
        </p:spPr>
        <p:txBody>
          <a:bodyPr wrap="square" rtlCol="0">
            <a:spAutoFit/>
          </a:bodyPr>
          <a:lstStyle/>
          <a:p>
            <a:r>
              <a:rPr lang="en-US" altLang="zh-CN" sz="2400" b="1" dirty="0" smtClean="0"/>
              <a:t>5</a:t>
            </a:r>
            <a:endParaRPr lang="zh-CN" altLang="en-US" sz="2400" b="1" dirty="0"/>
          </a:p>
        </p:txBody>
      </p:sp>
      <p:sp>
        <p:nvSpPr>
          <p:cNvPr id="31" name="文本框 30"/>
          <p:cNvSpPr txBox="1"/>
          <p:nvPr/>
        </p:nvSpPr>
        <p:spPr>
          <a:xfrm>
            <a:off x="4240541" y="3388806"/>
            <a:ext cx="575921" cy="461665"/>
          </a:xfrm>
          <a:prstGeom prst="rect">
            <a:avLst/>
          </a:prstGeom>
          <a:noFill/>
        </p:spPr>
        <p:txBody>
          <a:bodyPr wrap="square" rtlCol="0">
            <a:spAutoFit/>
          </a:bodyPr>
          <a:lstStyle/>
          <a:p>
            <a:r>
              <a:rPr lang="en-US" altLang="zh-CN" sz="2400" b="1" dirty="0" smtClean="0"/>
              <a:t>5</a:t>
            </a:r>
            <a:endParaRPr lang="zh-CN" altLang="en-US" sz="2400" b="1" dirty="0"/>
          </a:p>
        </p:txBody>
      </p:sp>
      <p:sp>
        <p:nvSpPr>
          <p:cNvPr id="32" name="文本框 31"/>
          <p:cNvSpPr txBox="1"/>
          <p:nvPr/>
        </p:nvSpPr>
        <p:spPr>
          <a:xfrm>
            <a:off x="3122469" y="3388095"/>
            <a:ext cx="575921" cy="461665"/>
          </a:xfrm>
          <a:prstGeom prst="rect">
            <a:avLst/>
          </a:prstGeom>
          <a:noFill/>
        </p:spPr>
        <p:txBody>
          <a:bodyPr wrap="square" rtlCol="0">
            <a:spAutoFit/>
          </a:bodyPr>
          <a:lstStyle/>
          <a:p>
            <a:r>
              <a:rPr lang="en-US" altLang="zh-CN" sz="2400" b="1" dirty="0" smtClean="0"/>
              <a:t>5</a:t>
            </a:r>
            <a:endParaRPr lang="zh-CN" altLang="en-US" sz="2400" b="1" dirty="0"/>
          </a:p>
        </p:txBody>
      </p:sp>
      <p:sp>
        <p:nvSpPr>
          <p:cNvPr id="35" name="文本框 34"/>
          <p:cNvSpPr txBox="1"/>
          <p:nvPr/>
        </p:nvSpPr>
        <p:spPr>
          <a:xfrm>
            <a:off x="5671931" y="2219657"/>
            <a:ext cx="676699"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u,2</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文本框 35"/>
          <p:cNvSpPr txBox="1"/>
          <p:nvPr/>
        </p:nvSpPr>
        <p:spPr>
          <a:xfrm>
            <a:off x="4658214" y="2227140"/>
            <a:ext cx="676699"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u,4</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 name="文本框 36"/>
          <p:cNvSpPr txBox="1"/>
          <p:nvPr/>
        </p:nvSpPr>
        <p:spPr>
          <a:xfrm>
            <a:off x="3602874" y="2241655"/>
            <a:ext cx="676699"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u,6</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8" name="文本框 37"/>
          <p:cNvSpPr txBox="1"/>
          <p:nvPr/>
        </p:nvSpPr>
        <p:spPr>
          <a:xfrm>
            <a:off x="2513622" y="2270056"/>
            <a:ext cx="676699" cy="461665"/>
          </a:xfrm>
          <a:prstGeom prst="rect">
            <a:avLst/>
          </a:prstGeom>
          <a:noFill/>
        </p:spPr>
        <p:txBody>
          <a:bodyPr wrap="square" rtlCol="0">
            <a:spAutoFit/>
          </a:bodyPr>
          <a:lstStyle/>
          <a:p>
            <a:r>
              <a:rPr lang="en-US" altLang="zh-CN"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d,1</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0" name="左中括号 39"/>
          <p:cNvSpPr/>
          <p:nvPr/>
        </p:nvSpPr>
        <p:spPr>
          <a:xfrm rot="5400000">
            <a:off x="6331694" y="2191329"/>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左中括号 40"/>
          <p:cNvSpPr/>
          <p:nvPr/>
        </p:nvSpPr>
        <p:spPr>
          <a:xfrm rot="5400000">
            <a:off x="5307572" y="2196257"/>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左中括号 41"/>
          <p:cNvSpPr/>
          <p:nvPr/>
        </p:nvSpPr>
        <p:spPr>
          <a:xfrm rot="5400000">
            <a:off x="4271575" y="2192064"/>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左中括号 42"/>
          <p:cNvSpPr/>
          <p:nvPr/>
        </p:nvSpPr>
        <p:spPr>
          <a:xfrm rot="5400000">
            <a:off x="3216235" y="2186916"/>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左中括号 43"/>
          <p:cNvSpPr/>
          <p:nvPr/>
        </p:nvSpPr>
        <p:spPr>
          <a:xfrm rot="16200000">
            <a:off x="3216154" y="2838904"/>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左中括号 44"/>
          <p:cNvSpPr/>
          <p:nvPr/>
        </p:nvSpPr>
        <p:spPr>
          <a:xfrm rot="16200000">
            <a:off x="4272491" y="2844053"/>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左中括号 45"/>
          <p:cNvSpPr/>
          <p:nvPr/>
        </p:nvSpPr>
        <p:spPr>
          <a:xfrm rot="16200000">
            <a:off x="5327204" y="2859928"/>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左中括号 46"/>
          <p:cNvSpPr/>
          <p:nvPr/>
        </p:nvSpPr>
        <p:spPr>
          <a:xfrm rot="16200000">
            <a:off x="6352358" y="2873717"/>
            <a:ext cx="267079" cy="1043012"/>
          </a:xfrm>
          <a:prstGeom prst="leftBracket">
            <a:avLst>
              <a:gd name="adj" fmla="val 13262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左中括号 47"/>
          <p:cNvSpPr/>
          <p:nvPr/>
        </p:nvSpPr>
        <p:spPr>
          <a:xfrm rot="5400000">
            <a:off x="6325157" y="2186546"/>
            <a:ext cx="267079" cy="1043012"/>
          </a:xfrm>
          <a:prstGeom prst="leftBracket">
            <a:avLst>
              <a:gd name="adj" fmla="val 132625"/>
            </a:avLst>
          </a:prstGeom>
          <a:ln w="508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左中括号 48"/>
          <p:cNvSpPr/>
          <p:nvPr/>
        </p:nvSpPr>
        <p:spPr>
          <a:xfrm rot="5400000">
            <a:off x="5301035" y="2191474"/>
            <a:ext cx="267079" cy="1043012"/>
          </a:xfrm>
          <a:prstGeom prst="leftBracket">
            <a:avLst>
              <a:gd name="adj" fmla="val 132625"/>
            </a:avLst>
          </a:prstGeom>
          <a:ln w="508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左中括号 49"/>
          <p:cNvSpPr/>
          <p:nvPr/>
        </p:nvSpPr>
        <p:spPr>
          <a:xfrm rot="5400000">
            <a:off x="4265038" y="2187281"/>
            <a:ext cx="267079" cy="1043012"/>
          </a:xfrm>
          <a:prstGeom prst="leftBracket">
            <a:avLst>
              <a:gd name="adj" fmla="val 132625"/>
            </a:avLst>
          </a:prstGeom>
          <a:ln w="508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左中括号 50"/>
          <p:cNvSpPr/>
          <p:nvPr/>
        </p:nvSpPr>
        <p:spPr>
          <a:xfrm rot="16200000">
            <a:off x="3209617" y="2834121"/>
            <a:ext cx="267079" cy="1043012"/>
          </a:xfrm>
          <a:prstGeom prst="leftBracket">
            <a:avLst>
              <a:gd name="adj" fmla="val 132625"/>
            </a:avLst>
          </a:prstGeom>
          <a:ln w="508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左中括号 52"/>
          <p:cNvSpPr/>
          <p:nvPr/>
        </p:nvSpPr>
        <p:spPr>
          <a:xfrm rot="16200000">
            <a:off x="3182631" y="2843141"/>
            <a:ext cx="307207" cy="1043012"/>
          </a:xfrm>
          <a:prstGeom prst="leftBracket">
            <a:avLst>
              <a:gd name="adj" fmla="val 132625"/>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4" name="左中括号 53"/>
          <p:cNvSpPr/>
          <p:nvPr/>
        </p:nvSpPr>
        <p:spPr>
          <a:xfrm rot="16200000">
            <a:off x="4260616" y="2860203"/>
            <a:ext cx="307207" cy="1043012"/>
          </a:xfrm>
          <a:prstGeom prst="leftBracket">
            <a:avLst>
              <a:gd name="adj" fmla="val 132625"/>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左中括号 54"/>
          <p:cNvSpPr/>
          <p:nvPr/>
        </p:nvSpPr>
        <p:spPr>
          <a:xfrm rot="16200000">
            <a:off x="5305033" y="2864586"/>
            <a:ext cx="307207" cy="1043012"/>
          </a:xfrm>
          <a:prstGeom prst="leftBracket">
            <a:avLst>
              <a:gd name="adj" fmla="val 132625"/>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左中括号 55"/>
          <p:cNvSpPr/>
          <p:nvPr/>
        </p:nvSpPr>
        <p:spPr>
          <a:xfrm rot="16200000">
            <a:off x="6340732" y="2879459"/>
            <a:ext cx="307207" cy="1043012"/>
          </a:xfrm>
          <a:prstGeom prst="leftBracket">
            <a:avLst>
              <a:gd name="adj" fmla="val 132625"/>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8038506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5" grpId="0"/>
      <p:bldP spid="36" grpId="0"/>
      <p:bldP spid="37" grpId="0"/>
      <p:bldP spid="38" grpId="0"/>
      <p:bldP spid="48" grpId="0" animBg="1"/>
      <p:bldP spid="49" grpId="0" animBg="1"/>
      <p:bldP spid="50" grpId="0" animBg="1"/>
      <p:bldP spid="51" grpId="0" animBg="1"/>
      <p:bldP spid="53" grpId="0" animBg="1"/>
      <p:bldP spid="54" grpId="0" animBg="1"/>
      <p:bldP spid="55" grpId="0" animBg="1"/>
      <p:bldP spid="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619081" y="137141"/>
            <a:ext cx="8566960" cy="551433"/>
          </a:xfrm>
          <a:prstGeom prst="rect">
            <a:avLst/>
          </a:prstGeom>
        </p:spPr>
        <p:txBody>
          <a:bodyPr vert="horz" wrap="square" lIns="0" tIns="0" rIns="0" bIns="0" rtlCol="0">
            <a:spAutoFit/>
          </a:bodyPr>
          <a:lstStyle/>
          <a:p>
            <a:pPr algn="ctr">
              <a:lnSpc>
                <a:spcPts val="4250"/>
              </a:lnSpc>
              <a:spcBef>
                <a:spcPct val="0"/>
              </a:spcBef>
              <a:spcAft>
                <a:spcPct val="0"/>
              </a:spcAft>
            </a:pPr>
            <a:r>
              <a:rPr sz="4000" spc="11" dirty="0" err="1">
                <a:solidFill>
                  <a:srgbClr val="C00000"/>
                </a:solidFill>
                <a:latin typeface="黑体" panose="02010609060101010101" pitchFamily="49" charset="-122"/>
                <a:ea typeface="黑体" panose="02010609060101010101" pitchFamily="49" charset="-122"/>
                <a:cs typeface="LVCUMA+ËÎÌå"/>
              </a:rPr>
              <a:t>小结</a:t>
            </a:r>
            <a:endParaRPr sz="4000" spc="11" dirty="0">
              <a:solidFill>
                <a:srgbClr val="C00000"/>
              </a:solidFill>
              <a:latin typeface="黑体" panose="02010609060101010101" pitchFamily="49" charset="-122"/>
              <a:ea typeface="黑体" panose="02010609060101010101" pitchFamily="49" charset="-122"/>
              <a:cs typeface="LVCUMA+ËÎÌå"/>
            </a:endParaRPr>
          </a:p>
        </p:txBody>
      </p:sp>
      <p:sp>
        <p:nvSpPr>
          <p:cNvPr id="4" name="object 4"/>
          <p:cNvSpPr txBox="1"/>
          <p:nvPr/>
        </p:nvSpPr>
        <p:spPr>
          <a:xfrm>
            <a:off x="340210" y="1770886"/>
            <a:ext cx="5311497" cy="359073"/>
          </a:xfrm>
          <a:prstGeom prst="rect">
            <a:avLst/>
          </a:prstGeom>
        </p:spPr>
        <p:txBody>
          <a:bodyPr vert="horz" wrap="square" lIns="0" tIns="0" rIns="0" bIns="0" rtlCol="0">
            <a:spAutoFit/>
          </a:bodyPr>
          <a:lstStyle/>
          <a:p>
            <a:pPr>
              <a:lnSpc>
                <a:spcPts val="2824"/>
              </a:lnSpc>
              <a:spcBef>
                <a:spcPct val="0"/>
              </a:spcBef>
              <a:spcAft>
                <a:spcPct val="0"/>
              </a:spcAft>
            </a:pPr>
            <a:r>
              <a:rPr sz="2551" spc="12">
                <a:solidFill>
                  <a:srgbClr val="C00000"/>
                </a:solidFill>
                <a:latin typeface="LVCUMA+ËÎÌå"/>
                <a:cs typeface="LVCUMA+ËÎÌå"/>
              </a:rPr>
              <a:t>动态规划</a:t>
            </a:r>
            <a:r>
              <a:rPr sz="2551" spc="12">
                <a:solidFill>
                  <a:srgbClr val="C00000"/>
                </a:solidFill>
                <a:latin typeface="WNQESC+ËÎÌå"/>
                <a:cs typeface="WNQESC+ËÎÌå"/>
              </a:rPr>
              <a:t>(</a:t>
            </a:r>
            <a:r>
              <a:rPr sz="2551">
                <a:solidFill>
                  <a:srgbClr val="C00000"/>
                </a:solidFill>
                <a:latin typeface="TRGMDB+Times New Roman"/>
                <a:cs typeface="TRGMDB+Times New Roman"/>
              </a:rPr>
              <a:t>Dynamic Programming)</a:t>
            </a:r>
          </a:p>
        </p:txBody>
      </p:sp>
      <p:sp>
        <p:nvSpPr>
          <p:cNvPr id="5" name="object 5"/>
          <p:cNvSpPr txBox="1"/>
          <p:nvPr/>
        </p:nvSpPr>
        <p:spPr>
          <a:xfrm>
            <a:off x="340209" y="2257171"/>
            <a:ext cx="8845832" cy="743793"/>
          </a:xfrm>
          <a:prstGeom prst="rect">
            <a:avLst/>
          </a:prstGeom>
        </p:spPr>
        <p:txBody>
          <a:bodyPr vert="horz" wrap="square" lIns="0" tIns="0" rIns="0" bIns="0" rtlCol="0">
            <a:spAutoFit/>
          </a:bodyPr>
          <a:lstStyle/>
          <a:p>
            <a:pPr>
              <a:lnSpc>
                <a:spcPts val="2850"/>
              </a:lnSpc>
              <a:spcBef>
                <a:spcPct val="0"/>
              </a:spcBef>
              <a:spcAft>
                <a:spcPct val="0"/>
              </a:spcAft>
            </a:pPr>
            <a:r>
              <a:rPr sz="2551" dirty="0">
                <a:solidFill>
                  <a:srgbClr val="000000"/>
                </a:solidFill>
                <a:latin typeface="GOLBRE+Arial"/>
                <a:cs typeface="GOLBRE+Arial"/>
              </a:rPr>
              <a:t>•</a:t>
            </a:r>
            <a:r>
              <a:rPr sz="2551" spc="1339" dirty="0">
                <a:solidFill>
                  <a:srgbClr val="000000"/>
                </a:solidFill>
                <a:latin typeface="Times New Roman"/>
                <a:cs typeface="Times New Roman"/>
              </a:rPr>
              <a:t> </a:t>
            </a:r>
            <a:r>
              <a:rPr sz="2551" spc="12" dirty="0" err="1">
                <a:solidFill>
                  <a:srgbClr val="000000"/>
                </a:solidFill>
                <a:latin typeface="LVCUMA+ËÎÌå"/>
                <a:cs typeface="LVCUMA+ËÎÌå"/>
              </a:rPr>
              <a:t>求解过程是多阶段决策过程，</a:t>
            </a:r>
            <a:r>
              <a:rPr sz="2551" spc="12" dirty="0" err="1" smtClean="0">
                <a:solidFill>
                  <a:srgbClr val="000000"/>
                </a:solidFill>
                <a:latin typeface="LVCUMA+ËÎÌå"/>
                <a:cs typeface="LVCUMA+ËÎÌå"/>
              </a:rPr>
              <a:t>每步处理一个子问题</a:t>
            </a:r>
            <a:r>
              <a:rPr sz="2551" spc="12" dirty="0" err="1">
                <a:solidFill>
                  <a:srgbClr val="000000"/>
                </a:solidFill>
                <a:latin typeface="LVCUMA+ËÎÌå"/>
                <a:cs typeface="LVCUMA+ËÎÌå"/>
              </a:rPr>
              <a:t>，</a:t>
            </a:r>
            <a:r>
              <a:rPr sz="2551" spc="12" dirty="0" err="1" smtClean="0">
                <a:solidFill>
                  <a:srgbClr val="000000"/>
                </a:solidFill>
                <a:latin typeface="LVCUMA+ËÎÌå"/>
                <a:cs typeface="LVCUMA+ËÎÌå"/>
              </a:rPr>
              <a:t>可用于求解组合优化问题</a:t>
            </a:r>
            <a:endParaRPr sz="2551" spc="12" dirty="0">
              <a:solidFill>
                <a:srgbClr val="000000"/>
              </a:solidFill>
              <a:latin typeface="LVCUMA+ËÎÌå"/>
              <a:cs typeface="LVCUMA+ËÎÌå"/>
            </a:endParaRPr>
          </a:p>
        </p:txBody>
      </p:sp>
      <p:sp>
        <p:nvSpPr>
          <p:cNvPr id="6" name="object 6"/>
          <p:cNvSpPr txBox="1"/>
          <p:nvPr/>
        </p:nvSpPr>
        <p:spPr>
          <a:xfrm>
            <a:off x="340208" y="3491914"/>
            <a:ext cx="8919405" cy="1115690"/>
          </a:xfrm>
          <a:prstGeom prst="rect">
            <a:avLst/>
          </a:prstGeom>
        </p:spPr>
        <p:txBody>
          <a:bodyPr vert="horz" wrap="square" lIns="0" tIns="0" rIns="0" bIns="0" rtlCol="0">
            <a:spAutoFit/>
          </a:bodyPr>
          <a:lstStyle/>
          <a:p>
            <a:pPr>
              <a:lnSpc>
                <a:spcPts val="2850"/>
              </a:lnSpc>
              <a:spcBef>
                <a:spcPct val="0"/>
              </a:spcBef>
              <a:spcAft>
                <a:spcPct val="0"/>
              </a:spcAft>
            </a:pPr>
            <a:r>
              <a:rPr sz="2551" dirty="0">
                <a:solidFill>
                  <a:srgbClr val="000000"/>
                </a:solidFill>
                <a:latin typeface="GOLBRE+Arial"/>
                <a:cs typeface="GOLBRE+Arial"/>
              </a:rPr>
              <a:t>•</a:t>
            </a:r>
            <a:r>
              <a:rPr sz="2551" spc="1339" dirty="0">
                <a:solidFill>
                  <a:srgbClr val="000000"/>
                </a:solidFill>
                <a:latin typeface="Times New Roman"/>
                <a:cs typeface="Times New Roman"/>
              </a:rPr>
              <a:t> </a:t>
            </a:r>
            <a:r>
              <a:rPr sz="2551" spc="12" dirty="0">
                <a:solidFill>
                  <a:srgbClr val="000000"/>
                </a:solidFill>
                <a:latin typeface="LVCUMA+ËÎÌå"/>
                <a:cs typeface="LVCUMA+ËÎÌå"/>
              </a:rPr>
              <a:t>适用条件：</a:t>
            </a:r>
            <a:r>
              <a:rPr sz="2551" spc="12" dirty="0" smtClean="0">
                <a:solidFill>
                  <a:srgbClr val="000000"/>
                </a:solidFill>
                <a:latin typeface="LVCUMA+ËÎÌå"/>
                <a:cs typeface="LVCUMA+ËÎÌå"/>
              </a:rPr>
              <a:t>问题要满足优化原则或最优子结构性质</a:t>
            </a:r>
            <a:r>
              <a:rPr sz="2551" spc="12" dirty="0">
                <a:solidFill>
                  <a:srgbClr val="000000"/>
                </a:solidFill>
                <a:latin typeface="LVCUMA+ËÎÌå"/>
                <a:cs typeface="LVCUMA+ËÎÌå"/>
              </a:rPr>
              <a:t>，即：</a:t>
            </a:r>
            <a:r>
              <a:rPr sz="2551" spc="12" dirty="0" smtClean="0">
                <a:solidFill>
                  <a:srgbClr val="000000"/>
                </a:solidFill>
                <a:latin typeface="LVCUMA+ËÎÌå"/>
                <a:cs typeface="LVCUMA+ËÎÌå"/>
              </a:rPr>
              <a:t>一个最优决策序列的任何子序列本身一定是相对于子序列的初始和结束状态的最优决策序列</a:t>
            </a:r>
            <a:endParaRPr sz="2551" spc="12" dirty="0">
              <a:solidFill>
                <a:srgbClr val="000000"/>
              </a:solidFill>
              <a:latin typeface="LVCUMA+ËÎÌå"/>
              <a:cs typeface="LVCUMA+ËÎÌå"/>
            </a:endParaRPr>
          </a:p>
        </p:txBody>
      </p:sp>
      <p:sp>
        <p:nvSpPr>
          <p:cNvPr id="9" name="object 1"/>
          <p:cNvSpPr/>
          <p:nvPr/>
        </p:nvSpPr>
        <p:spPr>
          <a:xfrm>
            <a:off x="0" y="0"/>
            <a:ext cx="9144000" cy="5143499"/>
          </a:xfrm>
          <a:prstGeom prst="rect">
            <a:avLst/>
          </a:prstGeom>
          <a:blipFill>
            <a:blip r:embed="rId2"/>
            <a:stretch>
              <a:fillRect/>
            </a:stretch>
          </a:blipFill>
        </p:spPr>
        <p:txBody>
          <a:bodyPr wrap="square" lIns="0" tIns="0" rIns="0" bIns="0" rtlCol="0">
            <a:spAutoFit/>
          </a:bodyPr>
          <a:lstStyle/>
          <a:p>
            <a:endParaRPr/>
          </a:p>
        </p:txBody>
      </p:sp>
      <p:sp>
        <p:nvSpPr>
          <p:cNvPr id="10" name="object 3"/>
          <p:cNvSpPr txBox="1"/>
          <p:nvPr/>
        </p:nvSpPr>
        <p:spPr>
          <a:xfrm>
            <a:off x="1419153" y="2471314"/>
            <a:ext cx="7378005" cy="1526059"/>
          </a:xfrm>
          <a:prstGeom prst="rect">
            <a:avLst/>
          </a:prstGeom>
        </p:spPr>
        <p:txBody>
          <a:bodyPr vert="horz" wrap="square" lIns="0" tIns="0" rIns="0" bIns="0" rtlCol="0">
            <a:spAutoFit/>
          </a:bodyPr>
          <a:lstStyle/>
          <a:p>
            <a:pPr marL="0" marR="0" algn="ctr">
              <a:lnSpc>
                <a:spcPts val="5400"/>
              </a:lnSpc>
              <a:spcBef>
                <a:spcPct val="0"/>
              </a:spcBef>
              <a:spcAft>
                <a:spcPct val="0"/>
              </a:spcAft>
            </a:pPr>
            <a:r>
              <a:rPr sz="6600" spc="14" dirty="0" err="1">
                <a:solidFill>
                  <a:srgbClr val="C00000"/>
                </a:solidFill>
                <a:latin typeface="黑体" panose="02010609060101010101" pitchFamily="49" charset="-122"/>
                <a:ea typeface="黑体" panose="02010609060101010101" pitchFamily="49" charset="-122"/>
                <a:cs typeface="QHRRPW+ËÎÌå"/>
              </a:rPr>
              <a:t>动态规划</a:t>
            </a:r>
            <a:endParaRPr sz="6600" spc="14" dirty="0">
              <a:solidFill>
                <a:srgbClr val="C00000"/>
              </a:solidFill>
              <a:latin typeface="黑体" panose="02010609060101010101" pitchFamily="49" charset="-122"/>
              <a:ea typeface="黑体" panose="02010609060101010101" pitchFamily="49" charset="-122"/>
              <a:cs typeface="QHRRPW+ËÎÌå"/>
            </a:endParaRPr>
          </a:p>
          <a:p>
            <a:pPr marL="0" marR="0" algn="ctr">
              <a:lnSpc>
                <a:spcPts val="5400"/>
              </a:lnSpc>
              <a:spcBef>
                <a:spcPts val="1081"/>
              </a:spcBef>
              <a:spcAft>
                <a:spcPct val="0"/>
              </a:spcAft>
            </a:pPr>
            <a:r>
              <a:rPr sz="6600" spc="14" dirty="0" err="1">
                <a:solidFill>
                  <a:srgbClr val="C00000"/>
                </a:solidFill>
                <a:latin typeface="黑体" panose="02010609060101010101" pitchFamily="49" charset="-122"/>
                <a:ea typeface="黑体" panose="02010609060101010101" pitchFamily="49" charset="-122"/>
                <a:cs typeface="QHRRPW+ËÎÌå"/>
              </a:rPr>
              <a:t>算法设计</a:t>
            </a:r>
            <a:endParaRPr sz="6600" spc="14" dirty="0">
              <a:solidFill>
                <a:srgbClr val="C00000"/>
              </a:solidFill>
              <a:latin typeface="黑体" panose="02010609060101010101" pitchFamily="49" charset="-122"/>
              <a:ea typeface="黑体" panose="02010609060101010101" pitchFamily="49" charset="-122"/>
              <a:cs typeface="QHRRPW+ËÎÌå"/>
            </a:endParaRPr>
          </a:p>
        </p:txBody>
      </p:sp>
    </p:spTree>
    <p:extLst>
      <p:ext uri="{BB962C8B-B14F-4D97-AF65-F5344CB8AC3E}">
        <p14:creationId xmlns:p14="http://schemas.microsoft.com/office/powerpoint/2010/main" val="84258448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474701" y="222513"/>
            <a:ext cx="8774401"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QHRRPW+ËÎÌå"/>
              </a:rPr>
              <a:t>动态规划设计要素</a:t>
            </a:r>
            <a:endParaRPr sz="4000" b="1" dirty="0">
              <a:solidFill>
                <a:srgbClr val="C00000"/>
              </a:solidFill>
              <a:latin typeface="黑体" panose="02010609060101010101" pitchFamily="49" charset="-122"/>
              <a:ea typeface="黑体" panose="02010609060101010101" pitchFamily="49" charset="-122"/>
              <a:cs typeface="QHRRPW+ËÎÌå"/>
            </a:endParaRPr>
          </a:p>
        </p:txBody>
      </p:sp>
      <p:sp>
        <p:nvSpPr>
          <p:cNvPr id="4" name="object 4"/>
          <p:cNvSpPr txBox="1"/>
          <p:nvPr/>
        </p:nvSpPr>
        <p:spPr>
          <a:xfrm>
            <a:off x="340209" y="1532211"/>
            <a:ext cx="9177015" cy="397545"/>
          </a:xfrm>
          <a:prstGeom prst="rect">
            <a:avLst/>
          </a:prstGeom>
        </p:spPr>
        <p:txBody>
          <a:bodyPr vert="horz" wrap="square" lIns="0" tIns="0" rIns="0" bIns="0" rtlCol="0">
            <a:spAutoFit/>
          </a:bodyPr>
          <a:lstStyle/>
          <a:p>
            <a:pPr algn="just">
              <a:lnSpc>
                <a:spcPts val="3068"/>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LNFIGF+Times New Roman,Bold"/>
              </a:rPr>
              <a:t>1</a:t>
            </a:r>
            <a:r>
              <a:rPr sz="2800" b="1" dirty="0" smtClean="0">
                <a:solidFill>
                  <a:srgbClr val="000000"/>
                </a:solidFill>
                <a:latin typeface="黑体" panose="02010609060101010101" pitchFamily="49" charset="-122"/>
                <a:ea typeface="黑体" panose="02010609060101010101" pitchFamily="49" charset="-122"/>
                <a:cs typeface="LNFIGF+Times New Roman,Bold"/>
              </a:rPr>
              <a:t>.</a:t>
            </a:r>
            <a:r>
              <a:rPr sz="2800" b="1" spc="12" dirty="0" smtClean="0">
                <a:solidFill>
                  <a:srgbClr val="000000"/>
                </a:solidFill>
                <a:latin typeface="黑体" panose="02010609060101010101" pitchFamily="49" charset="-122"/>
                <a:ea typeface="黑体" panose="02010609060101010101" pitchFamily="49" charset="-122"/>
                <a:cs typeface="QHRRPW+ËÎÌå"/>
              </a:rPr>
              <a:t>问题建模</a:t>
            </a:r>
            <a:r>
              <a:rPr sz="2800" b="1" spc="12" dirty="0">
                <a:solidFill>
                  <a:srgbClr val="000000"/>
                </a:solidFill>
                <a:latin typeface="黑体" panose="02010609060101010101" pitchFamily="49" charset="-122"/>
                <a:ea typeface="黑体" panose="02010609060101010101" pitchFamily="49" charset="-122"/>
                <a:cs typeface="QHRRPW+ËÎÌå"/>
              </a:rPr>
              <a:t>，</a:t>
            </a:r>
            <a:r>
              <a:rPr sz="2800" b="1" spc="12" dirty="0" smtClean="0">
                <a:solidFill>
                  <a:srgbClr val="000000"/>
                </a:solidFill>
                <a:latin typeface="黑体" panose="02010609060101010101" pitchFamily="49" charset="-122"/>
                <a:ea typeface="黑体" panose="02010609060101010101" pitchFamily="49" charset="-122"/>
                <a:cs typeface="QHRRPW+ËÎÌå"/>
              </a:rPr>
              <a:t>优化的目标函数是什么</a:t>
            </a:r>
            <a:r>
              <a:rPr sz="2800" b="1" spc="12" dirty="0">
                <a:solidFill>
                  <a:srgbClr val="000000"/>
                </a:solidFill>
                <a:latin typeface="黑体" panose="02010609060101010101" pitchFamily="49" charset="-122"/>
                <a:ea typeface="黑体" panose="02010609060101010101" pitchFamily="49" charset="-122"/>
                <a:cs typeface="QHRRPW+ËÎÌå"/>
              </a:rPr>
              <a:t>？约束条件是什么？</a:t>
            </a:r>
          </a:p>
        </p:txBody>
      </p:sp>
      <p:sp>
        <p:nvSpPr>
          <p:cNvPr id="5" name="object 5"/>
          <p:cNvSpPr txBox="1"/>
          <p:nvPr/>
        </p:nvSpPr>
        <p:spPr>
          <a:xfrm>
            <a:off x="340209" y="2426985"/>
            <a:ext cx="4956085" cy="359073"/>
          </a:xfrm>
          <a:prstGeom prst="rect">
            <a:avLst/>
          </a:prstGeom>
        </p:spPr>
        <p:txBody>
          <a:bodyPr vert="horz" wrap="square" lIns="0" tIns="0" rIns="0" bIns="0" rtlCol="0">
            <a:spAutoFit/>
          </a:bodyPr>
          <a:lstStyle/>
          <a:p>
            <a:pPr algn="just">
              <a:lnSpc>
                <a:spcPts val="2828"/>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LNFIGF+Times New Roman,Bold"/>
              </a:rPr>
              <a:t>2</a:t>
            </a:r>
            <a:r>
              <a:rPr sz="2800" b="1" dirty="0" smtClean="0">
                <a:solidFill>
                  <a:srgbClr val="000000"/>
                </a:solidFill>
                <a:latin typeface="黑体" panose="02010609060101010101" pitchFamily="49" charset="-122"/>
                <a:ea typeface="黑体" panose="02010609060101010101" pitchFamily="49" charset="-122"/>
                <a:cs typeface="LNFIGF+Times New Roman,Bold"/>
              </a:rPr>
              <a:t>.</a:t>
            </a:r>
            <a:r>
              <a:rPr sz="2800" b="1" spc="12" dirty="0" smtClean="0">
                <a:solidFill>
                  <a:srgbClr val="000000"/>
                </a:solidFill>
                <a:latin typeface="黑体" panose="02010609060101010101" pitchFamily="49" charset="-122"/>
                <a:ea typeface="黑体" panose="02010609060101010101" pitchFamily="49" charset="-122"/>
                <a:cs typeface="QHRRPW+ËÎÌå"/>
              </a:rPr>
              <a:t>如何划分子问题</a:t>
            </a:r>
            <a:r>
              <a:rPr sz="2800" b="1" spc="12" dirty="0">
                <a:solidFill>
                  <a:srgbClr val="000000"/>
                </a:solidFill>
                <a:latin typeface="黑体" panose="02010609060101010101" pitchFamily="49" charset="-122"/>
                <a:ea typeface="黑体" panose="02010609060101010101" pitchFamily="49" charset="-122"/>
                <a:cs typeface="QHRRPW+ËÎÌå"/>
              </a:rPr>
              <a:t>（边界）？</a:t>
            </a:r>
          </a:p>
        </p:txBody>
      </p:sp>
      <p:sp>
        <p:nvSpPr>
          <p:cNvPr id="6" name="object 6"/>
          <p:cNvSpPr txBox="1"/>
          <p:nvPr/>
        </p:nvSpPr>
        <p:spPr>
          <a:xfrm>
            <a:off x="340209" y="2913287"/>
            <a:ext cx="8908893" cy="718145"/>
          </a:xfrm>
          <a:prstGeom prst="rect">
            <a:avLst/>
          </a:prstGeom>
        </p:spPr>
        <p:txBody>
          <a:bodyPr vert="horz" wrap="square" lIns="0" tIns="0" rIns="0" bIns="0" rtlCol="0">
            <a:spAutoFit/>
          </a:bodyPr>
          <a:lstStyle/>
          <a:p>
            <a:pPr algn="just">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LNFIGF+Times New Roman,Bold"/>
              </a:rPr>
              <a:t>3</a:t>
            </a:r>
            <a:r>
              <a:rPr sz="2800" b="1" dirty="0" smtClean="0">
                <a:solidFill>
                  <a:srgbClr val="000000"/>
                </a:solidFill>
                <a:latin typeface="黑体" panose="02010609060101010101" pitchFamily="49" charset="-122"/>
                <a:ea typeface="黑体" panose="02010609060101010101" pitchFamily="49" charset="-122"/>
                <a:cs typeface="LNFIGF+Times New Roman,Bold"/>
              </a:rPr>
              <a:t>.</a:t>
            </a:r>
            <a:r>
              <a:rPr sz="2800" b="1" spc="12" dirty="0" smtClean="0">
                <a:solidFill>
                  <a:srgbClr val="000000"/>
                </a:solidFill>
                <a:latin typeface="黑体" panose="02010609060101010101" pitchFamily="49" charset="-122"/>
                <a:ea typeface="黑体" panose="02010609060101010101" pitchFamily="49" charset="-122"/>
                <a:cs typeface="QHRRPW+ËÎÌå"/>
              </a:rPr>
              <a:t>问题的优化函数值与子问题的优化</a:t>
            </a:r>
            <a:r>
              <a:rPr lang="zh-CN" altLang="en-US" sz="2800" b="1" spc="12" dirty="0">
                <a:solidFill>
                  <a:srgbClr val="000000"/>
                </a:solidFill>
                <a:latin typeface="黑体" panose="02010609060101010101" pitchFamily="49" charset="-122"/>
                <a:ea typeface="黑体" panose="02010609060101010101" pitchFamily="49" charset="-122"/>
                <a:cs typeface="QHRRPW+ËÎÌå"/>
              </a:rPr>
              <a:t>函数值存在着什么依赖关系？</a:t>
            </a:r>
            <a:r>
              <a:rPr lang="en-US" altLang="zh-CN" sz="2800" b="1" spc="12" dirty="0">
                <a:solidFill>
                  <a:srgbClr val="000000"/>
                </a:solidFill>
                <a:latin typeface="黑体" panose="02010609060101010101" pitchFamily="49" charset="-122"/>
                <a:ea typeface="黑体" panose="02010609060101010101" pitchFamily="49" charset="-122"/>
                <a:cs typeface="QHRRPW+ËÎÌå"/>
              </a:rPr>
              <a:t>(</a:t>
            </a:r>
            <a:r>
              <a:rPr lang="zh-CN" altLang="en-US" sz="2800" b="1" spc="12" dirty="0">
                <a:solidFill>
                  <a:srgbClr val="000000"/>
                </a:solidFill>
                <a:latin typeface="黑体" panose="02010609060101010101" pitchFamily="49" charset="-122"/>
                <a:ea typeface="黑体" panose="02010609060101010101" pitchFamily="49" charset="-122"/>
                <a:cs typeface="QHRRPW+ËÎÌå"/>
              </a:rPr>
              <a:t>递推方程</a:t>
            </a:r>
            <a:r>
              <a:rPr lang="en-US" altLang="zh-CN" sz="2800" b="1" spc="12" dirty="0">
                <a:solidFill>
                  <a:srgbClr val="000000"/>
                </a:solidFill>
                <a:latin typeface="黑体" panose="02010609060101010101" pitchFamily="49" charset="-122"/>
                <a:ea typeface="黑体" panose="02010609060101010101" pitchFamily="49" charset="-122"/>
                <a:cs typeface="QHRRPW+ËÎÌå"/>
              </a:rPr>
              <a:t>)</a:t>
            </a:r>
            <a:endParaRPr sz="2800" b="1" dirty="0">
              <a:solidFill>
                <a:srgbClr val="000000"/>
              </a:solidFill>
              <a:latin typeface="黑体" panose="02010609060101010101" pitchFamily="49" charset="-122"/>
              <a:ea typeface="黑体" panose="02010609060101010101" pitchFamily="49" charset="-122"/>
              <a:cs typeface="LNFIGF+Times New Roman,Bold"/>
            </a:endParaRPr>
          </a:p>
        </p:txBody>
      </p:sp>
      <p:sp>
        <p:nvSpPr>
          <p:cNvPr id="7" name="object 7"/>
          <p:cNvSpPr txBox="1"/>
          <p:nvPr/>
        </p:nvSpPr>
        <p:spPr>
          <a:xfrm>
            <a:off x="340210" y="3925813"/>
            <a:ext cx="3832293" cy="359073"/>
          </a:xfrm>
          <a:prstGeom prst="rect">
            <a:avLst/>
          </a:prstGeom>
        </p:spPr>
        <p:txBody>
          <a:bodyPr vert="horz" wrap="square" lIns="0" tIns="0" rIns="0" bIns="0" rtlCol="0">
            <a:spAutoFit/>
          </a:bodyPr>
          <a:lstStyle/>
          <a:p>
            <a:pPr algn="just">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LNFIGF+Times New Roman,Bold"/>
              </a:rPr>
              <a:t>4</a:t>
            </a:r>
            <a:r>
              <a:rPr sz="2800" b="1" dirty="0" smtClean="0">
                <a:solidFill>
                  <a:srgbClr val="000000"/>
                </a:solidFill>
                <a:latin typeface="黑体" panose="02010609060101010101" pitchFamily="49" charset="-122"/>
                <a:ea typeface="黑体" panose="02010609060101010101" pitchFamily="49" charset="-122"/>
                <a:cs typeface="LNFIGF+Times New Roman,Bold"/>
              </a:rPr>
              <a:t>.</a:t>
            </a:r>
            <a:r>
              <a:rPr sz="2800" b="1" spc="12" dirty="0" smtClean="0">
                <a:solidFill>
                  <a:srgbClr val="000000"/>
                </a:solidFill>
                <a:latin typeface="黑体" panose="02010609060101010101" pitchFamily="49" charset="-122"/>
                <a:ea typeface="黑体" panose="02010609060101010101" pitchFamily="49" charset="-122"/>
                <a:cs typeface="QHRRPW+ËÎÌå"/>
              </a:rPr>
              <a:t>是否满足优化原则</a:t>
            </a:r>
            <a:r>
              <a:rPr sz="2800" b="1" spc="12" dirty="0">
                <a:solidFill>
                  <a:srgbClr val="000000"/>
                </a:solidFill>
                <a:latin typeface="黑体" panose="02010609060101010101" pitchFamily="49" charset="-122"/>
                <a:ea typeface="黑体" panose="02010609060101010101" pitchFamily="49" charset="-122"/>
                <a:cs typeface="QHRRPW+ËÎÌå"/>
              </a:rPr>
              <a:t>？</a:t>
            </a:r>
          </a:p>
        </p:txBody>
      </p:sp>
      <p:sp>
        <p:nvSpPr>
          <p:cNvPr id="8" name="object 8"/>
          <p:cNvSpPr txBox="1"/>
          <p:nvPr/>
        </p:nvSpPr>
        <p:spPr>
          <a:xfrm>
            <a:off x="340209" y="4695695"/>
            <a:ext cx="10916370" cy="718145"/>
          </a:xfrm>
          <a:prstGeom prst="rect">
            <a:avLst/>
          </a:prstGeom>
        </p:spPr>
        <p:txBody>
          <a:bodyPr vert="horz" wrap="square" lIns="0" tIns="0" rIns="0" bIns="0" rtlCol="0">
            <a:spAutoFit/>
          </a:bodyPr>
          <a:lstStyle/>
          <a:p>
            <a:pPr algn="just">
              <a:lnSpc>
                <a:spcPts val="2828"/>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LNFIGF+Times New Roman,Bold"/>
              </a:rPr>
              <a:t>5</a:t>
            </a:r>
            <a:r>
              <a:rPr sz="2800" b="1" dirty="0" smtClean="0">
                <a:solidFill>
                  <a:srgbClr val="000000"/>
                </a:solidFill>
                <a:latin typeface="黑体" panose="02010609060101010101" pitchFamily="49" charset="-122"/>
                <a:ea typeface="黑体" panose="02010609060101010101" pitchFamily="49" charset="-122"/>
                <a:cs typeface="LNFIGF+Times New Roman,Bold"/>
              </a:rPr>
              <a:t>.</a:t>
            </a:r>
            <a:r>
              <a:rPr sz="2800" b="1" spc="12" dirty="0" smtClean="0">
                <a:solidFill>
                  <a:srgbClr val="000000"/>
                </a:solidFill>
                <a:latin typeface="黑体" panose="02010609060101010101" pitchFamily="49" charset="-122"/>
                <a:ea typeface="黑体" panose="02010609060101010101" pitchFamily="49" charset="-122"/>
                <a:cs typeface="QHRRPW+ËÎÌå"/>
              </a:rPr>
              <a:t>最小子问题怎样界定</a:t>
            </a:r>
            <a:r>
              <a:rPr sz="2800" b="1" spc="12" dirty="0">
                <a:solidFill>
                  <a:srgbClr val="000000"/>
                </a:solidFill>
                <a:latin typeface="黑体" panose="02010609060101010101" pitchFamily="49" charset="-122"/>
                <a:ea typeface="黑体" panose="02010609060101010101" pitchFamily="49" charset="-122"/>
                <a:cs typeface="QHRRPW+ËÎÌå"/>
              </a:rPr>
              <a:t>？</a:t>
            </a:r>
            <a:r>
              <a:rPr sz="2800" b="1" spc="12" dirty="0" smtClean="0">
                <a:solidFill>
                  <a:srgbClr val="000000"/>
                </a:solidFill>
                <a:latin typeface="黑体" panose="02010609060101010101" pitchFamily="49" charset="-122"/>
                <a:ea typeface="黑体" panose="02010609060101010101" pitchFamily="49" charset="-122"/>
                <a:cs typeface="QHRRPW+ËÎÌå"/>
              </a:rPr>
              <a:t>其优化函数值</a:t>
            </a:r>
            <a:r>
              <a:rPr sz="2800" b="1" spc="12" dirty="0">
                <a:solidFill>
                  <a:srgbClr val="000000"/>
                </a:solidFill>
                <a:latin typeface="黑体" panose="02010609060101010101" pitchFamily="49" charset="-122"/>
                <a:ea typeface="黑体" panose="02010609060101010101" pitchFamily="49" charset="-122"/>
                <a:cs typeface="QHRRPW+ËÎÌå"/>
              </a:rPr>
              <a:t>，</a:t>
            </a:r>
            <a:r>
              <a:rPr sz="2800" b="1" spc="12" dirty="0" smtClean="0">
                <a:solidFill>
                  <a:srgbClr val="000000"/>
                </a:solidFill>
                <a:latin typeface="黑体" panose="02010609060101010101" pitchFamily="49" charset="-122"/>
                <a:ea typeface="黑体" panose="02010609060101010101" pitchFamily="49" charset="-122"/>
                <a:cs typeface="QHRRPW+ËÎÌå"/>
              </a:rPr>
              <a:t>即初值等于什</a:t>
            </a:r>
            <a:r>
              <a:rPr lang="zh-CN" altLang="en-US" sz="2800" b="1" spc="12" dirty="0" smtClean="0">
                <a:solidFill>
                  <a:srgbClr val="000000"/>
                </a:solidFill>
                <a:latin typeface="黑体" panose="02010609060101010101" pitchFamily="49" charset="-122"/>
                <a:ea typeface="黑体" panose="02010609060101010101" pitchFamily="49" charset="-122"/>
                <a:cs typeface="QHRRPW+ËÎÌå"/>
              </a:rPr>
              <a:t>么</a:t>
            </a:r>
            <a:r>
              <a:rPr lang="zh-CN" altLang="en-US" sz="2800" b="1" spc="12" dirty="0">
                <a:solidFill>
                  <a:srgbClr val="000000"/>
                </a:solidFill>
                <a:latin typeface="黑体" panose="02010609060101010101" pitchFamily="49" charset="-122"/>
                <a:ea typeface="黑体" panose="02010609060101010101" pitchFamily="49" charset="-122"/>
                <a:cs typeface="QHRRPW+ËÎÌå"/>
              </a:rPr>
              <a:t>？</a:t>
            </a:r>
          </a:p>
          <a:p>
            <a:pPr algn="just">
              <a:lnSpc>
                <a:spcPts val="2828"/>
              </a:lnSpc>
              <a:spcBef>
                <a:spcPct val="0"/>
              </a:spcBef>
              <a:spcAft>
                <a:spcPct val="0"/>
              </a:spcAft>
            </a:pPr>
            <a:endParaRPr sz="2800" b="1" spc="12" dirty="0">
              <a:solidFill>
                <a:srgbClr val="000000"/>
              </a:solidFill>
              <a:latin typeface="黑体" panose="02010609060101010101" pitchFamily="49" charset="-122"/>
              <a:ea typeface="黑体" panose="02010609060101010101" pitchFamily="49" charset="-122"/>
              <a:cs typeface="QHRRPW+ËÎÌå"/>
            </a:endParaRPr>
          </a:p>
        </p:txBody>
      </p:sp>
    </p:spTree>
    <p:extLst>
      <p:ext uri="{BB962C8B-B14F-4D97-AF65-F5344CB8AC3E}">
        <p14:creationId xmlns:p14="http://schemas.microsoft.com/office/powerpoint/2010/main" val="274370886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777134" y="218044"/>
            <a:ext cx="8240742"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QHRRPW+ËÎÌå"/>
              </a:rPr>
              <a:t>矩阵链相乘</a:t>
            </a:r>
            <a:endParaRPr sz="4000" b="1" dirty="0">
              <a:solidFill>
                <a:srgbClr val="C00000"/>
              </a:solidFill>
              <a:latin typeface="黑体" panose="02010609060101010101" pitchFamily="49" charset="-122"/>
              <a:ea typeface="黑体" panose="02010609060101010101" pitchFamily="49" charset="-122"/>
              <a:cs typeface="QHRRPW+ËÎÌå"/>
            </a:endParaRPr>
          </a:p>
        </p:txBody>
      </p:sp>
      <mc:AlternateContent xmlns:mc="http://schemas.openxmlformats.org/markup-compatibility/2006" xmlns:a14="http://schemas.microsoft.com/office/drawing/2010/main">
        <mc:Choice Requires="a14">
          <p:sp>
            <p:nvSpPr>
              <p:cNvPr id="4" name="object 4"/>
              <p:cNvSpPr txBox="1"/>
              <p:nvPr/>
            </p:nvSpPr>
            <p:spPr>
              <a:xfrm>
                <a:off x="421211" y="1160403"/>
                <a:ext cx="8859422" cy="2298065"/>
              </a:xfrm>
              <a:prstGeom prst="rect">
                <a:avLst/>
              </a:prstGeom>
            </p:spPr>
            <p:txBody>
              <a:bodyPr vert="horz" wrap="square" lIns="0" tIns="0" rIns="0" bIns="0" rtlCol="0">
                <a:spAutoFit/>
              </a:bodyPr>
              <a:lstStyle/>
              <a:p>
                <a:pPr algn="just">
                  <a:lnSpc>
                    <a:spcPct val="150000"/>
                  </a:lnSpc>
                  <a:spcBef>
                    <a:spcPct val="0"/>
                  </a:spcBef>
                  <a:spcAft>
                    <a:spcPct val="0"/>
                  </a:spcAft>
                </a:pPr>
                <a:r>
                  <a:rPr sz="2800" b="1" spc="13" dirty="0" err="1">
                    <a:solidFill>
                      <a:srgbClr val="C00000"/>
                    </a:solidFill>
                    <a:latin typeface="Times New Roman" pitchFamily="18" charset="0"/>
                    <a:ea typeface="黑体" pitchFamily="49" charset="-122"/>
                    <a:cs typeface="Times New Roman" pitchFamily="18" charset="0"/>
                  </a:rPr>
                  <a:t>问题</a:t>
                </a:r>
                <a:r>
                  <a:rPr sz="2800" b="1" spc="12" dirty="0" err="1">
                    <a:solidFill>
                      <a:srgbClr val="000000"/>
                    </a:solidFill>
                    <a:latin typeface="Times New Roman" pitchFamily="18" charset="0"/>
                    <a:ea typeface="黑体" pitchFamily="49" charset="-122"/>
                    <a:cs typeface="Times New Roman" pitchFamily="18" charset="0"/>
                  </a:rPr>
                  <a:t>：设</a:t>
                </a:r>
                <a:r>
                  <a:rPr sz="2800" b="1" dirty="0">
                    <a:solidFill>
                      <a:srgbClr val="000000"/>
                    </a:solidFill>
                    <a:latin typeface="Times New Roman" pitchFamily="18" charset="0"/>
                    <a:ea typeface="黑体" pitchFamily="49" charset="-122"/>
                    <a:cs typeface="Times New Roman" pitchFamily="18" charset="0"/>
                  </a:rPr>
                  <a:t> </a:t>
                </a:r>
                <a:r>
                  <a:rPr sz="2800" b="1" i="1" dirty="0" smtClean="0">
                    <a:solidFill>
                      <a:srgbClr val="000000"/>
                    </a:solidFill>
                    <a:latin typeface="Times New Roman" pitchFamily="18" charset="0"/>
                    <a:ea typeface="黑体" pitchFamily="49" charset="-122"/>
                    <a:cs typeface="Times New Roman" pitchFamily="18" charset="0"/>
                  </a:rPr>
                  <a:t>A</a:t>
                </a:r>
                <a:r>
                  <a:rPr lang="en-US" sz="2800" b="1" spc="212" baseline="-25000" dirty="0" smtClean="0">
                    <a:solidFill>
                      <a:srgbClr val="000000"/>
                    </a:solidFill>
                    <a:latin typeface="Times New Roman" pitchFamily="18" charset="0"/>
                    <a:ea typeface="黑体" pitchFamily="49" charset="-122"/>
                    <a:cs typeface="Times New Roman" pitchFamily="18" charset="0"/>
                  </a:rPr>
                  <a:t>1</a:t>
                </a:r>
                <a:r>
                  <a:rPr sz="2800" b="1" dirty="0" smtClean="0">
                    <a:solidFill>
                      <a:srgbClr val="000000"/>
                    </a:solidFill>
                    <a:latin typeface="Times New Roman" pitchFamily="18" charset="0"/>
                    <a:ea typeface="黑体" pitchFamily="49" charset="-122"/>
                    <a:cs typeface="Times New Roman" pitchFamily="18" charset="0"/>
                  </a:rPr>
                  <a:t>,</a:t>
                </a:r>
                <a:r>
                  <a:rPr sz="2800" b="1" i="1" dirty="0" smtClean="0">
                    <a:solidFill>
                      <a:srgbClr val="000000"/>
                    </a:solidFill>
                    <a:latin typeface="Times New Roman" pitchFamily="18" charset="0"/>
                    <a:ea typeface="黑体" pitchFamily="49" charset="-122"/>
                    <a:cs typeface="Times New Roman" pitchFamily="18" charset="0"/>
                  </a:rPr>
                  <a:t>A</a:t>
                </a:r>
                <a:r>
                  <a:rPr lang="en-US" sz="2800" b="1" spc="631" baseline="-25000" dirty="0" smtClean="0">
                    <a:solidFill>
                      <a:srgbClr val="000000"/>
                    </a:solidFill>
                    <a:latin typeface="Times New Roman" pitchFamily="18" charset="0"/>
                    <a:ea typeface="黑体" pitchFamily="49" charset="-122"/>
                    <a:cs typeface="Times New Roman" pitchFamily="18" charset="0"/>
                  </a:rPr>
                  <a:t>2</a:t>
                </a:r>
                <a:r>
                  <a:rPr sz="2800" b="1" dirty="0" smtClean="0">
                    <a:solidFill>
                      <a:srgbClr val="000000"/>
                    </a:solidFill>
                    <a:latin typeface="Times New Roman" pitchFamily="18" charset="0"/>
                    <a:ea typeface="黑体" pitchFamily="49" charset="-122"/>
                    <a:cs typeface="Times New Roman" pitchFamily="18" charset="0"/>
                  </a:rPr>
                  <a:t>,…,</a:t>
                </a:r>
                <a:r>
                  <a:rPr sz="2800" b="1" i="1" dirty="0" err="1" smtClean="0">
                    <a:solidFill>
                      <a:srgbClr val="000000"/>
                    </a:solidFill>
                    <a:latin typeface="Times New Roman" pitchFamily="18" charset="0"/>
                    <a:ea typeface="黑体" pitchFamily="49" charset="-122"/>
                    <a:cs typeface="Times New Roman" pitchFamily="18" charset="0"/>
                  </a:rPr>
                  <a:t>A</a:t>
                </a:r>
                <a:r>
                  <a:rPr lang="en-US" sz="2800" b="1" spc="721" baseline="-25000" dirty="0" err="1" smtClean="0">
                    <a:solidFill>
                      <a:srgbClr val="000000"/>
                    </a:solidFill>
                    <a:latin typeface="Times New Roman" pitchFamily="18" charset="0"/>
                    <a:ea typeface="黑体" pitchFamily="49" charset="-122"/>
                    <a:cs typeface="Times New Roman" pitchFamily="18" charset="0"/>
                  </a:rPr>
                  <a:t>n</a:t>
                </a:r>
                <a:r>
                  <a:rPr sz="2800" b="1" spc="12" dirty="0" err="1" smtClean="0">
                    <a:solidFill>
                      <a:srgbClr val="000000"/>
                    </a:solidFill>
                    <a:latin typeface="Times New Roman" pitchFamily="18" charset="0"/>
                    <a:ea typeface="黑体" pitchFamily="49" charset="-122"/>
                    <a:cs typeface="Times New Roman" pitchFamily="18" charset="0"/>
                  </a:rPr>
                  <a:t>为矩阵序列</a:t>
                </a:r>
                <a:r>
                  <a:rPr sz="2800" b="1" spc="12" dirty="0" err="1">
                    <a:solidFill>
                      <a:srgbClr val="000000"/>
                    </a:solidFill>
                    <a:latin typeface="Times New Roman" pitchFamily="18" charset="0"/>
                    <a:ea typeface="黑体" pitchFamily="49" charset="-122"/>
                    <a:cs typeface="Times New Roman" pitchFamily="18" charset="0"/>
                  </a:rPr>
                  <a:t>，</a:t>
                </a:r>
                <a:r>
                  <a:rPr lang="en-US" altLang="zh-CN" sz="2800" b="1" i="1" dirty="0" err="1">
                    <a:solidFill>
                      <a:srgbClr val="000000"/>
                    </a:solidFill>
                    <a:latin typeface="Times New Roman" pitchFamily="18" charset="0"/>
                    <a:ea typeface="黑体" pitchFamily="49" charset="-122"/>
                    <a:cs typeface="Times New Roman" pitchFamily="18" charset="0"/>
                  </a:rPr>
                  <a:t>A</a:t>
                </a:r>
                <a:r>
                  <a:rPr lang="en-US" altLang="zh-CN" sz="2800" b="1" i="1" spc="249" baseline="-25000" dirty="0" err="1">
                    <a:solidFill>
                      <a:srgbClr val="000000"/>
                    </a:solidFill>
                    <a:latin typeface="Times New Roman" pitchFamily="18" charset="0"/>
                    <a:ea typeface="黑体" pitchFamily="49" charset="-122"/>
                    <a:cs typeface="Times New Roman" pitchFamily="18" charset="0"/>
                  </a:rPr>
                  <a:t>i</a:t>
                </a:r>
                <a:r>
                  <a:rPr lang="zh-CN" altLang="en-US" sz="2800" b="1" dirty="0">
                    <a:solidFill>
                      <a:srgbClr val="000000"/>
                    </a:solidFill>
                    <a:latin typeface="Times New Roman" pitchFamily="18" charset="0"/>
                    <a:ea typeface="黑体" pitchFamily="49" charset="-122"/>
                    <a:cs typeface="Times New Roman" pitchFamily="18" charset="0"/>
                  </a:rPr>
                  <a:t>为</a:t>
                </a:r>
                <a:r>
                  <a:rPr lang="en-US" altLang="zh-CN" sz="2800" b="1" i="1" dirty="0">
                    <a:solidFill>
                      <a:srgbClr val="000000"/>
                    </a:solidFill>
                    <a:latin typeface="Times New Roman" pitchFamily="18" charset="0"/>
                    <a:ea typeface="黑体" pitchFamily="49" charset="-122"/>
                    <a:cs typeface="Times New Roman" pitchFamily="18" charset="0"/>
                  </a:rPr>
                  <a:t>P</a:t>
                </a:r>
                <a:r>
                  <a:rPr lang="en-US" altLang="zh-CN" sz="2800" b="1" spc="1247" baseline="-25000" dirty="0">
                    <a:solidFill>
                      <a:srgbClr val="000000"/>
                    </a:solidFill>
                    <a:latin typeface="Times New Roman" pitchFamily="18" charset="0"/>
                    <a:ea typeface="黑体" pitchFamily="49" charset="-122"/>
                    <a:cs typeface="Times New Roman" pitchFamily="18" charset="0"/>
                  </a:rPr>
                  <a:t>i-1</a:t>
                </a:r>
                <a14:m>
                  <m:oMath xmlns:m="http://schemas.openxmlformats.org/officeDocument/2006/math">
                    <m:r>
                      <a:rPr lang="en-US" altLang="zh-CN" sz="2800" b="1" i="1" spc="1247">
                        <a:solidFill>
                          <a:srgbClr val="000000"/>
                        </a:solidFill>
                        <a:latin typeface="Cambria Math" panose="02040503050406030204" pitchFamily="18" charset="0"/>
                        <a:ea typeface="Cambria Math" panose="02040503050406030204" pitchFamily="18" charset="0"/>
                        <a:cs typeface="BEKLMR+Times New Roman,BoldItalic"/>
                      </a:rPr>
                      <m:t>×</m:t>
                    </m:r>
                  </m:oMath>
                </a14:m>
                <a:r>
                  <a:rPr lang="en-US" altLang="zh-CN" sz="2800" b="1" i="1" dirty="0" err="1">
                    <a:solidFill>
                      <a:srgbClr val="000000"/>
                    </a:solidFill>
                    <a:latin typeface="Times New Roman" pitchFamily="18" charset="0"/>
                    <a:ea typeface="黑体" pitchFamily="49" charset="-122"/>
                    <a:cs typeface="Times New Roman" pitchFamily="18" charset="0"/>
                  </a:rPr>
                  <a:t>P</a:t>
                </a:r>
                <a:r>
                  <a:rPr lang="en-US" altLang="zh-CN" sz="2800" b="1" spc="266" baseline="-25000" dirty="0" err="1">
                    <a:solidFill>
                      <a:srgbClr val="000000"/>
                    </a:solidFill>
                    <a:latin typeface="Times New Roman" pitchFamily="18" charset="0"/>
                    <a:ea typeface="黑体" pitchFamily="49" charset="-122"/>
                    <a:cs typeface="Times New Roman" pitchFamily="18" charset="0"/>
                  </a:rPr>
                  <a:t>i</a:t>
                </a:r>
                <a:r>
                  <a:rPr lang="zh-CN" altLang="en-US" sz="2800" b="1" spc="13" dirty="0" err="1">
                    <a:solidFill>
                      <a:srgbClr val="000000"/>
                    </a:solidFill>
                    <a:latin typeface="Times New Roman" pitchFamily="18" charset="0"/>
                    <a:ea typeface="黑体" pitchFamily="49" charset="-122"/>
                    <a:cs typeface="Times New Roman" pitchFamily="18" charset="0"/>
                  </a:rPr>
                  <a:t>阶矩阵，</a:t>
                </a:r>
                <a:r>
                  <a:rPr lang="en-US" altLang="zh-CN" sz="2800" b="1" i="1" dirty="0" err="1">
                    <a:solidFill>
                      <a:srgbClr val="000000"/>
                    </a:solidFill>
                    <a:latin typeface="Times New Roman" pitchFamily="18" charset="0"/>
                    <a:ea typeface="黑体" pitchFamily="49" charset="-122"/>
                    <a:cs typeface="Times New Roman" pitchFamily="18" charset="0"/>
                  </a:rPr>
                  <a:t>i</a:t>
                </a:r>
                <a:r>
                  <a:rPr lang="zh-CN" altLang="en-US" sz="2800" b="1" i="1" spc="643" dirty="0">
                    <a:solidFill>
                      <a:srgbClr val="000000"/>
                    </a:solidFill>
                    <a:latin typeface="Times New Roman" pitchFamily="18" charset="0"/>
                    <a:ea typeface="黑体" pitchFamily="49" charset="-122"/>
                    <a:cs typeface="Times New Roman" pitchFamily="18" charset="0"/>
                  </a:rPr>
                  <a:t> </a:t>
                </a:r>
                <a:r>
                  <a:rPr lang="en-US" altLang="zh-CN" sz="2800" b="1" dirty="0">
                    <a:solidFill>
                      <a:srgbClr val="000000"/>
                    </a:solidFill>
                    <a:latin typeface="Times New Roman" pitchFamily="18" charset="0"/>
                    <a:ea typeface="黑体" pitchFamily="49" charset="-122"/>
                    <a:cs typeface="Times New Roman" pitchFamily="18" charset="0"/>
                  </a:rPr>
                  <a:t>=</a:t>
                </a:r>
                <a:r>
                  <a:rPr lang="zh-CN" altLang="en-US" sz="2800" b="1" spc="-12" dirty="0">
                    <a:solidFill>
                      <a:srgbClr val="000000"/>
                    </a:solidFill>
                    <a:latin typeface="Times New Roman" pitchFamily="18" charset="0"/>
                    <a:ea typeface="黑体" pitchFamily="49" charset="-122"/>
                    <a:cs typeface="Times New Roman" pitchFamily="18" charset="0"/>
                  </a:rPr>
                  <a:t> </a:t>
                </a:r>
                <a:r>
                  <a:rPr lang="en-US" altLang="zh-CN" sz="2800" b="1" dirty="0">
                    <a:solidFill>
                      <a:srgbClr val="000000"/>
                    </a:solidFill>
                    <a:latin typeface="Times New Roman" pitchFamily="18" charset="0"/>
                    <a:ea typeface="黑体" pitchFamily="49" charset="-122"/>
                    <a:cs typeface="Times New Roman" pitchFamily="18" charset="0"/>
                  </a:rPr>
                  <a:t>1, 2, … , </a:t>
                </a:r>
                <a:r>
                  <a:rPr lang="en-US" altLang="zh-CN" sz="2800" b="1" i="1" dirty="0">
                    <a:solidFill>
                      <a:srgbClr val="000000"/>
                    </a:solidFill>
                    <a:latin typeface="Times New Roman" pitchFamily="18" charset="0"/>
                    <a:ea typeface="黑体" pitchFamily="49" charset="-122"/>
                    <a:cs typeface="Times New Roman" pitchFamily="18" charset="0"/>
                  </a:rPr>
                  <a:t>n</a:t>
                </a:r>
                <a:r>
                  <a:rPr lang="en-US" altLang="zh-CN" sz="2800" b="1" dirty="0" smtClean="0">
                    <a:solidFill>
                      <a:srgbClr val="000000"/>
                    </a:solidFill>
                    <a:latin typeface="Times New Roman" pitchFamily="18" charset="0"/>
                    <a:ea typeface="黑体" pitchFamily="49" charset="-122"/>
                    <a:cs typeface="Times New Roman" pitchFamily="18" charset="0"/>
                  </a:rPr>
                  <a:t>. </a:t>
                </a:r>
                <a:r>
                  <a:rPr lang="zh-CN" altLang="en-US" sz="2800" b="1" spc="12" dirty="0" smtClean="0">
                    <a:solidFill>
                      <a:srgbClr val="000000"/>
                    </a:solidFill>
                    <a:latin typeface="Times New Roman" pitchFamily="18" charset="0"/>
                    <a:ea typeface="黑体" pitchFamily="49" charset="-122"/>
                    <a:cs typeface="Times New Roman" pitchFamily="18" charset="0"/>
                  </a:rPr>
                  <a:t>试</a:t>
                </a:r>
                <a:r>
                  <a:rPr lang="zh-CN" altLang="en-US" sz="2800" b="1" spc="12" dirty="0">
                    <a:solidFill>
                      <a:srgbClr val="000000"/>
                    </a:solidFill>
                    <a:latin typeface="Times New Roman" pitchFamily="18" charset="0"/>
                    <a:ea typeface="黑体" pitchFamily="49" charset="-122"/>
                    <a:cs typeface="Times New Roman" pitchFamily="18" charset="0"/>
                  </a:rPr>
                  <a:t>确定矩阵的乘法顺序，使得元素相乘的总次数最少</a:t>
                </a:r>
                <a:r>
                  <a:rPr lang="en-US" altLang="zh-CN" sz="2800" b="1" dirty="0">
                    <a:solidFill>
                      <a:srgbClr val="000000"/>
                    </a:solidFill>
                    <a:latin typeface="Times New Roman" pitchFamily="18" charset="0"/>
                    <a:ea typeface="黑体" pitchFamily="49" charset="-122"/>
                    <a:cs typeface="Times New Roman" pitchFamily="18" charset="0"/>
                  </a:rPr>
                  <a:t>.</a:t>
                </a:r>
              </a:p>
              <a:p>
                <a:pPr>
                  <a:lnSpc>
                    <a:spcPts val="2828"/>
                  </a:lnSpc>
                  <a:spcBef>
                    <a:spcPct val="0"/>
                  </a:spcBef>
                  <a:spcAft>
                    <a:spcPct val="0"/>
                  </a:spcAft>
                </a:pPr>
                <a:endParaRPr sz="2800" b="1" spc="12" dirty="0">
                  <a:solidFill>
                    <a:srgbClr val="000000"/>
                  </a:solidFill>
                  <a:latin typeface="QHRRPW+ËÎÌå"/>
                  <a:cs typeface="QHRRPW+ËÎÌå"/>
                </a:endParaRPr>
              </a:p>
            </p:txBody>
          </p:sp>
        </mc:Choice>
        <mc:Fallback xmlns="">
          <p:sp>
            <p:nvSpPr>
              <p:cNvPr id="4" name="object 4"/>
              <p:cNvSpPr txBox="1">
                <a:spLocks noRot="1" noChangeAspect="1" noMove="1" noResize="1" noEditPoints="1" noAdjustHandles="1" noChangeArrowheads="1" noChangeShapeType="1" noTextEdit="1"/>
              </p:cNvSpPr>
              <p:nvPr/>
            </p:nvSpPr>
            <p:spPr>
              <a:xfrm>
                <a:off x="421211" y="1160403"/>
                <a:ext cx="8859422" cy="2298065"/>
              </a:xfrm>
              <a:prstGeom prst="rect">
                <a:avLst/>
              </a:prstGeom>
              <a:blipFill>
                <a:blip r:embed="rId3"/>
                <a:stretch>
                  <a:fillRect l="-2409" r="-6538"/>
                </a:stretch>
              </a:blipFill>
            </p:spPr>
            <p:txBody>
              <a:bodyPr/>
              <a:lstStyle/>
              <a:p>
                <a:r>
                  <a:rPr lang="zh-CN" altLang="en-US">
                    <a:noFill/>
                  </a:rPr>
                  <a:t> </a:t>
                </a:r>
              </a:p>
            </p:txBody>
          </p:sp>
        </mc:Fallback>
      </mc:AlternateContent>
      <p:sp>
        <p:nvSpPr>
          <p:cNvPr id="13" name="object 13"/>
          <p:cNvSpPr txBox="1"/>
          <p:nvPr/>
        </p:nvSpPr>
        <p:spPr>
          <a:xfrm>
            <a:off x="421211" y="3247580"/>
            <a:ext cx="2112860" cy="333425"/>
          </a:xfrm>
          <a:prstGeom prst="rect">
            <a:avLst/>
          </a:prstGeom>
        </p:spPr>
        <p:txBody>
          <a:bodyPr vert="horz" wrap="square" lIns="0" tIns="0" rIns="0" bIns="0" rtlCol="0">
            <a:spAutoFit/>
          </a:bodyPr>
          <a:lstStyle/>
          <a:p>
            <a:pPr>
              <a:lnSpc>
                <a:spcPts val="2551"/>
              </a:lnSpc>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输入</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：向量</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object 18"/>
          <p:cNvSpPr txBox="1"/>
          <p:nvPr/>
        </p:nvSpPr>
        <p:spPr>
          <a:xfrm>
            <a:off x="421212" y="4177191"/>
            <a:ext cx="8859422" cy="359073"/>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其中</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spc="212"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spc="63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spc="72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a:t>
            </a:r>
            <a:r>
              <a:rPr sz="2800" b="1" spc="1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个矩阵的行数</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与列数</a:t>
            </a:r>
          </a:p>
        </p:txBody>
      </p:sp>
      <p:sp>
        <p:nvSpPr>
          <p:cNvPr id="23" name="object 23"/>
          <p:cNvSpPr txBox="1"/>
          <p:nvPr/>
        </p:nvSpPr>
        <p:spPr>
          <a:xfrm>
            <a:off x="421211" y="5036193"/>
            <a:ext cx="5336862" cy="359073"/>
          </a:xfrm>
          <a:prstGeom prst="rect">
            <a:avLst/>
          </a:prstGeom>
        </p:spPr>
        <p:txBody>
          <a:bodyPr vert="horz" wrap="square" lIns="0" tIns="0" rIns="0" bIns="0" rtlCol="0">
            <a:spAutoFit/>
          </a:bodyPr>
          <a:lstStyle/>
          <a:p>
            <a:pPr>
              <a:lnSpc>
                <a:spcPts val="2824"/>
              </a:lnSpc>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输出</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：矩阵链乘法加括号的位置</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pic>
        <p:nvPicPr>
          <p:cNvPr id="2" name="图片 1"/>
          <p:cNvPicPr>
            <a:picLocks noChangeAspect="1"/>
          </p:cNvPicPr>
          <p:nvPr/>
        </p:nvPicPr>
        <p:blipFill>
          <a:blip r:embed="rId4"/>
          <a:stretch>
            <a:fillRect/>
          </a:stretch>
        </p:blipFill>
        <p:spPr>
          <a:xfrm>
            <a:off x="2459421" y="3604278"/>
            <a:ext cx="3678247" cy="526539"/>
          </a:xfrm>
          <a:prstGeom prst="rect">
            <a:avLst/>
          </a:prstGeom>
        </p:spPr>
      </p:pic>
    </p:spTree>
    <p:extLst>
      <p:ext uri="{BB962C8B-B14F-4D97-AF65-F5344CB8AC3E}">
        <p14:creationId xmlns:p14="http://schemas.microsoft.com/office/powerpoint/2010/main" val="19996707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2213" y="292424"/>
            <a:ext cx="8673317"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QHRRPW+ËÎÌå"/>
              </a:rPr>
              <a:t>矩阵相乘基本运算次数</a:t>
            </a:r>
            <a:endParaRPr sz="4000" b="1" dirty="0">
              <a:solidFill>
                <a:srgbClr val="C00000"/>
              </a:solidFill>
              <a:latin typeface="黑体" panose="02010609060101010101" pitchFamily="49" charset="-122"/>
              <a:ea typeface="黑体" panose="02010609060101010101" pitchFamily="49" charset="-122"/>
              <a:cs typeface="QHRRPW+ËÎÌå"/>
            </a:endParaRPr>
          </a:p>
        </p:txBody>
      </p:sp>
      <p:sp>
        <p:nvSpPr>
          <p:cNvPr id="4" name="object 4"/>
          <p:cNvSpPr txBox="1"/>
          <p:nvPr/>
        </p:nvSpPr>
        <p:spPr>
          <a:xfrm>
            <a:off x="351567" y="1147980"/>
            <a:ext cx="9058692" cy="1210844"/>
          </a:xfrm>
          <a:prstGeom prst="rect">
            <a:avLst/>
          </a:prstGeom>
        </p:spPr>
        <p:txBody>
          <a:bodyPr vert="horz" wrap="square" lIns="0" tIns="0" rIns="0" bIns="0" rtlCol="0">
            <a:spAutoFit/>
          </a:bodyPr>
          <a:lstStyle/>
          <a:p>
            <a:pPr algn="just">
              <a:lnSpc>
                <a:spcPct val="150000"/>
              </a:lnSpc>
              <a:spcBef>
                <a:spcPct val="0"/>
              </a:spcBef>
              <a:spcAft>
                <a:spcPct val="0"/>
              </a:spcAft>
            </a:pP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矩阵</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a:t>
            </a:r>
            <a:r>
              <a:rPr sz="2800" b="1" spc="1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spc="1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以元</a:t>
            </a:r>
            <a:r>
              <a:rPr sz="2800" b="1" spc="13"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素相乘作基本运算</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AB</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的工作量</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1058536" y="2389291"/>
            <a:ext cx="944484" cy="461665"/>
          </a:xfrm>
          <a:prstGeom prst="rect">
            <a:avLst/>
          </a:prstGeom>
        </p:spPr>
        <p:txBody>
          <a:bodyPr vert="horz" wrap="square" lIns="0" tIns="0" rIns="0" bIns="0" rtlCol="0">
            <a:spAutoFit/>
          </a:bodyPr>
          <a:lstStyle/>
          <a:p>
            <a:pPr>
              <a:lnSpc>
                <a:spcPts val="3641"/>
              </a:lnSpc>
              <a:spcBef>
                <a:spcPct val="0"/>
              </a:spcBef>
              <a:spcAft>
                <a:spcPct val="0"/>
              </a:spcAft>
            </a:pPr>
            <a:r>
              <a:rPr sz="2976">
                <a:solidFill>
                  <a:srgbClr val="000000"/>
                </a:solidFill>
                <a:latin typeface="EUADHU+Symbol"/>
                <a:cs typeface="EUADHU+Symbol"/>
              </a:rPr>
              <a:t></a:t>
            </a:r>
          </a:p>
        </p:txBody>
      </p:sp>
      <p:sp>
        <p:nvSpPr>
          <p:cNvPr id="28" name="object 28"/>
          <p:cNvSpPr txBox="1"/>
          <p:nvPr/>
        </p:nvSpPr>
        <p:spPr>
          <a:xfrm>
            <a:off x="502214" y="4695695"/>
            <a:ext cx="8757399" cy="1077218"/>
          </a:xfrm>
          <a:prstGeom prst="rect">
            <a:avLst/>
          </a:prstGeom>
        </p:spPr>
        <p:txBody>
          <a:bodyPr vert="horz" wrap="square" lIns="0" tIns="0" rIns="0" bIns="0" rtlCol="0">
            <a:spAutoFit/>
          </a:bodyPr>
          <a:lstStyle/>
          <a:p>
            <a:pPr algn="just">
              <a:lnSpc>
                <a:spcPts val="2828"/>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列，计算每个元素需要做</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次乘法</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62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总计乘法次数</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为</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i="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 k</a:t>
            </a:r>
          </a:p>
          <a:p>
            <a:pPr>
              <a:lnSpc>
                <a:spcPts val="2828"/>
              </a:lnSpc>
              <a:spcBef>
                <a:spcPct val="0"/>
              </a:spcBef>
              <a:spcAft>
                <a:spcPct val="0"/>
              </a:spcAft>
            </a:pPr>
            <a:endParaRPr sz="2551" b="1" i="1" dirty="0">
              <a:solidFill>
                <a:srgbClr val="000000"/>
              </a:solidFill>
              <a:latin typeface="BEKLMR+Times New Roman,BoldItalic"/>
              <a:cs typeface="BEKLMR+Times New Roman,BoldItalic"/>
            </a:endParaRPr>
          </a:p>
        </p:txBody>
      </p:sp>
      <p:pic>
        <p:nvPicPr>
          <p:cNvPr id="2" name="图片 1"/>
          <p:cNvPicPr>
            <a:picLocks noChangeAspect="1"/>
          </p:cNvPicPr>
          <p:nvPr/>
        </p:nvPicPr>
        <p:blipFill>
          <a:blip r:embed="rId2"/>
          <a:stretch>
            <a:fillRect/>
          </a:stretch>
        </p:blipFill>
        <p:spPr>
          <a:xfrm>
            <a:off x="2150165" y="2427518"/>
            <a:ext cx="5149824" cy="1983012"/>
          </a:xfrm>
          <a:prstGeom prst="rect">
            <a:avLst/>
          </a:prstGeom>
        </p:spPr>
      </p:pic>
    </p:spTree>
    <p:extLst>
      <p:ext uri="{BB962C8B-B14F-4D97-AF65-F5344CB8AC3E}">
        <p14:creationId xmlns:p14="http://schemas.microsoft.com/office/powerpoint/2010/main" val="9934028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32259" y="236523"/>
            <a:ext cx="839071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QHRRPW+ËÎÌå"/>
              </a:rPr>
              <a:t>实例</a:t>
            </a:r>
            <a:endParaRPr sz="4000" b="1" spc="11" dirty="0">
              <a:solidFill>
                <a:srgbClr val="C00000"/>
              </a:solidFill>
              <a:latin typeface="黑体" panose="02010609060101010101" pitchFamily="49" charset="-122"/>
              <a:ea typeface="黑体" panose="02010609060101010101" pitchFamily="49" charset="-122"/>
              <a:cs typeface="QHRRPW+ËÎÌå"/>
            </a:endParaRPr>
          </a:p>
        </p:txBody>
      </p:sp>
      <p:sp>
        <p:nvSpPr>
          <p:cNvPr id="4" name="object 4"/>
          <p:cNvSpPr txBox="1"/>
          <p:nvPr/>
        </p:nvSpPr>
        <p:spPr>
          <a:xfrm>
            <a:off x="378052" y="1241220"/>
            <a:ext cx="8512582"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QHRRPW+ËÎÌå"/>
              </a:rPr>
              <a:t>实例</a:t>
            </a:r>
            <a:r>
              <a:rPr sz="2800" spc="12" dirty="0">
                <a:solidFill>
                  <a:srgbClr val="000000"/>
                </a:solidFill>
                <a:latin typeface="Times New Roman" panose="02020603050405020304" pitchFamily="18" charset="0"/>
                <a:cs typeface="Times New Roman" panose="02020603050405020304" pitchFamily="18" charset="0"/>
              </a:rPr>
              <a:t>：</a:t>
            </a:r>
            <a:r>
              <a:rPr sz="2800" spc="-11"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P </a:t>
            </a:r>
            <a:r>
              <a:rPr sz="2800" b="1" dirty="0">
                <a:solidFill>
                  <a:srgbClr val="000000"/>
                </a:solidFill>
                <a:latin typeface="Times New Roman" panose="02020603050405020304" pitchFamily="18" charset="0"/>
                <a:cs typeface="Times New Roman" panose="02020603050405020304" pitchFamily="18" charset="0"/>
              </a:rPr>
              <a:t>= &lt;10,</a:t>
            </a:r>
            <a:r>
              <a:rPr sz="2800" b="1" spc="-19" dirty="0">
                <a:solidFill>
                  <a:srgbClr val="000000"/>
                </a:solidFill>
                <a:latin typeface="Times New Roman" panose="02020603050405020304" pitchFamily="18" charset="0"/>
                <a:cs typeface="Times New Roman" panose="02020603050405020304" pitchFamily="18" charset="0"/>
              </a:rPr>
              <a:t> </a:t>
            </a:r>
            <a:r>
              <a:rPr sz="2800" b="1" dirty="0">
                <a:solidFill>
                  <a:srgbClr val="000000"/>
                </a:solidFill>
                <a:latin typeface="Times New Roman" panose="02020603050405020304" pitchFamily="18" charset="0"/>
                <a:cs typeface="Times New Roman" panose="02020603050405020304" pitchFamily="18" charset="0"/>
              </a:rPr>
              <a:t>100, 5, 50&gt;</a:t>
            </a:r>
          </a:p>
        </p:txBody>
      </p:sp>
      <mc:AlternateContent xmlns:mc="http://schemas.openxmlformats.org/markup-compatibility/2006" xmlns:a14="http://schemas.microsoft.com/office/drawing/2010/main">
        <mc:Choice Requires="a14">
          <p:sp>
            <p:nvSpPr>
              <p:cNvPr id="5" name="object 5"/>
              <p:cNvSpPr txBox="1"/>
              <p:nvPr/>
            </p:nvSpPr>
            <p:spPr>
              <a:xfrm>
                <a:off x="689101" y="1671060"/>
                <a:ext cx="8306637" cy="397545"/>
              </a:xfrm>
              <a:prstGeom prst="rect">
                <a:avLst/>
              </a:prstGeom>
            </p:spPr>
            <p:txBody>
              <a:bodyPr vert="horz" wrap="square" lIns="0" tIns="0" rIns="0" bIns="0" rtlCol="0">
                <a:spAutoFit/>
              </a:bodyPr>
              <a:lstStyle/>
              <a:p>
                <a:pPr>
                  <a:lnSpc>
                    <a:spcPts val="3125"/>
                  </a:lnSpc>
                  <a:spcBef>
                    <a:spcPct val="0"/>
                  </a:spcBef>
                  <a:spcAft>
                    <a:spcPct val="0"/>
                  </a:spcAft>
                </a:pPr>
                <a:r>
                  <a:rPr sz="2800" b="1" i="1" dirty="0" smtClean="0">
                    <a:solidFill>
                      <a:srgbClr val="000000"/>
                    </a:solidFill>
                    <a:latin typeface="Times New Roman" panose="02020603050405020304" pitchFamily="18" charset="0"/>
                    <a:cs typeface="Times New Roman" panose="02020603050405020304" pitchFamily="18" charset="0"/>
                  </a:rPr>
                  <a:t>A</a:t>
                </a:r>
                <a:r>
                  <a:rPr lang="en-US" sz="2800" b="1" baseline="-25000" dirty="0" smtClean="0">
                    <a:solidFill>
                      <a:srgbClr val="000000"/>
                    </a:solidFill>
                    <a:latin typeface="Times New Roman" panose="02020603050405020304" pitchFamily="18" charset="0"/>
                    <a:cs typeface="Times New Roman" panose="02020603050405020304" pitchFamily="18" charset="0"/>
                  </a:rPr>
                  <a:t>1</a:t>
                </a:r>
                <a:r>
                  <a:rPr sz="2800" b="1" dirty="0" smtClean="0">
                    <a:solidFill>
                      <a:srgbClr val="000000"/>
                    </a:solidFill>
                    <a:latin typeface="Times New Roman" panose="02020603050405020304" pitchFamily="18" charset="0"/>
                    <a:cs typeface="Times New Roman" panose="02020603050405020304" pitchFamily="18" charset="0"/>
                  </a:rPr>
                  <a:t>: </a:t>
                </a:r>
                <a:r>
                  <a:rPr sz="2800" b="1" dirty="0">
                    <a:solidFill>
                      <a:srgbClr val="000000"/>
                    </a:solidFill>
                    <a:latin typeface="Times New Roman" panose="02020603050405020304" pitchFamily="18" charset="0"/>
                    <a:cs typeface="Times New Roman" panose="02020603050405020304" pitchFamily="18" charset="0"/>
                  </a:rPr>
                  <a:t>10</a:t>
                </a:r>
                <a14:m>
                  <m:oMath xmlns:m="http://schemas.openxmlformats.org/officeDocument/2006/math">
                    <m:r>
                      <a:rPr lang="en-US" altLang="zh-CN" sz="2800" i="1" spc="16" dirty="0" smtClean="0">
                        <a:solidFill>
                          <a:srgbClr val="000000"/>
                        </a:solidFill>
                        <a:latin typeface="Cambria Math" panose="02040503050406030204" pitchFamily="18" charset="0"/>
                        <a:ea typeface="Cambria Math" panose="02040503050406030204" pitchFamily="18" charset="0"/>
                        <a:cs typeface="EUADHU+Symbol"/>
                      </a:rPr>
                      <m:t>×</m:t>
                    </m:r>
                  </m:oMath>
                </a14:m>
                <a:r>
                  <a:rPr sz="2800" b="1" dirty="0">
                    <a:solidFill>
                      <a:srgbClr val="000000"/>
                    </a:solidFill>
                    <a:latin typeface="Times New Roman" panose="02020603050405020304" pitchFamily="18" charset="0"/>
                    <a:cs typeface="Times New Roman" panose="02020603050405020304" pitchFamily="18" charset="0"/>
                  </a:rPr>
                  <a:t>100,</a:t>
                </a:r>
                <a:r>
                  <a:rPr sz="2800" b="1" spc="625" dirty="0">
                    <a:solidFill>
                      <a:srgbClr val="000000"/>
                    </a:solidFill>
                    <a:latin typeface="Times New Roman" panose="02020603050405020304" pitchFamily="18" charset="0"/>
                    <a:cs typeface="Times New Roman" panose="02020603050405020304" pitchFamily="18" charset="0"/>
                  </a:rPr>
                  <a:t> </a:t>
                </a:r>
                <a:r>
                  <a:rPr sz="2800" b="1" i="1" dirty="0" smtClean="0">
                    <a:solidFill>
                      <a:srgbClr val="000000"/>
                    </a:solidFill>
                    <a:latin typeface="Times New Roman" panose="02020603050405020304" pitchFamily="18" charset="0"/>
                    <a:cs typeface="Times New Roman" panose="02020603050405020304" pitchFamily="18" charset="0"/>
                  </a:rPr>
                  <a:t>A</a:t>
                </a:r>
                <a:r>
                  <a:rPr lang="en-US" sz="2800" b="1" baseline="-25000" dirty="0" smtClean="0">
                    <a:solidFill>
                      <a:srgbClr val="000000"/>
                    </a:solidFill>
                    <a:latin typeface="Times New Roman" panose="02020603050405020304" pitchFamily="18" charset="0"/>
                    <a:cs typeface="Times New Roman" panose="02020603050405020304" pitchFamily="18" charset="0"/>
                  </a:rPr>
                  <a:t>2</a:t>
                </a:r>
                <a:r>
                  <a:rPr sz="2800" b="1" dirty="0" smtClean="0">
                    <a:solidFill>
                      <a:srgbClr val="000000"/>
                    </a:solidFill>
                    <a:latin typeface="Times New Roman" panose="02020603050405020304" pitchFamily="18" charset="0"/>
                    <a:cs typeface="Times New Roman" panose="02020603050405020304" pitchFamily="18" charset="0"/>
                  </a:rPr>
                  <a:t>: </a:t>
                </a:r>
                <a:r>
                  <a:rPr sz="2800" b="1" dirty="0">
                    <a:solidFill>
                      <a:srgbClr val="000000"/>
                    </a:solidFill>
                    <a:latin typeface="Times New Roman" panose="02020603050405020304" pitchFamily="18" charset="0"/>
                    <a:cs typeface="Times New Roman" panose="02020603050405020304" pitchFamily="18" charset="0"/>
                  </a:rPr>
                  <a:t>100</a:t>
                </a:r>
                <a:r>
                  <a:rPr lang="en-US" altLang="zh-CN" sz="2800" spc="16" dirty="0" smtClean="0">
                    <a:solidFill>
                      <a:srgbClr val="0000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sz="2800" i="1" spc="16" dirty="0" smtClean="0">
                        <a:solidFill>
                          <a:srgbClr val="000000"/>
                        </a:solidFill>
                        <a:latin typeface="Cambria Math" panose="02040503050406030204" pitchFamily="18" charset="0"/>
                        <a:ea typeface="Cambria Math" panose="02040503050406030204" pitchFamily="18" charset="0"/>
                        <a:cs typeface="EUADHU+Symbol"/>
                      </a:rPr>
                      <m:t>× </m:t>
                    </m:r>
                  </m:oMath>
                </a14:m>
                <a:r>
                  <a:rPr sz="2800" b="1" dirty="0">
                    <a:solidFill>
                      <a:srgbClr val="000000"/>
                    </a:solidFill>
                    <a:latin typeface="Times New Roman" panose="02020603050405020304" pitchFamily="18" charset="0"/>
                    <a:cs typeface="Times New Roman" panose="02020603050405020304" pitchFamily="18" charset="0"/>
                  </a:rPr>
                  <a:t>5,</a:t>
                </a:r>
                <a:r>
                  <a:rPr sz="2800" b="1" spc="625" dirty="0">
                    <a:solidFill>
                      <a:srgbClr val="000000"/>
                    </a:solidFill>
                    <a:latin typeface="Times New Roman" panose="02020603050405020304" pitchFamily="18" charset="0"/>
                    <a:cs typeface="Times New Roman" panose="02020603050405020304" pitchFamily="18" charset="0"/>
                  </a:rPr>
                  <a:t> </a:t>
                </a:r>
                <a:r>
                  <a:rPr sz="2800" b="1" i="1" dirty="0" smtClean="0">
                    <a:solidFill>
                      <a:srgbClr val="000000"/>
                    </a:solidFill>
                    <a:latin typeface="Times New Roman" panose="02020603050405020304" pitchFamily="18" charset="0"/>
                    <a:cs typeface="Times New Roman" panose="02020603050405020304" pitchFamily="18" charset="0"/>
                  </a:rPr>
                  <a:t>A</a:t>
                </a:r>
                <a:r>
                  <a:rPr lang="en-US" sz="2800" b="1" baseline="-25000" dirty="0" smtClean="0">
                    <a:solidFill>
                      <a:srgbClr val="000000"/>
                    </a:solidFill>
                    <a:latin typeface="Times New Roman" panose="02020603050405020304" pitchFamily="18" charset="0"/>
                    <a:cs typeface="Times New Roman" panose="02020603050405020304" pitchFamily="18" charset="0"/>
                  </a:rPr>
                  <a:t>3</a:t>
                </a:r>
                <a:r>
                  <a:rPr sz="2800" b="1" dirty="0" smtClean="0">
                    <a:solidFill>
                      <a:srgbClr val="000000"/>
                    </a:solidFill>
                    <a:latin typeface="Times New Roman" panose="02020603050405020304" pitchFamily="18" charset="0"/>
                    <a:cs typeface="Times New Roman" panose="02020603050405020304" pitchFamily="18" charset="0"/>
                  </a:rPr>
                  <a:t>: </a:t>
                </a:r>
                <a:r>
                  <a:rPr sz="2800" b="1" dirty="0">
                    <a:solidFill>
                      <a:srgbClr val="000000"/>
                    </a:solidFill>
                    <a:latin typeface="Times New Roman" panose="02020603050405020304" pitchFamily="18" charset="0"/>
                    <a:cs typeface="Times New Roman" panose="02020603050405020304" pitchFamily="18" charset="0"/>
                  </a:rPr>
                  <a:t>5</a:t>
                </a:r>
                <a:r>
                  <a:rPr lang="en-US" altLang="zh-CN" sz="2800" spc="16" dirty="0" smtClean="0">
                    <a:solidFill>
                      <a:srgbClr val="0000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sz="2800" i="1" spc="16" dirty="0" smtClean="0">
                        <a:solidFill>
                          <a:srgbClr val="000000"/>
                        </a:solidFill>
                        <a:latin typeface="Cambria Math" panose="02040503050406030204" pitchFamily="18" charset="0"/>
                        <a:ea typeface="Cambria Math" panose="02040503050406030204" pitchFamily="18" charset="0"/>
                        <a:cs typeface="EUADHU+Symbol"/>
                      </a:rPr>
                      <m:t>× </m:t>
                    </m:r>
                  </m:oMath>
                </a14:m>
                <a:r>
                  <a:rPr sz="2800" b="1" dirty="0">
                    <a:solidFill>
                      <a:srgbClr val="000000"/>
                    </a:solidFill>
                    <a:latin typeface="Times New Roman" panose="02020603050405020304" pitchFamily="18" charset="0"/>
                    <a:cs typeface="Times New Roman" panose="02020603050405020304" pitchFamily="18" charset="0"/>
                  </a:rPr>
                  <a:t>50,</a:t>
                </a:r>
              </a:p>
            </p:txBody>
          </p:sp>
        </mc:Choice>
        <mc:Fallback xmlns="">
          <p:sp>
            <p:nvSpPr>
              <p:cNvPr id="5" name="object 5"/>
              <p:cNvSpPr txBox="1">
                <a:spLocks noRot="1" noChangeAspect="1" noMove="1" noResize="1" noEditPoints="1" noAdjustHandles="1" noChangeArrowheads="1" noChangeShapeType="1" noTextEdit="1"/>
              </p:cNvSpPr>
              <p:nvPr/>
            </p:nvSpPr>
            <p:spPr>
              <a:xfrm>
                <a:off x="689101" y="1671060"/>
                <a:ext cx="8306637" cy="397545"/>
              </a:xfrm>
              <a:prstGeom prst="rect">
                <a:avLst/>
              </a:prstGeom>
              <a:blipFill>
                <a:blip r:embed="rId2"/>
                <a:stretch>
                  <a:fillRect l="-2568" t="-35385" b="-55385"/>
                </a:stretch>
              </a:blipFill>
            </p:spPr>
            <p:txBody>
              <a:bodyPr/>
              <a:lstStyle/>
              <a:p>
                <a:r>
                  <a:rPr lang="zh-CN" altLang="en-US">
                    <a:noFill/>
                  </a:rPr>
                  <a:t> </a:t>
                </a:r>
              </a:p>
            </p:txBody>
          </p:sp>
        </mc:Fallback>
      </mc:AlternateContent>
      <p:sp>
        <p:nvSpPr>
          <p:cNvPr id="9" name="object 9"/>
          <p:cNvSpPr txBox="1"/>
          <p:nvPr/>
        </p:nvSpPr>
        <p:spPr>
          <a:xfrm>
            <a:off x="421211" y="2839993"/>
            <a:ext cx="8775341"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smtClean="0">
                <a:solidFill>
                  <a:srgbClr val="000000"/>
                </a:solidFill>
                <a:latin typeface="黑体" panose="02010609060101010101" pitchFamily="49" charset="-122"/>
                <a:ea typeface="黑体" panose="02010609060101010101" pitchFamily="49" charset="-122"/>
                <a:cs typeface="QHRRPW+ËÎÌå"/>
              </a:rPr>
              <a:t>乘法次序</a:t>
            </a:r>
            <a:endParaRPr sz="2551" b="1" spc="12" dirty="0">
              <a:solidFill>
                <a:srgbClr val="000000"/>
              </a:solidFill>
              <a:latin typeface="黑体" panose="02010609060101010101" pitchFamily="49" charset="-122"/>
              <a:ea typeface="黑体" panose="02010609060101010101" pitchFamily="49" charset="-122"/>
              <a:cs typeface="QHRRPW+ËÎÌå"/>
            </a:endParaRPr>
          </a:p>
        </p:txBody>
      </p:sp>
      <p:sp>
        <p:nvSpPr>
          <p:cNvPr id="15" name="object 15"/>
          <p:cNvSpPr txBox="1"/>
          <p:nvPr/>
        </p:nvSpPr>
        <p:spPr>
          <a:xfrm>
            <a:off x="421210" y="4938990"/>
            <a:ext cx="8701767" cy="359073"/>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QHRRPW+ËÎÌå"/>
              </a:rPr>
              <a:t>第一种次序计算次数最少</a:t>
            </a:r>
            <a:r>
              <a:rPr sz="2800" b="1" dirty="0">
                <a:solidFill>
                  <a:srgbClr val="000000"/>
                </a:solidFill>
                <a:latin typeface="黑体" panose="02010609060101010101" pitchFamily="49" charset="-122"/>
                <a:ea typeface="黑体" panose="02010609060101010101" pitchFamily="49" charset="-122"/>
                <a:cs typeface="LNFIGF+Times New Roman,Bold"/>
              </a:rPr>
              <a:t>.</a:t>
            </a:r>
          </a:p>
        </p:txBody>
      </p:sp>
      <p:pic>
        <p:nvPicPr>
          <p:cNvPr id="2" name="图片 1"/>
          <p:cNvPicPr>
            <a:picLocks noChangeAspect="1"/>
          </p:cNvPicPr>
          <p:nvPr/>
        </p:nvPicPr>
        <p:blipFill rotWithShape="1">
          <a:blip r:embed="rId3"/>
          <a:srcRect b="46676"/>
          <a:stretch/>
        </p:blipFill>
        <p:spPr>
          <a:xfrm>
            <a:off x="1364831" y="3321991"/>
            <a:ext cx="6034452" cy="608878"/>
          </a:xfrm>
          <a:prstGeom prst="rect">
            <a:avLst/>
          </a:prstGeom>
        </p:spPr>
      </p:pic>
      <p:pic>
        <p:nvPicPr>
          <p:cNvPr id="8" name="图片 7"/>
          <p:cNvPicPr>
            <a:picLocks noChangeAspect="1"/>
          </p:cNvPicPr>
          <p:nvPr/>
        </p:nvPicPr>
        <p:blipFill rotWithShape="1">
          <a:blip r:embed="rId3"/>
          <a:srcRect t="59151"/>
          <a:stretch/>
        </p:blipFill>
        <p:spPr>
          <a:xfrm>
            <a:off x="1364831" y="4166369"/>
            <a:ext cx="6034452" cy="466432"/>
          </a:xfrm>
          <a:prstGeom prst="rect">
            <a:avLst/>
          </a:prstGeom>
        </p:spPr>
      </p:pic>
    </p:spTree>
    <p:extLst>
      <p:ext uri="{BB962C8B-B14F-4D97-AF65-F5344CB8AC3E}">
        <p14:creationId xmlns:p14="http://schemas.microsoft.com/office/powerpoint/2010/main" val="5661551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28820" y="199246"/>
            <a:ext cx="855181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QHRRPW+ËÎÌå"/>
              </a:rPr>
              <a:t>蛮力算法</a:t>
            </a:r>
            <a:endParaRPr sz="4000" b="1" dirty="0">
              <a:solidFill>
                <a:srgbClr val="C00000"/>
              </a:solidFill>
              <a:latin typeface="黑体" panose="02010609060101010101" pitchFamily="49" charset="-122"/>
              <a:ea typeface="黑体" panose="02010609060101010101" pitchFamily="49" charset="-122"/>
              <a:cs typeface="QHRRPW+ËÎÌå"/>
            </a:endParaRPr>
          </a:p>
        </p:txBody>
      </p:sp>
      <p:sp>
        <p:nvSpPr>
          <p:cNvPr id="6" name="object 6"/>
          <p:cNvSpPr txBox="1"/>
          <p:nvPr/>
        </p:nvSpPr>
        <p:spPr>
          <a:xfrm>
            <a:off x="3860717" y="1577534"/>
            <a:ext cx="930305" cy="423193"/>
          </a:xfrm>
          <a:prstGeom prst="rect">
            <a:avLst/>
          </a:prstGeom>
        </p:spPr>
        <p:txBody>
          <a:bodyPr vert="horz" wrap="square" lIns="0" tIns="0" rIns="0" bIns="0" rtlCol="0">
            <a:spAutoFit/>
          </a:bodyPr>
          <a:lstStyle/>
          <a:p>
            <a:pPr>
              <a:lnSpc>
                <a:spcPts val="2493"/>
              </a:lnSpc>
              <a:spcBef>
                <a:spcPct val="0"/>
              </a:spcBef>
              <a:spcAft>
                <a:spcPct val="0"/>
              </a:spcAft>
            </a:pPr>
            <a:r>
              <a:rPr sz="2020">
                <a:solidFill>
                  <a:srgbClr val="000000"/>
                </a:solidFill>
                <a:latin typeface="EUADHU+Symbol"/>
                <a:cs typeface="EUADHU+Symbol"/>
              </a:rPr>
              <a:t></a:t>
            </a:r>
            <a:r>
              <a:rPr sz="2020" spc="2237">
                <a:solidFill>
                  <a:srgbClr val="000000"/>
                </a:solidFill>
                <a:latin typeface="Times New Roman"/>
                <a:cs typeface="Times New Roman"/>
              </a:rPr>
              <a:t> </a:t>
            </a:r>
            <a:r>
              <a:rPr sz="2020">
                <a:solidFill>
                  <a:srgbClr val="000000"/>
                </a:solidFill>
                <a:latin typeface="EUADHU+Symbol"/>
                <a:cs typeface="EUADHU+Symbol"/>
              </a:rPr>
              <a:t></a:t>
            </a:r>
          </a:p>
          <a:p>
            <a:pPr>
              <a:lnSpc>
                <a:spcPts val="826"/>
              </a:lnSpc>
              <a:spcBef>
                <a:spcPct val="0"/>
              </a:spcBef>
              <a:spcAft>
                <a:spcPct val="0"/>
              </a:spcAft>
            </a:pPr>
            <a:r>
              <a:rPr sz="2020">
                <a:solidFill>
                  <a:srgbClr val="000000"/>
                </a:solidFill>
                <a:latin typeface="EUADHU+Symbol"/>
                <a:cs typeface="EUADHU+Symbol"/>
              </a:rPr>
              <a:t></a:t>
            </a:r>
            <a:r>
              <a:rPr sz="2020" spc="2237">
                <a:solidFill>
                  <a:srgbClr val="000000"/>
                </a:solidFill>
                <a:latin typeface="Times New Roman"/>
                <a:cs typeface="Times New Roman"/>
              </a:rPr>
              <a:t> </a:t>
            </a:r>
            <a:r>
              <a:rPr sz="2020">
                <a:solidFill>
                  <a:srgbClr val="000000"/>
                </a:solidFill>
                <a:latin typeface="EUADHU+Symbol"/>
                <a:cs typeface="EUADHU+Symbol"/>
              </a:rPr>
              <a:t></a:t>
            </a:r>
          </a:p>
        </p:txBody>
      </p:sp>
      <mc:AlternateContent xmlns:mc="http://schemas.openxmlformats.org/markup-compatibility/2006" xmlns:a14="http://schemas.microsoft.com/office/drawing/2010/main">
        <mc:Choice Requires="a14">
          <p:sp>
            <p:nvSpPr>
              <p:cNvPr id="7" name="object 7"/>
              <p:cNvSpPr txBox="1"/>
              <p:nvPr/>
            </p:nvSpPr>
            <p:spPr>
              <a:xfrm>
                <a:off x="387037" y="1133670"/>
                <a:ext cx="8803791" cy="1149289"/>
              </a:xfrm>
              <a:prstGeom prst="rect">
                <a:avLst/>
              </a:prstGeom>
            </p:spPr>
            <p:txBody>
              <a:bodyPr vert="horz" wrap="square" lIns="0" tIns="0" rIns="0" bIns="0" rtlCol="0">
                <a:spAutoFit/>
              </a:bodyPr>
              <a:lstStyle/>
              <a:p>
                <a:pPr algn="just">
                  <a:spcBef>
                    <a:spcPct val="0"/>
                  </a:spcBef>
                  <a:spcAft>
                    <a:spcPct val="0"/>
                  </a:spcAft>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加</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个括号的方法有</a:t>
                </a:r>
                <a14:m>
                  <m:oMath xmlns:m="http://schemas.openxmlformats.org/officeDocument/2006/math">
                    <m:f>
                      <m:fPr>
                        <m:ctrlPr>
                          <a:rPr lang="zh-CN" altLang="en-US" sz="2800" b="1" i="1" spc="12" smtClean="0">
                            <a:solidFill>
                              <a:srgbClr val="000000"/>
                            </a:solidFill>
                            <a:latin typeface="Cambria Math"/>
                          </a:rPr>
                        </m:ctrlPr>
                      </m:fPr>
                      <m:num>
                        <m:r>
                          <a:rPr lang="en-US" altLang="zh-CN" sz="2800" b="1" i="1" spc="12" smtClean="0">
                            <a:solidFill>
                              <a:srgbClr val="000000"/>
                            </a:solidFill>
                            <a:latin typeface="Cambria Math" panose="02040503050406030204" pitchFamily="18" charset="0"/>
                          </a:rPr>
                          <m:t>𝟏</m:t>
                        </m:r>
                      </m:num>
                      <m:den>
                        <m:r>
                          <a:rPr lang="zh-CN" altLang="en-US" sz="2800" b="1" i="1" spc="12" smtClean="0">
                            <a:solidFill>
                              <a:srgbClr val="000000"/>
                            </a:solidFill>
                            <a:latin typeface="Cambria Math" panose="02040503050406030204" pitchFamily="18" charset="0"/>
                          </a:rPr>
                          <m:t>𝒏</m:t>
                        </m:r>
                        <m:r>
                          <a:rPr lang="en-US" altLang="zh-CN" sz="2800" b="1" i="1" spc="12" smtClean="0">
                            <a:solidFill>
                              <a:srgbClr val="000000"/>
                            </a:solidFill>
                            <a:latin typeface="Cambria Math" panose="02040503050406030204" pitchFamily="18" charset="0"/>
                          </a:rPr>
                          <m:t>+</m:t>
                        </m:r>
                        <m:r>
                          <a:rPr lang="en-US" altLang="zh-CN" sz="2800" b="1" i="1" spc="12" smtClean="0">
                            <a:solidFill>
                              <a:srgbClr val="000000"/>
                            </a:solidFill>
                            <a:latin typeface="Cambria Math" panose="02040503050406030204" pitchFamily="18" charset="0"/>
                          </a:rPr>
                          <m:t>𝟏</m:t>
                        </m:r>
                      </m:den>
                    </m:f>
                    <m:d>
                      <m:dPr>
                        <m:ctrlPr>
                          <a:rPr lang="en-US" altLang="zh-CN" sz="2800" b="1" i="1" spc="12" smtClean="0">
                            <a:solidFill>
                              <a:srgbClr val="000000"/>
                            </a:solidFill>
                            <a:latin typeface="Cambria Math"/>
                          </a:rPr>
                        </m:ctrlPr>
                      </m:dPr>
                      <m:e>
                        <m:eqArr>
                          <m:eqArrPr>
                            <m:ctrlPr>
                              <a:rPr lang="en-US" altLang="zh-CN" sz="2800" b="1" i="1" spc="12" smtClean="0">
                                <a:solidFill>
                                  <a:srgbClr val="000000"/>
                                </a:solidFill>
                                <a:latin typeface="Cambria Math"/>
                              </a:rPr>
                            </m:ctrlPr>
                          </m:eqArrPr>
                          <m:e>
                            <m:r>
                              <a:rPr lang="en-US" altLang="zh-CN" sz="2800" b="1" i="1" spc="12" smtClean="0">
                                <a:solidFill>
                                  <a:srgbClr val="000000"/>
                                </a:solidFill>
                                <a:latin typeface="Cambria Math" panose="02040503050406030204" pitchFamily="18" charset="0"/>
                              </a:rPr>
                              <m:t>𝟐</m:t>
                            </m:r>
                            <m:r>
                              <a:rPr lang="en-US" altLang="zh-CN" sz="2800" b="1" i="1" spc="12" smtClean="0">
                                <a:solidFill>
                                  <a:srgbClr val="000000"/>
                                </a:solidFill>
                                <a:latin typeface="Cambria Math" panose="02040503050406030204" pitchFamily="18" charset="0"/>
                              </a:rPr>
                              <m:t>𝒏</m:t>
                            </m:r>
                          </m:e>
                          <m:e>
                            <m:r>
                              <a:rPr lang="en-US" altLang="zh-CN" sz="2800" b="1" i="1" spc="12" smtClean="0">
                                <a:solidFill>
                                  <a:srgbClr val="000000"/>
                                </a:solidFill>
                                <a:latin typeface="Cambria Math" panose="02040503050406030204" pitchFamily="18" charset="0"/>
                              </a:rPr>
                              <m:t>𝒏</m:t>
                            </m:r>
                          </m:e>
                        </m:eqArr>
                      </m:e>
                    </m:d>
                  </m:oMath>
                </a14:m>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a:t>
                </a:r>
                <a:r>
                  <a:rPr lang="zh-CN" alt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一个</a:t>
                </a:r>
                <a:r>
                  <a:rPr lang="en-US" altLang="zh-CN"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Catalan</a:t>
                </a:r>
                <a:r>
                  <a:rPr lang="zh-CN" altLang="en-US"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数，是指数级别</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object 7"/>
              <p:cNvSpPr txBox="1">
                <a:spLocks noRot="1" noChangeAspect="1" noMove="1" noResize="1" noEditPoints="1" noAdjustHandles="1" noChangeArrowheads="1" noChangeShapeType="1" noTextEdit="1"/>
              </p:cNvSpPr>
              <p:nvPr/>
            </p:nvSpPr>
            <p:spPr>
              <a:xfrm>
                <a:off x="387037" y="1133670"/>
                <a:ext cx="8803791" cy="1149289"/>
              </a:xfrm>
              <a:prstGeom prst="rect">
                <a:avLst/>
              </a:prstGeom>
              <a:blipFill>
                <a:blip r:embed="rId2"/>
                <a:stretch>
                  <a:fillRect l="-2422" r="-2422" b="-15873"/>
                </a:stretch>
              </a:blipFill>
            </p:spPr>
            <p:txBody>
              <a:bodyPr/>
              <a:lstStyle/>
              <a:p>
                <a:r>
                  <a:rPr lang="zh-CN" altLang="en-US">
                    <a:noFill/>
                  </a:rPr>
                  <a:t> </a:t>
                </a:r>
              </a:p>
            </p:txBody>
          </p:sp>
        </mc:Fallback>
      </mc:AlternateContent>
      <p:pic>
        <p:nvPicPr>
          <p:cNvPr id="2" name="图片 1"/>
          <p:cNvPicPr>
            <a:picLocks noChangeAspect="1"/>
          </p:cNvPicPr>
          <p:nvPr/>
        </p:nvPicPr>
        <p:blipFill>
          <a:blip r:embed="rId3"/>
          <a:stretch>
            <a:fillRect/>
          </a:stretch>
        </p:blipFill>
        <p:spPr>
          <a:xfrm>
            <a:off x="1451446" y="2594691"/>
            <a:ext cx="6679151" cy="2989491"/>
          </a:xfrm>
          <a:prstGeom prst="rect">
            <a:avLst/>
          </a:prstGeom>
        </p:spPr>
      </p:pic>
    </p:spTree>
    <p:extLst>
      <p:ext uri="{BB962C8B-B14F-4D97-AF65-F5344CB8AC3E}">
        <p14:creationId xmlns:p14="http://schemas.microsoft.com/office/powerpoint/2010/main" val="15872019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662597" y="201453"/>
            <a:ext cx="858650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QHRRPW+ËÎÌå"/>
              </a:rPr>
              <a:t>动态规划算法</a:t>
            </a:r>
            <a:endParaRPr sz="4000" b="1" spc="11" dirty="0">
              <a:solidFill>
                <a:srgbClr val="C00000"/>
              </a:solidFill>
              <a:latin typeface="黑体" panose="02010609060101010101" pitchFamily="49" charset="-122"/>
              <a:ea typeface="黑体" panose="02010609060101010101" pitchFamily="49" charset="-122"/>
              <a:cs typeface="QHRRPW+ËÎÌå"/>
            </a:endParaRPr>
          </a:p>
        </p:txBody>
      </p:sp>
      <mc:AlternateContent xmlns:mc="http://schemas.openxmlformats.org/markup-compatibility/2006" xmlns:a14="http://schemas.microsoft.com/office/drawing/2010/main">
        <mc:Choice Requires="a14">
          <p:sp>
            <p:nvSpPr>
              <p:cNvPr id="4" name="object 4"/>
              <p:cNvSpPr txBox="1"/>
              <p:nvPr/>
            </p:nvSpPr>
            <p:spPr>
              <a:xfrm>
                <a:off x="259208" y="1360994"/>
                <a:ext cx="8758668" cy="1325363"/>
              </a:xfrm>
              <a:prstGeom prst="rect">
                <a:avLst/>
              </a:prstGeom>
            </p:spPr>
            <p:txBody>
              <a:bodyPr vert="horz" wrap="square" lIns="0" tIns="0" rIns="0" bIns="0" rtlCol="0">
                <a:spAutoFit/>
              </a:bodyPr>
              <a:lstStyle/>
              <a:p>
                <a:pPr>
                  <a:lnSpc>
                    <a:spcPts val="2852"/>
                  </a:lnSpc>
                  <a:spcBef>
                    <a:spcPct val="0"/>
                  </a:spcBef>
                  <a:spcAft>
                    <a:spcPct val="0"/>
                  </a:spcAft>
                </a:pPr>
                <a:r>
                  <a:rPr lang="en-US" altLang="zh-CN" sz="2800" b="1" dirty="0" smtClean="0">
                    <a:solidFill>
                      <a:srgbClr val="C00000"/>
                    </a:solidFill>
                    <a:latin typeface="黑体" pitchFamily="49" charset="-122"/>
                    <a:ea typeface="黑体" pitchFamily="49" charset="-122"/>
                    <a:cs typeface="MNNRMW+Arial"/>
                  </a:rPr>
                  <a:t>•</a:t>
                </a:r>
                <a:r>
                  <a:rPr lang="zh-CN" altLang="en-US" sz="2800" b="1" spc="1339" dirty="0">
                    <a:solidFill>
                      <a:srgbClr val="C00000"/>
                    </a:solidFill>
                    <a:latin typeface="黑体" pitchFamily="49" charset="-122"/>
                    <a:ea typeface="黑体" pitchFamily="49" charset="-122"/>
                    <a:cs typeface="Times New Roman"/>
                  </a:rPr>
                  <a:t> </a:t>
                </a:r>
                <a:r>
                  <a:rPr lang="zh-CN" altLang="en-US" sz="2800" b="1" spc="12" dirty="0" err="1">
                    <a:solidFill>
                      <a:srgbClr val="C00000"/>
                    </a:solidFill>
                    <a:latin typeface="黑体" pitchFamily="49" charset="-122"/>
                    <a:ea typeface="黑体" pitchFamily="49" charset="-122"/>
                    <a:cs typeface="QHRRPW+ËÎÌå"/>
                  </a:rPr>
                  <a:t>子问题划分</a:t>
                </a:r>
                <a:endParaRPr lang="zh-CN" altLang="en-US" sz="2800" b="1" spc="12" dirty="0">
                  <a:solidFill>
                    <a:srgbClr val="C00000"/>
                  </a:solidFill>
                  <a:latin typeface="黑体" pitchFamily="49" charset="-122"/>
                  <a:ea typeface="黑体" pitchFamily="49" charset="-122"/>
                  <a:cs typeface="QHRRPW+ËÎÌå"/>
                </a:endParaRPr>
              </a:p>
              <a:p>
                <a:pPr marL="432543" algn="just">
                  <a:spcAft>
                    <a:spcPct val="0"/>
                  </a:spcAft>
                </a:pPr>
                <a14:m>
                  <m:oMath xmlns:m="http://schemas.openxmlformats.org/officeDocument/2006/math">
                    <m:sSub>
                      <m:sSubPr>
                        <m:ctrlPr>
                          <a:rPr lang="ar-AE" altLang="zh-CN" sz="2800" b="1" i="1" spc="12" smtClean="0">
                            <a:solidFill>
                              <a:srgbClr val="000000"/>
                            </a:solidFill>
                            <a:latin typeface="Cambria Math"/>
                          </a:rPr>
                        </m:ctrlPr>
                      </m:sSubPr>
                      <m:e>
                        <m:r>
                          <a:rPr lang="zh-CN" altLang="ar-AE" sz="2800" b="1" i="1" spc="12" smtClean="0">
                            <a:solidFill>
                              <a:srgbClr val="000000"/>
                            </a:solidFill>
                            <a:latin typeface="Cambria Math" panose="02040503050406030204" pitchFamily="18" charset="0"/>
                          </a:rPr>
                          <m:t>𝑨</m:t>
                        </m:r>
                      </m:e>
                      <m:sub>
                        <m:r>
                          <a:rPr lang="en-US" altLang="zh-CN" sz="2800" b="1" i="1" spc="12" smtClean="0">
                            <a:solidFill>
                              <a:srgbClr val="000000"/>
                            </a:solidFill>
                            <a:latin typeface="Cambria Math" panose="02040503050406030204" pitchFamily="18" charset="0"/>
                          </a:rPr>
                          <m:t>𝒊</m:t>
                        </m:r>
                        <m:r>
                          <a:rPr lang="en-US" altLang="zh-CN" sz="2800" b="1" i="1" spc="12" smtClean="0">
                            <a:solidFill>
                              <a:srgbClr val="000000"/>
                            </a:solidFill>
                            <a:latin typeface="Cambria Math" panose="02040503050406030204" pitchFamily="18" charset="0"/>
                            <a:ea typeface="Cambria Math" panose="02040503050406030204" pitchFamily="18" charset="0"/>
                          </a:rPr>
                          <m:t>⋯</m:t>
                        </m:r>
                        <m:r>
                          <a:rPr lang="en-US" altLang="zh-CN" sz="2800" b="1" i="1" spc="12" smtClean="0">
                            <a:solidFill>
                              <a:srgbClr val="000000"/>
                            </a:solidFill>
                            <a:latin typeface="Cambria Math" panose="02040503050406030204" pitchFamily="18" charset="0"/>
                            <a:ea typeface="Cambria Math" panose="02040503050406030204" pitchFamily="18" charset="0"/>
                          </a:rPr>
                          <m:t>𝒋</m:t>
                        </m:r>
                      </m:sub>
                    </m:sSub>
                  </m:oMath>
                </a14:m>
                <a:r>
                  <a:rPr lang="ar-AE" sz="2800" b="1" spc="12" dirty="0" smtClean="0">
                    <a:solidFill>
                      <a:srgbClr val="000000"/>
                    </a:solidFill>
                    <a:latin typeface="黑体" panose="02010609060101010101" pitchFamily="49" charset="-122"/>
                    <a:ea typeface="黑体" panose="02010609060101010101" pitchFamily="49" charset="-122"/>
                    <a:cs typeface="QHRRPW+ËÎÌå"/>
                  </a:rPr>
                  <a:t>：</a:t>
                </a:r>
                <a:r>
                  <a:rPr lang="zh-CN" altLang="en-US" sz="2800" b="1" spc="12" dirty="0" err="1">
                    <a:solidFill>
                      <a:srgbClr val="000000"/>
                    </a:solidFill>
                    <a:latin typeface="黑体" panose="02010609060101010101" pitchFamily="49" charset="-122"/>
                    <a:ea typeface="黑体" panose="02010609060101010101" pitchFamily="49" charset="-122"/>
                    <a:cs typeface="QHRRPW+ËÎÌå"/>
                  </a:rPr>
                  <a:t>矩阵链</a:t>
                </a:r>
                <a:r>
                  <a:rPr lang="zh-CN" altLang="en-US" sz="2800" b="1" spc="-64" dirty="0">
                    <a:solidFill>
                      <a:srgbClr val="000000"/>
                    </a:solidFill>
                    <a:latin typeface="黑体" panose="02010609060101010101" pitchFamily="49" charset="-122"/>
                    <a:ea typeface="黑体" panose="02010609060101010101" pitchFamily="49" charset="-122"/>
                    <a:cs typeface="Times New Roman"/>
                  </a:rPr>
                  <a:t> </a:t>
                </a:r>
                <a14:m>
                  <m:oMath xmlns:m="http://schemas.openxmlformats.org/officeDocument/2006/math">
                    <m:sSub>
                      <m:sSubPr>
                        <m:ctrlPr>
                          <a:rPr lang="en-US" altLang="zh-CN" sz="2800" b="1" i="1" dirty="0" smtClean="0">
                            <a:solidFill>
                              <a:srgbClr val="000000"/>
                            </a:solidFill>
                            <a:latin typeface="Cambria Math"/>
                          </a:rPr>
                        </m:ctrlPr>
                      </m:sSubPr>
                      <m:e>
                        <m:r>
                          <a:rPr lang="en-US" altLang="zh-CN" sz="2800" b="1" i="1" dirty="0" smtClean="0">
                            <a:solidFill>
                              <a:srgbClr val="000000"/>
                            </a:solidFill>
                            <a:latin typeface="Cambria Math" panose="02040503050406030204" pitchFamily="18" charset="0"/>
                          </a:rPr>
                          <m:t>𝑨</m:t>
                        </m:r>
                      </m:e>
                      <m:sub>
                        <m:r>
                          <a:rPr lang="en-US" altLang="zh-CN" sz="2800" b="1" i="1" dirty="0" smtClean="0">
                            <a:solidFill>
                              <a:srgbClr val="000000"/>
                            </a:solidFill>
                            <a:latin typeface="Cambria Math" panose="02040503050406030204" pitchFamily="18" charset="0"/>
                          </a:rPr>
                          <m:t>𝒊</m:t>
                        </m:r>
                      </m:sub>
                    </m:sSub>
                    <m:sSub>
                      <m:sSubPr>
                        <m:ctrlPr>
                          <a:rPr lang="en-US" altLang="zh-CN" sz="2800" b="1" i="1" dirty="0" smtClean="0">
                            <a:solidFill>
                              <a:srgbClr val="000000"/>
                            </a:solidFill>
                            <a:latin typeface="Cambria Math"/>
                          </a:rPr>
                        </m:ctrlPr>
                      </m:sSubPr>
                      <m:e>
                        <m:r>
                          <a:rPr lang="en-US" altLang="zh-CN" sz="2800" b="1" i="1" dirty="0" smtClean="0">
                            <a:solidFill>
                              <a:srgbClr val="000000"/>
                            </a:solidFill>
                            <a:latin typeface="Cambria Math" panose="02040503050406030204" pitchFamily="18" charset="0"/>
                          </a:rPr>
                          <m:t>𝑨</m:t>
                        </m:r>
                      </m:e>
                      <m:sub>
                        <m:r>
                          <a:rPr lang="en-US" altLang="zh-CN" sz="2800" b="1" i="1" dirty="0" smtClean="0">
                            <a:solidFill>
                              <a:srgbClr val="000000"/>
                            </a:solidFill>
                            <a:latin typeface="Cambria Math" panose="02040503050406030204" pitchFamily="18" charset="0"/>
                          </a:rPr>
                          <m:t>𝒊</m:t>
                        </m:r>
                        <m:r>
                          <a:rPr lang="en-US" altLang="zh-CN" sz="2800" b="1"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𝟏</m:t>
                        </m:r>
                      </m:sub>
                    </m:sSub>
                    <m:r>
                      <a:rPr lang="en-US" altLang="zh-CN" sz="2800" b="1" i="1" dirty="0" smtClean="0">
                        <a:solidFill>
                          <a:srgbClr val="000000"/>
                        </a:solidFill>
                        <a:latin typeface="Cambria Math" panose="02040503050406030204" pitchFamily="18" charset="0"/>
                        <a:ea typeface="Cambria Math" panose="02040503050406030204" pitchFamily="18" charset="0"/>
                      </a:rPr>
                      <m:t>⋯</m:t>
                    </m:r>
                    <m:sSub>
                      <m:sSubPr>
                        <m:ctrlPr>
                          <a:rPr lang="en-US" altLang="zh-CN" sz="2800" b="1" i="1" dirty="0" smtClean="0">
                            <a:solidFill>
                              <a:srgbClr val="000000"/>
                            </a:solidFill>
                            <a:latin typeface="Cambria Math"/>
                          </a:rPr>
                        </m:ctrlPr>
                      </m:sSubPr>
                      <m:e>
                        <m:r>
                          <a:rPr lang="en-US" altLang="zh-CN" sz="2800" b="1" i="1" dirty="0" smtClean="0">
                            <a:solidFill>
                              <a:srgbClr val="000000"/>
                            </a:solidFill>
                            <a:latin typeface="Cambria Math" panose="02040503050406030204" pitchFamily="18" charset="0"/>
                          </a:rPr>
                          <m:t>𝑨</m:t>
                        </m:r>
                      </m:e>
                      <m:sub>
                        <m:r>
                          <a:rPr lang="en-US" altLang="zh-CN" sz="2800" b="1" i="1" dirty="0" smtClean="0">
                            <a:solidFill>
                              <a:srgbClr val="000000"/>
                            </a:solidFill>
                            <a:latin typeface="Cambria Math" panose="02040503050406030204" pitchFamily="18" charset="0"/>
                          </a:rPr>
                          <m:t>𝒋</m:t>
                        </m:r>
                      </m:sub>
                    </m:sSub>
                  </m:oMath>
                </a14:m>
                <a:r>
                  <a:rPr lang="en-US" sz="2800" b="1" i="1" dirty="0" smtClean="0">
                    <a:solidFill>
                      <a:srgbClr val="000000"/>
                    </a:solidFill>
                    <a:latin typeface="黑体" panose="02010609060101010101" pitchFamily="49" charset="-122"/>
                    <a:ea typeface="黑体" panose="02010609060101010101" pitchFamily="49" charset="-122"/>
                    <a:cs typeface="BEKLMR+Times New Roman,BoldItalic"/>
                  </a:rPr>
                  <a:t>,</a:t>
                </a:r>
                <a:r>
                  <a:rPr lang="zh-CN" altLang="en-US" sz="2800" b="1" spc="13" dirty="0" smtClean="0">
                    <a:solidFill>
                      <a:srgbClr val="000000"/>
                    </a:solidFill>
                    <a:latin typeface="黑体" panose="02010609060101010101" pitchFamily="49" charset="-122"/>
                    <a:ea typeface="黑体" panose="02010609060101010101" pitchFamily="49" charset="-122"/>
                    <a:cs typeface="QHRRPW+ËÎÌå"/>
                  </a:rPr>
                  <a:t>边界</a:t>
                </a:r>
                <a:r>
                  <a:rPr lang="en-US" sz="2800" b="1" i="1" dirty="0" err="1">
                    <a:solidFill>
                      <a:srgbClr val="000000"/>
                    </a:solidFill>
                    <a:latin typeface="黑体" panose="02010609060101010101" pitchFamily="49" charset="-122"/>
                    <a:ea typeface="黑体" panose="02010609060101010101" pitchFamily="49" charset="-122"/>
                    <a:cs typeface="BEKLMR+Times New Roman,BoldItalic"/>
                  </a:rPr>
                  <a:t>i</a:t>
                </a:r>
                <a:r>
                  <a:rPr lang="en-US" sz="2800" b="1" i="1" dirty="0">
                    <a:solidFill>
                      <a:srgbClr val="000000"/>
                    </a:solidFill>
                    <a:latin typeface="黑体" panose="02010609060101010101" pitchFamily="49" charset="-122"/>
                    <a:ea typeface="黑体" panose="02010609060101010101" pitchFamily="49" charset="-122"/>
                    <a:cs typeface="BEKLMR+Times New Roman,BoldItalic"/>
                  </a:rPr>
                  <a:t>, </a:t>
                </a:r>
                <a:r>
                  <a:rPr lang="en-US" sz="2800" b="1" i="1" dirty="0" smtClean="0">
                    <a:solidFill>
                      <a:srgbClr val="000000"/>
                    </a:solidFill>
                    <a:latin typeface="黑体" panose="02010609060101010101" pitchFamily="49" charset="-122"/>
                    <a:ea typeface="黑体" panose="02010609060101010101" pitchFamily="49" charset="-122"/>
                    <a:cs typeface="BEKLMR+Times New Roman,BoldItalic"/>
                  </a:rPr>
                  <a:t>j</a:t>
                </a:r>
                <a:r>
                  <a:rPr lang="zh-CN" altLang="en-US" sz="2800" b="1" spc="12" dirty="0" smtClean="0">
                    <a:solidFill>
                      <a:srgbClr val="000000"/>
                    </a:solidFill>
                    <a:latin typeface="黑体" panose="02010609060101010101" pitchFamily="49" charset="-122"/>
                    <a:ea typeface="黑体" panose="02010609060101010101" pitchFamily="49" charset="-122"/>
                    <a:cs typeface="QHRRPW+ËÎÌå"/>
                  </a:rPr>
                  <a:t>输入向量：</a:t>
                </a:r>
                <a14:m>
                  <m:oMath xmlns:m="http://schemas.openxmlformats.org/officeDocument/2006/math">
                    <m:r>
                      <a:rPr lang="en-US" altLang="zh-CN" sz="2800" b="1" i="1" spc="12" smtClean="0">
                        <a:solidFill>
                          <a:srgbClr val="000000"/>
                        </a:solidFill>
                        <a:latin typeface="Cambria Math" panose="02040503050406030204" pitchFamily="18" charset="0"/>
                        <a:ea typeface="Cambria Math" panose="02040503050406030204" pitchFamily="18" charset="0"/>
                        <a:cs typeface="QHRRPW+ËÎÌå"/>
                      </a:rPr>
                      <m:t>&lt;</m:t>
                    </m:r>
                    <m:sSub>
                      <m:sSubPr>
                        <m:ctrlPr>
                          <a:rPr lang="en-US" altLang="zh-CN" sz="2800" b="1" i="1" spc="12" smtClean="0">
                            <a:solidFill>
                              <a:srgbClr val="000000"/>
                            </a:solidFill>
                            <a:latin typeface="Cambria Math"/>
                            <a:ea typeface="Cambria Math" panose="02040503050406030204" pitchFamily="18" charset="0"/>
                          </a:rPr>
                        </m:ctrlPr>
                      </m:sSubPr>
                      <m:e>
                        <m:r>
                          <a:rPr lang="en-US" altLang="zh-CN" sz="2800" b="1" i="1" spc="12" smtClean="0">
                            <a:solidFill>
                              <a:srgbClr val="000000"/>
                            </a:solidFill>
                            <a:latin typeface="Cambria Math" panose="02040503050406030204" pitchFamily="18" charset="0"/>
                            <a:ea typeface="Cambria Math" panose="02040503050406030204" pitchFamily="18" charset="0"/>
                          </a:rPr>
                          <m:t>𝑷</m:t>
                        </m:r>
                      </m:e>
                      <m:sub>
                        <m:r>
                          <a:rPr lang="en-US" altLang="zh-CN" sz="2800" b="1" i="1" spc="12" smtClean="0">
                            <a:solidFill>
                              <a:srgbClr val="000000"/>
                            </a:solidFill>
                            <a:latin typeface="Cambria Math" panose="02040503050406030204" pitchFamily="18" charset="0"/>
                            <a:ea typeface="Cambria Math" panose="02040503050406030204" pitchFamily="18" charset="0"/>
                          </a:rPr>
                          <m:t>𝒊</m:t>
                        </m:r>
                        <m:r>
                          <a:rPr lang="en-US" altLang="zh-CN" sz="2800" b="1" i="1" spc="12" smtClean="0">
                            <a:solidFill>
                              <a:srgbClr val="000000"/>
                            </a:solidFill>
                            <a:latin typeface="Cambria Math" panose="02040503050406030204" pitchFamily="18" charset="0"/>
                            <a:ea typeface="Cambria Math" panose="02040503050406030204" pitchFamily="18" charset="0"/>
                          </a:rPr>
                          <m:t>−</m:t>
                        </m:r>
                        <m:r>
                          <a:rPr lang="en-US" altLang="zh-CN" sz="2800" b="1" i="1" spc="12" smtClean="0">
                            <a:solidFill>
                              <a:srgbClr val="000000"/>
                            </a:solidFill>
                            <a:latin typeface="Cambria Math" panose="02040503050406030204" pitchFamily="18" charset="0"/>
                            <a:ea typeface="Cambria Math" panose="02040503050406030204" pitchFamily="18" charset="0"/>
                          </a:rPr>
                          <m:t>𝟏</m:t>
                        </m:r>
                      </m:sub>
                    </m:sSub>
                    <m:r>
                      <a:rPr lang="en-US" altLang="zh-CN" sz="2800" b="1" i="1" spc="12" smtClean="0">
                        <a:solidFill>
                          <a:srgbClr val="000000"/>
                        </a:solidFill>
                        <a:latin typeface="Cambria Math" panose="02040503050406030204" pitchFamily="18" charset="0"/>
                        <a:ea typeface="Cambria Math" panose="02040503050406030204" pitchFamily="18" charset="0"/>
                      </a:rPr>
                      <m:t>,</m:t>
                    </m:r>
                    <m:sSub>
                      <m:sSubPr>
                        <m:ctrlPr>
                          <a:rPr lang="en-US" altLang="zh-CN" sz="2800" b="1" i="1" spc="12" smtClean="0">
                            <a:solidFill>
                              <a:srgbClr val="000000"/>
                            </a:solidFill>
                            <a:latin typeface="Cambria Math"/>
                            <a:ea typeface="Cambria Math" panose="02040503050406030204" pitchFamily="18" charset="0"/>
                          </a:rPr>
                        </m:ctrlPr>
                      </m:sSubPr>
                      <m:e>
                        <m:r>
                          <a:rPr lang="en-US" altLang="zh-CN" sz="2800" b="1" i="1" spc="12" smtClean="0">
                            <a:solidFill>
                              <a:srgbClr val="000000"/>
                            </a:solidFill>
                            <a:latin typeface="Cambria Math" panose="02040503050406030204" pitchFamily="18" charset="0"/>
                            <a:ea typeface="Cambria Math" panose="02040503050406030204" pitchFamily="18" charset="0"/>
                          </a:rPr>
                          <m:t>𝑷</m:t>
                        </m:r>
                      </m:e>
                      <m:sub>
                        <m:r>
                          <a:rPr lang="en-US" altLang="zh-CN" sz="2800" b="1" i="1" spc="12" smtClean="0">
                            <a:solidFill>
                              <a:srgbClr val="000000"/>
                            </a:solidFill>
                            <a:latin typeface="Cambria Math" panose="02040503050406030204" pitchFamily="18" charset="0"/>
                            <a:ea typeface="Cambria Math" panose="02040503050406030204" pitchFamily="18" charset="0"/>
                          </a:rPr>
                          <m:t>𝒊</m:t>
                        </m:r>
                      </m:sub>
                    </m:sSub>
                    <m:r>
                      <a:rPr lang="en-US" altLang="zh-CN" sz="2800" b="1" i="1" spc="12" smtClean="0">
                        <a:solidFill>
                          <a:srgbClr val="000000"/>
                        </a:solidFill>
                        <a:latin typeface="Cambria Math" panose="02040503050406030204" pitchFamily="18" charset="0"/>
                        <a:ea typeface="Cambria Math" panose="02040503050406030204" pitchFamily="18" charset="0"/>
                      </a:rPr>
                      <m:t>,⋯,</m:t>
                    </m:r>
                    <m:sSub>
                      <m:sSubPr>
                        <m:ctrlPr>
                          <a:rPr lang="en-US" altLang="zh-CN" sz="2800" b="1" i="1" spc="12" smtClean="0">
                            <a:solidFill>
                              <a:srgbClr val="000000"/>
                            </a:solidFill>
                            <a:latin typeface="Cambria Math"/>
                            <a:ea typeface="Cambria Math" panose="02040503050406030204" pitchFamily="18" charset="0"/>
                          </a:rPr>
                        </m:ctrlPr>
                      </m:sSubPr>
                      <m:e>
                        <m:r>
                          <a:rPr lang="en-US" altLang="zh-CN" sz="2800" b="1" i="1" spc="12" smtClean="0">
                            <a:solidFill>
                              <a:srgbClr val="000000"/>
                            </a:solidFill>
                            <a:latin typeface="Cambria Math" panose="02040503050406030204" pitchFamily="18" charset="0"/>
                            <a:ea typeface="Cambria Math" panose="02040503050406030204" pitchFamily="18" charset="0"/>
                          </a:rPr>
                          <m:t>𝑷</m:t>
                        </m:r>
                      </m:e>
                      <m:sub>
                        <m:r>
                          <a:rPr lang="en-US" altLang="zh-CN" sz="2800" b="1" i="1" spc="12" smtClean="0">
                            <a:solidFill>
                              <a:srgbClr val="000000"/>
                            </a:solidFill>
                            <a:latin typeface="Cambria Math" panose="02040503050406030204" pitchFamily="18" charset="0"/>
                            <a:ea typeface="Cambria Math" panose="02040503050406030204" pitchFamily="18" charset="0"/>
                          </a:rPr>
                          <m:t>𝒋</m:t>
                        </m:r>
                      </m:sub>
                    </m:sSub>
                    <m:r>
                      <a:rPr lang="en-US" altLang="zh-CN" sz="2800" b="1" i="1" spc="12" smtClean="0">
                        <a:solidFill>
                          <a:srgbClr val="000000"/>
                        </a:solidFill>
                        <a:latin typeface="Cambria Math" panose="02040503050406030204" pitchFamily="18" charset="0"/>
                        <a:ea typeface="Cambria Math" panose="02040503050406030204" pitchFamily="18" charset="0"/>
                        <a:cs typeface="QHRRPW+ËÎÌå"/>
                      </a:rPr>
                      <m:t>&gt;,</m:t>
                    </m:r>
                    <m:r>
                      <m:rPr>
                        <m:nor/>
                      </m:rPr>
                      <a:rPr lang="zh-CN" altLang="en-US" sz="2800" b="1" spc="12" dirty="0" smtClean="0">
                        <a:solidFill>
                          <a:srgbClr val="000000"/>
                        </a:solidFill>
                        <a:latin typeface="黑体" panose="02010609060101010101" pitchFamily="49" charset="-122"/>
                        <a:ea typeface="黑体" panose="02010609060101010101" pitchFamily="49" charset="-122"/>
                        <a:cs typeface="QHRRPW+ËÎÌå"/>
                      </a:rPr>
                      <m:t>其最好划分的运算次数：</m:t>
                    </m:r>
                    <m:r>
                      <a:rPr lang="en-US" altLang="zh-CN" sz="2800" b="1" i="1" spc="12" dirty="0" smtClean="0">
                        <a:solidFill>
                          <a:srgbClr val="000000"/>
                        </a:solidFill>
                        <a:latin typeface="Cambria Math" panose="02040503050406030204" pitchFamily="18" charset="0"/>
                        <a:cs typeface="QHRRPW+ËÎÌå"/>
                      </a:rPr>
                      <m:t>𝒎</m:t>
                    </m:r>
                    <m:r>
                      <a:rPr lang="en-US" altLang="zh-CN" sz="2800" b="1" i="1" spc="12" dirty="0" smtClean="0">
                        <a:solidFill>
                          <a:srgbClr val="000000"/>
                        </a:solidFill>
                        <a:latin typeface="Cambria Math" panose="02040503050406030204" pitchFamily="18" charset="0"/>
                        <a:cs typeface="QHRRPW+ËÎÌå"/>
                      </a:rPr>
                      <m:t>[</m:t>
                    </m:r>
                    <m:r>
                      <a:rPr lang="en-US" altLang="zh-CN" sz="2800" b="1" i="1" spc="12" dirty="0" smtClean="0">
                        <a:solidFill>
                          <a:srgbClr val="000000"/>
                        </a:solidFill>
                        <a:latin typeface="Cambria Math" panose="02040503050406030204" pitchFamily="18" charset="0"/>
                        <a:cs typeface="QHRRPW+ËÎÌå"/>
                      </a:rPr>
                      <m:t>𝒊</m:t>
                    </m:r>
                    <m:r>
                      <a:rPr lang="en-US" altLang="zh-CN" sz="2800" b="1" i="1" spc="12" dirty="0" smtClean="0">
                        <a:solidFill>
                          <a:srgbClr val="000000"/>
                        </a:solidFill>
                        <a:latin typeface="Cambria Math" panose="02040503050406030204" pitchFamily="18" charset="0"/>
                        <a:cs typeface="QHRRPW+ËÎÌå"/>
                      </a:rPr>
                      <m:t>,</m:t>
                    </m:r>
                    <m:r>
                      <a:rPr lang="en-US" altLang="zh-CN" sz="2800" b="1" i="1" spc="12" dirty="0" smtClean="0">
                        <a:solidFill>
                          <a:srgbClr val="000000"/>
                        </a:solidFill>
                        <a:latin typeface="Cambria Math" panose="02040503050406030204" pitchFamily="18" charset="0"/>
                        <a:cs typeface="QHRRPW+ËÎÌå"/>
                      </a:rPr>
                      <m:t>𝒋</m:t>
                    </m:r>
                    <m:r>
                      <a:rPr lang="en-US" altLang="zh-CN" sz="2800" b="1" i="1" spc="12" dirty="0" smtClean="0">
                        <a:solidFill>
                          <a:srgbClr val="000000"/>
                        </a:solidFill>
                        <a:latin typeface="Cambria Math" panose="02040503050406030204" pitchFamily="18" charset="0"/>
                        <a:cs typeface="QHRRPW+ËÎÌå"/>
                      </a:rPr>
                      <m:t>]</m:t>
                    </m:r>
                  </m:oMath>
                </a14:m>
                <a:endParaRPr sz="2800" b="1" i="1" dirty="0">
                  <a:solidFill>
                    <a:srgbClr val="000000"/>
                  </a:solidFill>
                  <a:latin typeface="黑体" panose="02010609060101010101" pitchFamily="49" charset="-122"/>
                  <a:ea typeface="黑体" panose="02010609060101010101" pitchFamily="49" charset="-122"/>
                  <a:cs typeface="BEKLMR+Times New Roman,BoldItalic"/>
                </a:endParaRPr>
              </a:p>
            </p:txBody>
          </p:sp>
        </mc:Choice>
        <mc:Fallback xmlns="">
          <p:sp>
            <p:nvSpPr>
              <p:cNvPr id="4" name="object 4"/>
              <p:cNvSpPr txBox="1">
                <a:spLocks noRot="1" noChangeAspect="1" noMove="1" noResize="1" noEditPoints="1" noAdjustHandles="1" noChangeArrowheads="1" noChangeShapeType="1" noTextEdit="1"/>
              </p:cNvSpPr>
              <p:nvPr/>
            </p:nvSpPr>
            <p:spPr>
              <a:xfrm>
                <a:off x="259208" y="1360994"/>
                <a:ext cx="8758668" cy="1325363"/>
              </a:xfrm>
              <a:prstGeom prst="rect">
                <a:avLst/>
              </a:prstGeom>
              <a:blipFill rotWithShape="1">
                <a:blip r:embed="rId3"/>
                <a:stretch>
                  <a:fillRect l="-2507" t="-11927" r="-2507"/>
                </a:stretch>
              </a:blipFill>
            </p:spPr>
            <p:txBody>
              <a:bodyPr/>
              <a:lstStyle/>
              <a:p>
                <a:r>
                  <a:rPr lang="zh-CN" altLang="en-US">
                    <a:noFill/>
                  </a:rPr>
                  <a:t> </a:t>
                </a:r>
              </a:p>
            </p:txBody>
          </p:sp>
        </mc:Fallback>
      </mc:AlternateContent>
      <p:sp>
        <p:nvSpPr>
          <p:cNvPr id="13" name="object 13"/>
          <p:cNvSpPr txBox="1"/>
          <p:nvPr/>
        </p:nvSpPr>
        <p:spPr>
          <a:xfrm>
            <a:off x="259208" y="3071589"/>
            <a:ext cx="8853262" cy="938719"/>
          </a:xfrm>
          <a:prstGeom prst="rect">
            <a:avLst/>
          </a:prstGeom>
        </p:spPr>
        <p:txBody>
          <a:bodyPr vert="horz" wrap="square" lIns="0" tIns="0" rIns="0" bIns="0" rtlCol="0">
            <a:spAutoFit/>
          </a:bodyPr>
          <a:lstStyle/>
          <a:p>
            <a:pPr>
              <a:spcBef>
                <a:spcPts val="600"/>
              </a:spcBef>
              <a:spcAft>
                <a:spcPct val="0"/>
              </a:spcAft>
            </a:pPr>
            <a:r>
              <a:rPr sz="2800" b="1" dirty="0">
                <a:solidFill>
                  <a:srgbClr val="C00000"/>
                </a:solidFill>
                <a:latin typeface="黑体" pitchFamily="49" charset="-122"/>
                <a:ea typeface="黑体" pitchFamily="49" charset="-122"/>
                <a:cs typeface="MNNRMW+Arial"/>
              </a:rPr>
              <a:t>•</a:t>
            </a:r>
            <a:r>
              <a:rPr sz="2800" b="1" spc="1339" dirty="0">
                <a:solidFill>
                  <a:srgbClr val="C00000"/>
                </a:solidFill>
                <a:latin typeface="黑体" pitchFamily="49" charset="-122"/>
                <a:ea typeface="黑体" pitchFamily="49" charset="-122"/>
                <a:cs typeface="Times New Roman"/>
              </a:rPr>
              <a:t> </a:t>
            </a:r>
            <a:r>
              <a:rPr sz="2800" b="1" spc="12" dirty="0" err="1">
                <a:solidFill>
                  <a:srgbClr val="C00000"/>
                </a:solidFill>
                <a:latin typeface="黑体" pitchFamily="49" charset="-122"/>
                <a:ea typeface="黑体" pitchFamily="49" charset="-122"/>
                <a:cs typeface="QHRRPW+ËÎÌå"/>
              </a:rPr>
              <a:t>子问题的依赖关系</a:t>
            </a:r>
            <a:endParaRPr sz="2800" b="1" spc="12" dirty="0">
              <a:solidFill>
                <a:srgbClr val="C00000"/>
              </a:solidFill>
              <a:latin typeface="黑体" pitchFamily="49" charset="-122"/>
              <a:ea typeface="黑体" pitchFamily="49" charset="-122"/>
              <a:cs typeface="QHRRPW+ËÎÌå"/>
            </a:endParaRPr>
          </a:p>
          <a:p>
            <a:pPr marL="322382">
              <a:spcBef>
                <a:spcPts val="600"/>
              </a:spcBef>
              <a:spcAft>
                <a:spcPct val="0"/>
              </a:spcAft>
            </a:pPr>
            <a:r>
              <a:rPr sz="2800" b="1" spc="12" dirty="0" err="1" smtClean="0">
                <a:solidFill>
                  <a:srgbClr val="000000"/>
                </a:solidFill>
                <a:latin typeface="黑体" panose="02010609060101010101" pitchFamily="49" charset="-122"/>
                <a:ea typeface="黑体" panose="02010609060101010101" pitchFamily="49" charset="-122"/>
                <a:cs typeface="QHRRPW+ËÎÌå"/>
              </a:rPr>
              <a:t>最优划分最后一次相乘发生在矩阵</a:t>
            </a:r>
            <a:r>
              <a:rPr lang="en-US" sz="2800" b="1" spc="12" dirty="0">
                <a:solidFill>
                  <a:srgbClr val="000000"/>
                </a:solidFill>
                <a:latin typeface="黑体" panose="02010609060101010101" pitchFamily="49" charset="-122"/>
                <a:ea typeface="黑体" panose="02010609060101010101" pitchFamily="49" charset="-122"/>
                <a:cs typeface="QHRRPW+ËÎÌå"/>
              </a:rPr>
              <a:t> </a:t>
            </a:r>
            <a:r>
              <a:rPr sz="2800" b="1" i="1" dirty="0" smtClean="0">
                <a:solidFill>
                  <a:srgbClr val="000000"/>
                </a:solidFill>
                <a:latin typeface="黑体" panose="02010609060101010101" pitchFamily="49" charset="-122"/>
                <a:ea typeface="黑体" panose="02010609060101010101" pitchFamily="49" charset="-122"/>
                <a:cs typeface="BEKLMR+Times New Roman,BoldItalic"/>
              </a:rPr>
              <a:t>k</a:t>
            </a:r>
            <a:r>
              <a:rPr sz="2800" b="1" i="1" spc="-12" dirty="0" smtClean="0">
                <a:solidFill>
                  <a:srgbClr val="000000"/>
                </a:solidFill>
                <a:latin typeface="黑体" panose="02010609060101010101" pitchFamily="49" charset="-122"/>
                <a:ea typeface="黑体" panose="02010609060101010101" pitchFamily="49" charset="-122"/>
                <a:cs typeface="BEKLMR+Times New Roman,BoldItalic"/>
              </a:rPr>
              <a:t> </a:t>
            </a:r>
            <a:r>
              <a:rPr sz="2800" b="1" spc="12" dirty="0" err="1">
                <a:solidFill>
                  <a:srgbClr val="000000"/>
                </a:solidFill>
                <a:latin typeface="黑体" panose="02010609060101010101" pitchFamily="49" charset="-122"/>
                <a:ea typeface="黑体" panose="02010609060101010101" pitchFamily="49" charset="-122"/>
                <a:cs typeface="QHRRPW+ËÎÌå"/>
              </a:rPr>
              <a:t>的位置，即</a:t>
            </a:r>
            <a:endParaRPr sz="2800" b="1" spc="12" dirty="0">
              <a:solidFill>
                <a:srgbClr val="000000"/>
              </a:solidFill>
              <a:latin typeface="黑体" panose="02010609060101010101" pitchFamily="49" charset="-122"/>
              <a:ea typeface="黑体" panose="02010609060101010101" pitchFamily="49" charset="-122"/>
              <a:cs typeface="QHRRPW+ËÎÌå"/>
            </a:endParaRPr>
          </a:p>
        </p:txBody>
      </p:sp>
      <mc:AlternateContent xmlns:mc="http://schemas.openxmlformats.org/markup-compatibility/2006" xmlns:a14="http://schemas.microsoft.com/office/drawing/2010/main">
        <mc:Choice Requires="a14">
          <p:sp>
            <p:nvSpPr>
              <p:cNvPr id="18" name="object 18"/>
              <p:cNvSpPr txBox="1"/>
              <p:nvPr/>
            </p:nvSpPr>
            <p:spPr>
              <a:xfrm>
                <a:off x="620557" y="5001293"/>
                <a:ext cx="8586505" cy="718145"/>
              </a:xfrm>
              <a:prstGeom prst="rect">
                <a:avLst/>
              </a:prstGeom>
            </p:spPr>
            <p:txBody>
              <a:bodyPr vert="horz" wrap="square" lIns="0" tIns="0" rIns="0" bIns="0" rtlCol="0">
                <a:spAutoFit/>
              </a:bodyPr>
              <a:lstStyle/>
              <a:p>
                <a:pPr>
                  <a:lnSpc>
                    <a:spcPts val="2828"/>
                  </a:lnSpc>
                  <a:spcBef>
                    <a:spcPct val="0"/>
                  </a:spcBef>
                  <a:spcAft>
                    <a:spcPct val="0"/>
                  </a:spcAft>
                </a:pPr>
                <a14:m>
                  <m:oMath xmlns:m="http://schemas.openxmlformats.org/officeDocument/2006/math">
                    <m:sSub>
                      <m:sSubPr>
                        <m:ctrlPr>
                          <a:rPr lang="ar-AE" altLang="zh-CN" sz="2800" b="1" i="1" smtClean="0">
                            <a:solidFill>
                              <a:srgbClr val="000000"/>
                            </a:solidFill>
                            <a:latin typeface="Cambria Math"/>
                          </a:rPr>
                        </m:ctrlPr>
                      </m:sSubPr>
                      <m:e>
                        <m:r>
                          <a:rPr lang="zh-CN" altLang="ar-AE" sz="2800" b="1" i="1">
                            <a:solidFill>
                              <a:srgbClr val="000000"/>
                            </a:solidFill>
                            <a:latin typeface="Cambria Math" panose="02040503050406030204" pitchFamily="18" charset="0"/>
                            <a:cs typeface="BEKLMR+Times New Roman,BoldItalic"/>
                          </a:rPr>
                          <m:t>𝑨</m:t>
                        </m:r>
                      </m:e>
                      <m:sub>
                        <m:r>
                          <a:rPr lang="zh-CN" altLang="ar-AE" sz="2800" b="1" i="1" smtClean="0">
                            <a:solidFill>
                              <a:srgbClr val="000000"/>
                            </a:solidFill>
                            <a:latin typeface="Cambria Math" panose="02040503050406030204" pitchFamily="18" charset="0"/>
                          </a:rPr>
                          <m:t>𝒊</m:t>
                        </m:r>
                        <m:r>
                          <a:rPr lang="zh-CN" altLang="en-US" sz="2800" b="1" i="1" smtClean="0">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𝒋</m:t>
                        </m:r>
                      </m:sub>
                    </m:sSub>
                  </m:oMath>
                </a14:m>
                <a:r>
                  <a:rPr lang="zh-CN" altLang="en-US" sz="2800" b="1" spc="12" dirty="0" smtClean="0">
                    <a:solidFill>
                      <a:srgbClr val="000000"/>
                    </a:solidFill>
                    <a:latin typeface="QHRRPW+ËÎÌå"/>
                    <a:cs typeface="QHRRPW+ËÎÌå"/>
                  </a:rPr>
                  <a:t>最优运算次数依赖于</a:t>
                </a:r>
                <a14:m>
                  <m:oMath xmlns:m="http://schemas.openxmlformats.org/officeDocument/2006/math">
                    <m:sSub>
                      <m:sSubPr>
                        <m:ctrlPr>
                          <a:rPr lang="ar-AE" altLang="zh-CN" sz="2800" b="1" i="1">
                            <a:solidFill>
                              <a:srgbClr val="000000"/>
                            </a:solidFill>
                            <a:latin typeface="Cambria Math"/>
                          </a:rPr>
                        </m:ctrlPr>
                      </m:sSubPr>
                      <m:e>
                        <m:r>
                          <a:rPr lang="zh-CN" altLang="ar-AE" sz="2800" b="1" i="1">
                            <a:solidFill>
                              <a:srgbClr val="000000"/>
                            </a:solidFill>
                            <a:latin typeface="Cambria Math" panose="02040503050406030204" pitchFamily="18" charset="0"/>
                            <a:cs typeface="BEKLMR+Times New Roman,BoldItalic"/>
                          </a:rPr>
                          <m:t>𝑨</m:t>
                        </m:r>
                      </m:e>
                      <m:sub>
                        <m:r>
                          <a:rPr lang="zh-CN" altLang="ar-AE"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𝒌</m:t>
                        </m:r>
                      </m:sub>
                    </m:sSub>
                  </m:oMath>
                </a14:m>
                <a:r>
                  <a:rPr lang="zh-CN" altLang="en-US" sz="2800" b="1" dirty="0">
                    <a:solidFill>
                      <a:srgbClr val="000000"/>
                    </a:solidFill>
                    <a:latin typeface="QHRRPW+ËÎÌå"/>
                    <a:cs typeface="QHRRPW+ËÎÌå"/>
                  </a:rPr>
                  <a:t>与</a:t>
                </a:r>
                <a14:m>
                  <m:oMath xmlns:m="http://schemas.openxmlformats.org/officeDocument/2006/math">
                    <m:sSub>
                      <m:sSubPr>
                        <m:ctrlPr>
                          <a:rPr lang="ar-AE" altLang="zh-CN" sz="2800" b="1" i="1">
                            <a:solidFill>
                              <a:srgbClr val="000000"/>
                            </a:solidFill>
                            <a:latin typeface="Cambria Math"/>
                          </a:rPr>
                        </m:ctrlPr>
                      </m:sSubPr>
                      <m:e>
                        <m:r>
                          <a:rPr lang="zh-CN" altLang="ar-AE" sz="2800" b="1" i="1">
                            <a:solidFill>
                              <a:srgbClr val="000000"/>
                            </a:solidFill>
                            <a:latin typeface="Cambria Math" panose="02040503050406030204" pitchFamily="18" charset="0"/>
                            <a:cs typeface="BEKLMR+Times New Roman,BoldItalic"/>
                          </a:rPr>
                          <m:t>𝑨</m:t>
                        </m:r>
                      </m:e>
                      <m:sub>
                        <m:r>
                          <a:rPr lang="en-US" altLang="zh-CN" sz="2800" b="1" i="1" smtClean="0">
                            <a:solidFill>
                              <a:srgbClr val="000000"/>
                            </a:solidFill>
                            <a:latin typeface="Cambria Math" panose="02040503050406030204" pitchFamily="18" charset="0"/>
                          </a:rPr>
                          <m:t>𝒌</m:t>
                        </m:r>
                        <m:r>
                          <a:rPr lang="en-US" altLang="zh-CN" sz="2800" b="1" i="1" smtClean="0">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𝟏</m:t>
                        </m:r>
                        <m:r>
                          <a:rPr lang="zh-CN" altLang="en-US" sz="2800" b="1"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𝒋</m:t>
                        </m:r>
                      </m:sub>
                    </m:sSub>
                    <m:r>
                      <m:rPr>
                        <m:nor/>
                      </m:rPr>
                      <a:rPr lang="zh-CN" altLang="en-US" sz="2800" b="1" spc="12" dirty="0">
                        <a:solidFill>
                          <a:srgbClr val="000000"/>
                        </a:solidFill>
                        <a:latin typeface="QHRRPW+ËÎÌå"/>
                        <a:cs typeface="QHRRPW+ËÎÌå"/>
                      </a:rPr>
                      <m:t>的最优运算次数</m:t>
                    </m:r>
                  </m:oMath>
                </a14:m>
                <a:endParaRPr lang="zh-CN" altLang="en-US" sz="2800" b="1" spc="12" dirty="0">
                  <a:solidFill>
                    <a:srgbClr val="000000"/>
                  </a:solidFill>
                  <a:latin typeface="QHRRPW+ËÎÌå"/>
                  <a:cs typeface="QHRRPW+ËÎÌå"/>
                </a:endParaRPr>
              </a:p>
              <a:p>
                <a:pPr>
                  <a:lnSpc>
                    <a:spcPts val="2828"/>
                  </a:lnSpc>
                  <a:spcBef>
                    <a:spcPct val="0"/>
                  </a:spcBef>
                  <a:spcAft>
                    <a:spcPct val="0"/>
                  </a:spcAft>
                </a:pPr>
                <a:endParaRPr sz="2800" b="1" dirty="0">
                  <a:solidFill>
                    <a:srgbClr val="000000"/>
                  </a:solidFill>
                  <a:latin typeface="QHRRPW+ËÎÌå"/>
                  <a:cs typeface="QHRRPW+ËÎÌå"/>
                </a:endParaRPr>
              </a:p>
            </p:txBody>
          </p:sp>
        </mc:Choice>
        <mc:Fallback xmlns="">
          <p:sp>
            <p:nvSpPr>
              <p:cNvPr id="18" name="object 18"/>
              <p:cNvSpPr txBox="1">
                <a:spLocks noRot="1" noChangeAspect="1" noMove="1" noResize="1" noEditPoints="1" noAdjustHandles="1" noChangeArrowheads="1" noChangeShapeType="1" noTextEdit="1"/>
              </p:cNvSpPr>
              <p:nvPr/>
            </p:nvSpPr>
            <p:spPr>
              <a:xfrm>
                <a:off x="620557" y="5001293"/>
                <a:ext cx="8586505" cy="718145"/>
              </a:xfrm>
              <a:prstGeom prst="rect">
                <a:avLst/>
              </a:prstGeom>
              <a:blipFill rotWithShape="1">
                <a:blip r:embed="rId4"/>
                <a:stretch>
                  <a:fillRect l="-71" t="-24576"/>
                </a:stretch>
              </a:blipFill>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3469654" y="4181762"/>
            <a:ext cx="2780952" cy="619048"/>
          </a:xfrm>
          <a:prstGeom prst="rect">
            <a:avLst/>
          </a:prstGeom>
        </p:spPr>
      </p:pic>
    </p:spTree>
    <p:extLst>
      <p:ext uri="{BB962C8B-B14F-4D97-AF65-F5344CB8AC3E}">
        <p14:creationId xmlns:p14="http://schemas.microsoft.com/office/powerpoint/2010/main" val="24298293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1211" y="243778"/>
            <a:ext cx="886993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QHRRPW+ËÎÌå"/>
              </a:rPr>
              <a:t>优化函数的递推方程</a:t>
            </a:r>
            <a:endParaRPr sz="4000" b="1" spc="11" dirty="0">
              <a:solidFill>
                <a:srgbClr val="C00000"/>
              </a:solidFill>
              <a:latin typeface="黑体" panose="02010609060101010101" pitchFamily="49" charset="-122"/>
              <a:ea typeface="黑体" panose="02010609060101010101" pitchFamily="49" charset="-122"/>
              <a:cs typeface="QHRRPW+ËÎÌå"/>
            </a:endParaRPr>
          </a:p>
        </p:txBody>
      </p:sp>
      <mc:AlternateContent xmlns:mc="http://schemas.openxmlformats.org/markup-compatibility/2006" xmlns:a14="http://schemas.microsoft.com/office/drawing/2010/main">
        <mc:Choice Requires="a14">
          <p:sp>
            <p:nvSpPr>
              <p:cNvPr id="4" name="object 4"/>
              <p:cNvSpPr txBox="1"/>
              <p:nvPr/>
            </p:nvSpPr>
            <p:spPr>
              <a:xfrm>
                <a:off x="340209" y="1529594"/>
                <a:ext cx="8845832" cy="949940"/>
              </a:xfrm>
              <a:prstGeom prst="rect">
                <a:avLst/>
              </a:prstGeom>
            </p:spPr>
            <p:txBody>
              <a:bodyPr vert="horz" wrap="square" lIns="0" tIns="0" rIns="0" bIns="0" rtlCol="0">
                <a:spAutoFit/>
              </a:bodyPr>
              <a:lstStyle/>
              <a:p>
                <a:pPr>
                  <a:lnSpc>
                    <a:spcPts val="2551"/>
                  </a:lnSpc>
                  <a:spcBef>
                    <a:spcPts val="600"/>
                  </a:spcBef>
                  <a:spcAft>
                    <a:spcPts val="1200"/>
                  </a:spcAft>
                </a:pPr>
                <a:r>
                  <a:rPr lang="zh-CN" altLang="en-US" sz="2800" b="1" spc="12" dirty="0" smtClean="0">
                    <a:solidFill>
                      <a:srgbClr val="C00000"/>
                    </a:solidFill>
                    <a:latin typeface="黑体" panose="02010609060101010101" pitchFamily="49" charset="-122"/>
                    <a:ea typeface="黑体" panose="02010609060101010101" pitchFamily="49" charset="-122"/>
                    <a:cs typeface="QHRRPW+ËÎÌå"/>
                  </a:rPr>
                  <a:t>递推方程</a:t>
                </a:r>
                <a:r>
                  <a:rPr lang="zh-CN" altLang="en-US" sz="2800" b="1" dirty="0">
                    <a:solidFill>
                      <a:srgbClr val="000000"/>
                    </a:solidFill>
                    <a:latin typeface="黑体" panose="02010609060101010101" pitchFamily="49" charset="-122"/>
                    <a:ea typeface="黑体" panose="02010609060101010101" pitchFamily="49" charset="-122"/>
                    <a:cs typeface="QHRRPW+ËÎÌå"/>
                  </a:rPr>
                  <a:t>：</a:t>
                </a:r>
              </a:p>
              <a:p>
                <a:pPr>
                  <a:lnSpc>
                    <a:spcPts val="2824"/>
                  </a:lnSpc>
                  <a:spcBef>
                    <a:spcPts val="600"/>
                  </a:spcBef>
                  <a:spcAft>
                    <a:spcPct val="0"/>
                  </a:spcAft>
                </a:pPr>
                <a:r>
                  <a:rPr lang="en-US"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i,j</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spc="-4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得到</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b>
                      <m:sSubPr>
                        <m:ctrlPr>
                          <a:rPr lang="ar-AE" altLang="zh-CN" sz="2800" b="1" i="1" dirty="0" smtClean="0">
                            <a:solidFill>
                              <a:srgbClr val="000000"/>
                            </a:solidFill>
                            <a:latin typeface="Cambria Math"/>
                          </a:rPr>
                        </m:ctrlPr>
                      </m:sSubPr>
                      <m:e>
                        <m:r>
                          <a:rPr lang="zh-CN" altLang="ar-AE" sz="2800" b="1" i="1" dirty="0">
                            <a:solidFill>
                              <a:srgbClr val="000000"/>
                            </a:solidFill>
                            <a:latin typeface="Cambria Math" panose="02040503050406030204" pitchFamily="18" charset="0"/>
                            <a:cs typeface="BEKLMR+Times New Roman,BoldItalic"/>
                          </a:rPr>
                          <m:t>𝑨</m:t>
                        </m:r>
                      </m:e>
                      <m:sub>
                        <m:r>
                          <a:rPr lang="zh-CN" altLang="ar-AE" sz="2800" b="1" i="1" dirty="0" smtClean="0">
                            <a:solidFill>
                              <a:srgbClr val="000000"/>
                            </a:solidFill>
                            <a:latin typeface="Cambria Math" panose="02040503050406030204" pitchFamily="18" charset="0"/>
                          </a:rPr>
                          <m:t>𝒊</m:t>
                        </m:r>
                        <m:r>
                          <a:rPr lang="zh-CN" altLang="en-US" sz="2800" b="1"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𝒋</m:t>
                        </m:r>
                      </m:sub>
                    </m:sSub>
                  </m:oMath>
                </a14:m>
                <a:r>
                  <a:rPr lang="zh-CN" altLang="en-US"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的最少的相乘次数</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40209" y="1529594"/>
                <a:ext cx="8845832" cy="949940"/>
              </a:xfrm>
              <a:prstGeom prst="rect">
                <a:avLst/>
              </a:prstGeom>
              <a:blipFill rotWithShape="1">
                <a:blip r:embed="rId2"/>
                <a:stretch>
                  <a:fillRect l="-2481" t="-21795" b="-17949"/>
                </a:stretch>
              </a:blipFill>
            </p:spPr>
            <p:txBody>
              <a:bodyPr/>
              <a:lstStyle/>
              <a:p>
                <a:r>
                  <a:rPr lang="zh-CN" altLang="en-US">
                    <a:noFill/>
                  </a:rPr>
                  <a:t> </a:t>
                </a:r>
              </a:p>
            </p:txBody>
          </p:sp>
        </mc:Fallback>
      </mc:AlternateContent>
      <p:sp>
        <p:nvSpPr>
          <p:cNvPr id="24" name="object 24"/>
          <p:cNvSpPr txBox="1"/>
          <p:nvPr/>
        </p:nvSpPr>
        <p:spPr>
          <a:xfrm>
            <a:off x="421211" y="5268144"/>
            <a:ext cx="3415375" cy="333425"/>
          </a:xfrm>
          <a:prstGeom prst="rect">
            <a:avLst/>
          </a:prstGeom>
        </p:spPr>
        <p:txBody>
          <a:bodyPr vert="horz" wrap="square" lIns="0" tIns="0" rIns="0" bIns="0" rtlCol="0">
            <a:spAutoFit/>
          </a:bodyPr>
          <a:lstStyle/>
          <a:p>
            <a:pPr>
              <a:lnSpc>
                <a:spcPts val="2553"/>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QHRRPW+ËÎÌå"/>
              </a:rPr>
              <a:t>该问题满足优化原则</a:t>
            </a:r>
            <a:endParaRPr sz="2800" b="1" spc="12" dirty="0">
              <a:solidFill>
                <a:srgbClr val="000000"/>
              </a:solidFill>
              <a:latin typeface="黑体" panose="02010609060101010101" pitchFamily="49" charset="-122"/>
              <a:ea typeface="黑体" panose="02010609060101010101" pitchFamily="49" charset="-122"/>
              <a:cs typeface="QHRRPW+ËÎÌå"/>
            </a:endParaRPr>
          </a:p>
        </p:txBody>
      </p:sp>
      <p:grpSp>
        <p:nvGrpSpPr>
          <p:cNvPr id="5" name="组合 4"/>
          <p:cNvGrpSpPr/>
          <p:nvPr/>
        </p:nvGrpSpPr>
        <p:grpSpPr>
          <a:xfrm>
            <a:off x="665070" y="2818733"/>
            <a:ext cx="6647213" cy="1150839"/>
            <a:chOff x="665070" y="3014676"/>
            <a:chExt cx="6647213" cy="1150839"/>
          </a:xfrm>
        </p:grpSpPr>
        <p:pic>
          <p:nvPicPr>
            <p:cNvPr id="2" name="图片 1"/>
            <p:cNvPicPr>
              <a:picLocks noChangeAspect="1"/>
            </p:cNvPicPr>
            <p:nvPr/>
          </p:nvPicPr>
          <p:blipFill rotWithShape="1">
            <a:blip r:embed="rId3"/>
            <a:srcRect r="80957" b="82867"/>
            <a:stretch/>
          </p:blipFill>
          <p:spPr>
            <a:xfrm>
              <a:off x="665070" y="3374713"/>
              <a:ext cx="1079755" cy="449849"/>
            </a:xfrm>
            <a:prstGeom prst="rect">
              <a:avLst/>
            </a:prstGeom>
          </p:spPr>
        </p:pic>
        <p:pic>
          <p:nvPicPr>
            <p:cNvPr id="6" name="图片 5"/>
            <p:cNvPicPr>
              <a:picLocks noChangeAspect="1"/>
            </p:cNvPicPr>
            <p:nvPr/>
          </p:nvPicPr>
          <p:blipFill rotWithShape="1">
            <a:blip r:embed="rId3"/>
            <a:srcRect t="17015" b="39153"/>
            <a:stretch/>
          </p:blipFill>
          <p:spPr>
            <a:xfrm>
              <a:off x="1642188" y="3014676"/>
              <a:ext cx="5670095" cy="1150839"/>
            </a:xfrm>
            <a:prstGeom prst="rect">
              <a:avLst/>
            </a:prstGeom>
          </p:spPr>
        </p:pic>
      </p:grpSp>
      <p:pic>
        <p:nvPicPr>
          <p:cNvPr id="10" name="图片 9"/>
          <p:cNvPicPr>
            <a:picLocks noChangeAspect="1"/>
          </p:cNvPicPr>
          <p:nvPr/>
        </p:nvPicPr>
        <p:blipFill rotWithShape="1">
          <a:blip r:embed="rId3"/>
          <a:srcRect t="61171"/>
          <a:stretch/>
        </p:blipFill>
        <p:spPr>
          <a:xfrm>
            <a:off x="1532448" y="3988656"/>
            <a:ext cx="5670095" cy="1019485"/>
          </a:xfrm>
          <a:prstGeom prst="rect">
            <a:avLst/>
          </a:prstGeom>
        </p:spPr>
      </p:pic>
    </p:spTree>
    <p:extLst>
      <p:ext uri="{BB962C8B-B14F-4D97-AF65-F5344CB8AC3E}">
        <p14:creationId xmlns:p14="http://schemas.microsoft.com/office/powerpoint/2010/main" val="27056038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65260" y="149541"/>
            <a:ext cx="8746905" cy="551433"/>
          </a:xfrm>
          <a:prstGeom prst="rect">
            <a:avLst/>
          </a:prstGeom>
        </p:spPr>
        <p:txBody>
          <a:bodyPr vert="horz" wrap="square" lIns="0" tIns="0" rIns="0" bIns="0" rtlCol="0">
            <a:spAutoFit/>
          </a:bodyPr>
          <a:lstStyle/>
          <a:p>
            <a:pPr algn="ctr">
              <a:lnSpc>
                <a:spcPts val="4250"/>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QHRRPW+ËÎÌå"/>
              </a:rPr>
              <a:t>小结</a:t>
            </a:r>
            <a:endParaRPr sz="4000" b="1" spc="11" dirty="0">
              <a:solidFill>
                <a:srgbClr val="C00000"/>
              </a:solidFill>
              <a:latin typeface="黑体" panose="02010609060101010101" pitchFamily="49" charset="-122"/>
              <a:ea typeface="黑体" panose="02010609060101010101" pitchFamily="49" charset="-122"/>
              <a:cs typeface="QHRRPW+ËÎÌå"/>
            </a:endParaRPr>
          </a:p>
        </p:txBody>
      </p:sp>
      <p:sp>
        <p:nvSpPr>
          <p:cNvPr id="4" name="object 4"/>
          <p:cNvSpPr txBox="1"/>
          <p:nvPr/>
        </p:nvSpPr>
        <p:spPr>
          <a:xfrm>
            <a:off x="340209" y="1416390"/>
            <a:ext cx="3742868"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C00000"/>
                </a:solidFill>
                <a:latin typeface="黑体" panose="02010609060101010101" pitchFamily="49" charset="-122"/>
                <a:ea typeface="黑体" panose="02010609060101010101" pitchFamily="49" charset="-122"/>
                <a:cs typeface="QHRRPW+ËÎÌå"/>
              </a:rPr>
              <a:t>动态规划算法设计要素</a:t>
            </a:r>
            <a:endParaRPr sz="2800" b="1" spc="12" dirty="0">
              <a:solidFill>
                <a:srgbClr val="C00000"/>
              </a:solidFill>
              <a:latin typeface="黑体" panose="02010609060101010101" pitchFamily="49" charset="-122"/>
              <a:ea typeface="黑体" panose="02010609060101010101" pitchFamily="49" charset="-122"/>
              <a:cs typeface="QHRRPW+ËÎÌå"/>
            </a:endParaRPr>
          </a:p>
        </p:txBody>
      </p:sp>
      <p:sp>
        <p:nvSpPr>
          <p:cNvPr id="5" name="object 5"/>
          <p:cNvSpPr txBox="1"/>
          <p:nvPr/>
        </p:nvSpPr>
        <p:spPr>
          <a:xfrm>
            <a:off x="340209" y="2155150"/>
            <a:ext cx="8971956" cy="861774"/>
          </a:xfrm>
          <a:prstGeom prst="rect">
            <a:avLst/>
          </a:prstGeom>
        </p:spPr>
        <p:txBody>
          <a:bodyPr vert="horz" wrap="square" lIns="0" tIns="0" rIns="0" bIns="0" rtlCol="0">
            <a:spAutoFit/>
          </a:bodyPr>
          <a:lstStyle/>
          <a:p>
            <a:pPr algn="just">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多阶段决策过程，</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每步处理一个子</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问题，界定子问题的</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边界</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340208" y="3143606"/>
            <a:ext cx="8425419"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列出优化函数的递推方程及初值</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340209" y="3734898"/>
            <a:ext cx="8971956" cy="1723549"/>
          </a:xfrm>
          <a:prstGeom prst="rect">
            <a:avLst/>
          </a:prstGeom>
        </p:spPr>
        <p:txBody>
          <a:bodyPr vert="horz" wrap="square" lIns="0" tIns="0" rIns="0" bIns="0" rtlCol="0">
            <a:spAutoFit/>
          </a:bodyPr>
          <a:lstStyle/>
          <a:p>
            <a:pPr algn="just">
              <a:spcBef>
                <a:spcPct val="0"/>
              </a:spcBef>
              <a:spcAft>
                <a:spcPct val="0"/>
              </a:spcAft>
            </a:pP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问题要</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满足优化原则或最优子结构性质，即：一个最优决策序列的任何子序列本身一定是相对于子序列的初始和结束状态的最优决策序列</a:t>
            </a:r>
          </a:p>
          <a:p>
            <a:pPr>
              <a:spcBef>
                <a:spcPct val="0"/>
              </a:spcBef>
              <a:spcAft>
                <a:spcPct val="0"/>
              </a:spcAft>
            </a:pP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0624766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3789" y="2104858"/>
            <a:ext cx="7980513" cy="1603003"/>
          </a:xfrm>
          <a:prstGeom prst="rect">
            <a:avLst/>
          </a:prstGeom>
        </p:spPr>
        <p:txBody>
          <a:bodyPr vert="horz" wrap="square" lIns="0" tIns="0" rIns="0" bIns="0" rtlCol="0">
            <a:spAutoFit/>
          </a:bodyPr>
          <a:lstStyle/>
          <a:p>
            <a:pPr algn="ctr">
              <a:lnSpc>
                <a:spcPts val="5740"/>
              </a:lnSpc>
              <a:spcBef>
                <a:spcPct val="0"/>
              </a:spcBef>
              <a:spcAft>
                <a:spcPct val="0"/>
              </a:spcAft>
            </a:pPr>
            <a:r>
              <a:rPr sz="6600" spc="19" dirty="0" err="1">
                <a:solidFill>
                  <a:srgbClr val="C00000"/>
                </a:solidFill>
                <a:latin typeface="黑体" panose="02010609060101010101" pitchFamily="49" charset="-122"/>
                <a:ea typeface="黑体" panose="02010609060101010101" pitchFamily="49" charset="-122"/>
                <a:cs typeface="KIUBBN+SimSun"/>
              </a:rPr>
              <a:t>动态规划算法</a:t>
            </a:r>
            <a:endParaRPr sz="6600" spc="19" dirty="0">
              <a:solidFill>
                <a:srgbClr val="C00000"/>
              </a:solidFill>
              <a:latin typeface="黑体" panose="02010609060101010101" pitchFamily="49" charset="-122"/>
              <a:ea typeface="黑体" panose="02010609060101010101" pitchFamily="49" charset="-122"/>
              <a:cs typeface="KIUBBN+SimSun"/>
            </a:endParaRPr>
          </a:p>
          <a:p>
            <a:pPr marL="366123" algn="ctr">
              <a:lnSpc>
                <a:spcPts val="5740"/>
              </a:lnSpc>
              <a:spcBef>
                <a:spcPts val="1147"/>
              </a:spcBef>
              <a:spcAft>
                <a:spcPct val="0"/>
              </a:spcAft>
            </a:pPr>
            <a:r>
              <a:rPr sz="6600" spc="19" dirty="0" err="1">
                <a:solidFill>
                  <a:srgbClr val="C00000"/>
                </a:solidFill>
                <a:latin typeface="黑体" panose="02010609060101010101" pitchFamily="49" charset="-122"/>
                <a:ea typeface="黑体" panose="02010609060101010101" pitchFamily="49" charset="-122"/>
                <a:cs typeface="KIUBBN+SimSun"/>
              </a:rPr>
              <a:t>的递归实现</a:t>
            </a:r>
            <a:endParaRPr sz="6600" spc="19" dirty="0">
              <a:solidFill>
                <a:srgbClr val="C00000"/>
              </a:solidFill>
              <a:latin typeface="黑体" panose="02010609060101010101" pitchFamily="49" charset="-122"/>
              <a:ea typeface="黑体" panose="02010609060101010101" pitchFamily="49" charset="-122"/>
              <a:cs typeface="KIUBBN+SimSun"/>
            </a:endParaRPr>
          </a:p>
        </p:txBody>
      </p:sp>
    </p:spTree>
    <p:extLst>
      <p:ext uri="{BB962C8B-B14F-4D97-AF65-F5344CB8AC3E}">
        <p14:creationId xmlns:p14="http://schemas.microsoft.com/office/powerpoint/2010/main" val="250751395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195786" y="1902591"/>
            <a:ext cx="1681683" cy="784223"/>
          </a:xfrm>
          <a:prstGeom prst="rect">
            <a:avLst/>
          </a:prstGeom>
          <a:blipFill>
            <a:blip r:embed="rId2"/>
            <a:stretch>
              <a:fillRect/>
            </a:stretch>
          </a:blipFill>
        </p:spPr>
        <p:txBody>
          <a:bodyPr wrap="square" lIns="0" tIns="0" rIns="0" bIns="0" rtlCol="0">
            <a:spAutoFit/>
          </a:bodyPr>
          <a:lstStyle/>
          <a:p>
            <a:endParaRPr sz="2400">
              <a:latin typeface="Times New Roman" panose="02020603050405020304" pitchFamily="18" charset="0"/>
              <a:cs typeface="Times New Roman" panose="02020603050405020304" pitchFamily="18" charset="0"/>
            </a:endParaRPr>
          </a:p>
        </p:txBody>
      </p:sp>
      <p:sp>
        <p:nvSpPr>
          <p:cNvPr id="5" name="object 5"/>
          <p:cNvSpPr/>
          <p:nvPr/>
        </p:nvSpPr>
        <p:spPr>
          <a:xfrm>
            <a:off x="2917876" y="3759247"/>
            <a:ext cx="1738206" cy="860623"/>
          </a:xfrm>
          <a:prstGeom prst="rect">
            <a:avLst/>
          </a:prstGeom>
          <a:blipFill>
            <a:blip r:embed="rId3"/>
            <a:stretch>
              <a:fillRect/>
            </a:stretch>
          </a:blipFill>
        </p:spPr>
        <p:txBody>
          <a:bodyPr wrap="square" lIns="0" tIns="0" rIns="0" bIns="0" rtlCol="0">
            <a:spAutoFit/>
          </a:bodyPr>
          <a:lstStyle/>
          <a:p>
            <a:endParaRPr sz="2400">
              <a:latin typeface="Times New Roman" panose="02020603050405020304" pitchFamily="18" charset="0"/>
              <a:cs typeface="Times New Roman" panose="02020603050405020304" pitchFamily="18" charset="0"/>
            </a:endParaRPr>
          </a:p>
        </p:txBody>
      </p:sp>
      <p:sp>
        <p:nvSpPr>
          <p:cNvPr id="6" name="object 6"/>
          <p:cNvSpPr/>
          <p:nvPr/>
        </p:nvSpPr>
        <p:spPr>
          <a:xfrm>
            <a:off x="4598423" y="752881"/>
            <a:ext cx="1686764" cy="969027"/>
          </a:xfrm>
          <a:prstGeom prst="rect">
            <a:avLst/>
          </a:prstGeom>
          <a:blipFill>
            <a:blip r:embed="rId4"/>
            <a:stretch>
              <a:fillRect/>
            </a:stretch>
          </a:blipFill>
        </p:spPr>
        <p:txBody>
          <a:bodyPr wrap="square" lIns="0" tIns="0" rIns="0" bIns="0" rtlCol="0">
            <a:spAutoFit/>
          </a:bodyPr>
          <a:lstStyle/>
          <a:p>
            <a:endParaRPr sz="1627"/>
          </a:p>
        </p:txBody>
      </p:sp>
      <p:sp>
        <p:nvSpPr>
          <p:cNvPr id="8" name="object 8"/>
          <p:cNvSpPr txBox="1"/>
          <p:nvPr/>
        </p:nvSpPr>
        <p:spPr>
          <a:xfrm>
            <a:off x="580020" y="155151"/>
            <a:ext cx="8427346"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KIUBBN+SimSun"/>
              </a:rPr>
              <a:t>部分伪码</a:t>
            </a:r>
            <a:endParaRPr sz="4000" b="1" spc="11" dirty="0">
              <a:solidFill>
                <a:srgbClr val="C00000"/>
              </a:solidFill>
              <a:latin typeface="黑体" panose="02010609060101010101" pitchFamily="49" charset="-122"/>
              <a:ea typeface="黑体" panose="02010609060101010101" pitchFamily="49" charset="-122"/>
              <a:cs typeface="KIUBBN+SimSun"/>
            </a:endParaRPr>
          </a:p>
        </p:txBody>
      </p:sp>
      <p:sp>
        <p:nvSpPr>
          <p:cNvPr id="9" name="object 9"/>
          <p:cNvSpPr txBox="1"/>
          <p:nvPr/>
        </p:nvSpPr>
        <p:spPr>
          <a:xfrm>
            <a:off x="4877469" y="910701"/>
            <a:ext cx="1172292" cy="738664"/>
          </a:xfrm>
          <a:prstGeom prst="rect">
            <a:avLst/>
          </a:prstGeom>
        </p:spPr>
        <p:txBody>
          <a:bodyPr vert="horz" wrap="square" lIns="0" tIns="0" rIns="0" bIns="0" rtlCol="0">
            <a:spAutoFit/>
          </a:bodyPr>
          <a:lstStyle/>
          <a:p>
            <a:pPr marL="13770" algn="ctr">
              <a:spcBef>
                <a:spcPct val="0"/>
              </a:spcBef>
              <a:spcAft>
                <a:spcPct val="0"/>
              </a:spcAft>
            </a:pPr>
            <a:r>
              <a:rPr sz="2400" dirty="0" err="1" smtClean="0">
                <a:solidFill>
                  <a:srgbClr val="FFFFFF"/>
                </a:solidFill>
                <a:latin typeface="黑体" panose="02010609060101010101" pitchFamily="49" charset="-122"/>
                <a:ea typeface="黑体" panose="02010609060101010101" pitchFamily="49" charset="-122"/>
                <a:cs typeface="KIUBBN+SimSun"/>
              </a:rPr>
              <a:t>子问题</a:t>
            </a:r>
            <a:r>
              <a:rPr sz="2400" spc="-24" dirty="0" smtClean="0">
                <a:solidFill>
                  <a:srgbClr val="FFFFFF"/>
                </a:solidFill>
                <a:latin typeface="黑体" panose="02010609060101010101" pitchFamily="49" charset="-122"/>
                <a:ea typeface="黑体" panose="02010609060101010101" pitchFamily="49" charset="-122"/>
                <a:cs typeface="Times New Roman"/>
              </a:rPr>
              <a:t> </a:t>
            </a:r>
            <a:r>
              <a:rPr sz="2400" b="1" i="1" dirty="0" err="1">
                <a:solidFill>
                  <a:srgbClr val="FFFFFF"/>
                </a:solidFill>
                <a:latin typeface="黑体" panose="02010609060101010101" pitchFamily="49" charset="-122"/>
                <a:ea typeface="黑体" panose="02010609060101010101" pitchFamily="49" charset="-122"/>
                <a:cs typeface="FPNFRH+TimesNewRomanPS-BoldItalicMT"/>
              </a:rPr>
              <a:t>i</a:t>
            </a:r>
            <a:r>
              <a:rPr sz="2400" b="1" i="1" dirty="0">
                <a:solidFill>
                  <a:srgbClr val="FFFFFF"/>
                </a:solidFill>
                <a:latin typeface="黑体" panose="02010609060101010101" pitchFamily="49" charset="-122"/>
                <a:ea typeface="黑体" panose="02010609060101010101" pitchFamily="49" charset="-122"/>
                <a:cs typeface="FPNFRH+TimesNewRomanPS-BoldItalicMT"/>
              </a:rPr>
              <a:t>-j</a:t>
            </a:r>
          </a:p>
        </p:txBody>
      </p:sp>
      <p:sp>
        <p:nvSpPr>
          <p:cNvPr id="10" name="object 10"/>
          <p:cNvSpPr txBox="1"/>
          <p:nvPr/>
        </p:nvSpPr>
        <p:spPr>
          <a:xfrm>
            <a:off x="583216" y="1611343"/>
            <a:ext cx="6931681" cy="628377"/>
          </a:xfrm>
          <a:prstGeom prst="rect">
            <a:avLst/>
          </a:prstGeom>
        </p:spPr>
        <p:txBody>
          <a:bodyPr vert="horz" wrap="square" lIns="0" tIns="0" rIns="0" bIns="0" rtlCol="0">
            <a:spAutoFit/>
          </a:bodyPr>
          <a:lstStyle/>
          <a:p>
            <a:pPr>
              <a:lnSpc>
                <a:spcPts val="2351"/>
              </a:lnSpc>
              <a:spcBef>
                <a:spcPct val="0"/>
              </a:spcBef>
              <a:spcAft>
                <a:spcPct val="0"/>
              </a:spcAft>
            </a:pPr>
            <a:r>
              <a:rPr sz="2400" b="1" dirty="0">
                <a:solidFill>
                  <a:srgbClr val="000000"/>
                </a:solidFill>
                <a:latin typeface="黑体" panose="02010609060101010101" pitchFamily="49" charset="-122"/>
                <a:ea typeface="黑体" panose="02010609060101010101" pitchFamily="49" charset="-122"/>
                <a:cs typeface="KIUBBN+SimSun"/>
              </a:rPr>
              <a:t>算法</a:t>
            </a:r>
            <a:r>
              <a:rPr sz="2400" b="1" dirty="0">
                <a:solidFill>
                  <a:srgbClr val="000000"/>
                </a:solidFill>
                <a:latin typeface="黑体" panose="02010609060101010101" pitchFamily="49" charset="-122"/>
                <a:ea typeface="黑体" panose="02010609060101010101" pitchFamily="49" charset="-122"/>
                <a:cs typeface="BJBEMS+TimesNewRomanPS-BoldMT"/>
              </a:rPr>
              <a:t>1</a:t>
            </a:r>
            <a:r>
              <a:rPr sz="2400" b="1" spc="545" dirty="0">
                <a:solidFill>
                  <a:srgbClr val="000000"/>
                </a:solidFill>
                <a:latin typeface="黑体" panose="02010609060101010101" pitchFamily="49" charset="-122"/>
                <a:ea typeface="黑体" panose="02010609060101010101" pitchFamily="49" charset="-122"/>
                <a:cs typeface="BJBEMS+TimesNewRomanPS-BoldMT"/>
              </a:rPr>
              <a:t> </a:t>
            </a:r>
            <a:r>
              <a:rPr sz="2400" b="1" dirty="0" err="1">
                <a:solidFill>
                  <a:srgbClr val="FF0000"/>
                </a:solidFill>
                <a:latin typeface="Times New Roman" panose="02020603050405020304" pitchFamily="18" charset="0"/>
                <a:cs typeface="Times New Roman" panose="02020603050405020304" pitchFamily="18" charset="0"/>
              </a:rPr>
              <a:t>RecurMatrixChain</a:t>
            </a:r>
            <a:r>
              <a:rPr sz="2400" b="1" dirty="0">
                <a:solidFill>
                  <a:srgbClr val="FF0000"/>
                </a:solidFill>
                <a:latin typeface="Times New Roman" panose="02020603050405020304" pitchFamily="18" charset="0"/>
                <a:cs typeface="Times New Roman" panose="02020603050405020304" pitchFamily="18" charset="0"/>
              </a:rPr>
              <a:t> </a:t>
            </a:r>
            <a:r>
              <a:rPr sz="2400" b="1" spc="13" dirty="0">
                <a:solidFill>
                  <a:srgbClr val="FF0000"/>
                </a:solidFill>
                <a:latin typeface="Times New Roman" panose="02020603050405020304" pitchFamily="18" charset="0"/>
                <a:cs typeface="Times New Roman" panose="02020603050405020304" pitchFamily="18" charset="0"/>
              </a:rPr>
              <a:t>(</a:t>
            </a:r>
            <a:r>
              <a:rPr sz="2400" b="1" i="1" spc="-276" dirty="0">
                <a:solidFill>
                  <a:srgbClr val="FF0000"/>
                </a:solidFill>
                <a:latin typeface="Times New Roman" panose="02020603050405020304" pitchFamily="18" charset="0"/>
                <a:cs typeface="Times New Roman" panose="02020603050405020304" pitchFamily="18" charset="0"/>
              </a:rPr>
              <a:t>P,</a:t>
            </a:r>
            <a:r>
              <a:rPr sz="2400" b="1" i="1" spc="277" dirty="0">
                <a:solidFill>
                  <a:srgbClr val="FF0000"/>
                </a:solidFill>
                <a:latin typeface="Times New Roman" panose="02020603050405020304" pitchFamily="18" charset="0"/>
                <a:cs typeface="Times New Roman" panose="02020603050405020304" pitchFamily="18" charset="0"/>
              </a:rPr>
              <a:t> </a:t>
            </a:r>
            <a:r>
              <a:rPr sz="2400" b="1" i="1" dirty="0" err="1">
                <a:solidFill>
                  <a:srgbClr val="FF0000"/>
                </a:solidFill>
                <a:latin typeface="Times New Roman" panose="02020603050405020304" pitchFamily="18" charset="0"/>
                <a:cs typeface="Times New Roman" panose="02020603050405020304" pitchFamily="18" charset="0"/>
              </a:rPr>
              <a:t>i</a:t>
            </a:r>
            <a:r>
              <a:rPr sz="2400" b="1" i="1" dirty="0">
                <a:solidFill>
                  <a:srgbClr val="FF0000"/>
                </a:solidFill>
                <a:latin typeface="Times New Roman" panose="02020603050405020304" pitchFamily="18" charset="0"/>
                <a:cs typeface="Times New Roman" panose="02020603050405020304" pitchFamily="18" charset="0"/>
              </a:rPr>
              <a:t>, j</a:t>
            </a:r>
            <a:r>
              <a:rPr sz="2400" b="1" dirty="0">
                <a:solidFill>
                  <a:srgbClr val="FF0000"/>
                </a:solidFill>
                <a:latin typeface="Times New Roman" panose="02020603050405020304" pitchFamily="18" charset="0"/>
                <a:cs typeface="Times New Roman" panose="02020603050405020304" pitchFamily="18" charset="0"/>
              </a:rPr>
              <a:t>)</a:t>
            </a:r>
          </a:p>
          <a:p>
            <a:pPr>
              <a:lnSpc>
                <a:spcPts val="2532"/>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1.</a:t>
            </a:r>
            <a:r>
              <a:rPr sz="2400" b="1" spc="529" dirty="0">
                <a:solidFill>
                  <a:srgbClr val="000000"/>
                </a:solidFill>
                <a:latin typeface="Times New Roman" panose="02020603050405020304" pitchFamily="18" charset="0"/>
                <a:cs typeface="Times New Roman" panose="02020603050405020304" pitchFamily="18" charset="0"/>
              </a:rPr>
              <a:t> </a:t>
            </a:r>
            <a:r>
              <a:rPr sz="2400" b="1" i="1" dirty="0">
                <a:solidFill>
                  <a:srgbClr val="000000"/>
                </a:solidFill>
                <a:latin typeface="Times New Roman" panose="02020603050405020304" pitchFamily="18" charset="0"/>
                <a:cs typeface="Times New Roman" panose="02020603050405020304" pitchFamily="18" charset="0"/>
              </a:rPr>
              <a:t>m</a:t>
            </a:r>
            <a:r>
              <a:rPr sz="2400" b="1" dirty="0">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i,j</a:t>
            </a:r>
            <a:r>
              <a:rPr sz="2400" b="1" dirty="0">
                <a:solidFill>
                  <a:srgbClr val="000000"/>
                </a:solidFill>
                <a:latin typeface="Times New Roman" panose="02020603050405020304" pitchFamily="18" charset="0"/>
                <a:cs typeface="Times New Roman" panose="02020603050405020304" pitchFamily="18" charset="0"/>
              </a:rPr>
              <a:t>]</a:t>
            </a:r>
            <a:r>
              <a:rPr sz="2400" dirty="0">
                <a:solidFill>
                  <a:srgbClr val="000000"/>
                </a:solidFill>
                <a:latin typeface="Times New Roman" panose="02020603050405020304" pitchFamily="18" charset="0"/>
                <a:cs typeface="Times New Roman" panose="02020603050405020304" pitchFamily="18" charset="0"/>
              </a:rPr>
              <a:t>←∞</a:t>
            </a:r>
          </a:p>
        </p:txBody>
      </p:sp>
      <p:sp>
        <p:nvSpPr>
          <p:cNvPr id="11" name="object 11"/>
          <p:cNvSpPr txBox="1"/>
          <p:nvPr/>
        </p:nvSpPr>
        <p:spPr>
          <a:xfrm>
            <a:off x="3681160" y="1916621"/>
            <a:ext cx="973644" cy="738664"/>
          </a:xfrm>
          <a:prstGeom prst="rect">
            <a:avLst/>
          </a:prstGeom>
        </p:spPr>
        <p:txBody>
          <a:bodyPr vert="horz" wrap="square" lIns="0" tIns="0" rIns="0" bIns="0" rtlCol="0">
            <a:spAutoFit/>
          </a:bodyPr>
          <a:lstStyle/>
          <a:p>
            <a:pPr marL="60750">
              <a:spcAft>
                <a:spcPct val="0"/>
              </a:spcAft>
            </a:pPr>
            <a:r>
              <a:rPr sz="2400" dirty="0" err="1">
                <a:solidFill>
                  <a:srgbClr val="FFFFFF"/>
                </a:solidFill>
                <a:latin typeface="Times New Roman" panose="02020603050405020304" pitchFamily="18" charset="0"/>
                <a:cs typeface="Times New Roman" panose="02020603050405020304" pitchFamily="18" charset="0"/>
              </a:rPr>
              <a:t>划分</a:t>
            </a:r>
            <a:endParaRPr sz="2400" dirty="0">
              <a:solidFill>
                <a:srgbClr val="FFFFFF"/>
              </a:solidFill>
              <a:latin typeface="Times New Roman" panose="02020603050405020304" pitchFamily="18" charset="0"/>
              <a:cs typeface="Times New Roman" panose="02020603050405020304" pitchFamily="18" charset="0"/>
            </a:endParaRPr>
          </a:p>
          <a:p>
            <a:pPr>
              <a:spcAft>
                <a:spcPct val="0"/>
              </a:spcAft>
            </a:pPr>
            <a:r>
              <a:rPr sz="2400" dirty="0" err="1">
                <a:solidFill>
                  <a:srgbClr val="FFFFFF"/>
                </a:solidFill>
                <a:latin typeface="Times New Roman" panose="02020603050405020304" pitchFamily="18" charset="0"/>
                <a:cs typeface="Times New Roman" panose="02020603050405020304" pitchFamily="18" charset="0"/>
              </a:rPr>
              <a:t>位置</a:t>
            </a:r>
            <a:r>
              <a:rPr sz="2400" b="1" i="1" dirty="0" err="1">
                <a:solidFill>
                  <a:srgbClr val="FFFFFF"/>
                </a:solidFill>
                <a:latin typeface="Times New Roman" panose="02020603050405020304" pitchFamily="18" charset="0"/>
                <a:cs typeface="Times New Roman" panose="02020603050405020304" pitchFamily="18" charset="0"/>
              </a:rPr>
              <a:t>k</a:t>
            </a:r>
            <a:endParaRPr sz="2400" b="1" i="1" dirty="0">
              <a:solidFill>
                <a:srgbClr val="FFFFFF"/>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583215" y="2226111"/>
            <a:ext cx="4038412" cy="333425"/>
          </a:xfrm>
          <a:prstGeom prst="rect">
            <a:avLst/>
          </a:prstGeom>
        </p:spPr>
        <p:txBody>
          <a:bodyPr vert="horz" wrap="square" lIns="0" tIns="0" rIns="0" bIns="0" rtlCol="0">
            <a:spAutoFit/>
          </a:bodyPr>
          <a:lstStyle/>
          <a:p>
            <a:pPr>
              <a:lnSpc>
                <a:spcPts val="2601"/>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2.</a:t>
            </a:r>
            <a:r>
              <a:rPr sz="2400" b="1" spc="529" dirty="0">
                <a:solidFill>
                  <a:srgbClr val="000000"/>
                </a:solidFill>
                <a:latin typeface="Times New Roman" panose="02020603050405020304" pitchFamily="18" charset="0"/>
                <a:cs typeface="Times New Roman" panose="02020603050405020304" pitchFamily="18" charset="0"/>
              </a:rPr>
              <a:t> </a:t>
            </a:r>
            <a:r>
              <a:rPr sz="2400" b="1" i="1" dirty="0">
                <a:solidFill>
                  <a:srgbClr val="000000"/>
                </a:solidFill>
                <a:latin typeface="Times New Roman" panose="02020603050405020304" pitchFamily="18" charset="0"/>
                <a:cs typeface="Times New Roman" panose="02020603050405020304" pitchFamily="18" charset="0"/>
              </a:rPr>
              <a:t>s</a:t>
            </a:r>
            <a:r>
              <a:rPr sz="2400" b="1" dirty="0">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i,j</a:t>
            </a:r>
            <a:r>
              <a:rPr sz="2400" b="1" dirty="0">
                <a:solidFill>
                  <a:srgbClr val="000000"/>
                </a:solidFill>
                <a:latin typeface="Times New Roman" panose="02020603050405020304" pitchFamily="18" charset="0"/>
                <a:cs typeface="Times New Roman" panose="02020603050405020304" pitchFamily="18" charset="0"/>
              </a:rPr>
              <a:t>]</a:t>
            </a:r>
            <a:r>
              <a:rPr sz="2400" dirty="0">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i</a:t>
            </a:r>
            <a:endParaRPr sz="2400" b="1" i="1" dirty="0">
              <a:solidFill>
                <a:srgbClr val="000000"/>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580020" y="2596691"/>
            <a:ext cx="6304256" cy="333425"/>
          </a:xfrm>
          <a:prstGeom prst="rect">
            <a:avLst/>
          </a:prstGeom>
        </p:spPr>
        <p:txBody>
          <a:bodyPr vert="horz" wrap="square" lIns="0" tIns="0" rIns="0" bIns="0" rtlCol="0">
            <a:spAutoFit/>
          </a:bodyPr>
          <a:lstStyle/>
          <a:p>
            <a:pPr>
              <a:lnSpc>
                <a:spcPts val="2601"/>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3.</a:t>
            </a:r>
            <a:r>
              <a:rPr sz="2400" b="1" spc="529" dirty="0">
                <a:solidFill>
                  <a:srgbClr val="00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for</a:t>
            </a:r>
            <a:r>
              <a:rPr sz="2400" b="1" spc="476" dirty="0">
                <a:solidFill>
                  <a:srgbClr val="FF0000"/>
                </a:solidFill>
                <a:latin typeface="Times New Roman" panose="02020603050405020304" pitchFamily="18" charset="0"/>
                <a:cs typeface="Times New Roman" panose="02020603050405020304" pitchFamily="18" charset="0"/>
              </a:rPr>
              <a:t> </a:t>
            </a:r>
            <a:r>
              <a:rPr sz="2400" b="1" i="1" dirty="0" err="1">
                <a:solidFill>
                  <a:srgbClr val="FF0000"/>
                </a:solidFill>
                <a:latin typeface="Times New Roman" panose="02020603050405020304" pitchFamily="18" charset="0"/>
                <a:cs typeface="Times New Roman" panose="02020603050405020304" pitchFamily="18" charset="0"/>
              </a:rPr>
              <a:t>k</a:t>
            </a:r>
            <a:r>
              <a:rPr sz="2400" dirty="0" err="1">
                <a:solidFill>
                  <a:srgbClr val="FF0000"/>
                </a:solidFill>
                <a:latin typeface="Times New Roman" panose="02020603050405020304" pitchFamily="18" charset="0"/>
                <a:cs typeface="Times New Roman" panose="02020603050405020304" pitchFamily="18" charset="0"/>
              </a:rPr>
              <a:t>←</a:t>
            </a:r>
            <a:r>
              <a:rPr sz="2400" b="1" i="1" dirty="0" err="1">
                <a:solidFill>
                  <a:srgbClr val="FF0000"/>
                </a:solidFill>
                <a:latin typeface="Times New Roman" panose="02020603050405020304" pitchFamily="18" charset="0"/>
                <a:cs typeface="Times New Roman" panose="02020603050405020304" pitchFamily="18" charset="0"/>
              </a:rPr>
              <a:t>i</a:t>
            </a:r>
            <a:r>
              <a:rPr sz="2400" b="1" i="1" spc="523"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to</a:t>
            </a:r>
            <a:r>
              <a:rPr sz="2400" b="1" spc="523" dirty="0">
                <a:solidFill>
                  <a:srgbClr val="FF0000"/>
                </a:solidFill>
                <a:latin typeface="Times New Roman" panose="02020603050405020304" pitchFamily="18" charset="0"/>
                <a:cs typeface="Times New Roman" panose="02020603050405020304" pitchFamily="18" charset="0"/>
              </a:rPr>
              <a:t> </a:t>
            </a:r>
            <a:r>
              <a:rPr sz="2400" b="1" i="1" dirty="0">
                <a:solidFill>
                  <a:srgbClr val="FF0000"/>
                </a:solidFill>
                <a:latin typeface="Times New Roman" panose="02020603050405020304" pitchFamily="18" charset="0"/>
                <a:cs typeface="Times New Roman" panose="02020603050405020304" pitchFamily="18" charset="0"/>
              </a:rPr>
              <a:t>j</a:t>
            </a:r>
            <a:r>
              <a:rPr sz="2400" dirty="0">
                <a:solidFill>
                  <a:srgbClr val="FF0000"/>
                </a:solidFill>
                <a:latin typeface="Times New Roman" panose="02020603050405020304" pitchFamily="18" charset="0"/>
                <a:cs typeface="Times New Roman" panose="02020603050405020304" pitchFamily="18" charset="0"/>
              </a:rPr>
              <a:t>−</a:t>
            </a:r>
            <a:r>
              <a:rPr sz="2400" b="1" dirty="0">
                <a:solidFill>
                  <a:srgbClr val="FF0000"/>
                </a:solidFill>
                <a:latin typeface="Times New Roman" panose="02020603050405020304" pitchFamily="18" charset="0"/>
                <a:cs typeface="Times New Roman" panose="02020603050405020304" pitchFamily="18" charset="0"/>
              </a:rPr>
              <a:t>1</a:t>
            </a:r>
            <a:r>
              <a:rPr sz="2400" b="1" spc="-13"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do</a:t>
            </a:r>
          </a:p>
        </p:txBody>
      </p:sp>
      <p:sp>
        <p:nvSpPr>
          <p:cNvPr id="14" name="object 14"/>
          <p:cNvSpPr txBox="1"/>
          <p:nvPr/>
        </p:nvSpPr>
        <p:spPr>
          <a:xfrm>
            <a:off x="583216" y="2930115"/>
            <a:ext cx="5786053" cy="333425"/>
          </a:xfrm>
          <a:prstGeom prst="rect">
            <a:avLst/>
          </a:prstGeom>
        </p:spPr>
        <p:txBody>
          <a:bodyPr vert="horz" wrap="square" lIns="0" tIns="0" rIns="0" bIns="0" rtlCol="0">
            <a:spAutoFit/>
          </a:bodyPr>
          <a:lstStyle/>
          <a:p>
            <a:pPr>
              <a:lnSpc>
                <a:spcPts val="2601"/>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4.</a:t>
            </a:r>
            <a:r>
              <a:rPr sz="2400" b="1" spc="2126" dirty="0">
                <a:solidFill>
                  <a:srgbClr val="000000"/>
                </a:solidFill>
                <a:latin typeface="Times New Roman" panose="02020603050405020304" pitchFamily="18" charset="0"/>
                <a:cs typeface="Times New Roman" panose="02020603050405020304" pitchFamily="18" charset="0"/>
              </a:rPr>
              <a:t> </a:t>
            </a:r>
            <a:r>
              <a:rPr sz="2400" b="1" i="1" dirty="0" err="1">
                <a:solidFill>
                  <a:srgbClr val="000000"/>
                </a:solidFill>
                <a:latin typeface="Times New Roman" panose="02020603050405020304" pitchFamily="18" charset="0"/>
                <a:cs typeface="Times New Roman" panose="02020603050405020304" pitchFamily="18" charset="0"/>
              </a:rPr>
              <a:t>q</a:t>
            </a:r>
            <a:r>
              <a:rPr sz="2400" dirty="0" err="1">
                <a:solidFill>
                  <a:srgbClr val="000000"/>
                </a:solidFill>
                <a:latin typeface="Times New Roman" panose="02020603050405020304" pitchFamily="18" charset="0"/>
                <a:cs typeface="Times New Roman" panose="02020603050405020304" pitchFamily="18" charset="0"/>
              </a:rPr>
              <a:t>←</a:t>
            </a:r>
            <a:r>
              <a:rPr sz="2400" b="1" dirty="0" err="1">
                <a:solidFill>
                  <a:srgbClr val="000000"/>
                </a:solidFill>
                <a:latin typeface="Times New Roman" panose="02020603050405020304" pitchFamily="18" charset="0"/>
                <a:cs typeface="Times New Roman" panose="02020603050405020304" pitchFamily="18" charset="0"/>
              </a:rPr>
              <a:t>RecurMatrixChain</a:t>
            </a:r>
            <a:r>
              <a:rPr sz="2400" b="1" dirty="0">
                <a:solidFill>
                  <a:srgbClr val="000000"/>
                </a:solidFill>
                <a:latin typeface="Times New Roman" panose="02020603050405020304" pitchFamily="18" charset="0"/>
                <a:cs typeface="Times New Roman" panose="02020603050405020304" pitchFamily="18" charset="0"/>
              </a:rPr>
              <a:t>(</a:t>
            </a:r>
            <a:r>
              <a:rPr sz="2400" b="1" i="1" spc="-55" dirty="0" err="1">
                <a:solidFill>
                  <a:srgbClr val="000000"/>
                </a:solidFill>
                <a:latin typeface="Times New Roman" panose="02020603050405020304" pitchFamily="18" charset="0"/>
                <a:cs typeface="Times New Roman" panose="02020603050405020304" pitchFamily="18" charset="0"/>
              </a:rPr>
              <a:t>P,i,k</a:t>
            </a:r>
            <a:r>
              <a:rPr sz="2400" b="1" dirty="0">
                <a:solidFill>
                  <a:srgbClr val="000000"/>
                </a:solidFill>
                <a:latin typeface="Times New Roman" panose="02020603050405020304" pitchFamily="18" charset="0"/>
                <a:cs typeface="Times New Roman" panose="02020603050405020304" pitchFamily="18" charset="0"/>
              </a:rPr>
              <a:t>)</a:t>
            </a:r>
          </a:p>
        </p:txBody>
      </p:sp>
      <p:sp>
        <p:nvSpPr>
          <p:cNvPr id="15" name="object 15"/>
          <p:cNvSpPr txBox="1"/>
          <p:nvPr/>
        </p:nvSpPr>
        <p:spPr>
          <a:xfrm>
            <a:off x="1718875" y="3315154"/>
            <a:ext cx="6300518" cy="307777"/>
          </a:xfrm>
          <a:prstGeom prst="rect">
            <a:avLst/>
          </a:prstGeom>
        </p:spPr>
        <p:txBody>
          <a:bodyPr vert="horz" wrap="square" lIns="0" tIns="0" rIns="0" bIns="0" rtlCol="0">
            <a:spAutoFit/>
          </a:bodyPr>
          <a:lstStyle/>
          <a:p>
            <a:pPr>
              <a:lnSpc>
                <a:spcPts val="2351"/>
              </a:lnSpc>
              <a:spcBef>
                <a:spcPct val="0"/>
              </a:spcBef>
              <a:spcAft>
                <a:spcPct val="0"/>
              </a:spcAft>
            </a:pPr>
            <a:r>
              <a:rPr sz="2400" b="1" dirty="0">
                <a:solidFill>
                  <a:srgbClr val="000000"/>
                </a:solidFill>
                <a:latin typeface="BJBEMS+TimesNewRomanPS-BoldMT"/>
                <a:cs typeface="BJBEMS+TimesNewRomanPS-BoldMT"/>
              </a:rPr>
              <a:t>+</a:t>
            </a:r>
            <a:r>
              <a:rPr sz="2400" b="1" dirty="0" err="1">
                <a:solidFill>
                  <a:srgbClr val="000000"/>
                </a:solidFill>
                <a:latin typeface="Times New Roman" panose="02020603050405020304" pitchFamily="18" charset="0"/>
                <a:cs typeface="Times New Roman" panose="02020603050405020304" pitchFamily="18" charset="0"/>
              </a:rPr>
              <a:t>RecurMatrixChain</a:t>
            </a:r>
            <a:r>
              <a:rPr sz="2400" b="1" dirty="0">
                <a:solidFill>
                  <a:srgbClr val="000000"/>
                </a:solidFill>
                <a:latin typeface="Times New Roman" panose="02020603050405020304" pitchFamily="18" charset="0"/>
                <a:cs typeface="Times New Roman" panose="02020603050405020304" pitchFamily="18" charset="0"/>
              </a:rPr>
              <a:t>(</a:t>
            </a:r>
            <a:r>
              <a:rPr sz="2400" b="1" i="1" dirty="0">
                <a:solidFill>
                  <a:srgbClr val="000000"/>
                </a:solidFill>
                <a:latin typeface="Times New Roman" panose="02020603050405020304" pitchFamily="18" charset="0"/>
                <a:cs typeface="Times New Roman" panose="02020603050405020304" pitchFamily="18" charset="0"/>
              </a:rPr>
              <a:t>P</a:t>
            </a:r>
            <a:r>
              <a:rPr sz="2400" b="1" i="1" spc="-275" dirty="0" smtClean="0">
                <a:solidFill>
                  <a:srgbClr val="000000"/>
                </a:solidFill>
                <a:latin typeface="Times New Roman" panose="02020603050405020304" pitchFamily="18" charset="0"/>
                <a:cs typeface="Times New Roman" panose="02020603050405020304" pitchFamily="18" charset="0"/>
              </a:rPr>
              <a:t>,</a:t>
            </a:r>
            <a:r>
              <a:rPr lang="en-US" sz="2400" b="1" i="1" spc="-275" dirty="0" smtClean="0">
                <a:solidFill>
                  <a:srgbClr val="000000"/>
                </a:solidFill>
                <a:latin typeface="Times New Roman" panose="02020603050405020304" pitchFamily="18" charset="0"/>
                <a:cs typeface="Times New Roman" panose="02020603050405020304" pitchFamily="18" charset="0"/>
              </a:rPr>
              <a:t> </a:t>
            </a:r>
            <a:r>
              <a:rPr sz="2400" b="1" i="1" dirty="0" smtClean="0">
                <a:solidFill>
                  <a:srgbClr val="000000"/>
                </a:solidFill>
                <a:latin typeface="Times New Roman" panose="02020603050405020304" pitchFamily="18" charset="0"/>
                <a:cs typeface="Times New Roman" panose="02020603050405020304" pitchFamily="18" charset="0"/>
              </a:rPr>
              <a:t>k</a:t>
            </a:r>
            <a:r>
              <a:rPr sz="2400" b="1" dirty="0" smtClean="0">
                <a:solidFill>
                  <a:srgbClr val="000000"/>
                </a:solidFill>
                <a:latin typeface="Times New Roman" panose="02020603050405020304" pitchFamily="18" charset="0"/>
                <a:cs typeface="Times New Roman" panose="02020603050405020304" pitchFamily="18" charset="0"/>
              </a:rPr>
              <a:t>+1,</a:t>
            </a:r>
            <a:r>
              <a:rPr lang="en-US" sz="2400" b="1" dirty="0" smtClean="0">
                <a:solidFill>
                  <a:srgbClr val="000000"/>
                </a:solidFill>
                <a:latin typeface="Times New Roman" panose="02020603050405020304" pitchFamily="18" charset="0"/>
                <a:cs typeface="Times New Roman" panose="02020603050405020304" pitchFamily="18" charset="0"/>
              </a:rPr>
              <a:t> </a:t>
            </a:r>
            <a:r>
              <a:rPr sz="2400" b="1" i="1" dirty="0" smtClean="0">
                <a:solidFill>
                  <a:srgbClr val="000000"/>
                </a:solidFill>
                <a:latin typeface="Times New Roman" panose="02020603050405020304" pitchFamily="18" charset="0"/>
                <a:cs typeface="Times New Roman" panose="02020603050405020304" pitchFamily="18" charset="0"/>
              </a:rPr>
              <a:t>j</a:t>
            </a:r>
            <a:r>
              <a:rPr sz="2400" b="1" dirty="0">
                <a:solidFill>
                  <a:srgbClr val="000000"/>
                </a:solidFill>
                <a:latin typeface="Times New Roman" panose="02020603050405020304" pitchFamily="18" charset="0"/>
                <a:cs typeface="Times New Roman" panose="02020603050405020304" pitchFamily="18" charset="0"/>
              </a:rPr>
              <a:t>)+</a:t>
            </a:r>
            <a:r>
              <a:rPr sz="2400" b="1" i="1" dirty="0">
                <a:solidFill>
                  <a:srgbClr val="000000"/>
                </a:solidFill>
                <a:latin typeface="Times New Roman" panose="02020603050405020304" pitchFamily="18" charset="0"/>
                <a:cs typeface="Times New Roman" panose="02020603050405020304" pitchFamily="18" charset="0"/>
              </a:rPr>
              <a:t>p</a:t>
            </a:r>
            <a:r>
              <a:rPr sz="2400" b="1" i="1" baseline="-25000" dirty="0">
                <a:solidFill>
                  <a:srgbClr val="000000"/>
                </a:solidFill>
                <a:latin typeface="Times New Roman" panose="02020603050405020304" pitchFamily="18" charset="0"/>
                <a:cs typeface="Times New Roman" panose="02020603050405020304" pitchFamily="18" charset="0"/>
              </a:rPr>
              <a:t>i</a:t>
            </a:r>
            <a:r>
              <a:rPr sz="2400" baseline="-25000" dirty="0">
                <a:solidFill>
                  <a:srgbClr val="000000"/>
                </a:solidFill>
                <a:latin typeface="Times New Roman" panose="02020603050405020304" pitchFamily="18" charset="0"/>
                <a:cs typeface="Times New Roman" panose="02020603050405020304" pitchFamily="18" charset="0"/>
              </a:rPr>
              <a:t>−</a:t>
            </a:r>
            <a:r>
              <a:rPr sz="2400" b="1" baseline="-25000" dirty="0" smtClean="0">
                <a:solidFill>
                  <a:srgbClr val="000000"/>
                </a:solidFill>
                <a:latin typeface="Times New Roman" panose="02020603050405020304" pitchFamily="18" charset="0"/>
                <a:cs typeface="Times New Roman" panose="02020603050405020304" pitchFamily="18" charset="0"/>
              </a:rPr>
              <a:t>1</a:t>
            </a:r>
            <a:r>
              <a:rPr sz="2400" b="1" i="1" dirty="0" smtClean="0">
                <a:solidFill>
                  <a:srgbClr val="000000"/>
                </a:solidFill>
                <a:latin typeface="Times New Roman" panose="02020603050405020304" pitchFamily="18" charset="0"/>
                <a:cs typeface="Times New Roman" panose="02020603050405020304" pitchFamily="18" charset="0"/>
              </a:rPr>
              <a:t>p</a:t>
            </a:r>
            <a:r>
              <a:rPr sz="2400" b="1" i="1" baseline="-25000" dirty="0" smtClean="0">
                <a:solidFill>
                  <a:srgbClr val="000000"/>
                </a:solidFill>
                <a:latin typeface="Times New Roman" panose="02020603050405020304" pitchFamily="18" charset="0"/>
                <a:cs typeface="Times New Roman" panose="02020603050405020304" pitchFamily="18" charset="0"/>
              </a:rPr>
              <a:t>k</a:t>
            </a:r>
            <a:r>
              <a:rPr sz="2400" b="1" i="1" dirty="0" smtClean="0">
                <a:solidFill>
                  <a:srgbClr val="000000"/>
                </a:solidFill>
                <a:latin typeface="Times New Roman" panose="02020603050405020304" pitchFamily="18" charset="0"/>
                <a:cs typeface="Times New Roman" panose="02020603050405020304" pitchFamily="18" charset="0"/>
              </a:rPr>
              <a:t>p</a:t>
            </a:r>
            <a:r>
              <a:rPr sz="2400" b="1" i="1" baseline="-25000" dirty="0" smtClean="0">
                <a:solidFill>
                  <a:srgbClr val="000000"/>
                </a:solidFill>
                <a:latin typeface="Times New Roman" panose="02020603050405020304" pitchFamily="18" charset="0"/>
                <a:cs typeface="Times New Roman" panose="02020603050405020304" pitchFamily="18" charset="0"/>
              </a:rPr>
              <a:t>j</a:t>
            </a:r>
            <a:endParaRPr sz="2400" b="1" i="1" baseline="-25000" dirty="0">
              <a:solidFill>
                <a:srgbClr val="000000"/>
              </a:solidFill>
              <a:latin typeface="Times New Roman" panose="02020603050405020304" pitchFamily="18" charset="0"/>
              <a:cs typeface="Times New Roman" panose="02020603050405020304" pitchFamily="18" charset="0"/>
            </a:endParaRPr>
          </a:p>
        </p:txBody>
      </p:sp>
      <p:sp>
        <p:nvSpPr>
          <p:cNvPr id="16" name="object 16"/>
          <p:cNvSpPr txBox="1"/>
          <p:nvPr/>
        </p:nvSpPr>
        <p:spPr>
          <a:xfrm>
            <a:off x="583216" y="3636134"/>
            <a:ext cx="5466545" cy="1308050"/>
          </a:xfrm>
          <a:prstGeom prst="rect">
            <a:avLst/>
          </a:prstGeom>
        </p:spPr>
        <p:txBody>
          <a:bodyPr vert="horz" wrap="square" lIns="0" tIns="0" rIns="0" bIns="0" rtlCol="0">
            <a:spAutoFit/>
          </a:bodyPr>
          <a:lstStyle/>
          <a:p>
            <a:pPr>
              <a:lnSpc>
                <a:spcPts val="2351"/>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5.</a:t>
            </a:r>
            <a:r>
              <a:rPr sz="2400" b="1" spc="2121" dirty="0">
                <a:solidFill>
                  <a:srgbClr val="00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if</a:t>
            </a:r>
            <a:r>
              <a:rPr sz="2400" b="1" spc="508" dirty="0">
                <a:solidFill>
                  <a:srgbClr val="FF0000"/>
                </a:solidFill>
                <a:latin typeface="Times New Roman" panose="02020603050405020304" pitchFamily="18" charset="0"/>
                <a:cs typeface="Times New Roman" panose="02020603050405020304" pitchFamily="18" charset="0"/>
              </a:rPr>
              <a:t> </a:t>
            </a:r>
            <a:r>
              <a:rPr sz="2400" b="1" i="1" dirty="0" smtClean="0">
                <a:solidFill>
                  <a:srgbClr val="FF0000"/>
                </a:solidFill>
                <a:latin typeface="Times New Roman" panose="02020603050405020304" pitchFamily="18" charset="0"/>
                <a:cs typeface="Times New Roman" panose="02020603050405020304" pitchFamily="18" charset="0"/>
              </a:rPr>
              <a:t>q</a:t>
            </a:r>
            <a:r>
              <a:rPr lang="en-US" sz="2400" b="1" i="1" dirty="0" smtClean="0">
                <a:solidFill>
                  <a:srgbClr val="FF0000"/>
                </a:solidFill>
                <a:latin typeface="Times New Roman" panose="02020603050405020304" pitchFamily="18" charset="0"/>
                <a:cs typeface="Times New Roman" panose="02020603050405020304" pitchFamily="18" charset="0"/>
              </a:rPr>
              <a:t> </a:t>
            </a:r>
            <a:r>
              <a:rPr sz="2400" b="1" dirty="0" smtClean="0">
                <a:solidFill>
                  <a:srgbClr val="FF0000"/>
                </a:solidFill>
                <a:latin typeface="Times New Roman" panose="02020603050405020304" pitchFamily="18" charset="0"/>
                <a:cs typeface="Times New Roman" panose="02020603050405020304" pitchFamily="18" charset="0"/>
              </a:rPr>
              <a:t>&lt; </a:t>
            </a:r>
            <a:r>
              <a:rPr sz="2400" b="1" i="1" dirty="0">
                <a:solidFill>
                  <a:srgbClr val="FF0000"/>
                </a:solidFill>
                <a:latin typeface="Times New Roman" panose="02020603050405020304" pitchFamily="18" charset="0"/>
                <a:cs typeface="Times New Roman" panose="02020603050405020304" pitchFamily="18" charset="0"/>
              </a:rPr>
              <a:t>m</a:t>
            </a:r>
            <a:r>
              <a:rPr sz="2400" b="1" dirty="0">
                <a:solidFill>
                  <a:srgbClr val="FF0000"/>
                </a:solidFill>
                <a:latin typeface="Times New Roman" panose="02020603050405020304" pitchFamily="18" charset="0"/>
                <a:cs typeface="Times New Roman" panose="02020603050405020304" pitchFamily="18" charset="0"/>
              </a:rPr>
              <a:t>[</a:t>
            </a:r>
            <a:r>
              <a:rPr sz="2400" b="1" i="1" dirty="0" err="1">
                <a:solidFill>
                  <a:srgbClr val="FF0000"/>
                </a:solidFill>
                <a:latin typeface="Times New Roman" panose="02020603050405020304" pitchFamily="18" charset="0"/>
                <a:cs typeface="Times New Roman" panose="02020603050405020304" pitchFamily="18" charset="0"/>
              </a:rPr>
              <a:t>i</a:t>
            </a:r>
            <a:r>
              <a:rPr sz="2400" b="1" dirty="0" err="1">
                <a:solidFill>
                  <a:srgbClr val="FF0000"/>
                </a:solidFill>
                <a:latin typeface="Times New Roman" panose="02020603050405020304" pitchFamily="18" charset="0"/>
                <a:cs typeface="Times New Roman" panose="02020603050405020304" pitchFamily="18" charset="0"/>
              </a:rPr>
              <a:t>,</a:t>
            </a:r>
            <a:r>
              <a:rPr sz="2400" b="1" i="1" dirty="0" err="1">
                <a:solidFill>
                  <a:srgbClr val="FF0000"/>
                </a:solidFill>
                <a:latin typeface="Times New Roman" panose="02020603050405020304" pitchFamily="18" charset="0"/>
                <a:cs typeface="Times New Roman" panose="02020603050405020304" pitchFamily="18" charset="0"/>
              </a:rPr>
              <a:t>j</a:t>
            </a:r>
            <a:r>
              <a:rPr sz="2400" b="1" dirty="0">
                <a:solidFill>
                  <a:srgbClr val="FF0000"/>
                </a:solidFill>
                <a:latin typeface="Times New Roman" panose="02020603050405020304" pitchFamily="18" charset="0"/>
                <a:cs typeface="Times New Roman" panose="02020603050405020304" pitchFamily="18" charset="0"/>
              </a:rPr>
              <a:t>]</a:t>
            </a:r>
          </a:p>
          <a:p>
            <a:pPr>
              <a:lnSpc>
                <a:spcPts val="2557"/>
              </a:lnSpc>
              <a:spcBef>
                <a:spcPct val="0"/>
              </a:spcBef>
              <a:spcAft>
                <a:spcPct val="0"/>
              </a:spcAft>
            </a:pPr>
            <a:r>
              <a:rPr sz="2400" b="1" dirty="0">
                <a:solidFill>
                  <a:srgbClr val="000000"/>
                </a:solidFill>
                <a:latin typeface="Times New Roman" panose="02020603050405020304" pitchFamily="18" charset="0"/>
                <a:cs typeface="Times New Roman" panose="02020603050405020304" pitchFamily="18" charset="0"/>
              </a:rPr>
              <a:t>6.</a:t>
            </a:r>
            <a:r>
              <a:rPr sz="2400" b="1" spc="2121" dirty="0">
                <a:solidFill>
                  <a:srgbClr val="000000"/>
                </a:solidFill>
                <a:latin typeface="Times New Roman" panose="02020603050405020304" pitchFamily="18" charset="0"/>
                <a:cs typeface="Times New Roman" panose="02020603050405020304" pitchFamily="18" charset="0"/>
              </a:rPr>
              <a:t> </a:t>
            </a:r>
            <a:r>
              <a:rPr sz="2400" b="1" dirty="0">
                <a:solidFill>
                  <a:srgbClr val="000000"/>
                </a:solidFill>
                <a:latin typeface="Times New Roman" panose="02020603050405020304" pitchFamily="18" charset="0"/>
                <a:cs typeface="Times New Roman" panose="02020603050405020304" pitchFamily="18" charset="0"/>
              </a:rPr>
              <a:t>then</a:t>
            </a:r>
            <a:r>
              <a:rPr sz="2400" b="1" spc="539" dirty="0">
                <a:solidFill>
                  <a:srgbClr val="000000"/>
                </a:solidFill>
                <a:latin typeface="Times New Roman" panose="02020603050405020304" pitchFamily="18" charset="0"/>
                <a:cs typeface="Times New Roman" panose="02020603050405020304" pitchFamily="18" charset="0"/>
              </a:rPr>
              <a:t> </a:t>
            </a:r>
            <a:r>
              <a:rPr sz="2400" b="1" i="1" dirty="0">
                <a:solidFill>
                  <a:srgbClr val="000000"/>
                </a:solidFill>
                <a:latin typeface="Times New Roman" panose="02020603050405020304" pitchFamily="18" charset="0"/>
                <a:cs typeface="Times New Roman" panose="02020603050405020304" pitchFamily="18" charset="0"/>
              </a:rPr>
              <a:t>m</a:t>
            </a:r>
            <a:r>
              <a:rPr sz="2400" b="1" dirty="0">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i</a:t>
            </a:r>
            <a:r>
              <a:rPr sz="2400" b="1" dirty="0" err="1">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j</a:t>
            </a:r>
            <a:r>
              <a:rPr sz="2400" b="1" dirty="0">
                <a:solidFill>
                  <a:srgbClr val="000000"/>
                </a:solidFill>
                <a:latin typeface="Times New Roman" panose="02020603050405020304" pitchFamily="18" charset="0"/>
                <a:cs typeface="Times New Roman" panose="02020603050405020304" pitchFamily="18" charset="0"/>
              </a:rPr>
              <a:t>]</a:t>
            </a:r>
            <a:r>
              <a:rPr sz="2400" dirty="0">
                <a:solidFill>
                  <a:srgbClr val="000000"/>
                </a:solidFill>
                <a:latin typeface="Times New Roman" panose="02020603050405020304" pitchFamily="18" charset="0"/>
                <a:cs typeface="Times New Roman" panose="02020603050405020304" pitchFamily="18" charset="0"/>
              </a:rPr>
              <a:t>←</a:t>
            </a:r>
            <a:r>
              <a:rPr sz="2400" b="1" i="1" dirty="0">
                <a:solidFill>
                  <a:srgbClr val="000000"/>
                </a:solidFill>
                <a:latin typeface="Times New Roman" panose="02020603050405020304" pitchFamily="18" charset="0"/>
                <a:cs typeface="Times New Roman" panose="02020603050405020304" pitchFamily="18" charset="0"/>
              </a:rPr>
              <a:t>q</a:t>
            </a:r>
          </a:p>
          <a:p>
            <a:pPr>
              <a:lnSpc>
                <a:spcPts val="2351"/>
              </a:lnSpc>
              <a:spcBef>
                <a:spcPts val="199"/>
              </a:spcBef>
              <a:spcAft>
                <a:spcPct val="0"/>
              </a:spcAft>
            </a:pPr>
            <a:r>
              <a:rPr sz="2400" b="1" dirty="0" smtClean="0">
                <a:solidFill>
                  <a:srgbClr val="000000"/>
                </a:solidFill>
                <a:latin typeface="Times New Roman" panose="02020603050405020304" pitchFamily="18" charset="0"/>
                <a:cs typeface="Times New Roman" panose="02020603050405020304" pitchFamily="18" charset="0"/>
              </a:rPr>
              <a:t>7.</a:t>
            </a:r>
            <a:r>
              <a:rPr lang="en-US" sz="2400" b="1" dirty="0" smtClean="0">
                <a:solidFill>
                  <a:srgbClr val="000000"/>
                </a:solidFill>
                <a:latin typeface="Times New Roman" panose="02020603050405020304" pitchFamily="18" charset="0"/>
                <a:cs typeface="Times New Roman" panose="02020603050405020304" pitchFamily="18" charset="0"/>
              </a:rPr>
              <a:t>              </a:t>
            </a:r>
            <a:r>
              <a:rPr sz="2400" b="1" i="1" dirty="0" smtClean="0">
                <a:solidFill>
                  <a:srgbClr val="000000"/>
                </a:solidFill>
                <a:latin typeface="Times New Roman" panose="02020603050405020304" pitchFamily="18" charset="0"/>
                <a:cs typeface="Times New Roman" panose="02020603050405020304" pitchFamily="18" charset="0"/>
              </a:rPr>
              <a:t>s</a:t>
            </a:r>
            <a:r>
              <a:rPr sz="2400" b="1" dirty="0" smtClean="0">
                <a:solidFill>
                  <a:srgbClr val="000000"/>
                </a:solidFill>
                <a:latin typeface="Times New Roman" panose="02020603050405020304" pitchFamily="18" charset="0"/>
                <a:cs typeface="Times New Roman" panose="02020603050405020304" pitchFamily="18" charset="0"/>
              </a:rPr>
              <a:t>[</a:t>
            </a:r>
            <a:r>
              <a:rPr sz="2400" b="1" i="1" dirty="0" err="1" smtClean="0">
                <a:solidFill>
                  <a:srgbClr val="000000"/>
                </a:solidFill>
                <a:latin typeface="Times New Roman" panose="02020603050405020304" pitchFamily="18" charset="0"/>
                <a:cs typeface="Times New Roman" panose="02020603050405020304" pitchFamily="18" charset="0"/>
              </a:rPr>
              <a:t>i</a:t>
            </a:r>
            <a:r>
              <a:rPr sz="2400" b="1" dirty="0" err="1" smtClean="0">
                <a:solidFill>
                  <a:srgbClr val="000000"/>
                </a:solidFill>
                <a:latin typeface="Times New Roman" panose="02020603050405020304" pitchFamily="18" charset="0"/>
                <a:cs typeface="Times New Roman" panose="02020603050405020304" pitchFamily="18" charset="0"/>
              </a:rPr>
              <a:t>,</a:t>
            </a:r>
            <a:r>
              <a:rPr sz="2400" b="1" i="1" dirty="0" err="1" smtClean="0">
                <a:solidFill>
                  <a:srgbClr val="000000"/>
                </a:solidFill>
                <a:latin typeface="Times New Roman" panose="02020603050405020304" pitchFamily="18" charset="0"/>
                <a:cs typeface="Times New Roman" panose="02020603050405020304" pitchFamily="18" charset="0"/>
              </a:rPr>
              <a:t>j</a:t>
            </a:r>
            <a:r>
              <a:rPr sz="2400" b="1" dirty="0">
                <a:solidFill>
                  <a:srgbClr val="000000"/>
                </a:solidFill>
                <a:latin typeface="Times New Roman" panose="02020603050405020304" pitchFamily="18" charset="0"/>
                <a:cs typeface="Times New Roman" panose="02020603050405020304" pitchFamily="18" charset="0"/>
              </a:rPr>
              <a:t>]</a:t>
            </a:r>
            <a:r>
              <a:rPr sz="2400" dirty="0">
                <a:solidFill>
                  <a:srgbClr val="000000"/>
                </a:solidFill>
                <a:latin typeface="Times New Roman" panose="02020603050405020304" pitchFamily="18" charset="0"/>
                <a:cs typeface="Times New Roman" panose="02020603050405020304" pitchFamily="18" charset="0"/>
              </a:rPr>
              <a:t>←</a:t>
            </a:r>
            <a:r>
              <a:rPr sz="2400" b="1" i="1" dirty="0">
                <a:solidFill>
                  <a:srgbClr val="000000"/>
                </a:solidFill>
                <a:latin typeface="Times New Roman" panose="02020603050405020304" pitchFamily="18" charset="0"/>
                <a:cs typeface="Times New Roman" panose="02020603050405020304" pitchFamily="18" charset="0"/>
              </a:rPr>
              <a:t>k</a:t>
            </a:r>
          </a:p>
          <a:p>
            <a:pPr>
              <a:lnSpc>
                <a:spcPts val="2351"/>
              </a:lnSpc>
              <a:spcBef>
                <a:spcPts val="192"/>
              </a:spcBef>
              <a:spcAft>
                <a:spcPct val="0"/>
              </a:spcAft>
            </a:pPr>
            <a:r>
              <a:rPr sz="2400" b="1" dirty="0">
                <a:solidFill>
                  <a:srgbClr val="000000"/>
                </a:solidFill>
                <a:latin typeface="Times New Roman" panose="02020603050405020304" pitchFamily="18" charset="0"/>
                <a:cs typeface="Times New Roman" panose="02020603050405020304" pitchFamily="18" charset="0"/>
              </a:rPr>
              <a:t>8.</a:t>
            </a:r>
            <a:r>
              <a:rPr sz="2400" b="1" spc="527" dirty="0">
                <a:solidFill>
                  <a:srgbClr val="000000"/>
                </a:solidFill>
                <a:latin typeface="Times New Roman" panose="02020603050405020304" pitchFamily="18" charset="0"/>
                <a:cs typeface="Times New Roman" panose="02020603050405020304" pitchFamily="18" charset="0"/>
              </a:rPr>
              <a:t> </a:t>
            </a:r>
            <a:r>
              <a:rPr sz="2400" b="1" dirty="0">
                <a:solidFill>
                  <a:srgbClr val="000000"/>
                </a:solidFill>
                <a:latin typeface="Times New Roman" panose="02020603050405020304" pitchFamily="18" charset="0"/>
                <a:cs typeface="Times New Roman" panose="02020603050405020304" pitchFamily="18" charset="0"/>
              </a:rPr>
              <a:t>return</a:t>
            </a:r>
            <a:r>
              <a:rPr sz="2400" b="1" spc="532" dirty="0">
                <a:solidFill>
                  <a:srgbClr val="000000"/>
                </a:solidFill>
                <a:latin typeface="Times New Roman" panose="02020603050405020304" pitchFamily="18" charset="0"/>
                <a:cs typeface="Times New Roman" panose="02020603050405020304" pitchFamily="18" charset="0"/>
              </a:rPr>
              <a:t> </a:t>
            </a:r>
            <a:r>
              <a:rPr sz="2400" b="1" i="1" dirty="0">
                <a:solidFill>
                  <a:srgbClr val="000000"/>
                </a:solidFill>
                <a:latin typeface="Times New Roman" panose="02020603050405020304" pitchFamily="18" charset="0"/>
                <a:cs typeface="Times New Roman" panose="02020603050405020304" pitchFamily="18" charset="0"/>
              </a:rPr>
              <a:t>m</a:t>
            </a:r>
            <a:r>
              <a:rPr sz="2400" b="1" dirty="0">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i</a:t>
            </a:r>
            <a:r>
              <a:rPr sz="2400" b="1" dirty="0" err="1">
                <a:solidFill>
                  <a:srgbClr val="000000"/>
                </a:solidFill>
                <a:latin typeface="Times New Roman" panose="02020603050405020304" pitchFamily="18" charset="0"/>
                <a:cs typeface="Times New Roman" panose="02020603050405020304" pitchFamily="18" charset="0"/>
              </a:rPr>
              <a:t>,</a:t>
            </a:r>
            <a:r>
              <a:rPr sz="2400" b="1" i="1" dirty="0" err="1">
                <a:solidFill>
                  <a:srgbClr val="000000"/>
                </a:solidFill>
                <a:latin typeface="Times New Roman" panose="02020603050405020304" pitchFamily="18" charset="0"/>
                <a:cs typeface="Times New Roman" panose="02020603050405020304" pitchFamily="18" charset="0"/>
              </a:rPr>
              <a:t>j</a:t>
            </a:r>
            <a:r>
              <a:rPr sz="2400" b="1" dirty="0">
                <a:solidFill>
                  <a:srgbClr val="000000"/>
                </a:solidFill>
                <a:latin typeface="Times New Roman" panose="02020603050405020304" pitchFamily="18" charset="0"/>
                <a:cs typeface="Times New Roman" panose="02020603050405020304" pitchFamily="18" charset="0"/>
              </a:rPr>
              <a:t>]</a:t>
            </a:r>
          </a:p>
        </p:txBody>
      </p:sp>
      <p:sp>
        <p:nvSpPr>
          <p:cNvPr id="17" name="object 17"/>
          <p:cNvSpPr txBox="1"/>
          <p:nvPr/>
        </p:nvSpPr>
        <p:spPr>
          <a:xfrm>
            <a:off x="3417823" y="3820861"/>
            <a:ext cx="1716912" cy="738664"/>
          </a:xfrm>
          <a:prstGeom prst="rect">
            <a:avLst/>
          </a:prstGeom>
        </p:spPr>
        <p:txBody>
          <a:bodyPr vert="horz" wrap="square" lIns="0" tIns="0" rIns="0" bIns="0" rtlCol="0">
            <a:spAutoFit/>
          </a:bodyPr>
          <a:lstStyle/>
          <a:p>
            <a:pPr>
              <a:spcAft>
                <a:spcPct val="0"/>
              </a:spcAft>
            </a:pPr>
            <a:r>
              <a:rPr sz="2400" dirty="0" err="1">
                <a:solidFill>
                  <a:srgbClr val="FFFFFF"/>
                </a:solidFill>
                <a:latin typeface="Times New Roman" panose="02020603050405020304" pitchFamily="18" charset="0"/>
                <a:ea typeface="黑体" panose="02010609060101010101" pitchFamily="49" charset="-122"/>
                <a:cs typeface="Times New Roman" panose="02020603050405020304" pitchFamily="18" charset="0"/>
              </a:rPr>
              <a:t>找到更</a:t>
            </a:r>
            <a:endParaRPr sz="240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400" dirty="0" err="1">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好的解</a:t>
            </a:r>
            <a:endParaRPr sz="240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object 18"/>
          <p:cNvSpPr txBox="1"/>
          <p:nvPr/>
        </p:nvSpPr>
        <p:spPr>
          <a:xfrm>
            <a:off x="580020" y="5323748"/>
            <a:ext cx="8217139" cy="243656"/>
          </a:xfrm>
          <a:prstGeom prst="rect">
            <a:avLst/>
          </a:prstGeom>
        </p:spPr>
        <p:txBody>
          <a:bodyPr vert="horz" wrap="square" lIns="0" tIns="0" rIns="0" bIns="0" rtlCol="0">
            <a:spAutoFit/>
          </a:bodyPr>
          <a:lstStyle/>
          <a:p>
            <a:pPr>
              <a:lnSpc>
                <a:spcPts val="1913"/>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KIUBBN+SimSun"/>
              </a:rPr>
              <a:t>这里没有写出算法的全部描述（递归边界</a:t>
            </a:r>
            <a:r>
              <a:rPr sz="2800" b="1" spc="12" dirty="0">
                <a:solidFill>
                  <a:srgbClr val="000000"/>
                </a:solidFill>
                <a:latin typeface="黑体" panose="02010609060101010101" pitchFamily="49" charset="-122"/>
                <a:ea typeface="黑体" panose="02010609060101010101" pitchFamily="49" charset="-122"/>
                <a:cs typeface="KIUBBN+SimSun"/>
              </a:rPr>
              <a:t>）</a:t>
            </a:r>
          </a:p>
        </p:txBody>
      </p:sp>
    </p:spTree>
    <p:extLst>
      <p:ext uri="{BB962C8B-B14F-4D97-AF65-F5344CB8AC3E}">
        <p14:creationId xmlns:p14="http://schemas.microsoft.com/office/powerpoint/2010/main" val="11172339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p:bldP spid="11"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1692" y="234038"/>
            <a:ext cx="8858942"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KIUBBN+SimSun"/>
              </a:rPr>
              <a:t>算法分析</a:t>
            </a:r>
            <a:endParaRPr sz="4000" b="1" spc="11" dirty="0">
              <a:solidFill>
                <a:srgbClr val="C00000"/>
              </a:solidFill>
              <a:latin typeface="黑体" panose="02010609060101010101" pitchFamily="49" charset="-122"/>
              <a:ea typeface="黑体" panose="02010609060101010101" pitchFamily="49" charset="-122"/>
              <a:cs typeface="KIUBBN+SimSun"/>
            </a:endParaRPr>
          </a:p>
        </p:txBody>
      </p:sp>
      <p:sp>
        <p:nvSpPr>
          <p:cNvPr id="4" name="object 4"/>
          <p:cNvSpPr txBox="1"/>
          <p:nvPr/>
        </p:nvSpPr>
        <p:spPr>
          <a:xfrm>
            <a:off x="502214" y="1439230"/>
            <a:ext cx="5777288" cy="333425"/>
          </a:xfrm>
          <a:prstGeom prst="rect">
            <a:avLst/>
          </a:prstGeom>
        </p:spPr>
        <p:txBody>
          <a:bodyPr vert="horz" wrap="square" lIns="0" tIns="0" rIns="0" bIns="0" rtlCol="0">
            <a:spAutoFit/>
          </a:bodyPr>
          <a:lstStyle/>
          <a:p>
            <a:pPr>
              <a:lnSpc>
                <a:spcPts val="2551"/>
              </a:lnSpc>
              <a:spcBef>
                <a:spcPct val="0"/>
              </a:spcBef>
              <a:spcAft>
                <a:spcPct val="0"/>
              </a:spcAft>
            </a:pPr>
            <a:r>
              <a:rPr sz="3200" b="1" spc="11" dirty="0" err="1">
                <a:solidFill>
                  <a:srgbClr val="000000"/>
                </a:solidFill>
                <a:latin typeface="黑体" panose="02010609060101010101" pitchFamily="49" charset="-122"/>
                <a:ea typeface="黑体" panose="02010609060101010101" pitchFamily="49" charset="-122"/>
                <a:cs typeface="KIUBBN+SimSun"/>
              </a:rPr>
              <a:t>时间复杂度的递推方程</a:t>
            </a:r>
            <a:endParaRPr sz="3200" b="1" spc="11" dirty="0">
              <a:solidFill>
                <a:srgbClr val="000000"/>
              </a:solidFill>
              <a:latin typeface="黑体" panose="02010609060101010101" pitchFamily="49" charset="-122"/>
              <a:ea typeface="黑体" panose="02010609060101010101" pitchFamily="49" charset="-122"/>
              <a:cs typeface="KIUBBN+SimSun"/>
            </a:endParaRPr>
          </a:p>
        </p:txBody>
      </p:sp>
      <p:pic>
        <p:nvPicPr>
          <p:cNvPr id="2" name="图片 1"/>
          <p:cNvPicPr>
            <a:picLocks noChangeAspect="1"/>
          </p:cNvPicPr>
          <p:nvPr/>
        </p:nvPicPr>
        <p:blipFill rotWithShape="1">
          <a:blip r:embed="rId2"/>
          <a:srcRect b="59633"/>
          <a:stretch/>
        </p:blipFill>
        <p:spPr>
          <a:xfrm>
            <a:off x="1124211" y="2094814"/>
            <a:ext cx="6956099" cy="1519756"/>
          </a:xfrm>
          <a:prstGeom prst="rect">
            <a:avLst/>
          </a:prstGeom>
        </p:spPr>
      </p:pic>
      <p:pic>
        <p:nvPicPr>
          <p:cNvPr id="5" name="图片 4"/>
          <p:cNvPicPr>
            <a:picLocks noChangeAspect="1"/>
          </p:cNvPicPr>
          <p:nvPr/>
        </p:nvPicPr>
        <p:blipFill rotWithShape="1">
          <a:blip r:embed="rId2"/>
          <a:srcRect t="41870" b="31328"/>
          <a:stretch/>
        </p:blipFill>
        <p:spPr>
          <a:xfrm>
            <a:off x="1254973" y="3735061"/>
            <a:ext cx="6956099" cy="1009062"/>
          </a:xfrm>
          <a:prstGeom prst="rect">
            <a:avLst/>
          </a:prstGeom>
        </p:spPr>
      </p:pic>
      <p:pic>
        <p:nvPicPr>
          <p:cNvPr id="6" name="图片 5"/>
          <p:cNvPicPr>
            <a:picLocks noChangeAspect="1"/>
          </p:cNvPicPr>
          <p:nvPr/>
        </p:nvPicPr>
        <p:blipFill rotWithShape="1">
          <a:blip r:embed="rId2"/>
          <a:srcRect t="68729" r="34147" b="1"/>
          <a:stretch/>
        </p:blipFill>
        <p:spPr>
          <a:xfrm>
            <a:off x="2324536" y="4722245"/>
            <a:ext cx="4580762" cy="1177301"/>
          </a:xfrm>
          <a:prstGeom prst="rect">
            <a:avLst/>
          </a:prstGeom>
        </p:spPr>
      </p:pic>
    </p:spTree>
    <p:extLst>
      <p:ext uri="{BB962C8B-B14F-4D97-AF65-F5344CB8AC3E}">
        <p14:creationId xmlns:p14="http://schemas.microsoft.com/office/powerpoint/2010/main" val="28864327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08823" y="277599"/>
            <a:ext cx="8593135"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KIUBBN+SimSun"/>
              </a:rPr>
              <a:t>时间复杂度</a:t>
            </a:r>
            <a:endParaRPr sz="4000" b="1" spc="11" dirty="0">
              <a:solidFill>
                <a:srgbClr val="C00000"/>
              </a:solidFill>
              <a:latin typeface="黑体" panose="02010609060101010101" pitchFamily="49" charset="-122"/>
              <a:ea typeface="黑体" panose="02010609060101010101" pitchFamily="49" charset="-122"/>
              <a:cs typeface="KIUBBN+SimSun"/>
            </a:endParaRPr>
          </a:p>
        </p:txBody>
      </p:sp>
      <p:sp>
        <p:nvSpPr>
          <p:cNvPr id="5" name="object 5"/>
          <p:cNvSpPr txBox="1"/>
          <p:nvPr/>
        </p:nvSpPr>
        <p:spPr>
          <a:xfrm>
            <a:off x="583216" y="1227151"/>
            <a:ext cx="7530770" cy="397545"/>
          </a:xfrm>
          <a:prstGeom prst="rect">
            <a:avLst/>
          </a:prstGeom>
        </p:spPr>
        <p:txBody>
          <a:bodyPr vert="horz" wrap="square" lIns="0" tIns="0" rIns="0" bIns="0" rtlCol="0">
            <a:spAutoFit/>
          </a:bodyPr>
          <a:lstStyle/>
          <a:p>
            <a:pPr>
              <a:lnSpc>
                <a:spcPts val="3125"/>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数学归纳法证明：</a:t>
            </a:r>
            <a:r>
              <a:rPr sz="28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2</a:t>
            </a:r>
            <a:r>
              <a:rPr lang="en-US" sz="2800" b="1" baseline="30000"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n-1</a:t>
            </a:r>
            <a:endParaRPr sz="1800" b="1" baseline="30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583216" y="1901298"/>
            <a:ext cx="8592315" cy="1102866"/>
          </a:xfrm>
          <a:prstGeom prst="rect">
            <a:avLst/>
          </a:prstGeom>
        </p:spPr>
        <p:txBody>
          <a:bodyPr vert="horz" wrap="square" lIns="0" tIns="0" rIns="0" bIns="0" rtlCol="0">
            <a:spAutoFit/>
          </a:bodyPr>
          <a:lstStyle/>
          <a:p>
            <a:pPr>
              <a:lnSpc>
                <a:spcPts val="2824"/>
              </a:lnSpc>
              <a:spcBef>
                <a:spcPts val="600"/>
              </a:spcBef>
              <a:spcAft>
                <a:spcPts val="60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显然为真</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824"/>
              </a:lnSpc>
              <a:spcBef>
                <a:spcPts val="2400"/>
              </a:spcBef>
              <a:spcAft>
                <a:spcPts val="600"/>
              </a:spcAft>
            </a:pP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假设对于任何小于</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i="1" spc="2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命题为真</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，即</a:t>
            </a:r>
            <a:r>
              <a:rPr lang="en-US" altLang="zh-CN" sz="2800" b="1" i="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lang="en-US" altLang="zh-CN" sz="28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i="1" baseline="30000"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lang="en-US" altLang="zh-CN" sz="2800" b="1" baseline="30000"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1800" b="1" baseline="30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rotWithShape="1">
          <a:blip r:embed="rId2"/>
          <a:srcRect b="59761"/>
          <a:stretch/>
        </p:blipFill>
        <p:spPr>
          <a:xfrm>
            <a:off x="1148708" y="3009135"/>
            <a:ext cx="6037582" cy="1132559"/>
          </a:xfrm>
          <a:prstGeom prst="rect">
            <a:avLst/>
          </a:prstGeom>
        </p:spPr>
      </p:pic>
      <p:pic>
        <p:nvPicPr>
          <p:cNvPr id="6" name="图片 5"/>
          <p:cNvPicPr>
            <a:picLocks noChangeAspect="1"/>
          </p:cNvPicPr>
          <p:nvPr/>
        </p:nvPicPr>
        <p:blipFill rotWithShape="1">
          <a:blip r:embed="rId2"/>
          <a:srcRect t="41035" b="17687"/>
          <a:stretch/>
        </p:blipFill>
        <p:spPr>
          <a:xfrm>
            <a:off x="1952501" y="4141694"/>
            <a:ext cx="6037582" cy="1161826"/>
          </a:xfrm>
          <a:prstGeom prst="rect">
            <a:avLst/>
          </a:prstGeom>
        </p:spPr>
      </p:pic>
      <p:pic>
        <p:nvPicPr>
          <p:cNvPr id="8" name="图片 7"/>
          <p:cNvPicPr>
            <a:picLocks noChangeAspect="1"/>
          </p:cNvPicPr>
          <p:nvPr/>
        </p:nvPicPr>
        <p:blipFill rotWithShape="1">
          <a:blip r:embed="rId2"/>
          <a:srcRect t="83565"/>
          <a:stretch/>
        </p:blipFill>
        <p:spPr>
          <a:xfrm>
            <a:off x="1952501" y="5404953"/>
            <a:ext cx="6037582" cy="462578"/>
          </a:xfrm>
          <a:prstGeom prst="rect">
            <a:avLst/>
          </a:prstGeom>
        </p:spPr>
      </p:pic>
    </p:spTree>
    <p:extLst>
      <p:ext uri="{BB962C8B-B14F-4D97-AF65-F5344CB8AC3E}">
        <p14:creationId xmlns:p14="http://schemas.microsoft.com/office/powerpoint/2010/main" val="42163728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图片 70"/>
          <p:cNvPicPr>
            <a:picLocks noChangeAspect="1"/>
          </p:cNvPicPr>
          <p:nvPr/>
        </p:nvPicPr>
        <p:blipFill>
          <a:blip r:embed="rId3"/>
          <a:stretch>
            <a:fillRect/>
          </a:stretch>
        </p:blipFill>
        <p:spPr>
          <a:xfrm>
            <a:off x="1685666" y="1907043"/>
            <a:ext cx="2923809" cy="752381"/>
          </a:xfrm>
          <a:prstGeom prst="rect">
            <a:avLst/>
          </a:prstGeom>
        </p:spPr>
      </p:pic>
      <p:sp>
        <p:nvSpPr>
          <p:cNvPr id="3" name="object 3"/>
          <p:cNvSpPr txBox="1"/>
          <p:nvPr/>
        </p:nvSpPr>
        <p:spPr>
          <a:xfrm>
            <a:off x="655465" y="215033"/>
            <a:ext cx="8446494" cy="602729"/>
          </a:xfrm>
          <a:prstGeom prst="rect">
            <a:avLst/>
          </a:prstGeom>
        </p:spPr>
        <p:txBody>
          <a:bodyPr vert="horz" wrap="square" lIns="0" tIns="0" rIns="0" bIns="0" rtlCol="0">
            <a:spAutoFit/>
          </a:bodyPr>
          <a:lstStyle/>
          <a:p>
            <a:pPr algn="ctr">
              <a:lnSpc>
                <a:spcPts val="4710"/>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子问题的产生</a:t>
            </a:r>
            <a:r>
              <a:rPr sz="4000" b="1" spc="1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sz="4000" b="1" i="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n</a:t>
            </a:r>
            <a:r>
              <a:rPr sz="4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=5</a:t>
            </a:r>
          </a:p>
        </p:txBody>
      </p:sp>
      <mc:AlternateContent xmlns:mc="http://schemas.openxmlformats.org/markup-compatibility/2006" xmlns:a14="http://schemas.microsoft.com/office/drawing/2010/main">
        <mc:Choice Requires="a14">
          <p:sp>
            <p:nvSpPr>
              <p:cNvPr id="10" name="object 10"/>
              <p:cNvSpPr txBox="1"/>
              <p:nvPr/>
            </p:nvSpPr>
            <p:spPr>
              <a:xfrm>
                <a:off x="340208" y="4581423"/>
                <a:ext cx="9119101" cy="307777"/>
              </a:xfrm>
              <a:prstGeom prst="rect">
                <a:avLst/>
              </a:prstGeom>
            </p:spPr>
            <p:txBody>
              <a:bodyPr vert="horz" wrap="square" lIns="0" tIns="0" rIns="0" bIns="0" rtlCol="0">
                <a:spAutoFit/>
              </a:bodyPr>
              <a:lstStyle/>
              <a:p>
                <a:pPr>
                  <a:lnSpc>
                    <a:spcPts val="2351"/>
                  </a:lnSpc>
                  <a:spcBef>
                    <a:spcPct val="0"/>
                  </a:spcBef>
                  <a:spcAft>
                    <a:spcPct val="0"/>
                  </a:spcAft>
                </a:pPr>
                <a:r>
                  <a:rPr lang="zh-CN" altLang="en-US" sz="2800" b="1"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划分：</a:t>
                </a:r>
                <a14:m>
                  <m:oMath xmlns:m="http://schemas.openxmlformats.org/officeDocument/2006/math">
                    <m:sSub>
                      <m:sSubPr>
                        <m:ctrlPr>
                          <a:rPr lang="ar-AE" altLang="zh-CN" sz="2800" b="1" i="1" spc="80" smtClean="0">
                            <a:solidFill>
                              <a:srgbClr val="000000"/>
                            </a:solidFill>
                            <a:latin typeface="Cambria Math"/>
                            <a:ea typeface="黑体" panose="02010609060101010101" pitchFamily="49" charset="-122"/>
                            <a:cs typeface="Times New Roman"/>
                          </a:rPr>
                        </m:ctrlPr>
                      </m:sSubPr>
                      <m:e>
                        <m:r>
                          <a:rPr lang="zh-CN" altLang="ar-AE" sz="2800" b="1" i="1" spc="80" smtClean="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𝟏</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𝟒</m:t>
                        </m:r>
                      </m:sub>
                    </m:sSub>
                    <m:sSub>
                      <m:sSubPr>
                        <m:ctrlPr>
                          <a:rPr lang="ar-AE" altLang="zh-CN" sz="2800" b="1" i="1" spc="80">
                            <a:solidFill>
                              <a:srgbClr val="000000"/>
                            </a:solidFill>
                            <a:latin typeface="Cambria Math"/>
                            <a:ea typeface="黑体" panose="02010609060101010101" pitchFamily="49" charset="-122"/>
                            <a:cs typeface="Times New Roman"/>
                          </a:rPr>
                        </m:ctrlPr>
                      </m:sSubPr>
                      <m:e>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𝟓</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𝟓</m:t>
                        </m:r>
                      </m:sub>
                    </m:sSub>
                    <m:sSub>
                      <m:sSubPr>
                        <m:ctrlPr>
                          <a:rPr lang="ar-AE" altLang="zh-CN" sz="2800" b="1" i="1" spc="80">
                            <a:solidFill>
                              <a:srgbClr val="000000"/>
                            </a:solidFill>
                            <a:latin typeface="Cambria Math"/>
                            <a:ea typeface="黑体" panose="02010609060101010101" pitchFamily="49" charset="-122"/>
                            <a:cs typeface="Times New Roman"/>
                          </a:rPr>
                        </m:ctrlPr>
                      </m:sSubPr>
                      <m:e>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  </m:t>
                        </m:r>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a:solidFill>
                              <a:srgbClr val="000000"/>
                            </a:solidFill>
                            <a:latin typeface="Cambria Math" panose="02040503050406030204" pitchFamily="18" charset="0"/>
                            <a:ea typeface="黑体" panose="02010609060101010101" pitchFamily="49" charset="-122"/>
                            <a:cs typeface="Times New Roman"/>
                          </a:rPr>
                          <m:t>𝟏</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𝟑</m:t>
                        </m:r>
                      </m:sub>
                    </m:sSub>
                    <m:sSub>
                      <m:sSubPr>
                        <m:ctrlPr>
                          <a:rPr lang="ar-AE" altLang="zh-CN" sz="2800" b="1" i="1" spc="80">
                            <a:solidFill>
                              <a:srgbClr val="000000"/>
                            </a:solidFill>
                            <a:latin typeface="Cambria Math"/>
                            <a:ea typeface="黑体" panose="02010609060101010101" pitchFamily="49" charset="-122"/>
                            <a:cs typeface="Times New Roman"/>
                          </a:rPr>
                        </m:ctrlPr>
                      </m:sSubPr>
                      <m:e>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𝟒</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𝟓</m:t>
                        </m:r>
                      </m:sub>
                    </m:sSub>
                  </m:oMath>
                </a14:m>
                <a:r>
                  <a:rPr lang="en-US" altLang="zh-CN" sz="2800" b="1"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14:m>
                  <m:oMath xmlns:m="http://schemas.openxmlformats.org/officeDocument/2006/math">
                    <m:sSub>
                      <m:sSubPr>
                        <m:ctrlPr>
                          <a:rPr lang="ar-AE" altLang="zh-CN" sz="2800" b="1" i="1" spc="80">
                            <a:solidFill>
                              <a:srgbClr val="000000"/>
                            </a:solidFill>
                            <a:latin typeface="Cambria Math"/>
                            <a:ea typeface="黑体" panose="02010609060101010101" pitchFamily="49" charset="-122"/>
                            <a:cs typeface="Times New Roman"/>
                          </a:rPr>
                        </m:ctrlPr>
                      </m:sSubPr>
                      <m:e>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 </m:t>
                        </m:r>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a:solidFill>
                              <a:srgbClr val="000000"/>
                            </a:solidFill>
                            <a:latin typeface="Cambria Math" panose="02040503050406030204" pitchFamily="18" charset="0"/>
                            <a:ea typeface="黑体" panose="02010609060101010101" pitchFamily="49" charset="-122"/>
                            <a:cs typeface="Times New Roman"/>
                          </a:rPr>
                          <m:t>𝟏</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𝟐</m:t>
                        </m:r>
                      </m:sub>
                    </m:sSub>
                    <m:sSub>
                      <m:sSubPr>
                        <m:ctrlPr>
                          <a:rPr lang="ar-AE" altLang="zh-CN" sz="2800" b="1" i="1" spc="80">
                            <a:solidFill>
                              <a:srgbClr val="000000"/>
                            </a:solidFill>
                            <a:latin typeface="Cambria Math"/>
                            <a:ea typeface="黑体" panose="02010609060101010101" pitchFamily="49" charset="-122"/>
                            <a:cs typeface="Times New Roman"/>
                          </a:rPr>
                        </m:ctrlPr>
                      </m:sSubPr>
                      <m:e>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𝟑</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𝟓</m:t>
                        </m:r>
                      </m:sub>
                    </m:sSub>
                  </m:oMath>
                </a14:m>
                <a:r>
                  <a:rPr lang="en-US" altLang="zh-CN" sz="2800" b="1"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spc="455"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14:m>
                  <m:oMath xmlns:m="http://schemas.openxmlformats.org/officeDocument/2006/math">
                    <m:sSub>
                      <m:sSubPr>
                        <m:ctrlPr>
                          <a:rPr lang="ar-AE" altLang="zh-CN" sz="2800" b="1" i="1" spc="80">
                            <a:solidFill>
                              <a:srgbClr val="000000"/>
                            </a:solidFill>
                            <a:latin typeface="Cambria Math"/>
                            <a:ea typeface="黑体" panose="02010609060101010101" pitchFamily="49" charset="-122"/>
                            <a:cs typeface="Times New Roman"/>
                          </a:rPr>
                        </m:ctrlPr>
                      </m:sSubPr>
                      <m:e>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a:solidFill>
                              <a:srgbClr val="000000"/>
                            </a:solidFill>
                            <a:latin typeface="Cambria Math" panose="02040503050406030204" pitchFamily="18" charset="0"/>
                            <a:ea typeface="黑体" panose="02010609060101010101" pitchFamily="49" charset="-122"/>
                            <a:cs typeface="Times New Roman"/>
                          </a:rPr>
                          <m:t>𝟏</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smtClean="0">
                            <a:solidFill>
                              <a:srgbClr val="000000"/>
                            </a:solidFill>
                            <a:latin typeface="Cambria Math" panose="02040503050406030204" pitchFamily="18" charset="0"/>
                            <a:ea typeface="Cambria Math" panose="02040503050406030204" pitchFamily="18" charset="0"/>
                            <a:cs typeface="Times New Roman"/>
                          </a:rPr>
                          <m:t>𝟏</m:t>
                        </m:r>
                      </m:sub>
                    </m:sSub>
                    <m:sSub>
                      <m:sSubPr>
                        <m:ctrlPr>
                          <a:rPr lang="ar-AE" altLang="zh-CN" sz="2800" b="1" i="1" spc="80">
                            <a:solidFill>
                              <a:srgbClr val="000000"/>
                            </a:solidFill>
                            <a:latin typeface="Cambria Math"/>
                            <a:ea typeface="黑体" panose="02010609060101010101" pitchFamily="49" charset="-122"/>
                            <a:cs typeface="Times New Roman"/>
                          </a:rPr>
                        </m:ctrlPr>
                      </m:sSubPr>
                      <m:e>
                        <m:r>
                          <a:rPr lang="zh-CN" altLang="ar-AE" sz="2800" b="1" i="1" spc="80">
                            <a:solidFill>
                              <a:srgbClr val="000000"/>
                            </a:solidFill>
                            <a:latin typeface="Cambria Math" panose="02040503050406030204" pitchFamily="18" charset="0"/>
                            <a:ea typeface="黑体" panose="02010609060101010101" pitchFamily="49" charset="-122"/>
                            <a:cs typeface="Times New Roman"/>
                          </a:rPr>
                          <m:t>𝑨</m:t>
                        </m:r>
                      </m:e>
                      <m:sub>
                        <m:r>
                          <a:rPr lang="en-US" altLang="zh-CN" sz="2800" b="1" i="1" spc="80" smtClean="0">
                            <a:solidFill>
                              <a:srgbClr val="000000"/>
                            </a:solidFill>
                            <a:latin typeface="Cambria Math" panose="02040503050406030204" pitchFamily="18" charset="0"/>
                            <a:ea typeface="黑体" panose="02010609060101010101" pitchFamily="49" charset="-122"/>
                            <a:cs typeface="Times New Roman"/>
                          </a:rPr>
                          <m:t>𝟐</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80">
                            <a:solidFill>
                              <a:srgbClr val="000000"/>
                            </a:solidFill>
                            <a:latin typeface="Cambria Math" panose="02040503050406030204" pitchFamily="18" charset="0"/>
                            <a:ea typeface="Cambria Math" panose="02040503050406030204" pitchFamily="18" charset="0"/>
                            <a:cs typeface="Times New Roman"/>
                          </a:rPr>
                          <m:t>𝟓</m:t>
                        </m:r>
                      </m:sub>
                    </m:sSub>
                  </m:oMath>
                </a14:m>
                <a:r>
                  <a:rPr lang="en-US" altLang="zh-CN" sz="28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spc="455"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endParaRPr sz="2800" b="1" i="1"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p:txBody>
          </p:sp>
        </mc:Choice>
        <mc:Fallback xmlns="">
          <p:sp>
            <p:nvSpPr>
              <p:cNvPr id="10" name="object 10"/>
              <p:cNvSpPr txBox="1">
                <a:spLocks noRot="1" noChangeAspect="1" noMove="1" noResize="1" noEditPoints="1" noAdjustHandles="1" noChangeArrowheads="1" noChangeShapeType="1" noTextEdit="1"/>
              </p:cNvSpPr>
              <p:nvPr/>
            </p:nvSpPr>
            <p:spPr>
              <a:xfrm>
                <a:off x="340208" y="4581423"/>
                <a:ext cx="9119101" cy="307777"/>
              </a:xfrm>
              <a:prstGeom prst="rect">
                <a:avLst/>
              </a:prstGeom>
              <a:blipFill>
                <a:blip r:embed="rId4"/>
                <a:stretch>
                  <a:fillRect l="-2406" t="-80000" r="-668" b="-66000"/>
                </a:stretch>
              </a:blipFill>
            </p:spPr>
            <p:txBody>
              <a:bodyPr/>
              <a:lstStyle/>
              <a:p>
                <a:r>
                  <a:rPr lang="zh-CN" altLang="en-US">
                    <a:noFill/>
                  </a:rPr>
                  <a:t> </a:t>
                </a:r>
              </a:p>
            </p:txBody>
          </p:sp>
        </mc:Fallback>
      </mc:AlternateContent>
      <p:sp>
        <p:nvSpPr>
          <p:cNvPr id="14" name="object 14"/>
          <p:cNvSpPr txBox="1"/>
          <p:nvPr/>
        </p:nvSpPr>
        <p:spPr>
          <a:xfrm>
            <a:off x="340209" y="5067436"/>
            <a:ext cx="8656645" cy="307777"/>
          </a:xfrm>
          <a:prstGeom prst="rect">
            <a:avLst/>
          </a:prstGeom>
        </p:spPr>
        <p:txBody>
          <a:bodyPr vert="horz" wrap="square" lIns="0" tIns="0" rIns="0" bIns="0" rtlCol="0">
            <a:spAutoFit/>
          </a:bodyPr>
          <a:lstStyle/>
          <a:p>
            <a:pPr>
              <a:lnSpc>
                <a:spcPts val="2351"/>
              </a:lnSpc>
              <a:spcBef>
                <a:spcPct val="0"/>
              </a:spcBef>
              <a:spcAft>
                <a:spcPct val="0"/>
              </a:spcAft>
            </a:pPr>
            <a:r>
              <a:rPr sz="2800" b="1" dirty="0" err="1">
                <a:solidFill>
                  <a:srgbClr val="000000"/>
                </a:solidFill>
                <a:latin typeface="黑体" panose="02010609060101010101" pitchFamily="49" charset="-122"/>
                <a:ea typeface="黑体" panose="02010609060101010101" pitchFamily="49" charset="-122"/>
                <a:cs typeface="KIUBBN+SimSun"/>
              </a:rPr>
              <a:t>产生</a:t>
            </a:r>
            <a:r>
              <a:rPr sz="2800" b="1" spc="16"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BJBEMS+TimesNewRomanPS-BoldMT"/>
              </a:rPr>
              <a:t>8 </a:t>
            </a:r>
            <a:r>
              <a:rPr sz="2800" b="1" spc="11" dirty="0" err="1">
                <a:solidFill>
                  <a:srgbClr val="000000"/>
                </a:solidFill>
                <a:latin typeface="黑体" panose="02010609060101010101" pitchFamily="49" charset="-122"/>
                <a:ea typeface="黑体" panose="02010609060101010101" pitchFamily="49" charset="-122"/>
                <a:cs typeface="KIUBBN+SimSun"/>
              </a:rPr>
              <a:t>个子问题，即第一层的</a:t>
            </a:r>
            <a:r>
              <a:rPr sz="2800" b="1" spc="30" dirty="0">
                <a:solidFill>
                  <a:srgbClr val="0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BJBEMS+TimesNewRomanPS-BoldMT"/>
              </a:rPr>
              <a:t>8 </a:t>
            </a:r>
            <a:r>
              <a:rPr sz="2800" b="1" dirty="0" err="1">
                <a:solidFill>
                  <a:srgbClr val="000000"/>
                </a:solidFill>
                <a:latin typeface="黑体" panose="02010609060101010101" pitchFamily="49" charset="-122"/>
                <a:ea typeface="黑体" panose="02010609060101010101" pitchFamily="49" charset="-122"/>
                <a:cs typeface="KIUBBN+SimSun"/>
              </a:rPr>
              <a:t>个结点</a:t>
            </a:r>
            <a:r>
              <a:rPr sz="2800" b="1" dirty="0">
                <a:solidFill>
                  <a:srgbClr val="000000"/>
                </a:solidFill>
                <a:latin typeface="黑体" panose="02010609060101010101" pitchFamily="49" charset="-122"/>
                <a:ea typeface="黑体" panose="02010609060101010101" pitchFamily="49" charset="-122"/>
                <a:cs typeface="BJBEMS+TimesNewRomanPS-BoldMT"/>
              </a:rPr>
              <a:t>.</a:t>
            </a:r>
          </a:p>
        </p:txBody>
      </p:sp>
      <p:pic>
        <p:nvPicPr>
          <p:cNvPr id="5" name="图片 4"/>
          <p:cNvPicPr>
            <a:picLocks noChangeAspect="1"/>
          </p:cNvPicPr>
          <p:nvPr/>
        </p:nvPicPr>
        <p:blipFill rotWithShape="1">
          <a:blip r:embed="rId5"/>
          <a:srcRect t="1268"/>
          <a:stretch/>
        </p:blipFill>
        <p:spPr>
          <a:xfrm>
            <a:off x="6479597" y="1924821"/>
            <a:ext cx="1361905" cy="742844"/>
          </a:xfrm>
          <a:prstGeom prst="rect">
            <a:avLst/>
          </a:prstGeom>
        </p:spPr>
      </p:pic>
      <p:pic>
        <p:nvPicPr>
          <p:cNvPr id="9" name="图片 8"/>
          <p:cNvPicPr>
            <a:picLocks noChangeAspect="1"/>
          </p:cNvPicPr>
          <p:nvPr/>
        </p:nvPicPr>
        <p:blipFill>
          <a:blip r:embed="rId6"/>
          <a:stretch>
            <a:fillRect/>
          </a:stretch>
        </p:blipFill>
        <p:spPr>
          <a:xfrm>
            <a:off x="4474767" y="848379"/>
            <a:ext cx="209524" cy="295238"/>
          </a:xfrm>
          <a:prstGeom prst="rect">
            <a:avLst/>
          </a:prstGeom>
        </p:spPr>
      </p:pic>
      <p:sp>
        <p:nvSpPr>
          <p:cNvPr id="11" name="文本框 10"/>
          <p:cNvSpPr txBox="1"/>
          <p:nvPr/>
        </p:nvSpPr>
        <p:spPr>
          <a:xfrm>
            <a:off x="4563494" y="904825"/>
            <a:ext cx="500400" cy="369332"/>
          </a:xfrm>
          <a:prstGeom prst="rect">
            <a:avLst/>
          </a:prstGeom>
          <a:noFill/>
        </p:spPr>
        <p:txBody>
          <a:bodyPr wrap="square" rtlCol="0">
            <a:spAutoFit/>
          </a:bodyPr>
          <a:lstStyle/>
          <a:p>
            <a:r>
              <a:rPr lang="en-US" altLang="zh-CN" sz="1800" b="1" dirty="0" smtClean="0"/>
              <a:t>1-5</a:t>
            </a:r>
            <a:endParaRPr lang="zh-CN" altLang="en-US" sz="1800" b="1" dirty="0"/>
          </a:p>
        </p:txBody>
      </p:sp>
      <p:cxnSp>
        <p:nvCxnSpPr>
          <p:cNvPr id="13" name="直接连接符 12"/>
          <p:cNvCxnSpPr>
            <a:endCxn id="20" idx="1"/>
          </p:cNvCxnSpPr>
          <p:nvPr/>
        </p:nvCxnSpPr>
        <p:spPr>
          <a:xfrm flipH="1">
            <a:off x="3279820" y="1112087"/>
            <a:ext cx="1255443" cy="476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3041945" y="1132523"/>
            <a:ext cx="1478521" cy="428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a:blip r:embed="rId7"/>
          <a:stretch>
            <a:fillRect/>
          </a:stretch>
        </p:blipFill>
        <p:spPr>
          <a:xfrm>
            <a:off x="2965269" y="1577208"/>
            <a:ext cx="428571" cy="304762"/>
          </a:xfrm>
          <a:prstGeom prst="rect">
            <a:avLst/>
          </a:prstGeom>
        </p:spPr>
      </p:pic>
      <p:sp>
        <p:nvSpPr>
          <p:cNvPr id="20" name="文本框 19"/>
          <p:cNvSpPr txBox="1"/>
          <p:nvPr/>
        </p:nvSpPr>
        <p:spPr>
          <a:xfrm>
            <a:off x="3279820" y="1403491"/>
            <a:ext cx="500400" cy="369332"/>
          </a:xfrm>
          <a:prstGeom prst="rect">
            <a:avLst/>
          </a:prstGeom>
          <a:noFill/>
        </p:spPr>
        <p:txBody>
          <a:bodyPr wrap="square" rtlCol="0">
            <a:spAutoFit/>
          </a:bodyPr>
          <a:lstStyle/>
          <a:p>
            <a:r>
              <a:rPr lang="en-US" altLang="zh-CN" sz="1800" b="1" dirty="0" smtClean="0"/>
              <a:t>1-4</a:t>
            </a:r>
            <a:endParaRPr lang="zh-CN" altLang="en-US" sz="1800" b="1" dirty="0"/>
          </a:p>
        </p:txBody>
      </p:sp>
      <p:sp>
        <p:nvSpPr>
          <p:cNvPr id="21" name="文本框 20"/>
          <p:cNvSpPr txBox="1"/>
          <p:nvPr/>
        </p:nvSpPr>
        <p:spPr>
          <a:xfrm>
            <a:off x="2545228" y="1646724"/>
            <a:ext cx="500400" cy="369332"/>
          </a:xfrm>
          <a:prstGeom prst="rect">
            <a:avLst/>
          </a:prstGeom>
          <a:noFill/>
        </p:spPr>
        <p:txBody>
          <a:bodyPr wrap="square" rtlCol="0">
            <a:spAutoFit/>
          </a:bodyPr>
          <a:lstStyle/>
          <a:p>
            <a:r>
              <a:rPr lang="en-US" altLang="zh-CN" sz="1800" b="1" dirty="0" smtClean="0"/>
              <a:t>5-5</a:t>
            </a:r>
            <a:endParaRPr lang="zh-CN" altLang="en-US" sz="1800" b="1" dirty="0"/>
          </a:p>
        </p:txBody>
      </p:sp>
      <p:cxnSp>
        <p:nvCxnSpPr>
          <p:cNvPr id="22" name="直接连接符 21"/>
          <p:cNvCxnSpPr/>
          <p:nvPr/>
        </p:nvCxnSpPr>
        <p:spPr>
          <a:xfrm flipH="1">
            <a:off x="3975603" y="1121765"/>
            <a:ext cx="554378" cy="472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4214951" y="1121765"/>
            <a:ext cx="315029" cy="504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8"/>
          <a:stretch>
            <a:fillRect/>
          </a:stretch>
        </p:blipFill>
        <p:spPr>
          <a:xfrm>
            <a:off x="3906932" y="1578599"/>
            <a:ext cx="438095" cy="314286"/>
          </a:xfrm>
          <a:prstGeom prst="rect">
            <a:avLst/>
          </a:prstGeom>
        </p:spPr>
      </p:pic>
      <p:sp>
        <p:nvSpPr>
          <p:cNvPr id="27" name="文本框 26"/>
          <p:cNvSpPr txBox="1"/>
          <p:nvPr/>
        </p:nvSpPr>
        <p:spPr>
          <a:xfrm>
            <a:off x="4246613" y="1415346"/>
            <a:ext cx="500400" cy="369332"/>
          </a:xfrm>
          <a:prstGeom prst="rect">
            <a:avLst/>
          </a:prstGeom>
          <a:noFill/>
        </p:spPr>
        <p:txBody>
          <a:bodyPr wrap="square" rtlCol="0">
            <a:spAutoFit/>
          </a:bodyPr>
          <a:lstStyle/>
          <a:p>
            <a:r>
              <a:rPr lang="en-US" altLang="zh-CN" sz="1800" b="1" dirty="0" smtClean="0"/>
              <a:t>1-3</a:t>
            </a:r>
            <a:endParaRPr lang="zh-CN" altLang="en-US" sz="1800" b="1" dirty="0"/>
          </a:p>
        </p:txBody>
      </p:sp>
      <p:sp>
        <p:nvSpPr>
          <p:cNvPr id="28" name="文本框 27"/>
          <p:cNvSpPr txBox="1"/>
          <p:nvPr/>
        </p:nvSpPr>
        <p:spPr>
          <a:xfrm>
            <a:off x="3506733" y="1663123"/>
            <a:ext cx="500400" cy="369332"/>
          </a:xfrm>
          <a:prstGeom prst="rect">
            <a:avLst/>
          </a:prstGeom>
          <a:noFill/>
        </p:spPr>
        <p:txBody>
          <a:bodyPr wrap="square" rtlCol="0">
            <a:spAutoFit/>
          </a:bodyPr>
          <a:lstStyle/>
          <a:p>
            <a:r>
              <a:rPr lang="en-US" altLang="zh-CN" sz="1800" b="1" dirty="0" smtClean="0"/>
              <a:t>4-5</a:t>
            </a:r>
            <a:endParaRPr lang="zh-CN" altLang="en-US" sz="1800" b="1" dirty="0"/>
          </a:p>
        </p:txBody>
      </p:sp>
      <p:cxnSp>
        <p:nvCxnSpPr>
          <p:cNvPr id="29" name="直接连接符 28"/>
          <p:cNvCxnSpPr/>
          <p:nvPr/>
        </p:nvCxnSpPr>
        <p:spPr>
          <a:xfrm>
            <a:off x="4551248" y="1121765"/>
            <a:ext cx="599389" cy="479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550838" y="1121765"/>
            <a:ext cx="804651" cy="479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5" name="图片 34"/>
          <p:cNvPicPr>
            <a:picLocks noChangeAspect="1"/>
          </p:cNvPicPr>
          <p:nvPr/>
        </p:nvPicPr>
        <p:blipFill>
          <a:blip r:embed="rId9"/>
          <a:stretch>
            <a:fillRect/>
          </a:stretch>
        </p:blipFill>
        <p:spPr>
          <a:xfrm>
            <a:off x="5052243" y="1593875"/>
            <a:ext cx="409524" cy="295238"/>
          </a:xfrm>
          <a:prstGeom prst="rect">
            <a:avLst/>
          </a:prstGeom>
        </p:spPr>
      </p:pic>
      <p:sp>
        <p:nvSpPr>
          <p:cNvPr id="37" name="文本框 36"/>
          <p:cNvSpPr txBox="1"/>
          <p:nvPr/>
        </p:nvSpPr>
        <p:spPr>
          <a:xfrm>
            <a:off x="5365999" y="1416527"/>
            <a:ext cx="500400" cy="369332"/>
          </a:xfrm>
          <a:prstGeom prst="rect">
            <a:avLst/>
          </a:prstGeom>
          <a:noFill/>
        </p:spPr>
        <p:txBody>
          <a:bodyPr wrap="square" rtlCol="0">
            <a:spAutoFit/>
          </a:bodyPr>
          <a:lstStyle/>
          <a:p>
            <a:r>
              <a:rPr lang="en-US" altLang="zh-CN" sz="1800" b="1" dirty="0" smtClean="0"/>
              <a:t>1-2</a:t>
            </a:r>
            <a:endParaRPr lang="zh-CN" altLang="en-US" sz="1800" b="1" dirty="0"/>
          </a:p>
        </p:txBody>
      </p:sp>
      <p:sp>
        <p:nvSpPr>
          <p:cNvPr id="38" name="文本框 37"/>
          <p:cNvSpPr txBox="1"/>
          <p:nvPr/>
        </p:nvSpPr>
        <p:spPr>
          <a:xfrm>
            <a:off x="4670143" y="1664304"/>
            <a:ext cx="500400" cy="369332"/>
          </a:xfrm>
          <a:prstGeom prst="rect">
            <a:avLst/>
          </a:prstGeom>
          <a:noFill/>
        </p:spPr>
        <p:txBody>
          <a:bodyPr wrap="square" rtlCol="0">
            <a:spAutoFit/>
          </a:bodyPr>
          <a:lstStyle/>
          <a:p>
            <a:r>
              <a:rPr lang="en-US" altLang="zh-CN" sz="1800" b="1" dirty="0" smtClean="0"/>
              <a:t>3-5</a:t>
            </a:r>
            <a:endParaRPr lang="zh-CN" altLang="en-US" sz="1800" b="1" dirty="0"/>
          </a:p>
        </p:txBody>
      </p:sp>
      <p:pic>
        <p:nvPicPr>
          <p:cNvPr id="48" name="图片 47"/>
          <p:cNvPicPr>
            <a:picLocks noChangeAspect="1"/>
          </p:cNvPicPr>
          <p:nvPr/>
        </p:nvPicPr>
        <p:blipFill>
          <a:blip r:embed="rId10"/>
          <a:stretch>
            <a:fillRect/>
          </a:stretch>
        </p:blipFill>
        <p:spPr>
          <a:xfrm>
            <a:off x="6498098" y="1604385"/>
            <a:ext cx="409524" cy="285714"/>
          </a:xfrm>
          <a:prstGeom prst="rect">
            <a:avLst/>
          </a:prstGeom>
        </p:spPr>
      </p:pic>
      <p:sp>
        <p:nvSpPr>
          <p:cNvPr id="49" name="文本框 48"/>
          <p:cNvSpPr txBox="1"/>
          <p:nvPr/>
        </p:nvSpPr>
        <p:spPr>
          <a:xfrm>
            <a:off x="6823743" y="1390889"/>
            <a:ext cx="500400" cy="369332"/>
          </a:xfrm>
          <a:prstGeom prst="rect">
            <a:avLst/>
          </a:prstGeom>
          <a:noFill/>
        </p:spPr>
        <p:txBody>
          <a:bodyPr wrap="square" rtlCol="0">
            <a:spAutoFit/>
          </a:bodyPr>
          <a:lstStyle/>
          <a:p>
            <a:r>
              <a:rPr lang="en-US" altLang="zh-CN" sz="1800" b="1" dirty="0" smtClean="0"/>
              <a:t>1-1</a:t>
            </a:r>
            <a:endParaRPr lang="zh-CN" altLang="en-US" sz="1800" b="1" dirty="0"/>
          </a:p>
        </p:txBody>
      </p:sp>
      <p:sp>
        <p:nvSpPr>
          <p:cNvPr id="50" name="文本框 49"/>
          <p:cNvSpPr txBox="1"/>
          <p:nvPr/>
        </p:nvSpPr>
        <p:spPr>
          <a:xfrm>
            <a:off x="6042558" y="1661959"/>
            <a:ext cx="500400" cy="369332"/>
          </a:xfrm>
          <a:prstGeom prst="rect">
            <a:avLst/>
          </a:prstGeom>
          <a:noFill/>
        </p:spPr>
        <p:txBody>
          <a:bodyPr wrap="square" rtlCol="0">
            <a:spAutoFit/>
          </a:bodyPr>
          <a:lstStyle/>
          <a:p>
            <a:r>
              <a:rPr lang="en-US" altLang="zh-CN" sz="1800" b="1" dirty="0" smtClean="0"/>
              <a:t>2-5</a:t>
            </a:r>
            <a:endParaRPr lang="zh-CN" altLang="en-US" sz="1800" b="1" dirty="0"/>
          </a:p>
        </p:txBody>
      </p:sp>
      <p:cxnSp>
        <p:nvCxnSpPr>
          <p:cNvPr id="52" name="直接连接符 51"/>
          <p:cNvCxnSpPr/>
          <p:nvPr/>
        </p:nvCxnSpPr>
        <p:spPr>
          <a:xfrm>
            <a:off x="4644622" y="1144348"/>
            <a:ext cx="2234667" cy="463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620807" y="1143617"/>
            <a:ext cx="1922151" cy="464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片 62"/>
          <p:cNvPicPr>
            <a:picLocks noChangeAspect="1"/>
          </p:cNvPicPr>
          <p:nvPr/>
        </p:nvPicPr>
        <p:blipFill>
          <a:blip r:embed="rId11"/>
          <a:stretch>
            <a:fillRect/>
          </a:stretch>
        </p:blipFill>
        <p:spPr>
          <a:xfrm>
            <a:off x="4855084" y="1903564"/>
            <a:ext cx="1438095" cy="752381"/>
          </a:xfrm>
          <a:prstGeom prst="rect">
            <a:avLst/>
          </a:prstGeom>
        </p:spPr>
      </p:pic>
      <p:pic>
        <p:nvPicPr>
          <p:cNvPr id="76" name="图片 75"/>
          <p:cNvPicPr>
            <a:picLocks noChangeAspect="1"/>
          </p:cNvPicPr>
          <p:nvPr/>
        </p:nvPicPr>
        <p:blipFill>
          <a:blip r:embed="rId12"/>
          <a:stretch>
            <a:fillRect/>
          </a:stretch>
        </p:blipFill>
        <p:spPr>
          <a:xfrm>
            <a:off x="4882429" y="2658700"/>
            <a:ext cx="847619" cy="742857"/>
          </a:xfrm>
          <a:prstGeom prst="rect">
            <a:avLst/>
          </a:prstGeom>
        </p:spPr>
      </p:pic>
      <p:pic>
        <p:nvPicPr>
          <p:cNvPr id="77" name="图片 76"/>
          <p:cNvPicPr>
            <a:picLocks noChangeAspect="1"/>
          </p:cNvPicPr>
          <p:nvPr/>
        </p:nvPicPr>
        <p:blipFill>
          <a:blip r:embed="rId13"/>
          <a:stretch>
            <a:fillRect/>
          </a:stretch>
        </p:blipFill>
        <p:spPr>
          <a:xfrm>
            <a:off x="5912930" y="2663848"/>
            <a:ext cx="1247619" cy="733333"/>
          </a:xfrm>
          <a:prstGeom prst="rect">
            <a:avLst/>
          </a:prstGeom>
        </p:spPr>
      </p:pic>
      <p:pic>
        <p:nvPicPr>
          <p:cNvPr id="78" name="图片 77"/>
          <p:cNvPicPr>
            <a:picLocks noChangeAspect="1"/>
          </p:cNvPicPr>
          <p:nvPr/>
        </p:nvPicPr>
        <p:blipFill>
          <a:blip r:embed="rId14"/>
          <a:stretch>
            <a:fillRect/>
          </a:stretch>
        </p:blipFill>
        <p:spPr>
          <a:xfrm>
            <a:off x="7131809" y="2663461"/>
            <a:ext cx="1266667" cy="733333"/>
          </a:xfrm>
          <a:prstGeom prst="rect">
            <a:avLst/>
          </a:prstGeom>
        </p:spPr>
      </p:pic>
      <p:pic>
        <p:nvPicPr>
          <p:cNvPr id="79" name="图片 78"/>
          <p:cNvPicPr>
            <a:picLocks noChangeAspect="1"/>
          </p:cNvPicPr>
          <p:nvPr/>
        </p:nvPicPr>
        <p:blipFill>
          <a:blip r:embed="rId15"/>
          <a:stretch>
            <a:fillRect/>
          </a:stretch>
        </p:blipFill>
        <p:spPr>
          <a:xfrm>
            <a:off x="3627148" y="2663461"/>
            <a:ext cx="847619" cy="733333"/>
          </a:xfrm>
          <a:prstGeom prst="rect">
            <a:avLst/>
          </a:prstGeom>
        </p:spPr>
      </p:pic>
      <p:pic>
        <p:nvPicPr>
          <p:cNvPr id="81" name="图片 80"/>
          <p:cNvPicPr>
            <a:picLocks noChangeAspect="1"/>
          </p:cNvPicPr>
          <p:nvPr/>
        </p:nvPicPr>
        <p:blipFill>
          <a:blip r:embed="rId16"/>
          <a:stretch>
            <a:fillRect/>
          </a:stretch>
        </p:blipFill>
        <p:spPr>
          <a:xfrm>
            <a:off x="1152789" y="2634925"/>
            <a:ext cx="1257143" cy="761905"/>
          </a:xfrm>
          <a:prstGeom prst="rect">
            <a:avLst/>
          </a:prstGeom>
        </p:spPr>
      </p:pic>
      <p:pic>
        <p:nvPicPr>
          <p:cNvPr id="82" name="图片 81"/>
          <p:cNvPicPr>
            <a:picLocks noChangeAspect="1"/>
          </p:cNvPicPr>
          <p:nvPr/>
        </p:nvPicPr>
        <p:blipFill>
          <a:blip r:embed="rId17"/>
          <a:stretch>
            <a:fillRect/>
          </a:stretch>
        </p:blipFill>
        <p:spPr>
          <a:xfrm>
            <a:off x="2410241" y="2643426"/>
            <a:ext cx="1238095" cy="752381"/>
          </a:xfrm>
          <a:prstGeom prst="rect">
            <a:avLst/>
          </a:prstGeom>
        </p:spPr>
      </p:pic>
      <p:pic>
        <p:nvPicPr>
          <p:cNvPr id="83" name="图片 82"/>
          <p:cNvPicPr>
            <a:picLocks noChangeAspect="1"/>
          </p:cNvPicPr>
          <p:nvPr/>
        </p:nvPicPr>
        <p:blipFill>
          <a:blip r:embed="rId18"/>
          <a:stretch>
            <a:fillRect/>
          </a:stretch>
        </p:blipFill>
        <p:spPr>
          <a:xfrm>
            <a:off x="7360381" y="3414949"/>
            <a:ext cx="1038095" cy="752381"/>
          </a:xfrm>
          <a:prstGeom prst="rect">
            <a:avLst/>
          </a:prstGeom>
        </p:spPr>
      </p:pic>
      <p:pic>
        <p:nvPicPr>
          <p:cNvPr id="84" name="图片 83"/>
          <p:cNvPicPr>
            <a:picLocks noChangeAspect="1"/>
          </p:cNvPicPr>
          <p:nvPr/>
        </p:nvPicPr>
        <p:blipFill>
          <a:blip r:embed="rId19"/>
          <a:stretch>
            <a:fillRect/>
          </a:stretch>
        </p:blipFill>
        <p:spPr>
          <a:xfrm>
            <a:off x="5717775" y="3409460"/>
            <a:ext cx="1057143" cy="752381"/>
          </a:xfrm>
          <a:prstGeom prst="rect">
            <a:avLst/>
          </a:prstGeom>
        </p:spPr>
      </p:pic>
      <p:pic>
        <p:nvPicPr>
          <p:cNvPr id="85" name="图片 84"/>
          <p:cNvPicPr>
            <a:picLocks noChangeAspect="1"/>
          </p:cNvPicPr>
          <p:nvPr/>
        </p:nvPicPr>
        <p:blipFill>
          <a:blip r:embed="rId20"/>
          <a:stretch>
            <a:fillRect/>
          </a:stretch>
        </p:blipFill>
        <p:spPr>
          <a:xfrm>
            <a:off x="2618538" y="3399963"/>
            <a:ext cx="1057143" cy="752381"/>
          </a:xfrm>
          <a:prstGeom prst="rect">
            <a:avLst/>
          </a:prstGeom>
        </p:spPr>
      </p:pic>
      <p:pic>
        <p:nvPicPr>
          <p:cNvPr id="86" name="图片 85"/>
          <p:cNvPicPr>
            <a:picLocks noChangeAspect="1"/>
          </p:cNvPicPr>
          <p:nvPr/>
        </p:nvPicPr>
        <p:blipFill>
          <a:blip r:embed="rId21"/>
          <a:stretch>
            <a:fillRect/>
          </a:stretch>
        </p:blipFill>
        <p:spPr>
          <a:xfrm>
            <a:off x="1154944" y="3387306"/>
            <a:ext cx="990476" cy="752381"/>
          </a:xfrm>
          <a:prstGeom prst="rect">
            <a:avLst/>
          </a:prstGeom>
        </p:spPr>
      </p:pic>
    </p:spTree>
    <p:extLst>
      <p:ext uri="{BB962C8B-B14F-4D97-AF65-F5344CB8AC3E}">
        <p14:creationId xmlns:p14="http://schemas.microsoft.com/office/powerpoint/2010/main" val="2058391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20" grpId="0"/>
      <p:bldP spid="21" grpId="0"/>
      <p:bldP spid="27" grpId="0"/>
      <p:bldP spid="28" grpId="0"/>
      <p:bldP spid="37" grpId="0"/>
      <p:bldP spid="38" grpId="0"/>
      <p:bldP spid="49" grpId="0"/>
      <p:bldP spid="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500" y="297287"/>
            <a:ext cx="8737562" cy="551433"/>
          </a:xfrm>
          <a:prstGeom prst="rect">
            <a:avLst/>
          </a:prstGeom>
        </p:spPr>
        <p:txBody>
          <a:bodyPr vert="horz" wrap="square" lIns="0" tIns="0" rIns="0" bIns="0" rtlCol="0">
            <a:spAutoFit/>
          </a:bodyPr>
          <a:lstStyle/>
          <a:p>
            <a:pPr algn="ctr">
              <a:lnSpc>
                <a:spcPts val="4254"/>
              </a:lnSpc>
              <a:spcBef>
                <a:spcPct val="0"/>
              </a:spcBef>
              <a:spcAft>
                <a:spcPct val="0"/>
              </a:spcAft>
            </a:pPr>
            <a:r>
              <a:rPr sz="4000" spc="11" dirty="0" err="1">
                <a:solidFill>
                  <a:srgbClr val="C00000"/>
                </a:solidFill>
                <a:latin typeface="黑体" panose="02010609060101010101" pitchFamily="49" charset="-122"/>
                <a:ea typeface="黑体" panose="02010609060101010101" pitchFamily="49" charset="-122"/>
                <a:cs typeface="KIUBBN+SimSun"/>
              </a:rPr>
              <a:t>子问题的计数</a:t>
            </a:r>
            <a:endParaRPr sz="4252" spc="11" dirty="0">
              <a:solidFill>
                <a:srgbClr val="C00000"/>
              </a:solidFill>
              <a:latin typeface="黑体" panose="02010609060101010101" pitchFamily="49" charset="-122"/>
              <a:ea typeface="黑体" panose="02010609060101010101" pitchFamily="49" charset="-122"/>
              <a:cs typeface="KIUBBN+SimSun"/>
            </a:endParaRPr>
          </a:p>
        </p:txBody>
      </p:sp>
      <p:sp>
        <p:nvSpPr>
          <p:cNvPr id="12" name="object 12"/>
          <p:cNvSpPr txBox="1"/>
          <p:nvPr/>
        </p:nvSpPr>
        <p:spPr>
          <a:xfrm>
            <a:off x="721595" y="4693716"/>
            <a:ext cx="7003508" cy="861774"/>
          </a:xfrm>
          <a:prstGeom prst="rect">
            <a:avLst/>
          </a:prstGeom>
        </p:spPr>
        <p:txBody>
          <a:bodyPr vert="horz" wrap="square" lIns="0" tIns="0" rIns="0" bIns="0" rtlCol="0">
            <a:spAutoFit/>
          </a:bodyPr>
          <a:lstStyle/>
          <a:p>
            <a:pPr>
              <a:spcAft>
                <a:spcPct val="0"/>
              </a:spcAft>
            </a:pPr>
            <a:r>
              <a:rPr sz="2800" b="1" dirty="0">
                <a:solidFill>
                  <a:srgbClr val="000000"/>
                </a:solidFill>
                <a:latin typeface="黑体" panose="02010609060101010101" pitchFamily="49" charset="-122"/>
                <a:ea typeface="黑体" panose="02010609060101010101" pitchFamily="49" charset="-122"/>
                <a:cs typeface="KIUBBN+SimSun"/>
              </a:rPr>
              <a:t>边界不同的子问题：</a:t>
            </a:r>
            <a:r>
              <a:rPr sz="2800" b="1" dirty="0">
                <a:solidFill>
                  <a:srgbClr val="000000"/>
                </a:solidFill>
                <a:latin typeface="黑体" panose="02010609060101010101" pitchFamily="49" charset="-122"/>
                <a:ea typeface="黑体" panose="02010609060101010101" pitchFamily="49" charset="-122"/>
                <a:cs typeface="BJBEMS+TimesNewRomanPS-BoldMT"/>
              </a:rPr>
              <a:t>15</a:t>
            </a:r>
            <a:r>
              <a:rPr sz="2800" b="1" spc="32" dirty="0">
                <a:solidFill>
                  <a:srgbClr val="000000"/>
                </a:solidFill>
                <a:latin typeface="黑体" panose="02010609060101010101" pitchFamily="49" charset="-122"/>
                <a:ea typeface="黑体" panose="02010609060101010101" pitchFamily="49" charset="-122"/>
                <a:cs typeface="BJBEMS+TimesNewRomanPS-BoldMT"/>
              </a:rPr>
              <a:t> </a:t>
            </a:r>
            <a:r>
              <a:rPr sz="2800" b="1" dirty="0">
                <a:solidFill>
                  <a:srgbClr val="000000"/>
                </a:solidFill>
                <a:latin typeface="黑体" panose="02010609060101010101" pitchFamily="49" charset="-122"/>
                <a:ea typeface="黑体" panose="02010609060101010101" pitchFamily="49" charset="-122"/>
                <a:cs typeface="KIUBBN+SimSun"/>
              </a:rPr>
              <a:t>个</a:t>
            </a:r>
          </a:p>
          <a:p>
            <a:pPr>
              <a:spcAft>
                <a:spcPct val="0"/>
              </a:spcAft>
            </a:pPr>
            <a:r>
              <a:rPr sz="2800" b="1" dirty="0">
                <a:solidFill>
                  <a:srgbClr val="000000"/>
                </a:solidFill>
                <a:latin typeface="黑体" panose="02010609060101010101" pitchFamily="49" charset="-122"/>
                <a:ea typeface="黑体" panose="02010609060101010101" pitchFamily="49" charset="-122"/>
                <a:cs typeface="KIUBBN+SimSun"/>
              </a:rPr>
              <a:t>递归计算的子问题：</a:t>
            </a:r>
            <a:r>
              <a:rPr sz="2800" b="1" dirty="0">
                <a:solidFill>
                  <a:srgbClr val="000000"/>
                </a:solidFill>
                <a:latin typeface="黑体" panose="02010609060101010101" pitchFamily="49" charset="-122"/>
                <a:ea typeface="黑体" panose="02010609060101010101" pitchFamily="49" charset="-122"/>
                <a:cs typeface="BJBEMS+TimesNewRomanPS-BoldMT"/>
              </a:rPr>
              <a:t>81</a:t>
            </a:r>
            <a:r>
              <a:rPr sz="2800" b="1" spc="32" dirty="0">
                <a:solidFill>
                  <a:srgbClr val="000000"/>
                </a:solidFill>
                <a:latin typeface="黑体" panose="02010609060101010101" pitchFamily="49" charset="-122"/>
                <a:ea typeface="黑体" panose="02010609060101010101" pitchFamily="49" charset="-122"/>
                <a:cs typeface="BJBEMS+TimesNewRomanPS-BoldMT"/>
              </a:rPr>
              <a:t> </a:t>
            </a:r>
            <a:r>
              <a:rPr sz="2800" b="1" dirty="0">
                <a:solidFill>
                  <a:srgbClr val="000000"/>
                </a:solidFill>
                <a:latin typeface="黑体" panose="02010609060101010101" pitchFamily="49" charset="-122"/>
                <a:ea typeface="黑体" panose="02010609060101010101" pitchFamily="49" charset="-122"/>
                <a:cs typeface="KIUBBN+SimSun"/>
              </a:rPr>
              <a:t>个</a:t>
            </a:r>
          </a:p>
        </p:txBody>
      </p:sp>
      <p:pic>
        <p:nvPicPr>
          <p:cNvPr id="2" name="图片 1"/>
          <p:cNvPicPr>
            <a:picLocks noChangeAspect="1"/>
          </p:cNvPicPr>
          <p:nvPr/>
        </p:nvPicPr>
        <p:blipFill>
          <a:blip r:embed="rId2"/>
          <a:stretch>
            <a:fillRect/>
          </a:stretch>
        </p:blipFill>
        <p:spPr>
          <a:xfrm>
            <a:off x="1504947" y="1052170"/>
            <a:ext cx="6666667" cy="3438095"/>
          </a:xfrm>
          <a:prstGeom prst="rect">
            <a:avLst/>
          </a:prstGeom>
        </p:spPr>
      </p:pic>
    </p:spTree>
    <p:extLst>
      <p:ext uri="{BB962C8B-B14F-4D97-AF65-F5344CB8AC3E}">
        <p14:creationId xmlns:p14="http://schemas.microsoft.com/office/powerpoint/2010/main" val="794181297"/>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2477" y="213563"/>
            <a:ext cx="8881730"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KIUBBN+SimSun"/>
              </a:rPr>
              <a:t>结论</a:t>
            </a:r>
            <a:endParaRPr sz="4000" b="1" spc="11" dirty="0">
              <a:solidFill>
                <a:srgbClr val="C00000"/>
              </a:solidFill>
              <a:latin typeface="黑体" panose="02010609060101010101" pitchFamily="49" charset="-122"/>
              <a:ea typeface="黑体" panose="02010609060101010101" pitchFamily="49" charset="-122"/>
              <a:cs typeface="KIUBBN+SimSun"/>
            </a:endParaRPr>
          </a:p>
        </p:txBody>
      </p:sp>
      <p:sp>
        <p:nvSpPr>
          <p:cNvPr id="3" name="object 3"/>
          <p:cNvSpPr txBox="1"/>
          <p:nvPr/>
        </p:nvSpPr>
        <p:spPr>
          <a:xfrm>
            <a:off x="259207" y="1522752"/>
            <a:ext cx="8937345" cy="861774"/>
          </a:xfrm>
          <a:prstGeom prst="rect">
            <a:avLst/>
          </a:prstGeom>
        </p:spPr>
        <p:txBody>
          <a:bodyPr vert="horz" wrap="square" lIns="0" tIns="0" rIns="0" bIns="0" rtlCol="0">
            <a:spAutoFit/>
          </a:bodyPr>
          <a:lstStyle/>
          <a:p>
            <a:pPr algn="just">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0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与蛮力算法相比较，</a:t>
            </a:r>
            <a:r>
              <a:rPr sz="2800" b="1" spc="1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动态规划算法利用了子问题优化函数间的依赖关系</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，时间复杂度有所降低</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259206" y="2860773"/>
            <a:ext cx="8937345" cy="861774"/>
          </a:xfrm>
          <a:prstGeom prst="rect">
            <a:avLst/>
          </a:prstGeom>
        </p:spPr>
        <p:txBody>
          <a:bodyPr vert="horz" wrap="square" lIns="0" tIns="0" rIns="0" bIns="0" rtlCol="0">
            <a:spAutoFit/>
          </a:bodyPr>
          <a:lstStyle/>
          <a:p>
            <a:pPr algn="just">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动态规划算法的递归实现效率不高</a:t>
            </a:r>
            <a:r>
              <a:rPr sz="2800" b="1" spc="1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，原因在于同一子问题多次重复出现，每次出现都需要重新计算一遍</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5" name="object 5"/>
          <p:cNvSpPr txBox="1"/>
          <p:nvPr/>
        </p:nvSpPr>
        <p:spPr>
          <a:xfrm>
            <a:off x="259207" y="4220935"/>
            <a:ext cx="9095000" cy="1356782"/>
          </a:xfrm>
          <a:prstGeom prst="rect">
            <a:avLst/>
          </a:prstGeom>
        </p:spPr>
        <p:txBody>
          <a:bodyPr vert="horz" wrap="square" lIns="0" tIns="0" rIns="0" bIns="0" rtlCol="0">
            <a:spAutoFit/>
          </a:bodyPr>
          <a:lstStyle/>
          <a:p>
            <a:pPr algn="just">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采用空间换时间策略，</a:t>
            </a:r>
            <a:r>
              <a:rPr sz="2800" b="1" spc="1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记录每个子问题首次计算结果</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后面再用时就</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直接取值，每个子问题只算一次</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364503" algn="just">
              <a:spcBef>
                <a:spcPts val="509"/>
              </a:spcBef>
              <a:spcAft>
                <a:spcPct val="0"/>
              </a:spcAft>
            </a:pP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4807308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3790" y="2104858"/>
            <a:ext cx="7938472" cy="1603003"/>
          </a:xfrm>
          <a:prstGeom prst="rect">
            <a:avLst/>
          </a:prstGeom>
        </p:spPr>
        <p:txBody>
          <a:bodyPr vert="horz" wrap="square" lIns="0" tIns="0" rIns="0" bIns="0" rtlCol="0">
            <a:spAutoFit/>
          </a:bodyPr>
          <a:lstStyle/>
          <a:p>
            <a:pPr algn="ctr">
              <a:lnSpc>
                <a:spcPts val="5740"/>
              </a:lnSpc>
              <a:spcBef>
                <a:spcPct val="0"/>
              </a:spcBef>
              <a:spcAft>
                <a:spcPct val="0"/>
              </a:spcAft>
            </a:pPr>
            <a:r>
              <a:rPr sz="6600" spc="19" dirty="0" err="1">
                <a:solidFill>
                  <a:srgbClr val="C00000"/>
                </a:solidFill>
                <a:latin typeface="黑体" panose="02010609060101010101" pitchFamily="49" charset="-122"/>
                <a:ea typeface="黑体" panose="02010609060101010101" pitchFamily="49" charset="-122"/>
                <a:cs typeface="WRJJLM+SimSun"/>
              </a:rPr>
              <a:t>动态规划算法</a:t>
            </a:r>
            <a:endParaRPr sz="6600" spc="19" dirty="0">
              <a:solidFill>
                <a:srgbClr val="C00000"/>
              </a:solidFill>
              <a:latin typeface="黑体" panose="02010609060101010101" pitchFamily="49" charset="-122"/>
              <a:ea typeface="黑体" panose="02010609060101010101" pitchFamily="49" charset="-122"/>
              <a:cs typeface="WRJJLM+SimSun"/>
            </a:endParaRPr>
          </a:p>
          <a:p>
            <a:pPr marL="366123" algn="ctr">
              <a:lnSpc>
                <a:spcPts val="5740"/>
              </a:lnSpc>
              <a:spcBef>
                <a:spcPts val="1147"/>
              </a:spcBef>
              <a:spcAft>
                <a:spcPct val="0"/>
              </a:spcAft>
            </a:pPr>
            <a:r>
              <a:rPr sz="6600" spc="19" dirty="0" err="1">
                <a:solidFill>
                  <a:srgbClr val="C00000"/>
                </a:solidFill>
                <a:latin typeface="黑体" panose="02010609060101010101" pitchFamily="49" charset="-122"/>
                <a:ea typeface="黑体" panose="02010609060101010101" pitchFamily="49" charset="-122"/>
                <a:cs typeface="WRJJLM+SimSun"/>
              </a:rPr>
              <a:t>的迭代实现</a:t>
            </a:r>
            <a:endParaRPr sz="6600" spc="19" dirty="0">
              <a:solidFill>
                <a:srgbClr val="C00000"/>
              </a:solidFill>
              <a:latin typeface="黑体" panose="02010609060101010101" pitchFamily="49" charset="-122"/>
              <a:ea typeface="黑体" panose="02010609060101010101" pitchFamily="49" charset="-122"/>
              <a:cs typeface="WRJJLM+SimSun"/>
            </a:endParaRPr>
          </a:p>
        </p:txBody>
      </p:sp>
    </p:spTree>
    <p:extLst>
      <p:ext uri="{BB962C8B-B14F-4D97-AF65-F5344CB8AC3E}">
        <p14:creationId xmlns:p14="http://schemas.microsoft.com/office/powerpoint/2010/main" val="3203618479"/>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5838" y="259167"/>
            <a:ext cx="8796328"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WRJJLM+SimSun"/>
              </a:rPr>
              <a:t>迭代计算的关键</a:t>
            </a:r>
            <a:endParaRPr sz="4000" b="1" spc="11" dirty="0">
              <a:solidFill>
                <a:srgbClr val="C00000"/>
              </a:solidFill>
              <a:latin typeface="黑体" panose="02010609060101010101" pitchFamily="49" charset="-122"/>
              <a:ea typeface="黑体" panose="02010609060101010101" pitchFamily="49" charset="-122"/>
              <a:cs typeface="WRJJLM+SimSun"/>
            </a:endParaRPr>
          </a:p>
        </p:txBody>
      </p:sp>
      <p:sp>
        <p:nvSpPr>
          <p:cNvPr id="3" name="object 3"/>
          <p:cNvSpPr txBox="1"/>
          <p:nvPr/>
        </p:nvSpPr>
        <p:spPr>
          <a:xfrm>
            <a:off x="340209" y="1376833"/>
            <a:ext cx="4159445"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每个子问题只计算一次</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40209" y="2083094"/>
            <a:ext cx="2149474"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迭代过程</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826222" y="2503275"/>
            <a:ext cx="8254716" cy="1292662"/>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从最小的子问题算起</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考虑计算顺序，以保证后面用到的值</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303751">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前面已经计算好</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836732" y="3830517"/>
            <a:ext cx="8254715" cy="333425"/>
          </a:xfrm>
          <a:prstGeom prst="rect">
            <a:avLst/>
          </a:prstGeom>
        </p:spPr>
        <p:txBody>
          <a:bodyPr vert="horz" wrap="square" lIns="0" tIns="0" rIns="0" bIns="0" rtlCol="0">
            <a:spAutoFit/>
          </a:bodyPr>
          <a:lstStyle/>
          <a:p>
            <a:pPr>
              <a:lnSpc>
                <a:spcPts val="2592"/>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存储结构保存计算结果</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备忘录</a:t>
            </a:r>
            <a:endPar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340209" y="4462932"/>
            <a:ext cx="2149474"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解的追踪</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826222" y="4902391"/>
            <a:ext cx="8328288" cy="861774"/>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设计标记函数标记每步的决策</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考虑根据标记函数追踪解的算法</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6686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32727" y="224240"/>
            <a:ext cx="6226320" cy="551433"/>
          </a:xfrm>
          <a:prstGeom prst="rect">
            <a:avLst/>
          </a:prstGeom>
        </p:spPr>
        <p:txBody>
          <a:bodyPr vert="horz" wrap="square" lIns="0" tIns="0" rIns="0" bIns="0" rtlCol="0">
            <a:spAutoFit/>
          </a:bodyPr>
          <a:lstStyle/>
          <a:p>
            <a:pP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WRJJLM+SimSun"/>
              </a:rPr>
              <a:t>矩阵链乘法不同子问题</a:t>
            </a:r>
            <a:endParaRPr sz="4000" b="1" spc="11" dirty="0">
              <a:solidFill>
                <a:srgbClr val="C00000"/>
              </a:solidFill>
              <a:latin typeface="黑体" panose="02010609060101010101" pitchFamily="49" charset="-122"/>
              <a:ea typeface="黑体" panose="02010609060101010101" pitchFamily="49" charset="-122"/>
              <a:cs typeface="WRJJLM+SimSun"/>
            </a:endParaRPr>
          </a:p>
        </p:txBody>
      </p:sp>
      <p:sp>
        <p:nvSpPr>
          <p:cNvPr id="3" name="object 3"/>
          <p:cNvSpPr txBox="1"/>
          <p:nvPr/>
        </p:nvSpPr>
        <p:spPr>
          <a:xfrm>
            <a:off x="421212" y="1696635"/>
            <a:ext cx="8722788"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WRJJLM+SimSun"/>
              </a:rPr>
              <a:t>长度</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dirty="0">
                <a:solidFill>
                  <a:srgbClr val="000000"/>
                </a:solidFill>
                <a:latin typeface="黑体" panose="02010609060101010101" pitchFamily="49" charset="-122"/>
                <a:ea typeface="黑体" panose="02010609060101010101" pitchFamily="49" charset="-122"/>
                <a:cs typeface="WRJJLM+SimSun"/>
              </a:rPr>
              <a:t>：只含</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spc="13" dirty="0">
                <a:solidFill>
                  <a:srgbClr val="000000"/>
                </a:solidFill>
                <a:latin typeface="黑体" panose="02010609060101010101" pitchFamily="49" charset="-122"/>
                <a:ea typeface="黑体" panose="02010609060101010101" pitchFamily="49" charset="-122"/>
                <a:cs typeface="WRJJLM+SimSun"/>
              </a:rPr>
              <a:t>个矩阵，有</a:t>
            </a:r>
            <a:r>
              <a:rPr sz="2800" b="1" i="1" dirty="0">
                <a:solidFill>
                  <a:srgbClr val="000000"/>
                </a:solidFill>
                <a:latin typeface="黑体" panose="02010609060101010101" pitchFamily="49" charset="-122"/>
                <a:ea typeface="黑体" panose="02010609060101010101" pitchFamily="49" charset="-122"/>
                <a:cs typeface="VUMWMV+TimesNewRomanPS-BoldItalicMT"/>
              </a:rPr>
              <a:t>n</a:t>
            </a:r>
            <a:r>
              <a:rPr sz="2800" b="1" spc="12" dirty="0" smtClean="0">
                <a:solidFill>
                  <a:srgbClr val="000000"/>
                </a:solidFill>
                <a:latin typeface="黑体" panose="02010609060101010101" pitchFamily="49" charset="-122"/>
                <a:ea typeface="黑体" panose="02010609060101010101" pitchFamily="49" charset="-122"/>
                <a:cs typeface="WRJJLM+SimSun"/>
              </a:rPr>
              <a:t>个子问题</a:t>
            </a:r>
            <a:r>
              <a:rPr sz="2800" b="1" dirty="0" smtClean="0">
                <a:solidFill>
                  <a:srgbClr val="000000"/>
                </a:solidFill>
                <a:latin typeface="黑体" panose="02010609060101010101" pitchFamily="49" charset="-122"/>
                <a:ea typeface="黑体" panose="02010609060101010101" pitchFamily="49" charset="-122"/>
                <a:cs typeface="LNAPSE+TimesNewRomanPS-BoldMT"/>
              </a:rPr>
              <a:t>(</a:t>
            </a:r>
            <a:r>
              <a:rPr sz="2800" b="1" dirty="0" err="1">
                <a:solidFill>
                  <a:srgbClr val="000000"/>
                </a:solidFill>
                <a:latin typeface="黑体" panose="02010609060101010101" pitchFamily="49" charset="-122"/>
                <a:ea typeface="黑体" panose="02010609060101010101" pitchFamily="49" charset="-122"/>
                <a:cs typeface="WRJJLM+SimSun"/>
              </a:rPr>
              <a:t>不需要计算</a:t>
            </a:r>
            <a:r>
              <a:rPr sz="2800" b="1" dirty="0">
                <a:solidFill>
                  <a:srgbClr val="000000"/>
                </a:solidFill>
                <a:latin typeface="黑体" panose="02010609060101010101" pitchFamily="49" charset="-122"/>
                <a:ea typeface="黑体" panose="02010609060101010101" pitchFamily="49" charset="-122"/>
                <a:cs typeface="LNAPSE+TimesNewRomanPS-BoldMT"/>
              </a:rPr>
              <a:t>)</a:t>
            </a:r>
          </a:p>
        </p:txBody>
      </p:sp>
      <p:sp>
        <p:nvSpPr>
          <p:cNvPr id="4" name="object 4"/>
          <p:cNvSpPr txBox="1"/>
          <p:nvPr/>
        </p:nvSpPr>
        <p:spPr>
          <a:xfrm>
            <a:off x="421211" y="2553049"/>
            <a:ext cx="5379557"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WRJJLM+SimSun"/>
              </a:rPr>
              <a:t>长度</a:t>
            </a:r>
            <a:r>
              <a:rPr sz="2800" b="1" dirty="0">
                <a:solidFill>
                  <a:srgbClr val="000000"/>
                </a:solidFill>
                <a:latin typeface="黑体" panose="02010609060101010101" pitchFamily="49" charset="-122"/>
                <a:ea typeface="黑体" panose="02010609060101010101" pitchFamily="49" charset="-122"/>
                <a:cs typeface="LNAPSE+TimesNewRomanPS-BoldMT"/>
              </a:rPr>
              <a:t>2</a:t>
            </a:r>
            <a:r>
              <a:rPr sz="2800" b="1" dirty="0">
                <a:solidFill>
                  <a:srgbClr val="000000"/>
                </a:solidFill>
                <a:latin typeface="黑体" panose="02010609060101010101" pitchFamily="49" charset="-122"/>
                <a:ea typeface="黑体" panose="02010609060101010101" pitchFamily="49" charset="-122"/>
                <a:cs typeface="WRJJLM+SimSun"/>
              </a:rPr>
              <a:t>：含</a:t>
            </a:r>
            <a:r>
              <a:rPr sz="2800" b="1" dirty="0">
                <a:solidFill>
                  <a:srgbClr val="000000"/>
                </a:solidFill>
                <a:latin typeface="黑体" panose="02010609060101010101" pitchFamily="49" charset="-122"/>
                <a:ea typeface="黑体" panose="02010609060101010101" pitchFamily="49" charset="-122"/>
                <a:cs typeface="LNAPSE+TimesNewRomanPS-BoldMT"/>
              </a:rPr>
              <a:t>2</a:t>
            </a:r>
            <a:r>
              <a:rPr sz="2800" b="1" spc="13" dirty="0">
                <a:solidFill>
                  <a:srgbClr val="000000"/>
                </a:solidFill>
                <a:latin typeface="黑体" panose="02010609060101010101" pitchFamily="49" charset="-122"/>
                <a:ea typeface="黑体" panose="02010609060101010101" pitchFamily="49" charset="-122"/>
                <a:cs typeface="WRJJLM+SimSun"/>
              </a:rPr>
              <a:t>个矩阵，</a:t>
            </a:r>
            <a:r>
              <a:rPr sz="2800" b="1" i="1" dirty="0">
                <a:solidFill>
                  <a:srgbClr val="000000"/>
                </a:solidFill>
                <a:latin typeface="黑体" panose="02010609060101010101" pitchFamily="49" charset="-122"/>
                <a:ea typeface="黑体" panose="02010609060101010101" pitchFamily="49" charset="-122"/>
                <a:cs typeface="VUMWMV+TimesNewRomanPS-BoldItalicMT"/>
              </a:rPr>
              <a:t>n</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spc="12" dirty="0">
                <a:solidFill>
                  <a:srgbClr val="000000"/>
                </a:solidFill>
                <a:latin typeface="黑体" panose="02010609060101010101" pitchFamily="49" charset="-122"/>
                <a:ea typeface="黑体" panose="02010609060101010101" pitchFamily="49" charset="-122"/>
                <a:cs typeface="WRJJLM+SimSun"/>
              </a:rPr>
              <a:t>个子问题</a:t>
            </a:r>
          </a:p>
        </p:txBody>
      </p:sp>
      <p:sp>
        <p:nvSpPr>
          <p:cNvPr id="5" name="object 5"/>
          <p:cNvSpPr txBox="1"/>
          <p:nvPr/>
        </p:nvSpPr>
        <p:spPr>
          <a:xfrm>
            <a:off x="421211" y="3316678"/>
            <a:ext cx="5379557"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WRJJLM+SimSun"/>
              </a:rPr>
              <a:t>长度</a:t>
            </a:r>
            <a:r>
              <a:rPr sz="2800" b="1" dirty="0">
                <a:solidFill>
                  <a:srgbClr val="000000"/>
                </a:solidFill>
                <a:latin typeface="黑体" panose="02010609060101010101" pitchFamily="49" charset="-122"/>
                <a:ea typeface="黑体" panose="02010609060101010101" pitchFamily="49" charset="-122"/>
                <a:cs typeface="LNAPSE+TimesNewRomanPS-BoldMT"/>
              </a:rPr>
              <a:t>3</a:t>
            </a:r>
            <a:r>
              <a:rPr sz="2800" b="1" dirty="0">
                <a:solidFill>
                  <a:srgbClr val="000000"/>
                </a:solidFill>
                <a:latin typeface="黑体" panose="02010609060101010101" pitchFamily="49" charset="-122"/>
                <a:ea typeface="黑体" panose="02010609060101010101" pitchFamily="49" charset="-122"/>
                <a:cs typeface="WRJJLM+SimSun"/>
              </a:rPr>
              <a:t>：含</a:t>
            </a:r>
            <a:r>
              <a:rPr sz="2800" b="1" dirty="0">
                <a:solidFill>
                  <a:srgbClr val="000000"/>
                </a:solidFill>
                <a:latin typeface="黑体" panose="02010609060101010101" pitchFamily="49" charset="-122"/>
                <a:ea typeface="黑体" panose="02010609060101010101" pitchFamily="49" charset="-122"/>
                <a:cs typeface="LNAPSE+TimesNewRomanPS-BoldMT"/>
              </a:rPr>
              <a:t>3</a:t>
            </a:r>
            <a:r>
              <a:rPr sz="2800" b="1" spc="13" dirty="0">
                <a:solidFill>
                  <a:srgbClr val="000000"/>
                </a:solidFill>
                <a:latin typeface="黑体" panose="02010609060101010101" pitchFamily="49" charset="-122"/>
                <a:ea typeface="黑体" panose="02010609060101010101" pitchFamily="49" charset="-122"/>
                <a:cs typeface="WRJJLM+SimSun"/>
              </a:rPr>
              <a:t>个矩阵，</a:t>
            </a:r>
            <a:r>
              <a:rPr sz="2800" b="1" i="1" dirty="0">
                <a:solidFill>
                  <a:srgbClr val="000000"/>
                </a:solidFill>
                <a:latin typeface="黑体" panose="02010609060101010101" pitchFamily="49" charset="-122"/>
                <a:ea typeface="黑体" panose="02010609060101010101" pitchFamily="49" charset="-122"/>
                <a:cs typeface="VUMWMV+TimesNewRomanPS-BoldItalicMT"/>
              </a:rPr>
              <a:t>n</a:t>
            </a:r>
            <a:r>
              <a:rPr sz="2800" b="1" dirty="0">
                <a:solidFill>
                  <a:srgbClr val="000000"/>
                </a:solidFill>
                <a:latin typeface="黑体" panose="02010609060101010101" pitchFamily="49" charset="-122"/>
                <a:ea typeface="黑体" panose="02010609060101010101" pitchFamily="49" charset="-122"/>
                <a:cs typeface="LNAPSE+TimesNewRomanPS-BoldMT"/>
              </a:rPr>
              <a:t>-2</a:t>
            </a:r>
            <a:r>
              <a:rPr sz="2800" b="1" spc="12" dirty="0">
                <a:solidFill>
                  <a:srgbClr val="000000"/>
                </a:solidFill>
                <a:latin typeface="黑体" panose="02010609060101010101" pitchFamily="49" charset="-122"/>
                <a:ea typeface="黑体" panose="02010609060101010101" pitchFamily="49" charset="-122"/>
                <a:cs typeface="WRJJLM+SimSun"/>
              </a:rPr>
              <a:t>个子问题</a:t>
            </a:r>
          </a:p>
        </p:txBody>
      </p:sp>
      <p:sp>
        <p:nvSpPr>
          <p:cNvPr id="6" name="object 6"/>
          <p:cNvSpPr txBox="1"/>
          <p:nvPr/>
        </p:nvSpPr>
        <p:spPr>
          <a:xfrm>
            <a:off x="664379" y="3717477"/>
            <a:ext cx="729020" cy="359073"/>
          </a:xfrm>
          <a:prstGeom prst="rect">
            <a:avLst/>
          </a:prstGeom>
        </p:spPr>
        <p:txBody>
          <a:bodyPr vert="horz" wrap="square" lIns="0" tIns="0" rIns="0" bIns="0" rtlCol="0">
            <a:spAutoFit/>
          </a:bodyPr>
          <a:lstStyle/>
          <a:p>
            <a:pPr>
              <a:lnSpc>
                <a:spcPts val="2824"/>
              </a:lnSpc>
              <a:spcBef>
                <a:spcPct val="0"/>
              </a:spcBef>
              <a:spcAft>
                <a:spcPct val="0"/>
              </a:spcAft>
            </a:pPr>
            <a:r>
              <a:rPr sz="2800" b="1">
                <a:solidFill>
                  <a:srgbClr val="000000"/>
                </a:solidFill>
                <a:latin typeface="黑体" panose="02010609060101010101" pitchFamily="49" charset="-122"/>
                <a:ea typeface="黑体" panose="02010609060101010101" pitchFamily="49" charset="-122"/>
                <a:cs typeface="LNAPSE+TimesNewRomanPS-BoldMT"/>
              </a:rPr>
              <a:t>...</a:t>
            </a:r>
          </a:p>
        </p:txBody>
      </p:sp>
      <p:sp>
        <p:nvSpPr>
          <p:cNvPr id="7" name="object 7"/>
          <p:cNvSpPr txBox="1"/>
          <p:nvPr/>
        </p:nvSpPr>
        <p:spPr>
          <a:xfrm>
            <a:off x="421212" y="4151001"/>
            <a:ext cx="5711180"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WRJJLM+SimSun"/>
              </a:rPr>
              <a:t>长度</a:t>
            </a:r>
            <a:r>
              <a:rPr sz="2800" b="1" i="1" dirty="0">
                <a:solidFill>
                  <a:srgbClr val="000000"/>
                </a:solidFill>
                <a:latin typeface="黑体" panose="02010609060101010101" pitchFamily="49" charset="-122"/>
                <a:ea typeface="黑体" panose="02010609060101010101" pitchFamily="49" charset="-122"/>
                <a:cs typeface="VUMWMV+TimesNewRomanPS-BoldItalicMT"/>
              </a:rPr>
              <a:t>n</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spc="12" dirty="0">
                <a:solidFill>
                  <a:srgbClr val="000000"/>
                </a:solidFill>
                <a:latin typeface="黑体" panose="02010609060101010101" pitchFamily="49" charset="-122"/>
                <a:ea typeface="黑体" panose="02010609060101010101" pitchFamily="49" charset="-122"/>
                <a:cs typeface="WRJJLM+SimSun"/>
              </a:rPr>
              <a:t>：含</a:t>
            </a:r>
            <a:r>
              <a:rPr sz="2800" b="1" i="1" dirty="0">
                <a:solidFill>
                  <a:srgbClr val="000000"/>
                </a:solidFill>
                <a:latin typeface="黑体" panose="02010609060101010101" pitchFamily="49" charset="-122"/>
                <a:ea typeface="黑体" panose="02010609060101010101" pitchFamily="49" charset="-122"/>
                <a:cs typeface="VUMWMV+TimesNewRomanPS-BoldItalicMT"/>
              </a:rPr>
              <a:t>n</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spc="11" dirty="0">
                <a:solidFill>
                  <a:srgbClr val="000000"/>
                </a:solidFill>
                <a:latin typeface="黑体" panose="02010609060101010101" pitchFamily="49" charset="-122"/>
                <a:ea typeface="黑体" panose="02010609060101010101" pitchFamily="49" charset="-122"/>
                <a:cs typeface="WRJJLM+SimSun"/>
              </a:rPr>
              <a:t>个矩阵，</a:t>
            </a:r>
            <a:r>
              <a:rPr sz="2800" b="1" dirty="0">
                <a:solidFill>
                  <a:srgbClr val="000000"/>
                </a:solidFill>
                <a:latin typeface="黑体" panose="02010609060101010101" pitchFamily="49" charset="-122"/>
                <a:ea typeface="黑体" panose="02010609060101010101" pitchFamily="49" charset="-122"/>
                <a:cs typeface="LNAPSE+TimesNewRomanPS-BoldMT"/>
              </a:rPr>
              <a:t>2</a:t>
            </a:r>
            <a:r>
              <a:rPr sz="2800" b="1" spc="12" dirty="0">
                <a:solidFill>
                  <a:srgbClr val="000000"/>
                </a:solidFill>
                <a:latin typeface="黑体" panose="02010609060101010101" pitchFamily="49" charset="-122"/>
                <a:ea typeface="黑体" panose="02010609060101010101" pitchFamily="49" charset="-122"/>
                <a:cs typeface="WRJJLM+SimSun"/>
              </a:rPr>
              <a:t>个子问题</a:t>
            </a:r>
          </a:p>
        </p:txBody>
      </p:sp>
      <p:sp>
        <p:nvSpPr>
          <p:cNvPr id="8" name="object 8"/>
          <p:cNvSpPr txBox="1"/>
          <p:nvPr/>
        </p:nvSpPr>
        <p:spPr>
          <a:xfrm>
            <a:off x="421212" y="4869981"/>
            <a:ext cx="4601733"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smtClean="0">
                <a:solidFill>
                  <a:srgbClr val="000000"/>
                </a:solidFill>
                <a:latin typeface="黑体" panose="02010609060101010101" pitchFamily="49" charset="-122"/>
                <a:ea typeface="黑体" panose="02010609060101010101" pitchFamily="49" charset="-122"/>
                <a:cs typeface="WRJJLM+SimSun"/>
              </a:rPr>
              <a:t>长度</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n</a:t>
            </a:r>
            <a:r>
              <a:rPr sz="2800" b="1" spc="11" dirty="0">
                <a:solidFill>
                  <a:srgbClr val="000000"/>
                </a:solidFill>
                <a:latin typeface="黑体" panose="02010609060101010101" pitchFamily="49" charset="-122"/>
                <a:ea typeface="黑体" panose="02010609060101010101" pitchFamily="49" charset="-122"/>
                <a:cs typeface="WRJJLM+SimSun"/>
              </a:rPr>
              <a:t>：原始问题，只有</a:t>
            </a:r>
            <a:r>
              <a:rPr sz="2800" b="1" dirty="0">
                <a:solidFill>
                  <a:srgbClr val="000000"/>
                </a:solidFill>
                <a:latin typeface="黑体" panose="02010609060101010101" pitchFamily="49" charset="-122"/>
                <a:ea typeface="黑体" panose="02010609060101010101" pitchFamily="49" charset="-122"/>
                <a:cs typeface="LNAPSE+TimesNewRomanPS-BoldMT"/>
              </a:rPr>
              <a:t>1</a:t>
            </a:r>
            <a:r>
              <a:rPr sz="2800" b="1" dirty="0">
                <a:solidFill>
                  <a:srgbClr val="000000"/>
                </a:solidFill>
                <a:latin typeface="黑体" panose="02010609060101010101" pitchFamily="49" charset="-122"/>
                <a:ea typeface="黑体" panose="02010609060101010101" pitchFamily="49" charset="-122"/>
                <a:cs typeface="WRJJLM+SimSun"/>
              </a:rPr>
              <a:t>个</a:t>
            </a:r>
          </a:p>
        </p:txBody>
      </p:sp>
    </p:spTree>
    <p:extLst>
      <p:ext uri="{BB962C8B-B14F-4D97-AF65-F5344CB8AC3E}">
        <p14:creationId xmlns:p14="http://schemas.microsoft.com/office/powerpoint/2010/main" val="20140718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3215" y="204026"/>
            <a:ext cx="8665888"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矩阵链乘法迭代顺序</a:t>
            </a:r>
            <a:endParaRPr sz="4000" b="1" spc="1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object 3"/>
          <p:cNvSpPr txBox="1"/>
          <p:nvPr/>
        </p:nvSpPr>
        <p:spPr>
          <a:xfrm>
            <a:off x="583215" y="1438744"/>
            <a:ext cx="8403130" cy="3173946"/>
          </a:xfrm>
          <a:prstGeom prst="rect">
            <a:avLst/>
          </a:prstGeom>
        </p:spPr>
        <p:txBody>
          <a:bodyPr vert="horz" wrap="square" lIns="0" tIns="0" rIns="0" bIns="0" rtlCol="0">
            <a:spAutoFit/>
          </a:bodyPr>
          <a:lstStyle/>
          <a:p>
            <a:pPr>
              <a:lnSpc>
                <a:spcPct val="150000"/>
              </a:lnSpc>
              <a:spcBef>
                <a:spcPct val="0"/>
              </a:spcBef>
              <a:spcAft>
                <a:spcPct val="0"/>
              </a:spcAft>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长度为1</a:t>
            </a:r>
            <a:r>
              <a:rPr sz="32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：初值，</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i="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0</a:t>
            </a:r>
          </a:p>
          <a:p>
            <a:pPr>
              <a:lnSpc>
                <a:spcPct val="150000"/>
              </a:lnSpc>
              <a:spcBef>
                <a:spcPts val="848"/>
              </a:spcBef>
              <a:spcAft>
                <a:spcPct val="0"/>
              </a:spcAft>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长度为2：1..2,</a:t>
            </a:r>
            <a:r>
              <a:rPr sz="3200" b="1" spc="66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2..3,</a:t>
            </a:r>
            <a:r>
              <a:rPr sz="32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3..4,</a:t>
            </a:r>
            <a:r>
              <a:rPr sz="32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p>
          <a:p>
            <a:pPr>
              <a:lnSpc>
                <a:spcPct val="150000"/>
              </a:lnSpc>
              <a:spcBef>
                <a:spcPts val="848"/>
              </a:spcBef>
              <a:spcAft>
                <a:spcPct val="0"/>
              </a:spcAft>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长度为3：1..3,</a:t>
            </a:r>
            <a:r>
              <a:rPr sz="3200" b="1" spc="66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2..4,</a:t>
            </a:r>
            <a:r>
              <a:rPr sz="32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3..5,</a:t>
            </a:r>
            <a:r>
              <a:rPr sz="32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p>
          <a:p>
            <a:pPr marL="405003">
              <a:lnSpc>
                <a:spcPct val="150000"/>
              </a:lnSpc>
              <a:spcBef>
                <a:spcPts val="814"/>
              </a:spcBef>
              <a:spcAft>
                <a:spcPct val="0"/>
              </a:spcAft>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object 4"/>
          <p:cNvSpPr txBox="1"/>
          <p:nvPr/>
        </p:nvSpPr>
        <p:spPr>
          <a:xfrm>
            <a:off x="583216" y="3869473"/>
            <a:ext cx="7856591" cy="1486433"/>
          </a:xfrm>
          <a:prstGeom prst="rect">
            <a:avLst/>
          </a:prstGeom>
        </p:spPr>
        <p:txBody>
          <a:bodyPr vert="horz" wrap="square" lIns="0" tIns="0" rIns="0" bIns="0" rtlCol="0">
            <a:spAutoFit/>
          </a:bodyPr>
          <a:lstStyle/>
          <a:p>
            <a:pPr>
              <a:lnSpc>
                <a:spcPct val="150000"/>
              </a:lnSpc>
              <a:spcBef>
                <a:spcPct val="0"/>
              </a:spcBef>
              <a:spcAft>
                <a:spcPct val="0"/>
              </a:spcAft>
            </a:pPr>
            <a:r>
              <a:rPr sz="32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长度为</a:t>
            </a:r>
            <a:r>
              <a:rPr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-1：1..</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200" b="1" spc="66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p>
          <a:p>
            <a:pPr>
              <a:lnSpc>
                <a:spcPct val="150000"/>
              </a:lnSpc>
              <a:spcBef>
                <a:spcPts val="848"/>
              </a:spcBef>
              <a:spcAft>
                <a:spcPct val="0"/>
              </a:spcAft>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长度为</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p>
        </p:txBody>
      </p:sp>
    </p:spTree>
    <p:extLst>
      <p:ext uri="{BB962C8B-B14F-4D97-AF65-F5344CB8AC3E}">
        <p14:creationId xmlns:p14="http://schemas.microsoft.com/office/powerpoint/2010/main" val="3967916895"/>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txBox="1"/>
          <p:nvPr/>
        </p:nvSpPr>
        <p:spPr>
          <a:xfrm>
            <a:off x="399393" y="147076"/>
            <a:ext cx="8891751" cy="602729"/>
          </a:xfrm>
          <a:prstGeom prst="rect">
            <a:avLst/>
          </a:prstGeom>
        </p:spPr>
        <p:txBody>
          <a:bodyPr vert="horz" wrap="square" lIns="0" tIns="0" rIns="0" bIns="0" rtlCol="0">
            <a:spAutoFit/>
          </a:bodyPr>
          <a:lstStyle/>
          <a:p>
            <a:pPr algn="ctr">
              <a:lnSpc>
                <a:spcPts val="4710"/>
              </a:lnSpc>
              <a:spcBef>
                <a:spcPct val="0"/>
              </a:spcBef>
              <a:spcAft>
                <a:spcPct val="0"/>
              </a:spcAft>
            </a:pPr>
            <a:r>
              <a:rPr sz="4000" i="1" dirty="0">
                <a:solidFill>
                  <a:srgbClr val="C00000"/>
                </a:solidFill>
                <a:latin typeface="黑体" panose="02010609060101010101" pitchFamily="49" charset="-122"/>
                <a:ea typeface="黑体" panose="02010609060101010101" pitchFamily="49" charset="-122"/>
                <a:cs typeface="VUMWMV+TimesNewRomanPS-BoldItalicMT"/>
              </a:rPr>
              <a:t>n</a:t>
            </a:r>
            <a:r>
              <a:rPr sz="4000" dirty="0">
                <a:solidFill>
                  <a:srgbClr val="C00000"/>
                </a:solidFill>
                <a:latin typeface="黑体" panose="02010609060101010101" pitchFamily="49" charset="-122"/>
                <a:ea typeface="黑体" panose="02010609060101010101" pitchFamily="49" charset="-122"/>
                <a:cs typeface="LNAPSE+TimesNewRomanPS-BoldMT"/>
              </a:rPr>
              <a:t>=8</a:t>
            </a:r>
            <a:r>
              <a:rPr sz="4000" spc="11" dirty="0">
                <a:solidFill>
                  <a:srgbClr val="C00000"/>
                </a:solidFill>
                <a:latin typeface="黑体" panose="02010609060101010101" pitchFamily="49" charset="-122"/>
                <a:ea typeface="黑体" panose="02010609060101010101" pitchFamily="49" charset="-122"/>
                <a:cs typeface="WRJJLM+SimSun"/>
              </a:rPr>
              <a:t>的子问题计算顺序</a:t>
            </a:r>
          </a:p>
        </p:txBody>
      </p:sp>
      <p:pic>
        <p:nvPicPr>
          <p:cNvPr id="29" name="图片 28"/>
          <p:cNvPicPr>
            <a:picLocks noChangeAspect="1"/>
          </p:cNvPicPr>
          <p:nvPr/>
        </p:nvPicPr>
        <p:blipFill>
          <a:blip r:embed="rId2"/>
          <a:stretch>
            <a:fillRect/>
          </a:stretch>
        </p:blipFill>
        <p:spPr>
          <a:xfrm>
            <a:off x="1502988" y="997230"/>
            <a:ext cx="6714286" cy="4485714"/>
          </a:xfrm>
          <a:prstGeom prst="rect">
            <a:avLst/>
          </a:prstGeom>
        </p:spPr>
      </p:pic>
    </p:spTree>
    <p:extLst>
      <p:ext uri="{BB962C8B-B14F-4D97-AF65-F5344CB8AC3E}">
        <p14:creationId xmlns:p14="http://schemas.microsoft.com/office/powerpoint/2010/main" val="414027470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75983" y="1000236"/>
            <a:ext cx="1785191" cy="942960"/>
          </a:xfrm>
          <a:prstGeom prst="rect">
            <a:avLst/>
          </a:prstGeom>
          <a:blipFill>
            <a:blip r:embed="rId2"/>
            <a:stretch>
              <a:fillRect/>
            </a:stretch>
          </a:blipFill>
        </p:spPr>
        <p:txBody>
          <a:bodyPr wrap="square" lIns="0" tIns="0" rIns="0" bIns="0" rtlCol="0">
            <a:spAutoFit/>
          </a:bodyPr>
          <a:lstStyle/>
          <a:p>
            <a:endParaRPr sz="2800"/>
          </a:p>
        </p:txBody>
      </p:sp>
      <p:sp>
        <p:nvSpPr>
          <p:cNvPr id="3" name="object 3"/>
          <p:cNvSpPr/>
          <p:nvPr/>
        </p:nvSpPr>
        <p:spPr>
          <a:xfrm>
            <a:off x="5433849" y="2926527"/>
            <a:ext cx="1671146" cy="831846"/>
          </a:xfrm>
          <a:prstGeom prst="rect">
            <a:avLst/>
          </a:prstGeom>
          <a:blipFill>
            <a:blip r:embed="rId3"/>
            <a:stretch>
              <a:fillRect/>
            </a:stretch>
          </a:blipFill>
        </p:spPr>
        <p:txBody>
          <a:bodyPr wrap="square" lIns="0" tIns="0" rIns="0" bIns="0" rtlCol="0">
            <a:spAutoFit/>
          </a:bodyPr>
          <a:lstStyle/>
          <a:p>
            <a:endParaRPr sz="2800"/>
          </a:p>
        </p:txBody>
      </p:sp>
      <p:sp>
        <p:nvSpPr>
          <p:cNvPr id="5" name="object 5"/>
          <p:cNvSpPr txBox="1"/>
          <p:nvPr/>
        </p:nvSpPr>
        <p:spPr>
          <a:xfrm>
            <a:off x="502213" y="655115"/>
            <a:ext cx="7391055"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err="1">
                <a:solidFill>
                  <a:srgbClr val="C00000"/>
                </a:solidFill>
                <a:latin typeface="Times New Roman" pitchFamily="18" charset="0"/>
                <a:cs typeface="Times New Roman" pitchFamily="18" charset="0"/>
              </a:rPr>
              <a:t>算法</a:t>
            </a:r>
            <a:r>
              <a:rPr sz="2800" b="1" spc="11" dirty="0">
                <a:solidFill>
                  <a:srgbClr val="C00000"/>
                </a:solidFill>
                <a:latin typeface="Times New Roman" pitchFamily="18" charset="0"/>
                <a:cs typeface="Times New Roman" pitchFamily="18" charset="0"/>
              </a:rPr>
              <a:t> </a:t>
            </a:r>
            <a:r>
              <a:rPr sz="2800" b="1" dirty="0" err="1">
                <a:solidFill>
                  <a:srgbClr val="C00000"/>
                </a:solidFill>
                <a:latin typeface="Times New Roman" pitchFamily="18" charset="0"/>
                <a:cs typeface="Times New Roman" pitchFamily="18" charset="0"/>
              </a:rPr>
              <a:t>MatrixChain</a:t>
            </a:r>
            <a:r>
              <a:rPr sz="2800" b="1" dirty="0">
                <a:solidFill>
                  <a:srgbClr val="C00000"/>
                </a:solidFill>
                <a:latin typeface="Times New Roman" pitchFamily="18" charset="0"/>
                <a:cs typeface="Times New Roman" pitchFamily="18" charset="0"/>
              </a:rPr>
              <a:t> </a:t>
            </a:r>
            <a:r>
              <a:rPr sz="2800" b="1" dirty="0">
                <a:solidFill>
                  <a:srgbClr val="000000"/>
                </a:solidFill>
                <a:latin typeface="Times New Roman" pitchFamily="18" charset="0"/>
                <a:cs typeface="Times New Roman" pitchFamily="18" charset="0"/>
              </a:rPr>
              <a:t>(</a:t>
            </a:r>
            <a:r>
              <a:rPr sz="2800" b="1" i="1" dirty="0">
                <a:solidFill>
                  <a:srgbClr val="000000"/>
                </a:solidFill>
                <a:latin typeface="Times New Roman" pitchFamily="18" charset="0"/>
                <a:cs typeface="Times New Roman" pitchFamily="18" charset="0"/>
              </a:rPr>
              <a:t>P</a:t>
            </a:r>
            <a:r>
              <a:rPr sz="2800" b="1" dirty="0">
                <a:solidFill>
                  <a:srgbClr val="000000"/>
                </a:solidFill>
                <a:latin typeface="Times New Roman" pitchFamily="18" charset="0"/>
                <a:cs typeface="Times New Roman" pitchFamily="18" charset="0"/>
              </a:rPr>
              <a:t>, </a:t>
            </a:r>
            <a:r>
              <a:rPr sz="2800" b="1" i="1" dirty="0">
                <a:solidFill>
                  <a:srgbClr val="000000"/>
                </a:solidFill>
                <a:latin typeface="Times New Roman" pitchFamily="18" charset="0"/>
                <a:cs typeface="Times New Roman" pitchFamily="18" charset="0"/>
              </a:rPr>
              <a:t>n</a:t>
            </a:r>
            <a:r>
              <a:rPr sz="2800" b="1" dirty="0">
                <a:solidFill>
                  <a:srgbClr val="000000"/>
                </a:solidFill>
                <a:latin typeface="Times New Roman" pitchFamily="18" charset="0"/>
                <a:cs typeface="Times New Roman" pitchFamily="18" charset="0"/>
              </a:rPr>
              <a:t>)</a:t>
            </a:r>
          </a:p>
        </p:txBody>
      </p:sp>
      <p:sp>
        <p:nvSpPr>
          <p:cNvPr id="6" name="object 6"/>
          <p:cNvSpPr txBox="1"/>
          <p:nvPr/>
        </p:nvSpPr>
        <p:spPr>
          <a:xfrm>
            <a:off x="502214" y="1273322"/>
            <a:ext cx="8694338" cy="1051570"/>
          </a:xfrm>
          <a:prstGeom prst="rect">
            <a:avLst/>
          </a:prstGeom>
        </p:spPr>
        <p:txBody>
          <a:bodyPr vert="horz" wrap="square" lIns="0" tIns="0" rIns="0" bIns="0" rtlCol="0">
            <a:spAutoFit/>
          </a:bodyPr>
          <a:lstStyle/>
          <a:p>
            <a:pPr>
              <a:lnSpc>
                <a:spcPts val="2592"/>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1. </a:t>
            </a:r>
            <a:r>
              <a:rPr sz="28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令所有的</a:t>
            </a:r>
            <a:r>
              <a:rPr sz="2800" spc="12"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a:solidFill>
                  <a:srgbClr val="000000"/>
                </a:solidFill>
                <a:latin typeface="Times New Roman" panose="02020603050405020304" pitchFamily="18" charset="0"/>
                <a:cs typeface="Times New Roman" panose="02020603050405020304" pitchFamily="18" charset="0"/>
              </a:rPr>
              <a:t>]</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初值为</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p>
          <a:p>
            <a:pPr>
              <a:lnSpc>
                <a:spcPts val="2805"/>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2. </a:t>
            </a:r>
            <a:r>
              <a:rPr sz="2800" b="1" dirty="0">
                <a:solidFill>
                  <a:srgbClr val="FF0000"/>
                </a:solidFill>
                <a:latin typeface="Times New Roman" panose="02020603050405020304" pitchFamily="18" charset="0"/>
                <a:cs typeface="Times New Roman" panose="02020603050405020304" pitchFamily="18" charset="0"/>
              </a:rPr>
              <a:t>for</a:t>
            </a:r>
            <a:r>
              <a:rPr sz="2800" b="1" spc="535"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r</a:t>
            </a:r>
            <a:r>
              <a:rPr sz="2800" dirty="0">
                <a:solidFill>
                  <a:srgbClr val="FF0000"/>
                </a:solidFill>
                <a:latin typeface="UJDTOI+SymbolMT"/>
                <a:cs typeface="UJDTOI+SymbolMT"/>
              </a:rPr>
              <a:t>←</a:t>
            </a:r>
            <a:r>
              <a:rPr sz="2800" b="1" dirty="0">
                <a:solidFill>
                  <a:srgbClr val="FF0000"/>
                </a:solidFill>
                <a:latin typeface="LNAPSE+TimesNewRomanPS-BoldMT"/>
                <a:cs typeface="LNAPSE+TimesNewRomanPS-BoldMT"/>
              </a:rPr>
              <a:t>2</a:t>
            </a:r>
            <a:r>
              <a:rPr sz="2800" b="1" spc="-12" dirty="0">
                <a:solidFill>
                  <a:srgbClr val="FF0000"/>
                </a:solidFill>
                <a:latin typeface="LNAPSE+TimesNewRomanPS-BoldMT"/>
                <a:cs typeface="LNAPSE+TimesNewRomanPS-BoldMT"/>
              </a:rPr>
              <a:t> </a:t>
            </a:r>
            <a:r>
              <a:rPr sz="2800" b="1" dirty="0">
                <a:solidFill>
                  <a:srgbClr val="FF0000"/>
                </a:solidFill>
                <a:latin typeface="Times New Roman" panose="02020603050405020304" pitchFamily="18" charset="0"/>
                <a:cs typeface="Times New Roman" panose="02020603050405020304" pitchFamily="18" charset="0"/>
              </a:rPr>
              <a:t>to </a:t>
            </a:r>
            <a:r>
              <a:rPr sz="2800" b="1" i="1" dirty="0">
                <a:solidFill>
                  <a:srgbClr val="FF0000"/>
                </a:solidFill>
                <a:latin typeface="Times New Roman" panose="02020603050405020304" pitchFamily="18" charset="0"/>
                <a:cs typeface="Times New Roman" panose="02020603050405020304" pitchFamily="18" charset="0"/>
              </a:rPr>
              <a:t>n </a:t>
            </a:r>
            <a:r>
              <a:rPr sz="2800" b="1" dirty="0">
                <a:solidFill>
                  <a:srgbClr val="FF0000"/>
                </a:solidFill>
                <a:latin typeface="Times New Roman" panose="02020603050405020304" pitchFamily="18" charset="0"/>
                <a:cs typeface="Times New Roman" panose="02020603050405020304" pitchFamily="18" charset="0"/>
              </a:rPr>
              <a:t>do</a:t>
            </a:r>
            <a:r>
              <a:rPr sz="2800" b="1" spc="3507" dirty="0">
                <a:solidFill>
                  <a:srgbClr val="FF0000"/>
                </a:solidFill>
                <a:latin typeface="Times New Roman" panose="02020603050405020304" pitchFamily="18" charset="0"/>
                <a:cs typeface="Times New Roman" panose="02020603050405020304" pitchFamily="18" charset="0"/>
              </a:rPr>
              <a:t> </a:t>
            </a:r>
            <a:r>
              <a:rPr sz="2800" b="1" dirty="0">
                <a:solidFill>
                  <a:srgbClr val="000000"/>
                </a:solidFill>
                <a:latin typeface="LNAPSE+TimesNewRomanPS-BoldMT"/>
                <a:cs typeface="LNAPSE+TimesNewRomanPS-BoldMT"/>
              </a:rPr>
              <a:t>// </a:t>
            </a:r>
            <a:r>
              <a:rPr sz="2800" b="1" i="1" dirty="0" err="1">
                <a:solidFill>
                  <a:srgbClr val="000000"/>
                </a:solidFill>
                <a:latin typeface="VUMWMV+TimesNewRomanPS-BoldItalicMT"/>
                <a:cs typeface="VUMWMV+TimesNewRomanPS-BoldItalicMT"/>
              </a:rPr>
              <a:t>r</a:t>
            </a:r>
            <a:r>
              <a:rPr sz="2800" dirty="0" err="1">
                <a:solidFill>
                  <a:srgbClr val="000000"/>
                </a:solidFill>
                <a:latin typeface="WRJJLM+SimSun"/>
                <a:cs typeface="WRJJLM+SimSun"/>
              </a:rPr>
              <a:t>为链长</a:t>
            </a:r>
            <a:endParaRPr sz="2800" dirty="0">
              <a:solidFill>
                <a:srgbClr val="000000"/>
              </a:solidFill>
              <a:latin typeface="WRJJLM+SimSun"/>
              <a:cs typeface="WRJJLM+SimSun"/>
            </a:endParaRPr>
          </a:p>
          <a:p>
            <a:pPr>
              <a:lnSpc>
                <a:spcPts val="2805"/>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3.</a:t>
            </a:r>
            <a:r>
              <a:rPr sz="2800" b="1" spc="1162" dirty="0">
                <a:solidFill>
                  <a:srgbClr val="00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for</a:t>
            </a:r>
            <a:r>
              <a:rPr sz="2800" b="1" spc="-3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i</a:t>
            </a:r>
            <a:r>
              <a:rPr sz="2800" dirty="0">
                <a:solidFill>
                  <a:srgbClr val="FF0000"/>
                </a:solidFill>
                <a:latin typeface="UJDTOI+SymbolMT"/>
                <a:cs typeface="UJDTOI+SymbolMT"/>
              </a:rPr>
              <a:t>←</a:t>
            </a:r>
            <a:r>
              <a:rPr sz="2800" b="1" dirty="0">
                <a:solidFill>
                  <a:srgbClr val="FF0000"/>
                </a:solidFill>
                <a:latin typeface="Times New Roman" panose="02020603050405020304" pitchFamily="18" charset="0"/>
                <a:cs typeface="Times New Roman" panose="02020603050405020304" pitchFamily="18" charset="0"/>
              </a:rPr>
              <a:t>1 to</a:t>
            </a:r>
            <a:r>
              <a:rPr sz="2800" b="1" spc="11"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n</a:t>
            </a:r>
            <a:r>
              <a:rPr sz="2800" dirty="0">
                <a:solidFill>
                  <a:srgbClr val="FF0000"/>
                </a:solidFill>
                <a:latin typeface="Times New Roman" panose="02020603050405020304" pitchFamily="18" charset="0"/>
                <a:cs typeface="Times New Roman" panose="02020603050405020304" pitchFamily="18" charset="0"/>
              </a:rPr>
              <a:t>−</a:t>
            </a:r>
            <a:r>
              <a:rPr sz="2800" b="1" i="1" dirty="0">
                <a:solidFill>
                  <a:srgbClr val="FF0000"/>
                </a:solidFill>
                <a:latin typeface="Times New Roman" panose="02020603050405020304" pitchFamily="18" charset="0"/>
                <a:cs typeface="Times New Roman" panose="02020603050405020304" pitchFamily="18" charset="0"/>
              </a:rPr>
              <a:t>r</a:t>
            </a:r>
            <a:r>
              <a:rPr sz="2800" b="1" dirty="0">
                <a:solidFill>
                  <a:srgbClr val="FF0000"/>
                </a:solidFill>
                <a:latin typeface="Times New Roman" panose="02020603050405020304" pitchFamily="18" charset="0"/>
                <a:cs typeface="Times New Roman" panose="02020603050405020304" pitchFamily="18" charset="0"/>
              </a:rPr>
              <a:t>+1 do</a:t>
            </a:r>
            <a:r>
              <a:rPr sz="2800" b="1" spc="583" dirty="0">
                <a:solidFill>
                  <a:srgbClr val="FF0000"/>
                </a:solidFill>
                <a:latin typeface="Times New Roman" panose="02020603050405020304" pitchFamily="18" charset="0"/>
                <a:cs typeface="Times New Roman" panose="02020603050405020304" pitchFamily="18" charset="0"/>
              </a:rPr>
              <a:t> </a:t>
            </a:r>
            <a:r>
              <a:rPr sz="2800" b="1" dirty="0">
                <a:solidFill>
                  <a:srgbClr val="000000"/>
                </a:solidFill>
                <a:latin typeface="LNAPSE+TimesNewRomanPS-BoldMT"/>
                <a:cs typeface="LNAPSE+TimesNewRomanPS-BoldMT"/>
              </a:rPr>
              <a:t>// </a:t>
            </a:r>
            <a:r>
              <a:rPr sz="2800" dirty="0" err="1">
                <a:solidFill>
                  <a:srgbClr val="000000"/>
                </a:solidFill>
                <a:latin typeface="WRJJLM+SimSun"/>
                <a:cs typeface="WRJJLM+SimSun"/>
              </a:rPr>
              <a:t>左边界</a:t>
            </a:r>
            <a:r>
              <a:rPr sz="2800" b="1" i="1" dirty="0" err="1">
                <a:solidFill>
                  <a:srgbClr val="000000"/>
                </a:solidFill>
                <a:latin typeface="VUMWMV+TimesNewRomanPS-BoldItalicMT"/>
                <a:cs typeface="VUMWMV+TimesNewRomanPS-BoldItalicMT"/>
              </a:rPr>
              <a:t>i</a:t>
            </a:r>
            <a:endParaRPr sz="2800" b="1" i="1" dirty="0">
              <a:solidFill>
                <a:srgbClr val="000000"/>
              </a:solidFill>
              <a:latin typeface="VUMWMV+TimesNewRomanPS-BoldItalicMT"/>
              <a:cs typeface="VUMWMV+TimesNewRomanPS-BoldItalicMT"/>
            </a:endParaRPr>
          </a:p>
        </p:txBody>
      </p:sp>
      <p:sp>
        <p:nvSpPr>
          <p:cNvPr id="7" name="object 7"/>
          <p:cNvSpPr txBox="1"/>
          <p:nvPr/>
        </p:nvSpPr>
        <p:spPr>
          <a:xfrm>
            <a:off x="6117023" y="1277962"/>
            <a:ext cx="1439916" cy="487313"/>
          </a:xfrm>
          <a:prstGeom prst="rect">
            <a:avLst/>
          </a:prstGeom>
        </p:spPr>
        <p:txBody>
          <a:bodyPr vert="horz" wrap="square" lIns="0" tIns="0" rIns="0" bIns="0" rtlCol="0">
            <a:spAutoFit/>
          </a:bodyPr>
          <a:lstStyle/>
          <a:p>
            <a:pPr marL="42928">
              <a:lnSpc>
                <a:spcPts val="1913"/>
              </a:lnSpc>
              <a:spcBef>
                <a:spcPct val="0"/>
              </a:spcBef>
              <a:spcAft>
                <a:spcPct val="0"/>
              </a:spcAft>
            </a:pPr>
            <a:r>
              <a:rPr sz="2400" dirty="0" err="1" smtClean="0">
                <a:solidFill>
                  <a:srgbClr val="FFFFFF"/>
                </a:solidFill>
                <a:latin typeface="黑体" panose="02010609060101010101" pitchFamily="49" charset="-122"/>
                <a:ea typeface="黑体" panose="02010609060101010101" pitchFamily="49" charset="-122"/>
                <a:cs typeface="WRJJLM+SimSun"/>
              </a:rPr>
              <a:t>遍历长</a:t>
            </a:r>
            <a:r>
              <a:rPr sz="2400" dirty="0" err="1" smtClean="0">
                <a:solidFill>
                  <a:srgbClr val="FFFFFF"/>
                </a:solidFill>
                <a:latin typeface="黑体" panose="02010609060101010101" pitchFamily="49" charset="-122"/>
                <a:ea typeface="黑体" panose="02010609060101010101" pitchFamily="49" charset="-122"/>
                <a:cs typeface="LCUWDW+Calibri-BoldItalic"/>
              </a:rPr>
              <a:t>r</a:t>
            </a:r>
            <a:endParaRPr lang="en-US" sz="2400" dirty="0" smtClean="0">
              <a:solidFill>
                <a:srgbClr val="FFFFFF"/>
              </a:solidFill>
              <a:latin typeface="黑体" panose="02010609060101010101" pitchFamily="49" charset="-122"/>
              <a:ea typeface="黑体" panose="02010609060101010101" pitchFamily="49" charset="-122"/>
              <a:cs typeface="LCUWDW+Calibri-BoldItalic"/>
            </a:endParaRPr>
          </a:p>
          <a:p>
            <a:pPr marL="42928">
              <a:lnSpc>
                <a:spcPts val="1913"/>
              </a:lnSpc>
              <a:spcBef>
                <a:spcPct val="0"/>
              </a:spcBef>
              <a:spcAft>
                <a:spcPct val="0"/>
              </a:spcAft>
            </a:pPr>
            <a:r>
              <a:rPr sz="2400" dirty="0" err="1" smtClean="0">
                <a:solidFill>
                  <a:srgbClr val="FFFFFF"/>
                </a:solidFill>
                <a:latin typeface="黑体" panose="02010609060101010101" pitchFamily="49" charset="-122"/>
                <a:ea typeface="黑体" panose="02010609060101010101" pitchFamily="49" charset="-122"/>
                <a:cs typeface="WRJJLM+SimSun"/>
              </a:rPr>
              <a:t>子问题</a:t>
            </a:r>
            <a:endParaRPr sz="2400" dirty="0">
              <a:solidFill>
                <a:srgbClr val="FFFFFF"/>
              </a:solidFill>
              <a:latin typeface="黑体" panose="02010609060101010101" pitchFamily="49" charset="-122"/>
              <a:ea typeface="黑体" panose="02010609060101010101" pitchFamily="49" charset="-122"/>
              <a:cs typeface="WRJJLM+SimSun"/>
            </a:endParaRPr>
          </a:p>
        </p:txBody>
      </p:sp>
      <p:sp>
        <p:nvSpPr>
          <p:cNvPr id="8" name="object 8"/>
          <p:cNvSpPr txBox="1"/>
          <p:nvPr/>
        </p:nvSpPr>
        <p:spPr>
          <a:xfrm>
            <a:off x="502213" y="2308585"/>
            <a:ext cx="2777015" cy="371897"/>
          </a:xfrm>
          <a:prstGeom prst="rect">
            <a:avLst/>
          </a:prstGeom>
        </p:spPr>
        <p:txBody>
          <a:bodyPr vert="horz" wrap="square" lIns="0" tIns="0" rIns="0" bIns="0" rtlCol="0">
            <a:spAutoFit/>
          </a:bodyPr>
          <a:lstStyle/>
          <a:p>
            <a:pPr>
              <a:lnSpc>
                <a:spcPts val="2867"/>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4.</a:t>
            </a:r>
            <a:r>
              <a:rPr sz="2800" b="1" spc="3503"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j</a:t>
            </a:r>
            <a:r>
              <a:rPr sz="2800" dirty="0">
                <a:solidFill>
                  <a:srgbClr val="000000"/>
                </a:solidFill>
                <a:latin typeface="UJDTOI+SymbolMT"/>
                <a:cs typeface="UJDTOI+SymbolMT"/>
              </a:rPr>
              <a:t>←</a:t>
            </a:r>
            <a:r>
              <a:rPr sz="2800" b="1" i="1" dirty="0">
                <a:solidFill>
                  <a:srgbClr val="000000"/>
                </a:solidFill>
                <a:latin typeface="Times New Roman" panose="02020603050405020304" pitchFamily="18" charset="0"/>
                <a:cs typeface="Times New Roman" panose="02020603050405020304" pitchFamily="18" charset="0"/>
              </a:rPr>
              <a:t>i</a:t>
            </a:r>
            <a:r>
              <a:rPr sz="2800" b="1"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r</a:t>
            </a:r>
            <a:r>
              <a:rPr sz="2800" dirty="0">
                <a:solidFill>
                  <a:srgbClr val="000000"/>
                </a:solidFill>
                <a:latin typeface="Times New Roman" panose="02020603050405020304" pitchFamily="18" charset="0"/>
                <a:cs typeface="Times New Roman" panose="02020603050405020304" pitchFamily="18" charset="0"/>
              </a:rPr>
              <a:t>−</a:t>
            </a:r>
            <a:r>
              <a:rPr sz="2800" b="1" dirty="0">
                <a:solidFill>
                  <a:srgbClr val="000000"/>
                </a:solidFill>
                <a:latin typeface="Times New Roman" panose="02020603050405020304" pitchFamily="18" charset="0"/>
                <a:cs typeface="Times New Roman" panose="02020603050405020304" pitchFamily="18" charset="0"/>
              </a:rPr>
              <a:t>1</a:t>
            </a:r>
          </a:p>
        </p:txBody>
      </p:sp>
      <p:sp>
        <p:nvSpPr>
          <p:cNvPr id="9" name="object 9"/>
          <p:cNvSpPr txBox="1"/>
          <p:nvPr/>
        </p:nvSpPr>
        <p:spPr>
          <a:xfrm>
            <a:off x="3561540" y="2342551"/>
            <a:ext cx="4489384" cy="333425"/>
          </a:xfrm>
          <a:prstGeom prst="rect">
            <a:avLst/>
          </a:prstGeom>
        </p:spPr>
        <p:txBody>
          <a:bodyPr vert="horz" wrap="square" lIns="0" tIns="0" rIns="0" bIns="0" rtlCol="0">
            <a:spAutoFit/>
          </a:bodyPr>
          <a:lstStyle/>
          <a:p>
            <a:pPr>
              <a:lnSpc>
                <a:spcPts val="2592"/>
              </a:lnSpc>
              <a:spcBef>
                <a:spcPct val="0"/>
              </a:spcBef>
              <a:spcAft>
                <a:spcPct val="0"/>
              </a:spcAft>
            </a:pPr>
            <a:r>
              <a:rPr sz="2800" b="1" dirty="0">
                <a:solidFill>
                  <a:srgbClr val="000000"/>
                </a:solidFill>
                <a:latin typeface="LNAPSE+TimesNewRomanPS-BoldMT"/>
                <a:cs typeface="LNAPSE+TimesNewRomanPS-BoldMT"/>
              </a:rPr>
              <a:t>// </a:t>
            </a:r>
            <a:r>
              <a:rPr sz="2800" dirty="0" err="1">
                <a:solidFill>
                  <a:srgbClr val="000000"/>
                </a:solidFill>
                <a:latin typeface="WRJJLM+SimSun"/>
                <a:cs typeface="WRJJLM+SimSun"/>
              </a:rPr>
              <a:t>右边界</a:t>
            </a:r>
            <a:r>
              <a:rPr sz="2800" b="1" i="1" dirty="0" err="1">
                <a:solidFill>
                  <a:srgbClr val="000000"/>
                </a:solidFill>
                <a:latin typeface="VUMWMV+TimesNewRomanPS-BoldItalicMT"/>
                <a:cs typeface="VUMWMV+TimesNewRomanPS-BoldItalicMT"/>
              </a:rPr>
              <a:t>j</a:t>
            </a:r>
            <a:endParaRPr sz="2800" b="1" i="1" dirty="0">
              <a:solidFill>
                <a:srgbClr val="000000"/>
              </a:solidFill>
              <a:latin typeface="VUMWMV+TimesNewRomanPS-BoldItalicMT"/>
              <a:cs typeface="VUMWMV+TimesNewRomanPS-BoldItalicMT"/>
            </a:endParaRPr>
          </a:p>
        </p:txBody>
      </p:sp>
      <p:sp>
        <p:nvSpPr>
          <p:cNvPr id="10" name="object 10"/>
          <p:cNvSpPr txBox="1"/>
          <p:nvPr/>
        </p:nvSpPr>
        <p:spPr>
          <a:xfrm>
            <a:off x="502214" y="2661754"/>
            <a:ext cx="8589234" cy="1090042"/>
          </a:xfrm>
          <a:prstGeom prst="rect">
            <a:avLst/>
          </a:prstGeom>
        </p:spPr>
        <p:txBody>
          <a:bodyPr vert="horz" wrap="square" lIns="0" tIns="0" rIns="0" bIns="0" rtlCol="0">
            <a:spAutoFit/>
          </a:bodyPr>
          <a:lstStyle/>
          <a:p>
            <a:pPr>
              <a:lnSpc>
                <a:spcPts val="2867"/>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5.</a:t>
            </a:r>
            <a:r>
              <a:rPr sz="2800" b="1" spc="2917"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LNAPSE+TimesNewRomanPS-BoldMT"/>
                <a:cs typeface="LNAPSE+TimesNewRomanPS-BoldMT"/>
              </a:rPr>
              <a:t>]</a:t>
            </a:r>
            <a:r>
              <a:rPr sz="2800" dirty="0">
                <a:solidFill>
                  <a:srgbClr val="000000"/>
                </a:solidFill>
                <a:latin typeface="UJDTOI+SymbolMT"/>
                <a:cs typeface="UJDTOI+SymbolMT"/>
              </a:rPr>
              <a:t>←</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i</a:t>
            </a:r>
            <a:r>
              <a:rPr sz="2800" b="1" dirty="0">
                <a:solidFill>
                  <a:srgbClr val="000000"/>
                </a:solidFill>
                <a:latin typeface="Times New Roman" panose="02020603050405020304" pitchFamily="18" charset="0"/>
                <a:cs typeface="Times New Roman" panose="02020603050405020304" pitchFamily="18" charset="0"/>
              </a:rPr>
              <a:t>+1,</a:t>
            </a:r>
            <a:r>
              <a:rPr sz="2800" b="1" i="1" dirty="0">
                <a:solidFill>
                  <a:srgbClr val="000000"/>
                </a:solidFill>
                <a:latin typeface="Times New Roman" panose="02020603050405020304" pitchFamily="18" charset="0"/>
                <a:cs typeface="Times New Roman" panose="02020603050405020304" pitchFamily="18" charset="0"/>
              </a:rPr>
              <a:t>j</a:t>
            </a:r>
            <a:r>
              <a:rPr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p</a:t>
            </a:r>
            <a:r>
              <a:rPr lang="en-US" altLang="zh-CN" sz="2800" b="1" i="1" baseline="-25000" dirty="0">
                <a:solidFill>
                  <a:srgbClr val="000000"/>
                </a:solidFill>
                <a:latin typeface="Times New Roman" panose="02020603050405020304" pitchFamily="18" charset="0"/>
                <a:cs typeface="Times New Roman" panose="02020603050405020304" pitchFamily="18" charset="0"/>
              </a:rPr>
              <a:t>i</a:t>
            </a:r>
            <a:r>
              <a:rPr lang="en-US" altLang="zh-CN" sz="2800" spc="15" baseline="-25000" dirty="0">
                <a:solidFill>
                  <a:srgbClr val="000000"/>
                </a:solidFill>
                <a:latin typeface="Times New Roman" panose="02020603050405020304" pitchFamily="18" charset="0"/>
                <a:cs typeface="Times New Roman" panose="02020603050405020304" pitchFamily="18" charset="0"/>
              </a:rPr>
              <a:t>−</a:t>
            </a:r>
            <a:r>
              <a:rPr lang="en-US" altLang="zh-CN" sz="2800" b="1" baseline="-25000" dirty="0">
                <a:solidFill>
                  <a:srgbClr val="000000"/>
                </a:solidFill>
                <a:latin typeface="Times New Roman" panose="02020603050405020304" pitchFamily="18" charset="0"/>
                <a:cs typeface="Times New Roman" panose="02020603050405020304" pitchFamily="18" charset="0"/>
              </a:rPr>
              <a:t>1 </a:t>
            </a:r>
            <a:r>
              <a:rPr lang="en-US" altLang="zh-CN" sz="2800" b="1" i="1" dirty="0" smtClean="0">
                <a:solidFill>
                  <a:srgbClr val="000000"/>
                </a:solidFill>
                <a:latin typeface="Times New Roman" panose="02020603050405020304" pitchFamily="18" charset="0"/>
                <a:cs typeface="Times New Roman" panose="02020603050405020304" pitchFamily="18" charset="0"/>
              </a:rPr>
              <a:t>p</a:t>
            </a:r>
            <a:r>
              <a:rPr lang="en-US" altLang="zh-CN" sz="2800" b="1" i="1" baseline="-25000" dirty="0" smtClean="0">
                <a:solidFill>
                  <a:srgbClr val="000000"/>
                </a:solidFill>
                <a:latin typeface="Times New Roman" panose="02020603050405020304" pitchFamily="18" charset="0"/>
                <a:cs typeface="Times New Roman" panose="02020603050405020304" pitchFamily="18" charset="0"/>
              </a:rPr>
              <a:t>i</a:t>
            </a:r>
            <a:r>
              <a:rPr lang="en-US" altLang="zh-CN" sz="2800" b="1" i="1" spc="1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err="1" smtClean="0">
                <a:solidFill>
                  <a:srgbClr val="000000"/>
                </a:solidFill>
                <a:latin typeface="Times New Roman" panose="02020603050405020304" pitchFamily="18" charset="0"/>
                <a:cs typeface="Times New Roman" panose="02020603050405020304" pitchFamily="18" charset="0"/>
              </a:rPr>
              <a:t>p</a:t>
            </a:r>
            <a:r>
              <a:rPr lang="en-US" altLang="zh-CN" sz="2800" b="1" i="1" baseline="-25000" dirty="0" err="1" smtClean="0">
                <a:solidFill>
                  <a:srgbClr val="000000"/>
                </a:solidFill>
                <a:latin typeface="Times New Roman" panose="02020603050405020304" pitchFamily="18" charset="0"/>
                <a:cs typeface="Times New Roman" panose="02020603050405020304" pitchFamily="18" charset="0"/>
              </a:rPr>
              <a:t>j</a:t>
            </a:r>
            <a:r>
              <a:rPr lang="en-US" altLang="zh-CN" sz="2800" b="1" i="1" baseline="-25000"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   </a:t>
            </a:r>
            <a:r>
              <a:rPr sz="2800" b="1" dirty="0" smtClean="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k</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endParaRPr sz="2800" b="1" i="1" dirty="0">
              <a:solidFill>
                <a:srgbClr val="000000"/>
              </a:solidFill>
              <a:latin typeface="Times New Roman" panose="02020603050405020304" pitchFamily="18" charset="0"/>
              <a:cs typeface="Times New Roman" panose="02020603050405020304" pitchFamily="18" charset="0"/>
            </a:endParaRPr>
          </a:p>
          <a:p>
            <a:pPr>
              <a:lnSpc>
                <a:spcPts val="2831"/>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6.</a:t>
            </a:r>
            <a:r>
              <a:rPr sz="2800" b="1" spc="2917"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s</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Times New Roman" panose="02020603050405020304" pitchFamily="18" charset="0"/>
                <a:cs typeface="Times New Roman" panose="02020603050405020304" pitchFamily="18" charset="0"/>
              </a:rPr>
              <a:t>]</a:t>
            </a:r>
            <a:r>
              <a:rPr sz="2800" dirty="0">
                <a:solidFill>
                  <a:srgbClr val="000000"/>
                </a:solidFill>
                <a:latin typeface="UJDTOI+SymbolMT"/>
                <a:cs typeface="UJDTOI+SymbolMT"/>
              </a:rPr>
              <a:t>←</a:t>
            </a:r>
            <a:r>
              <a:rPr sz="2800" b="1" i="1" dirty="0" err="1">
                <a:solidFill>
                  <a:srgbClr val="000000"/>
                </a:solidFill>
                <a:latin typeface="Times New Roman" panose="02020603050405020304" pitchFamily="18" charset="0"/>
                <a:cs typeface="Times New Roman" panose="02020603050405020304" pitchFamily="18" charset="0"/>
              </a:rPr>
              <a:t>i</a:t>
            </a:r>
            <a:endParaRPr sz="2800" b="1" i="1" dirty="0">
              <a:solidFill>
                <a:srgbClr val="000000"/>
              </a:solidFill>
              <a:latin typeface="Times New Roman" panose="02020603050405020304" pitchFamily="18" charset="0"/>
              <a:cs typeface="Times New Roman" panose="02020603050405020304" pitchFamily="18" charset="0"/>
            </a:endParaRPr>
          </a:p>
          <a:p>
            <a:pPr>
              <a:lnSpc>
                <a:spcPts val="2805"/>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7.</a:t>
            </a:r>
            <a:r>
              <a:rPr sz="2800" b="1" spc="2910" dirty="0">
                <a:solidFill>
                  <a:srgbClr val="00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for</a:t>
            </a:r>
            <a:r>
              <a:rPr sz="2800" b="1" spc="-3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k</a:t>
            </a:r>
            <a:r>
              <a:rPr sz="2800" dirty="0">
                <a:solidFill>
                  <a:srgbClr val="FF0000"/>
                </a:solidFill>
                <a:latin typeface="UJDTOI+SymbolMT"/>
                <a:cs typeface="UJDTOI+SymbolMT"/>
              </a:rPr>
              <a:t>←</a:t>
            </a:r>
            <a:r>
              <a:rPr sz="2800" b="1" i="1" dirty="0">
                <a:solidFill>
                  <a:srgbClr val="FF0000"/>
                </a:solidFill>
                <a:latin typeface="Times New Roman" panose="02020603050405020304" pitchFamily="18" charset="0"/>
                <a:cs typeface="Times New Roman" panose="02020603050405020304" pitchFamily="18" charset="0"/>
              </a:rPr>
              <a:t>i</a:t>
            </a:r>
            <a:r>
              <a:rPr sz="2800" b="1" dirty="0">
                <a:solidFill>
                  <a:srgbClr val="FF0000"/>
                </a:solidFill>
                <a:latin typeface="Times New Roman" panose="02020603050405020304" pitchFamily="18" charset="0"/>
                <a:cs typeface="Times New Roman" panose="02020603050405020304" pitchFamily="18" charset="0"/>
              </a:rPr>
              <a:t>+1</a:t>
            </a:r>
            <a:r>
              <a:rPr sz="2800" b="1" spc="-11"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11"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j</a:t>
            </a:r>
            <a:r>
              <a:rPr sz="2800" dirty="0">
                <a:solidFill>
                  <a:srgbClr val="FF0000"/>
                </a:solidFill>
                <a:latin typeface="Times New Roman" panose="02020603050405020304" pitchFamily="18" charset="0"/>
                <a:cs typeface="Times New Roman" panose="02020603050405020304" pitchFamily="18" charset="0"/>
              </a:rPr>
              <a:t>−</a:t>
            </a:r>
            <a:r>
              <a:rPr sz="2800" b="1" dirty="0">
                <a:solidFill>
                  <a:srgbClr val="FF0000"/>
                </a:solidFill>
                <a:latin typeface="Times New Roman" panose="02020603050405020304" pitchFamily="18" charset="0"/>
                <a:cs typeface="Times New Roman" panose="02020603050405020304" pitchFamily="18" charset="0"/>
              </a:rPr>
              <a:t>1 do</a:t>
            </a:r>
            <a:r>
              <a:rPr sz="2800" b="1" spc="586" dirty="0">
                <a:solidFill>
                  <a:srgbClr val="FF0000"/>
                </a:solidFill>
                <a:latin typeface="Times New Roman" panose="02020603050405020304" pitchFamily="18" charset="0"/>
                <a:cs typeface="Times New Roman" panose="02020603050405020304" pitchFamily="18" charset="0"/>
              </a:rPr>
              <a:t> </a:t>
            </a:r>
            <a:r>
              <a:rPr sz="2800" b="1" dirty="0">
                <a:solidFill>
                  <a:srgbClr val="000000"/>
                </a:solidFill>
                <a:latin typeface="Times New Roman" panose="02020603050405020304" pitchFamily="18" charset="0"/>
                <a:cs typeface="Times New Roman" panose="02020603050405020304" pitchFamily="18" charset="0"/>
              </a:rPr>
              <a:t>// </a:t>
            </a:r>
            <a:r>
              <a:rPr sz="2800" dirty="0" err="1">
                <a:solidFill>
                  <a:srgbClr val="000000"/>
                </a:solidFill>
                <a:latin typeface="Times New Roman" panose="02020603050405020304" pitchFamily="18" charset="0"/>
                <a:cs typeface="Times New Roman" panose="02020603050405020304" pitchFamily="18" charset="0"/>
              </a:rPr>
              <a:t>遍历</a:t>
            </a:r>
            <a:r>
              <a:rPr sz="2800" b="1" i="1" dirty="0" err="1">
                <a:solidFill>
                  <a:srgbClr val="000000"/>
                </a:solidFill>
                <a:latin typeface="Times New Roman" panose="02020603050405020304" pitchFamily="18" charset="0"/>
                <a:cs typeface="Times New Roman" panose="02020603050405020304" pitchFamily="18" charset="0"/>
              </a:rPr>
              <a:t>k</a:t>
            </a:r>
            <a:endParaRPr sz="2800" b="1" i="1" dirty="0">
              <a:solidFill>
                <a:srgbClr val="000000"/>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5642927" y="3187753"/>
            <a:ext cx="1094987" cy="512961"/>
          </a:xfrm>
          <a:prstGeom prst="rect">
            <a:avLst/>
          </a:prstGeom>
        </p:spPr>
        <p:txBody>
          <a:bodyPr vert="horz" wrap="square" lIns="0" tIns="0" rIns="0" bIns="0" rtlCol="0">
            <a:spAutoFit/>
          </a:bodyPr>
          <a:lstStyle/>
          <a:p>
            <a:pPr>
              <a:lnSpc>
                <a:spcPts val="1913"/>
              </a:lnSpc>
              <a:spcBef>
                <a:spcPct val="0"/>
              </a:spcBef>
              <a:spcAft>
                <a:spcPct val="0"/>
              </a:spcAft>
            </a:pPr>
            <a:r>
              <a:rPr sz="2800" b="1" dirty="0" err="1">
                <a:solidFill>
                  <a:srgbClr val="FFFFFF"/>
                </a:solidFill>
                <a:latin typeface="WRJJLM+SimSun"/>
                <a:cs typeface="WRJJLM+SimSun"/>
              </a:rPr>
              <a:t>遍历所</a:t>
            </a:r>
            <a:endParaRPr sz="2800" b="1" dirty="0">
              <a:solidFill>
                <a:srgbClr val="FFFFFF"/>
              </a:solidFill>
              <a:latin typeface="WRJJLM+SimSun"/>
              <a:cs typeface="WRJJLM+SimSun"/>
            </a:endParaRPr>
          </a:p>
          <a:p>
            <a:pPr>
              <a:lnSpc>
                <a:spcPts val="1913"/>
              </a:lnSpc>
              <a:spcBef>
                <a:spcPts val="241"/>
              </a:spcBef>
              <a:spcAft>
                <a:spcPct val="0"/>
              </a:spcAft>
            </a:pPr>
            <a:r>
              <a:rPr sz="2800" b="1" dirty="0" err="1">
                <a:solidFill>
                  <a:srgbClr val="FFFFFF"/>
                </a:solidFill>
                <a:latin typeface="WRJJLM+SimSun"/>
                <a:cs typeface="WRJJLM+SimSun"/>
              </a:rPr>
              <a:t>有划分</a:t>
            </a:r>
            <a:endParaRPr sz="2800" b="1" dirty="0">
              <a:solidFill>
                <a:srgbClr val="FFFFFF"/>
              </a:solidFill>
              <a:latin typeface="WRJJLM+SimSun"/>
              <a:cs typeface="WRJJLM+SimSun"/>
            </a:endParaRPr>
          </a:p>
        </p:txBody>
      </p:sp>
      <p:sp>
        <p:nvSpPr>
          <p:cNvPr id="13" name="object 13"/>
          <p:cNvSpPr txBox="1"/>
          <p:nvPr/>
        </p:nvSpPr>
        <p:spPr>
          <a:xfrm>
            <a:off x="502213" y="3764950"/>
            <a:ext cx="965856" cy="692497"/>
          </a:xfrm>
          <a:prstGeom prst="rect">
            <a:avLst/>
          </a:prstGeom>
        </p:spPr>
        <p:txBody>
          <a:bodyPr vert="horz" wrap="square" lIns="0" tIns="0" rIns="0" bIns="0" rtlCol="0">
            <a:spAutoFit/>
          </a:bodyPr>
          <a:lstStyle/>
          <a:p>
            <a:pPr>
              <a:lnSpc>
                <a:spcPts val="2592"/>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8.</a:t>
            </a:r>
          </a:p>
          <a:p>
            <a:pPr>
              <a:lnSpc>
                <a:spcPts val="2592"/>
              </a:lnSpc>
              <a:spcBef>
                <a:spcPts val="207"/>
              </a:spcBef>
              <a:spcAft>
                <a:spcPct val="0"/>
              </a:spcAft>
            </a:pPr>
            <a:r>
              <a:rPr sz="2800" b="1" dirty="0">
                <a:solidFill>
                  <a:srgbClr val="000000"/>
                </a:solidFill>
                <a:latin typeface="Times New Roman" panose="02020603050405020304" pitchFamily="18" charset="0"/>
                <a:cs typeface="Times New Roman" panose="02020603050405020304" pitchFamily="18" charset="0"/>
              </a:rPr>
              <a:t>9.</a:t>
            </a:r>
          </a:p>
        </p:txBody>
      </p:sp>
      <p:sp>
        <p:nvSpPr>
          <p:cNvPr id="14" name="object 14"/>
          <p:cNvSpPr txBox="1"/>
          <p:nvPr/>
        </p:nvSpPr>
        <p:spPr>
          <a:xfrm>
            <a:off x="1468366" y="3730983"/>
            <a:ext cx="7265731" cy="730969"/>
          </a:xfrm>
          <a:prstGeom prst="rect">
            <a:avLst/>
          </a:prstGeom>
        </p:spPr>
        <p:txBody>
          <a:bodyPr vert="horz" wrap="square" lIns="0" tIns="0" rIns="0" bIns="0" rtlCol="0">
            <a:spAutoFit/>
          </a:bodyPr>
          <a:lstStyle/>
          <a:p>
            <a:pPr>
              <a:lnSpc>
                <a:spcPts val="2867"/>
              </a:lnSpc>
              <a:spcBef>
                <a:spcPct val="0"/>
              </a:spcBef>
              <a:spcAft>
                <a:spcPct val="0"/>
              </a:spcAft>
            </a:pPr>
            <a:r>
              <a:rPr sz="2800" b="1" i="1" dirty="0" err="1">
                <a:solidFill>
                  <a:srgbClr val="000000"/>
                </a:solidFill>
                <a:latin typeface="Times New Roman" panose="02020603050405020304" pitchFamily="18" charset="0"/>
                <a:cs typeface="Times New Roman" panose="02020603050405020304" pitchFamily="18" charset="0"/>
              </a:rPr>
              <a:t>t</a:t>
            </a:r>
            <a:r>
              <a:rPr sz="2800" dirty="0" err="1">
                <a:solidFill>
                  <a:srgbClr val="000000"/>
                </a:solidFill>
                <a:latin typeface="UJDTOI+SymbolMT"/>
                <a:cs typeface="UJDTOI+SymbolMT"/>
              </a:rPr>
              <a:t>←</a:t>
            </a:r>
            <a:r>
              <a:rPr sz="2800" b="1" i="1" dirty="0" err="1">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k</a:t>
            </a:r>
            <a:r>
              <a:rPr sz="2800" b="1"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k</a:t>
            </a:r>
            <a:r>
              <a:rPr sz="2800" b="1" dirty="0">
                <a:solidFill>
                  <a:srgbClr val="000000"/>
                </a:solidFill>
                <a:latin typeface="Times New Roman" panose="02020603050405020304" pitchFamily="18" charset="0"/>
                <a:cs typeface="Times New Roman" panose="02020603050405020304" pitchFamily="18" charset="0"/>
              </a:rPr>
              <a:t>+1,</a:t>
            </a:r>
            <a:r>
              <a:rPr sz="2800" b="1" i="1" dirty="0">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p</a:t>
            </a:r>
            <a:r>
              <a:rPr sz="2800" b="1" i="1" baseline="-25000" dirty="0">
                <a:solidFill>
                  <a:srgbClr val="000000"/>
                </a:solidFill>
                <a:latin typeface="Times New Roman" panose="02020603050405020304" pitchFamily="18" charset="0"/>
                <a:cs typeface="Times New Roman" panose="02020603050405020304" pitchFamily="18" charset="0"/>
              </a:rPr>
              <a:t>i</a:t>
            </a:r>
            <a:r>
              <a:rPr sz="2800" spc="15" baseline="-25000" dirty="0">
                <a:solidFill>
                  <a:srgbClr val="000000"/>
                </a:solidFill>
                <a:latin typeface="Times New Roman" panose="02020603050405020304" pitchFamily="18" charset="0"/>
                <a:cs typeface="Times New Roman" panose="02020603050405020304" pitchFamily="18" charset="0"/>
              </a:rPr>
              <a:t>−</a:t>
            </a:r>
            <a:r>
              <a:rPr sz="2800" b="1" baseline="-25000" dirty="0">
                <a:solidFill>
                  <a:srgbClr val="000000"/>
                </a:solidFill>
                <a:latin typeface="Times New Roman" panose="02020603050405020304" pitchFamily="18" charset="0"/>
                <a:cs typeface="Times New Roman" panose="02020603050405020304" pitchFamily="18" charset="0"/>
              </a:rPr>
              <a:t>1 </a:t>
            </a:r>
            <a:r>
              <a:rPr sz="2800" b="1" i="1" dirty="0" err="1">
                <a:solidFill>
                  <a:srgbClr val="000000"/>
                </a:solidFill>
                <a:latin typeface="Times New Roman" panose="02020603050405020304" pitchFamily="18" charset="0"/>
                <a:cs typeface="Times New Roman" panose="02020603050405020304" pitchFamily="18" charset="0"/>
              </a:rPr>
              <a:t>p</a:t>
            </a:r>
            <a:r>
              <a:rPr sz="2800" b="1" i="1" baseline="-25000" dirty="0" err="1">
                <a:solidFill>
                  <a:srgbClr val="000000"/>
                </a:solidFill>
                <a:latin typeface="Times New Roman" panose="02020603050405020304" pitchFamily="18" charset="0"/>
                <a:cs typeface="Times New Roman" panose="02020603050405020304" pitchFamily="18" charset="0"/>
              </a:rPr>
              <a:t>k</a:t>
            </a:r>
            <a:r>
              <a:rPr sz="2800" b="1" i="1" spc="11" dirty="0">
                <a:solidFill>
                  <a:srgbClr val="000000"/>
                </a:solidFill>
                <a:latin typeface="Times New Roman" panose="02020603050405020304" pitchFamily="18" charset="0"/>
                <a:cs typeface="Times New Roman" panose="02020603050405020304" pitchFamily="18" charset="0"/>
              </a:rPr>
              <a:t> </a:t>
            </a:r>
            <a:r>
              <a:rPr sz="2800" b="1" i="1" dirty="0" err="1">
                <a:solidFill>
                  <a:srgbClr val="000000"/>
                </a:solidFill>
                <a:latin typeface="Times New Roman" panose="02020603050405020304" pitchFamily="18" charset="0"/>
                <a:cs typeface="Times New Roman" panose="02020603050405020304" pitchFamily="18" charset="0"/>
              </a:rPr>
              <a:t>p</a:t>
            </a:r>
            <a:r>
              <a:rPr sz="2800" b="1" i="1" baseline="-25000" dirty="0" err="1">
                <a:solidFill>
                  <a:srgbClr val="000000"/>
                </a:solidFill>
                <a:latin typeface="Times New Roman" panose="02020603050405020304" pitchFamily="18" charset="0"/>
                <a:cs typeface="Times New Roman" panose="02020603050405020304" pitchFamily="18" charset="0"/>
              </a:rPr>
              <a:t>j</a:t>
            </a:r>
            <a:endParaRPr sz="2800" b="1" i="1" baseline="-25000" dirty="0">
              <a:solidFill>
                <a:srgbClr val="000000"/>
              </a:solidFill>
              <a:latin typeface="Times New Roman" panose="02020603050405020304" pitchFamily="18" charset="0"/>
              <a:cs typeface="Times New Roman" panose="02020603050405020304" pitchFamily="18" charset="0"/>
            </a:endParaRPr>
          </a:p>
          <a:p>
            <a:pPr>
              <a:lnSpc>
                <a:spcPts val="2592"/>
              </a:lnSpc>
              <a:spcBef>
                <a:spcPts val="207"/>
              </a:spcBef>
              <a:spcAft>
                <a:spcPct val="0"/>
              </a:spcAft>
            </a:pPr>
            <a:r>
              <a:rPr sz="2800" b="1" dirty="0">
                <a:solidFill>
                  <a:srgbClr val="000000"/>
                </a:solidFill>
                <a:latin typeface="Times New Roman" panose="02020603050405020304" pitchFamily="18" charset="0"/>
                <a:cs typeface="Times New Roman" panose="02020603050405020304" pitchFamily="18" charset="0"/>
              </a:rPr>
              <a:t>if</a:t>
            </a:r>
            <a:r>
              <a:rPr sz="2800" b="1" spc="590" dirty="0">
                <a:solidFill>
                  <a:srgbClr val="000000"/>
                </a:solidFill>
                <a:latin typeface="Times New Roman" panose="02020603050405020304" pitchFamily="18" charset="0"/>
                <a:cs typeface="Times New Roman" panose="02020603050405020304" pitchFamily="18" charset="0"/>
              </a:rPr>
              <a:t> </a:t>
            </a:r>
            <a:r>
              <a:rPr sz="2800" b="1" i="1" dirty="0">
                <a:solidFill>
                  <a:srgbClr val="000000"/>
                </a:solidFill>
                <a:latin typeface="Times New Roman" panose="02020603050405020304" pitchFamily="18" charset="0"/>
                <a:cs typeface="Times New Roman" panose="02020603050405020304" pitchFamily="18" charset="0"/>
              </a:rPr>
              <a:t>t</a:t>
            </a:r>
            <a:r>
              <a:rPr sz="2800" b="1" dirty="0">
                <a:solidFill>
                  <a:srgbClr val="000000"/>
                </a:solidFill>
                <a:latin typeface="Times New Roman" panose="02020603050405020304" pitchFamily="18" charset="0"/>
                <a:cs typeface="Times New Roman" panose="02020603050405020304" pitchFamily="18" charset="0"/>
              </a:rPr>
              <a:t>&lt;</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Times New Roman" panose="02020603050405020304" pitchFamily="18" charset="0"/>
                <a:cs typeface="Times New Roman" panose="02020603050405020304" pitchFamily="18" charset="0"/>
              </a:rPr>
              <a:t>]</a:t>
            </a:r>
          </a:p>
        </p:txBody>
      </p:sp>
      <p:sp>
        <p:nvSpPr>
          <p:cNvPr id="15" name="object 15"/>
          <p:cNvSpPr txBox="1"/>
          <p:nvPr/>
        </p:nvSpPr>
        <p:spPr>
          <a:xfrm>
            <a:off x="502213" y="4481009"/>
            <a:ext cx="817703" cy="692497"/>
          </a:xfrm>
          <a:prstGeom prst="rect">
            <a:avLst/>
          </a:prstGeom>
        </p:spPr>
        <p:txBody>
          <a:bodyPr vert="horz" wrap="square" lIns="0" tIns="0" rIns="0" bIns="0" rtlCol="0">
            <a:spAutoFit/>
          </a:bodyPr>
          <a:lstStyle/>
          <a:p>
            <a:pPr>
              <a:lnSpc>
                <a:spcPts val="2592"/>
              </a:lnSpc>
              <a:spcBef>
                <a:spcPct val="0"/>
              </a:spcBef>
              <a:spcAft>
                <a:spcPct val="0"/>
              </a:spcAft>
            </a:pPr>
            <a:r>
              <a:rPr sz="2800" b="1">
                <a:solidFill>
                  <a:srgbClr val="000000"/>
                </a:solidFill>
                <a:latin typeface="LNAPSE+TimesNewRomanPS-BoldMT"/>
                <a:cs typeface="LNAPSE+TimesNewRomanPS-BoldMT"/>
              </a:rPr>
              <a:t>10.</a:t>
            </a:r>
          </a:p>
          <a:p>
            <a:pPr>
              <a:lnSpc>
                <a:spcPts val="2592"/>
              </a:lnSpc>
              <a:spcBef>
                <a:spcPts val="188"/>
              </a:spcBef>
              <a:spcAft>
                <a:spcPct val="0"/>
              </a:spcAft>
            </a:pPr>
            <a:r>
              <a:rPr sz="2800" b="1" spc="-39">
                <a:solidFill>
                  <a:srgbClr val="000000"/>
                </a:solidFill>
                <a:latin typeface="LNAPSE+TimesNewRomanPS-BoldMT"/>
                <a:cs typeface="LNAPSE+TimesNewRomanPS-BoldMT"/>
              </a:rPr>
              <a:t>11.</a:t>
            </a:r>
          </a:p>
        </p:txBody>
      </p:sp>
      <p:sp>
        <p:nvSpPr>
          <p:cNvPr id="16" name="object 16"/>
          <p:cNvSpPr txBox="1"/>
          <p:nvPr/>
        </p:nvSpPr>
        <p:spPr>
          <a:xfrm>
            <a:off x="1468069" y="4447043"/>
            <a:ext cx="7097862" cy="730969"/>
          </a:xfrm>
          <a:prstGeom prst="rect">
            <a:avLst/>
          </a:prstGeom>
        </p:spPr>
        <p:txBody>
          <a:bodyPr vert="horz" wrap="square" lIns="0" tIns="0" rIns="0" bIns="0" rtlCol="0">
            <a:spAutoFit/>
          </a:bodyPr>
          <a:lstStyle/>
          <a:p>
            <a:pPr>
              <a:lnSpc>
                <a:spcPts val="2867"/>
              </a:lnSpc>
              <a:spcBef>
                <a:spcPct val="0"/>
              </a:spcBef>
              <a:spcAft>
                <a:spcPct val="0"/>
              </a:spcAft>
            </a:pPr>
            <a:r>
              <a:rPr sz="2800" b="1" dirty="0">
                <a:solidFill>
                  <a:srgbClr val="000000"/>
                </a:solidFill>
                <a:latin typeface="Times New Roman" panose="02020603050405020304" pitchFamily="18" charset="0"/>
                <a:cs typeface="Times New Roman" panose="02020603050405020304" pitchFamily="18" charset="0"/>
              </a:rPr>
              <a:t>then </a:t>
            </a:r>
            <a:r>
              <a:rPr sz="2800" b="1" i="1" dirty="0">
                <a:solidFill>
                  <a:srgbClr val="000000"/>
                </a:solidFill>
                <a:latin typeface="Times New Roman" panose="02020603050405020304" pitchFamily="18" charset="0"/>
                <a:cs typeface="Times New Roman" panose="02020603050405020304" pitchFamily="18" charset="0"/>
              </a:rPr>
              <a:t>m</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Times New Roman" panose="02020603050405020304" pitchFamily="18" charset="0"/>
                <a:cs typeface="Times New Roman" panose="02020603050405020304" pitchFamily="18" charset="0"/>
              </a:rPr>
              <a:t>]</a:t>
            </a:r>
            <a:r>
              <a:rPr sz="2800"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t</a:t>
            </a:r>
            <a:r>
              <a:rPr sz="2800" b="1" i="1" spc="596" dirty="0">
                <a:solidFill>
                  <a:srgbClr val="000000"/>
                </a:solidFill>
                <a:latin typeface="Times New Roman" panose="02020603050405020304" pitchFamily="18" charset="0"/>
                <a:cs typeface="Times New Roman" panose="02020603050405020304" pitchFamily="18" charset="0"/>
              </a:rPr>
              <a:t> </a:t>
            </a:r>
            <a:r>
              <a:rPr sz="2800" b="1" dirty="0">
                <a:solidFill>
                  <a:srgbClr val="000000"/>
                </a:solidFill>
                <a:latin typeface="LNAPSE+TimesNewRomanPS-BoldMT"/>
                <a:cs typeface="LNAPSE+TimesNewRomanPS-BoldMT"/>
              </a:rPr>
              <a:t>//</a:t>
            </a:r>
            <a:r>
              <a:rPr sz="2800" dirty="0" err="1">
                <a:solidFill>
                  <a:srgbClr val="000000"/>
                </a:solidFill>
                <a:latin typeface="WRJJLM+SimSun"/>
                <a:cs typeface="WRJJLM+SimSun"/>
              </a:rPr>
              <a:t>更新解</a:t>
            </a:r>
            <a:endParaRPr sz="2800" dirty="0">
              <a:solidFill>
                <a:srgbClr val="000000"/>
              </a:solidFill>
              <a:latin typeface="WRJJLM+SimSun"/>
              <a:cs typeface="WRJJLM+SimSun"/>
            </a:endParaRPr>
          </a:p>
          <a:p>
            <a:pPr marL="651026">
              <a:lnSpc>
                <a:spcPts val="2781"/>
              </a:lnSpc>
              <a:spcBef>
                <a:spcPct val="0"/>
              </a:spcBef>
              <a:spcAft>
                <a:spcPct val="0"/>
              </a:spcAft>
            </a:pPr>
            <a:r>
              <a:rPr sz="2800" b="1" i="1" dirty="0">
                <a:solidFill>
                  <a:srgbClr val="000000"/>
                </a:solidFill>
                <a:latin typeface="Times New Roman" panose="02020603050405020304" pitchFamily="18" charset="0"/>
                <a:cs typeface="Times New Roman" panose="02020603050405020304" pitchFamily="18" charset="0"/>
              </a:rPr>
              <a:t>s</a:t>
            </a:r>
            <a:r>
              <a:rPr sz="2800" b="1" dirty="0">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i</a:t>
            </a:r>
            <a:r>
              <a:rPr sz="2800" b="1" dirty="0" err="1">
                <a:solidFill>
                  <a:srgbClr val="000000"/>
                </a:solidFill>
                <a:latin typeface="Times New Roman" panose="02020603050405020304" pitchFamily="18" charset="0"/>
                <a:cs typeface="Times New Roman" panose="02020603050405020304" pitchFamily="18" charset="0"/>
              </a:rPr>
              <a:t>,</a:t>
            </a:r>
            <a:r>
              <a:rPr sz="2800" b="1" i="1" dirty="0" err="1">
                <a:solidFill>
                  <a:srgbClr val="000000"/>
                </a:solidFill>
                <a:latin typeface="Times New Roman" panose="02020603050405020304" pitchFamily="18" charset="0"/>
                <a:cs typeface="Times New Roman" panose="02020603050405020304" pitchFamily="18" charset="0"/>
              </a:rPr>
              <a:t>j</a:t>
            </a:r>
            <a:r>
              <a:rPr sz="2800" b="1" dirty="0">
                <a:solidFill>
                  <a:srgbClr val="000000"/>
                </a:solidFill>
                <a:latin typeface="Times New Roman" panose="02020603050405020304" pitchFamily="18" charset="0"/>
                <a:cs typeface="Times New Roman" panose="02020603050405020304" pitchFamily="18" charset="0"/>
              </a:rPr>
              <a:t>]</a:t>
            </a:r>
            <a:r>
              <a:rPr sz="2800" dirty="0">
                <a:solidFill>
                  <a:srgbClr val="000000"/>
                </a:solidFill>
                <a:latin typeface="Times New Roman" panose="02020603050405020304" pitchFamily="18" charset="0"/>
                <a:cs typeface="Times New Roman" panose="02020603050405020304" pitchFamily="18" charset="0"/>
              </a:rPr>
              <a:t>←</a:t>
            </a:r>
            <a:r>
              <a:rPr sz="2800" b="1" i="1" dirty="0">
                <a:solidFill>
                  <a:srgbClr val="000000"/>
                </a:solidFill>
                <a:latin typeface="Times New Roman" panose="02020603050405020304" pitchFamily="18" charset="0"/>
                <a:cs typeface="Times New Roman" panose="02020603050405020304" pitchFamily="18" charset="0"/>
              </a:rPr>
              <a:t>k</a:t>
            </a:r>
          </a:p>
        </p:txBody>
      </p:sp>
      <p:sp>
        <p:nvSpPr>
          <p:cNvPr id="17" name="object 17"/>
          <p:cNvSpPr txBox="1"/>
          <p:nvPr/>
        </p:nvSpPr>
        <p:spPr>
          <a:xfrm>
            <a:off x="502214" y="5417673"/>
            <a:ext cx="6896962"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err="1">
                <a:solidFill>
                  <a:srgbClr val="000000"/>
                </a:solidFill>
                <a:latin typeface="Times New Roman" pitchFamily="18" charset="0"/>
                <a:ea typeface="黑体" pitchFamily="49" charset="-122"/>
                <a:cs typeface="Times New Roman" pitchFamily="18" charset="0"/>
              </a:rPr>
              <a:t>二维数组</a:t>
            </a:r>
            <a:r>
              <a:rPr sz="2800" b="1" i="1" dirty="0" err="1">
                <a:solidFill>
                  <a:srgbClr val="C00000"/>
                </a:solidFill>
                <a:latin typeface="Times New Roman" pitchFamily="18" charset="0"/>
                <a:ea typeface="黑体" pitchFamily="49" charset="-122"/>
                <a:cs typeface="Times New Roman" pitchFamily="18" charset="0"/>
              </a:rPr>
              <a:t>m</a:t>
            </a:r>
            <a:r>
              <a:rPr sz="2800" b="1" dirty="0" err="1">
                <a:solidFill>
                  <a:srgbClr val="C00000"/>
                </a:solidFill>
                <a:latin typeface="Times New Roman" pitchFamily="18" charset="0"/>
                <a:ea typeface="黑体" pitchFamily="49" charset="-122"/>
                <a:cs typeface="Times New Roman" pitchFamily="18" charset="0"/>
              </a:rPr>
              <a:t>与</a:t>
            </a:r>
            <a:r>
              <a:rPr sz="2800" b="1" i="1" dirty="0" err="1">
                <a:solidFill>
                  <a:srgbClr val="C00000"/>
                </a:solidFill>
                <a:latin typeface="Times New Roman" pitchFamily="18" charset="0"/>
                <a:ea typeface="黑体" pitchFamily="49" charset="-122"/>
                <a:cs typeface="Times New Roman" pitchFamily="18" charset="0"/>
              </a:rPr>
              <a:t>s</a:t>
            </a:r>
            <a:r>
              <a:rPr sz="2800" b="1" spc="12" dirty="0" err="1">
                <a:solidFill>
                  <a:srgbClr val="C00000"/>
                </a:solidFill>
                <a:latin typeface="Times New Roman" pitchFamily="18" charset="0"/>
                <a:ea typeface="黑体" pitchFamily="49" charset="-122"/>
                <a:cs typeface="Times New Roman" pitchFamily="18" charset="0"/>
              </a:rPr>
              <a:t>为备忘录</a:t>
            </a:r>
            <a:endParaRPr sz="2800" b="1" spc="12" dirty="0">
              <a:solidFill>
                <a:srgbClr val="C0000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6452453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8072" y="164166"/>
            <a:ext cx="8468480"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时间复杂度</a:t>
            </a:r>
            <a:endParaRPr sz="4000" b="1" spc="1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object 3"/>
          <p:cNvSpPr txBox="1"/>
          <p:nvPr/>
        </p:nvSpPr>
        <p:spPr>
          <a:xfrm>
            <a:off x="340209" y="1360748"/>
            <a:ext cx="8990403" cy="861774"/>
          </a:xfrm>
          <a:prstGeom prst="rect">
            <a:avLst/>
          </a:prstGeom>
        </p:spPr>
        <p:txBody>
          <a:bodyPr vert="horz" wrap="square" lIns="0" tIns="0" rIns="0" bIns="0" rtlCol="0">
            <a:spAutoFit/>
          </a:bodyPr>
          <a:lstStyle/>
          <a:p>
            <a:pPr algn="just">
              <a:spcAft>
                <a:spcPct val="0"/>
              </a:spcAft>
            </a:pPr>
            <a:r>
              <a:rPr sz="2800" b="1" dirty="0">
                <a:solidFill>
                  <a:srgbClr val="C00000"/>
                </a:solidFill>
                <a:latin typeface="Times New Roman" pitchFamily="18" charset="0"/>
                <a:ea typeface="黑体" pitchFamily="49" charset="-122"/>
                <a:cs typeface="Times New Roman" pitchFamily="18" charset="0"/>
              </a:rPr>
              <a:t>•</a:t>
            </a:r>
            <a:r>
              <a:rPr sz="2800" b="1" spc="1339" dirty="0">
                <a:solidFill>
                  <a:srgbClr val="C00000"/>
                </a:solidFill>
                <a:latin typeface="Times New Roman" pitchFamily="18" charset="0"/>
                <a:ea typeface="黑体" pitchFamily="49" charset="-122"/>
                <a:cs typeface="Times New Roman" pitchFamily="18" charset="0"/>
              </a:rPr>
              <a:t> </a:t>
            </a:r>
            <a:r>
              <a:rPr sz="2800" b="1" dirty="0" err="1">
                <a:solidFill>
                  <a:srgbClr val="C00000"/>
                </a:solidFill>
                <a:latin typeface="Times New Roman" pitchFamily="18" charset="0"/>
                <a:ea typeface="黑体" pitchFamily="49" charset="-122"/>
                <a:cs typeface="Times New Roman" pitchFamily="18" charset="0"/>
              </a:rPr>
              <a:t>根据伪码</a:t>
            </a:r>
            <a:r>
              <a:rPr sz="2800" b="1" spc="12" dirty="0" err="1">
                <a:solidFill>
                  <a:srgbClr val="000000"/>
                </a:solidFill>
                <a:latin typeface="Times New Roman" pitchFamily="18" charset="0"/>
                <a:ea typeface="黑体" pitchFamily="49" charset="-122"/>
                <a:cs typeface="Times New Roman" pitchFamily="18" charset="0"/>
              </a:rPr>
              <a:t>：行</a:t>
            </a:r>
            <a:r>
              <a:rPr sz="2800" b="1" spc="-38" dirty="0">
                <a:solidFill>
                  <a:srgbClr val="000000"/>
                </a:solidFill>
                <a:latin typeface="Times New Roman" pitchFamily="18" charset="0"/>
                <a:ea typeface="黑体" pitchFamily="49" charset="-122"/>
                <a:cs typeface="Times New Roman" pitchFamily="18" charset="0"/>
              </a:rPr>
              <a:t> </a:t>
            </a:r>
            <a:r>
              <a:rPr sz="2800" b="1" dirty="0">
                <a:solidFill>
                  <a:srgbClr val="000000"/>
                </a:solidFill>
                <a:latin typeface="Times New Roman" pitchFamily="18" charset="0"/>
                <a:ea typeface="黑体" pitchFamily="49" charset="-122"/>
                <a:cs typeface="Times New Roman" pitchFamily="18" charset="0"/>
              </a:rPr>
              <a:t>2, 3, 7 </a:t>
            </a:r>
            <a:r>
              <a:rPr sz="2800" b="1" dirty="0" err="1">
                <a:solidFill>
                  <a:srgbClr val="000000"/>
                </a:solidFill>
                <a:latin typeface="Times New Roman" pitchFamily="18" charset="0"/>
                <a:ea typeface="黑体" pitchFamily="49" charset="-122"/>
                <a:cs typeface="Times New Roman" pitchFamily="18" charset="0"/>
              </a:rPr>
              <a:t>都是</a:t>
            </a:r>
            <a:r>
              <a:rPr sz="2800" b="1" i="1" dirty="0" err="1">
                <a:solidFill>
                  <a:srgbClr val="000000"/>
                </a:solidFill>
                <a:latin typeface="Times New Roman" pitchFamily="18" charset="0"/>
                <a:ea typeface="黑体" pitchFamily="49" charset="-122"/>
                <a:cs typeface="Times New Roman" pitchFamily="18" charset="0"/>
              </a:rPr>
              <a:t>O</a:t>
            </a:r>
            <a:r>
              <a:rPr sz="2800" b="1" dirty="0">
                <a:solidFill>
                  <a:srgbClr val="000000"/>
                </a:solidFill>
                <a:latin typeface="Times New Roman" pitchFamily="18" charset="0"/>
                <a:ea typeface="黑体" pitchFamily="49" charset="-122"/>
                <a:cs typeface="Times New Roman" pitchFamily="18" charset="0"/>
              </a:rPr>
              <a:t>(</a:t>
            </a:r>
            <a:r>
              <a:rPr sz="2800" b="1" i="1" dirty="0">
                <a:solidFill>
                  <a:srgbClr val="000000"/>
                </a:solidFill>
                <a:latin typeface="Times New Roman" pitchFamily="18" charset="0"/>
                <a:ea typeface="黑体" pitchFamily="49" charset="-122"/>
                <a:cs typeface="Times New Roman" pitchFamily="18" charset="0"/>
              </a:rPr>
              <a:t>n</a:t>
            </a:r>
            <a:r>
              <a:rPr sz="2800" b="1" dirty="0">
                <a:solidFill>
                  <a:srgbClr val="000000"/>
                </a:solidFill>
                <a:latin typeface="Times New Roman" pitchFamily="18" charset="0"/>
                <a:ea typeface="黑体" pitchFamily="49" charset="-122"/>
                <a:cs typeface="Times New Roman" pitchFamily="18" charset="0"/>
              </a:rPr>
              <a:t>)</a:t>
            </a:r>
            <a:r>
              <a:rPr sz="2800" b="1" spc="12" dirty="0">
                <a:solidFill>
                  <a:srgbClr val="000000"/>
                </a:solidFill>
                <a:latin typeface="Times New Roman" pitchFamily="18" charset="0"/>
                <a:ea typeface="黑体" pitchFamily="49" charset="-122"/>
                <a:cs typeface="Times New Roman" pitchFamily="18" charset="0"/>
              </a:rPr>
              <a:t>，</a:t>
            </a:r>
            <a:r>
              <a:rPr sz="2800" b="1" spc="12" dirty="0" err="1" smtClean="0">
                <a:solidFill>
                  <a:srgbClr val="000000"/>
                </a:solidFill>
                <a:latin typeface="Times New Roman" pitchFamily="18" charset="0"/>
                <a:ea typeface="黑体" pitchFamily="49" charset="-122"/>
                <a:cs typeface="Times New Roman" pitchFamily="18" charset="0"/>
              </a:rPr>
              <a:t>循环</a:t>
            </a:r>
            <a:r>
              <a:rPr lang="zh-CN" altLang="en-US" sz="2800" b="1" dirty="0">
                <a:solidFill>
                  <a:srgbClr val="000000"/>
                </a:solidFill>
                <a:latin typeface="Times New Roman" pitchFamily="18" charset="0"/>
                <a:ea typeface="黑体" pitchFamily="49" charset="-122"/>
                <a:cs typeface="Times New Roman" pitchFamily="18" charset="0"/>
              </a:rPr>
              <a:t>执行</a:t>
            </a:r>
            <a:r>
              <a:rPr lang="en-US" altLang="zh-CN" sz="2800" b="1" i="1" dirty="0">
                <a:solidFill>
                  <a:srgbClr val="000000"/>
                </a:solidFill>
                <a:latin typeface="Times New Roman" pitchFamily="18" charset="0"/>
                <a:ea typeface="黑体" pitchFamily="49" charset="-122"/>
                <a:cs typeface="Times New Roman" pitchFamily="18" charset="0"/>
              </a:rPr>
              <a:t>O</a:t>
            </a:r>
            <a:r>
              <a:rPr lang="en-US" altLang="zh-CN" sz="2800" b="1" dirty="0">
                <a:solidFill>
                  <a:srgbClr val="000000"/>
                </a:solidFill>
                <a:latin typeface="Times New Roman" pitchFamily="18" charset="0"/>
                <a:ea typeface="黑体" pitchFamily="49" charset="-122"/>
                <a:cs typeface="Times New Roman" pitchFamily="18" charset="0"/>
              </a:rPr>
              <a:t>(</a:t>
            </a:r>
            <a:r>
              <a:rPr lang="en-US" altLang="zh-CN" sz="2800" b="1" i="1" dirty="0">
                <a:solidFill>
                  <a:srgbClr val="000000"/>
                </a:solidFill>
                <a:latin typeface="Times New Roman" pitchFamily="18" charset="0"/>
                <a:ea typeface="黑体" pitchFamily="49" charset="-122"/>
                <a:cs typeface="Times New Roman" pitchFamily="18" charset="0"/>
              </a:rPr>
              <a:t>n</a:t>
            </a:r>
            <a:r>
              <a:rPr lang="en-US" altLang="zh-CN" sz="2800" b="1" i="1" baseline="30000" dirty="0">
                <a:solidFill>
                  <a:srgbClr val="000000"/>
                </a:solidFill>
                <a:latin typeface="Times New Roman" pitchFamily="18" charset="0"/>
                <a:ea typeface="黑体" pitchFamily="49" charset="-122"/>
                <a:cs typeface="Times New Roman" pitchFamily="18" charset="0"/>
              </a:rPr>
              <a:t>3</a:t>
            </a:r>
            <a:r>
              <a:rPr lang="en-US" altLang="zh-CN" sz="2800" b="1" dirty="0">
                <a:solidFill>
                  <a:srgbClr val="000000"/>
                </a:solidFill>
                <a:latin typeface="Times New Roman" pitchFamily="18" charset="0"/>
                <a:ea typeface="黑体" pitchFamily="49" charset="-122"/>
                <a:cs typeface="Times New Roman" pitchFamily="18" charset="0"/>
              </a:rPr>
              <a:t>)</a:t>
            </a:r>
            <a:r>
              <a:rPr lang="zh-CN" altLang="en-US" sz="2800" b="1" spc="12" dirty="0">
                <a:solidFill>
                  <a:srgbClr val="000000"/>
                </a:solidFill>
                <a:latin typeface="Times New Roman" pitchFamily="18" charset="0"/>
                <a:ea typeface="黑体" pitchFamily="49" charset="-122"/>
                <a:cs typeface="Times New Roman" pitchFamily="18" charset="0"/>
              </a:rPr>
              <a:t>次，内部为</a:t>
            </a:r>
            <a:r>
              <a:rPr lang="en-US" altLang="zh-CN" sz="2800" b="1" i="1" dirty="0">
                <a:solidFill>
                  <a:srgbClr val="000000"/>
                </a:solidFill>
                <a:latin typeface="Times New Roman" pitchFamily="18" charset="0"/>
                <a:ea typeface="黑体" pitchFamily="49" charset="-122"/>
                <a:cs typeface="Times New Roman" pitchFamily="18" charset="0"/>
              </a:rPr>
              <a:t>O</a:t>
            </a:r>
            <a:r>
              <a:rPr lang="en-US" altLang="zh-CN" sz="2800" b="1" dirty="0">
                <a:solidFill>
                  <a:srgbClr val="000000"/>
                </a:solidFill>
                <a:latin typeface="Times New Roman" pitchFamily="18" charset="0"/>
                <a:ea typeface="黑体" pitchFamily="49" charset="-122"/>
                <a:cs typeface="Times New Roman" pitchFamily="18" charset="0"/>
              </a:rPr>
              <a:t>(1)</a:t>
            </a:r>
            <a:endParaRPr sz="2800" b="1" spc="12" dirty="0">
              <a:solidFill>
                <a:srgbClr val="000000"/>
              </a:solidFill>
              <a:latin typeface="Times New Roman" pitchFamily="18" charset="0"/>
              <a:ea typeface="黑体" pitchFamily="49" charset="-122"/>
              <a:cs typeface="Times New Roman" pitchFamily="18" charset="0"/>
            </a:endParaRPr>
          </a:p>
        </p:txBody>
      </p:sp>
      <p:sp>
        <p:nvSpPr>
          <p:cNvPr id="6" name="object 6"/>
          <p:cNvSpPr txBox="1"/>
          <p:nvPr/>
        </p:nvSpPr>
        <p:spPr>
          <a:xfrm>
            <a:off x="340209" y="3161599"/>
            <a:ext cx="9056040" cy="1292662"/>
          </a:xfrm>
          <a:prstGeom prst="rect">
            <a:avLst/>
          </a:prstGeom>
        </p:spPr>
        <p:txBody>
          <a:bodyPr vert="horz" wrap="square" lIns="0" tIns="0" rIns="0" bIns="0" rtlCol="0">
            <a:spAutoFit/>
          </a:bodyPr>
          <a:lstStyle/>
          <a:p>
            <a:pPr>
              <a:spcAft>
                <a:spcPct val="0"/>
              </a:spcAft>
            </a:pPr>
            <a:r>
              <a:rPr sz="2800" b="1" dirty="0" smtClean="0">
                <a:solidFill>
                  <a:srgbClr val="C00000"/>
                </a:solidFill>
                <a:latin typeface="Times New Roman" pitchFamily="18" charset="0"/>
                <a:ea typeface="黑体" pitchFamily="49" charset="-122"/>
                <a:cs typeface="Times New Roman" pitchFamily="18" charset="0"/>
              </a:rPr>
              <a:t>•</a:t>
            </a:r>
            <a:r>
              <a:rPr sz="2800" b="1" spc="1339" dirty="0" smtClean="0">
                <a:solidFill>
                  <a:srgbClr val="C00000"/>
                </a:solidFill>
                <a:latin typeface="Times New Roman" pitchFamily="18" charset="0"/>
                <a:ea typeface="黑体" pitchFamily="49" charset="-122"/>
                <a:cs typeface="Times New Roman" pitchFamily="18" charset="0"/>
              </a:rPr>
              <a:t> </a:t>
            </a:r>
            <a:r>
              <a:rPr sz="2800" b="1" dirty="0" err="1">
                <a:solidFill>
                  <a:srgbClr val="C00000"/>
                </a:solidFill>
                <a:latin typeface="Times New Roman" pitchFamily="18" charset="0"/>
                <a:ea typeface="黑体" panose="02010609060101010101" pitchFamily="49" charset="-122"/>
                <a:cs typeface="Times New Roman" pitchFamily="18" charset="0"/>
              </a:rPr>
              <a:t>根据备忘录</a:t>
            </a:r>
            <a:r>
              <a:rPr sz="2800" b="1" spc="12" dirty="0" smtClean="0">
                <a:solidFill>
                  <a:srgbClr val="000000"/>
                </a:solidFill>
                <a:latin typeface="Times New Roman" pitchFamily="18" charset="0"/>
                <a:ea typeface="黑体" panose="02010609060101010101" pitchFamily="49" charset="-122"/>
                <a:cs typeface="Times New Roman" pitchFamily="18" charset="0"/>
              </a:rPr>
              <a:t>：</a:t>
            </a:r>
            <a:r>
              <a:rPr lang="zh-CN" altLang="en-US" sz="2800" b="1" spc="12" dirty="0">
                <a:solidFill>
                  <a:srgbClr val="000000"/>
                </a:solidFill>
                <a:latin typeface="Times New Roman" pitchFamily="18" charset="0"/>
                <a:ea typeface="黑体" panose="02010609060101010101" pitchFamily="49" charset="-122"/>
                <a:cs typeface="Times New Roman" pitchFamily="18" charset="0"/>
              </a:rPr>
              <a:t>估计每项工作量</a:t>
            </a:r>
            <a:r>
              <a:rPr lang="en-US" altLang="zh-CN" sz="2800" b="1" spc="12" dirty="0">
                <a:solidFill>
                  <a:srgbClr val="000000"/>
                </a:solidFill>
                <a:latin typeface="Times New Roman" pitchFamily="18" charset="0"/>
                <a:ea typeface="黑体" panose="02010609060101010101" pitchFamily="49" charset="-122"/>
                <a:cs typeface="Times New Roman" pitchFamily="18" charset="0"/>
              </a:rPr>
              <a:t>,</a:t>
            </a:r>
            <a:r>
              <a:rPr lang="zh-CN" altLang="en-US" sz="2800" b="1" spc="12" dirty="0">
                <a:solidFill>
                  <a:srgbClr val="000000"/>
                </a:solidFill>
                <a:latin typeface="Times New Roman" pitchFamily="18" charset="0"/>
                <a:ea typeface="黑体" panose="02010609060101010101" pitchFamily="49" charset="-122"/>
                <a:cs typeface="Times New Roman" pitchFamily="18" charset="0"/>
              </a:rPr>
              <a:t>求和</a:t>
            </a:r>
            <a:r>
              <a:rPr lang="en-US" altLang="zh-CN" sz="2800" b="1" spc="12" dirty="0">
                <a:solidFill>
                  <a:srgbClr val="000000"/>
                </a:solidFill>
                <a:latin typeface="Times New Roman" pitchFamily="18" charset="0"/>
                <a:ea typeface="黑体" panose="02010609060101010101" pitchFamily="49" charset="-122"/>
                <a:cs typeface="Times New Roman" pitchFamily="18" charset="0"/>
              </a:rPr>
              <a:t>.</a:t>
            </a:r>
            <a:r>
              <a:rPr lang="zh-CN" altLang="en-US" sz="2800" b="1" spc="12" dirty="0">
                <a:solidFill>
                  <a:srgbClr val="000000"/>
                </a:solidFill>
                <a:latin typeface="Times New Roman" pitchFamily="18" charset="0"/>
                <a:ea typeface="黑体" panose="02010609060101010101" pitchFamily="49" charset="-122"/>
                <a:cs typeface="Times New Roman" pitchFamily="18" charset="0"/>
              </a:rPr>
              <a:t>子问题有</a:t>
            </a:r>
            <a:r>
              <a:rPr lang="en-US" altLang="zh-CN" sz="2800" b="1" spc="12" dirty="0">
                <a:solidFill>
                  <a:srgbClr val="000000"/>
                </a:solidFill>
                <a:latin typeface="Times New Roman" pitchFamily="18" charset="0"/>
                <a:ea typeface="黑体" panose="02010609060101010101" pitchFamily="49" charset="-122"/>
                <a:cs typeface="Times New Roman" pitchFamily="18" charset="0"/>
              </a:rPr>
              <a:t>O(n</a:t>
            </a:r>
            <a:r>
              <a:rPr lang="en-US" altLang="zh-CN" sz="2800" b="1" spc="12" baseline="30000" dirty="0">
                <a:solidFill>
                  <a:srgbClr val="000000"/>
                </a:solidFill>
                <a:latin typeface="Times New Roman" pitchFamily="18" charset="0"/>
                <a:ea typeface="黑体" panose="02010609060101010101" pitchFamily="49" charset="-122"/>
                <a:cs typeface="Times New Roman" pitchFamily="18" charset="0"/>
              </a:rPr>
              <a:t>2</a:t>
            </a:r>
            <a:r>
              <a:rPr lang="en-US" altLang="zh-CN" sz="2800" b="1" spc="12" dirty="0">
                <a:solidFill>
                  <a:srgbClr val="000000"/>
                </a:solidFill>
                <a:latin typeface="Times New Roman" pitchFamily="18" charset="0"/>
                <a:ea typeface="黑体" panose="02010609060101010101" pitchFamily="49" charset="-122"/>
                <a:cs typeface="Times New Roman" pitchFamily="18" charset="0"/>
              </a:rPr>
              <a:t>)</a:t>
            </a:r>
            <a:r>
              <a:rPr lang="zh-CN" altLang="en-US" sz="2800" b="1" spc="12" dirty="0">
                <a:solidFill>
                  <a:srgbClr val="000000"/>
                </a:solidFill>
                <a:latin typeface="Times New Roman" pitchFamily="18" charset="0"/>
                <a:ea typeface="黑体" panose="02010609060101010101" pitchFamily="49" charset="-122"/>
                <a:cs typeface="Times New Roman" pitchFamily="18" charset="0"/>
              </a:rPr>
              <a:t>个，确定每个子问题的最少乘法次数需要对不同划分位置比较，需要</a:t>
            </a:r>
            <a:r>
              <a:rPr lang="en-US" altLang="zh-CN" sz="2800" b="1" spc="12" dirty="0">
                <a:solidFill>
                  <a:srgbClr val="000000"/>
                </a:solidFill>
                <a:latin typeface="Times New Roman" pitchFamily="18" charset="0"/>
                <a:ea typeface="黑体" panose="02010609060101010101" pitchFamily="49" charset="-122"/>
                <a:cs typeface="Times New Roman" pitchFamily="18" charset="0"/>
              </a:rPr>
              <a:t>O(n)</a:t>
            </a:r>
            <a:r>
              <a:rPr lang="zh-CN" altLang="en-US" sz="2800" b="1" spc="12" dirty="0">
                <a:solidFill>
                  <a:srgbClr val="000000"/>
                </a:solidFill>
                <a:latin typeface="Times New Roman" pitchFamily="18" charset="0"/>
                <a:ea typeface="黑体" panose="02010609060101010101" pitchFamily="49" charset="-122"/>
                <a:cs typeface="Times New Roman" pitchFamily="18" charset="0"/>
              </a:rPr>
              <a:t>时间</a:t>
            </a:r>
            <a:r>
              <a:rPr lang="en-US" altLang="zh-CN" sz="2800" b="1" spc="12" dirty="0" smtClean="0">
                <a:solidFill>
                  <a:srgbClr val="000000"/>
                </a:solidFill>
                <a:latin typeface="Times New Roman" pitchFamily="18" charset="0"/>
                <a:ea typeface="黑体" panose="02010609060101010101" pitchFamily="49" charset="-122"/>
                <a:cs typeface="Times New Roman" pitchFamily="18" charset="0"/>
              </a:rPr>
              <a:t>.</a:t>
            </a:r>
            <a:endParaRPr lang="zh-CN" altLang="en-US" sz="2800" b="1" spc="12" dirty="0">
              <a:solidFill>
                <a:srgbClr val="000000"/>
              </a:solidFill>
              <a:latin typeface="Times New Roman" pitchFamily="18" charset="0"/>
              <a:ea typeface="黑体" panose="02010609060101010101" pitchFamily="49" charset="-122"/>
              <a:cs typeface="Times New Roman" pitchFamily="18" charset="0"/>
            </a:endParaRPr>
          </a:p>
        </p:txBody>
      </p:sp>
      <p:sp>
        <p:nvSpPr>
          <p:cNvPr id="11" name="object 11"/>
          <p:cNvSpPr txBox="1"/>
          <p:nvPr/>
        </p:nvSpPr>
        <p:spPr>
          <a:xfrm>
            <a:off x="2014562" y="4532601"/>
            <a:ext cx="4407257" cy="430887"/>
          </a:xfrm>
          <a:prstGeom prst="rect">
            <a:avLst/>
          </a:prstGeom>
        </p:spPr>
        <p:txBody>
          <a:bodyPr vert="horz" wrap="square" lIns="0" tIns="0" rIns="0" bIns="0" rtlCol="0">
            <a:spAutoFit/>
          </a:bodyPr>
          <a:lstStyle/>
          <a:p>
            <a:pPr algn="ctr">
              <a:spcAft>
                <a:spcPct val="0"/>
              </a:spcAft>
            </a:pPr>
            <a:r>
              <a:rPr sz="2800" b="1" i="1" dirty="0">
                <a:solidFill>
                  <a:srgbClr val="000000"/>
                </a:solidFill>
                <a:latin typeface="Times New Roman" pitchFamily="18" charset="0"/>
                <a:ea typeface="黑体" pitchFamily="49" charset="-122"/>
                <a:cs typeface="Times New Roman" pitchFamily="18" charset="0"/>
              </a:rPr>
              <a:t>W</a:t>
            </a:r>
            <a:r>
              <a:rPr sz="2800" b="1" dirty="0">
                <a:solidFill>
                  <a:srgbClr val="000000"/>
                </a:solidFill>
                <a:latin typeface="Times New Roman" pitchFamily="18" charset="0"/>
                <a:ea typeface="黑体" pitchFamily="49" charset="-122"/>
                <a:cs typeface="Times New Roman" pitchFamily="18" charset="0"/>
              </a:rPr>
              <a:t>(</a:t>
            </a:r>
            <a:r>
              <a:rPr sz="2800" b="1" i="1" dirty="0">
                <a:solidFill>
                  <a:srgbClr val="000000"/>
                </a:solidFill>
                <a:latin typeface="Times New Roman" pitchFamily="18" charset="0"/>
                <a:ea typeface="黑体" pitchFamily="49" charset="-122"/>
                <a:cs typeface="Times New Roman" pitchFamily="18" charset="0"/>
              </a:rPr>
              <a:t>n</a:t>
            </a:r>
            <a:r>
              <a:rPr sz="2800" b="1" dirty="0">
                <a:solidFill>
                  <a:srgbClr val="000000"/>
                </a:solidFill>
                <a:latin typeface="Times New Roman" pitchFamily="18" charset="0"/>
                <a:ea typeface="黑体" pitchFamily="49" charset="-122"/>
                <a:cs typeface="Times New Roman" pitchFamily="18" charset="0"/>
              </a:rPr>
              <a:t>)</a:t>
            </a:r>
            <a:r>
              <a:rPr sz="2800" b="1" spc="12" dirty="0">
                <a:solidFill>
                  <a:srgbClr val="000000"/>
                </a:solidFill>
                <a:latin typeface="Times New Roman" pitchFamily="18" charset="0"/>
                <a:ea typeface="黑体" pitchFamily="49" charset="-122"/>
                <a:cs typeface="Times New Roman" pitchFamily="18" charset="0"/>
              </a:rPr>
              <a:t> </a:t>
            </a:r>
            <a:r>
              <a:rPr sz="2800" b="1" dirty="0">
                <a:solidFill>
                  <a:srgbClr val="000000"/>
                </a:solidFill>
                <a:latin typeface="Times New Roman" pitchFamily="18" charset="0"/>
                <a:ea typeface="黑体" pitchFamily="49" charset="-122"/>
                <a:cs typeface="Times New Roman" pitchFamily="18" charset="0"/>
              </a:rPr>
              <a:t>= </a:t>
            </a:r>
            <a:r>
              <a:rPr sz="2800" b="1" i="1" dirty="0" smtClean="0">
                <a:solidFill>
                  <a:srgbClr val="000000"/>
                </a:solidFill>
                <a:latin typeface="Times New Roman" pitchFamily="18" charset="0"/>
                <a:ea typeface="黑体" pitchFamily="49" charset="-122"/>
                <a:cs typeface="Times New Roman" pitchFamily="18" charset="0"/>
              </a:rPr>
              <a:t>O</a:t>
            </a:r>
            <a:r>
              <a:rPr sz="2800" b="1" dirty="0" smtClean="0">
                <a:solidFill>
                  <a:srgbClr val="000000"/>
                </a:solidFill>
                <a:latin typeface="Times New Roman" pitchFamily="18" charset="0"/>
                <a:ea typeface="黑体" pitchFamily="49" charset="-122"/>
                <a:cs typeface="Times New Roman" pitchFamily="18" charset="0"/>
              </a:rPr>
              <a:t>(</a:t>
            </a:r>
            <a:r>
              <a:rPr sz="2800" b="1" i="1" dirty="0" smtClean="0">
                <a:solidFill>
                  <a:srgbClr val="000000"/>
                </a:solidFill>
                <a:latin typeface="Times New Roman" pitchFamily="18" charset="0"/>
                <a:ea typeface="黑体" pitchFamily="49" charset="-122"/>
                <a:cs typeface="Times New Roman" pitchFamily="18" charset="0"/>
              </a:rPr>
              <a:t>n</a:t>
            </a:r>
            <a:r>
              <a:rPr lang="en-US" sz="2800" b="1" baseline="30000" dirty="0" smtClean="0">
                <a:solidFill>
                  <a:srgbClr val="000000"/>
                </a:solidFill>
                <a:latin typeface="Times New Roman" pitchFamily="18" charset="0"/>
                <a:ea typeface="黑体" pitchFamily="49" charset="-122"/>
                <a:cs typeface="Times New Roman" pitchFamily="18" charset="0"/>
              </a:rPr>
              <a:t>3</a:t>
            </a:r>
            <a:r>
              <a:rPr lang="en-US" sz="2800" b="1" dirty="0">
                <a:solidFill>
                  <a:srgbClr val="000000"/>
                </a:solidFill>
                <a:latin typeface="Times New Roman" pitchFamily="18" charset="0"/>
                <a:ea typeface="黑体" pitchFamily="49" charset="-122"/>
                <a:cs typeface="Times New Roman" pitchFamily="18" charset="0"/>
              </a:rPr>
              <a:t>)</a:t>
            </a:r>
            <a:endParaRPr sz="2800" b="1" dirty="0">
              <a:solidFill>
                <a:srgbClr val="000000"/>
              </a:solidFill>
              <a:latin typeface="Times New Roman" pitchFamily="18" charset="0"/>
              <a:ea typeface="黑体" pitchFamily="49" charset="-122"/>
              <a:cs typeface="Times New Roman" pitchFamily="18" charset="0"/>
            </a:endParaRPr>
          </a:p>
        </p:txBody>
      </p:sp>
      <p:sp>
        <p:nvSpPr>
          <p:cNvPr id="13" name="object 13"/>
          <p:cNvSpPr txBox="1"/>
          <p:nvPr/>
        </p:nvSpPr>
        <p:spPr>
          <a:xfrm>
            <a:off x="421211" y="5094138"/>
            <a:ext cx="7177768" cy="430887"/>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itchFamily="18" charset="0"/>
                <a:ea typeface="黑体" pitchFamily="49" charset="-122"/>
                <a:cs typeface="Times New Roman" pitchFamily="18" charset="0"/>
              </a:rPr>
              <a:t>•</a:t>
            </a:r>
            <a:r>
              <a:rPr sz="2800" b="1" spc="1339" dirty="0">
                <a:solidFill>
                  <a:srgbClr val="000000"/>
                </a:solidFill>
                <a:latin typeface="Times New Roman" pitchFamily="18" charset="0"/>
                <a:ea typeface="黑体" pitchFamily="49" charset="-122"/>
                <a:cs typeface="Times New Roman" pitchFamily="18" charset="0"/>
              </a:rPr>
              <a:t> </a:t>
            </a:r>
            <a:r>
              <a:rPr sz="2800" b="1" dirty="0" err="1">
                <a:solidFill>
                  <a:srgbClr val="000000"/>
                </a:solidFill>
                <a:latin typeface="Times New Roman" pitchFamily="18" charset="0"/>
                <a:ea typeface="黑体" panose="02010609060101010101" pitchFamily="49" charset="-122"/>
                <a:cs typeface="Times New Roman" pitchFamily="18" charset="0"/>
              </a:rPr>
              <a:t>追踪解工作量</a:t>
            </a:r>
            <a:r>
              <a:rPr sz="2800" b="1" spc="30" dirty="0">
                <a:solidFill>
                  <a:srgbClr val="000000"/>
                </a:solidFill>
                <a:latin typeface="Times New Roman" pitchFamily="18" charset="0"/>
                <a:ea typeface="黑体" panose="02010609060101010101" pitchFamily="49" charset="-122"/>
                <a:cs typeface="Times New Roman" pitchFamily="18" charset="0"/>
              </a:rPr>
              <a:t> </a:t>
            </a:r>
            <a:r>
              <a:rPr sz="2800" b="1" i="1" dirty="0">
                <a:solidFill>
                  <a:srgbClr val="000000"/>
                </a:solidFill>
                <a:latin typeface="Times New Roman" pitchFamily="18" charset="0"/>
                <a:ea typeface="黑体" panose="02010609060101010101" pitchFamily="49" charset="-122"/>
                <a:cs typeface="Times New Roman" pitchFamily="18" charset="0"/>
              </a:rPr>
              <a:t>O</a:t>
            </a:r>
            <a:r>
              <a:rPr sz="2800" b="1" dirty="0">
                <a:solidFill>
                  <a:srgbClr val="000000"/>
                </a:solidFill>
                <a:latin typeface="Times New Roman" pitchFamily="18" charset="0"/>
                <a:ea typeface="黑体" panose="02010609060101010101" pitchFamily="49" charset="-122"/>
                <a:cs typeface="Times New Roman" pitchFamily="18" charset="0"/>
              </a:rPr>
              <a:t>(</a:t>
            </a:r>
            <a:r>
              <a:rPr sz="2800" b="1" i="1" dirty="0">
                <a:solidFill>
                  <a:srgbClr val="000000"/>
                </a:solidFill>
                <a:latin typeface="Times New Roman" pitchFamily="18" charset="0"/>
                <a:ea typeface="黑体" panose="02010609060101010101" pitchFamily="49" charset="-122"/>
                <a:cs typeface="Times New Roman" pitchFamily="18" charset="0"/>
              </a:rPr>
              <a:t>n</a:t>
            </a:r>
            <a:r>
              <a:rPr sz="2800" b="1" dirty="0">
                <a:solidFill>
                  <a:srgbClr val="000000"/>
                </a:solidFill>
                <a:latin typeface="Times New Roman" pitchFamily="18" charset="0"/>
                <a:ea typeface="黑体" panose="02010609060101010101" pitchFamily="49" charset="-122"/>
                <a:cs typeface="Times New Roman" pitchFamily="18" charset="0"/>
              </a:rPr>
              <a:t>)</a:t>
            </a:r>
            <a:r>
              <a:rPr sz="2800" b="1" spc="11" dirty="0">
                <a:solidFill>
                  <a:srgbClr val="000000"/>
                </a:solidFill>
                <a:latin typeface="Times New Roman" pitchFamily="18" charset="0"/>
                <a:ea typeface="黑体" panose="02010609060101010101" pitchFamily="49" charset="-122"/>
                <a:cs typeface="Times New Roman" pitchFamily="18" charset="0"/>
              </a:rPr>
              <a:t>，</a:t>
            </a:r>
            <a:r>
              <a:rPr sz="2800" b="1" spc="11" dirty="0" err="1">
                <a:solidFill>
                  <a:srgbClr val="000000"/>
                </a:solidFill>
                <a:latin typeface="Times New Roman" pitchFamily="18" charset="0"/>
                <a:ea typeface="黑体" panose="02010609060101010101" pitchFamily="49" charset="-122"/>
                <a:cs typeface="Times New Roman" pitchFamily="18" charset="0"/>
              </a:rPr>
              <a:t>总工作量</a:t>
            </a:r>
            <a:r>
              <a:rPr sz="2800" b="1" i="1" dirty="0" err="1" smtClean="0">
                <a:solidFill>
                  <a:srgbClr val="C00000"/>
                </a:solidFill>
                <a:latin typeface="Times New Roman" pitchFamily="18" charset="0"/>
                <a:ea typeface="黑体" panose="02010609060101010101" pitchFamily="49" charset="-122"/>
                <a:cs typeface="Times New Roman" pitchFamily="18" charset="0"/>
              </a:rPr>
              <a:t>O</a:t>
            </a:r>
            <a:r>
              <a:rPr sz="2800" b="1" dirty="0" smtClean="0">
                <a:solidFill>
                  <a:srgbClr val="C00000"/>
                </a:solidFill>
                <a:latin typeface="Times New Roman" pitchFamily="18" charset="0"/>
                <a:ea typeface="黑体" panose="02010609060101010101" pitchFamily="49" charset="-122"/>
                <a:cs typeface="Times New Roman" pitchFamily="18" charset="0"/>
              </a:rPr>
              <a:t>(</a:t>
            </a:r>
            <a:r>
              <a:rPr sz="2800" b="1" i="1" dirty="0" smtClean="0">
                <a:solidFill>
                  <a:srgbClr val="C00000"/>
                </a:solidFill>
                <a:latin typeface="Times New Roman" pitchFamily="18" charset="0"/>
                <a:ea typeface="黑体" panose="02010609060101010101" pitchFamily="49" charset="-122"/>
                <a:cs typeface="Times New Roman" pitchFamily="18" charset="0"/>
              </a:rPr>
              <a:t>n</a:t>
            </a:r>
            <a:r>
              <a:rPr lang="en-US" sz="2800" b="1" baseline="30000" dirty="0" smtClean="0">
                <a:solidFill>
                  <a:srgbClr val="C00000"/>
                </a:solidFill>
                <a:latin typeface="Times New Roman" pitchFamily="18" charset="0"/>
                <a:ea typeface="黑体" panose="02010609060101010101" pitchFamily="49" charset="-122"/>
                <a:cs typeface="Times New Roman" pitchFamily="18" charset="0"/>
              </a:rPr>
              <a:t>3</a:t>
            </a:r>
            <a:r>
              <a:rPr lang="zh-CN" altLang="en-US" sz="2800" b="1" dirty="0" smtClean="0">
                <a:solidFill>
                  <a:srgbClr val="C00000"/>
                </a:solidFill>
                <a:latin typeface="Times New Roman" pitchFamily="18" charset="0"/>
                <a:ea typeface="黑体" panose="02010609060101010101" pitchFamily="49" charset="-122"/>
                <a:cs typeface="Times New Roman" pitchFamily="18" charset="0"/>
              </a:rPr>
              <a:t>）</a:t>
            </a:r>
            <a:endParaRPr sz="2800" b="1" dirty="0">
              <a:solidFill>
                <a:srgbClr val="C00000"/>
              </a:solidFill>
              <a:latin typeface="Times New Roman" pitchFamily="18" charset="0"/>
              <a:ea typeface="黑体" panose="02010609060101010101" pitchFamily="49" charset="-122"/>
              <a:cs typeface="Times New Roman" pitchFamily="18" charset="0"/>
            </a:endParaRPr>
          </a:p>
        </p:txBody>
      </p:sp>
      <p:sp>
        <p:nvSpPr>
          <p:cNvPr id="4" name="矩形 3"/>
          <p:cNvSpPr/>
          <p:nvPr/>
        </p:nvSpPr>
        <p:spPr>
          <a:xfrm>
            <a:off x="3759668" y="2250965"/>
            <a:ext cx="2151486" cy="523220"/>
          </a:xfrm>
          <a:prstGeom prst="rect">
            <a:avLst/>
          </a:prstGeom>
        </p:spPr>
        <p:txBody>
          <a:bodyPr wrap="none">
            <a:spAutoFit/>
          </a:bodyPr>
          <a:lstStyle/>
          <a:p>
            <a:pPr algn="ctr">
              <a:spcAft>
                <a:spcPts val="2400"/>
              </a:spcAft>
            </a:pPr>
            <a:r>
              <a:rPr lang="en-US" altLang="zh-CN" sz="2800" b="1" i="1" dirty="0">
                <a:solidFill>
                  <a:srgbClr val="000000"/>
                </a:solidFill>
                <a:latin typeface="Times New Roman" pitchFamily="18" charset="0"/>
                <a:ea typeface="黑体" pitchFamily="49" charset="-122"/>
                <a:cs typeface="Times New Roman" pitchFamily="18" charset="0"/>
              </a:rPr>
              <a:t>W</a:t>
            </a:r>
            <a:r>
              <a:rPr lang="en-US" altLang="zh-CN" sz="2800" b="1" dirty="0">
                <a:solidFill>
                  <a:srgbClr val="000000"/>
                </a:solidFill>
                <a:latin typeface="Times New Roman" pitchFamily="18" charset="0"/>
                <a:ea typeface="黑体" pitchFamily="49" charset="-122"/>
                <a:cs typeface="Times New Roman" pitchFamily="18" charset="0"/>
              </a:rPr>
              <a:t>(</a:t>
            </a:r>
            <a:r>
              <a:rPr lang="en-US" altLang="zh-CN" sz="2800" b="1" i="1" dirty="0">
                <a:solidFill>
                  <a:srgbClr val="000000"/>
                </a:solidFill>
                <a:latin typeface="Times New Roman" pitchFamily="18" charset="0"/>
                <a:ea typeface="黑体" pitchFamily="49" charset="-122"/>
                <a:cs typeface="Times New Roman" pitchFamily="18" charset="0"/>
              </a:rPr>
              <a:t>n</a:t>
            </a:r>
            <a:r>
              <a:rPr lang="en-US" altLang="zh-CN" sz="2800" b="1" dirty="0">
                <a:solidFill>
                  <a:srgbClr val="000000"/>
                </a:solidFill>
                <a:latin typeface="Times New Roman" pitchFamily="18" charset="0"/>
                <a:ea typeface="黑体" pitchFamily="49" charset="-122"/>
                <a:cs typeface="Times New Roman" pitchFamily="18" charset="0"/>
              </a:rPr>
              <a:t>)</a:t>
            </a:r>
            <a:r>
              <a:rPr lang="en-US" altLang="zh-CN" sz="2800" b="1" spc="12" dirty="0">
                <a:solidFill>
                  <a:srgbClr val="000000"/>
                </a:solidFill>
                <a:latin typeface="Times New Roman" pitchFamily="18" charset="0"/>
                <a:ea typeface="黑体" pitchFamily="49" charset="-122"/>
                <a:cs typeface="Times New Roman" pitchFamily="18" charset="0"/>
              </a:rPr>
              <a:t> </a:t>
            </a:r>
            <a:r>
              <a:rPr lang="en-US" altLang="zh-CN" sz="2800" b="1" dirty="0">
                <a:solidFill>
                  <a:srgbClr val="000000"/>
                </a:solidFill>
                <a:latin typeface="Times New Roman" pitchFamily="18" charset="0"/>
                <a:ea typeface="黑体" pitchFamily="49" charset="-122"/>
                <a:cs typeface="Times New Roman" pitchFamily="18" charset="0"/>
              </a:rPr>
              <a:t>= </a:t>
            </a:r>
            <a:r>
              <a:rPr lang="en-US" altLang="zh-CN" sz="2800" b="1" i="1" dirty="0">
                <a:solidFill>
                  <a:srgbClr val="000000"/>
                </a:solidFill>
                <a:latin typeface="Times New Roman" pitchFamily="18" charset="0"/>
                <a:ea typeface="黑体" pitchFamily="49" charset="-122"/>
                <a:cs typeface="Times New Roman" pitchFamily="18" charset="0"/>
              </a:rPr>
              <a:t>O</a:t>
            </a:r>
            <a:r>
              <a:rPr lang="en-US" altLang="zh-CN" sz="2800" b="1" dirty="0">
                <a:solidFill>
                  <a:srgbClr val="000000"/>
                </a:solidFill>
                <a:latin typeface="Times New Roman" pitchFamily="18" charset="0"/>
                <a:ea typeface="黑体" pitchFamily="49" charset="-122"/>
                <a:cs typeface="Times New Roman" pitchFamily="18" charset="0"/>
              </a:rPr>
              <a:t>(</a:t>
            </a:r>
            <a:r>
              <a:rPr lang="en-US" altLang="zh-CN" sz="2800" b="1" i="1" dirty="0">
                <a:solidFill>
                  <a:srgbClr val="000000"/>
                </a:solidFill>
                <a:latin typeface="Times New Roman" pitchFamily="18" charset="0"/>
                <a:ea typeface="黑体" pitchFamily="49" charset="-122"/>
                <a:cs typeface="Times New Roman" pitchFamily="18" charset="0"/>
              </a:rPr>
              <a:t>n</a:t>
            </a:r>
            <a:r>
              <a:rPr lang="en-US" altLang="zh-CN" sz="2800" b="1" i="1" baseline="30000" dirty="0">
                <a:solidFill>
                  <a:srgbClr val="000000"/>
                </a:solidFill>
                <a:latin typeface="Times New Roman" pitchFamily="18" charset="0"/>
                <a:ea typeface="黑体" pitchFamily="49" charset="-122"/>
                <a:cs typeface="Times New Roman" pitchFamily="18" charset="0"/>
              </a:rPr>
              <a:t>3</a:t>
            </a:r>
            <a:r>
              <a:rPr lang="en-US" altLang="zh-CN" sz="2800" b="1" dirty="0">
                <a:solidFill>
                  <a:srgbClr val="000000"/>
                </a:solidFill>
                <a:latin typeface="Times New Roman" pitchFamily="18" charset="0"/>
                <a:ea typeface="黑体" pitchFamily="49" charset="-122"/>
                <a:cs typeface="Times New Roman" pitchFamily="18" charset="0"/>
              </a:rPr>
              <a:t>)</a:t>
            </a:r>
            <a:endParaRPr lang="en-US" altLang="zh-CN" sz="2800" b="1" i="1" dirty="0">
              <a:solidFill>
                <a:srgbClr val="00000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39866655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4497" y="198631"/>
            <a:ext cx="8786648"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a:solidFill>
                  <a:srgbClr val="C00000"/>
                </a:solidFill>
                <a:latin typeface="黑体" panose="02010609060101010101" pitchFamily="49" charset="-122"/>
                <a:ea typeface="黑体" panose="02010609060101010101" pitchFamily="49" charset="-122"/>
                <a:cs typeface="WRJJLM+SimSun"/>
              </a:rPr>
              <a:t>实例</a:t>
            </a:r>
            <a:endParaRPr sz="4000" b="1" spc="11" dirty="0">
              <a:solidFill>
                <a:srgbClr val="C00000"/>
              </a:solidFill>
              <a:latin typeface="黑体" panose="02010609060101010101" pitchFamily="49" charset="-122"/>
              <a:ea typeface="黑体" panose="02010609060101010101" pitchFamily="49" charset="-122"/>
              <a:cs typeface="WRJJLM+SimSun"/>
            </a:endParaRPr>
          </a:p>
        </p:txBody>
      </p:sp>
      <p:sp>
        <p:nvSpPr>
          <p:cNvPr id="3" name="object 3"/>
          <p:cNvSpPr txBox="1"/>
          <p:nvPr/>
        </p:nvSpPr>
        <p:spPr>
          <a:xfrm>
            <a:off x="421210" y="1615632"/>
            <a:ext cx="7934513"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err="1">
                <a:solidFill>
                  <a:srgbClr val="C00000"/>
                </a:solidFill>
                <a:latin typeface="黑体" panose="02010609060101010101" pitchFamily="49" charset="-122"/>
                <a:ea typeface="黑体" panose="02010609060101010101" pitchFamily="49" charset="-122"/>
                <a:cs typeface="WRJJLM+SimSun"/>
              </a:rPr>
              <a:t>输入</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i="1" spc="-9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&lt; 30, 35, 15, 5, 10, 20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cs typeface="Times New Roman" panose="02020603050405020304" pitchFamily="18" charset="0"/>
              </a:rPr>
              <a:t>n </a:t>
            </a:r>
            <a:r>
              <a:rPr sz="2800" b="1" dirty="0">
                <a:solidFill>
                  <a:srgbClr val="000000"/>
                </a:solidFill>
                <a:latin typeface="Times New Roman" panose="02020603050405020304" pitchFamily="18" charset="0"/>
                <a:cs typeface="Times New Roman" panose="02020603050405020304" pitchFamily="18" charset="0"/>
              </a:rPr>
              <a:t>= 5</a:t>
            </a:r>
          </a:p>
        </p:txBody>
      </p:sp>
      <p:sp>
        <p:nvSpPr>
          <p:cNvPr id="4" name="object 4"/>
          <p:cNvSpPr txBox="1"/>
          <p:nvPr/>
        </p:nvSpPr>
        <p:spPr>
          <a:xfrm>
            <a:off x="421212" y="2685536"/>
            <a:ext cx="7461547"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C00000"/>
                </a:solidFill>
                <a:latin typeface="黑体" panose="02010609060101010101" pitchFamily="49" charset="-122"/>
                <a:ea typeface="黑体" panose="02010609060101010101" pitchFamily="49" charset="-122"/>
                <a:cs typeface="WRJJLM+SimSun"/>
              </a:rPr>
              <a:t>矩阵链</a:t>
            </a:r>
            <a:r>
              <a:rPr sz="2800" dirty="0">
                <a:solidFill>
                  <a:srgbClr val="000000"/>
                </a:solidFill>
                <a:latin typeface="WRJJLM+SimSun"/>
                <a:cs typeface="WRJJLM+SimSun"/>
              </a:rPr>
              <a:t>：</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A</a:t>
            </a:r>
            <a:r>
              <a:rPr lang="en-US" sz="2800" b="1" baseline="-25000" dirty="0" smtClean="0">
                <a:solidFill>
                  <a:srgbClr val="000000"/>
                </a:solidFill>
                <a:latin typeface="黑体" panose="02010609060101010101" pitchFamily="49" charset="-122"/>
                <a:ea typeface="黑体" panose="02010609060101010101" pitchFamily="49" charset="-122"/>
                <a:cs typeface="VUMWMV+TimesNewRomanPS-BoldItalicMT"/>
              </a:rPr>
              <a:t>1</a:t>
            </a:r>
            <a:r>
              <a:rPr sz="2800" b="1" i="1" spc="874" dirty="0" smtClean="0">
                <a:solidFill>
                  <a:srgbClr val="000000"/>
                </a:solidFill>
                <a:latin typeface="黑体" panose="02010609060101010101" pitchFamily="49" charset="-122"/>
                <a:ea typeface="黑体" panose="02010609060101010101" pitchFamily="49" charset="-122"/>
                <a:cs typeface="VUMWMV+TimesNewRomanPS-BoldItalicMT"/>
              </a:rPr>
              <a:t> </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A</a:t>
            </a:r>
            <a:r>
              <a:rPr lang="en-US" sz="2800" b="1" baseline="-25000" dirty="0" smtClean="0">
                <a:solidFill>
                  <a:srgbClr val="000000"/>
                </a:solidFill>
                <a:latin typeface="黑体" panose="02010609060101010101" pitchFamily="49" charset="-122"/>
                <a:ea typeface="黑体" panose="02010609060101010101" pitchFamily="49" charset="-122"/>
                <a:cs typeface="VUMWMV+TimesNewRomanPS-BoldItalicMT"/>
              </a:rPr>
              <a:t>2</a:t>
            </a:r>
            <a:r>
              <a:rPr sz="2800" b="1" i="1" spc="848" dirty="0" smtClean="0">
                <a:solidFill>
                  <a:srgbClr val="000000"/>
                </a:solidFill>
                <a:latin typeface="黑体" panose="02010609060101010101" pitchFamily="49" charset="-122"/>
                <a:ea typeface="黑体" panose="02010609060101010101" pitchFamily="49" charset="-122"/>
                <a:cs typeface="VUMWMV+TimesNewRomanPS-BoldItalicMT"/>
              </a:rPr>
              <a:t> </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A</a:t>
            </a:r>
            <a:r>
              <a:rPr lang="en-US" sz="2800" b="1" baseline="-25000" dirty="0" smtClean="0">
                <a:solidFill>
                  <a:srgbClr val="000000"/>
                </a:solidFill>
                <a:latin typeface="黑体" panose="02010609060101010101" pitchFamily="49" charset="-122"/>
                <a:ea typeface="黑体" panose="02010609060101010101" pitchFamily="49" charset="-122"/>
                <a:cs typeface="VUMWMV+TimesNewRomanPS-BoldItalicMT"/>
              </a:rPr>
              <a:t>3</a:t>
            </a:r>
            <a:r>
              <a:rPr sz="2800" b="1" i="1" spc="848" dirty="0" smtClean="0">
                <a:solidFill>
                  <a:srgbClr val="000000"/>
                </a:solidFill>
                <a:latin typeface="黑体" panose="02010609060101010101" pitchFamily="49" charset="-122"/>
                <a:ea typeface="黑体" panose="02010609060101010101" pitchFamily="49" charset="-122"/>
                <a:cs typeface="VUMWMV+TimesNewRomanPS-BoldItalicMT"/>
              </a:rPr>
              <a:t> </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A</a:t>
            </a:r>
            <a:r>
              <a:rPr lang="en-US" sz="2800" b="1" baseline="-25000" dirty="0" smtClean="0">
                <a:solidFill>
                  <a:srgbClr val="000000"/>
                </a:solidFill>
                <a:latin typeface="黑体" panose="02010609060101010101" pitchFamily="49" charset="-122"/>
                <a:ea typeface="黑体" panose="02010609060101010101" pitchFamily="49" charset="-122"/>
                <a:cs typeface="VUMWMV+TimesNewRomanPS-BoldItalicMT"/>
              </a:rPr>
              <a:t>4</a:t>
            </a:r>
            <a:r>
              <a:rPr sz="2800" b="1" i="1" spc="848" dirty="0" smtClean="0">
                <a:solidFill>
                  <a:srgbClr val="000000"/>
                </a:solidFill>
                <a:latin typeface="黑体" panose="02010609060101010101" pitchFamily="49" charset="-122"/>
                <a:ea typeface="黑体" panose="02010609060101010101" pitchFamily="49" charset="-122"/>
                <a:cs typeface="VUMWMV+TimesNewRomanPS-BoldItalicMT"/>
              </a:rPr>
              <a:t> </a:t>
            </a:r>
            <a:r>
              <a:rPr sz="2800" b="1" i="1" dirty="0" smtClean="0">
                <a:solidFill>
                  <a:srgbClr val="000000"/>
                </a:solidFill>
                <a:latin typeface="黑体" panose="02010609060101010101" pitchFamily="49" charset="-122"/>
                <a:ea typeface="黑体" panose="02010609060101010101" pitchFamily="49" charset="-122"/>
                <a:cs typeface="VUMWMV+TimesNewRomanPS-BoldItalicMT"/>
              </a:rPr>
              <a:t>A</a:t>
            </a:r>
            <a:r>
              <a:rPr lang="en-US" sz="2800" b="1" baseline="-25000" dirty="0" smtClean="0">
                <a:solidFill>
                  <a:srgbClr val="000000"/>
                </a:solidFill>
                <a:latin typeface="黑体" panose="02010609060101010101" pitchFamily="49" charset="-122"/>
                <a:ea typeface="黑体" panose="02010609060101010101" pitchFamily="49" charset="-122"/>
                <a:cs typeface="VUMWMV+TimesNewRomanPS-BoldItalicMT"/>
              </a:rPr>
              <a:t>5</a:t>
            </a:r>
            <a:r>
              <a:rPr sz="2800" dirty="0" smtClean="0">
                <a:solidFill>
                  <a:srgbClr val="000000"/>
                </a:solidFill>
                <a:latin typeface="WRJJLM+SimSun"/>
                <a:cs typeface="WRJJLM+SimSun"/>
              </a:rPr>
              <a:t>，</a:t>
            </a:r>
            <a:r>
              <a:rPr sz="2800" dirty="0">
                <a:solidFill>
                  <a:srgbClr val="000000"/>
                </a:solidFill>
                <a:latin typeface="黑体" panose="02010609060101010101" pitchFamily="49" charset="-122"/>
                <a:ea typeface="黑体" panose="02010609060101010101" pitchFamily="49" charset="-122"/>
                <a:cs typeface="WRJJLM+SimSun"/>
              </a:rPr>
              <a:t>其中</a:t>
            </a:r>
          </a:p>
        </p:txBody>
      </p:sp>
      <p:sp>
        <p:nvSpPr>
          <p:cNvPr id="13" name="object 13"/>
          <p:cNvSpPr txBox="1"/>
          <p:nvPr/>
        </p:nvSpPr>
        <p:spPr>
          <a:xfrm>
            <a:off x="421211" y="4379990"/>
            <a:ext cx="8869934" cy="861774"/>
          </a:xfrm>
          <a:prstGeom prst="rect">
            <a:avLst/>
          </a:prstGeom>
        </p:spPr>
        <p:txBody>
          <a:bodyPr vert="horz" wrap="square" lIns="0" tIns="0" rIns="0" bIns="0" rtlCol="0">
            <a:spAutoFit/>
          </a:bodyPr>
          <a:lstStyle/>
          <a:p>
            <a:pPr algn="just">
              <a:spcBef>
                <a:spcPct val="0"/>
              </a:spcBef>
              <a:spcAft>
                <a:spcPct val="0"/>
              </a:spcAft>
            </a:pPr>
            <a:r>
              <a:rPr sz="2800" b="1" dirty="0" err="1">
                <a:solidFill>
                  <a:srgbClr val="C00000"/>
                </a:solidFill>
                <a:latin typeface="黑体" panose="02010609060101010101" pitchFamily="49" charset="-122"/>
                <a:ea typeface="黑体" panose="02010609060101010101" pitchFamily="49" charset="-122"/>
                <a:cs typeface="WRJJLM+SimSun"/>
              </a:rPr>
              <a:t>备忘录</a:t>
            </a:r>
            <a:r>
              <a:rPr sz="2800" spc="12" dirty="0" smtClean="0">
                <a:solidFill>
                  <a:srgbClr val="000000"/>
                </a:solidFill>
                <a:latin typeface="黑体" panose="02010609060101010101" pitchFamily="49" charset="-122"/>
                <a:ea typeface="黑体" panose="02010609060101010101" pitchFamily="49" charset="-122"/>
                <a:cs typeface="WRJJLM+SimSun"/>
              </a:rPr>
              <a:t>：</a:t>
            </a:r>
            <a:r>
              <a:rPr lang="zh-CN" altLang="en-US" sz="2800" b="1" spc="12" dirty="0">
                <a:solidFill>
                  <a:srgbClr val="000000"/>
                </a:solidFill>
                <a:latin typeface="黑体" panose="02010609060101010101" pitchFamily="49" charset="-122"/>
                <a:ea typeface="黑体" panose="02010609060101010101" pitchFamily="49" charset="-122"/>
                <a:cs typeface="WRJJLM+SimSun"/>
              </a:rPr>
              <a:t>存储所有子问题的最小乘法次数及得到这个值的划分位置</a:t>
            </a:r>
            <a:r>
              <a:rPr lang="en-US" altLang="zh-CN" sz="2800" b="1" spc="12" dirty="0" smtClean="0">
                <a:solidFill>
                  <a:srgbClr val="000000"/>
                </a:solidFill>
                <a:latin typeface="黑体" panose="02010609060101010101" pitchFamily="49" charset="-122"/>
                <a:ea typeface="黑体" panose="02010609060101010101" pitchFamily="49" charset="-122"/>
                <a:cs typeface="WRJJLM+SimSun"/>
              </a:rPr>
              <a:t>.</a:t>
            </a:r>
            <a:endParaRPr lang="en-US" altLang="zh-CN" sz="2800" b="1" spc="12" dirty="0">
              <a:solidFill>
                <a:srgbClr val="000000"/>
              </a:solidFill>
              <a:latin typeface="黑体" panose="02010609060101010101" pitchFamily="49" charset="-122"/>
              <a:ea typeface="黑体" panose="02010609060101010101" pitchFamily="49" charset="-122"/>
              <a:cs typeface="WRJJLM+SimSun"/>
            </a:endParaRPr>
          </a:p>
        </p:txBody>
      </p:sp>
      <p:pic>
        <p:nvPicPr>
          <p:cNvPr id="15" name="图片 14"/>
          <p:cNvPicPr>
            <a:picLocks noChangeAspect="1"/>
          </p:cNvPicPr>
          <p:nvPr/>
        </p:nvPicPr>
        <p:blipFill>
          <a:blip r:embed="rId2"/>
          <a:stretch>
            <a:fillRect/>
          </a:stretch>
        </p:blipFill>
        <p:spPr>
          <a:xfrm>
            <a:off x="1698530" y="3246026"/>
            <a:ext cx="5923809" cy="1009524"/>
          </a:xfrm>
          <a:prstGeom prst="rect">
            <a:avLst/>
          </a:prstGeom>
        </p:spPr>
      </p:pic>
    </p:spTree>
    <p:extLst>
      <p:ext uri="{BB962C8B-B14F-4D97-AF65-F5344CB8AC3E}">
        <p14:creationId xmlns:p14="http://schemas.microsoft.com/office/powerpoint/2010/main" val="2259586458"/>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2899257" y="134596"/>
            <a:ext cx="4509277" cy="602729"/>
          </a:xfrm>
          <a:prstGeom prst="rect">
            <a:avLst/>
          </a:prstGeom>
        </p:spPr>
        <p:txBody>
          <a:bodyPr vert="horz" wrap="square" lIns="0" tIns="0" rIns="0" bIns="0" rtlCol="0">
            <a:spAutoFit/>
          </a:bodyPr>
          <a:lstStyle/>
          <a:p>
            <a:pPr>
              <a:lnSpc>
                <a:spcPts val="4710"/>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WRJJLM+SimSun"/>
              </a:rPr>
              <a:t>备忘录</a:t>
            </a:r>
            <a:r>
              <a:rPr sz="4252" spc="1086" dirty="0">
                <a:solidFill>
                  <a:srgbClr val="C00000"/>
                </a:solidFill>
                <a:latin typeface="Times New Roman"/>
                <a:cs typeface="Times New Roman"/>
              </a:rPr>
              <a:t> </a:t>
            </a:r>
            <a:r>
              <a:rPr sz="4000" b="1" i="1" dirty="0">
                <a:solidFill>
                  <a:srgbClr val="C00000"/>
                </a:solidFill>
                <a:latin typeface="Times New Roman" panose="02020603050405020304" pitchFamily="18" charset="0"/>
                <a:cs typeface="Times New Roman" panose="02020603050405020304" pitchFamily="18" charset="0"/>
              </a:rPr>
              <a:t>m</a:t>
            </a:r>
            <a:r>
              <a:rPr sz="4000" b="1" dirty="0">
                <a:solidFill>
                  <a:srgbClr val="C00000"/>
                </a:solidFill>
                <a:latin typeface="Times New Roman" panose="02020603050405020304" pitchFamily="18" charset="0"/>
                <a:cs typeface="Times New Roman" panose="02020603050405020304" pitchFamily="18" charset="0"/>
              </a:rPr>
              <a:t>[</a:t>
            </a:r>
            <a:r>
              <a:rPr sz="4000" b="1" i="1" dirty="0" err="1">
                <a:solidFill>
                  <a:srgbClr val="C00000"/>
                </a:solidFill>
                <a:latin typeface="Times New Roman" panose="02020603050405020304" pitchFamily="18" charset="0"/>
                <a:cs typeface="Times New Roman" panose="02020603050405020304" pitchFamily="18" charset="0"/>
              </a:rPr>
              <a:t>i,j</a:t>
            </a:r>
            <a:r>
              <a:rPr sz="4000" b="1" dirty="0" smtClean="0">
                <a:solidFill>
                  <a:srgbClr val="C00000"/>
                </a:solidFill>
                <a:latin typeface="Times New Roman" panose="02020603050405020304" pitchFamily="18" charset="0"/>
                <a:cs typeface="Times New Roman" panose="02020603050405020304" pitchFamily="18" charset="0"/>
              </a:rPr>
              <a:t>]</a:t>
            </a:r>
            <a:endParaRPr sz="4000" b="1" dirty="0">
              <a:solidFill>
                <a:srgbClr val="000000"/>
              </a:solidFill>
              <a:latin typeface="Times New Roman" panose="02020603050405020304" pitchFamily="18" charset="0"/>
              <a:cs typeface="Times New Roman" panose="02020603050405020304" pitchFamily="18" charset="0"/>
            </a:endParaRPr>
          </a:p>
        </p:txBody>
      </p:sp>
      <p:sp>
        <p:nvSpPr>
          <p:cNvPr id="14" name="object 14"/>
          <p:cNvSpPr txBox="1"/>
          <p:nvPr/>
        </p:nvSpPr>
        <p:spPr>
          <a:xfrm>
            <a:off x="451170" y="4804195"/>
            <a:ext cx="9467212" cy="666849"/>
          </a:xfrm>
          <a:prstGeom prst="rect">
            <a:avLst/>
          </a:prstGeom>
        </p:spPr>
        <p:txBody>
          <a:bodyPr vert="horz" wrap="square" lIns="0" tIns="0" rIns="0" bIns="0" rtlCol="0">
            <a:spAutoFit/>
          </a:bodyPr>
          <a:lstStyle/>
          <a:p>
            <a:pPr>
              <a:lnSpc>
                <a:spcPts val="2601"/>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[2,5]</a:t>
            </a:r>
            <a:r>
              <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min{ </a:t>
            </a:r>
            <a:r>
              <a:rPr sz="2800" b="1" dirty="0" smtClean="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0+2500+35</a:t>
            </a:r>
            <a:r>
              <a:rPr sz="2800" dirty="0" smtClean="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smtClean="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15</a:t>
            </a:r>
            <a:r>
              <a:rPr sz="2800" dirty="0" smtClean="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smtClean="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20</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smtClean="0">
                <a:solidFill>
                  <a:srgbClr val="E46C0A"/>
                </a:solidFill>
                <a:latin typeface="Times New Roman" panose="02020603050405020304" pitchFamily="18" charset="0"/>
                <a:ea typeface="黑体" panose="02010609060101010101" pitchFamily="49" charset="-122"/>
                <a:cs typeface="Times New Roman" panose="02020603050405020304" pitchFamily="18" charset="0"/>
              </a:rPr>
              <a:t>2625+1000+35</a:t>
            </a:r>
            <a:r>
              <a:rPr sz="2800" dirty="0" smtClean="0">
                <a:solidFill>
                  <a:srgbClr val="E46C0A"/>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smtClean="0">
                <a:solidFill>
                  <a:srgbClr val="E46C0A"/>
                </a:solidFill>
                <a:latin typeface="Times New Roman" panose="02020603050405020304" pitchFamily="18" charset="0"/>
                <a:ea typeface="黑体" panose="02010609060101010101" pitchFamily="49" charset="-122"/>
                <a:cs typeface="Times New Roman" panose="02020603050405020304" pitchFamily="18" charset="0"/>
              </a:rPr>
              <a:t>5</a:t>
            </a:r>
            <a:r>
              <a:rPr sz="2800" dirty="0" smtClean="0">
                <a:solidFill>
                  <a:srgbClr val="E46C0A"/>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smtClean="0">
                <a:solidFill>
                  <a:srgbClr val="E46C0A"/>
                </a:solidFill>
                <a:latin typeface="Times New Roman" panose="02020603050405020304" pitchFamily="18" charset="0"/>
                <a:ea typeface="黑体" panose="02010609060101010101" pitchFamily="49" charset="-122"/>
                <a:cs typeface="Times New Roman" panose="02020603050405020304" pitchFamily="18" charset="0"/>
              </a:rPr>
              <a:t>20</a:t>
            </a:r>
            <a:r>
              <a:rPr sz="2800" b="1" dirty="0">
                <a:solidFill>
                  <a:srgbClr val="996633"/>
                </a:solidFill>
                <a:latin typeface="Times New Roman" panose="02020603050405020304" pitchFamily="18" charset="0"/>
                <a:ea typeface="黑体" panose="02010609060101010101" pitchFamily="49" charset="-122"/>
                <a:cs typeface="Times New Roman" panose="02020603050405020304" pitchFamily="18" charset="0"/>
              </a:rPr>
              <a:t>,</a:t>
            </a:r>
          </a:p>
          <a:p>
            <a:pPr marL="1484741">
              <a:lnSpc>
                <a:spcPts val="2551"/>
              </a:lnSpc>
              <a:spcBef>
                <a:spcPct val="0"/>
              </a:spcBef>
              <a:spcAft>
                <a:spcPct val="0"/>
              </a:spcAft>
            </a:pPr>
            <a:r>
              <a:rPr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4375+0+35</a:t>
            </a:r>
            <a:r>
              <a:rPr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10</a:t>
            </a:r>
            <a:r>
              <a:rPr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20</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E36C09"/>
                </a:solidFill>
                <a:latin typeface="Times New Roman" panose="02020603050405020304" pitchFamily="18" charset="0"/>
                <a:ea typeface="黑体" panose="02010609060101010101" pitchFamily="49" charset="-122"/>
                <a:cs typeface="Times New Roman" panose="02020603050405020304" pitchFamily="18" charset="0"/>
              </a:rPr>
              <a:t>7125</a:t>
            </a:r>
          </a:p>
        </p:txBody>
      </p:sp>
      <p:graphicFrame>
        <p:nvGraphicFramePr>
          <p:cNvPr id="2" name="表格 1"/>
          <p:cNvGraphicFramePr>
            <a:graphicFrameLocks noGrp="1"/>
          </p:cNvGraphicFramePr>
          <p:nvPr>
            <p:extLst>
              <p:ext uri="{D42A27DB-BD31-4B8C-83A1-F6EECF244321}">
                <p14:modId xmlns:p14="http://schemas.microsoft.com/office/powerpoint/2010/main" val="2386184632"/>
              </p:ext>
            </p:extLst>
          </p:nvPr>
        </p:nvGraphicFramePr>
        <p:xfrm>
          <a:off x="503724" y="1387239"/>
          <a:ext cx="8750330" cy="2780612"/>
        </p:xfrm>
        <a:graphic>
          <a:graphicData uri="http://schemas.openxmlformats.org/drawingml/2006/table">
            <a:tbl>
              <a:tblPr firstRow="1" bandRow="1">
                <a:tableStyleId>{8799B23B-EC83-4686-B30A-512413B5E67A}</a:tableStyleId>
              </a:tblPr>
              <a:tblGrid>
                <a:gridCol w="703609">
                  <a:extLst>
                    <a:ext uri="{9D8B030D-6E8A-4147-A177-3AD203B41FA5}">
                      <a16:colId xmlns:a16="http://schemas.microsoft.com/office/drawing/2014/main" xmlns="" val="562453850"/>
                    </a:ext>
                  </a:extLst>
                </a:gridCol>
                <a:gridCol w="1699708">
                  <a:extLst>
                    <a:ext uri="{9D8B030D-6E8A-4147-A177-3AD203B41FA5}">
                      <a16:colId xmlns:a16="http://schemas.microsoft.com/office/drawing/2014/main" xmlns="" val="2596399630"/>
                    </a:ext>
                  </a:extLst>
                </a:gridCol>
                <a:gridCol w="1613647">
                  <a:extLst>
                    <a:ext uri="{9D8B030D-6E8A-4147-A177-3AD203B41FA5}">
                      <a16:colId xmlns:a16="http://schemas.microsoft.com/office/drawing/2014/main" xmlns="" val="1147069803"/>
                    </a:ext>
                  </a:extLst>
                </a:gridCol>
                <a:gridCol w="1624405">
                  <a:extLst>
                    <a:ext uri="{9D8B030D-6E8A-4147-A177-3AD203B41FA5}">
                      <a16:colId xmlns:a16="http://schemas.microsoft.com/office/drawing/2014/main" xmlns="" val="3778829319"/>
                    </a:ext>
                  </a:extLst>
                </a:gridCol>
                <a:gridCol w="1601035">
                  <a:extLst>
                    <a:ext uri="{9D8B030D-6E8A-4147-A177-3AD203B41FA5}">
                      <a16:colId xmlns:a16="http://schemas.microsoft.com/office/drawing/2014/main" xmlns="" val="3647410869"/>
                    </a:ext>
                  </a:extLst>
                </a:gridCol>
                <a:gridCol w="1507926">
                  <a:extLst>
                    <a:ext uri="{9D8B030D-6E8A-4147-A177-3AD203B41FA5}">
                      <a16:colId xmlns:a16="http://schemas.microsoft.com/office/drawing/2014/main" xmlns="" val="2537500010"/>
                    </a:ext>
                  </a:extLst>
                </a:gridCol>
              </a:tblGrid>
              <a:tr h="513621">
                <a:tc>
                  <a:txBody>
                    <a:bodyPr/>
                    <a:lstStyle/>
                    <a:p>
                      <a:pPr algn="ctr">
                        <a:lnSpc>
                          <a:spcPct val="150000"/>
                        </a:lnSpc>
                      </a:pPr>
                      <a:r>
                        <a:rPr lang="en-US" altLang="zh-CN" sz="2000" i="0" dirty="0" smtClean="0">
                          <a:latin typeface="Times New Roman" panose="02020603050405020304" pitchFamily="18" charset="0"/>
                          <a:ea typeface="黑体" panose="02010609060101010101" pitchFamily="49" charset="-122"/>
                          <a:cs typeface="Times New Roman" panose="02020603050405020304" pitchFamily="18" charset="0"/>
                        </a:rPr>
                        <a:t>r=1</a:t>
                      </a:r>
                      <a:endParaRPr lang="zh-CN" altLang="en-US" sz="2000" i="0" dirty="0">
                        <a:latin typeface="Times New Roman" panose="02020603050405020304" pitchFamily="18" charset="0"/>
                        <a:ea typeface="黑体" panose="02010609060101010101" pitchFamily="49" charset="-122"/>
                        <a:cs typeface="Times New Roman" panose="02020603050405020304" pitchFamily="18" charset="0"/>
                      </a:endParaRPr>
                    </a:p>
                  </a:txBody>
                  <a:tcPr>
                    <a:solidFill>
                      <a:srgbClr val="00B050"/>
                    </a:solidFill>
                  </a:tcPr>
                </a:tc>
                <a:tc>
                  <a:txBody>
                    <a:bodyPr/>
                    <a:lstStyle/>
                    <a:p>
                      <a:pPr marL="0" algn="l" defTabSz="864017" rtl="0" eaLnBrk="1" latinLnBrk="0" hangingPunct="1">
                        <a:lnSpc>
                          <a:spcPct val="150000"/>
                        </a:lnSpc>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m[1,1]=0</a:t>
                      </a:r>
                      <a:endParaRPr lang="zh-CN" altLang="en-US" sz="2000" b="1" i="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algn="l" defTabSz="864017" rtl="0" eaLnBrk="1" latinLnBrk="0" hangingPunct="1">
                        <a:lnSpc>
                          <a:spcPct val="150000"/>
                        </a:lnSpc>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m[2,2]=0</a:t>
                      </a:r>
                      <a:endParaRPr lang="zh-CN" altLang="en-US" sz="2000" b="1" i="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algn="l" defTabSz="864017" rtl="0" eaLnBrk="1" latinLnBrk="0" hangingPunct="1">
                        <a:lnSpc>
                          <a:spcPct val="150000"/>
                        </a:lnSpc>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m[3,3]=0</a:t>
                      </a:r>
                      <a:endParaRPr lang="zh-CN" altLang="en-US" sz="2000" b="1" i="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algn="l" defTabSz="864017" rtl="0" eaLnBrk="1" latinLnBrk="0" hangingPunct="1">
                        <a:lnSpc>
                          <a:spcPct val="150000"/>
                        </a:lnSpc>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m[4,4]=0</a:t>
                      </a:r>
                      <a:endParaRPr lang="zh-CN" altLang="en-US" sz="2000" b="1" i="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m[5,5]=0</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extLst>
                  <a:ext uri="{0D108BD9-81ED-4DB2-BD59-A6C34878D82A}">
                    <a16:rowId xmlns:a16="http://schemas.microsoft.com/office/drawing/2014/main" xmlns="" val="1521952491"/>
                  </a:ext>
                </a:extLst>
              </a:tr>
              <a:tr h="557993">
                <a:tc>
                  <a:txBody>
                    <a:bodyPr/>
                    <a:lstStyle/>
                    <a:p>
                      <a:pPr marL="0" marR="0" lvl="0" indent="0" algn="ctr" defTabSz="864017"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r=2</a:t>
                      </a:r>
                      <a:endParaRPr kumimoji="0" lang="zh-CN"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txBody>
                  <a:tcPr>
                    <a:solidFill>
                      <a:srgbClr val="00B050"/>
                    </a:solidFill>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m[1,2]=15750</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m[2,3]=2625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m[3,4]=750</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m[4,5]=1000</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nSpc>
                          <a:spcPct val="150000"/>
                        </a:lnSpc>
                      </a:pPr>
                      <a:endParaRPr lang="zh-CN" altLang="en-US" sz="2000"/>
                    </a:p>
                  </a:txBody>
                  <a:tcPr/>
                </a:tc>
                <a:extLst>
                  <a:ext uri="{0D108BD9-81ED-4DB2-BD59-A6C34878D82A}">
                    <a16:rowId xmlns:a16="http://schemas.microsoft.com/office/drawing/2014/main" xmlns="" val="3252713069"/>
                  </a:ext>
                </a:extLst>
              </a:tr>
              <a:tr h="557993">
                <a:tc>
                  <a:txBody>
                    <a:bodyPr/>
                    <a:lstStyle/>
                    <a:p>
                      <a:pPr marL="0" marR="0" lvl="0" indent="0" algn="ctr" defTabSz="864017"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r=3</a:t>
                      </a:r>
                      <a:endParaRPr kumimoji="0" lang="zh-CN"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txBody>
                  <a:tcPr>
                    <a:solidFill>
                      <a:srgbClr val="00B050"/>
                    </a:solidFill>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m[1,3]=7875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m[2,4]=4375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m[3,5]=2500</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nSpc>
                          <a:spcPct val="150000"/>
                        </a:lnSpc>
                      </a:pPr>
                      <a:endParaRPr lang="zh-CN" altLang="en-US" sz="2000" dirty="0"/>
                    </a:p>
                  </a:txBody>
                  <a:tcPr/>
                </a:tc>
                <a:tc>
                  <a:txBody>
                    <a:bodyPr/>
                    <a:lstStyle/>
                    <a:p>
                      <a:pPr>
                        <a:lnSpc>
                          <a:spcPct val="150000"/>
                        </a:lnSpc>
                      </a:pPr>
                      <a:endParaRPr lang="zh-CN" altLang="en-US" sz="2000" dirty="0"/>
                    </a:p>
                  </a:txBody>
                  <a:tcPr/>
                </a:tc>
                <a:extLst>
                  <a:ext uri="{0D108BD9-81ED-4DB2-BD59-A6C34878D82A}">
                    <a16:rowId xmlns:a16="http://schemas.microsoft.com/office/drawing/2014/main" xmlns="" val="2981955692"/>
                  </a:ext>
                </a:extLst>
              </a:tr>
              <a:tr h="557993">
                <a:tc>
                  <a:txBody>
                    <a:bodyPr/>
                    <a:lstStyle/>
                    <a:p>
                      <a:pPr marL="0" marR="0" lvl="0" indent="0" algn="ctr" defTabSz="864017"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r=4</a:t>
                      </a:r>
                      <a:endParaRPr kumimoji="0" lang="zh-CN"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txBody>
                  <a:tcPr>
                    <a:solidFill>
                      <a:srgbClr val="00B050"/>
                    </a:solidFill>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m[1,4]=9375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m[2,5]=7125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nSpc>
                          <a:spcPct val="150000"/>
                        </a:lnSpc>
                      </a:pPr>
                      <a:endParaRPr lang="zh-CN" altLang="en-US" sz="2000" dirty="0"/>
                    </a:p>
                  </a:txBody>
                  <a:tcPr/>
                </a:tc>
                <a:tc>
                  <a:txBody>
                    <a:bodyPr/>
                    <a:lstStyle/>
                    <a:p>
                      <a:pPr>
                        <a:lnSpc>
                          <a:spcPct val="150000"/>
                        </a:lnSpc>
                      </a:pPr>
                      <a:endParaRPr lang="zh-CN" altLang="en-US" sz="2000" dirty="0"/>
                    </a:p>
                  </a:txBody>
                  <a:tcPr/>
                </a:tc>
                <a:tc>
                  <a:txBody>
                    <a:bodyPr/>
                    <a:lstStyle/>
                    <a:p>
                      <a:pPr>
                        <a:lnSpc>
                          <a:spcPct val="150000"/>
                        </a:lnSpc>
                      </a:pPr>
                      <a:endParaRPr lang="zh-CN" altLang="en-US" sz="2000" dirty="0"/>
                    </a:p>
                  </a:txBody>
                  <a:tcPr/>
                </a:tc>
                <a:extLst>
                  <a:ext uri="{0D108BD9-81ED-4DB2-BD59-A6C34878D82A}">
                    <a16:rowId xmlns:a16="http://schemas.microsoft.com/office/drawing/2014/main" xmlns="" val="2609444235"/>
                  </a:ext>
                </a:extLst>
              </a:tr>
              <a:tr h="557993">
                <a:tc>
                  <a:txBody>
                    <a:bodyPr/>
                    <a:lstStyle/>
                    <a:p>
                      <a:pPr marL="0" marR="0" lvl="0" indent="0" algn="ctr" defTabSz="864017"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r=5</a:t>
                      </a:r>
                      <a:endParaRPr kumimoji="0" lang="zh-CN"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txBody>
                  <a:tcPr>
                    <a:solidFill>
                      <a:srgbClr val="00B050"/>
                    </a:solidFill>
                  </a:tcPr>
                </a:tc>
                <a:tc>
                  <a:txBody>
                    <a:bodyPr/>
                    <a:lstStyle/>
                    <a:p>
                      <a:pPr marL="0" marR="0" indent="0" algn="l" defTabSz="864017" rtl="0" eaLnBrk="1" fontAlgn="auto" latinLnBrk="0" hangingPunct="1">
                        <a:lnSpc>
                          <a:spcPct val="150000"/>
                        </a:lnSpc>
                        <a:spcBef>
                          <a:spcPts val="0"/>
                        </a:spcBef>
                        <a:spcAft>
                          <a:spcPts val="0"/>
                        </a:spcAft>
                        <a:buClrTx/>
                        <a:buSzTx/>
                        <a:buFontTx/>
                        <a:buNone/>
                        <a:tabLst/>
                        <a:defRPr/>
                      </a:pPr>
                      <a:r>
                        <a:rPr lang="en-US" altLang="zh-CN"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m[1,5]=11875</a:t>
                      </a:r>
                      <a:endParaRPr lang="zh-CN" altLang="en-US" sz="2000" b="1" i="0" kern="1200"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nSpc>
                          <a:spcPct val="150000"/>
                        </a:lnSpc>
                      </a:pPr>
                      <a:endParaRPr lang="zh-CN" altLang="en-US" sz="2000" dirty="0"/>
                    </a:p>
                  </a:txBody>
                  <a:tcPr/>
                </a:tc>
                <a:tc>
                  <a:txBody>
                    <a:bodyPr/>
                    <a:lstStyle/>
                    <a:p>
                      <a:pPr>
                        <a:lnSpc>
                          <a:spcPct val="150000"/>
                        </a:lnSpc>
                      </a:pPr>
                      <a:endParaRPr lang="zh-CN" altLang="en-US" sz="2000"/>
                    </a:p>
                  </a:txBody>
                  <a:tcPr/>
                </a:tc>
                <a:tc>
                  <a:txBody>
                    <a:bodyPr/>
                    <a:lstStyle/>
                    <a:p>
                      <a:pPr>
                        <a:lnSpc>
                          <a:spcPct val="150000"/>
                        </a:lnSpc>
                      </a:pPr>
                      <a:endParaRPr lang="zh-CN" altLang="en-US" sz="2000" dirty="0"/>
                    </a:p>
                  </a:txBody>
                  <a:tcPr/>
                </a:tc>
                <a:tc>
                  <a:txBody>
                    <a:bodyPr/>
                    <a:lstStyle/>
                    <a:p>
                      <a:pPr>
                        <a:lnSpc>
                          <a:spcPct val="150000"/>
                        </a:lnSpc>
                      </a:pPr>
                      <a:endParaRPr lang="zh-CN" altLang="en-US" sz="2000" dirty="0"/>
                    </a:p>
                  </a:txBody>
                  <a:tcPr/>
                </a:tc>
                <a:extLst>
                  <a:ext uri="{0D108BD9-81ED-4DB2-BD59-A6C34878D82A}">
                    <a16:rowId xmlns:a16="http://schemas.microsoft.com/office/drawing/2014/main" xmlns="" val="2474810121"/>
                  </a:ext>
                </a:extLst>
              </a:tr>
            </a:tbl>
          </a:graphicData>
        </a:graphic>
      </p:graphicFrame>
      <mc:AlternateContent xmlns:mc="http://schemas.openxmlformats.org/markup-compatibility/2006" xmlns:a14="http://schemas.microsoft.com/office/drawing/2010/main">
        <mc:Choice Requires="a14">
          <p:sp>
            <p:nvSpPr>
              <p:cNvPr id="3" name="文本框 2"/>
              <p:cNvSpPr txBox="1"/>
              <p:nvPr/>
            </p:nvSpPr>
            <p:spPr>
              <a:xfrm>
                <a:off x="5252665" y="701421"/>
                <a:ext cx="38247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𝑷</m:t>
                      </m:r>
                      <m:r>
                        <a:rPr lang="en-US" altLang="zh-CN" sz="2400" b="1" i="1" smtClean="0">
                          <a:latin typeface="Cambria Math" panose="02040503050406030204" pitchFamily="18" charset="0"/>
                        </a:rPr>
                        <m:t>=&lt;</m:t>
                      </m:r>
                      <m:r>
                        <a:rPr lang="en-US" altLang="zh-CN" sz="2400" b="1" i="1" smtClean="0">
                          <a:latin typeface="Cambria Math" panose="02040503050406030204" pitchFamily="18" charset="0"/>
                          <a:ea typeface="Cambria Math" panose="02040503050406030204" pitchFamily="18" charset="0"/>
                        </a:rPr>
                        <m:t>𝟑𝟎</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𝟑𝟓</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𝟏𝟓</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𝟓</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𝟏𝟎</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𝟐𝟎</m:t>
                      </m:r>
                      <m:r>
                        <a:rPr lang="en-US" altLang="zh-CN" sz="2400" b="1" i="1" smtClean="0">
                          <a:latin typeface="Cambria Math" panose="02040503050406030204" pitchFamily="18" charset="0"/>
                          <a:ea typeface="Cambria Math" panose="02040503050406030204" pitchFamily="18" charset="0"/>
                        </a:rPr>
                        <m:t>&gt;</m:t>
                      </m:r>
                    </m:oMath>
                  </m:oMathPara>
                </a14:m>
                <a:endParaRPr lang="zh-CN" altLang="en-US" sz="2400" b="1" dirty="0">
                  <a:latin typeface="Times New Roman" panose="02020603050405020304" pitchFamily="18" charset="0"/>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252665" y="701421"/>
                <a:ext cx="3824701" cy="369332"/>
              </a:xfrm>
              <a:prstGeom prst="rect">
                <a:avLst/>
              </a:prstGeom>
              <a:blipFill>
                <a:blip r:embed="rId2"/>
                <a:stretch>
                  <a:fillRect l="-1435" r="-1116" b="-9836"/>
                </a:stretch>
              </a:blipFill>
            </p:spPr>
            <p:txBody>
              <a:bodyPr/>
              <a:lstStyle/>
              <a:p>
                <a:r>
                  <a:rPr lang="zh-CN" altLang="en-US">
                    <a:noFill/>
                  </a:rPr>
                  <a:t> </a:t>
                </a:r>
              </a:p>
            </p:txBody>
          </p:sp>
        </mc:Fallback>
      </mc:AlternateContent>
      <p:sp>
        <p:nvSpPr>
          <p:cNvPr id="4" name="矩形 3"/>
          <p:cNvSpPr/>
          <p:nvPr/>
        </p:nvSpPr>
        <p:spPr>
          <a:xfrm>
            <a:off x="2939315" y="1504022"/>
            <a:ext cx="1570616" cy="37682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09931" y="2613665"/>
            <a:ext cx="1570616" cy="37682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6637467" y="1039223"/>
            <a:ext cx="771067"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165016" y="1082503"/>
            <a:ext cx="155943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928805" y="2049133"/>
            <a:ext cx="1570616" cy="37682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139194" y="2049133"/>
            <a:ext cx="1570616" cy="37682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a:off x="6647977" y="1171778"/>
            <a:ext cx="1074133" cy="538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2928805" y="2622111"/>
            <a:ext cx="1570616" cy="376820"/>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7750482" y="1489917"/>
            <a:ext cx="1503572" cy="376820"/>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a:off x="7923714" y="1281225"/>
            <a:ext cx="807856" cy="768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674256" y="1313670"/>
            <a:ext cx="1502792" cy="905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651712" y="1208567"/>
            <a:ext cx="1074133" cy="538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9300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25" grpId="0" animBg="1"/>
      <p:bldP spid="26" grpId="0" animBg="1"/>
      <p:bldP spid="30" grpId="0" animBg="1"/>
      <p:bldP spid="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1211" y="348687"/>
            <a:ext cx="8869934" cy="602729"/>
          </a:xfrm>
          <a:prstGeom prst="rect">
            <a:avLst/>
          </a:prstGeom>
        </p:spPr>
        <p:txBody>
          <a:bodyPr vert="horz" wrap="square" lIns="0" tIns="0" rIns="0" bIns="0" rtlCol="0">
            <a:spAutoFit/>
          </a:bodyPr>
          <a:lstStyle/>
          <a:p>
            <a:pPr algn="ctr">
              <a:lnSpc>
                <a:spcPts val="4710"/>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标记函数</a:t>
            </a:r>
            <a:r>
              <a:rPr sz="4000" b="1" spc="108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40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s</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40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a:t>
            </a: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40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6" name="object 6"/>
          <p:cNvSpPr txBox="1"/>
          <p:nvPr/>
        </p:nvSpPr>
        <p:spPr>
          <a:xfrm>
            <a:off x="616702" y="3995279"/>
            <a:ext cx="6047650" cy="397545"/>
          </a:xfrm>
          <a:prstGeom prst="rect">
            <a:avLst/>
          </a:prstGeom>
        </p:spPr>
        <p:txBody>
          <a:bodyPr vert="horz" wrap="square" lIns="0" tIns="0" rIns="0" bIns="0" rtlCol="0">
            <a:spAutoFit/>
          </a:bodyPr>
          <a:lstStyle/>
          <a:p>
            <a:pPr>
              <a:lnSpc>
                <a:spcPts val="3125"/>
              </a:lnSpc>
              <a:spcBef>
                <a:spcPct val="0"/>
              </a:spcBef>
              <a:spcAft>
                <a:spcPct val="0"/>
              </a:spcAft>
            </a:pPr>
            <a:r>
              <a:rPr sz="2800" b="1" dirty="0" err="1">
                <a:solidFill>
                  <a:srgbClr val="000000"/>
                </a:solidFill>
                <a:latin typeface="黑体" panose="02010609060101010101" pitchFamily="49" charset="-122"/>
                <a:ea typeface="黑体" panose="02010609060101010101" pitchFamily="49" charset="-122"/>
                <a:cs typeface="WRJJLM+SimSun"/>
              </a:rPr>
              <a:t>解的追踪</a:t>
            </a:r>
            <a:r>
              <a:rPr sz="2800" b="1" dirty="0" smtClean="0">
                <a:solidFill>
                  <a:srgbClr val="000000"/>
                </a:solidFill>
                <a:latin typeface="黑体" panose="02010609060101010101" pitchFamily="49" charset="-122"/>
                <a:ea typeface="黑体" panose="02010609060101010101" pitchFamily="49" charset="-122"/>
                <a:cs typeface="WRJJLM+SimSun"/>
              </a:rPr>
              <a:t>：</a:t>
            </a:r>
            <a:endParaRPr sz="2800" b="1" dirty="0">
              <a:solidFill>
                <a:srgbClr val="000000"/>
              </a:solidFill>
              <a:latin typeface="黑体" panose="02010609060101010101" pitchFamily="49" charset="-122"/>
              <a:ea typeface="黑体" panose="02010609060101010101" pitchFamily="49" charset="-122"/>
              <a:cs typeface="LNAPSE+TimesNewRomanPS-BoldMT"/>
            </a:endParaRPr>
          </a:p>
        </p:txBody>
      </p:sp>
      <p:sp>
        <p:nvSpPr>
          <p:cNvPr id="12" name="object 12"/>
          <p:cNvSpPr txBox="1"/>
          <p:nvPr/>
        </p:nvSpPr>
        <p:spPr>
          <a:xfrm>
            <a:off x="616701" y="4852605"/>
            <a:ext cx="5128482" cy="1115690"/>
          </a:xfrm>
          <a:prstGeom prst="rect">
            <a:avLst/>
          </a:prstGeom>
        </p:spPr>
        <p:txBody>
          <a:bodyPr vert="horz" wrap="square" lIns="0" tIns="0" rIns="0" bIns="0" rtlCol="0">
            <a:spAutoFit/>
          </a:bodyPr>
          <a:lstStyle/>
          <a:p>
            <a:pPr>
              <a:lnSpc>
                <a:spcPts val="2551"/>
              </a:lnSpc>
              <a:spcBef>
                <a:spcPct val="0"/>
              </a:spcBef>
              <a:spcAft>
                <a:spcPct val="0"/>
              </a:spcAft>
            </a:pPr>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输出</a:t>
            </a:r>
            <a:endPar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551"/>
              </a:lnSpc>
              <a:spcBef>
                <a:spcPts val="509"/>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计算顺序</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824"/>
              </a:lnSpc>
              <a:spcBef>
                <a:spcPts val="236"/>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最少的乘法次数</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551" b="1" spc="-13" dirty="0">
              <a:solidFill>
                <a:srgbClr val="000000"/>
              </a:solidFill>
              <a:latin typeface="LNAPSE+TimesNewRomanPS-BoldMT"/>
              <a:cs typeface="LNAPSE+TimesNewRomanPS-BoldMT"/>
            </a:endParaRPr>
          </a:p>
        </p:txBody>
      </p:sp>
      <p:pic>
        <p:nvPicPr>
          <p:cNvPr id="2" name="图片 1"/>
          <p:cNvPicPr>
            <a:picLocks noChangeAspect="1"/>
          </p:cNvPicPr>
          <p:nvPr/>
        </p:nvPicPr>
        <p:blipFill>
          <a:blip r:embed="rId2"/>
          <a:stretch>
            <a:fillRect/>
          </a:stretch>
        </p:blipFill>
        <p:spPr>
          <a:xfrm>
            <a:off x="710306" y="1154571"/>
            <a:ext cx="8291744" cy="2726964"/>
          </a:xfrm>
          <a:prstGeom prst="rect">
            <a:avLst/>
          </a:prstGeom>
        </p:spPr>
      </p:pic>
      <p:pic>
        <p:nvPicPr>
          <p:cNvPr id="16" name="图片 15"/>
          <p:cNvPicPr>
            <a:picLocks noChangeAspect="1"/>
          </p:cNvPicPr>
          <p:nvPr/>
        </p:nvPicPr>
        <p:blipFill rotWithShape="1">
          <a:blip r:embed="rId3"/>
          <a:srcRect b="49703"/>
          <a:stretch/>
        </p:blipFill>
        <p:spPr>
          <a:xfrm>
            <a:off x="2940997" y="3990174"/>
            <a:ext cx="4221339" cy="445192"/>
          </a:xfrm>
          <a:prstGeom prst="rect">
            <a:avLst/>
          </a:prstGeom>
        </p:spPr>
      </p:pic>
      <p:pic>
        <p:nvPicPr>
          <p:cNvPr id="17" name="图片 16"/>
          <p:cNvPicPr>
            <a:picLocks noChangeAspect="1"/>
          </p:cNvPicPr>
          <p:nvPr/>
        </p:nvPicPr>
        <p:blipFill>
          <a:blip r:embed="rId4"/>
          <a:stretch>
            <a:fillRect/>
          </a:stretch>
        </p:blipFill>
        <p:spPr>
          <a:xfrm>
            <a:off x="3445037" y="5099839"/>
            <a:ext cx="2647619" cy="866667"/>
          </a:xfrm>
          <a:prstGeom prst="rect">
            <a:avLst/>
          </a:prstGeom>
        </p:spPr>
      </p:pic>
      <p:pic>
        <p:nvPicPr>
          <p:cNvPr id="8" name="图片 7"/>
          <p:cNvPicPr>
            <a:picLocks noChangeAspect="1"/>
          </p:cNvPicPr>
          <p:nvPr/>
        </p:nvPicPr>
        <p:blipFill rotWithShape="1">
          <a:blip r:embed="rId3"/>
          <a:srcRect t="50302"/>
          <a:stretch/>
        </p:blipFill>
        <p:spPr>
          <a:xfrm>
            <a:off x="2856914" y="4462657"/>
            <a:ext cx="4221339" cy="439886"/>
          </a:xfrm>
          <a:prstGeom prst="rect">
            <a:avLst/>
          </a:prstGeom>
        </p:spPr>
      </p:pic>
      <p:sp>
        <p:nvSpPr>
          <p:cNvPr id="4" name="矩形 3"/>
          <p:cNvSpPr/>
          <p:nvPr/>
        </p:nvSpPr>
        <p:spPr>
          <a:xfrm>
            <a:off x="1776248" y="1933904"/>
            <a:ext cx="1261242" cy="451945"/>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008049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175" y="166002"/>
            <a:ext cx="8560480" cy="551433"/>
          </a:xfrm>
          <a:prstGeom prst="rect">
            <a:avLst/>
          </a:prstGeom>
        </p:spPr>
        <p:txBody>
          <a:bodyPr vert="horz" wrap="square" lIns="0" tIns="0" rIns="0" bIns="0" rtlCol="0">
            <a:spAutoFit/>
          </a:bodyPr>
          <a:lstStyle/>
          <a:p>
            <a:pPr algn="ct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WRJJLM+SimSun"/>
              </a:rPr>
              <a:t>两种实现的比较</a:t>
            </a:r>
            <a:endParaRPr sz="4000" b="1" spc="11" dirty="0">
              <a:solidFill>
                <a:srgbClr val="C00000"/>
              </a:solidFill>
              <a:latin typeface="黑体" panose="02010609060101010101" pitchFamily="49" charset="-122"/>
              <a:ea typeface="黑体" panose="02010609060101010101" pitchFamily="49" charset="-122"/>
              <a:cs typeface="WRJJLM+SimSun"/>
            </a:endParaRPr>
          </a:p>
        </p:txBody>
      </p:sp>
      <p:sp>
        <p:nvSpPr>
          <p:cNvPr id="3" name="object 3"/>
          <p:cNvSpPr txBox="1"/>
          <p:nvPr/>
        </p:nvSpPr>
        <p:spPr>
          <a:xfrm>
            <a:off x="421211" y="1248390"/>
            <a:ext cx="8880444" cy="861774"/>
          </a:xfrm>
          <a:prstGeom prst="rect">
            <a:avLst/>
          </a:prstGeom>
        </p:spPr>
        <p:txBody>
          <a:bodyPr vert="horz" wrap="square" lIns="0" tIns="0" rIns="0" bIns="0" rtlCol="0">
            <a:spAutoFit/>
          </a:bodyPr>
          <a:lstStyle/>
          <a:p>
            <a:pPr>
              <a:spcAft>
                <a:spcPct val="0"/>
              </a:spcAft>
            </a:pP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递归实现：时间复杂性高，空间较小</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迭代实现：</a:t>
            </a: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时间复杂性低，空间消耗多</a:t>
            </a:r>
            <a:endParaRPr sz="28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21212" y="2448379"/>
            <a:ext cx="8880443" cy="1292662"/>
          </a:xfrm>
          <a:prstGeom prst="rect">
            <a:avLst/>
          </a:prstGeom>
        </p:spPr>
        <p:txBody>
          <a:bodyPr vert="horz" wrap="square" lIns="0" tIns="0" rIns="0" bIns="0" rtlCol="0">
            <a:spAutoFit/>
          </a:bodyPr>
          <a:lstStyle/>
          <a:p>
            <a:pPr algn="just">
              <a:spcAft>
                <a:spcPct val="0"/>
              </a:spcAft>
            </a:pP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原因：递归实现子问题多次重复计算</a:t>
            </a:r>
            <a:r>
              <a:rPr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子问题计算次数呈指数增长</a:t>
            </a:r>
            <a:r>
              <a:rPr lang="en-US" altLang="zh-CN"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迭代实现每个子问题只计算一次</a:t>
            </a:r>
            <a:r>
              <a:rPr lang="en-US" altLang="zh-CN"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spcAft>
                <a:spcPct val="0"/>
              </a:spcAft>
            </a:pP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421211" y="3802736"/>
            <a:ext cx="8880443" cy="2154436"/>
          </a:xfrm>
          <a:prstGeom prst="rect">
            <a:avLst/>
          </a:prstGeom>
        </p:spPr>
        <p:txBody>
          <a:bodyPr vert="horz" wrap="square" lIns="0" tIns="0" rIns="0" bIns="0" rtlCol="0">
            <a:spAutoFit/>
          </a:bodyPr>
          <a:lstStyle/>
          <a:p>
            <a:pPr algn="just">
              <a:spcAft>
                <a:spcPct val="0"/>
              </a:spcAft>
            </a:pP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动态规划时间复杂度</a:t>
            </a:r>
            <a:r>
              <a:rPr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备忘录各项计算量之和 </a:t>
            </a:r>
            <a:r>
              <a:rPr lang="en-US" altLang="zh-CN" sz="28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追踪解</a:t>
            </a:r>
            <a:r>
              <a:rPr lang="zh-CN" altLang="en-US" sz="2800" b="1" spc="1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工作量</a:t>
            </a:r>
            <a:endParaRPr lang="en-US" altLang="zh-CN" sz="2800" b="1" spc="1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spcAft>
                <a:spcPct val="0"/>
              </a:spcAft>
            </a:pPr>
            <a:r>
              <a:rPr lang="zh-CN" altLang="en-US"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通常</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追踪工作量不超过计算</a:t>
            </a:r>
            <a:r>
              <a:rPr lang="zh-CN" altLang="en-US"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工作量，</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是问题规模的多项式函数</a:t>
            </a:r>
          </a:p>
          <a:p>
            <a:pPr>
              <a:spcAft>
                <a:spcPct val="0"/>
              </a:spcAft>
            </a:pP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96026063"/>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38278" y="353868"/>
            <a:ext cx="5682308" cy="551433"/>
          </a:xfrm>
          <a:prstGeom prst="rect">
            <a:avLst/>
          </a:prstGeom>
        </p:spPr>
        <p:txBody>
          <a:bodyPr vert="horz" wrap="square" lIns="0" tIns="0" rIns="0" bIns="0" rtlCol="0">
            <a:spAutoFit/>
          </a:bodyPr>
          <a:lstStyle/>
          <a:p>
            <a:pPr>
              <a:lnSpc>
                <a:spcPts val="4254"/>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WRJJLM+SimSun"/>
              </a:rPr>
              <a:t>动态规划算法的要素</a:t>
            </a:r>
            <a:endParaRPr sz="4000" b="1" spc="11" dirty="0">
              <a:solidFill>
                <a:srgbClr val="C00000"/>
              </a:solidFill>
              <a:latin typeface="黑体" panose="02010609060101010101" pitchFamily="49" charset="-122"/>
              <a:ea typeface="黑体" panose="02010609060101010101" pitchFamily="49" charset="-122"/>
              <a:cs typeface="WRJJLM+SimSun"/>
            </a:endParaRPr>
          </a:p>
        </p:txBody>
      </p:sp>
      <p:sp>
        <p:nvSpPr>
          <p:cNvPr id="3" name="object 3"/>
          <p:cNvSpPr txBox="1"/>
          <p:nvPr/>
        </p:nvSpPr>
        <p:spPr>
          <a:xfrm>
            <a:off x="421210" y="1614419"/>
            <a:ext cx="8848913" cy="75661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638" dirty="0">
                <a:solidFill>
                  <a:srgbClr val="000000"/>
                </a:solidFill>
                <a:latin typeface="黑体" panose="02010609060101010101" pitchFamily="49" charset="-122"/>
                <a:ea typeface="黑体" panose="02010609060101010101" pitchFamily="49" charset="-122"/>
                <a:cs typeface="Times New Roman"/>
              </a:rPr>
              <a:t> </a:t>
            </a:r>
            <a:r>
              <a:rPr sz="2800" b="1" dirty="0" err="1">
                <a:solidFill>
                  <a:srgbClr val="C00000"/>
                </a:solidFill>
                <a:latin typeface="黑体" panose="02010609060101010101" pitchFamily="49" charset="-122"/>
                <a:ea typeface="黑体" panose="02010609060101010101" pitchFamily="49" charset="-122"/>
                <a:cs typeface="WRJJLM+SimSun"/>
              </a:rPr>
              <a:t>划分子问题</a:t>
            </a:r>
            <a:r>
              <a:rPr sz="2800" b="1" spc="12" dirty="0" err="1">
                <a:solidFill>
                  <a:srgbClr val="000000"/>
                </a:solidFill>
                <a:latin typeface="黑体" panose="02010609060101010101" pitchFamily="49" charset="-122"/>
                <a:ea typeface="黑体" panose="02010609060101010101" pitchFamily="49" charset="-122"/>
                <a:cs typeface="WRJJLM+SimSun"/>
              </a:rPr>
              <a:t>，确定子问题边界，</a:t>
            </a:r>
            <a:r>
              <a:rPr sz="2800" b="1" spc="12" dirty="0" err="1" smtClean="0">
                <a:solidFill>
                  <a:srgbClr val="000000"/>
                </a:solidFill>
                <a:latin typeface="黑体" panose="02010609060101010101" pitchFamily="49" charset="-122"/>
                <a:ea typeface="黑体" panose="02010609060101010101" pitchFamily="49" charset="-122"/>
                <a:cs typeface="WRJJLM+SimSun"/>
              </a:rPr>
              <a:t>将问</a:t>
            </a:r>
            <a:r>
              <a:rPr sz="2800" b="1" dirty="0" err="1" smtClean="0">
                <a:solidFill>
                  <a:srgbClr val="000000"/>
                </a:solidFill>
                <a:latin typeface="黑体" panose="02010609060101010101" pitchFamily="49" charset="-122"/>
                <a:ea typeface="黑体" panose="02010609060101010101" pitchFamily="49" charset="-122"/>
                <a:cs typeface="WRJJLM+SimSun"/>
              </a:rPr>
              <a:t>题求解转</a:t>
            </a:r>
            <a:r>
              <a:rPr sz="2800" b="1" spc="19" dirty="0" smtClean="0">
                <a:solidFill>
                  <a:srgbClr val="000000"/>
                </a:solidFill>
                <a:latin typeface="黑体" panose="02010609060101010101" pitchFamily="49" charset="-122"/>
                <a:ea typeface="黑体" panose="02010609060101010101" pitchFamily="49" charset="-122"/>
                <a:cs typeface="Times New Roman"/>
              </a:rPr>
              <a:t> </a:t>
            </a:r>
            <a:r>
              <a:rPr sz="2800" b="1" dirty="0" err="1">
                <a:solidFill>
                  <a:srgbClr val="000000"/>
                </a:solidFill>
                <a:latin typeface="黑体" panose="02010609060101010101" pitchFamily="49" charset="-122"/>
                <a:ea typeface="黑体" panose="02010609060101010101" pitchFamily="49" charset="-122"/>
                <a:cs typeface="WRJJLM+SimSun"/>
              </a:rPr>
              <a:t>变成多步判断的过程</a:t>
            </a:r>
            <a:r>
              <a:rPr sz="2800" b="1" dirty="0">
                <a:solidFill>
                  <a:srgbClr val="000000"/>
                </a:solidFill>
                <a:latin typeface="黑体" panose="02010609060101010101" pitchFamily="49" charset="-122"/>
                <a:ea typeface="黑体" panose="02010609060101010101" pitchFamily="49" charset="-122"/>
                <a:cs typeface="LNAPSE+TimesNewRomanPS-BoldMT"/>
              </a:rPr>
              <a:t>.</a:t>
            </a:r>
          </a:p>
        </p:txBody>
      </p:sp>
      <p:sp>
        <p:nvSpPr>
          <p:cNvPr id="4" name="object 4"/>
          <p:cNvSpPr txBox="1"/>
          <p:nvPr/>
        </p:nvSpPr>
        <p:spPr>
          <a:xfrm>
            <a:off x="421212" y="2583070"/>
            <a:ext cx="8848911" cy="75661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638" dirty="0">
                <a:solidFill>
                  <a:srgbClr val="000000"/>
                </a:solidFill>
                <a:latin typeface="黑体" panose="02010609060101010101" pitchFamily="49" charset="-122"/>
                <a:ea typeface="黑体" panose="02010609060101010101" pitchFamily="49" charset="-122"/>
                <a:cs typeface="Times New Roman"/>
              </a:rPr>
              <a:t> </a:t>
            </a:r>
            <a:r>
              <a:rPr sz="2800" b="1" dirty="0" err="1">
                <a:solidFill>
                  <a:srgbClr val="000000"/>
                </a:solidFill>
                <a:latin typeface="黑体" panose="02010609060101010101" pitchFamily="49" charset="-122"/>
                <a:ea typeface="黑体" panose="02010609060101010101" pitchFamily="49" charset="-122"/>
                <a:cs typeface="WRJJLM+SimSun"/>
              </a:rPr>
              <a:t>定义优化函数</a:t>
            </a:r>
            <a:r>
              <a:rPr sz="2800" b="1" dirty="0" err="1">
                <a:solidFill>
                  <a:srgbClr val="000000"/>
                </a:solidFill>
                <a:latin typeface="黑体" panose="02010609060101010101" pitchFamily="49" charset="-122"/>
                <a:ea typeface="黑体" panose="02010609060101010101" pitchFamily="49" charset="-122"/>
                <a:cs typeface="LNAPSE+TimesNewRomanPS-BoldMT"/>
              </a:rPr>
              <a:t>,</a:t>
            </a:r>
            <a:r>
              <a:rPr sz="2800" b="1" spc="11" dirty="0" err="1">
                <a:solidFill>
                  <a:srgbClr val="000000"/>
                </a:solidFill>
                <a:latin typeface="黑体" panose="02010609060101010101" pitchFamily="49" charset="-122"/>
                <a:ea typeface="黑体" panose="02010609060101010101" pitchFamily="49" charset="-122"/>
                <a:cs typeface="WRJJLM+SimSun"/>
              </a:rPr>
              <a:t>以该函数极大</a:t>
            </a:r>
            <a:r>
              <a:rPr sz="2800" b="1" dirty="0">
                <a:solidFill>
                  <a:srgbClr val="000000"/>
                </a:solidFill>
                <a:latin typeface="黑体" panose="02010609060101010101" pitchFamily="49" charset="-122"/>
                <a:ea typeface="黑体" panose="02010609060101010101" pitchFamily="49" charset="-122"/>
                <a:cs typeface="LNAPSE+TimesNewRomanPS-BoldMT"/>
              </a:rPr>
              <a:t>(</a:t>
            </a:r>
            <a:r>
              <a:rPr sz="2800" b="1" spc="12" dirty="0" err="1">
                <a:solidFill>
                  <a:srgbClr val="000000"/>
                </a:solidFill>
                <a:latin typeface="黑体" panose="02010609060101010101" pitchFamily="49" charset="-122"/>
                <a:ea typeface="黑体" panose="02010609060101010101" pitchFamily="49" charset="-122"/>
                <a:cs typeface="WRJJLM+SimSun"/>
              </a:rPr>
              <a:t>或极小</a:t>
            </a:r>
            <a:r>
              <a:rPr sz="2800" b="1" dirty="0" smtClean="0">
                <a:solidFill>
                  <a:srgbClr val="000000"/>
                </a:solidFill>
                <a:latin typeface="黑体" panose="02010609060101010101" pitchFamily="49" charset="-122"/>
                <a:ea typeface="黑体" panose="02010609060101010101" pitchFamily="49" charset="-122"/>
                <a:cs typeface="LNAPSE+TimesNewRomanPS-BoldMT"/>
              </a:rPr>
              <a:t>)</a:t>
            </a:r>
            <a:r>
              <a:rPr sz="2800" b="1" dirty="0" err="1" smtClean="0">
                <a:solidFill>
                  <a:srgbClr val="000000"/>
                </a:solidFill>
                <a:latin typeface="黑体" panose="02010609060101010101" pitchFamily="49" charset="-122"/>
                <a:ea typeface="黑体" panose="02010609060101010101" pitchFamily="49" charset="-122"/>
                <a:cs typeface="WRJJLM+SimSun"/>
              </a:rPr>
              <a:t>值作为依据</a:t>
            </a:r>
            <a:r>
              <a:rPr sz="2800" b="1" dirty="0" err="1">
                <a:solidFill>
                  <a:srgbClr val="000000"/>
                </a:solidFill>
                <a:latin typeface="黑体" panose="02010609060101010101" pitchFamily="49" charset="-122"/>
                <a:ea typeface="黑体" panose="02010609060101010101" pitchFamily="49" charset="-122"/>
                <a:cs typeface="LNAPSE+TimesNewRomanPS-BoldMT"/>
              </a:rPr>
              <a:t>,</a:t>
            </a:r>
            <a:r>
              <a:rPr sz="2800" b="1" spc="15" dirty="0" err="1">
                <a:solidFill>
                  <a:srgbClr val="000000"/>
                </a:solidFill>
                <a:latin typeface="黑体" panose="02010609060101010101" pitchFamily="49" charset="-122"/>
                <a:ea typeface="黑体" panose="02010609060101010101" pitchFamily="49" charset="-122"/>
                <a:cs typeface="WRJJLM+SimSun"/>
              </a:rPr>
              <a:t>确定是否</a:t>
            </a:r>
            <a:r>
              <a:rPr sz="2800" b="1" spc="11" dirty="0" err="1">
                <a:solidFill>
                  <a:srgbClr val="C00000"/>
                </a:solidFill>
                <a:latin typeface="黑体" panose="02010609060101010101" pitchFamily="49" charset="-122"/>
                <a:ea typeface="黑体" panose="02010609060101010101" pitchFamily="49" charset="-122"/>
                <a:cs typeface="WRJJLM+SimSun"/>
              </a:rPr>
              <a:t>满足优化原则</a:t>
            </a:r>
            <a:r>
              <a:rPr sz="2800" b="1" dirty="0">
                <a:solidFill>
                  <a:srgbClr val="000000"/>
                </a:solidFill>
                <a:latin typeface="黑体" panose="02010609060101010101" pitchFamily="49" charset="-122"/>
                <a:ea typeface="黑体" panose="02010609060101010101" pitchFamily="49" charset="-122"/>
                <a:cs typeface="LNAPSE+TimesNewRomanPS-BoldMT"/>
              </a:rPr>
              <a:t>.</a:t>
            </a:r>
          </a:p>
        </p:txBody>
      </p:sp>
      <p:sp>
        <p:nvSpPr>
          <p:cNvPr id="5" name="object 5"/>
          <p:cNvSpPr txBox="1"/>
          <p:nvPr/>
        </p:nvSpPr>
        <p:spPr>
          <a:xfrm>
            <a:off x="421213" y="3474094"/>
            <a:ext cx="8565132" cy="1526059"/>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638" dirty="0">
                <a:solidFill>
                  <a:srgbClr val="000000"/>
                </a:solidFill>
                <a:latin typeface="黑体" panose="02010609060101010101" pitchFamily="49" charset="-122"/>
                <a:ea typeface="黑体" panose="02010609060101010101" pitchFamily="49" charset="-122"/>
                <a:cs typeface="Times New Roman"/>
              </a:rPr>
              <a:t> </a:t>
            </a:r>
            <a:r>
              <a:rPr sz="2800" b="1" dirty="0" err="1">
                <a:solidFill>
                  <a:srgbClr val="000000"/>
                </a:solidFill>
                <a:latin typeface="黑体" panose="02010609060101010101" pitchFamily="49" charset="-122"/>
                <a:ea typeface="黑体" panose="02010609060101010101" pitchFamily="49" charset="-122"/>
                <a:cs typeface="WRJJLM+SimSun"/>
              </a:rPr>
              <a:t>列优化函数的</a:t>
            </a:r>
            <a:r>
              <a:rPr sz="2800" b="1" spc="12" dirty="0" err="1">
                <a:solidFill>
                  <a:srgbClr val="C00000"/>
                </a:solidFill>
                <a:latin typeface="黑体" panose="02010609060101010101" pitchFamily="49" charset="-122"/>
                <a:ea typeface="黑体" panose="02010609060101010101" pitchFamily="49" charset="-122"/>
                <a:cs typeface="WRJJLM+SimSun"/>
              </a:rPr>
              <a:t>递推方程</a:t>
            </a:r>
            <a:r>
              <a:rPr sz="2800" b="1" spc="12" dirty="0" err="1">
                <a:solidFill>
                  <a:srgbClr val="000000"/>
                </a:solidFill>
                <a:latin typeface="黑体" panose="02010609060101010101" pitchFamily="49" charset="-122"/>
                <a:ea typeface="黑体" panose="02010609060101010101" pitchFamily="49" charset="-122"/>
                <a:cs typeface="WRJJLM+SimSun"/>
              </a:rPr>
              <a:t>和边界条件</a:t>
            </a:r>
            <a:endParaRPr sz="2800" b="1" spc="12" dirty="0">
              <a:solidFill>
                <a:srgbClr val="000000"/>
              </a:solidFill>
              <a:latin typeface="黑体" panose="02010609060101010101" pitchFamily="49" charset="-122"/>
              <a:ea typeface="黑体" panose="02010609060101010101" pitchFamily="49" charset="-122"/>
              <a:cs typeface="WRJJLM+SimSun"/>
            </a:endParaRPr>
          </a:p>
          <a:p>
            <a:pPr marL="20317">
              <a:lnSpc>
                <a:spcPts val="2850"/>
              </a:lnSpc>
              <a:spcBef>
                <a:spcPts val="1614"/>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273" dirty="0">
                <a:solidFill>
                  <a:srgbClr val="000000"/>
                </a:solidFill>
                <a:latin typeface="黑体" panose="02010609060101010101" pitchFamily="49" charset="-122"/>
                <a:ea typeface="黑体" panose="02010609060101010101" pitchFamily="49" charset="-122"/>
                <a:cs typeface="Times New Roman"/>
              </a:rPr>
              <a:t> </a:t>
            </a:r>
            <a:r>
              <a:rPr sz="2800" b="1" spc="11" dirty="0" err="1">
                <a:solidFill>
                  <a:srgbClr val="000000"/>
                </a:solidFill>
                <a:latin typeface="黑体" panose="02010609060101010101" pitchFamily="49" charset="-122"/>
                <a:ea typeface="黑体" panose="02010609060101010101" pitchFamily="49" charset="-122"/>
                <a:cs typeface="WRJJLM+SimSun"/>
              </a:rPr>
              <a:t>自底向上计算，设计</a:t>
            </a:r>
            <a:r>
              <a:rPr sz="2800" b="1" spc="12" dirty="0" err="1">
                <a:solidFill>
                  <a:srgbClr val="C00000"/>
                </a:solidFill>
                <a:latin typeface="黑体" panose="02010609060101010101" pitchFamily="49" charset="-122"/>
                <a:ea typeface="黑体" panose="02010609060101010101" pitchFamily="49" charset="-122"/>
                <a:cs typeface="WRJJLM+SimSun"/>
              </a:rPr>
              <a:t>备忘录</a:t>
            </a:r>
            <a:r>
              <a:rPr sz="2800" b="1" spc="24" dirty="0">
                <a:solidFill>
                  <a:srgbClr val="C00000"/>
                </a:solidFill>
                <a:latin typeface="黑体" panose="02010609060101010101" pitchFamily="49" charset="-122"/>
                <a:ea typeface="黑体" panose="02010609060101010101" pitchFamily="49" charset="-122"/>
                <a:cs typeface="Times New Roman"/>
              </a:rPr>
              <a:t> </a:t>
            </a:r>
            <a:r>
              <a:rPr sz="2800" b="1" dirty="0">
                <a:solidFill>
                  <a:srgbClr val="000000"/>
                </a:solidFill>
                <a:latin typeface="黑体" panose="02010609060101010101" pitchFamily="49" charset="-122"/>
                <a:ea typeface="黑体" panose="02010609060101010101" pitchFamily="49" charset="-122"/>
                <a:cs typeface="LNAPSE+TimesNewRomanPS-BoldMT"/>
              </a:rPr>
              <a:t>(</a:t>
            </a:r>
            <a:r>
              <a:rPr sz="2800" b="1" dirty="0" err="1">
                <a:solidFill>
                  <a:srgbClr val="000000"/>
                </a:solidFill>
                <a:latin typeface="黑体" panose="02010609060101010101" pitchFamily="49" charset="-122"/>
                <a:ea typeface="黑体" panose="02010609060101010101" pitchFamily="49" charset="-122"/>
                <a:cs typeface="WRJJLM+SimSun"/>
              </a:rPr>
              <a:t>表格</a:t>
            </a:r>
            <a:r>
              <a:rPr sz="2800" b="1" dirty="0">
                <a:solidFill>
                  <a:srgbClr val="000000"/>
                </a:solidFill>
                <a:latin typeface="黑体" panose="02010609060101010101" pitchFamily="49" charset="-122"/>
                <a:ea typeface="黑体" panose="02010609060101010101" pitchFamily="49" charset="-122"/>
                <a:cs typeface="LNAPSE+TimesNewRomanPS-BoldMT"/>
              </a:rPr>
              <a:t>)</a:t>
            </a:r>
          </a:p>
          <a:p>
            <a:pPr marL="20250">
              <a:lnSpc>
                <a:spcPts val="2850"/>
              </a:lnSpc>
              <a:spcBef>
                <a:spcPts val="1614"/>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580" dirty="0">
                <a:solidFill>
                  <a:srgbClr val="000000"/>
                </a:solidFill>
                <a:latin typeface="黑体" panose="02010609060101010101" pitchFamily="49" charset="-122"/>
                <a:ea typeface="黑体" panose="02010609060101010101" pitchFamily="49" charset="-122"/>
                <a:cs typeface="Times New Roman"/>
              </a:rPr>
              <a:t> </a:t>
            </a:r>
            <a:r>
              <a:rPr sz="2800" b="1" spc="11" dirty="0" err="1">
                <a:solidFill>
                  <a:srgbClr val="000000"/>
                </a:solidFill>
                <a:latin typeface="黑体" panose="02010609060101010101" pitchFamily="49" charset="-122"/>
                <a:ea typeface="黑体" panose="02010609060101010101" pitchFamily="49" charset="-122"/>
                <a:cs typeface="WRJJLM+SimSun"/>
              </a:rPr>
              <a:t>考虑是否需要设立</a:t>
            </a:r>
            <a:r>
              <a:rPr sz="2800" b="1" spc="12" dirty="0" err="1">
                <a:solidFill>
                  <a:srgbClr val="C00000"/>
                </a:solidFill>
                <a:latin typeface="黑体" panose="02010609060101010101" pitchFamily="49" charset="-122"/>
                <a:ea typeface="黑体" panose="02010609060101010101" pitchFamily="49" charset="-122"/>
                <a:cs typeface="WRJJLM+SimSun"/>
              </a:rPr>
              <a:t>标记函数</a:t>
            </a:r>
            <a:endParaRPr sz="2800" b="1" spc="12" dirty="0">
              <a:solidFill>
                <a:srgbClr val="C00000"/>
              </a:solidFill>
              <a:latin typeface="黑体" panose="02010609060101010101" pitchFamily="49" charset="-122"/>
              <a:ea typeface="黑体" panose="02010609060101010101" pitchFamily="49" charset="-122"/>
              <a:cs typeface="WRJJLM+SimSun"/>
            </a:endParaRPr>
          </a:p>
        </p:txBody>
      </p:sp>
      <p:sp>
        <p:nvSpPr>
          <p:cNvPr id="6" name="object 6"/>
          <p:cNvSpPr txBox="1"/>
          <p:nvPr/>
        </p:nvSpPr>
        <p:spPr>
          <a:xfrm>
            <a:off x="421211" y="5175141"/>
            <a:ext cx="8565134"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VJNQJH+ArialMT"/>
              </a:rPr>
              <a:t>•</a:t>
            </a:r>
            <a:r>
              <a:rPr sz="2800" b="1" spc="580" dirty="0">
                <a:solidFill>
                  <a:srgbClr val="000000"/>
                </a:solidFill>
                <a:latin typeface="黑体" panose="02010609060101010101" pitchFamily="49" charset="-122"/>
                <a:ea typeface="黑体" panose="02010609060101010101" pitchFamily="49" charset="-122"/>
                <a:cs typeface="Times New Roman"/>
              </a:rPr>
              <a:t> </a:t>
            </a:r>
            <a:r>
              <a:rPr sz="2800" b="1" spc="11" dirty="0" err="1">
                <a:solidFill>
                  <a:srgbClr val="000000"/>
                </a:solidFill>
                <a:latin typeface="黑体" panose="02010609060101010101" pitchFamily="49" charset="-122"/>
                <a:ea typeface="黑体" panose="02010609060101010101" pitchFamily="49" charset="-122"/>
                <a:cs typeface="WRJJLM+SimSun"/>
              </a:rPr>
              <a:t>用递推方程或备忘录估计</a:t>
            </a:r>
            <a:r>
              <a:rPr sz="2800" b="1" spc="12" dirty="0" err="1">
                <a:solidFill>
                  <a:srgbClr val="C00000"/>
                </a:solidFill>
                <a:latin typeface="黑体" panose="02010609060101010101" pitchFamily="49" charset="-122"/>
                <a:ea typeface="黑体" panose="02010609060101010101" pitchFamily="49" charset="-122"/>
                <a:cs typeface="WRJJLM+SimSun"/>
              </a:rPr>
              <a:t>时间复杂度</a:t>
            </a:r>
            <a:endParaRPr sz="2800" b="1" spc="12" dirty="0">
              <a:solidFill>
                <a:srgbClr val="C00000"/>
              </a:solidFill>
              <a:latin typeface="黑体" panose="02010609060101010101" pitchFamily="49" charset="-122"/>
              <a:ea typeface="黑体" panose="02010609060101010101" pitchFamily="49" charset="-122"/>
              <a:cs typeface="WRJJLM+SimSun"/>
            </a:endParaRPr>
          </a:p>
        </p:txBody>
      </p:sp>
    </p:spTree>
    <p:extLst>
      <p:ext uri="{BB962C8B-B14F-4D97-AF65-F5344CB8AC3E}">
        <p14:creationId xmlns:p14="http://schemas.microsoft.com/office/powerpoint/2010/main" val="4196710020"/>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3137047" y="2563856"/>
            <a:ext cx="4015764" cy="730969"/>
          </a:xfrm>
          <a:prstGeom prst="rect">
            <a:avLst/>
          </a:prstGeom>
        </p:spPr>
        <p:txBody>
          <a:bodyPr vert="horz" wrap="square" lIns="0" tIns="0" rIns="0" bIns="0" rtlCol="0">
            <a:spAutoFit/>
          </a:bodyPr>
          <a:lstStyle/>
          <a:p>
            <a:pPr>
              <a:lnSpc>
                <a:spcPts val="5742"/>
              </a:lnSpc>
              <a:spcBef>
                <a:spcPct val="0"/>
              </a:spcBef>
              <a:spcAft>
                <a:spcPct val="0"/>
              </a:spcAft>
            </a:pPr>
            <a:r>
              <a:rPr sz="6600" spc="15" dirty="0" err="1">
                <a:solidFill>
                  <a:srgbClr val="C00000"/>
                </a:solidFill>
                <a:latin typeface="黑体" panose="02010609060101010101" pitchFamily="49" charset="-122"/>
                <a:ea typeface="黑体" panose="02010609060101010101" pitchFamily="49" charset="-122"/>
                <a:cs typeface="LLNHKL+ËÎÌå"/>
              </a:rPr>
              <a:t>投资问题</a:t>
            </a:r>
            <a:endParaRPr sz="5740" spc="15" dirty="0">
              <a:solidFill>
                <a:srgbClr val="C00000"/>
              </a:solidFill>
              <a:latin typeface="黑体" panose="02010609060101010101" pitchFamily="49" charset="-122"/>
              <a:ea typeface="黑体" panose="02010609060101010101" pitchFamily="49" charset="-122"/>
              <a:cs typeface="LLNHKL+ËÎÌå"/>
            </a:endParaRPr>
          </a:p>
        </p:txBody>
      </p:sp>
    </p:spTree>
    <p:extLst>
      <p:ext uri="{BB962C8B-B14F-4D97-AF65-F5344CB8AC3E}">
        <p14:creationId xmlns:p14="http://schemas.microsoft.com/office/powerpoint/2010/main" val="280086922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479110" y="189302"/>
            <a:ext cx="883305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LLNHKL+ËÎÌå"/>
              </a:rPr>
              <a:t>投资问题的建模</a:t>
            </a:r>
            <a:endParaRPr sz="4000" b="1" dirty="0">
              <a:solidFill>
                <a:srgbClr val="C00000"/>
              </a:solidFill>
              <a:latin typeface="黑体" panose="02010609060101010101" pitchFamily="49" charset="-122"/>
              <a:ea typeface="黑体" panose="02010609060101010101" pitchFamily="49" charset="-122"/>
              <a:cs typeface="LLNHKL+ËÎÌå"/>
            </a:endParaRPr>
          </a:p>
        </p:txBody>
      </p:sp>
      <p:sp>
        <p:nvSpPr>
          <p:cNvPr id="4" name="object 4"/>
          <p:cNvSpPr txBox="1"/>
          <p:nvPr/>
        </p:nvSpPr>
        <p:spPr>
          <a:xfrm>
            <a:off x="316928" y="1219408"/>
            <a:ext cx="9045529" cy="861774"/>
          </a:xfrm>
          <a:prstGeom prst="rect">
            <a:avLst/>
          </a:prstGeom>
        </p:spPr>
        <p:txBody>
          <a:bodyPr vert="horz" wrap="square" lIns="0" tIns="0" rIns="0" bIns="0" rtlCol="0">
            <a:spAutoFit/>
          </a:bodyPr>
          <a:lstStyle/>
          <a:p>
            <a:pPr algn="just">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问题</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i="1" spc="-1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元钱，</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项投资，</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将</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投入第</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个项目的效益</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8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求使得</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总</a:t>
            </a:r>
            <a:r>
              <a:rPr lang="zh-CN" alt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效益</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最大的投资方案</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361231" y="2692514"/>
            <a:ext cx="1461927" cy="333425"/>
          </a:xfrm>
          <a:prstGeom prst="rect">
            <a:avLst/>
          </a:prstGeom>
        </p:spPr>
        <p:txBody>
          <a:bodyPr vert="horz" wrap="square" lIns="0" tIns="0" rIns="0" bIns="0" rtlCol="0">
            <a:spAutoFit/>
          </a:bodyPr>
          <a:lstStyle/>
          <a:p>
            <a:pPr>
              <a:lnSpc>
                <a:spcPts val="2553"/>
              </a:lnSpc>
              <a:spcBef>
                <a:spcPct val="0"/>
              </a:spcBef>
              <a:spcAft>
                <a:spcPct val="0"/>
              </a:spcAft>
            </a:pPr>
            <a:r>
              <a:rPr sz="2800" b="1" spc="13" dirty="0" err="1">
                <a:solidFill>
                  <a:srgbClr val="C00000"/>
                </a:solidFill>
                <a:latin typeface="黑体" panose="02010609060101010101" pitchFamily="49" charset="-122"/>
                <a:ea typeface="黑体" panose="02010609060101010101" pitchFamily="49" charset="-122"/>
                <a:cs typeface="LLNHKL+ËÎÌå"/>
              </a:rPr>
              <a:t>建模</a:t>
            </a:r>
            <a:r>
              <a:rPr sz="2800" b="1" dirty="0">
                <a:solidFill>
                  <a:srgbClr val="000000"/>
                </a:solidFill>
                <a:latin typeface="黑体" panose="02010609060101010101" pitchFamily="49" charset="-122"/>
                <a:ea typeface="黑体" panose="02010609060101010101" pitchFamily="49" charset="-122"/>
                <a:cs typeface="LLNHKL+ËÎÌå"/>
              </a:rPr>
              <a:t>：</a:t>
            </a:r>
          </a:p>
        </p:txBody>
      </p:sp>
      <p:pic>
        <p:nvPicPr>
          <p:cNvPr id="2" name="图片 1"/>
          <p:cNvPicPr>
            <a:picLocks noChangeAspect="1"/>
          </p:cNvPicPr>
          <p:nvPr/>
        </p:nvPicPr>
        <p:blipFill>
          <a:blip r:embed="rId3"/>
          <a:stretch>
            <a:fillRect/>
          </a:stretch>
        </p:blipFill>
        <p:spPr>
          <a:xfrm>
            <a:off x="3182488" y="4235952"/>
            <a:ext cx="4847414" cy="462779"/>
          </a:xfrm>
          <a:prstGeom prst="rect">
            <a:avLst/>
          </a:prstGeom>
        </p:spPr>
      </p:pic>
      <p:pic>
        <p:nvPicPr>
          <p:cNvPr id="23" name="图片 22"/>
          <p:cNvPicPr>
            <a:picLocks noChangeAspect="1"/>
          </p:cNvPicPr>
          <p:nvPr/>
        </p:nvPicPr>
        <p:blipFill>
          <a:blip r:embed="rId4"/>
          <a:stretch>
            <a:fillRect/>
          </a:stretch>
        </p:blipFill>
        <p:spPr>
          <a:xfrm>
            <a:off x="3182488" y="4795457"/>
            <a:ext cx="4381825" cy="483988"/>
          </a:xfrm>
          <a:prstGeom prst="rect">
            <a:avLst/>
          </a:prstGeom>
        </p:spPr>
      </p:pic>
      <p:sp>
        <p:nvSpPr>
          <p:cNvPr id="24" name="矩形 23"/>
          <p:cNvSpPr/>
          <p:nvPr/>
        </p:nvSpPr>
        <p:spPr>
          <a:xfrm>
            <a:off x="1425038" y="4756225"/>
            <a:ext cx="2369193" cy="523220"/>
          </a:xfrm>
          <a:prstGeom prst="rect">
            <a:avLst/>
          </a:prstGeom>
        </p:spPr>
        <p:txBody>
          <a:bodyPr wrap="square">
            <a:spAutoFit/>
          </a:bodyPr>
          <a:lstStyle/>
          <a:p>
            <a:r>
              <a:rPr lang="zh-CN" altLang="en-US" sz="2800" b="1" dirty="0">
                <a:solidFill>
                  <a:srgbClr val="000000"/>
                </a:solidFill>
                <a:latin typeface="黑体" panose="02010609060101010101" pitchFamily="49" charset="-122"/>
                <a:ea typeface="黑体" panose="02010609060101010101" pitchFamily="49" charset="-122"/>
              </a:rPr>
              <a:t>约束条件</a:t>
            </a:r>
            <a:r>
              <a:rPr lang="zh-CN" altLang="en-US" dirty="0"/>
              <a:t> </a:t>
            </a:r>
          </a:p>
        </p:txBody>
      </p:sp>
      <p:sp>
        <p:nvSpPr>
          <p:cNvPr id="25" name="矩形 24"/>
          <p:cNvSpPr/>
          <p:nvPr/>
        </p:nvSpPr>
        <p:spPr>
          <a:xfrm>
            <a:off x="1404732" y="4239623"/>
            <a:ext cx="1627112" cy="451406"/>
          </a:xfrm>
          <a:prstGeom prst="rect">
            <a:avLst/>
          </a:prstGeom>
        </p:spPr>
        <p:txBody>
          <a:bodyPr wrap="none">
            <a:spAutoFit/>
          </a:bodyPr>
          <a:lstStyle/>
          <a:p>
            <a:pPr>
              <a:lnSpc>
                <a:spcPts val="2824"/>
              </a:lnSpc>
              <a:spcBef>
                <a:spcPct val="0"/>
              </a:spcBef>
              <a:spcAft>
                <a:spcPct val="0"/>
              </a:spcAft>
            </a:pPr>
            <a:r>
              <a:rPr lang="zh-CN" altLang="en-US" sz="2800" b="1" spc="12" dirty="0">
                <a:solidFill>
                  <a:srgbClr val="000000"/>
                </a:solidFill>
                <a:latin typeface="黑体" panose="02010609060101010101" pitchFamily="49" charset="-122"/>
                <a:ea typeface="黑体" panose="02010609060101010101" pitchFamily="49" charset="-122"/>
                <a:cs typeface="LLNHKL+ËÎÌå"/>
              </a:rPr>
              <a:t>目标函数</a:t>
            </a:r>
            <a:endParaRPr lang="zh-CN" altLang="en-US" sz="2800" b="1" dirty="0">
              <a:solidFill>
                <a:srgbClr val="000000"/>
              </a:solidFill>
              <a:latin typeface="黑体" panose="02010609060101010101" pitchFamily="49" charset="-122"/>
              <a:ea typeface="黑体" panose="02010609060101010101" pitchFamily="49" charset="-122"/>
              <a:cs typeface="LLNHKL+ËÎÌå"/>
            </a:endParaRPr>
          </a:p>
        </p:txBody>
      </p:sp>
      <mc:AlternateContent xmlns:mc="http://schemas.openxmlformats.org/markup-compatibility/2006" xmlns:a14="http://schemas.microsoft.com/office/drawing/2010/main">
        <mc:Choice Requires="a14">
          <p:sp>
            <p:nvSpPr>
              <p:cNvPr id="26" name="矩形 25"/>
              <p:cNvSpPr/>
              <p:nvPr/>
            </p:nvSpPr>
            <p:spPr>
              <a:xfrm>
                <a:off x="279412" y="3078101"/>
                <a:ext cx="9167127" cy="1384995"/>
              </a:xfrm>
              <a:prstGeom prst="rect">
                <a:avLst/>
              </a:prstGeom>
            </p:spPr>
            <p:txBody>
              <a:bodyPr wrap="square">
                <a:spAutoFit/>
              </a:bodyPr>
              <a:lstStyle/>
              <a:p>
                <a:pPr algn="just">
                  <a:spcBef>
                    <a:spcPct val="0"/>
                  </a:spcBef>
                  <a:spcAft>
                    <a:spcPct val="0"/>
                  </a:spcAft>
                </a:pPr>
                <a:r>
                  <a:rPr lang="zh-CN" altLang="en-US" sz="2800" b="1" spc="12" dirty="0" smtClean="0">
                    <a:solidFill>
                      <a:srgbClr val="000000"/>
                    </a:solidFill>
                    <a:latin typeface="黑体" panose="02010609060101010101" pitchFamily="49" charset="-122"/>
                    <a:ea typeface="黑体" panose="02010609060101010101" pitchFamily="49" charset="-122"/>
                    <a:cs typeface="LLNHKL+ËÎÌå"/>
                  </a:rPr>
                  <a:t>问题的解是向量</a:t>
                </a:r>
                <a:r>
                  <a:rPr lang="zh-CN" altLang="en-US" sz="2800" b="1" spc="-11" dirty="0">
                    <a:solidFill>
                      <a:srgbClr val="000000"/>
                    </a:solidFill>
                    <a:latin typeface="黑体" panose="02010609060101010101" pitchFamily="49" charset="-122"/>
                    <a:ea typeface="黑体" panose="02010609060101010101" pitchFamily="49" charset="-122"/>
                    <a:cs typeface="Times New Roman"/>
                  </a:rPr>
                  <a:t> </a:t>
                </a:r>
                <a14:m>
                  <m:oMath xmlns:m="http://schemas.openxmlformats.org/officeDocument/2006/math">
                    <m:r>
                      <a:rPr lang="en-US" altLang="zh-CN" sz="2800" b="1" i="1" spc="-11">
                        <a:solidFill>
                          <a:srgbClr val="000000"/>
                        </a:solidFill>
                        <a:latin typeface="Cambria Math" panose="02040503050406030204" pitchFamily="18" charset="0"/>
                        <a:ea typeface="Cambria Math" panose="02040503050406030204" pitchFamily="18" charset="0"/>
                        <a:cs typeface="Times New Roman"/>
                      </a:rPr>
                      <m:t>&lt;</m:t>
                    </m:r>
                    <m:sSub>
                      <m:sSubPr>
                        <m:ctrlPr>
                          <a:rPr lang="ar-AE" altLang="zh-CN" sz="2800" b="1" i="1" spc="-11">
                            <a:solidFill>
                              <a:srgbClr val="000000"/>
                            </a:solidFill>
                            <a:latin typeface="Cambria Math"/>
                            <a:ea typeface="Cambria Math" panose="02040503050406030204" pitchFamily="18" charset="0"/>
                            <a:cs typeface="Times New Roman"/>
                          </a:rPr>
                        </m:ctrlPr>
                      </m:sSubPr>
                      <m:e>
                        <m:r>
                          <a:rPr lang="zh-CN" altLang="ar-AE" sz="2800" b="1" i="1" spc="-11">
                            <a:solidFill>
                              <a:srgbClr val="000000"/>
                            </a:solidFill>
                            <a:latin typeface="Cambria Math" panose="02040503050406030204" pitchFamily="18" charset="0"/>
                            <a:ea typeface="Cambria Math" panose="02040503050406030204" pitchFamily="18" charset="0"/>
                            <a:cs typeface="Times New Roman"/>
                          </a:rPr>
                          <m:t>𝒙</m:t>
                        </m:r>
                      </m:e>
                      <m: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𝟏</m:t>
                        </m:r>
                      </m:sub>
                    </m:s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m:t>
                    </m:r>
                    <m:sSub>
                      <m:sSubPr>
                        <m:ctrlPr>
                          <a:rPr lang="ar-AE" altLang="zh-CN" sz="2800" b="1" i="1" spc="-11">
                            <a:solidFill>
                              <a:srgbClr val="000000"/>
                            </a:solidFill>
                            <a:latin typeface="Cambria Math"/>
                            <a:ea typeface="Cambria Math" panose="02040503050406030204" pitchFamily="18" charset="0"/>
                            <a:cs typeface="Times New Roman"/>
                          </a:rPr>
                        </m:ctrlPr>
                      </m:sSubPr>
                      <m:e>
                        <m:r>
                          <a:rPr lang="zh-CN" altLang="ar-AE" sz="2800" b="1" i="1" spc="-11">
                            <a:solidFill>
                              <a:srgbClr val="000000"/>
                            </a:solidFill>
                            <a:latin typeface="Cambria Math" panose="02040503050406030204" pitchFamily="18" charset="0"/>
                            <a:ea typeface="Cambria Math" panose="02040503050406030204" pitchFamily="18" charset="0"/>
                            <a:cs typeface="Times New Roman"/>
                          </a:rPr>
                          <m:t>𝒙</m:t>
                        </m:r>
                      </m:e>
                      <m: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𝟐</m:t>
                        </m:r>
                      </m:sub>
                    </m:s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m:t>
                    </m:r>
                    <m:sSub>
                      <m:sSubPr>
                        <m:ctrlPr>
                          <a:rPr lang="ar-AE" altLang="zh-CN" sz="2800" b="1" i="1" spc="-11">
                            <a:solidFill>
                              <a:srgbClr val="000000"/>
                            </a:solidFill>
                            <a:latin typeface="Cambria Math"/>
                            <a:ea typeface="Cambria Math" panose="02040503050406030204" pitchFamily="18" charset="0"/>
                            <a:cs typeface="Times New Roman"/>
                          </a:rPr>
                        </m:ctrlPr>
                      </m:sSubPr>
                      <m:e>
                        <m:r>
                          <a:rPr lang="zh-CN" altLang="ar-AE" sz="2800" b="1" i="1" spc="-11">
                            <a:solidFill>
                              <a:srgbClr val="000000"/>
                            </a:solidFill>
                            <a:latin typeface="Cambria Math" panose="02040503050406030204" pitchFamily="18" charset="0"/>
                            <a:ea typeface="Cambria Math" panose="02040503050406030204" pitchFamily="18" charset="0"/>
                            <a:cs typeface="Times New Roman"/>
                          </a:rPr>
                          <m:t>𝒙</m:t>
                        </m:r>
                      </m:e>
                      <m: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𝒏</m:t>
                        </m:r>
                      </m:sub>
                    </m:sSub>
                    <m:r>
                      <a:rPr lang="ar-AE" altLang="zh-CN" sz="2800" b="1" i="1" spc="-11">
                        <a:solidFill>
                          <a:srgbClr val="000000"/>
                        </a:solidFill>
                        <a:latin typeface="Cambria Math" panose="02040503050406030204" pitchFamily="18" charset="0"/>
                        <a:ea typeface="Cambria Math" panose="02040503050406030204" pitchFamily="18" charset="0"/>
                        <a:cs typeface="Times New Roman"/>
                      </a:rPr>
                      <m:t>&gt;</m:t>
                    </m:r>
                  </m:oMath>
                </a14:m>
                <a:r>
                  <a:rPr lang="en-US" altLang="zh-CN" sz="2800" b="1" dirty="0" smtClean="0">
                    <a:solidFill>
                      <a:srgbClr val="000000"/>
                    </a:solidFill>
                    <a:latin typeface="黑体" panose="02010609060101010101" pitchFamily="49" charset="-122"/>
                    <a:ea typeface="黑体" panose="02010609060101010101" pitchFamily="49" charset="-122"/>
                    <a:cs typeface="LLNHKL+ËÎÌå"/>
                  </a:rPr>
                  <a:t>,</a:t>
                </a:r>
                <a14:m>
                  <m:oMath xmlns:m="http://schemas.openxmlformats.org/officeDocument/2006/math">
                    <m:r>
                      <a:rPr lang="en-US" altLang="zh-CN" sz="2800" b="1" i="0" spc="-11" smtClean="0">
                        <a:solidFill>
                          <a:srgbClr val="000000"/>
                        </a:solidFill>
                        <a:latin typeface="Cambria Math" panose="02040503050406030204" pitchFamily="18" charset="0"/>
                        <a:ea typeface="Cambria Math" panose="02040503050406030204" pitchFamily="18" charset="0"/>
                        <a:cs typeface="Times New Roman"/>
                      </a:rPr>
                      <m:t> </m:t>
                    </m:r>
                    <m:sSub>
                      <m:sSubPr>
                        <m:ctrlPr>
                          <a:rPr lang="ar-AE" altLang="zh-CN" sz="2800" b="1" i="1" spc="-11">
                            <a:solidFill>
                              <a:srgbClr val="000000"/>
                            </a:solidFill>
                            <a:latin typeface="Cambria Math"/>
                            <a:ea typeface="Cambria Math" panose="02040503050406030204" pitchFamily="18" charset="0"/>
                            <a:cs typeface="Times New Roman"/>
                          </a:rPr>
                        </m:ctrlPr>
                      </m:sSubPr>
                      <m:e>
                        <m:r>
                          <a:rPr lang="zh-CN" altLang="ar-AE" sz="2800" b="1" i="1" spc="-11">
                            <a:solidFill>
                              <a:srgbClr val="000000"/>
                            </a:solidFill>
                            <a:latin typeface="Cambria Math" panose="02040503050406030204" pitchFamily="18" charset="0"/>
                            <a:ea typeface="Cambria Math" panose="02040503050406030204" pitchFamily="18" charset="0"/>
                            <a:cs typeface="Times New Roman"/>
                          </a:rPr>
                          <m:t>𝒙</m:t>
                        </m:r>
                      </m:e>
                      <m:sub>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𝒊</m:t>
                        </m:r>
                      </m:sub>
                    </m:sSub>
                    <m:r>
                      <m:rPr>
                        <m:nor/>
                      </m:rPr>
                      <a:rPr lang="zh-CN" altLang="en-US" sz="2800" b="1" spc="12" dirty="0">
                        <a:solidFill>
                          <a:srgbClr val="000000"/>
                        </a:solidFill>
                        <a:latin typeface="黑体" panose="02010609060101010101" pitchFamily="49" charset="-122"/>
                        <a:ea typeface="黑体" panose="02010609060101010101" pitchFamily="49" charset="-122"/>
                        <a:cs typeface="LLNHKL+ËÎÌå"/>
                      </a:rPr>
                      <m:t>是投给项目</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𝒊</m:t>
                    </m:r>
                    <m:r>
                      <m:rPr>
                        <m:nor/>
                      </m:rPr>
                      <a:rPr lang="zh-CN" altLang="en-US" sz="2800" b="1" spc="13" dirty="0">
                        <a:solidFill>
                          <a:srgbClr val="000000"/>
                        </a:solidFill>
                        <a:latin typeface="黑体" panose="02010609060101010101" pitchFamily="49" charset="-122"/>
                        <a:ea typeface="黑体" panose="02010609060101010101" pitchFamily="49" charset="-122"/>
                        <a:cs typeface="LLNHKL+ËÎÌå"/>
                      </a:rPr>
                      <m:t>的钱数</m:t>
                    </m:r>
                    <m:r>
                      <a:rPr lang="en-US" altLang="zh-CN" sz="2800" b="1" i="1" spc="13" dirty="0" smtClean="0">
                        <a:solidFill>
                          <a:srgbClr val="000000"/>
                        </a:solidFill>
                        <a:latin typeface="Cambria Math" panose="02040503050406030204" pitchFamily="18" charset="0"/>
                        <a:cs typeface="LLNHKL+ËÎÌå"/>
                      </a:rPr>
                      <m:t>, </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𝒊</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𝟏</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𝟐</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m:t>
                    </m:r>
                    <m:r>
                      <a:rPr lang="en-US" altLang="zh-CN" sz="2800" b="1" i="1" spc="-11">
                        <a:solidFill>
                          <a:srgbClr val="000000"/>
                        </a:solidFill>
                        <a:latin typeface="Cambria Math" panose="02040503050406030204" pitchFamily="18" charset="0"/>
                        <a:ea typeface="Cambria Math" panose="02040503050406030204" pitchFamily="18" charset="0"/>
                        <a:cs typeface="Times New Roman"/>
                      </a:rPr>
                      <m:t>𝒏</m:t>
                    </m:r>
                  </m:oMath>
                </a14:m>
                <a:r>
                  <a:rPr lang="en-US" altLang="zh-CN" sz="2800" b="1" dirty="0">
                    <a:solidFill>
                      <a:srgbClr val="000000"/>
                    </a:solidFill>
                    <a:latin typeface="黑体" panose="02010609060101010101" pitchFamily="49" charset="-122"/>
                    <a:ea typeface="黑体" panose="02010609060101010101" pitchFamily="49" charset="-122"/>
                    <a:cs typeface="LLNHKL+ËÎÌå"/>
                  </a:rPr>
                  <a:t>.</a:t>
                </a:r>
              </a:p>
              <a:p>
                <a:pPr>
                  <a:spcBef>
                    <a:spcPct val="0"/>
                  </a:spcBef>
                  <a:spcAft>
                    <a:spcPct val="0"/>
                  </a:spcAft>
                </a:pPr>
                <a:endParaRPr lang="en-US" altLang="zh-CN" sz="2800" b="1" dirty="0">
                  <a:solidFill>
                    <a:srgbClr val="000000"/>
                  </a:solidFill>
                  <a:latin typeface="黑体" panose="02010609060101010101" pitchFamily="49" charset="-122"/>
                  <a:ea typeface="黑体" panose="02010609060101010101" pitchFamily="49" charset="-122"/>
                  <a:cs typeface="LLNHKL+ËÎÌå"/>
                </a:endParaRPr>
              </a:p>
            </p:txBody>
          </p:sp>
        </mc:Choice>
        <mc:Fallback xmlns="">
          <p:sp>
            <p:nvSpPr>
              <p:cNvPr id="26" name="矩形 25"/>
              <p:cNvSpPr>
                <a:spLocks noRot="1" noChangeAspect="1" noMove="1" noResize="1" noEditPoints="1" noAdjustHandles="1" noChangeArrowheads="1" noChangeShapeType="1" noTextEdit="1"/>
              </p:cNvSpPr>
              <p:nvPr/>
            </p:nvSpPr>
            <p:spPr>
              <a:xfrm>
                <a:off x="279412" y="3078101"/>
                <a:ext cx="9167127" cy="1384995"/>
              </a:xfrm>
              <a:prstGeom prst="rect">
                <a:avLst/>
              </a:prstGeom>
              <a:blipFill>
                <a:blip r:embed="rId5"/>
                <a:stretch>
                  <a:fillRect l="-1396" t="-5727"/>
                </a:stretch>
              </a:blipFill>
            </p:spPr>
            <p:txBody>
              <a:bodyPr/>
              <a:lstStyle/>
              <a:p>
                <a:r>
                  <a:rPr lang="zh-CN" altLang="en-US">
                    <a:noFill/>
                  </a:rPr>
                  <a:t> </a:t>
                </a:r>
              </a:p>
            </p:txBody>
          </p:sp>
        </mc:Fallback>
      </mc:AlternateContent>
      <p:sp>
        <p:nvSpPr>
          <p:cNvPr id="5" name="矩形 4"/>
          <p:cNvSpPr/>
          <p:nvPr/>
        </p:nvSpPr>
        <p:spPr>
          <a:xfrm>
            <a:off x="1404732" y="4120055"/>
            <a:ext cx="6887928" cy="12612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05630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P spid="25" grpId="0"/>
      <p:bldP spid="26" grpId="0"/>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9393" y="127643"/>
            <a:ext cx="8849710"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LNHKL+ËÎÌå"/>
              </a:rPr>
              <a:t>实例</a:t>
            </a:r>
            <a:endParaRPr sz="4000" b="1" spc="11" dirty="0">
              <a:solidFill>
                <a:srgbClr val="C00000"/>
              </a:solidFill>
              <a:latin typeface="黑体" panose="02010609060101010101" pitchFamily="49" charset="-122"/>
              <a:ea typeface="黑体" panose="02010609060101010101" pitchFamily="49" charset="-122"/>
              <a:cs typeface="LLNHKL+ËÎÌå"/>
            </a:endParaRPr>
          </a:p>
        </p:txBody>
      </p:sp>
      <p:sp>
        <p:nvSpPr>
          <p:cNvPr id="4" name="object 4"/>
          <p:cNvSpPr txBox="1"/>
          <p:nvPr/>
        </p:nvSpPr>
        <p:spPr>
          <a:xfrm>
            <a:off x="383520" y="1286575"/>
            <a:ext cx="8424150" cy="371897"/>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黑体" panose="02010609060101010101" pitchFamily="49" charset="-122"/>
                <a:ea typeface="黑体" panose="02010609060101010101" pitchFamily="49" charset="-122"/>
                <a:cs typeface="BBJPAF+Arial"/>
              </a:rPr>
              <a:t>•</a:t>
            </a:r>
            <a:r>
              <a:rPr sz="2800" b="1" spc="1339" dirty="0">
                <a:solidFill>
                  <a:srgbClr val="000000"/>
                </a:solidFill>
                <a:latin typeface="黑体" panose="02010609060101010101" pitchFamily="49" charset="-122"/>
                <a:ea typeface="黑体" panose="02010609060101010101" pitchFamily="49" charset="-122"/>
                <a:cs typeface="Times New Roman"/>
              </a:rPr>
              <a:t> </a:t>
            </a:r>
            <a:r>
              <a:rPr sz="2800" b="1" spc="13" dirty="0">
                <a:solidFill>
                  <a:srgbClr val="000000"/>
                </a:solidFill>
                <a:latin typeface="黑体" panose="02010609060101010101" pitchFamily="49" charset="-122"/>
                <a:ea typeface="黑体" panose="02010609060101010101" pitchFamily="49" charset="-122"/>
                <a:cs typeface="LLNHKL+ËÎÌå"/>
              </a:rPr>
              <a:t>实例：</a:t>
            </a:r>
            <a:r>
              <a:rPr sz="2800" b="1" dirty="0">
                <a:solidFill>
                  <a:srgbClr val="000000"/>
                </a:solidFill>
                <a:latin typeface="黑体" panose="02010609060101010101" pitchFamily="49" charset="-122"/>
                <a:ea typeface="黑体" panose="02010609060101010101" pitchFamily="49" charset="-122"/>
                <a:cs typeface="JCOEFB+Times New Roman,Bold"/>
              </a:rPr>
              <a:t>5</a:t>
            </a:r>
            <a:r>
              <a:rPr sz="2800" b="1" spc="13" dirty="0">
                <a:solidFill>
                  <a:srgbClr val="000000"/>
                </a:solidFill>
                <a:latin typeface="黑体" panose="02010609060101010101" pitchFamily="49" charset="-122"/>
                <a:ea typeface="黑体" panose="02010609060101010101" pitchFamily="49" charset="-122"/>
                <a:cs typeface="LLNHKL+ËÎÌå"/>
              </a:rPr>
              <a:t>万元钱，</a:t>
            </a:r>
            <a:r>
              <a:rPr sz="2800" b="1" dirty="0">
                <a:solidFill>
                  <a:srgbClr val="000000"/>
                </a:solidFill>
                <a:latin typeface="黑体" panose="02010609060101010101" pitchFamily="49" charset="-122"/>
                <a:ea typeface="黑体" panose="02010609060101010101" pitchFamily="49" charset="-122"/>
                <a:cs typeface="JCOEFB+Times New Roman,Bold"/>
              </a:rPr>
              <a:t>4</a:t>
            </a:r>
            <a:r>
              <a:rPr sz="2800" b="1" spc="12" dirty="0">
                <a:solidFill>
                  <a:srgbClr val="000000"/>
                </a:solidFill>
                <a:latin typeface="黑体" panose="02010609060101010101" pitchFamily="49" charset="-122"/>
                <a:ea typeface="黑体" panose="02010609060101010101" pitchFamily="49" charset="-122"/>
                <a:cs typeface="LLNHKL+ËÎÌå"/>
              </a:rPr>
              <a:t>个项目</a:t>
            </a:r>
          </a:p>
        </p:txBody>
      </p:sp>
      <p:sp>
        <p:nvSpPr>
          <p:cNvPr id="5" name="object 5"/>
          <p:cNvSpPr txBox="1"/>
          <p:nvPr/>
        </p:nvSpPr>
        <p:spPr>
          <a:xfrm>
            <a:off x="884583" y="1759919"/>
            <a:ext cx="3415051"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a:solidFill>
                  <a:srgbClr val="000000"/>
                </a:solidFill>
                <a:latin typeface="黑体" panose="02010609060101010101" pitchFamily="49" charset="-122"/>
                <a:ea typeface="黑体" panose="02010609060101010101" pitchFamily="49" charset="-122"/>
                <a:cs typeface="LLNHKL+ËÎÌå"/>
              </a:rPr>
              <a:t>效益函数如下表所示</a:t>
            </a:r>
          </a:p>
        </p:txBody>
      </p:sp>
      <p:pic>
        <p:nvPicPr>
          <p:cNvPr id="2" name="图片 1"/>
          <p:cNvPicPr>
            <a:picLocks noChangeAspect="1"/>
          </p:cNvPicPr>
          <p:nvPr/>
        </p:nvPicPr>
        <p:blipFill>
          <a:blip r:embed="rId2"/>
          <a:stretch>
            <a:fillRect/>
          </a:stretch>
        </p:blipFill>
        <p:spPr>
          <a:xfrm>
            <a:off x="1477883" y="2278795"/>
            <a:ext cx="6851734" cy="3601338"/>
          </a:xfrm>
          <a:prstGeom prst="rect">
            <a:avLst/>
          </a:prstGeom>
        </p:spPr>
      </p:pic>
    </p:spTree>
    <p:extLst>
      <p:ext uri="{BB962C8B-B14F-4D97-AF65-F5344CB8AC3E}">
        <p14:creationId xmlns:p14="http://schemas.microsoft.com/office/powerpoint/2010/main" val="641533287"/>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4236" y="237946"/>
            <a:ext cx="8673336"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LNHKL+ËÎÌå"/>
              </a:rPr>
              <a:t>子问题界定和计算顺序</a:t>
            </a:r>
            <a:endParaRPr sz="4000" b="1" spc="11" dirty="0">
              <a:solidFill>
                <a:srgbClr val="C00000"/>
              </a:solidFill>
              <a:latin typeface="黑体" panose="02010609060101010101" pitchFamily="49" charset="-122"/>
              <a:ea typeface="黑体" panose="02010609060101010101" pitchFamily="49" charset="-122"/>
              <a:cs typeface="LLNHKL+ËÎÌå"/>
            </a:endParaRPr>
          </a:p>
        </p:txBody>
      </p:sp>
      <p:sp>
        <p:nvSpPr>
          <p:cNvPr id="4" name="object 4"/>
          <p:cNvSpPr txBox="1"/>
          <p:nvPr/>
        </p:nvSpPr>
        <p:spPr>
          <a:xfrm>
            <a:off x="438242" y="1206104"/>
            <a:ext cx="8779330" cy="1292662"/>
          </a:xfrm>
          <a:prstGeom prst="rect">
            <a:avLst/>
          </a:prstGeom>
        </p:spPr>
        <p:txBody>
          <a:bodyPr vert="horz" wrap="square" lIns="0" tIns="0" rIns="0" bIns="0" rtlCol="0">
            <a:spAutoFit/>
          </a:bodyPr>
          <a:lstStyle/>
          <a:p>
            <a:pPr>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子问题界定：由参数</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界定</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457200">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：考虑对项目</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1, 2, ...,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的投资</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457200">
              <a:spcAft>
                <a:spcPct val="0"/>
              </a:spcAft>
            </a:pP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：投资总钱数不超过</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p>
        </p:txBody>
      </p:sp>
      <p:sp>
        <p:nvSpPr>
          <p:cNvPr id="5" name="object 5"/>
          <p:cNvSpPr txBox="1"/>
          <p:nvPr/>
        </p:nvSpPr>
        <p:spPr>
          <a:xfrm>
            <a:off x="1101786" y="2849527"/>
            <a:ext cx="8009792"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smtClean="0">
                <a:solidFill>
                  <a:srgbClr val="0070C0"/>
                </a:solidFill>
                <a:latin typeface="黑体" panose="02010609060101010101" pitchFamily="49" charset="-122"/>
                <a:ea typeface="黑体" panose="02010609060101010101" pitchFamily="49" charset="-122"/>
                <a:cs typeface="LLNHKL+ËÎÌå"/>
              </a:rPr>
              <a:t>这两个参数与矩阵链相乘问题的参数有什么区别</a:t>
            </a:r>
            <a:r>
              <a:rPr sz="2551" b="1" dirty="0">
                <a:solidFill>
                  <a:srgbClr val="0070C0"/>
                </a:solidFill>
                <a:latin typeface="JCOEFB+Times New Roman,Bold"/>
                <a:cs typeface="JCOEFB+Times New Roman,Bold"/>
              </a:rPr>
              <a:t>?</a:t>
            </a:r>
          </a:p>
        </p:txBody>
      </p:sp>
      <p:sp>
        <p:nvSpPr>
          <p:cNvPr id="6" name="object 6"/>
          <p:cNvSpPr txBox="1"/>
          <p:nvPr/>
        </p:nvSpPr>
        <p:spPr>
          <a:xfrm>
            <a:off x="438242" y="3729653"/>
            <a:ext cx="7159827" cy="861774"/>
          </a:xfrm>
          <a:prstGeom prst="rect">
            <a:avLst/>
          </a:prstGeom>
        </p:spPr>
        <p:txBody>
          <a:bodyPr vert="horz" wrap="square" lIns="0" tIns="0" rIns="0" bIns="0" rtlCol="0">
            <a:spAutoFit/>
          </a:bodyPr>
          <a:lstStyle/>
          <a:p>
            <a:pPr>
              <a:spcAft>
                <a:spcPct val="0"/>
              </a:spcAft>
            </a:pP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原始输入：</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4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p>
          <a:p>
            <a:pPr>
              <a:spcAft>
                <a:spcPct val="0"/>
              </a:spcAft>
            </a:pPr>
            <a:r>
              <a:rPr sz="2800" spc="12"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子问题计算顺序</a:t>
            </a:r>
            <a:r>
              <a:rPr sz="2800" spc="12" dirty="0" err="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1, 2, ... , </a:t>
            </a:r>
            <a:r>
              <a:rPr sz="28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a:t>
            </a:r>
          </a:p>
        </p:txBody>
      </p:sp>
      <p:sp>
        <p:nvSpPr>
          <p:cNvPr id="7" name="object 7"/>
          <p:cNvSpPr txBox="1"/>
          <p:nvPr/>
        </p:nvSpPr>
        <p:spPr>
          <a:xfrm>
            <a:off x="1419400" y="4621405"/>
            <a:ext cx="7511590" cy="359073"/>
          </a:xfrm>
          <a:prstGeom prst="rect">
            <a:avLst/>
          </a:prstGeom>
        </p:spPr>
        <p:txBody>
          <a:bodyPr vert="horz" wrap="square" lIns="0" tIns="0" rIns="0" bIns="0" rtlCol="0">
            <a:spAutoFit/>
          </a:bodyPr>
          <a:lstStyle/>
          <a:p>
            <a:pPr>
              <a:lnSpc>
                <a:spcPts val="2824"/>
              </a:lnSpc>
              <a:spcBef>
                <a:spcPct val="0"/>
              </a:spcBef>
              <a:spcAft>
                <a:spcPct val="0"/>
              </a:spcAft>
            </a:pPr>
            <a:r>
              <a:rPr sz="2800" spc="12"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对于给定的</a:t>
            </a:r>
            <a:r>
              <a:rPr sz="2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k</a:t>
            </a:r>
            <a:r>
              <a:rPr sz="2800" spc="12"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x</a:t>
            </a:r>
            <a:r>
              <a:rPr sz="28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1, 2, ... , </a:t>
            </a:r>
            <a:r>
              <a:rPr sz="28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m</a:t>
            </a:r>
          </a:p>
        </p:txBody>
      </p:sp>
      <p:pic>
        <p:nvPicPr>
          <p:cNvPr id="2" name="图片 1"/>
          <p:cNvPicPr>
            <a:picLocks noChangeAspect="1"/>
          </p:cNvPicPr>
          <p:nvPr/>
        </p:nvPicPr>
        <p:blipFill>
          <a:blip r:embed="rId2"/>
          <a:stretch>
            <a:fillRect/>
          </a:stretch>
        </p:blipFill>
        <p:spPr>
          <a:xfrm>
            <a:off x="352903" y="2601953"/>
            <a:ext cx="748883" cy="887027"/>
          </a:xfrm>
          <a:prstGeom prst="rect">
            <a:avLst/>
          </a:prstGeom>
        </p:spPr>
      </p:pic>
    </p:spTree>
    <p:extLst>
      <p:ext uri="{BB962C8B-B14F-4D97-AF65-F5344CB8AC3E}">
        <p14:creationId xmlns:p14="http://schemas.microsoft.com/office/powerpoint/2010/main" val="30075998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83215" y="213530"/>
            <a:ext cx="868690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LNHKL+ËÎÌå"/>
              </a:rPr>
              <a:t>优化函数的递推方程</a:t>
            </a:r>
            <a:endParaRPr sz="4000" b="1" spc="11" dirty="0">
              <a:solidFill>
                <a:srgbClr val="C00000"/>
              </a:solidFill>
              <a:latin typeface="黑体" panose="02010609060101010101" pitchFamily="49" charset="-122"/>
              <a:ea typeface="黑体" panose="02010609060101010101" pitchFamily="49" charset="-122"/>
              <a:cs typeface="LLNHKL+ËÎÌå"/>
            </a:endParaRPr>
          </a:p>
        </p:txBody>
      </p:sp>
      <p:sp>
        <p:nvSpPr>
          <p:cNvPr id="4" name="object 4"/>
          <p:cNvSpPr txBox="1"/>
          <p:nvPr/>
        </p:nvSpPr>
        <p:spPr>
          <a:xfrm>
            <a:off x="604274" y="1240617"/>
            <a:ext cx="8508196" cy="359073"/>
          </a:xfrm>
          <a:prstGeom prst="rect">
            <a:avLst/>
          </a:prstGeom>
        </p:spPr>
        <p:txBody>
          <a:bodyPr vert="horz" wrap="square" lIns="0" tIns="0" rIns="0" bIns="0" rtlCol="0">
            <a:spAutoFit/>
          </a:bodyPr>
          <a:lstStyle/>
          <a:p>
            <a:pPr>
              <a:lnSpc>
                <a:spcPts val="2828"/>
              </a:lnSpc>
              <a:spcBef>
                <a:spcPct val="0"/>
              </a:spcBef>
              <a:spcAft>
                <a:spcPct val="0"/>
              </a:spcAft>
            </a:pP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b="1" i="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3"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元钱投给前</a:t>
            </a:r>
            <a:r>
              <a:rPr lang="en-US" sz="2800"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个项目最大效益</a:t>
            </a:r>
            <a:endParaRPr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object 6"/>
              <p:cNvSpPr txBox="1"/>
              <p:nvPr/>
            </p:nvSpPr>
            <p:spPr>
              <a:xfrm>
                <a:off x="563973" y="1844530"/>
                <a:ext cx="8550274" cy="861774"/>
              </a:xfrm>
              <a:prstGeom prst="rect">
                <a:avLst/>
              </a:prstGeom>
            </p:spPr>
            <p:txBody>
              <a:bodyPr vert="horz" wrap="square" lIns="0" tIns="0" rIns="0" bIns="0" rtlCol="0">
                <a:spAutoFit/>
              </a:bodyPr>
              <a:lstStyle/>
              <a:p>
                <a:pPr>
                  <a:spcBef>
                    <a:spcPct val="0"/>
                  </a:spcBef>
                  <a:spcAft>
                    <a:spcPct val="0"/>
                  </a:spcAft>
                </a:pPr>
                <a:r>
                  <a:rPr lang="zh-CN" altLang="en-US" sz="2800" b="1" spc="12"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多步判断</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：若知道</a:t>
                </a:r>
                <a:r>
                  <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800" b="1" i="1" dirty="0">
                        <a:solidFill>
                          <a:srgbClr val="000000"/>
                        </a:solidFill>
                        <a:latin typeface="Cambria Math" panose="02040503050406030204" pitchFamily="18" charset="0"/>
                        <a:cs typeface="JCOEFB+Times New Roman,Bold"/>
                      </a:rPr>
                      <m:t>𝒑</m:t>
                    </m:r>
                  </m:oMath>
                </a14:m>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钱</a:t>
                </a:r>
                <a:r>
                  <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2800" b="1" i="1" dirty="0">
                        <a:solidFill>
                          <a:srgbClr val="000000"/>
                        </a:solidFill>
                        <a:latin typeface="Cambria Math" panose="02040503050406030204" pitchFamily="18" charset="0"/>
                        <a:cs typeface="JCOEFB+Times New Roman,Bold"/>
                      </a:rPr>
                      <m:t>𝒑</m:t>
                    </m:r>
                    <m:r>
                      <a:rPr lang="zh-CN" altLang="en-US" sz="2800" b="1" i="1" dirty="0" smtClean="0">
                        <a:solidFill>
                          <a:srgbClr val="000000"/>
                        </a:solidFill>
                        <a:latin typeface="Cambria Math" panose="02040503050406030204" pitchFamily="18" charset="0"/>
                        <a:ea typeface="Cambria Math" panose="02040503050406030204" pitchFamily="18" charset="0"/>
                        <a:cs typeface="JCOEFB+Times New Roman,Bold"/>
                      </a:rPr>
                      <m:t>≤</m:t>
                    </m:r>
                    <m:r>
                      <a:rPr lang="zh-CN" altLang="en-US" sz="2800" b="1" i="1" dirty="0" smtClean="0">
                        <a:solidFill>
                          <a:srgbClr val="000000"/>
                        </a:solidFill>
                        <a:latin typeface="Cambria Math" panose="02040503050406030204" pitchFamily="18" charset="0"/>
                        <a:ea typeface="Cambria Math" panose="02040503050406030204" pitchFamily="18" charset="0"/>
                        <a:cs typeface="JCOEFB+Times New Roman,Bold"/>
                      </a:rPr>
                      <m:t>𝒙</m:t>
                    </m:r>
                  </m:oMath>
                </a14:m>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投</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给</a:t>
                </a:r>
                <a:r>
                  <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前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lang="en-US" altLang="zh-CN" sz="2800" spc="1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项目的最大</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效益</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b="1" i="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k-1</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2800" b="1" i="1" dirty="0">
                        <a:solidFill>
                          <a:srgbClr val="000000"/>
                        </a:solidFill>
                        <a:latin typeface="Cambria Math" panose="02040503050406030204" pitchFamily="18" charset="0"/>
                        <a:cs typeface="JCOEFB+Times New Roman,Bold"/>
                      </a:rPr>
                      <m:t>𝒑</m:t>
                    </m:r>
                  </m:oMath>
                </a14:m>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确定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钱投给</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前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项目的</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方案</a:t>
                </a:r>
                <a:r>
                  <a:rPr lang="en-US" altLang="zh-CN"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6" name="object 6"/>
              <p:cNvSpPr txBox="1">
                <a:spLocks noRot="1" noChangeAspect="1" noMove="1" noResize="1" noEditPoints="1" noAdjustHandles="1" noChangeArrowheads="1" noChangeShapeType="1" noTextEdit="1"/>
              </p:cNvSpPr>
              <p:nvPr/>
            </p:nvSpPr>
            <p:spPr>
              <a:xfrm>
                <a:off x="563973" y="1844530"/>
                <a:ext cx="8550274" cy="861774"/>
              </a:xfrm>
              <a:prstGeom prst="rect">
                <a:avLst/>
              </a:prstGeom>
              <a:blipFill>
                <a:blip r:embed="rId3"/>
                <a:stretch>
                  <a:fillRect l="-2568" t="-14894" r="-999" b="-24823"/>
                </a:stretch>
              </a:blipFill>
            </p:spPr>
            <p:txBody>
              <a:bodyPr/>
              <a:lstStyle/>
              <a:p>
                <a:r>
                  <a:rPr lang="zh-CN" altLang="en-US">
                    <a:noFill/>
                  </a:rPr>
                  <a:t> </a:t>
                </a:r>
              </a:p>
            </p:txBody>
          </p:sp>
        </mc:Fallback>
      </mc:AlternateContent>
      <p:sp>
        <p:nvSpPr>
          <p:cNvPr id="10" name="object 10"/>
          <p:cNvSpPr txBox="1"/>
          <p:nvPr/>
        </p:nvSpPr>
        <p:spPr>
          <a:xfrm>
            <a:off x="538179" y="3429244"/>
            <a:ext cx="3415375" cy="333425"/>
          </a:xfrm>
          <a:prstGeom prst="rect">
            <a:avLst/>
          </a:prstGeom>
        </p:spPr>
        <p:txBody>
          <a:bodyPr vert="horz" wrap="square" lIns="0" tIns="0" rIns="0" bIns="0" rtlCol="0">
            <a:spAutoFit/>
          </a:bodyPr>
          <a:lstStyle/>
          <a:p>
            <a:pPr>
              <a:lnSpc>
                <a:spcPts val="2553"/>
              </a:lnSpc>
              <a:spcBef>
                <a:spcPct val="0"/>
              </a:spcBef>
              <a:spcAft>
                <a:spcPct val="0"/>
              </a:spcAft>
            </a:pPr>
            <a:r>
              <a:rPr sz="2800" b="1" spc="12" dirty="0" err="1">
                <a:solidFill>
                  <a:srgbClr val="C00000"/>
                </a:solidFill>
                <a:latin typeface="黑体" panose="02010609060101010101" pitchFamily="49" charset="-122"/>
                <a:ea typeface="黑体" panose="02010609060101010101" pitchFamily="49" charset="-122"/>
                <a:cs typeface="LLNHKL+ËÎÌå"/>
              </a:rPr>
              <a:t>递推方程和边界条件</a:t>
            </a:r>
            <a:endParaRPr sz="2800" b="1" spc="12" dirty="0">
              <a:solidFill>
                <a:srgbClr val="C00000"/>
              </a:solidFill>
              <a:latin typeface="黑体" panose="02010609060101010101" pitchFamily="49" charset="-122"/>
              <a:ea typeface="黑体" panose="02010609060101010101" pitchFamily="49" charset="-122"/>
              <a:cs typeface="LLNHKL+ËÎÌå"/>
            </a:endParaRPr>
          </a:p>
        </p:txBody>
      </p:sp>
      <p:pic>
        <p:nvPicPr>
          <p:cNvPr id="2" name="图片 1"/>
          <p:cNvPicPr>
            <a:picLocks noChangeAspect="1"/>
          </p:cNvPicPr>
          <p:nvPr/>
        </p:nvPicPr>
        <p:blipFill>
          <a:blip r:embed="rId4"/>
          <a:stretch>
            <a:fillRect/>
          </a:stretch>
        </p:blipFill>
        <p:spPr>
          <a:xfrm>
            <a:off x="1231747" y="3839352"/>
            <a:ext cx="7397246" cy="1539543"/>
          </a:xfrm>
          <a:prstGeom prst="rect">
            <a:avLst/>
          </a:prstGeom>
        </p:spPr>
      </p:pic>
    </p:spTree>
    <p:extLst>
      <p:ext uri="{BB962C8B-B14F-4D97-AF65-F5344CB8AC3E}">
        <p14:creationId xmlns:p14="http://schemas.microsoft.com/office/powerpoint/2010/main" val="982871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68714" y="231115"/>
            <a:ext cx="8664471" cy="602729"/>
          </a:xfrm>
          <a:prstGeom prst="rect">
            <a:avLst/>
          </a:prstGeom>
        </p:spPr>
        <p:txBody>
          <a:bodyPr vert="horz" wrap="square" lIns="0" tIns="0" rIns="0" bIns="0" rtlCol="0">
            <a:spAutoFit/>
          </a:bodyPr>
          <a:lstStyle/>
          <a:p>
            <a:pPr algn="ctr">
              <a:lnSpc>
                <a:spcPts val="4704"/>
              </a:lnSpc>
              <a:spcBef>
                <a:spcPct val="0"/>
              </a:spcBef>
              <a:spcAft>
                <a:spcPct val="0"/>
              </a:spcAft>
            </a:pPr>
            <a:r>
              <a:rPr sz="40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=1时实例的计算</a:t>
            </a:r>
          </a:p>
        </p:txBody>
      </p:sp>
      <p:sp>
        <p:nvSpPr>
          <p:cNvPr id="14" name="object 14"/>
          <p:cNvSpPr txBox="1"/>
          <p:nvPr/>
        </p:nvSpPr>
        <p:spPr>
          <a:xfrm>
            <a:off x="664218" y="4128590"/>
            <a:ext cx="4620768" cy="359073"/>
          </a:xfrm>
          <a:prstGeom prst="rect">
            <a:avLst/>
          </a:prstGeom>
        </p:spPr>
        <p:txBody>
          <a:bodyPr vert="horz" wrap="square" lIns="0" tIns="0" rIns="0" bIns="0" rtlCol="0">
            <a:spAutoFit/>
          </a:bodyPr>
          <a:lstStyle/>
          <a:p>
            <a:pPr>
              <a:lnSpc>
                <a:spcPts val="2824"/>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为初值</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3" name="图片 22"/>
          <p:cNvPicPr>
            <a:picLocks noChangeAspect="1"/>
          </p:cNvPicPr>
          <p:nvPr/>
        </p:nvPicPr>
        <p:blipFill>
          <a:blip r:embed="rId2"/>
          <a:stretch>
            <a:fillRect/>
          </a:stretch>
        </p:blipFill>
        <p:spPr>
          <a:xfrm>
            <a:off x="2140779" y="4487663"/>
            <a:ext cx="4512269" cy="920120"/>
          </a:xfrm>
          <a:prstGeom prst="rect">
            <a:avLst/>
          </a:prstGeom>
        </p:spPr>
      </p:pic>
      <p:pic>
        <p:nvPicPr>
          <p:cNvPr id="6" name="图片 5"/>
          <p:cNvPicPr>
            <a:picLocks noChangeAspect="1"/>
          </p:cNvPicPr>
          <p:nvPr/>
        </p:nvPicPr>
        <p:blipFill>
          <a:blip r:embed="rId3"/>
          <a:stretch>
            <a:fillRect/>
          </a:stretch>
        </p:blipFill>
        <p:spPr>
          <a:xfrm>
            <a:off x="1982380" y="833844"/>
            <a:ext cx="6026503" cy="3167589"/>
          </a:xfrm>
          <a:prstGeom prst="rect">
            <a:avLst/>
          </a:prstGeom>
        </p:spPr>
      </p:pic>
      <p:sp>
        <p:nvSpPr>
          <p:cNvPr id="4" name="矩形 3"/>
          <p:cNvSpPr/>
          <p:nvPr/>
        </p:nvSpPr>
        <p:spPr>
          <a:xfrm>
            <a:off x="3226676" y="1755228"/>
            <a:ext cx="1271752" cy="212308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021323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73590" y="75290"/>
            <a:ext cx="4363048" cy="602729"/>
          </a:xfrm>
          <a:prstGeom prst="rect">
            <a:avLst/>
          </a:prstGeom>
        </p:spPr>
        <p:txBody>
          <a:bodyPr vert="horz" wrap="square" lIns="0" tIns="0" rIns="0" bIns="0" rtlCol="0">
            <a:spAutoFit/>
          </a:bodyPr>
          <a:lstStyle/>
          <a:p>
            <a:pPr>
              <a:lnSpc>
                <a:spcPts val="4704"/>
              </a:lnSpc>
              <a:spcBef>
                <a:spcPct val="0"/>
              </a:spcBef>
              <a:spcAft>
                <a:spcPct val="0"/>
              </a:spcAft>
            </a:pPr>
            <a:r>
              <a:rPr sz="40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=2时实例计算</a:t>
            </a:r>
          </a:p>
        </p:txBody>
      </p:sp>
      <p:sp>
        <p:nvSpPr>
          <p:cNvPr id="10" name="object 10"/>
          <p:cNvSpPr txBox="1"/>
          <p:nvPr/>
        </p:nvSpPr>
        <p:spPr>
          <a:xfrm>
            <a:off x="421210" y="1370688"/>
            <a:ext cx="7009603" cy="333425"/>
          </a:xfrm>
          <a:prstGeom prst="rect">
            <a:avLst/>
          </a:prstGeom>
        </p:spPr>
        <p:txBody>
          <a:bodyPr vert="horz" wrap="square" lIns="0" tIns="0" rIns="0" bIns="0" rtlCol="0">
            <a:spAutoFit/>
          </a:bodyPr>
          <a:lstStyle/>
          <a:p>
            <a:pPr>
              <a:lnSpc>
                <a:spcPts val="2587"/>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方案</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(项目2,其他)：</a:t>
            </a:r>
            <a:r>
              <a:rPr sz="2800" b="1" spc="3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(1,0),</a:t>
            </a:r>
            <a:r>
              <a:rPr sz="2800" b="1" spc="58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(0,1</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object 15"/>
          <p:cNvSpPr txBox="1"/>
          <p:nvPr/>
        </p:nvSpPr>
        <p:spPr>
          <a:xfrm>
            <a:off x="473701" y="2374999"/>
            <a:ext cx="5719276" cy="333425"/>
          </a:xfrm>
          <a:prstGeom prst="rect">
            <a:avLst/>
          </a:prstGeom>
        </p:spPr>
        <p:txBody>
          <a:bodyPr vert="horz" wrap="square" lIns="0" tIns="0" rIns="0" bIns="0" rtlCol="0">
            <a:spAutoFit/>
          </a:bodyPr>
          <a:lstStyle/>
          <a:p>
            <a:pPr>
              <a:lnSpc>
                <a:spcPts val="2584"/>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方案</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：(2,0),</a:t>
            </a:r>
            <a:r>
              <a:rPr sz="2800" b="1" spc="59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(1,1), (0,2</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object 21"/>
          <p:cNvSpPr txBox="1"/>
          <p:nvPr/>
        </p:nvSpPr>
        <p:spPr>
          <a:xfrm>
            <a:off x="491703" y="3436640"/>
            <a:ext cx="8305456" cy="346249"/>
          </a:xfrm>
          <a:prstGeom prst="rect">
            <a:avLst/>
          </a:prstGeom>
        </p:spPr>
        <p:txBody>
          <a:bodyPr vert="horz" wrap="square" lIns="0" tIns="0" rIns="0" bIns="0" rtlCol="0">
            <a:spAutoFit/>
          </a:bodyPr>
          <a:lstStyle/>
          <a:p>
            <a:pPr>
              <a:lnSpc>
                <a:spcPts val="2584"/>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方案</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(3,0), (2,1), (1,2),</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(0,3</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object 30"/>
          <p:cNvSpPr txBox="1"/>
          <p:nvPr/>
        </p:nvSpPr>
        <p:spPr>
          <a:xfrm>
            <a:off x="502214" y="4901811"/>
            <a:ext cx="4542752" cy="300980"/>
          </a:xfrm>
          <a:prstGeom prst="rect">
            <a:avLst/>
          </a:prstGeom>
        </p:spPr>
        <p:txBody>
          <a:bodyPr vert="horz" wrap="square" lIns="0" tIns="0" rIns="0" bIns="0" rtlCol="0">
            <a:spAutoFit/>
          </a:bodyPr>
          <a:lstStyle/>
          <a:p>
            <a:pPr>
              <a:lnSpc>
                <a:spcPts val="2336"/>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类似地计算</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6192977" y="5442"/>
            <a:ext cx="2982505" cy="2768706"/>
          </a:xfrm>
          <a:prstGeom prst="rect">
            <a:avLst/>
          </a:prstGeom>
        </p:spPr>
      </p:pic>
      <p:pic>
        <p:nvPicPr>
          <p:cNvPr id="36" name="图片 35"/>
          <p:cNvPicPr>
            <a:picLocks noChangeAspect="1"/>
          </p:cNvPicPr>
          <p:nvPr/>
        </p:nvPicPr>
        <p:blipFill>
          <a:blip r:embed="rId3"/>
          <a:stretch>
            <a:fillRect/>
          </a:stretch>
        </p:blipFill>
        <p:spPr>
          <a:xfrm>
            <a:off x="1312827" y="1796941"/>
            <a:ext cx="4087943" cy="505336"/>
          </a:xfrm>
          <a:prstGeom prst="rect">
            <a:avLst/>
          </a:prstGeom>
        </p:spPr>
      </p:pic>
      <p:pic>
        <p:nvPicPr>
          <p:cNvPr id="37" name="图片 36"/>
          <p:cNvPicPr>
            <a:picLocks noChangeAspect="1"/>
          </p:cNvPicPr>
          <p:nvPr/>
        </p:nvPicPr>
        <p:blipFill>
          <a:blip r:embed="rId4"/>
          <a:stretch>
            <a:fillRect/>
          </a:stretch>
        </p:blipFill>
        <p:spPr>
          <a:xfrm>
            <a:off x="1274211" y="2752327"/>
            <a:ext cx="6042205" cy="584213"/>
          </a:xfrm>
          <a:prstGeom prst="rect">
            <a:avLst/>
          </a:prstGeom>
        </p:spPr>
      </p:pic>
      <p:pic>
        <p:nvPicPr>
          <p:cNvPr id="38" name="图片 37"/>
          <p:cNvPicPr>
            <a:picLocks noChangeAspect="1"/>
          </p:cNvPicPr>
          <p:nvPr/>
        </p:nvPicPr>
        <p:blipFill>
          <a:blip r:embed="rId5"/>
          <a:stretch>
            <a:fillRect/>
          </a:stretch>
        </p:blipFill>
        <p:spPr>
          <a:xfrm>
            <a:off x="1239257" y="3839764"/>
            <a:ext cx="5373508" cy="963858"/>
          </a:xfrm>
          <a:prstGeom prst="rect">
            <a:avLst/>
          </a:prstGeom>
        </p:spPr>
      </p:pic>
      <p:pic>
        <p:nvPicPr>
          <p:cNvPr id="39" name="图片 38"/>
          <p:cNvPicPr>
            <a:picLocks noChangeAspect="1"/>
          </p:cNvPicPr>
          <p:nvPr/>
        </p:nvPicPr>
        <p:blipFill>
          <a:blip r:embed="rId6"/>
          <a:stretch>
            <a:fillRect/>
          </a:stretch>
        </p:blipFill>
        <p:spPr>
          <a:xfrm>
            <a:off x="1323337" y="5237920"/>
            <a:ext cx="3290702" cy="488949"/>
          </a:xfrm>
          <a:prstGeom prst="rect">
            <a:avLst/>
          </a:prstGeom>
        </p:spPr>
      </p:pic>
      <p:cxnSp>
        <p:nvCxnSpPr>
          <p:cNvPr id="5" name="直接连接符 4"/>
          <p:cNvCxnSpPr/>
          <p:nvPr/>
        </p:nvCxnSpPr>
        <p:spPr>
          <a:xfrm>
            <a:off x="1555529" y="2708424"/>
            <a:ext cx="62011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rot="19402146">
            <a:off x="7198382" y="842114"/>
            <a:ext cx="1614939" cy="3334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3415861" y="3820753"/>
            <a:ext cx="62011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rot="1253059">
            <a:off x="7268502" y="1022268"/>
            <a:ext cx="1501355" cy="3334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79167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P spid="30" grpId="0"/>
      <p:bldP spid="6" grpId="0" animBg="1"/>
      <p:bldP spid="6" grpId="1" animBg="1"/>
      <p:bldP spid="17" grpId="0" animBg="1"/>
      <p:bldP spid="17"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1529" y="157493"/>
            <a:ext cx="862757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备忘录和解</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object 36"/>
          <p:cNvSpPr txBox="1"/>
          <p:nvPr/>
        </p:nvSpPr>
        <p:spPr>
          <a:xfrm>
            <a:off x="550803" y="5481668"/>
            <a:ext cx="1548572" cy="333425"/>
          </a:xfrm>
          <a:prstGeom prst="rect">
            <a:avLst/>
          </a:prstGeom>
        </p:spPr>
        <p:txBody>
          <a:bodyPr vert="horz" wrap="square" lIns="0" tIns="0" rIns="0" bIns="0" rtlCol="0">
            <a:spAutoFit/>
          </a:bodyPr>
          <a:lstStyle/>
          <a:p>
            <a:pPr>
              <a:lnSpc>
                <a:spcPts val="2584"/>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解</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1495030" y="784278"/>
            <a:ext cx="6783495" cy="2830466"/>
          </a:xfrm>
          <a:prstGeom prst="rect">
            <a:avLst/>
          </a:prstGeom>
        </p:spPr>
      </p:pic>
      <p:pic>
        <p:nvPicPr>
          <p:cNvPr id="44" name="图片 43"/>
          <p:cNvPicPr>
            <a:picLocks noChangeAspect="1"/>
          </p:cNvPicPr>
          <p:nvPr/>
        </p:nvPicPr>
        <p:blipFill rotWithShape="1">
          <a:blip r:embed="rId3"/>
          <a:srcRect b="78650"/>
          <a:stretch/>
        </p:blipFill>
        <p:spPr>
          <a:xfrm>
            <a:off x="1325089" y="3586646"/>
            <a:ext cx="4739380" cy="344223"/>
          </a:xfrm>
          <a:prstGeom prst="rect">
            <a:avLst/>
          </a:prstGeom>
        </p:spPr>
      </p:pic>
      <p:pic>
        <p:nvPicPr>
          <p:cNvPr id="45" name="图片 44"/>
          <p:cNvPicPr>
            <a:picLocks noChangeAspect="1"/>
          </p:cNvPicPr>
          <p:nvPr/>
        </p:nvPicPr>
        <p:blipFill>
          <a:blip r:embed="rId4"/>
          <a:stretch>
            <a:fillRect/>
          </a:stretch>
        </p:blipFill>
        <p:spPr>
          <a:xfrm>
            <a:off x="1563784" y="5381714"/>
            <a:ext cx="5373045" cy="436706"/>
          </a:xfrm>
          <a:prstGeom prst="rect">
            <a:avLst/>
          </a:prstGeom>
        </p:spPr>
      </p:pic>
      <p:pic>
        <p:nvPicPr>
          <p:cNvPr id="7" name="图片 6"/>
          <p:cNvPicPr>
            <a:picLocks noChangeAspect="1"/>
          </p:cNvPicPr>
          <p:nvPr/>
        </p:nvPicPr>
        <p:blipFill rotWithShape="1">
          <a:blip r:embed="rId3"/>
          <a:srcRect t="24170" b="49754"/>
          <a:stretch/>
        </p:blipFill>
        <p:spPr>
          <a:xfrm>
            <a:off x="1325089" y="3993765"/>
            <a:ext cx="4739380" cy="420414"/>
          </a:xfrm>
          <a:prstGeom prst="rect">
            <a:avLst/>
          </a:prstGeom>
        </p:spPr>
      </p:pic>
      <p:pic>
        <p:nvPicPr>
          <p:cNvPr id="8" name="图片 7"/>
          <p:cNvPicPr>
            <a:picLocks noChangeAspect="1"/>
          </p:cNvPicPr>
          <p:nvPr/>
        </p:nvPicPr>
        <p:blipFill rotWithShape="1">
          <a:blip r:embed="rId3"/>
          <a:srcRect t="79126" b="-3898"/>
          <a:stretch/>
        </p:blipFill>
        <p:spPr>
          <a:xfrm>
            <a:off x="1325089" y="4932345"/>
            <a:ext cx="4739380" cy="399392"/>
          </a:xfrm>
          <a:prstGeom prst="rect">
            <a:avLst/>
          </a:prstGeom>
        </p:spPr>
      </p:pic>
      <p:pic>
        <p:nvPicPr>
          <p:cNvPr id="9" name="图片 8"/>
          <p:cNvPicPr>
            <a:picLocks noChangeAspect="1"/>
          </p:cNvPicPr>
          <p:nvPr/>
        </p:nvPicPr>
        <p:blipFill rotWithShape="1">
          <a:blip r:embed="rId3"/>
          <a:srcRect t="52399" b="21569"/>
          <a:stretch/>
        </p:blipFill>
        <p:spPr>
          <a:xfrm>
            <a:off x="1325089" y="4472381"/>
            <a:ext cx="4739380" cy="419703"/>
          </a:xfrm>
          <a:prstGeom prst="rect">
            <a:avLst/>
          </a:prstGeom>
        </p:spPr>
      </p:pic>
      <p:sp>
        <p:nvSpPr>
          <p:cNvPr id="4" name="圆角矩形 3"/>
          <p:cNvSpPr/>
          <p:nvPr/>
        </p:nvSpPr>
        <p:spPr>
          <a:xfrm>
            <a:off x="5139559" y="2669628"/>
            <a:ext cx="1545020" cy="399393"/>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3594539" y="1365657"/>
            <a:ext cx="1545020" cy="399393"/>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2049519" y="1361687"/>
            <a:ext cx="1545020" cy="399393"/>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683646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 grpId="0" animBg="1"/>
      <p:bldP spid="11" grpId="0" animBg="1"/>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5255" y="197346"/>
            <a:ext cx="8693848"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时间复杂度分析</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74350" y="1256962"/>
            <a:ext cx="5856653"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备忘录表中有</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行</a:t>
            </a: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 </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共计</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mn</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a:t>
            </a:r>
          </a:p>
        </p:txBody>
      </p:sp>
      <p:sp>
        <p:nvSpPr>
          <p:cNvPr id="16" name="object 16"/>
          <p:cNvSpPr txBox="1"/>
          <p:nvPr/>
        </p:nvSpPr>
        <p:spPr>
          <a:xfrm>
            <a:off x="523725" y="3719159"/>
            <a:ext cx="8422880" cy="718145"/>
          </a:xfrm>
          <a:prstGeom prst="rect">
            <a:avLst/>
          </a:prstGeom>
        </p:spPr>
        <p:txBody>
          <a:bodyPr vert="horz" wrap="square" lIns="0" tIns="0" rIns="0" bIns="0" rtlCol="0">
            <a:spAutoFit/>
          </a:bodyPr>
          <a:lstStyle/>
          <a:p>
            <a:pPr>
              <a:lnSpc>
                <a:spcPts val="2824"/>
              </a:lnSpc>
              <a:spcBef>
                <a:spcPct val="0"/>
              </a:spcBef>
              <a:spcAft>
                <a:spcPct val="0"/>
              </a:spcAft>
            </a:pP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i="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spc="218"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有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种可能的取值，计算</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sz="2800" b="1" i="1" spc="2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a:t>
            </a:r>
            <a:r>
              <a:rPr lang="zh-CN" altLang="en-US" sz="2800" dirty="0">
                <a:solidFill>
                  <a:srgbClr val="000000"/>
                </a:solidFill>
                <a:latin typeface="Times New Roman"/>
                <a:cs typeface="Times New Roman"/>
              </a:rPr>
              <a:t> </a:t>
            </a:r>
            <a:endParaRPr lang="zh-CN" altLang="en-US" sz="2800" b="1" dirty="0">
              <a:solidFill>
                <a:srgbClr val="000000"/>
              </a:solidFill>
              <a:latin typeface="JCOEFB+Times New Roman,Bold"/>
              <a:cs typeface="JCOEFB+Times New Roman,Bold"/>
            </a:endParaRPr>
          </a:p>
          <a:p>
            <a:pPr>
              <a:lnSpc>
                <a:spcPts val="2824"/>
              </a:lnSpc>
              <a:spcBef>
                <a:spcPct val="0"/>
              </a:spcBef>
              <a:spcAft>
                <a:spcPct val="0"/>
              </a:spcAft>
            </a:pP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object 19"/>
          <p:cNvSpPr txBox="1"/>
          <p:nvPr/>
        </p:nvSpPr>
        <p:spPr>
          <a:xfrm>
            <a:off x="481685" y="4074195"/>
            <a:ext cx="4549226" cy="430887"/>
          </a:xfrm>
          <a:prstGeom prst="rect">
            <a:avLst/>
          </a:prstGeom>
        </p:spPr>
        <p:txBody>
          <a:bodyPr vert="horz" wrap="square" lIns="0" tIns="0" rIns="0" bIns="0" rtlCol="0">
            <a:spAutoFit/>
          </a:bodyPr>
          <a:lstStyle/>
          <a:p>
            <a:pPr>
              <a:spcBef>
                <a:spcPct val="0"/>
              </a:spcBef>
              <a:spcAft>
                <a:spcPct val="0"/>
              </a:spcAft>
            </a:pPr>
            <a:r>
              <a:rPr sz="2800" b="1" spc="15"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需要</a:t>
            </a:r>
            <a:r>
              <a:rPr sz="2800" spc="15" dirty="0">
                <a:solidFill>
                  <a:srgbClr val="000000"/>
                </a:solidFill>
                <a:latin typeface="LLNHKL+ËÎÌå"/>
                <a:cs typeface="LLNHKL+ËÎÌå"/>
              </a:rPr>
              <a:t>：</a:t>
            </a:r>
          </a:p>
        </p:txBody>
      </p:sp>
      <p:sp>
        <p:nvSpPr>
          <p:cNvPr id="20" name="object 20"/>
          <p:cNvSpPr txBox="1"/>
          <p:nvPr/>
        </p:nvSpPr>
        <p:spPr>
          <a:xfrm>
            <a:off x="1595412" y="4157613"/>
            <a:ext cx="1970566" cy="769441"/>
          </a:xfrm>
          <a:prstGeom prst="rect">
            <a:avLst/>
          </a:prstGeom>
        </p:spPr>
        <p:txBody>
          <a:bodyPr vert="horz" wrap="square" lIns="0" tIns="0" rIns="0" bIns="0" rtlCol="0">
            <a:spAutoFit/>
          </a:bodyPr>
          <a:lstStyle/>
          <a:p>
            <a:pPr>
              <a:lnSpc>
                <a:spcPts val="2824"/>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次加法</a:t>
            </a:r>
          </a:p>
          <a:p>
            <a:pPr>
              <a:lnSpc>
                <a:spcPts val="2824"/>
              </a:lnSpc>
              <a:spcBef>
                <a:spcPts val="389"/>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次比较</a:t>
            </a:r>
            <a:endPar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1595412" y="1644621"/>
            <a:ext cx="6613533" cy="1635856"/>
          </a:xfrm>
          <a:prstGeom prst="rect">
            <a:avLst/>
          </a:prstGeom>
        </p:spPr>
      </p:pic>
      <p:pic>
        <p:nvPicPr>
          <p:cNvPr id="23" name="图片 22"/>
          <p:cNvPicPr>
            <a:picLocks noChangeAspect="1"/>
          </p:cNvPicPr>
          <p:nvPr/>
        </p:nvPicPr>
        <p:blipFill rotWithShape="1">
          <a:blip r:embed="rId3"/>
          <a:srcRect t="-1" r="1682" b="1555"/>
          <a:stretch/>
        </p:blipFill>
        <p:spPr>
          <a:xfrm>
            <a:off x="6474144" y="3651381"/>
            <a:ext cx="3071553" cy="420450"/>
          </a:xfrm>
          <a:prstGeom prst="rect">
            <a:avLst/>
          </a:prstGeom>
        </p:spPr>
      </p:pic>
    </p:spTree>
    <p:extLst>
      <p:ext uri="{BB962C8B-B14F-4D97-AF65-F5344CB8AC3E}">
        <p14:creationId xmlns:p14="http://schemas.microsoft.com/office/powerpoint/2010/main" val="22170772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696615" y="218044"/>
            <a:ext cx="8552488"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时间复杂度分析</a:t>
            </a:r>
          </a:p>
        </p:txBody>
      </p:sp>
      <p:sp>
        <p:nvSpPr>
          <p:cNvPr id="4" name="object 4"/>
          <p:cNvSpPr txBox="1"/>
          <p:nvPr/>
        </p:nvSpPr>
        <p:spPr>
          <a:xfrm>
            <a:off x="485951" y="1066594"/>
            <a:ext cx="4491814"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对备忘录中所有的项求和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9" name="object 9"/>
          <p:cNvSpPr txBox="1"/>
          <p:nvPr/>
        </p:nvSpPr>
        <p:spPr>
          <a:xfrm>
            <a:off x="1481561" y="2356489"/>
            <a:ext cx="1492383" cy="281744"/>
          </a:xfrm>
          <a:prstGeom prst="rect">
            <a:avLst/>
          </a:prstGeom>
        </p:spPr>
        <p:txBody>
          <a:bodyPr vert="horz" wrap="square" lIns="0" tIns="0" rIns="0" bIns="0" rtlCol="0">
            <a:spAutoFit/>
          </a:bodyPr>
          <a:lstStyle/>
          <a:p>
            <a:pPr>
              <a:lnSpc>
                <a:spcPts val="2130"/>
              </a:lnSpc>
              <a:spcBef>
                <a:spcPct val="0"/>
              </a:spcBef>
              <a:spcAft>
                <a:spcPct val="0"/>
              </a:spcAft>
            </a:pPr>
            <a:r>
              <a:rPr sz="2800" b="1"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加法次数</a:t>
            </a:r>
            <a:endPar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object 9"/>
          <p:cNvSpPr txBox="1"/>
          <p:nvPr/>
        </p:nvSpPr>
        <p:spPr>
          <a:xfrm>
            <a:off x="1505911" y="3535527"/>
            <a:ext cx="1492383" cy="281744"/>
          </a:xfrm>
          <a:prstGeom prst="rect">
            <a:avLst/>
          </a:prstGeom>
        </p:spPr>
        <p:txBody>
          <a:bodyPr vert="horz" wrap="square" lIns="0" tIns="0" rIns="0" bIns="0" rtlCol="0">
            <a:spAutoFit/>
          </a:bodyPr>
          <a:lstStyle/>
          <a:p>
            <a:pPr>
              <a:lnSpc>
                <a:spcPts val="2132"/>
              </a:lnSpc>
              <a:spcBef>
                <a:spcPts val="5522"/>
              </a:spcBef>
              <a:spcAft>
                <a:spcPct val="0"/>
              </a:spcAft>
            </a:pPr>
            <a:r>
              <a:rPr sz="2800" b="1"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比较次数</a:t>
            </a:r>
            <a:endPar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3073135" y="1957067"/>
            <a:ext cx="4094920" cy="943369"/>
          </a:xfrm>
          <a:prstGeom prst="rect">
            <a:avLst/>
          </a:prstGeom>
        </p:spPr>
      </p:pic>
      <p:pic>
        <p:nvPicPr>
          <p:cNvPr id="22" name="图片 21"/>
          <p:cNvPicPr>
            <a:picLocks noChangeAspect="1"/>
          </p:cNvPicPr>
          <p:nvPr/>
        </p:nvPicPr>
        <p:blipFill>
          <a:blip r:embed="rId4"/>
          <a:stretch>
            <a:fillRect/>
          </a:stretch>
        </p:blipFill>
        <p:spPr>
          <a:xfrm>
            <a:off x="3073135" y="3140618"/>
            <a:ext cx="3686285" cy="1033052"/>
          </a:xfrm>
          <a:prstGeom prst="rect">
            <a:avLst/>
          </a:prstGeom>
        </p:spPr>
      </p:pic>
      <p:pic>
        <p:nvPicPr>
          <p:cNvPr id="23" name="图片 22"/>
          <p:cNvPicPr>
            <a:picLocks noChangeAspect="1"/>
          </p:cNvPicPr>
          <p:nvPr/>
        </p:nvPicPr>
        <p:blipFill>
          <a:blip r:embed="rId5"/>
          <a:stretch>
            <a:fillRect/>
          </a:stretch>
        </p:blipFill>
        <p:spPr>
          <a:xfrm>
            <a:off x="4277962" y="4413852"/>
            <a:ext cx="2133347" cy="529658"/>
          </a:xfrm>
          <a:prstGeom prst="rect">
            <a:avLst/>
          </a:prstGeom>
        </p:spPr>
      </p:pic>
    </p:spTree>
    <p:extLst>
      <p:ext uri="{BB962C8B-B14F-4D97-AF65-F5344CB8AC3E}">
        <p14:creationId xmlns:p14="http://schemas.microsoft.com/office/powerpoint/2010/main" val="33856979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498337" y="230546"/>
            <a:ext cx="8723586" cy="551433"/>
          </a:xfrm>
          <a:prstGeom prst="rect">
            <a:avLst/>
          </a:prstGeom>
        </p:spPr>
        <p:txBody>
          <a:bodyPr vert="horz" wrap="square" lIns="0" tIns="0" rIns="0" bIns="0" rtlCol="0">
            <a:spAutoFit/>
          </a:bodyPr>
          <a:lstStyle/>
          <a:p>
            <a:pPr algn="ctr">
              <a:lnSpc>
                <a:spcPts val="4250"/>
              </a:lnSpc>
              <a:spcBef>
                <a:spcPct val="0"/>
              </a:spcBef>
              <a:spcAft>
                <a:spcPct val="0"/>
              </a:spcAft>
            </a:pPr>
            <a:r>
              <a:rPr sz="4000" b="1" spc="11" dirty="0" err="1">
                <a:solidFill>
                  <a:srgbClr val="C00000"/>
                </a:solidFill>
                <a:latin typeface="黑体" panose="02010609060101010101" pitchFamily="49" charset="-122"/>
                <a:ea typeface="黑体" panose="02010609060101010101" pitchFamily="49" charset="-122"/>
                <a:cs typeface="LLNHKL+ËÎÌå"/>
              </a:rPr>
              <a:t>小结</a:t>
            </a:r>
            <a:endParaRPr sz="4000" b="1" spc="11" dirty="0">
              <a:solidFill>
                <a:srgbClr val="C00000"/>
              </a:solidFill>
              <a:latin typeface="黑体" panose="02010609060101010101" pitchFamily="49" charset="-122"/>
              <a:ea typeface="黑体" panose="02010609060101010101" pitchFamily="49" charset="-122"/>
              <a:cs typeface="LLNHKL+ËÎÌå"/>
            </a:endParaRPr>
          </a:p>
        </p:txBody>
      </p:sp>
      <p:sp>
        <p:nvSpPr>
          <p:cNvPr id="4" name="object 4"/>
          <p:cNvSpPr txBox="1"/>
          <p:nvPr/>
        </p:nvSpPr>
        <p:spPr>
          <a:xfrm>
            <a:off x="421211" y="1655876"/>
            <a:ext cx="6110069" cy="430887"/>
          </a:xfrm>
          <a:prstGeom prst="rect">
            <a:avLst/>
          </a:prstGeom>
        </p:spPr>
        <p:txBody>
          <a:bodyPr vert="horz" wrap="square" lIns="0" tIns="0" rIns="0" bIns="0" rtlCol="0">
            <a:spAutoFit/>
          </a:bodyPr>
          <a:lstStyle/>
          <a:p>
            <a:pPr>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投资问题的动态规划算法</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578865" y="2247427"/>
            <a:ext cx="8800711" cy="861774"/>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2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用两个不同类型的参数界定子问题</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2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优化函数的递推方程及初值</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578865" y="3187323"/>
            <a:ext cx="8800711" cy="861774"/>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2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根据备忘录中项的计算估计时间复杂度</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6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时间复杂度为：</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nm</a:t>
            </a:r>
            <a:r>
              <a:rPr sz="2800" b="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959487109"/>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964898" y="2105432"/>
            <a:ext cx="7811240" cy="1603003"/>
          </a:xfrm>
          <a:prstGeom prst="rect">
            <a:avLst/>
          </a:prstGeom>
        </p:spPr>
        <p:txBody>
          <a:bodyPr vert="horz" wrap="square" lIns="0" tIns="0" rIns="0" bIns="0" rtlCol="0">
            <a:spAutoFit/>
          </a:bodyPr>
          <a:lstStyle/>
          <a:p>
            <a:pPr algn="ctr">
              <a:lnSpc>
                <a:spcPts val="5740"/>
              </a:lnSpc>
              <a:spcBef>
                <a:spcPct val="0"/>
              </a:spcBef>
              <a:spcAft>
                <a:spcPct val="0"/>
              </a:spcAft>
            </a:pPr>
            <a:r>
              <a:rPr sz="6600" b="1" spc="13">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动态规划算法</a:t>
            </a:r>
          </a:p>
          <a:p>
            <a:pPr marL="367742" algn="ctr">
              <a:lnSpc>
                <a:spcPts val="5740"/>
              </a:lnSpc>
              <a:spcBef>
                <a:spcPts val="1149"/>
              </a:spcBef>
              <a:spcAft>
                <a:spcPct val="0"/>
              </a:spcAft>
            </a:pPr>
            <a:r>
              <a:rPr sz="6600" b="1" spc="15">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解背包问题</a:t>
            </a:r>
          </a:p>
        </p:txBody>
      </p:sp>
    </p:spTree>
    <p:extLst>
      <p:ext uri="{BB962C8B-B14F-4D97-AF65-F5344CB8AC3E}">
        <p14:creationId xmlns:p14="http://schemas.microsoft.com/office/powerpoint/2010/main" val="826339707"/>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1211" y="265721"/>
            <a:ext cx="8880444" cy="538609"/>
          </a:xfrm>
          <a:prstGeom prst="rect">
            <a:avLst/>
          </a:prstGeom>
        </p:spPr>
        <p:txBody>
          <a:bodyPr vert="horz" wrap="square" lIns="0" tIns="0" rIns="0" bIns="0" rtlCol="0">
            <a:spAutoFit/>
          </a:bodyPr>
          <a:lstStyle/>
          <a:p>
            <a:pPr algn="ctr">
              <a:lnSpc>
                <a:spcPts val="4247"/>
              </a:lnSpc>
              <a:spcBef>
                <a:spcPct val="0"/>
              </a:spcBef>
              <a:spcAft>
                <a:spcPct val="0"/>
              </a:spcAft>
            </a:pPr>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背包问题</a:t>
            </a:r>
            <a:r>
              <a:rPr sz="28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(Knapsack Problem)</a:t>
            </a:r>
          </a:p>
        </p:txBody>
      </p:sp>
      <p:sp>
        <p:nvSpPr>
          <p:cNvPr id="4" name="object 4"/>
          <p:cNvSpPr txBox="1"/>
          <p:nvPr/>
        </p:nvSpPr>
        <p:spPr>
          <a:xfrm>
            <a:off x="421212" y="1193140"/>
            <a:ext cx="8880443" cy="2585323"/>
          </a:xfrm>
          <a:prstGeom prst="rect">
            <a:avLst/>
          </a:prstGeom>
        </p:spPr>
        <p:txBody>
          <a:bodyPr vert="horz" wrap="square" lIns="0" tIns="0" rIns="0" bIns="0" rtlCol="0">
            <a:spAutoFit/>
          </a:bodyPr>
          <a:lstStyle/>
          <a:p>
            <a:pPr algn="just">
              <a:spcBef>
                <a:spcPts val="1200"/>
              </a:spcBef>
              <a:spcAft>
                <a:spcPct val="0"/>
              </a:spcAft>
            </a:pPr>
            <a:r>
              <a:rPr 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一个旅行者随身携带一个背包</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可以放入背包的物品有</a:t>
            </a:r>
            <a:r>
              <a:rPr 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 </a:t>
            </a:r>
            <a:r>
              <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每种物品的重量和价值分别为</a:t>
            </a:r>
            <a:r>
              <a:rPr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i="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v</a:t>
            </a:r>
            <a:r>
              <a:rPr lang="en-US" sz="2800" b="1" i="1" spc="1332"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如果背包的最大</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重量限制是</a:t>
            </a:r>
            <a:r>
              <a:rPr lang="zh-CN" altLang="en-US"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每种物品可以放多个</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怎</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样</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选择放入背包的物品以使得背包的价值</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最大</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7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不妨设上述</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i="1" baseline="-250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v</a:t>
            </a:r>
            <a:r>
              <a:rPr lang="en-US" altLang="zh-CN" sz="2800" b="1" i="1" spc="1332"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都是</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正整数</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0"/>
              </a:spcBef>
              <a:spcAft>
                <a:spcPct val="0"/>
              </a:spcAft>
            </a:pP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txBox="1"/>
          <p:nvPr/>
        </p:nvSpPr>
        <p:spPr>
          <a:xfrm>
            <a:off x="421211" y="3808200"/>
            <a:ext cx="4642605" cy="359073"/>
          </a:xfrm>
          <a:prstGeom prst="rect">
            <a:avLst/>
          </a:prstGeom>
        </p:spPr>
        <p:txBody>
          <a:bodyPr vert="horz" wrap="square" lIns="0" tIns="0" rIns="0" bIns="0" rtlCol="0">
            <a:spAutoFit/>
          </a:bodyPr>
          <a:lstStyle/>
          <a:p>
            <a:pPr>
              <a:lnSpc>
                <a:spcPts val="2824"/>
              </a:lnSpc>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实例</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=10</a:t>
            </a:r>
          </a:p>
        </p:txBody>
      </p:sp>
      <p:pic>
        <p:nvPicPr>
          <p:cNvPr id="2" name="图片 1"/>
          <p:cNvPicPr>
            <a:picLocks noChangeAspect="1"/>
          </p:cNvPicPr>
          <p:nvPr/>
        </p:nvPicPr>
        <p:blipFill>
          <a:blip r:embed="rId2"/>
          <a:stretch>
            <a:fillRect/>
          </a:stretch>
        </p:blipFill>
        <p:spPr>
          <a:xfrm>
            <a:off x="1391035" y="4487812"/>
            <a:ext cx="4857143" cy="904762"/>
          </a:xfrm>
          <a:prstGeom prst="rect">
            <a:avLst/>
          </a:prstGeom>
        </p:spPr>
      </p:pic>
    </p:spTree>
    <p:extLst>
      <p:ext uri="{BB962C8B-B14F-4D97-AF65-F5344CB8AC3E}">
        <p14:creationId xmlns:p14="http://schemas.microsoft.com/office/powerpoint/2010/main" val="3364172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2186" y="152669"/>
            <a:ext cx="8638448" cy="551433"/>
          </a:xfrm>
          <a:prstGeom prst="rect">
            <a:avLst/>
          </a:prstGeom>
        </p:spPr>
        <p:txBody>
          <a:bodyPr vert="horz" wrap="square" lIns="0" tIns="0" rIns="0" bIns="0" rtlCol="0">
            <a:spAutoFit/>
          </a:bodyPr>
          <a:lstStyle/>
          <a:p>
            <a:pPr algn="ctr">
              <a:lnSpc>
                <a:spcPts val="4250"/>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建模</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72196" y="1134755"/>
            <a:ext cx="9299053" cy="718145"/>
          </a:xfrm>
          <a:prstGeom prst="rect">
            <a:avLst/>
          </a:prstGeom>
        </p:spPr>
        <p:txBody>
          <a:bodyPr vert="horz" wrap="square" lIns="0" tIns="0" rIns="0" bIns="0" rtlCol="0">
            <a:spAutoFit/>
          </a:bodyPr>
          <a:lstStyle/>
          <a:p>
            <a:pPr>
              <a:lnSpc>
                <a:spcPts val="2828"/>
              </a:lnSpc>
              <a:spcBef>
                <a:spcPct val="0"/>
              </a:spcBef>
              <a:spcAft>
                <a:spcPct val="0"/>
              </a:spcAft>
            </a:pP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解是</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21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4"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21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30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r>
              <a:rPr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其中</a:t>
            </a:r>
            <a:r>
              <a:rPr 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255"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是装入背包的</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第 </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种物品个数</a:t>
            </a:r>
          </a:p>
          <a:p>
            <a:pPr>
              <a:lnSpc>
                <a:spcPts val="2828"/>
              </a:lnSpc>
              <a:spcBef>
                <a:spcPct val="0"/>
              </a:spcBef>
              <a:spcAft>
                <a:spcPct val="0"/>
              </a:spcAft>
            </a:pPr>
            <a:endParaRPr sz="2551" spc="12" dirty="0">
              <a:solidFill>
                <a:srgbClr val="000000"/>
              </a:solidFill>
              <a:latin typeface="EBBSGT+ËÎÌå"/>
              <a:cs typeface="EBBSGT+ËÎÌå"/>
            </a:endParaRPr>
          </a:p>
        </p:txBody>
      </p:sp>
      <p:sp>
        <p:nvSpPr>
          <p:cNvPr id="13" name="object 13"/>
          <p:cNvSpPr txBox="1"/>
          <p:nvPr/>
        </p:nvSpPr>
        <p:spPr>
          <a:xfrm>
            <a:off x="976005" y="2022103"/>
            <a:ext cx="1788204" cy="333425"/>
          </a:xfrm>
          <a:prstGeom prst="rect">
            <a:avLst/>
          </a:prstGeom>
        </p:spPr>
        <p:txBody>
          <a:bodyPr vert="horz" wrap="square" lIns="0" tIns="0" rIns="0" bIns="0" rtlCol="0">
            <a:spAutoFit/>
          </a:bodyPr>
          <a:lstStyle/>
          <a:p>
            <a:pPr>
              <a:lnSpc>
                <a:spcPts val="2553"/>
              </a:lnSpc>
              <a:spcBef>
                <a:spcPct val="0"/>
              </a:spcBef>
              <a:spcAft>
                <a:spcPct val="0"/>
              </a:spcAft>
            </a:pPr>
            <a:r>
              <a:rPr sz="2800" b="1" spc="15" dirty="0" err="1" smtClean="0">
                <a:solidFill>
                  <a:srgbClr val="000000"/>
                </a:solidFill>
                <a:latin typeface="黑体" panose="02010609060101010101" pitchFamily="49" charset="-122"/>
                <a:ea typeface="黑体" panose="02010609060101010101" pitchFamily="49" charset="-122"/>
                <a:cs typeface="EBBSGT+ËÎÌå"/>
              </a:rPr>
              <a:t>目标函数</a:t>
            </a:r>
            <a:endParaRPr sz="2800" b="1" spc="15" dirty="0">
              <a:solidFill>
                <a:srgbClr val="000000"/>
              </a:solidFill>
              <a:latin typeface="黑体" panose="02010609060101010101" pitchFamily="49" charset="-122"/>
              <a:ea typeface="黑体" panose="02010609060101010101" pitchFamily="49" charset="-122"/>
              <a:cs typeface="EBBSGT+ËÎÌå"/>
            </a:endParaRPr>
          </a:p>
        </p:txBody>
      </p:sp>
      <p:sp>
        <p:nvSpPr>
          <p:cNvPr id="21" name="object 21"/>
          <p:cNvSpPr txBox="1"/>
          <p:nvPr/>
        </p:nvSpPr>
        <p:spPr>
          <a:xfrm>
            <a:off x="421211" y="3855096"/>
            <a:ext cx="8932995" cy="1292662"/>
          </a:xfrm>
          <a:prstGeom prst="rect">
            <a:avLst/>
          </a:prstGeom>
        </p:spPr>
        <p:txBody>
          <a:bodyPr vert="horz" wrap="square" lIns="0" tIns="0" rIns="0" bIns="0" rtlCol="0">
            <a:spAutoFit/>
          </a:bodyPr>
          <a:lstStyle/>
          <a:p>
            <a:pPr algn="just">
              <a:spcBef>
                <a:spcPct val="0"/>
              </a:spcBef>
              <a:spcAft>
                <a:spcPct val="0"/>
              </a:spcAft>
            </a:pPr>
            <a:r>
              <a:rPr sz="2800" b="1" spc="12" dirty="0" err="1">
                <a:solidFill>
                  <a:srgbClr val="A50021"/>
                </a:solidFill>
                <a:latin typeface="Times New Roman" panose="02020603050405020304" pitchFamily="18" charset="0"/>
                <a:ea typeface="黑体" panose="02010609060101010101" pitchFamily="49" charset="-122"/>
                <a:cs typeface="Times New Roman" panose="02020603050405020304" pitchFamily="18" charset="0"/>
              </a:rPr>
              <a:t>线性规划问题</a:t>
            </a:r>
            <a:r>
              <a:rPr sz="2800" b="1" spc="638"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由线性条件约束的线性函数取最大或最小的问题</a:t>
            </a:r>
            <a:endParaRPr 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spcBef>
                <a:spcPct val="0"/>
              </a:spcBef>
              <a:spcAft>
                <a:spcPct val="0"/>
              </a:spcAft>
            </a:pPr>
            <a:r>
              <a:rPr lang="zh-CN" altLang="en-US" sz="2800" b="1" spc="12"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整数规划问题</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线性规划问题的变量</a:t>
            </a:r>
            <a:r>
              <a:rPr lang="zh-CN" altLang="en-US" sz="2800" b="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i="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都是非负整数</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2764209" y="1852900"/>
            <a:ext cx="4544868" cy="1595295"/>
          </a:xfrm>
          <a:prstGeom prst="rect">
            <a:avLst/>
          </a:prstGeom>
        </p:spPr>
      </p:pic>
      <p:sp>
        <p:nvSpPr>
          <p:cNvPr id="5" name="矩形 4"/>
          <p:cNvSpPr/>
          <p:nvPr/>
        </p:nvSpPr>
        <p:spPr>
          <a:xfrm>
            <a:off x="893465" y="2908079"/>
            <a:ext cx="1635063" cy="425758"/>
          </a:xfrm>
          <a:prstGeom prst="rect">
            <a:avLst/>
          </a:prstGeom>
        </p:spPr>
        <p:txBody>
          <a:bodyPr wrap="none">
            <a:spAutoFit/>
          </a:bodyPr>
          <a:lstStyle/>
          <a:p>
            <a:pPr>
              <a:lnSpc>
                <a:spcPts val="2551"/>
              </a:lnSpc>
              <a:spcBef>
                <a:spcPts val="2985"/>
              </a:spcBef>
              <a:spcAft>
                <a:spcPct val="0"/>
              </a:spcAft>
            </a:pPr>
            <a:r>
              <a:rPr lang="zh-CN" altLang="en-US" sz="2800" b="1" spc="15" dirty="0">
                <a:solidFill>
                  <a:srgbClr val="000000"/>
                </a:solidFill>
                <a:latin typeface="黑体" panose="02010609060101010101" pitchFamily="49" charset="-122"/>
                <a:ea typeface="黑体" panose="02010609060101010101" pitchFamily="49" charset="-122"/>
                <a:cs typeface="EBBSGT+ËÎÌå"/>
              </a:rPr>
              <a:t>约束条件</a:t>
            </a:r>
          </a:p>
        </p:txBody>
      </p:sp>
    </p:spTree>
    <p:extLst>
      <p:ext uri="{BB962C8B-B14F-4D97-AF65-F5344CB8AC3E}">
        <p14:creationId xmlns:p14="http://schemas.microsoft.com/office/powerpoint/2010/main" val="22555957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71063" y="236958"/>
            <a:ext cx="878314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子问题界定和计算顺序</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21212" y="1413335"/>
            <a:ext cx="8859422" cy="1282402"/>
          </a:xfrm>
          <a:prstGeom prst="rect">
            <a:avLst/>
          </a:prstGeom>
        </p:spPr>
        <p:txBody>
          <a:bodyPr vert="horz" wrap="square" lIns="0" tIns="0" rIns="0" bIns="0" rtlCol="0">
            <a:spAutoFit/>
          </a:bodyPr>
          <a:lstStyle/>
          <a:p>
            <a:pPr>
              <a:spcAft>
                <a:spcPct val="0"/>
              </a:spcAft>
            </a:pPr>
            <a:r>
              <a:rPr sz="28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子问题界定</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：由参数</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界定</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457200">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：考虑对物品</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1, 2, ... ,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的选择</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457200">
              <a:spcAft>
                <a:spcPct val="0"/>
              </a:spcAft>
            </a:pP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：背包总重量不超过</a:t>
            </a:r>
            <a:r>
              <a:rPr sz="2800" b="1" spc="64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p>
        </p:txBody>
      </p:sp>
      <p:sp>
        <p:nvSpPr>
          <p:cNvPr id="5" name="object 5"/>
          <p:cNvSpPr txBox="1"/>
          <p:nvPr/>
        </p:nvSpPr>
        <p:spPr>
          <a:xfrm>
            <a:off x="421212" y="3480302"/>
            <a:ext cx="8859422" cy="833562"/>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原始输入：</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p>
          <a:p>
            <a:pPr>
              <a:lnSpc>
                <a:spcPts val="2551"/>
              </a:lnSpc>
              <a:spcBef>
                <a:spcPts val="1125"/>
              </a:spcBef>
              <a:spcAft>
                <a:spcPct val="0"/>
              </a:spcAft>
            </a:pPr>
            <a:r>
              <a:rPr sz="28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子问题计算顺序</a:t>
            </a:r>
            <a:r>
              <a:rPr sz="2800" b="1" dirty="0" err="1"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1, 2, ... , </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p>
        </p:txBody>
      </p:sp>
      <p:sp>
        <p:nvSpPr>
          <p:cNvPr id="6" name="object 6"/>
          <p:cNvSpPr txBox="1"/>
          <p:nvPr/>
        </p:nvSpPr>
        <p:spPr>
          <a:xfrm>
            <a:off x="1078442" y="4449460"/>
            <a:ext cx="8286275"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C00000"/>
                </a:solidFill>
                <a:latin typeface="黑体" panose="02010609060101010101" pitchFamily="49" charset="-122"/>
                <a:ea typeface="黑体" panose="02010609060101010101" pitchFamily="49" charset="-122"/>
                <a:cs typeface="EBBSGT+ËÎÌå"/>
              </a:rPr>
              <a:t>对于给定的</a:t>
            </a:r>
            <a:r>
              <a:rPr sz="2800" b="1" dirty="0">
                <a:solidFill>
                  <a:srgbClr val="C00000"/>
                </a:solidFill>
                <a:latin typeface="黑体" panose="02010609060101010101" pitchFamily="49" charset="-122"/>
                <a:ea typeface="黑体" panose="02010609060101010101" pitchFamily="49" charset="-122"/>
                <a:cs typeface="Times New Roman"/>
              </a:rPr>
              <a:t> </a:t>
            </a:r>
            <a:r>
              <a:rPr sz="28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k</a:t>
            </a:r>
            <a:r>
              <a:rPr sz="2800" b="1" spc="16"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1, 2, ... , </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b</a:t>
            </a:r>
          </a:p>
        </p:txBody>
      </p:sp>
    </p:spTree>
    <p:extLst>
      <p:ext uri="{BB962C8B-B14F-4D97-AF65-F5344CB8AC3E}">
        <p14:creationId xmlns:p14="http://schemas.microsoft.com/office/powerpoint/2010/main" val="15686110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8735" y="221506"/>
            <a:ext cx="8814451"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优化函数的递推方程</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99134" y="1406089"/>
            <a:ext cx="9233446" cy="718145"/>
          </a:xfrm>
          <a:prstGeom prst="rect">
            <a:avLst/>
          </a:prstGeom>
        </p:spPr>
        <p:txBody>
          <a:bodyPr vert="horz" wrap="square" lIns="0" tIns="0" rIns="0" bIns="0" rtlCol="0">
            <a:spAutoFit/>
          </a:bodyPr>
          <a:lstStyle/>
          <a:p>
            <a:pPr>
              <a:lnSpc>
                <a:spcPts val="2828"/>
              </a:lnSpc>
              <a:spcBef>
                <a:spcPct val="0"/>
              </a:spcBef>
              <a:spcAft>
                <a:spcPct val="0"/>
              </a:spcAft>
            </a:pP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sz="2800" b="1" i="1" spc="212"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2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装前</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 </a:t>
            </a:r>
            <a:r>
              <a:rPr sz="2800"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种物品</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总重不超过</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8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8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i="1" spc="-8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a:t>
            </a:r>
            <a:r>
              <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达到的最大价值</a:t>
            </a:r>
          </a:p>
          <a:p>
            <a:pPr>
              <a:lnSpc>
                <a:spcPts val="2828"/>
              </a:lnSpc>
              <a:spcBef>
                <a:spcPct val="0"/>
              </a:spcBef>
              <a:spcAft>
                <a:spcPct val="0"/>
              </a:spcAft>
            </a:pPr>
            <a:endParaRPr sz="2800" b="1" i="1" spc="-8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object 23"/>
          <p:cNvSpPr txBox="1"/>
          <p:nvPr/>
        </p:nvSpPr>
        <p:spPr>
          <a:xfrm>
            <a:off x="1503328" y="4159612"/>
            <a:ext cx="7262297" cy="333425"/>
          </a:xfrm>
          <a:prstGeom prst="rect">
            <a:avLst/>
          </a:prstGeom>
        </p:spPr>
        <p:txBody>
          <a:bodyPr vert="horz" wrap="square" lIns="0" tIns="0" rIns="0" bIns="0" rtlCol="0">
            <a:spAutoFit/>
          </a:bodyPr>
          <a:lstStyle/>
          <a:p>
            <a:pPr>
              <a:lnSpc>
                <a:spcPts val="2584"/>
              </a:lnSpc>
              <a:spcBef>
                <a:spcPct val="0"/>
              </a:spcBef>
              <a:spcAft>
                <a:spcPct val="0"/>
              </a:spcAft>
            </a:pPr>
            <a:r>
              <a:rPr sz="28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类似于投资问题</a:t>
            </a:r>
            <a:r>
              <a:rPr sz="2800" b="1"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sz="2800" spc="11"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如何写递推方程</a:t>
            </a:r>
            <a:endParaRPr sz="2800" spc="1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object 24"/>
          <p:cNvSpPr txBox="1"/>
          <p:nvPr/>
        </p:nvSpPr>
        <p:spPr>
          <a:xfrm>
            <a:off x="1503328" y="4601627"/>
            <a:ext cx="5097333" cy="294953"/>
          </a:xfrm>
          <a:prstGeom prst="rect">
            <a:avLst/>
          </a:prstGeom>
        </p:spPr>
        <p:txBody>
          <a:bodyPr vert="horz" wrap="square" lIns="0" tIns="0" rIns="0" bIns="0" rtlCol="0">
            <a:spAutoFit/>
          </a:bodyPr>
          <a:lstStyle/>
          <a:p>
            <a:pPr>
              <a:lnSpc>
                <a:spcPts val="2333"/>
              </a:lnSpc>
              <a:spcBef>
                <a:spcPct val="0"/>
              </a:spcBef>
              <a:spcAft>
                <a:spcPct val="0"/>
              </a:spcAft>
            </a:pPr>
            <a:r>
              <a:rPr sz="2800" spc="11"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这两种写法有什么区别</a:t>
            </a:r>
            <a:endParaRPr sz="2800" spc="1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1503328" y="1831021"/>
            <a:ext cx="6554326" cy="2184776"/>
          </a:xfrm>
          <a:prstGeom prst="rect">
            <a:avLst/>
          </a:prstGeom>
        </p:spPr>
      </p:pic>
      <p:pic>
        <p:nvPicPr>
          <p:cNvPr id="35" name="图片 34"/>
          <p:cNvPicPr>
            <a:picLocks noChangeAspect="1"/>
          </p:cNvPicPr>
          <p:nvPr/>
        </p:nvPicPr>
        <p:blipFill>
          <a:blip r:embed="rId3"/>
          <a:stretch>
            <a:fillRect/>
          </a:stretch>
        </p:blipFill>
        <p:spPr>
          <a:xfrm>
            <a:off x="607595" y="4015797"/>
            <a:ext cx="790476" cy="933333"/>
          </a:xfrm>
          <a:prstGeom prst="rect">
            <a:avLst/>
          </a:prstGeom>
        </p:spPr>
      </p:pic>
      <p:pic>
        <p:nvPicPr>
          <p:cNvPr id="36" name="图片 35"/>
          <p:cNvPicPr>
            <a:picLocks noChangeAspect="1"/>
          </p:cNvPicPr>
          <p:nvPr/>
        </p:nvPicPr>
        <p:blipFill>
          <a:blip r:embed="rId4"/>
          <a:stretch>
            <a:fillRect/>
          </a:stretch>
        </p:blipFill>
        <p:spPr>
          <a:xfrm>
            <a:off x="1870300" y="5005170"/>
            <a:ext cx="5864087" cy="800525"/>
          </a:xfrm>
          <a:prstGeom prst="rect">
            <a:avLst/>
          </a:prstGeom>
        </p:spPr>
      </p:pic>
    </p:spTree>
    <p:extLst>
      <p:ext uri="{BB962C8B-B14F-4D97-AF65-F5344CB8AC3E}">
        <p14:creationId xmlns:p14="http://schemas.microsoft.com/office/powerpoint/2010/main" val="41539473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388883" y="203289"/>
            <a:ext cx="895481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标记函数</a:t>
            </a:r>
            <a:endParaRPr sz="4000"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502213" y="1245326"/>
            <a:ext cx="8841483" cy="1220847"/>
          </a:xfrm>
          <a:prstGeom prst="rect">
            <a:avLst/>
          </a:prstGeom>
        </p:spPr>
        <p:txBody>
          <a:bodyPr vert="horz" wrap="square" lIns="0" tIns="0" rIns="0" bIns="0" rtlCol="0">
            <a:spAutoFit/>
          </a:bodyPr>
          <a:lstStyle/>
          <a:p>
            <a:pPr algn="just">
              <a:spcBef>
                <a:spcPct val="0"/>
              </a:spcBef>
              <a:spcAft>
                <a:spcPct val="0"/>
              </a:spcAft>
            </a:pP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baseline="-250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58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装前</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i="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种物品</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总重不超</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8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7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背包达</a:t>
            </a:r>
            <a:r>
              <a:rPr lang="zh-CN" altLang="en-US" sz="2800" spc="12"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到最大价值时装入物品的最大标号</a:t>
            </a:r>
          </a:p>
          <a:p>
            <a:pPr algn="just">
              <a:lnSpc>
                <a:spcPts val="2824"/>
              </a:lnSpc>
              <a:spcBef>
                <a:spcPct val="0"/>
              </a:spcBef>
              <a:spcAft>
                <a:spcPct val="0"/>
              </a:spcAft>
            </a:pPr>
            <a:endParaRPr sz="2551" spc="12" dirty="0">
              <a:solidFill>
                <a:srgbClr val="000000"/>
              </a:solidFill>
              <a:latin typeface="EBBSGT+ËÎÌå"/>
              <a:cs typeface="EBBSGT+ËÎÌå"/>
            </a:endParaRPr>
          </a:p>
        </p:txBody>
      </p:sp>
      <p:pic>
        <p:nvPicPr>
          <p:cNvPr id="2" name="图片 1"/>
          <p:cNvPicPr>
            <a:picLocks noChangeAspect="1"/>
          </p:cNvPicPr>
          <p:nvPr/>
        </p:nvPicPr>
        <p:blipFill>
          <a:blip r:embed="rId3"/>
          <a:stretch>
            <a:fillRect/>
          </a:stretch>
        </p:blipFill>
        <p:spPr>
          <a:xfrm>
            <a:off x="1206267" y="2329538"/>
            <a:ext cx="7433374" cy="2711108"/>
          </a:xfrm>
          <a:prstGeom prst="rect">
            <a:avLst/>
          </a:prstGeom>
        </p:spPr>
      </p:pic>
    </p:spTree>
    <p:extLst>
      <p:ext uri="{BB962C8B-B14F-4D97-AF65-F5344CB8AC3E}">
        <p14:creationId xmlns:p14="http://schemas.microsoft.com/office/powerpoint/2010/main" val="3402909362"/>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653" y="168313"/>
            <a:ext cx="8918126"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实例</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664218" y="1254993"/>
            <a:ext cx="4803786" cy="359073"/>
          </a:xfrm>
          <a:prstGeom prst="rect">
            <a:avLst/>
          </a:prstGeom>
        </p:spPr>
        <p:txBody>
          <a:bodyPr vert="horz" wrap="square" lIns="0" tIns="0" rIns="0" bIns="0" rtlCol="0">
            <a:spAutoFit/>
          </a:bodyPr>
          <a:lstStyle/>
          <a:p>
            <a:pPr>
              <a:lnSpc>
                <a:spcPts val="2828"/>
              </a:lnSpc>
              <a:spcBef>
                <a:spcPct val="0"/>
              </a:spcBef>
              <a:spcAft>
                <a:spcPct val="0"/>
              </a:spcAft>
            </a:pP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a:t>
            </a:r>
            <a:r>
              <a:rPr sz="2551" spc="13" dirty="0" smtClean="0">
                <a:solidFill>
                  <a:srgbClr val="000000"/>
                </a:solidFill>
                <a:latin typeface="EBBSGT+ËÎÌå"/>
                <a:cs typeface="EBBSGT+ËÎÌå"/>
              </a:rPr>
              <a:t>：</a:t>
            </a:r>
            <a:endParaRPr sz="2551" b="1" dirty="0">
              <a:solidFill>
                <a:srgbClr val="000000"/>
              </a:solidFill>
              <a:latin typeface="KPVQKO+Times New Roman,Bold"/>
              <a:cs typeface="KPVQKO+Times New Roman,Bold"/>
            </a:endParaRPr>
          </a:p>
        </p:txBody>
      </p:sp>
      <p:sp>
        <p:nvSpPr>
          <p:cNvPr id="15" name="object 15"/>
          <p:cNvSpPr txBox="1"/>
          <p:nvPr/>
        </p:nvSpPr>
        <p:spPr>
          <a:xfrm>
            <a:off x="665777" y="2774605"/>
            <a:ext cx="7364128" cy="359073"/>
          </a:xfrm>
          <a:prstGeom prst="rect">
            <a:avLst/>
          </a:prstGeom>
        </p:spPr>
        <p:txBody>
          <a:bodyPr vert="horz" wrap="square" lIns="0" tIns="0" rIns="0" bIns="0" rtlCol="0">
            <a:spAutoFit/>
          </a:bodyPr>
          <a:lstStyle/>
          <a:p>
            <a:pPr>
              <a:lnSpc>
                <a:spcPts val="2824"/>
              </a:lnSpc>
              <a:spcBef>
                <a:spcPct val="0"/>
              </a:spcBef>
              <a:spcAft>
                <a:spcPct val="0"/>
              </a:spcAft>
            </a:pP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b="1" i="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的计算表如下</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pic>
        <p:nvPicPr>
          <p:cNvPr id="2" name="图片 1"/>
          <p:cNvPicPr>
            <a:picLocks noChangeAspect="1"/>
          </p:cNvPicPr>
          <p:nvPr/>
        </p:nvPicPr>
        <p:blipFill>
          <a:blip r:embed="rId2"/>
          <a:stretch>
            <a:fillRect/>
          </a:stretch>
        </p:blipFill>
        <p:spPr>
          <a:xfrm>
            <a:off x="1704229" y="1179864"/>
            <a:ext cx="4076190" cy="1342857"/>
          </a:xfrm>
          <a:prstGeom prst="rect">
            <a:avLst/>
          </a:prstGeom>
        </p:spPr>
      </p:pic>
      <p:pic>
        <p:nvPicPr>
          <p:cNvPr id="22" name="图片 21"/>
          <p:cNvPicPr>
            <a:picLocks noChangeAspect="1"/>
          </p:cNvPicPr>
          <p:nvPr/>
        </p:nvPicPr>
        <p:blipFill>
          <a:blip r:embed="rId3"/>
          <a:stretch>
            <a:fillRect/>
          </a:stretch>
        </p:blipFill>
        <p:spPr>
          <a:xfrm>
            <a:off x="1572614" y="3290965"/>
            <a:ext cx="6638095" cy="2609524"/>
          </a:xfrm>
          <a:prstGeom prst="rect">
            <a:avLst/>
          </a:prstGeom>
        </p:spPr>
      </p:pic>
    </p:spTree>
    <p:extLst>
      <p:ext uri="{BB962C8B-B14F-4D97-AF65-F5344CB8AC3E}">
        <p14:creationId xmlns:p14="http://schemas.microsoft.com/office/powerpoint/2010/main" val="2510412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9937" y="209981"/>
            <a:ext cx="8895291"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追踪解</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1447426" y="860507"/>
            <a:ext cx="6657143" cy="2657143"/>
          </a:xfrm>
          <a:prstGeom prst="rect">
            <a:avLst/>
          </a:prstGeom>
        </p:spPr>
      </p:pic>
      <p:pic>
        <p:nvPicPr>
          <p:cNvPr id="41" name="图片 40"/>
          <p:cNvPicPr>
            <a:picLocks noChangeAspect="1"/>
          </p:cNvPicPr>
          <p:nvPr/>
        </p:nvPicPr>
        <p:blipFill rotWithShape="1">
          <a:blip r:embed="rId3"/>
          <a:srcRect b="77314"/>
          <a:stretch/>
        </p:blipFill>
        <p:spPr>
          <a:xfrm>
            <a:off x="1373857" y="3629567"/>
            <a:ext cx="5573484" cy="447581"/>
          </a:xfrm>
          <a:prstGeom prst="rect">
            <a:avLst/>
          </a:prstGeom>
        </p:spPr>
      </p:pic>
      <p:pic>
        <p:nvPicPr>
          <p:cNvPr id="5" name="图片 4"/>
          <p:cNvPicPr>
            <a:picLocks noChangeAspect="1"/>
          </p:cNvPicPr>
          <p:nvPr/>
        </p:nvPicPr>
        <p:blipFill rotWithShape="1">
          <a:blip r:embed="rId3"/>
          <a:srcRect t="51612" b="25510"/>
          <a:stretch/>
        </p:blipFill>
        <p:spPr>
          <a:xfrm>
            <a:off x="1339945" y="4761770"/>
            <a:ext cx="5573484" cy="451362"/>
          </a:xfrm>
          <a:prstGeom prst="rect">
            <a:avLst/>
          </a:prstGeom>
        </p:spPr>
      </p:pic>
      <p:pic>
        <p:nvPicPr>
          <p:cNvPr id="6" name="图片 5"/>
          <p:cNvPicPr>
            <a:picLocks noChangeAspect="1"/>
          </p:cNvPicPr>
          <p:nvPr/>
        </p:nvPicPr>
        <p:blipFill rotWithShape="1">
          <a:blip r:embed="rId3"/>
          <a:srcRect t="25192" b="51452"/>
          <a:stretch/>
        </p:blipFill>
        <p:spPr>
          <a:xfrm>
            <a:off x="1367176" y="4189065"/>
            <a:ext cx="5573484" cy="460787"/>
          </a:xfrm>
          <a:prstGeom prst="rect">
            <a:avLst/>
          </a:prstGeom>
        </p:spPr>
      </p:pic>
      <p:pic>
        <p:nvPicPr>
          <p:cNvPr id="7" name="图片 6"/>
          <p:cNvPicPr>
            <a:picLocks noChangeAspect="1"/>
          </p:cNvPicPr>
          <p:nvPr/>
        </p:nvPicPr>
        <p:blipFill rotWithShape="1">
          <a:blip r:embed="rId3"/>
          <a:srcRect t="79472"/>
          <a:stretch/>
        </p:blipFill>
        <p:spPr>
          <a:xfrm>
            <a:off x="1339945" y="5321267"/>
            <a:ext cx="5573484" cy="404995"/>
          </a:xfrm>
          <a:prstGeom prst="rect">
            <a:avLst/>
          </a:prstGeom>
        </p:spPr>
      </p:pic>
      <p:pic>
        <p:nvPicPr>
          <p:cNvPr id="4" name="图片 3"/>
          <p:cNvPicPr>
            <a:picLocks noChangeAspect="1"/>
          </p:cNvPicPr>
          <p:nvPr/>
        </p:nvPicPr>
        <p:blipFill>
          <a:blip r:embed="rId4"/>
          <a:stretch>
            <a:fillRect/>
          </a:stretch>
        </p:blipFill>
        <p:spPr>
          <a:xfrm>
            <a:off x="5726305" y="222142"/>
            <a:ext cx="895238" cy="514286"/>
          </a:xfrm>
          <a:prstGeom prst="rect">
            <a:avLst/>
          </a:prstGeom>
        </p:spPr>
      </p:pic>
    </p:spTree>
    <p:extLst>
      <p:ext uri="{BB962C8B-B14F-4D97-AF65-F5344CB8AC3E}">
        <p14:creationId xmlns:p14="http://schemas.microsoft.com/office/powerpoint/2010/main" val="39254927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1210" y="187824"/>
            <a:ext cx="8964527" cy="1025922"/>
          </a:xfrm>
          <a:prstGeom prst="rect">
            <a:avLst/>
          </a:prstGeom>
        </p:spPr>
        <p:txBody>
          <a:bodyPr vert="horz" wrap="square" lIns="0" tIns="0" rIns="0" bIns="0" rtlCol="0">
            <a:spAutoFit/>
          </a:bodyPr>
          <a:lstStyle/>
          <a:p>
            <a:pPr marL="925998"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追踪算法</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28"/>
              </a:lnSpc>
              <a:spcBef>
                <a:spcPts val="1011"/>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r>
              <a:rPr sz="2800" b="1" spc="57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Track</a:t>
            </a:r>
            <a:r>
              <a:rPr sz="2800" b="1" spc="4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Solution</a:t>
            </a:r>
          </a:p>
        </p:txBody>
      </p:sp>
      <p:sp>
        <p:nvSpPr>
          <p:cNvPr id="4" name="object 4"/>
          <p:cNvSpPr txBox="1"/>
          <p:nvPr/>
        </p:nvSpPr>
        <p:spPr>
          <a:xfrm>
            <a:off x="421211" y="1345525"/>
            <a:ext cx="8617686" cy="307777"/>
          </a:xfrm>
          <a:prstGeom prst="rect">
            <a:avLst/>
          </a:prstGeom>
        </p:spPr>
        <p:txBody>
          <a:bodyPr vert="horz" wrap="square" lIns="0" tIns="0" rIns="0" bIns="0" rtlCol="0">
            <a:spAutoFit/>
          </a:bodyPr>
          <a:lstStyle/>
          <a:p>
            <a:pPr>
              <a:lnSpc>
                <a:spcPts val="2359"/>
              </a:lnSpc>
              <a:spcBef>
                <a:spcPct val="0"/>
              </a:spcBef>
              <a:spcAft>
                <a:spcPct val="0"/>
              </a:spcAft>
            </a:pP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spc="-24"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sz="2800" b="1" spc="-24"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表</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=1,2,…,</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i="1" spc="-5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=1,2,…,</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p>
        </p:txBody>
      </p:sp>
      <p:sp>
        <p:nvSpPr>
          <p:cNvPr id="6" name="object 6"/>
          <p:cNvSpPr txBox="1"/>
          <p:nvPr/>
        </p:nvSpPr>
        <p:spPr>
          <a:xfrm>
            <a:off x="421211" y="1783605"/>
            <a:ext cx="8449519" cy="307777"/>
          </a:xfrm>
          <a:prstGeom prst="rect">
            <a:avLst/>
          </a:prstGeom>
        </p:spPr>
        <p:txBody>
          <a:bodyPr vert="horz" wrap="square" lIns="0" tIns="0" rIns="0" bIns="0" rtlCol="0">
            <a:spAutoFit/>
          </a:bodyPr>
          <a:lstStyle/>
          <a:p>
            <a:pPr>
              <a:lnSpc>
                <a:spcPts val="2359"/>
              </a:lnSpc>
              <a:spcBef>
                <a:spcPct val="0"/>
              </a:spcBef>
              <a:spcAft>
                <a:spcPct val="0"/>
              </a:spcAft>
            </a:pPr>
            <a:r>
              <a:rPr sz="2800" b="1"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190"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190"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267"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16"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种物品的装入量</a:t>
            </a:r>
            <a:endPar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rotWithShape="1">
          <a:blip r:embed="rId2"/>
          <a:srcRect b="90013"/>
          <a:stretch/>
        </p:blipFill>
        <p:spPr>
          <a:xfrm>
            <a:off x="789233" y="2164760"/>
            <a:ext cx="7132196" cy="432027"/>
          </a:xfrm>
          <a:prstGeom prst="rect">
            <a:avLst/>
          </a:prstGeom>
        </p:spPr>
      </p:pic>
      <p:pic>
        <p:nvPicPr>
          <p:cNvPr id="7" name="图片 6"/>
          <p:cNvPicPr>
            <a:picLocks noChangeAspect="1"/>
          </p:cNvPicPr>
          <p:nvPr/>
        </p:nvPicPr>
        <p:blipFill rotWithShape="1">
          <a:blip r:embed="rId2"/>
          <a:srcRect l="41858" t="11090" r="20445" b="62886"/>
          <a:stretch/>
        </p:blipFill>
        <p:spPr>
          <a:xfrm>
            <a:off x="3836673" y="2728330"/>
            <a:ext cx="2133600" cy="893380"/>
          </a:xfrm>
          <a:prstGeom prst="rect">
            <a:avLst/>
          </a:prstGeom>
        </p:spPr>
      </p:pic>
      <p:pic>
        <p:nvPicPr>
          <p:cNvPr id="10" name="图片 9"/>
          <p:cNvPicPr>
            <a:picLocks noChangeAspect="1"/>
          </p:cNvPicPr>
          <p:nvPr/>
        </p:nvPicPr>
        <p:blipFill rotWithShape="1">
          <a:blip r:embed="rId2"/>
          <a:srcRect t="53884" r="42043" b="14466"/>
          <a:stretch/>
        </p:blipFill>
        <p:spPr>
          <a:xfrm>
            <a:off x="741085" y="4377948"/>
            <a:ext cx="4133582" cy="1369169"/>
          </a:xfrm>
          <a:prstGeom prst="rect">
            <a:avLst/>
          </a:prstGeom>
        </p:spPr>
      </p:pic>
      <p:pic>
        <p:nvPicPr>
          <p:cNvPr id="11" name="图片 10"/>
          <p:cNvPicPr>
            <a:picLocks noChangeAspect="1"/>
          </p:cNvPicPr>
          <p:nvPr/>
        </p:nvPicPr>
        <p:blipFill rotWithShape="1">
          <a:blip r:embed="rId2"/>
          <a:srcRect t="11217" r="58488" b="45920"/>
          <a:stretch/>
        </p:blipFill>
        <p:spPr>
          <a:xfrm>
            <a:off x="757703" y="2570662"/>
            <a:ext cx="2960752" cy="1854227"/>
          </a:xfrm>
          <a:prstGeom prst="rect">
            <a:avLst/>
          </a:prstGeom>
        </p:spPr>
      </p:pic>
      <p:pic>
        <p:nvPicPr>
          <p:cNvPr id="12" name="图片 11"/>
          <p:cNvPicPr>
            <a:picLocks noChangeAspect="1"/>
          </p:cNvPicPr>
          <p:nvPr/>
        </p:nvPicPr>
        <p:blipFill rotWithShape="1">
          <a:blip r:embed="rId2"/>
          <a:srcRect t="85854" r="32142"/>
          <a:stretch/>
        </p:blipFill>
        <p:spPr>
          <a:xfrm>
            <a:off x="741085" y="5743385"/>
            <a:ext cx="4839803" cy="611940"/>
          </a:xfrm>
          <a:prstGeom prst="rect">
            <a:avLst/>
          </a:prstGeom>
        </p:spPr>
      </p:pic>
      <p:pic>
        <p:nvPicPr>
          <p:cNvPr id="8" name="图片 7"/>
          <p:cNvPicPr>
            <a:picLocks noChangeAspect="1"/>
          </p:cNvPicPr>
          <p:nvPr/>
        </p:nvPicPr>
        <p:blipFill rotWithShape="1">
          <a:blip r:embed="rId2"/>
          <a:srcRect l="56592" t="38307" b="32724"/>
          <a:stretch/>
        </p:blipFill>
        <p:spPr>
          <a:xfrm>
            <a:off x="4519344" y="3915283"/>
            <a:ext cx="2456809" cy="994481"/>
          </a:xfrm>
          <a:prstGeom prst="rect">
            <a:avLst/>
          </a:prstGeom>
        </p:spPr>
      </p:pic>
      <p:pic>
        <p:nvPicPr>
          <p:cNvPr id="9" name="图片 8"/>
          <p:cNvPicPr>
            <a:picLocks noChangeAspect="1"/>
          </p:cNvPicPr>
          <p:nvPr/>
        </p:nvPicPr>
        <p:blipFill rotWithShape="1">
          <a:blip r:embed="rId2"/>
          <a:srcRect l="67299" t="69169"/>
          <a:stretch/>
        </p:blipFill>
        <p:spPr>
          <a:xfrm>
            <a:off x="5559762" y="5156238"/>
            <a:ext cx="1850811" cy="1058378"/>
          </a:xfrm>
          <a:prstGeom prst="rect">
            <a:avLst/>
          </a:prstGeom>
        </p:spPr>
      </p:pic>
    </p:spTree>
    <p:extLst>
      <p:ext uri="{BB962C8B-B14F-4D97-AF65-F5344CB8AC3E}">
        <p14:creationId xmlns:p14="http://schemas.microsoft.com/office/powerpoint/2010/main" val="36413665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81595" y="237918"/>
            <a:ext cx="8614957" cy="602729"/>
          </a:xfrm>
          <a:prstGeom prst="rect">
            <a:avLst/>
          </a:prstGeom>
        </p:spPr>
        <p:txBody>
          <a:bodyPr vert="horz" wrap="square" lIns="0" tIns="0" rIns="0" bIns="0" rtlCol="0">
            <a:spAutoFit/>
          </a:bodyPr>
          <a:lstStyle/>
          <a:p>
            <a:pPr algn="ctr">
              <a:lnSpc>
                <a:spcPts val="4704"/>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时间复杂度</a:t>
            </a:r>
            <a:r>
              <a:rPr sz="4000" b="1" spc="1096"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40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O</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4000" b="1" i="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nb</a:t>
            </a:r>
            <a:r>
              <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object 4"/>
          <p:cNvSpPr txBox="1"/>
          <p:nvPr/>
        </p:nvSpPr>
        <p:spPr>
          <a:xfrm>
            <a:off x="546530" y="1348187"/>
            <a:ext cx="1786908"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根据公式</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txBox="1"/>
          <p:nvPr/>
        </p:nvSpPr>
        <p:spPr>
          <a:xfrm>
            <a:off x="583216" y="2666907"/>
            <a:ext cx="8802522" cy="397545"/>
          </a:xfrm>
          <a:prstGeom prst="rect">
            <a:avLst/>
          </a:prstGeom>
        </p:spPr>
        <p:txBody>
          <a:bodyPr vert="horz" wrap="square" lIns="0" tIns="0" rIns="0" bIns="0" rtlCol="0">
            <a:spAutoFit/>
          </a:bodyPr>
          <a:lstStyle/>
          <a:p>
            <a:pPr>
              <a:lnSpc>
                <a:spcPts val="311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备忘录需计算</a:t>
            </a:r>
            <a:r>
              <a:rPr sz="2800" b="1" spc="-7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nb</a:t>
            </a:r>
            <a:r>
              <a:rPr sz="2800" b="1" i="1" spc="1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项，每项常数时间</a:t>
            </a:r>
            <a:r>
              <a:rPr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计算时间为</a:t>
            </a:r>
            <a:r>
              <a:rPr sz="2800" b="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nb</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2"/>
          <p:cNvSpPr txBox="1"/>
          <p:nvPr/>
        </p:nvSpPr>
        <p:spPr>
          <a:xfrm>
            <a:off x="581596" y="3885584"/>
            <a:ext cx="8614956" cy="1677382"/>
          </a:xfrm>
          <a:prstGeom prst="rect">
            <a:avLst/>
          </a:prstGeom>
        </p:spPr>
        <p:txBody>
          <a:bodyPr vert="horz" wrap="square" lIns="0" tIns="0" rIns="0" bIns="0" rtlCol="0">
            <a:spAutoFit/>
          </a:bodyPr>
          <a:lstStyle/>
          <a:p>
            <a:pPr algn="just">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伪多项式时间算法</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：时间为参数</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的多项式</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，不是输入规模的多项式</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参数</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是整数，表达</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需要</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log</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位</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规模是</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log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81001">
              <a:lnSpc>
                <a:spcPts val="2824"/>
              </a:lnSpc>
              <a:spcBef>
                <a:spcPts val="236"/>
              </a:spcBef>
              <a:spcAft>
                <a:spcPct val="0"/>
              </a:spcAft>
            </a:pPr>
            <a:endParaRPr sz="2551" b="1" dirty="0">
              <a:solidFill>
                <a:srgbClr val="000000"/>
              </a:solidFill>
              <a:latin typeface="KPVQKO+Times New Roman,Bold"/>
              <a:cs typeface="KPVQKO+Times New Roman,Bold"/>
            </a:endParaRPr>
          </a:p>
        </p:txBody>
      </p:sp>
      <p:pic>
        <p:nvPicPr>
          <p:cNvPr id="2" name="图片 1"/>
          <p:cNvPicPr>
            <a:picLocks noChangeAspect="1"/>
          </p:cNvPicPr>
          <p:nvPr/>
        </p:nvPicPr>
        <p:blipFill>
          <a:blip r:embed="rId3"/>
          <a:stretch>
            <a:fillRect/>
          </a:stretch>
        </p:blipFill>
        <p:spPr>
          <a:xfrm>
            <a:off x="1915434" y="1847050"/>
            <a:ext cx="6655418" cy="711810"/>
          </a:xfrm>
          <a:prstGeom prst="rect">
            <a:avLst/>
          </a:prstGeom>
        </p:spPr>
      </p:pic>
    </p:spTree>
    <p:extLst>
      <p:ext uri="{BB962C8B-B14F-4D97-AF65-F5344CB8AC3E}">
        <p14:creationId xmlns:p14="http://schemas.microsoft.com/office/powerpoint/2010/main" val="41875244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365" y="219667"/>
            <a:ext cx="856616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背包问题的推广</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21212" y="1306877"/>
            <a:ext cx="8754318"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物品数受限</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背包：第</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种物品最多用</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i="1" spc="48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a:t>
            </a:r>
          </a:p>
        </p:txBody>
      </p:sp>
      <p:sp>
        <p:nvSpPr>
          <p:cNvPr id="6" name="object 6"/>
          <p:cNvSpPr txBox="1"/>
          <p:nvPr/>
        </p:nvSpPr>
        <p:spPr>
          <a:xfrm>
            <a:off x="421211" y="1932891"/>
            <a:ext cx="8890955"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0-1</a:t>
            </a:r>
            <a:r>
              <a:rPr sz="28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背包</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a:t>
            </a:r>
            <a:r>
              <a:rPr sz="2800" b="1" spc="-7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472"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0, 1</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1, 2, … ,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p>
        </p:txBody>
      </p:sp>
      <p:sp>
        <p:nvSpPr>
          <p:cNvPr id="8" name="object 8"/>
          <p:cNvSpPr txBox="1"/>
          <p:nvPr/>
        </p:nvSpPr>
        <p:spPr>
          <a:xfrm>
            <a:off x="421211" y="2560793"/>
            <a:ext cx="8890955" cy="1220847"/>
          </a:xfrm>
          <a:prstGeom prst="rect">
            <a:avLst/>
          </a:prstGeom>
        </p:spPr>
        <p:txBody>
          <a:bodyPr vert="horz" wrap="square" lIns="0" tIns="0" rIns="0" bIns="0" rtlCol="0">
            <a:spAutoFit/>
          </a:bodyPr>
          <a:lstStyle/>
          <a:p>
            <a:pPr algn="just">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多背包</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个背包</a:t>
            </a:r>
            <a:r>
              <a:rPr lang="en-US"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a:t>
            </a:r>
            <a:r>
              <a:rPr sz="2800" b="1" spc="-7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装入最大</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重量</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=1,2</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spc="62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在满足所有</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重量约束条件下使装入物品价值最大</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24"/>
              </a:lnSpc>
              <a:spcBef>
                <a:spcPct val="0"/>
              </a:spcBef>
              <a:spcAft>
                <a:spcPct val="0"/>
              </a:spcAft>
            </a:pPr>
            <a:endParaRPr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2"/>
          <p:cNvSpPr txBox="1"/>
          <p:nvPr/>
        </p:nvSpPr>
        <p:spPr>
          <a:xfrm>
            <a:off x="421210" y="3958486"/>
            <a:ext cx="8754319" cy="1651734"/>
          </a:xfrm>
          <a:prstGeom prst="rect">
            <a:avLst/>
          </a:prstGeom>
        </p:spPr>
        <p:txBody>
          <a:bodyPr vert="horz" wrap="square" lIns="0" tIns="0" rIns="0" bIns="0" rtlCol="0">
            <a:spAutoFit/>
          </a:bodyPr>
          <a:lstStyle/>
          <a:p>
            <a:pPr algn="just">
              <a:spcBef>
                <a:spcPct val="0"/>
              </a:spcBef>
              <a:spcAft>
                <a:spcPct val="0"/>
              </a:spcAft>
            </a:pPr>
            <a:r>
              <a:rPr sz="28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二维背包</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问题：每件物品有重量</a:t>
            </a:r>
            <a:r>
              <a:rPr sz="2800" b="1" spc="-7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sz="2800" b="1" i="1" spc="27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和体</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积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i="1" spc="-15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，背包总重不超过</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体积不超过</a:t>
            </a:r>
            <a:r>
              <a:rPr lang="en-US" altLang="zh-CN" sz="2800" b="1" i="1" spc="-33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i="1" spc="97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如何选择物品以得到</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最大</a:t>
            </a:r>
            <a:r>
              <a:rPr lang="zh-CN" alt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价值</a:t>
            </a:r>
            <a:endPar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24"/>
              </a:lnSpc>
              <a:spcBef>
                <a:spcPct val="0"/>
              </a:spcBef>
              <a:spcAft>
                <a:spcPct val="0"/>
              </a:spcAft>
            </a:pPr>
            <a:endParaRPr sz="2551" spc="12" dirty="0">
              <a:solidFill>
                <a:srgbClr val="000000"/>
              </a:solidFill>
              <a:latin typeface="EBBSGT+ËÎÌå"/>
              <a:cs typeface="EBBSGT+ËÎÌå"/>
            </a:endParaRPr>
          </a:p>
        </p:txBody>
      </p:sp>
      <p:sp>
        <p:nvSpPr>
          <p:cNvPr id="13" name="object 13"/>
          <p:cNvSpPr txBox="1"/>
          <p:nvPr/>
        </p:nvSpPr>
        <p:spPr>
          <a:xfrm>
            <a:off x="5267707" y="4134592"/>
            <a:ext cx="383872" cy="243656"/>
          </a:xfrm>
          <a:prstGeom prst="rect">
            <a:avLst/>
          </a:prstGeom>
        </p:spPr>
        <p:txBody>
          <a:bodyPr vert="horz" wrap="square" lIns="0" tIns="0" rIns="0" bIns="0" rtlCol="0">
            <a:spAutoFit/>
          </a:bodyPr>
          <a:lstStyle/>
          <a:p>
            <a:pPr>
              <a:lnSpc>
                <a:spcPts val="1878"/>
              </a:lnSpc>
              <a:spcBef>
                <a:spcPct val="0"/>
              </a:spcBef>
              <a:spcAft>
                <a:spcPct val="0"/>
              </a:spcAft>
            </a:pPr>
            <a:r>
              <a:rPr sz="1701" b="1" i="1">
                <a:solidFill>
                  <a:srgbClr val="000000"/>
                </a:solidFill>
                <a:latin typeface="DGGSEH+Times New Roman,BoldItalic"/>
                <a:cs typeface="DGGSEH+Times New Roman,BoldItalic"/>
              </a:rPr>
              <a:t>i</a:t>
            </a:r>
          </a:p>
        </p:txBody>
      </p:sp>
    </p:spTree>
    <p:extLst>
      <p:ext uri="{BB962C8B-B14F-4D97-AF65-F5344CB8AC3E}">
        <p14:creationId xmlns:p14="http://schemas.microsoft.com/office/powerpoint/2010/main" val="8264480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36028" y="205220"/>
            <a:ext cx="8734095" cy="551433"/>
          </a:xfrm>
          <a:prstGeom prst="rect">
            <a:avLst/>
          </a:prstGeom>
        </p:spPr>
        <p:txBody>
          <a:bodyPr vert="horz" wrap="square" lIns="0" tIns="0" rIns="0" bIns="0" rtlCol="0">
            <a:spAutoFit/>
          </a:bodyPr>
          <a:lstStyle/>
          <a:p>
            <a:pPr algn="ctr">
              <a:lnSpc>
                <a:spcPts val="4250"/>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小结</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478619" y="1144480"/>
            <a:ext cx="8848911" cy="4724370"/>
          </a:xfrm>
          <a:prstGeom prst="rect">
            <a:avLst/>
          </a:prstGeom>
        </p:spPr>
        <p:txBody>
          <a:bodyPr vert="horz" wrap="square" lIns="0" tIns="0" rIns="0" bIns="0" rtlCol="0">
            <a:spAutoFit/>
          </a:bodyPr>
          <a:lstStyle/>
          <a:p>
            <a:pPr marL="457200" indent="-457200" algn="just">
              <a:spcBef>
                <a:spcPts val="600"/>
              </a:spcBef>
              <a:spcAft>
                <a:spcPts val="600"/>
              </a:spcAft>
              <a:buFont typeface="Wingdings" panose="05000000000000000000" pitchFamily="2" charset="2"/>
              <a:buChar char="l"/>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划分</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子问题，确定子问题边界，将问题求解转变成多步判断的过程</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457200" indent="-457200" algn="just">
              <a:spcBef>
                <a:spcPts val="600"/>
              </a:spcBef>
              <a:spcAft>
                <a:spcPts val="600"/>
              </a:spcAft>
              <a:buFont typeface="Wingdings" panose="05000000000000000000" pitchFamily="2" charset="2"/>
              <a:buChar char="l"/>
            </a:pP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定义</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优化函数</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以该函数极大</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或极小</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值作为依据</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确定是否满足优化原则</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gn="just">
              <a:spcBef>
                <a:spcPts val="600"/>
              </a:spcBef>
              <a:spcAft>
                <a:spcPts val="600"/>
              </a:spcAft>
              <a:buFont typeface="Wingdings" panose="05000000000000000000" pitchFamily="2" charset="2"/>
              <a:buChar char="l"/>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列</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优化函数的递推方程和</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边界条件</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gn="just">
              <a:spcBef>
                <a:spcPts val="600"/>
              </a:spcBef>
              <a:spcAft>
                <a:spcPts val="600"/>
              </a:spcAft>
              <a:buFont typeface="Wingdings" panose="05000000000000000000" pitchFamily="2" charset="2"/>
              <a:buChar char="l"/>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自底向上</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计算，设计备忘录</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表格</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457200" indent="-457200" algn="just">
              <a:spcBef>
                <a:spcPts val="600"/>
              </a:spcBef>
              <a:spcAft>
                <a:spcPts val="600"/>
              </a:spcAft>
              <a:buFont typeface="Wingdings" panose="05000000000000000000" pitchFamily="2" charset="2"/>
              <a:buChar char="l"/>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考虑</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是否需要设立标记</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函数</a:t>
            </a:r>
            <a:r>
              <a:rPr lang="en-US" altLang="zh-CN"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gn="just">
              <a:spcBef>
                <a:spcPts val="600"/>
              </a:spcBef>
              <a:spcAft>
                <a:spcPts val="600"/>
              </a:spcAft>
              <a:buFont typeface="Wingdings" panose="05000000000000000000" pitchFamily="2" charset="2"/>
              <a:buChar char="l"/>
            </a:pP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复杂度</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估计</a:t>
            </a:r>
            <a:r>
              <a:rPr lang="en-US" altLang="zh-CN"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0"/>
              </a:spcBef>
              <a:spcAft>
                <a:spcPct val="0"/>
              </a:spcAft>
            </a:pP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710430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98443" y="2542835"/>
            <a:ext cx="8461474" cy="730969"/>
          </a:xfrm>
          <a:prstGeom prst="rect">
            <a:avLst/>
          </a:prstGeom>
        </p:spPr>
        <p:txBody>
          <a:bodyPr vert="horz" wrap="square" lIns="0" tIns="0" rIns="0" bIns="0" rtlCol="0">
            <a:spAutoFit/>
          </a:bodyPr>
          <a:lstStyle/>
          <a:p>
            <a:pPr algn="ctr">
              <a:lnSpc>
                <a:spcPts val="5742"/>
              </a:lnSpc>
              <a:spcBef>
                <a:spcPct val="0"/>
              </a:spcBef>
              <a:spcAft>
                <a:spcPct val="0"/>
              </a:spcAft>
            </a:pPr>
            <a:r>
              <a:rPr sz="6600" b="1" spc="16"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最长公共子序列</a:t>
            </a:r>
            <a:endParaRPr sz="6600" b="1" spc="16"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64074071"/>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675017" y="218044"/>
            <a:ext cx="8658169" cy="538609"/>
          </a:xfrm>
          <a:prstGeom prst="rect">
            <a:avLst/>
          </a:prstGeom>
        </p:spPr>
        <p:txBody>
          <a:bodyPr vert="horz" wrap="square" lIns="0" tIns="0" rIns="0" bIns="0" rtlCol="0">
            <a:spAutoFit/>
          </a:bodyPr>
          <a:lstStyle/>
          <a:p>
            <a:pPr algn="ctr">
              <a:lnSpc>
                <a:spcPts val="4247"/>
              </a:lnSpc>
              <a:spcBef>
                <a:spcPct val="0"/>
              </a:spcBef>
              <a:spcAft>
                <a:spcPct val="0"/>
              </a:spcAft>
            </a:pPr>
            <a:r>
              <a:rPr sz="40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子序列</a:t>
            </a:r>
            <a:endParaRPr sz="4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41261" y="1258502"/>
            <a:ext cx="8629167"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设序列</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1" name="object 11"/>
          <p:cNvSpPr txBox="1"/>
          <p:nvPr/>
        </p:nvSpPr>
        <p:spPr>
          <a:xfrm>
            <a:off x="421212" y="2751283"/>
            <a:ext cx="8806871" cy="359073"/>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若存在</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的元素构成的严格递增序列使得</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object 15"/>
          <p:cNvSpPr txBox="1"/>
          <p:nvPr/>
        </p:nvSpPr>
        <p:spPr>
          <a:xfrm>
            <a:off x="421211" y="3978797"/>
            <a:ext cx="8291865" cy="359073"/>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则称</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sz="2800" b="1" spc="12" dirty="0" err="1">
                <a:solidFill>
                  <a:srgbClr val="A50021"/>
                </a:solidFill>
                <a:latin typeface="Times New Roman" panose="02020603050405020304" pitchFamily="18" charset="0"/>
                <a:ea typeface="黑体" panose="02010609060101010101" pitchFamily="49" charset="-122"/>
                <a:cs typeface="Times New Roman" panose="02020603050405020304" pitchFamily="18" charset="0"/>
              </a:rPr>
              <a:t>子序列</a:t>
            </a:r>
            <a:endParaRPr sz="2800" b="1" spc="12"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object 16"/>
          <p:cNvSpPr txBox="1"/>
          <p:nvPr/>
        </p:nvSpPr>
        <p:spPr>
          <a:xfrm>
            <a:off x="441261" y="4553089"/>
            <a:ext cx="8725870" cy="359073"/>
          </a:xfrm>
          <a:prstGeom prst="rect">
            <a:avLst/>
          </a:prstGeom>
        </p:spPr>
        <p:txBody>
          <a:bodyPr vert="horz" wrap="square" lIns="0" tIns="0" rIns="0" bIns="0" rtlCol="0">
            <a:spAutoFit/>
          </a:bodyPr>
          <a:lstStyle/>
          <a:p>
            <a:pPr>
              <a:lnSpc>
                <a:spcPts val="2828"/>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i="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9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sz="2800" b="1" spc="12" dirty="0" err="1">
                <a:solidFill>
                  <a:srgbClr val="A50021"/>
                </a:solidFill>
                <a:latin typeface="Times New Roman" panose="02020603050405020304" pitchFamily="18" charset="0"/>
                <a:ea typeface="黑体" panose="02010609060101010101" pitchFamily="49" charset="-122"/>
                <a:cs typeface="Times New Roman" panose="02020603050405020304" pitchFamily="18" charset="0"/>
              </a:rPr>
              <a:t>公共子序列</a:t>
            </a:r>
            <a:r>
              <a:rPr sz="28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的子序列</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object 17"/>
          <p:cNvSpPr txBox="1"/>
          <p:nvPr/>
        </p:nvSpPr>
        <p:spPr>
          <a:xfrm>
            <a:off x="379673" y="5104986"/>
            <a:ext cx="8787457"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A50021"/>
                </a:solidFill>
                <a:latin typeface="Times New Roman" panose="02020603050405020304" pitchFamily="18" charset="0"/>
                <a:ea typeface="黑体" panose="02010609060101010101" pitchFamily="49" charset="-122"/>
                <a:cs typeface="Times New Roman" panose="02020603050405020304" pitchFamily="18" charset="0"/>
              </a:rPr>
              <a:t>子序列的长度</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：子序列的元素个数</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2170969" y="1668917"/>
            <a:ext cx="3369294" cy="905895"/>
          </a:xfrm>
          <a:prstGeom prst="rect">
            <a:avLst/>
          </a:prstGeom>
        </p:spPr>
      </p:pic>
      <p:pic>
        <p:nvPicPr>
          <p:cNvPr id="20" name="图片 19"/>
          <p:cNvPicPr>
            <a:picLocks noChangeAspect="1"/>
          </p:cNvPicPr>
          <p:nvPr/>
        </p:nvPicPr>
        <p:blipFill>
          <a:blip r:embed="rId4"/>
          <a:stretch>
            <a:fillRect/>
          </a:stretch>
        </p:blipFill>
        <p:spPr>
          <a:xfrm>
            <a:off x="2246501" y="3221309"/>
            <a:ext cx="3607761" cy="551672"/>
          </a:xfrm>
          <a:prstGeom prst="rect">
            <a:avLst/>
          </a:prstGeom>
        </p:spPr>
      </p:pic>
    </p:spTree>
    <p:extLst>
      <p:ext uri="{BB962C8B-B14F-4D97-AF65-F5344CB8AC3E}">
        <p14:creationId xmlns:p14="http://schemas.microsoft.com/office/powerpoint/2010/main" val="35618060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474940" y="218044"/>
            <a:ext cx="884773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最长公共子序列</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82249" y="1537885"/>
            <a:ext cx="8982466" cy="333425"/>
          </a:xfrm>
          <a:prstGeom prst="rect">
            <a:avLst/>
          </a:prstGeom>
        </p:spPr>
        <p:txBody>
          <a:bodyPr vert="horz" wrap="square" lIns="0" tIns="0" rIns="0" bIns="0" rtlCol="0">
            <a:spAutoFit/>
          </a:bodyPr>
          <a:lstStyle/>
          <a:p>
            <a:pPr>
              <a:lnSpc>
                <a:spcPts val="2553"/>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问题：</a:t>
            </a: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给定序列</a:t>
            </a:r>
            <a:endParaRPr sz="2551" b="1" dirty="0">
              <a:solidFill>
                <a:srgbClr val="000000"/>
              </a:solidFill>
              <a:latin typeface="JPMBAD+Times New Roman,Bold"/>
              <a:cs typeface="JPMBAD+Times New Roman,Bold"/>
            </a:endParaRPr>
          </a:p>
        </p:txBody>
      </p:sp>
      <p:sp>
        <p:nvSpPr>
          <p:cNvPr id="12" name="object 12"/>
          <p:cNvSpPr txBox="1"/>
          <p:nvPr/>
        </p:nvSpPr>
        <p:spPr>
          <a:xfrm>
            <a:off x="382249" y="3053198"/>
            <a:ext cx="8982465"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的最长公共子序列</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3"/>
          <p:cNvSpPr txBox="1"/>
          <p:nvPr/>
        </p:nvSpPr>
        <p:spPr>
          <a:xfrm>
            <a:off x="422831" y="3606196"/>
            <a:ext cx="1461927" cy="333425"/>
          </a:xfrm>
          <a:prstGeom prst="rect">
            <a:avLst/>
          </a:prstGeom>
        </p:spPr>
        <p:txBody>
          <a:bodyPr vert="horz" wrap="square" lIns="0" tIns="0" rIns="0" bIns="0" rtlCol="0">
            <a:spAutoFit/>
          </a:bodyPr>
          <a:lstStyle/>
          <a:p>
            <a:pPr>
              <a:lnSpc>
                <a:spcPts val="2551"/>
              </a:lnSpc>
              <a:spcBef>
                <a:spcPct val="0"/>
              </a:spcBef>
              <a:spcAft>
                <a:spcPct val="0"/>
              </a:spcAft>
            </a:pPr>
            <a:r>
              <a:rPr sz="28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实例</a:t>
            </a:r>
            <a:r>
              <a:rPr sz="2551" spc="15" dirty="0">
                <a:solidFill>
                  <a:srgbClr val="000000"/>
                </a:solidFill>
                <a:latin typeface="DDIDGR+ËÎÌå"/>
                <a:cs typeface="DDIDGR+ËÎÌå"/>
              </a:rPr>
              <a:t>：</a:t>
            </a:r>
          </a:p>
        </p:txBody>
      </p:sp>
      <p:sp>
        <p:nvSpPr>
          <p:cNvPr id="14" name="object 14"/>
          <p:cNvSpPr txBox="1"/>
          <p:nvPr/>
        </p:nvSpPr>
        <p:spPr>
          <a:xfrm>
            <a:off x="433341" y="4124195"/>
            <a:ext cx="8763209" cy="1308050"/>
          </a:xfrm>
          <a:prstGeom prst="rect">
            <a:avLst/>
          </a:prstGeom>
        </p:spPr>
        <p:txBody>
          <a:bodyPr vert="horz" wrap="square" lIns="0" tIns="0" rIns="0" bIns="0" rtlCol="0">
            <a:spAutoFit/>
          </a:bodyPr>
          <a:lstStyle/>
          <a:p>
            <a:pPr>
              <a:lnSpc>
                <a:spcPts val="2824"/>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40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spc="17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B</a:t>
            </a:r>
            <a:r>
              <a:rPr sz="2800" b="1" spc="1913"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C</a:t>
            </a:r>
            <a:r>
              <a:rPr sz="2800" b="1" spc="1918"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B</a:t>
            </a:r>
            <a:r>
              <a:rPr sz="2800" b="1" spc="1908"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D</a:t>
            </a:r>
            <a:r>
              <a:rPr sz="2800" b="1" spc="178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A</a:t>
            </a:r>
            <a:r>
              <a:rPr sz="2800" b="1" spc="178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p>
          <a:p>
            <a:pPr>
              <a:lnSpc>
                <a:spcPts val="2824"/>
              </a:lnSpc>
              <a:spcBef>
                <a:spcPts val="874"/>
              </a:spcBef>
              <a:spcAft>
                <a:spcPct val="0"/>
              </a:spcAft>
            </a:pPr>
            <a:r>
              <a:rPr sz="2800" b="1" i="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86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B</a:t>
            </a:r>
            <a:r>
              <a:rPr sz="2800" b="1" spc="1908"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D</a:t>
            </a:r>
            <a:r>
              <a:rPr sz="2800" b="1" spc="19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C</a:t>
            </a:r>
            <a:r>
              <a:rPr sz="2800" b="1" spc="1770"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spc="178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B</a:t>
            </a:r>
            <a:r>
              <a:rPr sz="2800" b="1" spc="178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A</a:t>
            </a:r>
          </a:p>
          <a:p>
            <a:pPr>
              <a:lnSpc>
                <a:spcPts val="2828"/>
              </a:lnSpc>
              <a:spcBef>
                <a:spcPts val="911"/>
              </a:spcBef>
              <a:spcAft>
                <a:spcPct val="0"/>
              </a:spcAft>
            </a:pPr>
            <a:r>
              <a:rPr sz="2800" spc="13" dirty="0" err="1">
                <a:solidFill>
                  <a:srgbClr val="0D0D0D"/>
                </a:solidFill>
                <a:latin typeface="黑体" panose="02010609060101010101" pitchFamily="49" charset="-122"/>
                <a:ea typeface="黑体" panose="02010609060101010101" pitchFamily="49" charset="-122"/>
                <a:cs typeface="DDIDGR+ËÎÌå"/>
              </a:rPr>
              <a:t>最长公共子序列</a:t>
            </a:r>
            <a:r>
              <a:rPr sz="2800" b="1" dirty="0">
                <a:solidFill>
                  <a:srgbClr val="0D0D0D"/>
                </a:solidFill>
                <a:latin typeface="黑体" panose="02010609060101010101" pitchFamily="49" charset="-122"/>
                <a:ea typeface="黑体" panose="02010609060101010101" pitchFamily="49" charset="-122"/>
                <a:cs typeface="JPMBAD+Times New Roman,Bold"/>
              </a:rPr>
              <a:t>:</a:t>
            </a:r>
            <a:r>
              <a:rPr sz="2800" b="1" spc="1268" dirty="0">
                <a:solidFill>
                  <a:srgbClr val="0D0D0D"/>
                </a:solidFill>
                <a:latin typeface="黑体" panose="02010609060101010101" pitchFamily="49" charset="-122"/>
                <a:ea typeface="黑体" panose="02010609060101010101" pitchFamily="49" charset="-122"/>
                <a:cs typeface="JPMBAD+Times New Roman,Bold"/>
              </a:rPr>
              <a:t> </a:t>
            </a:r>
            <a:r>
              <a:rPr sz="2800" b="1" dirty="0">
                <a:solidFill>
                  <a:srgbClr val="FF3300"/>
                </a:solidFill>
                <a:latin typeface="黑体" panose="02010609060101010101" pitchFamily="49" charset="-122"/>
                <a:ea typeface="黑体" panose="02010609060101010101" pitchFamily="49" charset="-122"/>
                <a:cs typeface="JPMBAD+Times New Roman,Bold"/>
              </a:rPr>
              <a:t>B</a:t>
            </a:r>
            <a:r>
              <a:rPr sz="2800" b="1" spc="631" dirty="0">
                <a:solidFill>
                  <a:srgbClr val="FF3300"/>
                </a:solidFill>
                <a:latin typeface="黑体" panose="02010609060101010101" pitchFamily="49" charset="-122"/>
                <a:ea typeface="黑体" panose="02010609060101010101" pitchFamily="49" charset="-122"/>
                <a:cs typeface="JPMBAD+Times New Roman,Bold"/>
              </a:rPr>
              <a:t> </a:t>
            </a:r>
            <a:r>
              <a:rPr sz="2800" b="1" dirty="0">
                <a:solidFill>
                  <a:srgbClr val="FF3300"/>
                </a:solidFill>
                <a:latin typeface="黑体" panose="02010609060101010101" pitchFamily="49" charset="-122"/>
                <a:ea typeface="黑体" panose="02010609060101010101" pitchFamily="49" charset="-122"/>
                <a:cs typeface="JPMBAD+Times New Roman,Bold"/>
              </a:rPr>
              <a:t>C</a:t>
            </a:r>
            <a:r>
              <a:rPr sz="2800" b="1" spc="645" dirty="0">
                <a:solidFill>
                  <a:srgbClr val="FF3300"/>
                </a:solidFill>
                <a:latin typeface="黑体" panose="02010609060101010101" pitchFamily="49" charset="-122"/>
                <a:ea typeface="黑体" panose="02010609060101010101" pitchFamily="49" charset="-122"/>
                <a:cs typeface="JPMBAD+Times New Roman,Bold"/>
              </a:rPr>
              <a:t> </a:t>
            </a:r>
            <a:r>
              <a:rPr sz="2800" b="1" dirty="0">
                <a:solidFill>
                  <a:srgbClr val="FF3300"/>
                </a:solidFill>
                <a:latin typeface="黑体" panose="02010609060101010101" pitchFamily="49" charset="-122"/>
                <a:ea typeface="黑体" panose="02010609060101010101" pitchFamily="49" charset="-122"/>
                <a:cs typeface="JPMBAD+Times New Roman,Bold"/>
              </a:rPr>
              <a:t>B</a:t>
            </a:r>
            <a:r>
              <a:rPr sz="2800" b="1" spc="494" dirty="0">
                <a:solidFill>
                  <a:srgbClr val="FF3300"/>
                </a:solidFill>
                <a:latin typeface="黑体" panose="02010609060101010101" pitchFamily="49" charset="-122"/>
                <a:ea typeface="黑体" panose="02010609060101010101" pitchFamily="49" charset="-122"/>
                <a:cs typeface="JPMBAD+Times New Roman,Bold"/>
              </a:rPr>
              <a:t> </a:t>
            </a:r>
            <a:r>
              <a:rPr sz="2800" b="1" dirty="0">
                <a:solidFill>
                  <a:srgbClr val="FF3300"/>
                </a:solidFill>
                <a:latin typeface="黑体" panose="02010609060101010101" pitchFamily="49" charset="-122"/>
                <a:ea typeface="黑体" panose="02010609060101010101" pitchFamily="49" charset="-122"/>
                <a:cs typeface="JPMBAD+Times New Roman,Bold"/>
              </a:rPr>
              <a:t>A,</a:t>
            </a:r>
            <a:r>
              <a:rPr sz="2800" b="1" spc="641" dirty="0">
                <a:solidFill>
                  <a:srgbClr val="FF3300"/>
                </a:solidFill>
                <a:latin typeface="黑体" panose="02010609060101010101" pitchFamily="49" charset="-122"/>
                <a:ea typeface="黑体" panose="02010609060101010101" pitchFamily="49" charset="-122"/>
                <a:cs typeface="JPMBAD+Times New Roman,Bold"/>
              </a:rPr>
              <a:t> </a:t>
            </a:r>
            <a:r>
              <a:rPr sz="2800" spc="12" dirty="0">
                <a:solidFill>
                  <a:srgbClr val="0D0D0D"/>
                </a:solidFill>
                <a:latin typeface="黑体" panose="02010609060101010101" pitchFamily="49" charset="-122"/>
                <a:ea typeface="黑体" panose="02010609060101010101" pitchFamily="49" charset="-122"/>
                <a:cs typeface="DDIDGR+ËÎÌå"/>
              </a:rPr>
              <a:t>长度</a:t>
            </a:r>
            <a:r>
              <a:rPr sz="2800" b="1" dirty="0">
                <a:solidFill>
                  <a:srgbClr val="0D0D0D"/>
                </a:solidFill>
                <a:latin typeface="黑体" panose="02010609060101010101" pitchFamily="49" charset="-122"/>
                <a:ea typeface="黑体" panose="02010609060101010101" pitchFamily="49" charset="-122"/>
                <a:cs typeface="JPMBAD+Times New Roman,Bold"/>
              </a:rPr>
              <a:t>4</a:t>
            </a:r>
          </a:p>
        </p:txBody>
      </p:sp>
      <p:pic>
        <p:nvPicPr>
          <p:cNvPr id="2" name="图片 1"/>
          <p:cNvPicPr>
            <a:picLocks noChangeAspect="1"/>
          </p:cNvPicPr>
          <p:nvPr/>
        </p:nvPicPr>
        <p:blipFill>
          <a:blip r:embed="rId3"/>
          <a:stretch>
            <a:fillRect/>
          </a:stretch>
        </p:blipFill>
        <p:spPr>
          <a:xfrm>
            <a:off x="3087767" y="1867723"/>
            <a:ext cx="3288519" cy="1069865"/>
          </a:xfrm>
          <a:prstGeom prst="rect">
            <a:avLst/>
          </a:prstGeom>
        </p:spPr>
      </p:pic>
    </p:spTree>
    <p:extLst>
      <p:ext uri="{BB962C8B-B14F-4D97-AF65-F5344CB8AC3E}">
        <p14:creationId xmlns:p14="http://schemas.microsoft.com/office/powerpoint/2010/main" val="5007258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02213" y="218044"/>
            <a:ext cx="8788932"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蛮力算法</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object 4"/>
              <p:cNvSpPr txBox="1"/>
              <p:nvPr/>
            </p:nvSpPr>
            <p:spPr>
              <a:xfrm>
                <a:off x="421211" y="1137349"/>
                <a:ext cx="8722788" cy="397545"/>
              </a:xfrm>
              <a:prstGeom prst="rect">
                <a:avLst/>
              </a:prstGeom>
            </p:spPr>
            <p:txBody>
              <a:bodyPr vert="horz" wrap="square" lIns="0" tIns="0" rIns="0" bIns="0" rtlCol="0">
                <a:spAutoFit/>
              </a:bodyPr>
              <a:lstStyle/>
              <a:p>
                <a:pPr>
                  <a:lnSpc>
                    <a:spcPts val="3125"/>
                  </a:lnSpc>
                  <a:spcBef>
                    <a:spcPct val="0"/>
                  </a:spcBef>
                  <a:spcAft>
                    <a:spcPct val="0"/>
                  </a:spcAft>
                </a:pPr>
                <a:r>
                  <a:rPr sz="2800" b="1"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不妨设</a:t>
                </a:r>
                <a:r>
                  <a:rPr sz="2800" b="1" spc="499"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14:m>
                  <m:oMath xmlns:m="http://schemas.openxmlformats.org/officeDocument/2006/math">
                    <m:r>
                      <a:rPr lang="en-US" sz="2800" b="1" i="1" smtClean="0">
                        <a:solidFill>
                          <a:srgbClr val="000000"/>
                        </a:solidFill>
                        <a:latin typeface="Cambria Math" panose="02040503050406030204" pitchFamily="18" charset="0"/>
                        <a:ea typeface="Cambria Math" panose="02040503050406030204" pitchFamily="18" charset="0"/>
                        <a:cs typeface="FFNSPS+Times New Roman,BoldItalic"/>
                      </a:rPr>
                      <m:t>≤</m:t>
                    </m:r>
                  </m:oMath>
                </a14:m>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n</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2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spc="1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object 4"/>
              <p:cNvSpPr txBox="1">
                <a:spLocks noRot="1" noChangeAspect="1" noMove="1" noResize="1" noEditPoints="1" noAdjustHandles="1" noChangeArrowheads="1" noChangeShapeType="1" noTextEdit="1"/>
              </p:cNvSpPr>
              <p:nvPr/>
            </p:nvSpPr>
            <p:spPr>
              <a:xfrm>
                <a:off x="421211" y="1137349"/>
                <a:ext cx="8722788" cy="397545"/>
              </a:xfrm>
              <a:prstGeom prst="rect">
                <a:avLst/>
              </a:prstGeom>
              <a:blipFill>
                <a:blip r:embed="rId3"/>
                <a:stretch>
                  <a:fillRect l="-2446" t="-40000" b="-55385"/>
                </a:stretch>
              </a:blipFill>
            </p:spPr>
            <p:txBody>
              <a:bodyPr/>
              <a:lstStyle/>
              <a:p>
                <a:r>
                  <a:rPr lang="zh-CN" altLang="en-US">
                    <a:noFill/>
                  </a:rPr>
                  <a:t> </a:t>
                </a:r>
              </a:p>
            </p:txBody>
          </p:sp>
        </mc:Fallback>
      </mc:AlternateContent>
      <p:sp>
        <p:nvSpPr>
          <p:cNvPr id="5" name="object 5"/>
          <p:cNvSpPr txBox="1"/>
          <p:nvPr/>
        </p:nvSpPr>
        <p:spPr>
          <a:xfrm>
            <a:off x="421211" y="1963833"/>
            <a:ext cx="8596665" cy="359073"/>
          </a:xfrm>
          <a:prstGeom prst="rect">
            <a:avLst/>
          </a:prstGeom>
        </p:spPr>
        <p:txBody>
          <a:bodyPr vert="horz" wrap="square" lIns="0" tIns="0" rIns="0" bIns="0" rtlCol="0">
            <a:spAutoFit/>
          </a:bodyPr>
          <a:lstStyle/>
          <a:p>
            <a:pPr>
              <a:lnSpc>
                <a:spcPts val="2824"/>
              </a:lnSpc>
              <a:spcBef>
                <a:spcPct val="0"/>
              </a:spcBef>
              <a:spcAft>
                <a:spcPct val="0"/>
              </a:spcAft>
            </a:pP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算法：依次检查 </a:t>
            </a:r>
            <a:r>
              <a:rPr lang="en-US" altLang="zh-CN"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的每个子序列在 </a:t>
            </a:r>
            <a:r>
              <a:rPr lang="en-US" altLang="zh-CN"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中是否</a:t>
            </a:r>
            <a:r>
              <a:rPr lang="zh-CN" altLang="en-US" sz="2800" b="1" spc="1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出现</a:t>
            </a:r>
            <a:endPar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421211" y="2824856"/>
            <a:ext cx="3993134"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000000"/>
                </a:solidFill>
                <a:latin typeface="黑体" panose="02010609060101010101" pitchFamily="49" charset="-122"/>
                <a:ea typeface="黑体" panose="02010609060101010101" pitchFamily="49" charset="-122"/>
                <a:cs typeface="Times New Roman" panose="02020603050405020304" pitchFamily="18" charset="0"/>
              </a:rPr>
              <a:t>时间复杂度</a:t>
            </a:r>
            <a:r>
              <a:rPr sz="2800" b="1" spc="12"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p>
        </p:txBody>
      </p:sp>
      <p:sp>
        <p:nvSpPr>
          <p:cNvPr id="8" name="object 8"/>
          <p:cNvSpPr txBox="1"/>
          <p:nvPr/>
        </p:nvSpPr>
        <p:spPr>
          <a:xfrm>
            <a:off x="1169676" y="3529263"/>
            <a:ext cx="7249110" cy="359073"/>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每个子序列</a:t>
            </a:r>
            <a:r>
              <a:rPr sz="2800" b="1" spc="-6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p:nvPr/>
        </p:nvSpPr>
        <p:spPr>
          <a:xfrm>
            <a:off x="1169676" y="4220543"/>
            <a:ext cx="5601787" cy="359073"/>
          </a:xfrm>
          <a:prstGeom prst="rect">
            <a:avLst/>
          </a:prstGeom>
        </p:spPr>
        <p:txBody>
          <a:bodyPr vert="horz" wrap="square" lIns="0" tIns="0" rIns="0" bIns="0" rtlCol="0">
            <a:spAutoFit/>
          </a:bodyPr>
          <a:lstStyle/>
          <a:p>
            <a:pPr>
              <a:lnSpc>
                <a:spcPts val="2824"/>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有</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n-US" sz="2800" b="1" baseline="30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 </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a:t>
            </a:r>
            <a:r>
              <a:rPr lang="zh-CN" altLang="en-US" sz="2800" b="1" spc="-203"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序列</a:t>
            </a:r>
            <a:endPar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txBox="1"/>
          <p:nvPr/>
        </p:nvSpPr>
        <p:spPr>
          <a:xfrm>
            <a:off x="481194" y="4912781"/>
            <a:ext cx="8641785" cy="359073"/>
          </a:xfrm>
          <a:prstGeom prst="rect">
            <a:avLst/>
          </a:prstGeom>
        </p:spPr>
        <p:txBody>
          <a:bodyPr vert="horz" wrap="square" lIns="0" tIns="0" rIns="0" bIns="0" rtlCol="0">
            <a:spAutoFit/>
          </a:bodyPr>
          <a:lstStyle/>
          <a:p>
            <a:pPr>
              <a:lnSpc>
                <a:spcPts val="2828"/>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最坏情况下时间复杂度：</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baseline="30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81406569"/>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5674" y="194058"/>
            <a:ext cx="8714450"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子问题界定</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40208" y="1292569"/>
            <a:ext cx="8929915" cy="359073"/>
          </a:xfrm>
          <a:prstGeom prst="rect">
            <a:avLst/>
          </a:prstGeom>
        </p:spPr>
        <p:txBody>
          <a:bodyPr vert="horz" wrap="square" lIns="0" tIns="0" rIns="0" bIns="0" rtlCol="0">
            <a:spAutoFit/>
          </a:bodyPr>
          <a:lstStyle/>
          <a:p>
            <a:pPr>
              <a:lnSpc>
                <a:spcPts val="2824"/>
              </a:lnSpc>
              <a:spcBef>
                <a:spcPct val="0"/>
              </a:spcBef>
              <a:spcAft>
                <a:spcPct val="0"/>
              </a:spcAft>
            </a:pP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参数</a:t>
            </a:r>
            <a:r>
              <a:rPr sz="2800"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界定子问题</a:t>
            </a:r>
            <a:endParaRPr sz="2800"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340209" y="1762785"/>
            <a:ext cx="8929914" cy="359073"/>
          </a:xfrm>
          <a:prstGeom prst="rect">
            <a:avLst/>
          </a:prstGeom>
        </p:spPr>
        <p:txBody>
          <a:bodyPr vert="horz" wrap="square" lIns="0" tIns="0" rIns="0" bIns="0" rtlCol="0">
            <a:spAutoFit/>
          </a:bodyPr>
          <a:lstStyle/>
          <a:p>
            <a:pPr>
              <a:lnSpc>
                <a:spcPts val="2824"/>
              </a:lnSpc>
              <a:spcBef>
                <a:spcPct val="0"/>
              </a:spcBef>
              <a:spcAft>
                <a:spcPct val="0"/>
              </a:spcAft>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i="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的终止位置是</a:t>
            </a:r>
            <a:r>
              <a:rPr sz="2800"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11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的终止位置是</a:t>
            </a:r>
            <a:r>
              <a:rPr sz="2800"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1173708" y="2165396"/>
            <a:ext cx="5752609" cy="600887"/>
          </a:xfrm>
          <a:prstGeom prst="rect">
            <a:avLst/>
          </a:prstGeom>
        </p:spPr>
      </p:pic>
      <p:pic>
        <p:nvPicPr>
          <p:cNvPr id="22" name="图片 21"/>
          <p:cNvPicPr>
            <a:picLocks noChangeAspect="1"/>
          </p:cNvPicPr>
          <p:nvPr/>
        </p:nvPicPr>
        <p:blipFill>
          <a:blip r:embed="rId3"/>
          <a:stretch>
            <a:fillRect/>
          </a:stretch>
        </p:blipFill>
        <p:spPr>
          <a:xfrm>
            <a:off x="2136454" y="2766283"/>
            <a:ext cx="4942857" cy="3190476"/>
          </a:xfrm>
          <a:prstGeom prst="rect">
            <a:avLst/>
          </a:prstGeom>
        </p:spPr>
      </p:pic>
    </p:spTree>
    <p:extLst>
      <p:ext uri="{BB962C8B-B14F-4D97-AF65-F5344CB8AC3E}">
        <p14:creationId xmlns:p14="http://schemas.microsoft.com/office/powerpoint/2010/main" val="4184472776"/>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95854" y="229944"/>
            <a:ext cx="8574270" cy="551433"/>
          </a:xfrm>
          <a:prstGeom prst="rect">
            <a:avLst/>
          </a:prstGeom>
        </p:spPr>
        <p:txBody>
          <a:bodyPr vert="horz" wrap="square" lIns="0" tIns="0" rIns="0" bIns="0" rtlCol="0">
            <a:spAutoFit/>
          </a:bodyPr>
          <a:lstStyle/>
          <a:p>
            <a:pPr algn="ctr">
              <a:lnSpc>
                <a:spcPts val="4250"/>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子问题间的依赖关系</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88883" y="1098688"/>
            <a:ext cx="9038896" cy="861774"/>
          </a:xfrm>
          <a:prstGeom prst="rect">
            <a:avLst/>
          </a:prstGeom>
        </p:spPr>
        <p:txBody>
          <a:bodyPr vert="horz" wrap="square" lIns="0" tIns="0" rIns="0" bIns="0" rtlCol="0">
            <a:spAutoFit/>
          </a:bodyPr>
          <a:lstStyle/>
          <a:p>
            <a:pPr algn="just">
              <a:spcBef>
                <a:spcPct val="0"/>
              </a:spcBef>
              <a:spcAft>
                <a:spcPct val="0"/>
              </a:spcAft>
            </a:pPr>
            <a:r>
              <a:rPr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设</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spc="21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spc="21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spc="678"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=&lt;</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spc="219"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spc="219"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spc="29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=&lt;z</a:t>
            </a:r>
            <a:r>
              <a:rPr lang="en-US" sz="28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z</a:t>
            </a:r>
            <a:r>
              <a:rPr lang="en-US" sz="28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lang="en-US"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en-US" sz="2800" b="1"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LCS，</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那么</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object 12"/>
              <p:cNvSpPr txBox="1"/>
              <p:nvPr/>
            </p:nvSpPr>
            <p:spPr>
              <a:xfrm>
                <a:off x="691401" y="2127170"/>
                <a:ext cx="5509701" cy="861774"/>
              </a:xfrm>
              <a:prstGeom prst="rect">
                <a:avLst/>
              </a:prstGeom>
            </p:spPr>
            <p:txBody>
              <a:bodyPr vert="horz" wrap="square" lIns="0" tIns="0" rIns="0" bIns="0" rtlCol="0">
                <a:spAutoFit/>
              </a:bodyPr>
              <a:lstStyle/>
              <a:p>
                <a:pPr>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1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若</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spc="67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spc="94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14:m>
                  <m:oMath xmlns:m="http://schemas.openxmlformats.org/officeDocument/2006/math">
                    <m:r>
                      <a:rPr lang="en-US" sz="2800" b="1" i="1" spc="946"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en-US" sz="2800" b="1" spc="643"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spc="1123"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sz="2800" b="1" spc="309"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638"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sz="2800" b="1" spc="638"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0"/>
                  </a:spcBef>
                  <a:spcAft>
                    <a:spcPct val="0"/>
                  </a:spcAft>
                </a:pP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且</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en-US" altLang="zh-CN" sz="2800" b="1" spc="643"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k-1</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lang="en-US" altLang="zh-CN"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spc="643"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m-1</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lang="en-US" altLang="zh-CN"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643"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n-1</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LCS</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2" name="object 12"/>
              <p:cNvSpPr txBox="1">
                <a:spLocks noRot="1" noChangeAspect="1" noMove="1" noResize="1" noEditPoints="1" noAdjustHandles="1" noChangeArrowheads="1" noChangeShapeType="1" noTextEdit="1"/>
              </p:cNvSpPr>
              <p:nvPr/>
            </p:nvSpPr>
            <p:spPr>
              <a:xfrm>
                <a:off x="691401" y="2127170"/>
                <a:ext cx="5509701" cy="861774"/>
              </a:xfrm>
              <a:prstGeom prst="rect">
                <a:avLst/>
              </a:prstGeom>
              <a:blipFill>
                <a:blip r:embed="rId2"/>
                <a:stretch>
                  <a:fillRect l="-3872" t="-14894" b="-248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2"/>
              <p:cNvSpPr txBox="1"/>
              <p:nvPr/>
            </p:nvSpPr>
            <p:spPr>
              <a:xfrm>
                <a:off x="691403" y="3267052"/>
                <a:ext cx="5194390" cy="861774"/>
              </a:xfrm>
              <a:prstGeom prst="rect">
                <a:avLst/>
              </a:prstGeom>
            </p:spPr>
            <p:txBody>
              <a:bodyPr vert="horz" wrap="square" lIns="0" tIns="0" rIns="0" bIns="0" rtlCol="0">
                <a:spAutoFit/>
              </a:bodyPr>
              <a:lstStyle/>
              <a:p>
                <a:pPr>
                  <a:spcBef>
                    <a:spcPct val="0"/>
                  </a:spcBef>
                  <a:spcAft>
                    <a:spcPct val="0"/>
                  </a:spcAft>
                </a:pP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若</a:t>
                </a:r>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spc="67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14:m>
                  <m:oMath xmlns:m="http://schemas.openxmlformats.org/officeDocument/2006/math">
                    <m:r>
                      <a:rPr lang="en-US" altLang="zh-CN" sz="2800" b="1" i="1" spc="676"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94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800" b="1" spc="15"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spc="67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14:m>
                  <m:oMath xmlns:m="http://schemas.openxmlformats.org/officeDocument/2006/math">
                    <m:r>
                      <a:rPr lang="en-US" altLang="zh-CN" sz="2800" b="1" i="1" spc="676">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946" baseline="-250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14:m>
                  <m:oMath xmlns:m="http://schemas.openxmlformats.org/officeDocument/2006/math">
                    <m:r>
                      <a:rPr lang="en-US" altLang="zh-CN" sz="2800" b="1" i="1" spc="946">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2800" b="1" spc="946" dirty="0" smtClean="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a:spcBef>
                    <a:spcPct val="0"/>
                  </a:spcBef>
                  <a:spcAft>
                    <a:spcPct val="0"/>
                  </a:spcAft>
                </a:pP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spc="67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m-1</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lang="zh-CN" altLang="en-US" sz="2800" b="1" spc="12"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i="1" spc="5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LCS</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2" name="object 22"/>
              <p:cNvSpPr txBox="1">
                <a:spLocks noRot="1" noChangeAspect="1" noMove="1" noResize="1" noEditPoints="1" noAdjustHandles="1" noChangeArrowheads="1" noChangeShapeType="1" noTextEdit="1"/>
              </p:cNvSpPr>
              <p:nvPr/>
            </p:nvSpPr>
            <p:spPr>
              <a:xfrm>
                <a:off x="691403" y="3267052"/>
                <a:ext cx="5194390" cy="861774"/>
              </a:xfrm>
              <a:prstGeom prst="rect">
                <a:avLst/>
              </a:prstGeom>
              <a:blipFill>
                <a:blip r:embed="rId3"/>
                <a:stretch>
                  <a:fillRect l="-4103" t="-14894" b="-248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29"/>
              <p:cNvSpPr txBox="1"/>
              <p:nvPr/>
            </p:nvSpPr>
            <p:spPr>
              <a:xfrm>
                <a:off x="691402" y="4334630"/>
                <a:ext cx="5194392" cy="861774"/>
              </a:xfrm>
              <a:prstGeom prst="rect">
                <a:avLst/>
              </a:prstGeom>
            </p:spPr>
            <p:txBody>
              <a:bodyPr vert="horz" wrap="square" lIns="0" tIns="0" rIns="0" bIns="0" rtlCol="0">
                <a:spAutoFit/>
              </a:bodyPr>
              <a:lstStyle/>
              <a:p>
                <a:pPr>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若</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spc="676" baseline="-250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14:m>
                  <m:oMath xmlns:m="http://schemas.openxmlformats.org/officeDocument/2006/math">
                    <m:r>
                      <a:rPr lang="en-US" altLang="zh-CN" sz="2800" b="1" i="1" spc="676">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94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en-US" altLang="zh-CN" sz="2800" b="1" spc="67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a:t>
                </a:r>
                <a14:m>
                  <m:oMath xmlns:m="http://schemas.openxmlformats.org/officeDocument/2006/math">
                    <m:r>
                      <a:rPr lang="en-US" altLang="zh-CN" sz="2800" b="1" i="1" spc="676">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800" b="1" i="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946" baseline="-25000"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14:m>
                  <m:oMath xmlns:m="http://schemas.openxmlformats.org/officeDocument/2006/math">
                    <m:r>
                      <a:rPr lang="en-US" altLang="zh-CN" sz="2800" b="1" i="1" spc="946">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0"/>
                  </a:spcBef>
                  <a:spcAft>
                    <a:spcPct val="0"/>
                  </a:spcAft>
                </a:pP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 </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a:t>
                </a:r>
                <a:r>
                  <a:rPr lang="zh-CN" altLang="en-US"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b="1" spc="946"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n-1</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LCS.</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9" name="object 29"/>
              <p:cNvSpPr txBox="1">
                <a:spLocks noRot="1" noChangeAspect="1" noMove="1" noResize="1" noEditPoints="1" noAdjustHandles="1" noChangeArrowheads="1" noChangeShapeType="1" noTextEdit="1"/>
              </p:cNvSpPr>
              <p:nvPr/>
            </p:nvSpPr>
            <p:spPr>
              <a:xfrm>
                <a:off x="691402" y="4334630"/>
                <a:ext cx="5194392" cy="861774"/>
              </a:xfrm>
              <a:prstGeom prst="rect">
                <a:avLst/>
              </a:prstGeom>
              <a:blipFill>
                <a:blip r:embed="rId4"/>
                <a:stretch>
                  <a:fillRect l="-4103" t="-14894" b="-25532"/>
                </a:stretch>
              </a:blipFill>
            </p:spPr>
            <p:txBody>
              <a:bodyPr/>
              <a:lstStyle/>
              <a:p>
                <a:r>
                  <a:rPr lang="zh-CN" altLang="en-US">
                    <a:noFill/>
                  </a:rPr>
                  <a:t> </a:t>
                </a:r>
              </a:p>
            </p:txBody>
          </p:sp>
        </mc:Fallback>
      </mc:AlternateContent>
      <p:sp>
        <p:nvSpPr>
          <p:cNvPr id="36" name="object 36"/>
          <p:cNvSpPr txBox="1"/>
          <p:nvPr/>
        </p:nvSpPr>
        <p:spPr>
          <a:xfrm>
            <a:off x="691401" y="5508090"/>
            <a:ext cx="4866286"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满足优化原则和子问题重叠性</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矩形 1"/>
          <p:cNvSpPr/>
          <p:nvPr/>
        </p:nvSpPr>
        <p:spPr>
          <a:xfrm>
            <a:off x="6085490" y="2606566"/>
            <a:ext cx="2511972" cy="127175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5490" y="2608568"/>
            <a:ext cx="2154620" cy="10264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085490" y="2614758"/>
            <a:ext cx="2511972" cy="1026480"/>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096000" y="2592575"/>
            <a:ext cx="2154620" cy="1275939"/>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195931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2" grpId="0"/>
      <p:bldP spid="29" grpId="0"/>
      <p:bldP spid="36" grpId="0"/>
      <p:bldP spid="10" grpId="0" animBg="1"/>
      <p:bldP spid="10" grpId="1" animBg="1"/>
      <p:bldP spid="11" grpId="0" animBg="1"/>
      <p:bldP spid="11" grpId="1" animBg="1"/>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525794" y="188794"/>
            <a:ext cx="8838923"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黑体" panose="02010609060101010101" pitchFamily="49" charset="-122"/>
                <a:ea typeface="黑体" panose="02010609060101010101" pitchFamily="49" charset="-122"/>
                <a:cs typeface="DDIDGR+ËÎÌå"/>
              </a:rPr>
              <a:t>优化函数的递推方程</a:t>
            </a:r>
            <a:endParaRPr sz="4000" b="1" dirty="0">
              <a:solidFill>
                <a:srgbClr val="C00000"/>
              </a:solidFill>
              <a:latin typeface="黑体" panose="02010609060101010101" pitchFamily="49" charset="-122"/>
              <a:ea typeface="黑体" panose="02010609060101010101" pitchFamily="49" charset="-122"/>
              <a:cs typeface="DDIDGR+ËÎÌå"/>
            </a:endParaRPr>
          </a:p>
        </p:txBody>
      </p:sp>
      <p:sp>
        <p:nvSpPr>
          <p:cNvPr id="4" name="object 4"/>
          <p:cNvSpPr txBox="1"/>
          <p:nvPr/>
        </p:nvSpPr>
        <p:spPr>
          <a:xfrm>
            <a:off x="567559" y="1132696"/>
            <a:ext cx="3152951" cy="359073"/>
          </a:xfrm>
          <a:prstGeom prst="rect">
            <a:avLst/>
          </a:prstGeom>
        </p:spPr>
        <p:txBody>
          <a:bodyPr vert="horz" wrap="square" lIns="0" tIns="0" rIns="0" bIns="0" rtlCol="0">
            <a:spAutoFit/>
          </a:bodyPr>
          <a:lstStyle/>
          <a:p>
            <a:pPr>
              <a:lnSpc>
                <a:spcPts val="2824"/>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令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9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的子序列</a:t>
            </a:r>
            <a:endPar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rotWithShape="1">
          <a:blip r:embed="rId3"/>
          <a:srcRect t="1" b="82416"/>
          <a:stretch/>
        </p:blipFill>
        <p:spPr>
          <a:xfrm>
            <a:off x="911946" y="1663290"/>
            <a:ext cx="6600000" cy="627962"/>
          </a:xfrm>
          <a:prstGeom prst="rect">
            <a:avLst/>
          </a:prstGeom>
        </p:spPr>
      </p:pic>
      <p:grpSp>
        <p:nvGrpSpPr>
          <p:cNvPr id="5" name="组合 4"/>
          <p:cNvGrpSpPr/>
          <p:nvPr/>
        </p:nvGrpSpPr>
        <p:grpSpPr>
          <a:xfrm>
            <a:off x="911946" y="3342485"/>
            <a:ext cx="7492830" cy="1585645"/>
            <a:chOff x="525794" y="3700350"/>
            <a:chExt cx="7492830" cy="1585645"/>
          </a:xfrm>
        </p:grpSpPr>
        <p:pic>
          <p:nvPicPr>
            <p:cNvPr id="6" name="图片 5"/>
            <p:cNvPicPr>
              <a:picLocks noChangeAspect="1"/>
            </p:cNvPicPr>
            <p:nvPr/>
          </p:nvPicPr>
          <p:blipFill rotWithShape="1">
            <a:blip r:embed="rId3"/>
            <a:srcRect t="40633" r="83039" b="45535"/>
            <a:stretch/>
          </p:blipFill>
          <p:spPr>
            <a:xfrm>
              <a:off x="525794" y="4246180"/>
              <a:ext cx="1119456" cy="493986"/>
            </a:xfrm>
            <a:prstGeom prst="rect">
              <a:avLst/>
            </a:prstGeom>
          </p:spPr>
        </p:pic>
        <p:pic>
          <p:nvPicPr>
            <p:cNvPr id="7" name="图片 6"/>
            <p:cNvPicPr>
              <a:picLocks noChangeAspect="1"/>
            </p:cNvPicPr>
            <p:nvPr/>
          </p:nvPicPr>
          <p:blipFill rotWithShape="1">
            <a:blip r:embed="rId3"/>
            <a:srcRect t="55602"/>
            <a:stretch/>
          </p:blipFill>
          <p:spPr>
            <a:xfrm>
              <a:off x="1418624" y="3700350"/>
              <a:ext cx="6600000" cy="1585645"/>
            </a:xfrm>
            <a:prstGeom prst="rect">
              <a:avLst/>
            </a:prstGeom>
          </p:spPr>
        </p:pic>
      </p:grpSp>
      <p:pic>
        <p:nvPicPr>
          <p:cNvPr id="8" name="图片 7"/>
          <p:cNvPicPr>
            <a:picLocks noChangeAspect="1"/>
          </p:cNvPicPr>
          <p:nvPr/>
        </p:nvPicPr>
        <p:blipFill rotWithShape="1">
          <a:blip r:embed="rId3"/>
          <a:srcRect t="20751" b="62835"/>
          <a:stretch/>
        </p:blipFill>
        <p:spPr>
          <a:xfrm>
            <a:off x="775513" y="2363785"/>
            <a:ext cx="6600000" cy="586213"/>
          </a:xfrm>
          <a:prstGeom prst="rect">
            <a:avLst/>
          </a:prstGeom>
        </p:spPr>
      </p:pic>
    </p:spTree>
    <p:extLst>
      <p:ext uri="{BB962C8B-B14F-4D97-AF65-F5344CB8AC3E}">
        <p14:creationId xmlns:p14="http://schemas.microsoft.com/office/powerpoint/2010/main" val="3761538418"/>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84578" y="198870"/>
            <a:ext cx="9069629" cy="551433"/>
          </a:xfrm>
          <a:prstGeom prst="rect">
            <a:avLst/>
          </a:prstGeom>
        </p:spPr>
        <p:txBody>
          <a:bodyPr vert="horz" wrap="square" lIns="0" tIns="0" rIns="0" bIns="0" rtlCol="0">
            <a:spAutoFit/>
          </a:bodyPr>
          <a:lstStyle/>
          <a:p>
            <a:pPr marL="1452475" algn="ctr">
              <a:lnSpc>
                <a:spcPts val="4250"/>
              </a:lnSpc>
              <a:spcBef>
                <a:spcPct val="0"/>
              </a:spcBef>
              <a:spcAft>
                <a:spcPct val="0"/>
              </a:spcAft>
            </a:pPr>
            <a:r>
              <a:rPr sz="4000" b="1" spc="11" dirty="0" err="1"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标记函数</a:t>
            </a:r>
            <a:endParaRPr sz="4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3"/>
          <p:cNvSpPr txBox="1"/>
          <p:nvPr/>
        </p:nvSpPr>
        <p:spPr>
          <a:xfrm>
            <a:off x="494070" y="1058567"/>
            <a:ext cx="6219179" cy="397545"/>
          </a:xfrm>
          <a:prstGeom prst="rect">
            <a:avLst/>
          </a:prstGeom>
        </p:spPr>
        <p:txBody>
          <a:bodyPr vert="horz" wrap="square" lIns="0" tIns="0" rIns="0" bIns="0" rtlCol="0">
            <a:spAutoFit/>
          </a:bodyPr>
          <a:lstStyle/>
          <a:p>
            <a:pPr>
              <a:lnSpc>
                <a:spcPts val="3125"/>
              </a:lnSpc>
              <a:spcBef>
                <a:spcPts val="868"/>
              </a:spcBef>
              <a:spcAft>
                <a:spcPct val="0"/>
              </a:spcAft>
            </a:pPr>
            <a:r>
              <a:rPr sz="2800" spc="12"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标记函数</a:t>
            </a:r>
            <a:r>
              <a:rPr sz="2800" dirty="0" smtClean="0">
                <a:solidFill>
                  <a:srgbClr val="000000"/>
                </a:solidFill>
                <a:latin typeface="VQJVCD+Symbol"/>
                <a:cs typeface="VQJVCD+Symbol"/>
              </a:rPr>
              <a:t></a:t>
            </a:r>
            <a:endParaRPr sz="2800" dirty="0">
              <a:solidFill>
                <a:srgbClr val="000000"/>
              </a:solidFill>
              <a:latin typeface="VQJVCD+Symbol"/>
              <a:cs typeface="VQJVCD+Symbol"/>
            </a:endParaRPr>
          </a:p>
        </p:txBody>
      </p:sp>
      <p:pic>
        <p:nvPicPr>
          <p:cNvPr id="2" name="图片 1"/>
          <p:cNvPicPr>
            <a:picLocks noChangeAspect="1"/>
          </p:cNvPicPr>
          <p:nvPr/>
        </p:nvPicPr>
        <p:blipFill>
          <a:blip r:embed="rId2"/>
          <a:stretch>
            <a:fillRect/>
          </a:stretch>
        </p:blipFill>
        <p:spPr>
          <a:xfrm>
            <a:off x="1961651" y="1058567"/>
            <a:ext cx="3440669" cy="379422"/>
          </a:xfrm>
          <a:prstGeom prst="rect">
            <a:avLst/>
          </a:prstGeom>
        </p:spPr>
      </p:pic>
      <p:pic>
        <p:nvPicPr>
          <p:cNvPr id="13" name="图片 12"/>
          <p:cNvPicPr>
            <a:picLocks noChangeAspect="1"/>
          </p:cNvPicPr>
          <p:nvPr/>
        </p:nvPicPr>
        <p:blipFill rotWithShape="1">
          <a:blip r:embed="rId3"/>
          <a:srcRect r="43239" b="55098"/>
          <a:stretch/>
        </p:blipFill>
        <p:spPr>
          <a:xfrm>
            <a:off x="1549753" y="1569663"/>
            <a:ext cx="3200923" cy="427303"/>
          </a:xfrm>
          <a:prstGeom prst="rect">
            <a:avLst/>
          </a:prstGeom>
        </p:spPr>
      </p:pic>
      <p:pic>
        <p:nvPicPr>
          <p:cNvPr id="14" name="图片 13"/>
          <p:cNvPicPr>
            <a:picLocks noChangeAspect="1"/>
          </p:cNvPicPr>
          <p:nvPr/>
        </p:nvPicPr>
        <p:blipFill rotWithShape="1">
          <a:blip r:embed="rId4"/>
          <a:srcRect l="17095" t="253" b="81499"/>
          <a:stretch/>
        </p:blipFill>
        <p:spPr>
          <a:xfrm>
            <a:off x="2355925" y="2646381"/>
            <a:ext cx="4232072" cy="601316"/>
          </a:xfrm>
          <a:prstGeom prst="rect">
            <a:avLst/>
          </a:prstGeom>
        </p:spPr>
      </p:pic>
      <p:pic>
        <p:nvPicPr>
          <p:cNvPr id="7" name="图片 6"/>
          <p:cNvPicPr>
            <a:picLocks noChangeAspect="1"/>
          </p:cNvPicPr>
          <p:nvPr/>
        </p:nvPicPr>
        <p:blipFill rotWithShape="1">
          <a:blip r:embed="rId3"/>
          <a:srcRect l="55937" t="3113" b="50501"/>
          <a:stretch/>
        </p:blipFill>
        <p:spPr>
          <a:xfrm>
            <a:off x="5833242" y="1629102"/>
            <a:ext cx="2484830" cy="441435"/>
          </a:xfrm>
          <a:prstGeom prst="rect">
            <a:avLst/>
          </a:prstGeom>
        </p:spPr>
      </p:pic>
      <p:pic>
        <p:nvPicPr>
          <p:cNvPr id="8" name="图片 7"/>
          <p:cNvPicPr>
            <a:picLocks noChangeAspect="1"/>
          </p:cNvPicPr>
          <p:nvPr/>
        </p:nvPicPr>
        <p:blipFill rotWithShape="1">
          <a:blip r:embed="rId3"/>
          <a:srcRect t="49024" r="55541" b="-4246"/>
          <a:stretch/>
        </p:blipFill>
        <p:spPr>
          <a:xfrm>
            <a:off x="1549753" y="2110517"/>
            <a:ext cx="2507213" cy="525517"/>
          </a:xfrm>
          <a:prstGeom prst="rect">
            <a:avLst/>
          </a:prstGeom>
        </p:spPr>
      </p:pic>
      <p:pic>
        <p:nvPicPr>
          <p:cNvPr id="11" name="图片 10"/>
          <p:cNvPicPr>
            <a:picLocks noChangeAspect="1"/>
          </p:cNvPicPr>
          <p:nvPr/>
        </p:nvPicPr>
        <p:blipFill rotWithShape="1">
          <a:blip r:embed="rId4"/>
          <a:srcRect r="82790"/>
          <a:stretch/>
        </p:blipFill>
        <p:spPr>
          <a:xfrm>
            <a:off x="1408593" y="2593002"/>
            <a:ext cx="878533" cy="3295238"/>
          </a:xfrm>
          <a:prstGeom prst="rect">
            <a:avLst/>
          </a:prstGeom>
        </p:spPr>
      </p:pic>
      <p:sp>
        <p:nvSpPr>
          <p:cNvPr id="4" name="矩形 3"/>
          <p:cNvSpPr/>
          <p:nvPr/>
        </p:nvSpPr>
        <p:spPr>
          <a:xfrm>
            <a:off x="2394041" y="3226182"/>
            <a:ext cx="3729159" cy="2227945"/>
          </a:xfrm>
          <a:prstGeom prst="rect">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394041" y="3236939"/>
            <a:ext cx="3729159" cy="1777308"/>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394041" y="3226182"/>
            <a:ext cx="3285997" cy="2227945"/>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394041" y="3226182"/>
            <a:ext cx="3285997" cy="1777307"/>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上箭头 4"/>
          <p:cNvSpPr/>
          <p:nvPr/>
        </p:nvSpPr>
        <p:spPr>
          <a:xfrm>
            <a:off x="5833242" y="4813703"/>
            <a:ext cx="189186" cy="378372"/>
          </a:xfrm>
          <a:prstGeom prst="upArrow">
            <a:avLst/>
          </a:prstGeom>
          <a:solidFill>
            <a:srgbClr val="FFC000"/>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左箭头 5"/>
          <p:cNvSpPr/>
          <p:nvPr/>
        </p:nvSpPr>
        <p:spPr>
          <a:xfrm>
            <a:off x="5390137" y="5142417"/>
            <a:ext cx="430922" cy="219940"/>
          </a:xfrm>
          <a:prstGeom prst="lef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左箭头 17"/>
          <p:cNvSpPr/>
          <p:nvPr/>
        </p:nvSpPr>
        <p:spPr>
          <a:xfrm rot="2453586">
            <a:off x="5386551" y="4828463"/>
            <a:ext cx="462458" cy="241738"/>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792525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7"/>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6" grpId="1" animBg="1"/>
      <p:bldP spid="17" grpId="0" animBg="1"/>
      <p:bldP spid="17" grpId="1" animBg="1"/>
      <p:bldP spid="5" grpId="0" animBg="1"/>
      <p:bldP spid="6" grpId="0" animBg="1"/>
      <p:bldP spid="6" grpId="1" animBg="1"/>
      <p:bldP spid="18" grpId="0" animBg="1"/>
      <p:bldP spid="18"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5312" y="173138"/>
            <a:ext cx="8940935"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伪码</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583216" y="969939"/>
            <a:ext cx="8087818" cy="397545"/>
          </a:xfrm>
          <a:prstGeom prst="rect">
            <a:avLst/>
          </a:prstGeom>
        </p:spPr>
        <p:txBody>
          <a:bodyPr vert="horz" wrap="square" lIns="0" tIns="0" rIns="0" bIns="0" rtlCol="0">
            <a:spAutoFit/>
          </a:bodyPr>
          <a:lstStyle/>
          <a:p>
            <a:pPr>
              <a:lnSpc>
                <a:spcPts val="3065"/>
              </a:lnSpc>
              <a:spcBef>
                <a:spcPct val="0"/>
              </a:spcBef>
              <a:spcAft>
                <a:spcPct val="0"/>
              </a:spcAft>
            </a:pPr>
            <a:r>
              <a:rPr sz="2800" b="1" spc="16"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r>
              <a:rPr sz="2800" b="1" spc="67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LCS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3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pic>
        <p:nvPicPr>
          <p:cNvPr id="2" name="图片 1"/>
          <p:cNvPicPr>
            <a:picLocks noChangeAspect="1"/>
          </p:cNvPicPr>
          <p:nvPr/>
        </p:nvPicPr>
        <p:blipFill rotWithShape="1">
          <a:blip r:embed="rId2"/>
          <a:srcRect r="23063" b="83354"/>
          <a:stretch/>
        </p:blipFill>
        <p:spPr>
          <a:xfrm>
            <a:off x="1676219" y="1367484"/>
            <a:ext cx="4651009" cy="766116"/>
          </a:xfrm>
          <a:prstGeom prst="rect">
            <a:avLst/>
          </a:prstGeom>
          <a:ln w="15875">
            <a:solidFill>
              <a:srgbClr val="FF0000"/>
            </a:solidFill>
          </a:ln>
        </p:spPr>
      </p:pic>
      <p:pic>
        <p:nvPicPr>
          <p:cNvPr id="5" name="图片 4"/>
          <p:cNvPicPr>
            <a:picLocks noChangeAspect="1"/>
          </p:cNvPicPr>
          <p:nvPr/>
        </p:nvPicPr>
        <p:blipFill rotWithShape="1">
          <a:blip r:embed="rId2"/>
          <a:srcRect l="76069" b="83468"/>
          <a:stretch/>
        </p:blipFill>
        <p:spPr>
          <a:xfrm>
            <a:off x="6436835" y="1245245"/>
            <a:ext cx="1446675" cy="760861"/>
          </a:xfrm>
          <a:prstGeom prst="rect">
            <a:avLst/>
          </a:prstGeom>
        </p:spPr>
      </p:pic>
      <p:pic>
        <p:nvPicPr>
          <p:cNvPr id="6" name="图片 5"/>
          <p:cNvPicPr>
            <a:picLocks noChangeAspect="1"/>
          </p:cNvPicPr>
          <p:nvPr/>
        </p:nvPicPr>
        <p:blipFill rotWithShape="1">
          <a:blip r:embed="rId2"/>
          <a:srcRect l="58161" t="17445" r="8283" b="63982"/>
          <a:stretch/>
        </p:blipFill>
        <p:spPr>
          <a:xfrm>
            <a:off x="5131675" y="2192202"/>
            <a:ext cx="2028497" cy="854765"/>
          </a:xfrm>
          <a:prstGeom prst="rect">
            <a:avLst/>
          </a:prstGeom>
        </p:spPr>
      </p:pic>
      <p:pic>
        <p:nvPicPr>
          <p:cNvPr id="7" name="图片 6"/>
          <p:cNvPicPr>
            <a:picLocks noChangeAspect="1"/>
          </p:cNvPicPr>
          <p:nvPr/>
        </p:nvPicPr>
        <p:blipFill rotWithShape="1">
          <a:blip r:embed="rId2"/>
          <a:srcRect t="17445" r="41840" b="58119"/>
          <a:stretch/>
        </p:blipFill>
        <p:spPr>
          <a:xfrm>
            <a:off x="1676219" y="2165130"/>
            <a:ext cx="3515891" cy="1124607"/>
          </a:xfrm>
          <a:prstGeom prst="rect">
            <a:avLst/>
          </a:prstGeom>
        </p:spPr>
      </p:pic>
      <p:pic>
        <p:nvPicPr>
          <p:cNvPr id="8" name="图片 7"/>
          <p:cNvPicPr>
            <a:picLocks noChangeAspect="1"/>
          </p:cNvPicPr>
          <p:nvPr/>
        </p:nvPicPr>
        <p:blipFill rotWithShape="1">
          <a:blip r:embed="rId2"/>
          <a:srcRect t="41895" r="17397"/>
          <a:stretch/>
        </p:blipFill>
        <p:spPr>
          <a:xfrm>
            <a:off x="1676220" y="3258207"/>
            <a:ext cx="4993522" cy="2674224"/>
          </a:xfrm>
          <a:prstGeom prst="rect">
            <a:avLst/>
          </a:prstGeom>
        </p:spPr>
      </p:pic>
      <p:sp>
        <p:nvSpPr>
          <p:cNvPr id="9" name="矩形 8"/>
          <p:cNvSpPr/>
          <p:nvPr/>
        </p:nvSpPr>
        <p:spPr>
          <a:xfrm>
            <a:off x="1655199" y="2186150"/>
            <a:ext cx="3455456" cy="746236"/>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800192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8866" y="178488"/>
            <a:ext cx="8761257"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追踪解</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508868" y="967917"/>
            <a:ext cx="8929914" cy="2233945"/>
          </a:xfrm>
          <a:prstGeom prst="rect">
            <a:avLst/>
          </a:prstGeom>
        </p:spPr>
        <p:txBody>
          <a:bodyPr vert="horz" wrap="square" lIns="0" tIns="0" rIns="0" bIns="0" rtlCol="0">
            <a:spAutoFit/>
          </a:bodyPr>
          <a:lstStyle/>
          <a:p>
            <a:pPr>
              <a:lnSpc>
                <a:spcPts val="2587"/>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r>
              <a:rPr sz="2800" b="1" spc="57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Structure</a:t>
            </a:r>
            <a:r>
              <a:rPr sz="2800" b="1" spc="2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Sequence(</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i="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584"/>
              </a:lnSpc>
              <a:spcBef>
                <a:spcPts val="54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584"/>
              </a:lnSpc>
              <a:spcBef>
                <a:spcPts val="600"/>
              </a:spcBef>
              <a:spcAft>
                <a:spcPts val="180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a:t>
            </a:r>
            <a:r>
              <a:rPr sz="2800" b="1" i="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的最长公共子序列</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56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if</a:t>
            </a:r>
            <a:r>
              <a:rPr sz="2800" b="1" spc="59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sz="2800" b="1" spc="58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or</a:t>
            </a:r>
            <a:r>
              <a:rPr sz="2800" b="1" spc="54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sz="2800" b="1" spc="58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then</a:t>
            </a:r>
            <a:r>
              <a:rPr sz="2800" b="1" spc="58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return</a:t>
            </a:r>
            <a:r>
              <a:rPr sz="2800" b="1" spc="60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序列为空</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56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if</a:t>
            </a:r>
            <a:r>
              <a:rPr sz="2800" b="1" spc="59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5" name="object 5"/>
          <p:cNvSpPr txBox="1"/>
          <p:nvPr/>
        </p:nvSpPr>
        <p:spPr>
          <a:xfrm>
            <a:off x="508868" y="3307596"/>
            <a:ext cx="6008038" cy="333425"/>
          </a:xfrm>
          <a:prstGeom prst="rect">
            <a:avLst/>
          </a:prstGeom>
        </p:spPr>
        <p:txBody>
          <a:bodyPr vert="horz" wrap="square" lIns="0" tIns="0" rIns="0" bIns="0" rtlCol="0">
            <a:spAutoFit/>
          </a:bodyPr>
          <a:lstStyle/>
          <a:p>
            <a:pPr>
              <a:lnSpc>
                <a:spcPts val="2584"/>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r>
              <a:rPr sz="2800" b="1" spc="56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then</a:t>
            </a:r>
            <a:r>
              <a:rPr sz="2800" b="1" spc="60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6" name="object 6"/>
          <p:cNvSpPr txBox="1"/>
          <p:nvPr/>
        </p:nvSpPr>
        <p:spPr>
          <a:xfrm>
            <a:off x="508867" y="3788857"/>
            <a:ext cx="667863" cy="333425"/>
          </a:xfrm>
          <a:prstGeom prst="rect">
            <a:avLst/>
          </a:prstGeom>
        </p:spPr>
        <p:txBody>
          <a:bodyPr vert="horz" wrap="square" lIns="0" tIns="0" rIns="0" bIns="0" rtlCol="0">
            <a:spAutoFit/>
          </a:bodyPr>
          <a:lstStyle/>
          <a:p>
            <a:pPr>
              <a:lnSpc>
                <a:spcPts val="2584"/>
              </a:lnSpc>
              <a:spcBef>
                <a:spcPct val="0"/>
              </a:spcBef>
              <a:spcAft>
                <a:spcPct val="0"/>
              </a:spcAft>
            </a:pPr>
            <a:r>
              <a:rPr sz="28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 name="object 7"/>
          <p:cNvSpPr txBox="1"/>
          <p:nvPr/>
        </p:nvSpPr>
        <p:spPr>
          <a:xfrm>
            <a:off x="1546209" y="3788857"/>
            <a:ext cx="7440628" cy="333425"/>
          </a:xfrm>
          <a:prstGeom prst="rect">
            <a:avLst/>
          </a:prstGeom>
        </p:spPr>
        <p:txBody>
          <a:bodyPr vert="horz" wrap="square" lIns="0" tIns="0" rIns="0" bIns="0" rtlCol="0">
            <a:spAutoFit/>
          </a:bodyPr>
          <a:lstStyle/>
          <a:p>
            <a:pPr>
              <a:lnSpc>
                <a:spcPts val="2584"/>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Structure</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Sequence(</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i="1" spc="2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8" name="object 8"/>
              <p:cNvSpPr txBox="1"/>
              <p:nvPr/>
            </p:nvSpPr>
            <p:spPr>
              <a:xfrm>
                <a:off x="508866" y="4246484"/>
                <a:ext cx="6785805" cy="371897"/>
              </a:xfrm>
              <a:prstGeom prst="rect">
                <a:avLst/>
              </a:prstGeom>
            </p:spPr>
            <p:txBody>
              <a:bodyPr vert="horz" wrap="square" lIns="0" tIns="0" rIns="0" bIns="0" rtlCol="0">
                <a:spAutoFit/>
              </a:bodyPr>
              <a:lstStyle/>
              <a:p>
                <a:pPr>
                  <a:lnSpc>
                    <a:spcPts val="2859"/>
                  </a:lnSpc>
                  <a:spcBef>
                    <a:spcPct val="0"/>
                  </a:spcBef>
                  <a:spcAft>
                    <a:spcPct val="0"/>
                  </a:spcAft>
                </a:pP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r>
                  <a:rPr lang="en-US" sz="2800" b="1" spc="56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else</a:t>
                </a:r>
                <a:r>
                  <a:rPr lang="en-US" sz="2800" b="1" spc="58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if</a:t>
                </a:r>
                <a:r>
                  <a:rPr lang="en-US" sz="2800" b="1" spc="59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sz="2800" b="1"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sz="2800" b="1"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8" name="object 8"/>
              <p:cNvSpPr txBox="1">
                <a:spLocks noRot="1" noChangeAspect="1" noMove="1" noResize="1" noEditPoints="1" noAdjustHandles="1" noChangeArrowheads="1" noChangeShapeType="1" noTextEdit="1"/>
              </p:cNvSpPr>
              <p:nvPr/>
            </p:nvSpPr>
            <p:spPr>
              <a:xfrm>
                <a:off x="508866" y="4246484"/>
                <a:ext cx="6785805" cy="371897"/>
              </a:xfrm>
              <a:prstGeom prst="rect">
                <a:avLst/>
              </a:prstGeom>
              <a:blipFill>
                <a:blip r:embed="rId2"/>
                <a:stretch>
                  <a:fillRect l="-3142" t="-44262" b="-57377"/>
                </a:stretch>
              </a:blipFill>
            </p:spPr>
            <p:txBody>
              <a:bodyPr/>
              <a:lstStyle/>
              <a:p>
                <a:r>
                  <a:rPr lang="zh-CN" altLang="en-US">
                    <a:noFill/>
                  </a:rPr>
                  <a:t> </a:t>
                </a:r>
              </a:p>
            </p:txBody>
          </p:sp>
        </mc:Fallback>
      </mc:AlternateContent>
      <p:sp>
        <p:nvSpPr>
          <p:cNvPr id="9" name="object 9"/>
          <p:cNvSpPr txBox="1"/>
          <p:nvPr/>
        </p:nvSpPr>
        <p:spPr>
          <a:xfrm>
            <a:off x="508868" y="4677358"/>
            <a:ext cx="668105" cy="861774"/>
          </a:xfrm>
          <a:prstGeom prst="rect">
            <a:avLst/>
          </a:prstGeom>
        </p:spPr>
        <p:txBody>
          <a:bodyPr vert="horz" wrap="square" lIns="0" tIns="0" rIns="0" bIns="0" rtlCol="0">
            <a:spAutoFit/>
          </a:bodyPr>
          <a:lstStyle/>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a:t>
            </a: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7.</a:t>
            </a:r>
          </a:p>
        </p:txBody>
      </p:sp>
      <p:sp>
        <p:nvSpPr>
          <p:cNvPr id="10" name="object 10"/>
          <p:cNvSpPr txBox="1"/>
          <p:nvPr/>
        </p:nvSpPr>
        <p:spPr>
          <a:xfrm>
            <a:off x="1471202" y="4677357"/>
            <a:ext cx="7189815" cy="861774"/>
          </a:xfrm>
          <a:prstGeom prst="rect">
            <a:avLst/>
          </a:prstGeom>
        </p:spPr>
        <p:txBody>
          <a:bodyPr vert="horz" wrap="square" lIns="0" tIns="0" rIns="0" bIns="0" rtlCol="0">
            <a:spAutoFit/>
          </a:bodyPr>
          <a:lstStyle/>
          <a:p>
            <a:pPr marL="1914">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then</a:t>
            </a:r>
            <a:r>
              <a:rPr sz="2800" b="1" spc="58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Structure</a:t>
            </a:r>
            <a:r>
              <a:rPr sz="2800" b="1" spc="2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Sequence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1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else</a:t>
            </a:r>
            <a:r>
              <a:rPr sz="2800" b="1" spc="58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Structure</a:t>
            </a:r>
            <a:r>
              <a:rPr sz="2800" b="1" spc="2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Sequence</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p>
        </p:txBody>
      </p:sp>
      <p:cxnSp>
        <p:nvCxnSpPr>
          <p:cNvPr id="11" name="直接连接符 10"/>
          <p:cNvCxnSpPr/>
          <p:nvPr/>
        </p:nvCxnSpPr>
        <p:spPr>
          <a:xfrm>
            <a:off x="1418652" y="1282262"/>
            <a:ext cx="398366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546209" y="4122282"/>
            <a:ext cx="497069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323974" y="5115510"/>
            <a:ext cx="4560302" cy="345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92595" y="5539131"/>
            <a:ext cx="4560302" cy="345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626217"/>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45269" y="111394"/>
            <a:ext cx="8803833"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标记函数的实例</a:t>
            </a:r>
            <a:endParaRPr sz="4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445269" y="1017990"/>
            <a:ext cx="7716876" cy="861774"/>
          </a:xfrm>
          <a:prstGeom prst="rect">
            <a:avLst/>
          </a:prstGeom>
        </p:spPr>
        <p:txBody>
          <a:bodyPr vert="horz" wrap="square" lIns="0" tIns="0" rIns="0" bIns="0" rtlCol="0">
            <a:spAutoFit/>
          </a:bodyPr>
          <a:lstStyle/>
          <a:p>
            <a:pPr>
              <a:spcAft>
                <a:spcPct val="0"/>
              </a:spcAft>
            </a:pPr>
            <a:r>
              <a:rPr sz="2800" b="1" spc="18"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sz="2800" b="1" i="1" spc="-2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&lt;</a:t>
            </a:r>
            <a:r>
              <a:rPr sz="2800" b="1" spc="-12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 B, C, B, </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D,</a:t>
            </a:r>
            <a:r>
              <a:rPr sz="2800" b="1" spc="-13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 B &gt;,</a:t>
            </a:r>
          </a:p>
          <a:p>
            <a:pPr marL="808709">
              <a:spcAft>
                <a:spcPct val="0"/>
              </a:spcAft>
            </a:pPr>
            <a:r>
              <a:rPr lang="en-US"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i="1" spc="-7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&lt; B, D, C,</a:t>
            </a:r>
            <a:r>
              <a:rPr sz="2800" b="1" spc="-12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 B,</a:t>
            </a:r>
            <a:r>
              <a:rPr sz="2800" b="1" spc="-12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spc="-11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&gt;，</a:t>
            </a:r>
          </a:p>
        </p:txBody>
      </p:sp>
      <p:pic>
        <p:nvPicPr>
          <p:cNvPr id="2" name="图片 1"/>
          <p:cNvPicPr>
            <a:picLocks noChangeAspect="1"/>
          </p:cNvPicPr>
          <p:nvPr/>
        </p:nvPicPr>
        <p:blipFill rotWithShape="1">
          <a:blip r:embed="rId2"/>
          <a:srcRect t="2168" b="18313"/>
          <a:stretch/>
        </p:blipFill>
        <p:spPr>
          <a:xfrm>
            <a:off x="859156" y="2047928"/>
            <a:ext cx="8053616" cy="3277107"/>
          </a:xfrm>
          <a:prstGeom prst="rect">
            <a:avLst/>
          </a:prstGeom>
        </p:spPr>
      </p:pic>
      <p:sp>
        <p:nvSpPr>
          <p:cNvPr id="5" name="圆角矩形 4"/>
          <p:cNvSpPr/>
          <p:nvPr/>
        </p:nvSpPr>
        <p:spPr>
          <a:xfrm>
            <a:off x="6260951" y="3716996"/>
            <a:ext cx="1226371" cy="3468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767959" y="3307095"/>
            <a:ext cx="1313793" cy="3468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1409252" y="2920629"/>
            <a:ext cx="1183341" cy="3468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rotWithShape="1">
          <a:blip r:embed="rId2"/>
          <a:srcRect t="86603" r="28394" b="1194"/>
          <a:stretch/>
        </p:blipFill>
        <p:spPr>
          <a:xfrm>
            <a:off x="709217" y="5456849"/>
            <a:ext cx="5766887" cy="502887"/>
          </a:xfrm>
          <a:prstGeom prst="rect">
            <a:avLst/>
          </a:prstGeom>
        </p:spPr>
      </p:pic>
    </p:spTree>
    <p:extLst>
      <p:ext uri="{BB962C8B-B14F-4D97-AF65-F5344CB8AC3E}">
        <p14:creationId xmlns:p14="http://schemas.microsoft.com/office/powerpoint/2010/main" val="3879177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701478" y="234611"/>
            <a:ext cx="8631708" cy="538609"/>
          </a:xfrm>
          <a:prstGeom prst="rect">
            <a:avLst/>
          </a:prstGeom>
        </p:spPr>
        <p:txBody>
          <a:bodyPr vert="horz" wrap="square" lIns="0" tIns="0" rIns="0" bIns="0" rtlCol="0">
            <a:spAutoFit/>
          </a:bodyPr>
          <a:lstStyle/>
          <a:p>
            <a:pPr algn="ctr">
              <a:lnSpc>
                <a:spcPts val="4247"/>
              </a:lnSpc>
              <a:spcBef>
                <a:spcPct val="0"/>
              </a:spcBef>
              <a:spcAft>
                <a:spcPct val="0"/>
              </a:spcAft>
            </a:pPr>
            <a:r>
              <a:rPr sz="4000" b="1"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算法的时空复杂度</a:t>
            </a:r>
            <a:endParaRPr sz="40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367539" y="1348280"/>
            <a:ext cx="8871054" cy="333425"/>
          </a:xfrm>
          <a:prstGeom prst="rect">
            <a:avLst/>
          </a:prstGeom>
        </p:spPr>
        <p:txBody>
          <a:bodyPr vert="horz" wrap="square" lIns="0" tIns="0" rIns="0" bIns="0" rtlCol="0">
            <a:spAutoFit/>
          </a:bodyPr>
          <a:lstStyle/>
          <a:p>
            <a:pPr>
              <a:lnSpc>
                <a:spcPts val="2551"/>
              </a:lnSpc>
              <a:spcBef>
                <a:spcPct val="0"/>
              </a:spcBef>
              <a:spcAft>
                <a:spcPct val="0"/>
              </a:spcAft>
            </a:pPr>
            <a:r>
              <a:rPr sz="2800" b="1" spc="12"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计算优化函数和标记函数</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object 5"/>
              <p:cNvSpPr txBox="1"/>
              <p:nvPr/>
            </p:nvSpPr>
            <p:spPr>
              <a:xfrm>
                <a:off x="701478" y="1847468"/>
                <a:ext cx="8537115" cy="1308050"/>
              </a:xfrm>
              <a:prstGeom prst="rect">
                <a:avLst/>
              </a:prstGeom>
            </p:spPr>
            <p:txBody>
              <a:bodyPr vert="horz" wrap="square" lIns="0" tIns="0" rIns="0" bIns="0" rtlCol="0">
                <a:spAutoFit/>
              </a:bodyPr>
              <a:lstStyle/>
              <a:p>
                <a:pPr>
                  <a:lnSpc>
                    <a:spcPts val="2824"/>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赋初值，为</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3128"/>
                  </a:lnSpc>
                  <a:spcBef>
                    <a:spcPts val="572"/>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计算优化、标记函数迭代</a:t>
                </a:r>
                <a:r>
                  <a:rPr sz="2800" b="1" spc="-5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sz="2800" b="1" i="1" spc="-58"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𝚯</m:t>
                    </m:r>
                  </m:oMath>
                </a14:m>
                <a:r>
                  <a:rPr sz="2800" b="1" spc="-66"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次，</a:t>
                </a:r>
              </a:p>
              <a:p>
                <a:pPr>
                  <a:lnSpc>
                    <a:spcPts val="3125"/>
                  </a:lnSpc>
                  <a:spcBef>
                    <a:spcPts val="573"/>
                  </a:spcBef>
                  <a:spcAft>
                    <a:spcPct val="0"/>
                  </a:spcAft>
                </a:pPr>
                <a:r>
                  <a:rPr sz="2800" b="1" spc="13"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循环体内常数次运算，时间为</a:t>
                </a:r>
                <a14:m>
                  <m:oMath xmlns:m="http://schemas.openxmlformats.org/officeDocument/2006/math">
                    <m:r>
                      <a:rPr lang="en-US" altLang="zh-CN" sz="2800" b="1" i="1" spc="-58">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𝚯</m:t>
                    </m:r>
                  </m:oMath>
                </a14:m>
                <a:r>
                  <a:rPr sz="2800" b="1" spc="-6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5" name="object 5"/>
              <p:cNvSpPr txBox="1">
                <a:spLocks noRot="1" noChangeAspect="1" noMove="1" noResize="1" noEditPoints="1" noAdjustHandles="1" noChangeArrowheads="1" noChangeShapeType="1" noTextEdit="1"/>
              </p:cNvSpPr>
              <p:nvPr/>
            </p:nvSpPr>
            <p:spPr>
              <a:xfrm>
                <a:off x="701478" y="1847468"/>
                <a:ext cx="8537115" cy="1308050"/>
              </a:xfrm>
              <a:prstGeom prst="rect">
                <a:avLst/>
              </a:prstGeom>
              <a:blipFill>
                <a:blip r:embed="rId3"/>
                <a:stretch>
                  <a:fillRect l="-2498" t="-15349" b="-16279"/>
                </a:stretch>
              </a:blipFill>
            </p:spPr>
            <p:txBody>
              <a:bodyPr/>
              <a:lstStyle/>
              <a:p>
                <a:r>
                  <a:rPr lang="zh-CN" altLang="en-US">
                    <a:noFill/>
                  </a:rPr>
                  <a:t> </a:t>
                </a:r>
              </a:p>
            </p:txBody>
          </p:sp>
        </mc:Fallback>
      </mc:AlternateContent>
      <p:sp>
        <p:nvSpPr>
          <p:cNvPr id="6" name="object 6"/>
          <p:cNvSpPr txBox="1"/>
          <p:nvPr/>
        </p:nvSpPr>
        <p:spPr>
          <a:xfrm>
            <a:off x="340208" y="3686522"/>
            <a:ext cx="2506153" cy="333425"/>
          </a:xfrm>
          <a:prstGeom prst="rect">
            <a:avLst/>
          </a:prstGeom>
        </p:spPr>
        <p:txBody>
          <a:bodyPr vert="horz" wrap="square" lIns="0" tIns="0" rIns="0" bIns="0" rtlCol="0">
            <a:spAutoFit/>
          </a:bodyPr>
          <a:lstStyle/>
          <a:p>
            <a:pPr>
              <a:lnSpc>
                <a:spcPts val="2553"/>
              </a:lnSpc>
              <a:spcBef>
                <a:spcPct val="0"/>
              </a:spcBef>
              <a:spcAft>
                <a:spcPct val="0"/>
              </a:spcAft>
            </a:pPr>
            <a:r>
              <a:rPr sz="2800" b="1" spc="13"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构造解</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object 7"/>
              <p:cNvSpPr txBox="1"/>
              <p:nvPr/>
            </p:nvSpPr>
            <p:spPr>
              <a:xfrm>
                <a:off x="704719" y="4133409"/>
                <a:ext cx="8533874" cy="397545"/>
              </a:xfrm>
              <a:prstGeom prst="rect">
                <a:avLst/>
              </a:prstGeom>
            </p:spPr>
            <p:txBody>
              <a:bodyPr vert="horz" wrap="square" lIns="0" tIns="0" rIns="0" bIns="0" rtlCol="0">
                <a:spAutoFit/>
              </a:bodyPr>
              <a:lstStyle/>
              <a:p>
                <a:pPr>
                  <a:lnSpc>
                    <a:spcPts val="3125"/>
                  </a:lnSpc>
                  <a:spcBef>
                    <a:spcPct val="0"/>
                  </a:spcBef>
                  <a:spcAft>
                    <a:spcPct val="0"/>
                  </a:spcAft>
                </a:pP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每步缩小</a:t>
                </a:r>
                <a:r>
                  <a:rPr sz="2800" b="1"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a:t>
                </a:r>
                <a:r>
                  <a:rPr sz="2800" b="1" i="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sz="2800" b="1" spc="1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的长度，</a:t>
                </a:r>
                <a:r>
                  <a:rPr sz="2800" b="1" spc="11" dirty="0" err="1"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a:t>
                </a:r>
                <a:r>
                  <a:rPr lang="en-US" altLang="zh-CN" sz="2800" b="1" spc="-58"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800" b="1" i="1" spc="-58">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𝜣</m:t>
                    </m:r>
                  </m:oMath>
                </a14:m>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7" name="object 7"/>
              <p:cNvSpPr txBox="1">
                <a:spLocks noRot="1" noChangeAspect="1" noMove="1" noResize="1" noEditPoints="1" noAdjustHandles="1" noChangeArrowheads="1" noChangeShapeType="1" noTextEdit="1"/>
              </p:cNvSpPr>
              <p:nvPr/>
            </p:nvSpPr>
            <p:spPr>
              <a:xfrm>
                <a:off x="704719" y="4133409"/>
                <a:ext cx="8533874" cy="397545"/>
              </a:xfrm>
              <a:prstGeom prst="rect">
                <a:avLst/>
              </a:prstGeom>
              <a:blipFill>
                <a:blip r:embed="rId4"/>
                <a:stretch>
                  <a:fillRect l="-2571" t="-40000" b="-5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
              <p:cNvSpPr txBox="1"/>
              <p:nvPr/>
            </p:nvSpPr>
            <p:spPr>
              <a:xfrm>
                <a:off x="701478" y="4674637"/>
                <a:ext cx="5518555" cy="872034"/>
              </a:xfrm>
              <a:prstGeom prst="rect">
                <a:avLst/>
              </a:prstGeom>
            </p:spPr>
            <p:txBody>
              <a:bodyPr vert="horz" wrap="square" lIns="0" tIns="0" rIns="0" bIns="0" rtlCol="0">
                <a:spAutoFit/>
              </a:bodyPr>
              <a:lstStyle/>
              <a:p>
                <a:pPr>
                  <a:lnSpc>
                    <a:spcPts val="3128"/>
                  </a:lnSpc>
                  <a:spcBef>
                    <a:spcPct val="0"/>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算法时间复杂度</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7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800" b="1" i="1" spc="-58">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𝜣</m:t>
                    </m:r>
                  </m:oMath>
                </a14:m>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3125"/>
                  </a:lnSpc>
                  <a:spcBef>
                    <a:spcPts val="573"/>
                  </a:spcBef>
                  <a:spcAft>
                    <a:spcPct val="0"/>
                  </a:spcAft>
                </a:pP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空间复杂度</a:t>
                </a:r>
                <a:r>
                  <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spc="-58" dirty="0">
                    <a:solidFill>
                      <a:srgbClr val="000000"/>
                    </a:solidFill>
                    <a:ea typeface="Cambria Math" panose="02040503050406030204" pitchFamily="18" charset="0"/>
                    <a:cs typeface="Times New Roman" panose="02020603050405020304" pitchFamily="18" charset="0"/>
                  </a:rPr>
                  <a:t> </a:t>
                </a:r>
                <a14:m>
                  <m:oMath xmlns:m="http://schemas.openxmlformats.org/officeDocument/2006/math">
                    <m:r>
                      <a:rPr lang="en-US" altLang="zh-CN" sz="2800" b="1" i="1" spc="-58">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𝜣</m:t>
                    </m:r>
                  </m:oMath>
                </a14:m>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8" name="object 8"/>
              <p:cNvSpPr txBox="1">
                <a:spLocks noRot="1" noChangeAspect="1" noMove="1" noResize="1" noEditPoints="1" noAdjustHandles="1" noChangeArrowheads="1" noChangeShapeType="1" noTextEdit="1"/>
              </p:cNvSpPr>
              <p:nvPr/>
            </p:nvSpPr>
            <p:spPr>
              <a:xfrm>
                <a:off x="701478" y="4674637"/>
                <a:ext cx="5518555" cy="872034"/>
              </a:xfrm>
              <a:prstGeom prst="rect">
                <a:avLst/>
              </a:prstGeom>
              <a:blipFill>
                <a:blip r:embed="rId5"/>
                <a:stretch>
                  <a:fillRect l="-3867" t="-18182" b="-230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8125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1"/>
          <p:cNvSpPr/>
          <p:nvPr/>
        </p:nvSpPr>
        <p:spPr>
          <a:xfrm>
            <a:off x="-1" y="506263"/>
            <a:ext cx="9720263" cy="250390"/>
          </a:xfrm>
          <a:prstGeom prst="rect">
            <a:avLst/>
          </a:prstGeom>
          <a:blipFill>
            <a:blip r:embed="rId2"/>
            <a:stretch>
              <a:fillRect/>
            </a:stretch>
          </a:blipFill>
        </p:spPr>
        <p:txBody>
          <a:bodyPr wrap="square" lIns="0" tIns="0" rIns="0" bIns="0" rtlCol="0">
            <a:spAutoFit/>
          </a:bodyPr>
          <a:lstStyle/>
          <a:p>
            <a:endParaRPr sz="1627"/>
          </a:p>
        </p:txBody>
      </p:sp>
      <p:sp>
        <p:nvSpPr>
          <p:cNvPr id="3" name="object 3"/>
          <p:cNvSpPr txBox="1"/>
          <p:nvPr/>
        </p:nvSpPr>
        <p:spPr>
          <a:xfrm>
            <a:off x="686491" y="165785"/>
            <a:ext cx="8604654" cy="538609"/>
          </a:xfrm>
          <a:prstGeom prst="rect">
            <a:avLst/>
          </a:prstGeom>
        </p:spPr>
        <p:txBody>
          <a:bodyPr vert="horz" wrap="square" lIns="0" tIns="0" rIns="0" bIns="0" rtlCol="0">
            <a:spAutoFit/>
          </a:bodyPr>
          <a:lstStyle/>
          <a:p>
            <a:pPr algn="ctr">
              <a:lnSpc>
                <a:spcPts val="4247"/>
              </a:lnSpc>
              <a:spcBef>
                <a:spcPct val="0"/>
              </a:spcBef>
              <a:spcAft>
                <a:spcPct val="0"/>
              </a:spcAft>
            </a:pPr>
            <a:r>
              <a:rPr sz="4000" spc="1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小结</a:t>
            </a:r>
            <a:endParaRPr sz="4000"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583216" y="1847301"/>
            <a:ext cx="8865584" cy="1795363"/>
          </a:xfrm>
          <a:prstGeom prst="rect">
            <a:avLst/>
          </a:prstGeom>
        </p:spPr>
        <p:txBody>
          <a:bodyPr vert="horz" wrap="square" lIns="0" tIns="0" rIns="0" bIns="0" rtlCol="0">
            <a:spAutoFit/>
          </a:bodyPr>
          <a:lstStyle/>
          <a:p>
            <a:pPr>
              <a:lnSpc>
                <a:spcPts val="2850"/>
              </a:lnSpc>
              <a:spcBef>
                <a:spcPct val="0"/>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最长公共子序列问题的建模</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50"/>
              </a:lnSpc>
              <a:spcBef>
                <a:spcPts val="823"/>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子问题边界的界定</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50"/>
              </a:lnSpc>
              <a:spcBef>
                <a:spcPts val="825"/>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递推方程及初值，优化原则判定</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850"/>
              </a:lnSpc>
              <a:spcBef>
                <a:spcPts val="823"/>
              </a:spcBef>
              <a:spcAft>
                <a:spcPct val="0"/>
              </a:spcAft>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伪码</a:t>
            </a:r>
            <a:endParaRPr sz="2800" b="1" spc="1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583215" y="3713837"/>
            <a:ext cx="5933345" cy="846386"/>
          </a:xfrm>
          <a:prstGeom prst="rect">
            <a:avLst/>
          </a:prstGeom>
        </p:spPr>
        <p:txBody>
          <a:bodyPr vert="horz" wrap="square" lIns="0" tIns="0" rIns="0" bIns="0" rtlCol="0">
            <a:spAutoFit/>
          </a:bodyPr>
          <a:lstStyle/>
          <a:p>
            <a:pPr>
              <a:lnSpc>
                <a:spcPts val="2852"/>
              </a:lnSpc>
              <a:spcBef>
                <a:spcPct val="0"/>
              </a:spcBef>
              <a:spcAft>
                <a:spcPct val="0"/>
              </a:spcAft>
            </a:pPr>
            <a:r>
              <a:rPr sz="28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标记函数与解的追踪</a:t>
            </a:r>
          </a:p>
          <a:p>
            <a:pPr>
              <a:lnSpc>
                <a:spcPts val="2850"/>
              </a:lnSpc>
              <a:spcBef>
                <a:spcPts val="823"/>
              </a:spcBef>
              <a:spcAft>
                <a:spcPct val="0"/>
              </a:spcAft>
            </a:pPr>
            <a:r>
              <a:rPr sz="28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1339">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2">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时间复杂度</a:t>
            </a:r>
          </a:p>
        </p:txBody>
      </p:sp>
    </p:spTree>
    <p:extLst>
      <p:ext uri="{BB962C8B-B14F-4D97-AF65-F5344CB8AC3E}">
        <p14:creationId xmlns:p14="http://schemas.microsoft.com/office/powerpoint/2010/main" val="2270011699"/>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1301</TotalTime>
  <Words>2805</Words>
  <Application>Microsoft Office PowerPoint</Application>
  <PresentationFormat>自定义</PresentationFormat>
  <Paragraphs>557</Paragraphs>
  <Slides>75</Slides>
  <Notes>2</Notes>
  <HiddenSlides>0</HiddenSlides>
  <MMClips>0</MMClips>
  <ScaleCrop>false</ScaleCrop>
  <HeadingPairs>
    <vt:vector size="4" baseType="variant">
      <vt:variant>
        <vt:lpstr>主题</vt:lpstr>
      </vt:variant>
      <vt:variant>
        <vt:i4>1</vt:i4>
      </vt:variant>
      <vt:variant>
        <vt:lpstr>幻灯片标题</vt:lpstr>
      </vt:variant>
      <vt:variant>
        <vt:i4>75</vt:i4>
      </vt:variant>
    </vt:vector>
  </HeadingPairs>
  <TitlesOfParts>
    <vt:vector size="76"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boo</dc:creator>
  <cp:lastModifiedBy>admin</cp:lastModifiedBy>
  <cp:revision>102</cp:revision>
  <dcterms:created xsi:type="dcterms:W3CDTF">2019-04-17T00:25:46Z</dcterms:created>
  <dcterms:modified xsi:type="dcterms:W3CDTF">2019-05-06T22:45:41Z</dcterms:modified>
</cp:coreProperties>
</file>